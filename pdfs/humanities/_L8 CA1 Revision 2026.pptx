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3"/>
    <p:sldMasterId id="214748367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9144000"/>
  <p:notesSz cx="6858000" cy="9144000"/>
  <p:embeddedFontLst>
    <p:embeddedFont>
      <p:font typeface="Delius"/>
      <p:regular r:id="rId30"/>
    </p:embeddedFont>
    <p:embeddedFont>
      <p:font typeface="Edu TAS Beginner"/>
      <p:regular r:id="rId31"/>
      <p:bold r:id="rId32"/>
    </p:embeddedFont>
    <p:embeddedFont>
      <p:font typeface="Baumans"/>
      <p:regular r:id="rId33"/>
    </p:embeddedFont>
    <p:embeddedFont>
      <p:font typeface="Arial Black"/>
      <p:regular r:id="rId34"/>
    </p:embeddedFont>
    <p:embeddedFont>
      <p:font typeface="Century Gothic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EduTASBeginner-regular.fntdata"/><Relationship Id="rId30" Type="http://schemas.openxmlformats.org/officeDocument/2006/relationships/font" Target="fonts/Delius-regular.fntdata"/><Relationship Id="rId11" Type="http://schemas.openxmlformats.org/officeDocument/2006/relationships/slide" Target="slides/slide6.xml"/><Relationship Id="rId33" Type="http://schemas.openxmlformats.org/officeDocument/2006/relationships/font" Target="fonts/Baumans-regular.fntdata"/><Relationship Id="rId10" Type="http://schemas.openxmlformats.org/officeDocument/2006/relationships/slide" Target="slides/slide5.xml"/><Relationship Id="rId32" Type="http://schemas.openxmlformats.org/officeDocument/2006/relationships/font" Target="fonts/EduTASBeginner-bold.fntdata"/><Relationship Id="rId13" Type="http://schemas.openxmlformats.org/officeDocument/2006/relationships/slide" Target="slides/slide8.xml"/><Relationship Id="rId35" Type="http://schemas.openxmlformats.org/officeDocument/2006/relationships/font" Target="fonts/CenturyGothic-regular.fntdata"/><Relationship Id="rId12" Type="http://schemas.openxmlformats.org/officeDocument/2006/relationships/slide" Target="slides/slide7.xml"/><Relationship Id="rId34" Type="http://schemas.openxmlformats.org/officeDocument/2006/relationships/font" Target="fonts/ArialBlack-regular.fntdata"/><Relationship Id="rId15" Type="http://schemas.openxmlformats.org/officeDocument/2006/relationships/slide" Target="slides/slide10.xml"/><Relationship Id="rId37" Type="http://schemas.openxmlformats.org/officeDocument/2006/relationships/font" Target="fonts/CenturyGothic-italic.fntdata"/><Relationship Id="rId14" Type="http://schemas.openxmlformats.org/officeDocument/2006/relationships/slide" Target="slides/slide9.xml"/><Relationship Id="rId36" Type="http://schemas.openxmlformats.org/officeDocument/2006/relationships/font" Target="fonts/CenturyGothic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font" Target="fonts/CenturyGothic-bold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8b99bb6cc2_0_5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8b99bb6cc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d627fc03c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7d627fc03c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8618fdd55f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8618fdd55f_0_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/>
          <p:nvPr>
            <p:ph idx="2" type="sldImg"/>
          </p:nvPr>
        </p:nvSpPr>
        <p:spPr>
          <a:xfrm>
            <a:off x="1082675" y="703263"/>
            <a:ext cx="4692650" cy="35194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2:notes"/>
          <p:cNvSpPr txBox="1"/>
          <p:nvPr>
            <p:ph idx="1" type="body"/>
          </p:nvPr>
        </p:nvSpPr>
        <p:spPr>
          <a:xfrm>
            <a:off x="685800" y="4456510"/>
            <a:ext cx="5486400" cy="422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:notes"/>
          <p:cNvSpPr txBox="1"/>
          <p:nvPr>
            <p:ph idx="12" type="sldNum"/>
          </p:nvPr>
        </p:nvSpPr>
        <p:spPr>
          <a:xfrm>
            <a:off x="3884613" y="8911390"/>
            <a:ext cx="2971800" cy="46910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:notes"/>
          <p:cNvSpPr txBox="1"/>
          <p:nvPr>
            <p:ph idx="3" type="hdr"/>
          </p:nvPr>
        </p:nvSpPr>
        <p:spPr>
          <a:xfrm>
            <a:off x="0" y="0"/>
            <a:ext cx="2971800" cy="469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 Billion and Counting: Edward Baxter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5:notes"/>
          <p:cNvSpPr txBox="1"/>
          <p:nvPr>
            <p:ph idx="1" type="body"/>
          </p:nvPr>
        </p:nvSpPr>
        <p:spPr>
          <a:xfrm>
            <a:off x="685800" y="4456510"/>
            <a:ext cx="5486400" cy="422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80" name="Google Shape;180;p5:notes"/>
          <p:cNvSpPr/>
          <p:nvPr>
            <p:ph idx="2" type="sldImg"/>
          </p:nvPr>
        </p:nvSpPr>
        <p:spPr>
          <a:xfrm>
            <a:off x="1082675" y="703263"/>
            <a:ext cx="4692650" cy="35194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fa4cbe38a7_1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fa4cbe38a7_1_2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4cbe38a7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g3fa4cbe38a7_1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a4cbe38a7_1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g3fa4cbe38a7_1_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a4cbe38a7_1_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g3fa4cbe38a7_1_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a4cbe38a7_1_3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g3fa4cbe38a7_1_3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 txBox="1"/>
          <p:nvPr>
            <p:ph idx="1" type="body"/>
          </p:nvPr>
        </p:nvSpPr>
        <p:spPr>
          <a:xfrm>
            <a:off x="685800" y="4456510"/>
            <a:ext cx="5486400" cy="42219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3" name="Google Shape;253;p9:notes"/>
          <p:cNvSpPr/>
          <p:nvPr>
            <p:ph idx="2" type="sldImg"/>
          </p:nvPr>
        </p:nvSpPr>
        <p:spPr>
          <a:xfrm>
            <a:off x="1082675" y="703263"/>
            <a:ext cx="4692650" cy="35194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7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4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0" name="Google Shape;90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1" name="Google Shape;91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4" name="Google Shape;94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2" name="Google Shape;102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0" name="Google Shape;110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3" name="Google Shape;113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7" name="Google Shape;117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8" name="Google Shape;118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1EFD8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jpg"/><Relationship Id="rId4" Type="http://schemas.openxmlformats.org/officeDocument/2006/relationships/image" Target="../media/image1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/>
        </p:nvSpPr>
        <p:spPr>
          <a:xfrm>
            <a:off x="3733525" y="0"/>
            <a:ext cx="87483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Edu TAS Beginner"/>
                <a:ea typeface="Edu TAS Beginner"/>
                <a:cs typeface="Edu TAS Beginner"/>
                <a:sym typeface="Edu TAS Beginner"/>
              </a:rPr>
              <a:t>STARTER:</a:t>
            </a:r>
            <a:endParaRPr b="1" sz="2900">
              <a:latin typeface="Edu TAS Beginner"/>
              <a:ea typeface="Edu TAS Beginner"/>
              <a:cs typeface="Edu TAS Beginner"/>
              <a:sym typeface="Edu TAS Beginn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Edu TAS Beginner"/>
                <a:ea typeface="Edu TAS Beginner"/>
                <a:cs typeface="Edu TAS Beginner"/>
                <a:sym typeface="Edu TAS Beginner"/>
              </a:rPr>
              <a:t>POPULATION</a:t>
            </a:r>
            <a:endParaRPr b="1" sz="2900">
              <a:latin typeface="Edu TAS Beginner"/>
              <a:ea typeface="Edu TAS Beginner"/>
              <a:cs typeface="Edu TAS Beginner"/>
              <a:sym typeface="Edu TAS Beginn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latin typeface="Edu TAS Beginner"/>
                <a:ea typeface="Edu TAS Beginner"/>
                <a:cs typeface="Edu TAS Beginner"/>
                <a:sym typeface="Edu TAS Beginner"/>
              </a:rPr>
              <a:t>VOCABULARY</a:t>
            </a:r>
            <a:endParaRPr sz="2900">
              <a:latin typeface="Edu TAS Beginner"/>
              <a:ea typeface="Edu TAS Beginner"/>
              <a:cs typeface="Edu TAS Beginner"/>
              <a:sym typeface="Edu TAS Beginner"/>
            </a:endParaRPr>
          </a:p>
        </p:txBody>
      </p:sp>
      <p:sp>
        <p:nvSpPr>
          <p:cNvPr id="134" name="Google Shape;134;p25"/>
          <p:cNvSpPr txBox="1"/>
          <p:nvPr/>
        </p:nvSpPr>
        <p:spPr>
          <a:xfrm>
            <a:off x="374575" y="299030"/>
            <a:ext cx="3238200" cy="5071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900">
                <a:latin typeface="Delius"/>
                <a:ea typeface="Delius"/>
                <a:cs typeface="Delius"/>
                <a:sym typeface="Delius"/>
              </a:rPr>
              <a:t>Scrabble!</a:t>
            </a:r>
            <a:endParaRPr b="1" sz="19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1.Using topic  keywords so far,</a:t>
            </a:r>
            <a:r>
              <a:rPr b="1" lang="en-US" sz="1700">
                <a:latin typeface="Delius"/>
                <a:ea typeface="Delius"/>
                <a:cs typeface="Delius"/>
                <a:sym typeface="Delius"/>
              </a:rPr>
              <a:t> find the highest ranking word/term</a:t>
            </a: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!</a:t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Use the scrabble points board to help you work out how much each letter is worth.</a:t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E.g. birth rate</a:t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lang="en-US" sz="1700">
                <a:solidFill>
                  <a:schemeClr val="dk1"/>
                </a:solidFill>
                <a:latin typeface="Delius"/>
                <a:ea typeface="Delius"/>
                <a:cs typeface="Delius"/>
                <a:sym typeface="Delius"/>
              </a:rPr>
              <a:t>b3i1r1t1h4 r1a1t1e1=14</a:t>
            </a:r>
            <a:endParaRPr sz="1700">
              <a:solidFill>
                <a:schemeClr val="dk1"/>
              </a:solidFill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lang="en-US" sz="1700">
                <a:latin typeface="Delius"/>
                <a:ea typeface="Delius"/>
                <a:cs typeface="Delius"/>
                <a:sym typeface="Delius"/>
              </a:rPr>
              <a:t>2. List as many topic words you can as a list</a:t>
            </a: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 and add them all together for a master total</a:t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1700">
                <a:latin typeface="Delius"/>
                <a:ea typeface="Delius"/>
                <a:cs typeface="Delius"/>
                <a:sym typeface="Delius"/>
              </a:rPr>
              <a:t> PRIZES AVAILABLE !</a:t>
            </a:r>
            <a:endParaRPr sz="1700">
              <a:latin typeface="Delius"/>
              <a:ea typeface="Delius"/>
              <a:cs typeface="Delius"/>
              <a:sym typeface="Deliu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sz="1700">
              <a:latin typeface="Delius"/>
              <a:ea typeface="Delius"/>
              <a:cs typeface="Delius"/>
              <a:sym typeface="Delius"/>
            </a:endParaRPr>
          </a:p>
        </p:txBody>
      </p:sp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657755"/>
            <a:ext cx="4428316" cy="36921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6" name="Google Shape;136;p25"/>
          <p:cNvCxnSpPr/>
          <p:nvPr/>
        </p:nvCxnSpPr>
        <p:spPr>
          <a:xfrm flipH="1" rot="10800000">
            <a:off x="3555025" y="2947694"/>
            <a:ext cx="941700" cy="1259700"/>
          </a:xfrm>
          <a:prstGeom prst="straightConnector1">
            <a:avLst/>
          </a:prstGeom>
          <a:noFill/>
          <a:ln cap="flat" cmpd="sng" w="3810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37" name="Google Shape;137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4877" y="-288332"/>
            <a:ext cx="2724152" cy="15323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33525" y="5810300"/>
            <a:ext cx="1512750" cy="49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5"/>
          <p:cNvSpPr txBox="1"/>
          <p:nvPr>
            <p:ph type="ctrTitle"/>
          </p:nvPr>
        </p:nvSpPr>
        <p:spPr>
          <a:xfrm>
            <a:off x="8339275" y="5784283"/>
            <a:ext cx="585000" cy="713100"/>
          </a:xfrm>
          <a:prstGeom prst="rect">
            <a:avLst/>
          </a:prstGeom>
          <a:gradFill>
            <a:gsLst>
              <a:gs pos="0">
                <a:srgbClr val="FFC102"/>
              </a:gs>
              <a:gs pos="100000">
                <a:srgbClr val="795C04"/>
              </a:gs>
            </a:gsLst>
            <a:path path="circle">
              <a:fillToRect b="50%" l="50%" r="50%" t="50%"/>
            </a:path>
            <a:tileRect/>
          </a:gra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500"/>
              <a:t>15</a:t>
            </a:r>
            <a:endParaRPr sz="268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/>
        </p:nvSpPr>
        <p:spPr>
          <a:xfrm>
            <a:off x="104625" y="365133"/>
            <a:ext cx="8833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 u="sng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Common Assessment 1 - </a:t>
            </a:r>
            <a:r>
              <a:rPr b="1" lang="en-US" sz="4000" u="sng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Revision</a:t>
            </a:r>
            <a:endParaRPr b="1" sz="4000" u="sng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 u="sng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September 9th</a:t>
            </a:r>
            <a:endParaRPr b="1" sz="4000" u="sng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t/>
            </a:r>
            <a:endParaRPr b="1" sz="4000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45" name="Google Shape;145;p26"/>
          <p:cNvSpPr txBox="1"/>
          <p:nvPr>
            <p:ph idx="1" type="subTitle"/>
          </p:nvPr>
        </p:nvSpPr>
        <p:spPr>
          <a:xfrm>
            <a:off x="104625" y="1488238"/>
            <a:ext cx="8833200" cy="8727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b="1" lang="en-US" sz="20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Learning objective:</a:t>
            </a:r>
            <a:r>
              <a:rPr lang="en-US" sz="20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assess your learning within the Population Topic</a:t>
            </a:r>
            <a:r>
              <a:rPr lang="en-US" sz="2000">
                <a:latin typeface="Comic Sans MS"/>
                <a:ea typeface="Comic Sans MS"/>
                <a:cs typeface="Comic Sans MS"/>
                <a:sym typeface="Comic Sans MS"/>
              </a:rPr>
              <a:t> so far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46" name="Google Shape;146;p26"/>
          <p:cNvSpPr txBox="1"/>
          <p:nvPr/>
        </p:nvSpPr>
        <p:spPr>
          <a:xfrm>
            <a:off x="735175" y="2702842"/>
            <a:ext cx="60663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Questions on: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Lessons  - 8 Billion &amp; Counting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Lessons - Population Demographics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Lessons  - The Demographic Transition Model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Lessons - Comparing Population 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</p:txBody>
      </p:sp>
      <p:pic>
        <p:nvPicPr>
          <p:cNvPr descr="Good Luck Images | Free Vectors, Stock Photos &amp; PSD" id="147" name="Google Shape;147;p26"/>
          <p:cNvPicPr preferRelativeResize="0"/>
          <p:nvPr/>
        </p:nvPicPr>
        <p:blipFill rotWithShape="1">
          <a:blip r:embed="rId3">
            <a:alphaModFix/>
          </a:blip>
          <a:srcRect b="14099" l="13543" r="16247" t="21551"/>
          <a:stretch/>
        </p:blipFill>
        <p:spPr>
          <a:xfrm>
            <a:off x="6399328" y="4682250"/>
            <a:ext cx="2282225" cy="17409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/>
        </p:nvSpPr>
        <p:spPr>
          <a:xfrm>
            <a:off x="155400" y="8"/>
            <a:ext cx="8833200" cy="7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Common Assessment 1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7"/>
          <p:cNvSpPr txBox="1"/>
          <p:nvPr>
            <p:ph idx="1" type="subTitle"/>
          </p:nvPr>
        </p:nvSpPr>
        <p:spPr>
          <a:xfrm>
            <a:off x="155400" y="700925"/>
            <a:ext cx="8833200" cy="872700"/>
          </a:xfrm>
          <a:prstGeom prst="rect">
            <a:avLst/>
          </a:prstGeom>
          <a:solidFill>
            <a:srgbClr val="E1EFD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</a:pPr>
            <a:r>
              <a:rPr b="1" lang="en-US" sz="20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Learning objective:</a:t>
            </a:r>
            <a:r>
              <a:rPr lang="en-US" sz="2000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lang="en-US" sz="20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assess your learning within the Population Topic. </a:t>
            </a:r>
            <a:endParaRPr sz="20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54" name="Google Shape;154;p27"/>
          <p:cNvSpPr txBox="1"/>
          <p:nvPr/>
        </p:nvSpPr>
        <p:spPr>
          <a:xfrm>
            <a:off x="2871625" y="2019167"/>
            <a:ext cx="6066300" cy="22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Questions on: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 1 - 8 Billion &amp; Counting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 2 - Population Demographics</a:t>
            </a:r>
            <a:endParaRPr b="1" sz="2300">
              <a:solidFill>
                <a:schemeClr val="dk1"/>
              </a:solidFill>
              <a:highlight>
                <a:srgbClr val="FFFFFF"/>
              </a:highlight>
              <a:latin typeface="Baumans"/>
              <a:ea typeface="Baumans"/>
              <a:cs typeface="Baumans"/>
              <a:sym typeface="Baumans"/>
            </a:endParaRPr>
          </a:p>
          <a:p>
            <a:pPr indent="-374650" lvl="0" marL="457200" marR="342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Baumans"/>
              <a:buChar char="●"/>
            </a:pPr>
            <a:r>
              <a:rPr b="1" lang="en-US" sz="2300">
                <a:solidFill>
                  <a:schemeClr val="dk1"/>
                </a:solidFill>
                <a:highlight>
                  <a:srgbClr val="FFFFFF"/>
                </a:highlight>
                <a:latin typeface="Baumans"/>
                <a:ea typeface="Baumans"/>
                <a:cs typeface="Baumans"/>
                <a:sym typeface="Baumans"/>
              </a:rPr>
              <a:t>Lesson 3 - The Demographic Transition Model</a:t>
            </a:r>
            <a:endParaRPr b="1" sz="23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155" name="Google Shape;155;p27"/>
          <p:cNvSpPr txBox="1"/>
          <p:nvPr/>
        </p:nvSpPr>
        <p:spPr>
          <a:xfrm>
            <a:off x="2984025" y="4538908"/>
            <a:ext cx="27669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edero"/>
              <a:buChar char="●"/>
            </a:pPr>
            <a:r>
              <a:rPr b="1" lang="en-US" sz="250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50 questions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735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Federo"/>
              <a:buChar char="●"/>
            </a:pPr>
            <a:r>
              <a:rPr b="1" lang="en-US" sz="2500">
                <a:solidFill>
                  <a:schemeClr val="dk1"/>
                </a:solidFill>
                <a:latin typeface="Federo"/>
                <a:ea typeface="Federo"/>
                <a:cs typeface="Federo"/>
                <a:sym typeface="Federo"/>
              </a:rPr>
              <a:t>30 seconds for each</a:t>
            </a:r>
            <a:endParaRPr sz="2500"/>
          </a:p>
        </p:txBody>
      </p:sp>
      <p:pic>
        <p:nvPicPr>
          <p:cNvPr descr="Good Luck Images | Free Vectors, Stock Photos &amp; PSD" id="156" name="Google Shape;156;p27"/>
          <p:cNvPicPr preferRelativeResize="0"/>
          <p:nvPr/>
        </p:nvPicPr>
        <p:blipFill rotWithShape="1">
          <a:blip r:embed="rId3">
            <a:alphaModFix/>
          </a:blip>
          <a:srcRect b="14099" l="13543" r="16247" t="21551"/>
          <a:stretch/>
        </p:blipFill>
        <p:spPr>
          <a:xfrm>
            <a:off x="6655703" y="4166700"/>
            <a:ext cx="2282225" cy="17409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3932" y="1573625"/>
            <a:ext cx="6922793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8"/>
          <p:cNvSpPr txBox="1"/>
          <p:nvPr>
            <p:ph type="ctrTitle"/>
          </p:nvPr>
        </p:nvSpPr>
        <p:spPr>
          <a:xfrm>
            <a:off x="391886" y="196333"/>
            <a:ext cx="8347165" cy="6937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latin typeface="Arial Rounded"/>
                <a:ea typeface="Arial Rounded"/>
                <a:cs typeface="Arial Rounded"/>
                <a:sym typeface="Arial Rounded"/>
              </a:rPr>
              <a:t>8</a:t>
            </a:r>
            <a:r>
              <a:rPr b="1" lang="en-US" sz="4000">
                <a:latin typeface="Arial Rounded"/>
                <a:ea typeface="Arial Rounded"/>
                <a:cs typeface="Arial Rounded"/>
                <a:sym typeface="Arial Rounded"/>
              </a:rPr>
              <a:t> Billion and counting!</a:t>
            </a:r>
            <a:endParaRPr b="1" sz="40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50650" y="3415124"/>
            <a:ext cx="82296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2050 </a:t>
            </a:r>
            <a:r>
              <a:rPr b="1" lang="en-US" sz="3200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India will nearly have 1.7 Billion</a:t>
            </a:r>
            <a:r>
              <a:rPr b="1" i="0" lang="en-US" sz="3200" u="none" cap="none" strike="noStrike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p</a:t>
            </a:r>
            <a:r>
              <a:rPr b="1" lang="en-US" sz="3200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eople living there</a:t>
            </a:r>
            <a:endParaRPr b="1" i="0" sz="3200" u="none" cap="none" strike="noStrike">
              <a:solidFill>
                <a:srgbClr val="98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50650" y="890125"/>
            <a:ext cx="8229600" cy="12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lang="en-US" sz="3200">
                <a:solidFill>
                  <a:srgbClr val="98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1982, China was the first country to reach a population of 1 billion</a:t>
            </a:r>
            <a:endParaRPr b="1" i="0" sz="3200" u="none" cap="none" strike="noStrike">
              <a:solidFill>
                <a:srgbClr val="98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7" name="Google Shape;167;p28"/>
          <p:cNvSpPr txBox="1"/>
          <p:nvPr/>
        </p:nvSpPr>
        <p:spPr>
          <a:xfrm>
            <a:off x="450650" y="2189987"/>
            <a:ext cx="8229600" cy="11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India has</a:t>
            </a:r>
            <a:r>
              <a:rPr b="1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the biggest population with 1.45 billi</a:t>
            </a: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on people</a:t>
            </a:r>
            <a:endParaRPr b="1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8"/>
          <p:cNvSpPr txBox="1"/>
          <p:nvPr/>
        </p:nvSpPr>
        <p:spPr>
          <a:xfrm>
            <a:off x="421250" y="4653825"/>
            <a:ext cx="8288400" cy="11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25400" rtl="0" algn="ctr">
              <a:spcBef>
                <a:spcPts val="64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South Sudan has the fastest-growing population with a growth rate of 4.65%</a:t>
            </a:r>
            <a:endParaRPr b="1" sz="3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9"/>
          <p:cNvSpPr txBox="1"/>
          <p:nvPr>
            <p:ph type="ctrTitle"/>
          </p:nvPr>
        </p:nvSpPr>
        <p:spPr>
          <a:xfrm>
            <a:off x="611560" y="332656"/>
            <a:ext cx="7772400" cy="686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n-US" sz="4800">
                <a:latin typeface="Aharoni"/>
                <a:ea typeface="Aharoni"/>
                <a:cs typeface="Aharoni"/>
                <a:sym typeface="Aharoni"/>
              </a:rPr>
              <a:t>Life expectancy</a:t>
            </a:r>
            <a:endParaRPr sz="4800"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75" name="Google Shape;175;p29"/>
          <p:cNvSpPr txBox="1"/>
          <p:nvPr>
            <p:ph idx="1" type="subTitle"/>
          </p:nvPr>
        </p:nvSpPr>
        <p:spPr>
          <a:xfrm>
            <a:off x="251520" y="3743003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The average number of years a person is expected to live</a:t>
            </a:r>
            <a:endParaRPr sz="4000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176" name="Google Shape;17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760" y="1084830"/>
            <a:ext cx="60960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9"/>
          <p:cNvSpPr txBox="1"/>
          <p:nvPr/>
        </p:nvSpPr>
        <p:spPr>
          <a:xfrm>
            <a:off x="251520" y="5238378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Higher or lower in a MEDC?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Why?</a:t>
            </a:r>
            <a:endParaRPr b="0" i="0" sz="44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909" y="1387458"/>
            <a:ext cx="5888182" cy="3944073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0"/>
          <p:cNvSpPr txBox="1"/>
          <p:nvPr/>
        </p:nvSpPr>
        <p:spPr>
          <a:xfrm>
            <a:off x="457200" y="533153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Jakarta, Indonesia</a:t>
            </a:r>
            <a:endParaRPr b="1" i="0" sz="36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84" name="Google Shape;184;p30"/>
          <p:cNvSpPr/>
          <p:nvPr/>
        </p:nvSpPr>
        <p:spPr>
          <a:xfrm>
            <a:off x="209151" y="310240"/>
            <a:ext cx="847764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marR="0" rtl="0" algn="ctr"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3200"/>
              <a:buFont typeface="Comic Sans MS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are the problems caused by large populations?</a:t>
            </a:r>
            <a:endParaRPr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/>
        </p:nvSpPr>
        <p:spPr>
          <a:xfrm>
            <a:off x="4860032" y="2901876"/>
            <a:ext cx="3434052" cy="156966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Why might the numbers of people living in a country change over time? 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90" name="Google Shape;190;p31"/>
          <p:cNvSpPr txBox="1"/>
          <p:nvPr>
            <p:ph type="ctrTitle"/>
          </p:nvPr>
        </p:nvSpPr>
        <p:spPr>
          <a:xfrm>
            <a:off x="1351619" y="196335"/>
            <a:ext cx="7387434" cy="114509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lang="en-US" sz="3200"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sz="32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id="191" name="Google Shape;19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366" y="1556582"/>
            <a:ext cx="3759578" cy="50364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2"/>
          <p:cNvSpPr/>
          <p:nvPr/>
        </p:nvSpPr>
        <p:spPr>
          <a:xfrm>
            <a:off x="5638800" y="965874"/>
            <a:ext cx="3321831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 describe Malaysia’s population?</a:t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97" name="Google Shape;197;p32"/>
          <p:cNvSpPr txBox="1"/>
          <p:nvPr/>
        </p:nvSpPr>
        <p:spPr>
          <a:xfrm>
            <a:off x="391888" y="196335"/>
            <a:ext cx="8347165" cy="693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198" name="Google Shape;198;p32"/>
          <p:cNvSpPr txBox="1"/>
          <p:nvPr/>
        </p:nvSpPr>
        <p:spPr>
          <a:xfrm>
            <a:off x="5638800" y="3103727"/>
            <a:ext cx="3321831" cy="2614666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Word Bank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young dependents,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elderly dependents,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population,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death rate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birth rate,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infant mortality rate,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disease,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primary industry (farming),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expectancy </a:t>
            </a:r>
            <a:endParaRPr b="1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99" name="Google Shape;199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951" y="1341425"/>
            <a:ext cx="4893825" cy="52313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3"/>
          <p:cNvSpPr/>
          <p:nvPr/>
        </p:nvSpPr>
        <p:spPr>
          <a:xfrm>
            <a:off x="5638800" y="965874"/>
            <a:ext cx="3321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 describe 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Nigeria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’s population?</a:t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05" name="Google Shape;205;p33"/>
          <p:cNvSpPr txBox="1"/>
          <p:nvPr/>
        </p:nvSpPr>
        <p:spPr>
          <a:xfrm>
            <a:off x="391888" y="196335"/>
            <a:ext cx="8347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06" name="Google Shape;206;p33"/>
          <p:cNvSpPr txBox="1"/>
          <p:nvPr/>
        </p:nvSpPr>
        <p:spPr>
          <a:xfrm>
            <a:off x="5638800" y="3103727"/>
            <a:ext cx="3321900" cy="2614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Word Bank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young dependents,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elderly dependents,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population,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death rate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birth rate,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infant mortality rate,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disease,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primary industry (farming),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expectancy </a:t>
            </a:r>
            <a:endParaRPr b="1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07" name="Google Shape;20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2635"/>
            <a:ext cx="5334000" cy="320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4"/>
          <p:cNvSpPr/>
          <p:nvPr/>
        </p:nvSpPr>
        <p:spPr>
          <a:xfrm>
            <a:off x="5638800" y="965874"/>
            <a:ext cx="3321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 describe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13" name="Google Shape;213;p34"/>
          <p:cNvSpPr txBox="1"/>
          <p:nvPr/>
        </p:nvSpPr>
        <p:spPr>
          <a:xfrm>
            <a:off x="391888" y="196335"/>
            <a:ext cx="8347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Unusual </a:t>
            </a: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14" name="Google Shape;214;p34"/>
          <p:cNvSpPr txBox="1"/>
          <p:nvPr/>
        </p:nvSpPr>
        <p:spPr>
          <a:xfrm>
            <a:off x="5638800" y="3103727"/>
            <a:ext cx="3321900" cy="2614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Word Bank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young dependents,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elderly dependents,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population,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death rate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birth rate,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infant mortality rate,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disease,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primary industry (farming),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expectancy </a:t>
            </a:r>
            <a:endParaRPr b="1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15" name="Google Shape;21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2635"/>
            <a:ext cx="53340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5"/>
          <p:cNvSpPr/>
          <p:nvPr/>
        </p:nvSpPr>
        <p:spPr>
          <a:xfrm>
            <a:off x="5638800" y="965874"/>
            <a:ext cx="3321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 describe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1" name="Google Shape;221;p35"/>
          <p:cNvSpPr txBox="1"/>
          <p:nvPr/>
        </p:nvSpPr>
        <p:spPr>
          <a:xfrm>
            <a:off x="391888" y="196335"/>
            <a:ext cx="8347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Unusual </a:t>
            </a: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22" name="Google Shape;222;p35"/>
          <p:cNvSpPr txBox="1"/>
          <p:nvPr/>
        </p:nvSpPr>
        <p:spPr>
          <a:xfrm>
            <a:off x="5638800" y="3103727"/>
            <a:ext cx="3321900" cy="2614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Word Bank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young dependents,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elderly dependents,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population,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death rate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birth rate,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infant mortality rate,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disease,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primary industry (farming),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expectancy </a:t>
            </a:r>
            <a:endParaRPr b="1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23" name="Google Shape;22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2635"/>
            <a:ext cx="53340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6"/>
          <p:cNvSpPr/>
          <p:nvPr/>
        </p:nvSpPr>
        <p:spPr>
          <a:xfrm>
            <a:off x="5638800" y="965874"/>
            <a:ext cx="3321900" cy="20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 would you describe</a:t>
            </a:r>
            <a:r>
              <a:rPr lang="en-US" sz="3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 it</a:t>
            </a:r>
            <a:r>
              <a:rPr b="0" i="0" lang="en-US" sz="32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?</a:t>
            </a:r>
            <a:endParaRPr b="0" i="0" sz="32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29" name="Google Shape;229;p36"/>
          <p:cNvSpPr txBox="1"/>
          <p:nvPr/>
        </p:nvSpPr>
        <p:spPr>
          <a:xfrm>
            <a:off x="391888" y="196335"/>
            <a:ext cx="8347200" cy="6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Unusual </a:t>
            </a: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0" name="Google Shape;230;p36"/>
          <p:cNvSpPr txBox="1"/>
          <p:nvPr/>
        </p:nvSpPr>
        <p:spPr>
          <a:xfrm>
            <a:off x="5638800" y="3103727"/>
            <a:ext cx="3321900" cy="26148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Word Bank</a:t>
            </a:r>
            <a:endParaRPr/>
          </a:p>
          <a:p>
            <a:pPr indent="0" lvl="0" marL="0" marR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Health care,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education,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young dependents,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elderly dependents,    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working population,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death rate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birth rate,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infant mortality rate,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disease,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war, </a:t>
            </a:r>
            <a:r>
              <a:rPr b="0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primary industry (farming), </a:t>
            </a:r>
            <a:r>
              <a:rPr b="1" i="0" lang="en-US" sz="18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life expectancy </a:t>
            </a:r>
            <a:endParaRPr b="1" i="0" sz="1800" u="none" cap="none" strike="noStrike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231" name="Google Shape;23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42635"/>
            <a:ext cx="5334000" cy="373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" name="Google Shape;236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62859"/>
            <a:ext cx="8739738" cy="479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7"/>
          <p:cNvSpPr txBox="1"/>
          <p:nvPr/>
        </p:nvSpPr>
        <p:spPr>
          <a:xfrm>
            <a:off x="1351619" y="196335"/>
            <a:ext cx="7387434" cy="114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i="0" sz="32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38" name="Google Shape;238;p37"/>
          <p:cNvSpPr/>
          <p:nvPr/>
        </p:nvSpPr>
        <p:spPr>
          <a:xfrm>
            <a:off x="7240132" y="1432687"/>
            <a:ext cx="14902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Stage 5</a:t>
            </a:r>
            <a:endParaRPr b="1" i="0" sz="28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62859"/>
            <a:ext cx="8739737" cy="479980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8"/>
          <p:cNvSpPr txBox="1"/>
          <p:nvPr/>
        </p:nvSpPr>
        <p:spPr>
          <a:xfrm>
            <a:off x="1351619" y="196335"/>
            <a:ext cx="73875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i="0" sz="32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45" name="Google Shape;245;p38"/>
          <p:cNvSpPr txBox="1"/>
          <p:nvPr/>
        </p:nvSpPr>
        <p:spPr>
          <a:xfrm>
            <a:off x="3681468" y="4869159"/>
            <a:ext cx="3367500" cy="6792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Birth Rate is lower than the Death Rate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6" name="Google Shape;246;p38"/>
          <p:cNvSpPr txBox="1"/>
          <p:nvPr/>
        </p:nvSpPr>
        <p:spPr>
          <a:xfrm>
            <a:off x="4067944" y="2833559"/>
            <a:ext cx="2980800" cy="4101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Declining population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47" name="Google Shape;247;p38"/>
          <p:cNvSpPr/>
          <p:nvPr/>
        </p:nvSpPr>
        <p:spPr>
          <a:xfrm>
            <a:off x="7241201" y="2476107"/>
            <a:ext cx="1492200" cy="12651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8"/>
          <p:cNvSpPr/>
          <p:nvPr/>
        </p:nvSpPr>
        <p:spPr>
          <a:xfrm>
            <a:off x="7241201" y="4654197"/>
            <a:ext cx="1492200" cy="1265100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2350918" y="3767405"/>
            <a:ext cx="4889100" cy="831000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Why might the population decline?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50" name="Google Shape;250;p38"/>
          <p:cNvSpPr/>
          <p:nvPr/>
        </p:nvSpPr>
        <p:spPr>
          <a:xfrm>
            <a:off x="7240132" y="1432687"/>
            <a:ext cx="1490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Stage 5</a:t>
            </a:r>
            <a:endParaRPr b="1" i="0" sz="28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3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7909" y="1387458"/>
            <a:ext cx="5888182" cy="394407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39"/>
          <p:cNvSpPr/>
          <p:nvPr/>
        </p:nvSpPr>
        <p:spPr>
          <a:xfrm>
            <a:off x="209151" y="310240"/>
            <a:ext cx="8477649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5400" marR="0" rtl="0" algn="ctr">
              <a:spcBef>
                <a:spcPts val="0"/>
              </a:spcBef>
              <a:spcAft>
                <a:spcPts val="0"/>
              </a:spcAft>
              <a:buClr>
                <a:srgbClr val="F7CAAC"/>
              </a:buClr>
              <a:buSzPts val="3200"/>
              <a:buFont typeface="Comic Sans MS"/>
              <a:buNone/>
            </a:pPr>
            <a:r>
              <a:rPr b="1" i="0" lang="en-US" sz="3200" u="none" cap="none" strike="noStrik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are the problems caused by large populations?</a:t>
            </a:r>
            <a:endParaRPr>
              <a:solidFill>
                <a:srgbClr val="C00000"/>
              </a:solidFill>
            </a:endParaRPr>
          </a:p>
        </p:txBody>
      </p:sp>
      <p:sp>
        <p:nvSpPr>
          <p:cNvPr id="257" name="Google Shape;257;p39"/>
          <p:cNvSpPr txBox="1"/>
          <p:nvPr/>
        </p:nvSpPr>
        <p:spPr>
          <a:xfrm>
            <a:off x="1572487" y="5331530"/>
            <a:ext cx="588818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i="0" lang="en-US" sz="36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Mexico City, Mexico</a:t>
            </a:r>
            <a:endParaRPr b="1" i="0" sz="36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oogle Shape;262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62859"/>
            <a:ext cx="8739738" cy="479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40"/>
          <p:cNvSpPr txBox="1"/>
          <p:nvPr/>
        </p:nvSpPr>
        <p:spPr>
          <a:xfrm>
            <a:off x="1351619" y="196335"/>
            <a:ext cx="7387434" cy="114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i="0" sz="32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64" name="Google Shape;264;p40"/>
          <p:cNvSpPr txBox="1"/>
          <p:nvPr/>
        </p:nvSpPr>
        <p:spPr>
          <a:xfrm>
            <a:off x="2195736" y="4869161"/>
            <a:ext cx="3367418" cy="72008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Low Birth Rate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Low Death Rate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5" name="Google Shape;265;p40"/>
          <p:cNvSpPr txBox="1"/>
          <p:nvPr/>
        </p:nvSpPr>
        <p:spPr>
          <a:xfrm>
            <a:off x="2902665" y="2903658"/>
            <a:ext cx="2599748" cy="4101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Large population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66" name="Google Shape;266;p40"/>
          <p:cNvSpPr/>
          <p:nvPr/>
        </p:nvSpPr>
        <p:spPr>
          <a:xfrm>
            <a:off x="5814800" y="2476108"/>
            <a:ext cx="1492189" cy="1265224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40"/>
          <p:cNvSpPr/>
          <p:nvPr/>
        </p:nvSpPr>
        <p:spPr>
          <a:xfrm>
            <a:off x="5749012" y="4614382"/>
            <a:ext cx="1492189" cy="1265224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40"/>
          <p:cNvSpPr txBox="1"/>
          <p:nvPr/>
        </p:nvSpPr>
        <p:spPr>
          <a:xfrm>
            <a:off x="2353937" y="3896508"/>
            <a:ext cx="3434052" cy="830997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Why are births &amp; deaths low?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69" name="Google Shape;269;p40"/>
          <p:cNvSpPr/>
          <p:nvPr/>
        </p:nvSpPr>
        <p:spPr>
          <a:xfrm>
            <a:off x="5750921" y="1446264"/>
            <a:ext cx="14902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Stage 4</a:t>
            </a:r>
            <a:endParaRPr b="1" i="0" sz="28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1"/>
          <p:cNvSpPr txBox="1"/>
          <p:nvPr/>
        </p:nvSpPr>
        <p:spPr>
          <a:xfrm>
            <a:off x="296522" y="5215047"/>
            <a:ext cx="8285594" cy="830997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Can you identify what message the cartoons are trying to give?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descr="http://www.paulvallely.com/wp-content/uploads/2011/10/Over-Population1.jpg" id="275" name="Google Shape;275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80901" y="2215167"/>
            <a:ext cx="4101215" cy="289653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http://www.toonpool.com/user/2162/files/population_explotion_1379505.jpg" id="276" name="Google Shape;276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6522" y="2215165"/>
            <a:ext cx="4101218" cy="289653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41"/>
          <p:cNvSpPr txBox="1"/>
          <p:nvPr>
            <p:ph type="ctrTitle"/>
          </p:nvPr>
        </p:nvSpPr>
        <p:spPr>
          <a:xfrm>
            <a:off x="391888" y="196335"/>
            <a:ext cx="8347165" cy="69378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lang="en-US" sz="4000"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sz="40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2"/>
          <p:cNvSpPr txBox="1"/>
          <p:nvPr>
            <p:ph idx="1" type="subTitle"/>
          </p:nvPr>
        </p:nvSpPr>
        <p:spPr>
          <a:xfrm>
            <a:off x="251520" y="3743003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Aharoni"/>
                <a:ea typeface="Aharoni"/>
                <a:cs typeface="Aharoni"/>
                <a:sym typeface="Aharoni"/>
              </a:rPr>
              <a:t>The number of babies dying in their first year of life (per 1000 births)</a:t>
            </a:r>
            <a:endParaRPr/>
          </a:p>
        </p:txBody>
      </p:sp>
      <p:sp>
        <p:nvSpPr>
          <p:cNvPr id="283" name="Google Shape;283;p42"/>
          <p:cNvSpPr txBox="1"/>
          <p:nvPr/>
        </p:nvSpPr>
        <p:spPr>
          <a:xfrm>
            <a:off x="251520" y="5238378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Higher or lower in a MEDC?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Why?</a:t>
            </a:r>
            <a:endParaRPr b="0" i="0" sz="44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284" name="Google Shape;284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760" y="1084830"/>
            <a:ext cx="609600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2"/>
          <p:cNvSpPr txBox="1"/>
          <p:nvPr>
            <p:ph type="ctrTitle"/>
          </p:nvPr>
        </p:nvSpPr>
        <p:spPr>
          <a:xfrm>
            <a:off x="611560" y="332656"/>
            <a:ext cx="7772400" cy="686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n-US" sz="4800">
                <a:latin typeface="Aharoni"/>
                <a:ea typeface="Aharoni"/>
                <a:cs typeface="Aharoni"/>
                <a:sym typeface="Aharoni"/>
              </a:rPr>
              <a:t>Infant Mortality</a:t>
            </a:r>
            <a:endParaRPr sz="4800">
              <a:latin typeface="Aharoni"/>
              <a:ea typeface="Aharoni"/>
              <a:cs typeface="Aharoni"/>
              <a:sym typeface="Aharon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" name="Google Shape;29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62859"/>
            <a:ext cx="8739738" cy="479980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3"/>
          <p:cNvSpPr txBox="1"/>
          <p:nvPr/>
        </p:nvSpPr>
        <p:spPr>
          <a:xfrm>
            <a:off x="1351619" y="196335"/>
            <a:ext cx="7387434" cy="114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i="0" sz="32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92" name="Google Shape;292;p43"/>
          <p:cNvSpPr/>
          <p:nvPr/>
        </p:nvSpPr>
        <p:spPr>
          <a:xfrm>
            <a:off x="1353528" y="1381546"/>
            <a:ext cx="14902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Stage 1</a:t>
            </a:r>
            <a:endParaRPr b="1" i="0" sz="28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293" name="Google Shape;293;p43"/>
          <p:cNvSpPr txBox="1"/>
          <p:nvPr/>
        </p:nvSpPr>
        <p:spPr>
          <a:xfrm>
            <a:off x="5068884" y="3728844"/>
            <a:ext cx="3434052" cy="1200329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Why might there be high birth &amp; death rates?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94" name="Google Shape;294;p43"/>
          <p:cNvSpPr txBox="1"/>
          <p:nvPr/>
        </p:nvSpPr>
        <p:spPr>
          <a:xfrm>
            <a:off x="2836348" y="2852936"/>
            <a:ext cx="2671756" cy="77690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High Birth Rate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High Death Rate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5" name="Google Shape;295;p43"/>
          <p:cNvSpPr/>
          <p:nvPr/>
        </p:nvSpPr>
        <p:spPr>
          <a:xfrm>
            <a:off x="1351619" y="2564904"/>
            <a:ext cx="1492189" cy="79208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3"/>
          <p:cNvSpPr txBox="1"/>
          <p:nvPr/>
        </p:nvSpPr>
        <p:spPr>
          <a:xfrm>
            <a:off x="2836348" y="5082067"/>
            <a:ext cx="2671756" cy="4101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Small population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297" name="Google Shape;297;p43"/>
          <p:cNvSpPr/>
          <p:nvPr/>
        </p:nvSpPr>
        <p:spPr>
          <a:xfrm>
            <a:off x="1351619" y="4891085"/>
            <a:ext cx="1492189" cy="79208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4"/>
          <p:cNvSpPr txBox="1"/>
          <p:nvPr/>
        </p:nvSpPr>
        <p:spPr>
          <a:xfrm>
            <a:off x="466478" y="1726247"/>
            <a:ext cx="8115638" cy="1815882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What information would you need to tell whether a country is rich or poor?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Is Malaysia a rich or poor country? </a:t>
            </a:r>
            <a:endParaRPr b="0" i="0" sz="28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03" name="Google Shape;303;p44"/>
          <p:cNvSpPr txBox="1"/>
          <p:nvPr>
            <p:ph type="ctrTitle"/>
          </p:nvPr>
        </p:nvSpPr>
        <p:spPr>
          <a:xfrm>
            <a:off x="1351619" y="196335"/>
            <a:ext cx="7387434" cy="6710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lang="en-US" sz="3200">
                <a:latin typeface="Arial Rounded"/>
                <a:ea typeface="Arial Rounded"/>
                <a:cs typeface="Arial Rounded"/>
                <a:sym typeface="Arial Rounded"/>
              </a:rPr>
              <a:t>Comparing Countries</a:t>
            </a:r>
            <a:endParaRPr b="1" sz="3200"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pic>
        <p:nvPicPr>
          <p:cNvPr descr="Kuala Lumpur Malaysia Skyline – wall murals online – Photowall" id="304" name="Google Shape;304;p44"/>
          <p:cNvPicPr preferRelativeResize="0"/>
          <p:nvPr/>
        </p:nvPicPr>
        <p:blipFill rotWithShape="1">
          <a:blip r:embed="rId3">
            <a:alphaModFix/>
          </a:blip>
          <a:srcRect b="5971" l="0" r="0" t="25489"/>
          <a:stretch/>
        </p:blipFill>
        <p:spPr>
          <a:xfrm>
            <a:off x="466478" y="3569480"/>
            <a:ext cx="8115638" cy="3706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45"/>
          <p:cNvSpPr txBox="1"/>
          <p:nvPr>
            <p:ph idx="1" type="body"/>
          </p:nvPr>
        </p:nvSpPr>
        <p:spPr>
          <a:xfrm>
            <a:off x="220951" y="3193475"/>
            <a:ext cx="4176712" cy="17387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2800"/>
              <a:buFont typeface="Arial"/>
              <a:buNone/>
            </a:pPr>
            <a:r>
              <a:rPr b="1" lang="en-US">
                <a:solidFill>
                  <a:srgbClr val="7030A0"/>
                </a:solidFill>
                <a:latin typeface="Arial Rounded"/>
                <a:ea typeface="Arial Rounded"/>
                <a:cs typeface="Arial Rounded"/>
                <a:sym typeface="Arial Rounded"/>
              </a:rPr>
              <a:t>Why is Qatar’s population pyramid so different to what you would expect?</a:t>
            </a:r>
            <a:endParaRPr/>
          </a:p>
        </p:txBody>
      </p:sp>
      <p:pic>
        <p:nvPicPr>
          <p:cNvPr id="310" name="Google Shape;310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7388" y="1773238"/>
            <a:ext cx="4445000" cy="4506912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5"/>
          <p:cNvSpPr txBox="1"/>
          <p:nvPr/>
        </p:nvSpPr>
        <p:spPr>
          <a:xfrm>
            <a:off x="4787900" y="1341440"/>
            <a:ext cx="3600450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Qatar</a:t>
            </a:r>
            <a:endParaRPr/>
          </a:p>
        </p:txBody>
      </p:sp>
      <p:sp>
        <p:nvSpPr>
          <p:cNvPr id="312" name="Google Shape;312;p45"/>
          <p:cNvSpPr txBox="1"/>
          <p:nvPr/>
        </p:nvSpPr>
        <p:spPr>
          <a:xfrm>
            <a:off x="391888" y="196335"/>
            <a:ext cx="8347165" cy="69378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Population Pyramids</a:t>
            </a:r>
            <a:endParaRPr b="1" i="0" sz="40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512" y="1462859"/>
            <a:ext cx="8739738" cy="4799808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46"/>
          <p:cNvSpPr txBox="1"/>
          <p:nvPr/>
        </p:nvSpPr>
        <p:spPr>
          <a:xfrm>
            <a:off x="1351619" y="196335"/>
            <a:ext cx="7387434" cy="11450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Rounded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The Demographic Transition Model (DTM)</a:t>
            </a:r>
            <a:endParaRPr b="1" i="0" sz="3200" u="none" cap="none" strike="noStrike">
              <a:solidFill>
                <a:schemeClr val="dk1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  <p:sp>
        <p:nvSpPr>
          <p:cNvPr id="319" name="Google Shape;319;p46"/>
          <p:cNvSpPr txBox="1"/>
          <p:nvPr/>
        </p:nvSpPr>
        <p:spPr>
          <a:xfrm>
            <a:off x="4372934" y="2881733"/>
            <a:ext cx="3367418" cy="83529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High Birth Rate</a:t>
            </a:r>
            <a:endParaRPr/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Declining Death Rate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0" name="Google Shape;320;p46"/>
          <p:cNvSpPr/>
          <p:nvPr/>
        </p:nvSpPr>
        <p:spPr>
          <a:xfrm>
            <a:off x="2888206" y="2593701"/>
            <a:ext cx="1492189" cy="1265224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46"/>
          <p:cNvSpPr txBox="1"/>
          <p:nvPr/>
        </p:nvSpPr>
        <p:spPr>
          <a:xfrm>
            <a:off x="4380395" y="5206192"/>
            <a:ext cx="2599748" cy="410123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</a:pPr>
            <a:r>
              <a:rPr b="1" i="0" lang="en-US" sz="2000" u="none" cap="none" strike="noStrike">
                <a:solidFill>
                  <a:schemeClr val="lt1"/>
                </a:solidFill>
                <a:latin typeface="Comic Sans MS"/>
                <a:ea typeface="Comic Sans MS"/>
                <a:cs typeface="Comic Sans MS"/>
                <a:sym typeface="Comic Sans MS"/>
              </a:rPr>
              <a:t>Rising population</a:t>
            </a:r>
            <a:endParaRPr b="1" i="0" sz="2000" u="none" cap="none" strike="noStrike">
              <a:solidFill>
                <a:schemeClr val="lt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322" name="Google Shape;322;p46"/>
          <p:cNvSpPr/>
          <p:nvPr/>
        </p:nvSpPr>
        <p:spPr>
          <a:xfrm>
            <a:off x="2699792" y="4664752"/>
            <a:ext cx="1492189" cy="792088"/>
          </a:xfrm>
          <a:prstGeom prst="ellipse">
            <a:avLst/>
          </a:prstGeom>
          <a:noFill/>
          <a:ln cap="flat" cmpd="sng" w="571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6"/>
          <p:cNvSpPr txBox="1"/>
          <p:nvPr/>
        </p:nvSpPr>
        <p:spPr>
          <a:xfrm>
            <a:off x="5045336" y="3890868"/>
            <a:ext cx="3434052" cy="830997"/>
          </a:xfrm>
          <a:prstGeom prst="rect">
            <a:avLst/>
          </a:prstGeom>
          <a:solidFill>
            <a:srgbClr val="323F4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Why is the population rising?</a:t>
            </a:r>
            <a:endParaRPr b="0" i="0" sz="2400" u="none" cap="none" strike="noStrike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324" name="Google Shape;324;p46"/>
          <p:cNvSpPr/>
          <p:nvPr/>
        </p:nvSpPr>
        <p:spPr>
          <a:xfrm>
            <a:off x="2863418" y="1393612"/>
            <a:ext cx="14902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Arial Rounded"/>
                <a:ea typeface="Arial Rounded"/>
                <a:cs typeface="Arial Rounded"/>
                <a:sym typeface="Arial Rounded"/>
              </a:rPr>
              <a:t>Stage 2</a:t>
            </a:r>
            <a:endParaRPr b="1" i="0" sz="2800" u="none" cap="none" strike="noStrike">
              <a:solidFill>
                <a:srgbClr val="FF0000"/>
              </a:solidFill>
              <a:latin typeface="Arial Rounded"/>
              <a:ea typeface="Arial Rounded"/>
              <a:cs typeface="Arial Rounded"/>
              <a:sym typeface="Arial Rounde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"/>
          <p:cNvSpPr txBox="1"/>
          <p:nvPr/>
        </p:nvSpPr>
        <p:spPr>
          <a:xfrm>
            <a:off x="251520" y="5238378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Higher or lower in a </a:t>
            </a:r>
            <a:r>
              <a:rPr lang="en-US" sz="4400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HIC</a:t>
            </a: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?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Why?</a:t>
            </a:r>
            <a:endParaRPr b="0" i="0" sz="44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330" name="Google Shape;330;p47"/>
          <p:cNvSpPr txBox="1"/>
          <p:nvPr>
            <p:ph type="ctrTitle"/>
          </p:nvPr>
        </p:nvSpPr>
        <p:spPr>
          <a:xfrm>
            <a:off x="611560" y="332656"/>
            <a:ext cx="7772400" cy="68624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haroni"/>
              <a:buNone/>
            </a:pPr>
            <a:r>
              <a:rPr lang="en-US" sz="4800">
                <a:latin typeface="Aharoni"/>
                <a:ea typeface="Aharoni"/>
                <a:cs typeface="Aharoni"/>
                <a:sym typeface="Aharoni"/>
              </a:rPr>
              <a:t>Birth Rate</a:t>
            </a:r>
            <a:endParaRPr sz="4800">
              <a:latin typeface="Aharoni"/>
              <a:ea typeface="Aharoni"/>
              <a:cs typeface="Aharoni"/>
              <a:sym typeface="Aharoni"/>
            </a:endParaRPr>
          </a:p>
        </p:txBody>
      </p:sp>
      <p:pic>
        <p:nvPicPr>
          <p:cNvPr id="331" name="Google Shape;33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9760" y="1084830"/>
            <a:ext cx="6096000" cy="2455143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7"/>
          <p:cNvSpPr txBox="1"/>
          <p:nvPr>
            <p:ph idx="1" type="subTitle"/>
          </p:nvPr>
        </p:nvSpPr>
        <p:spPr>
          <a:xfrm>
            <a:off x="251520" y="3743003"/>
            <a:ext cx="8640960" cy="129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None/>
            </a:pPr>
            <a:r>
              <a:rPr lang="en-US" sz="4000">
                <a:latin typeface="Aharoni"/>
                <a:ea typeface="Aharoni"/>
                <a:cs typeface="Aharoni"/>
                <a:sym typeface="Aharoni"/>
              </a:rPr>
              <a:t>The number of babies being born per 1000 people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48"/>
          <p:cNvSpPr txBox="1"/>
          <p:nvPr>
            <p:ph idx="1" type="body"/>
          </p:nvPr>
        </p:nvSpPr>
        <p:spPr>
          <a:xfrm>
            <a:off x="384991" y="1825625"/>
            <a:ext cx="4622619" cy="23056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b="1" lang="en-US" sz="3600">
                <a:latin typeface="Federo"/>
                <a:ea typeface="Federo"/>
                <a:cs typeface="Federo"/>
                <a:sym typeface="Federo"/>
              </a:rPr>
              <a:t>50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Char char="•"/>
            </a:pPr>
            <a:r>
              <a:rPr b="1" lang="en-US" sz="3600">
                <a:latin typeface="Federo"/>
                <a:ea typeface="Federo"/>
                <a:cs typeface="Federo"/>
                <a:sym typeface="Federo"/>
              </a:rPr>
              <a:t>20 seconds for each</a:t>
            </a:r>
            <a:endParaRPr b="1" sz="3600">
              <a:latin typeface="Federo"/>
              <a:ea typeface="Federo"/>
              <a:cs typeface="Federo"/>
              <a:sym typeface="Federo"/>
            </a:endParaRPr>
          </a:p>
        </p:txBody>
      </p:sp>
      <p:pic>
        <p:nvPicPr>
          <p:cNvPr descr="Join a Game - Quizizz | Free quizzes, Formative assessment, Online quizzes" id="338" name="Google Shape;33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7610" y="1825625"/>
            <a:ext cx="3766185" cy="37661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ood Luck Images | Free Vectors, Stock Photos &amp; PSD" id="339" name="Google Shape;339;p48"/>
          <p:cNvPicPr preferRelativeResize="0"/>
          <p:nvPr/>
        </p:nvPicPr>
        <p:blipFill rotWithShape="1">
          <a:blip r:embed="rId4">
            <a:alphaModFix/>
          </a:blip>
          <a:srcRect b="14097" l="13541" r="16251" t="21553"/>
          <a:stretch/>
        </p:blipFill>
        <p:spPr>
          <a:xfrm>
            <a:off x="757645" y="3526972"/>
            <a:ext cx="3239589" cy="2471225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48"/>
          <p:cNvSpPr txBox="1"/>
          <p:nvPr/>
        </p:nvSpPr>
        <p:spPr>
          <a:xfrm>
            <a:off x="628650" y="365126"/>
            <a:ext cx="7886700" cy="6799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 Rounded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Arial Rounded"/>
                <a:ea typeface="Arial Rounded"/>
                <a:cs typeface="Arial Rounded"/>
                <a:sym typeface="Arial Rounded"/>
              </a:rPr>
              <a:t>Mid Unit Quiz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