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
  </p:notesMasterIdLst>
  <p:sldIdLst>
    <p:sldId id="256" r:id="rId2"/>
    <p:sldId id="257" r:id="rId3"/>
    <p:sldId id="285" r:id="rId4"/>
  </p:sldIdLst>
  <p:sldSz cx="9144000" cy="6858000" type="screen4x3"/>
  <p:notesSz cx="6858000" cy="9144000"/>
  <p:embeddedFontLst>
    <p:embeddedFont>
      <p:font typeface="Baumans" panose="02000506020000020003"/>
      <p:regular r:id="rId6"/>
      <p:bold r:id="rId7"/>
      <p:italic r:id="rId8"/>
      <p:boldItalic r:id="rId9"/>
    </p:embeddedFont>
    <p:embeddedFont>
      <p:font typeface="Edu TAS Beginner"/>
      <p:regular r:id="rId10"/>
      <p:bold r:id="rId11"/>
    </p:embeddedFont>
    <p:embeddedFont>
      <p:font typeface="Poppins" pitchFamily="2" charset="77"/>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477"/>
    <p:restoredTop sz="94675"/>
  </p:normalViewPr>
  <p:slideViewPr>
    <p:cSldViewPr snapToGrid="0">
      <p:cViewPr varScale="1">
        <p:scale>
          <a:sx n="73" d="100"/>
          <a:sy n="73" d="100"/>
        </p:scale>
        <p:origin x="192" y="1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font" Target="fonts/font10.fntdata"/><Relationship Id="rId10" Type="http://schemas.openxmlformats.org/officeDocument/2006/relationships/font" Target="fonts/font5.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63"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7f9b6c4f14_0_148: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7f9b6c4f14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7f9b6c4f14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7f9b6c4f1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992767"/>
            <a:ext cx="8520300" cy="273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3778833"/>
            <a:ext cx="8520300" cy="10569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867800"/>
            <a:ext cx="8520300" cy="11223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300" cy="7638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536633"/>
            <a:ext cx="85203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593367"/>
            <a:ext cx="8520300" cy="7638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593367"/>
            <a:ext cx="8520300" cy="7638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600200"/>
            <a:ext cx="6368100" cy="54546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965433"/>
            <a:ext cx="3837300" cy="49269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474833"/>
            <a:ext cx="8520300" cy="2618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4202967"/>
            <a:ext cx="8520300" cy="1734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3367"/>
            <a:ext cx="8520300" cy="763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536633"/>
            <a:ext cx="85203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sp>
        <p:nvSpPr>
          <p:cNvPr id="54" name="Google Shape;54;p13"/>
          <p:cNvSpPr/>
          <p:nvPr/>
        </p:nvSpPr>
        <p:spPr>
          <a:xfrm>
            <a:off x="87500" y="135150"/>
            <a:ext cx="8938200" cy="6587700"/>
          </a:xfrm>
          <a:prstGeom prst="rect">
            <a:avLst/>
          </a:prstGeom>
          <a:noFill/>
          <a:ln w="9525" cap="flat" cmpd="sng">
            <a:solidFill>
              <a:srgbClr val="000000"/>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 name="Google Shape;55;p13"/>
          <p:cNvPicPr preferRelativeResize="0"/>
          <p:nvPr/>
        </p:nvPicPr>
        <p:blipFill rotWithShape="1">
          <a:blip r:embed="rId3">
            <a:alphaModFix/>
          </a:blip>
          <a:srcRect t="17179" b="24290"/>
          <a:stretch/>
        </p:blipFill>
        <p:spPr>
          <a:xfrm>
            <a:off x="8094600" y="6565850"/>
            <a:ext cx="854100" cy="303817"/>
          </a:xfrm>
          <a:prstGeom prst="rect">
            <a:avLst/>
          </a:prstGeom>
          <a:noFill/>
          <a:ln>
            <a:noFill/>
          </a:ln>
        </p:spPr>
      </p:pic>
      <p:sp>
        <p:nvSpPr>
          <p:cNvPr id="56" name="Google Shape;56;p13"/>
          <p:cNvSpPr txBox="1"/>
          <p:nvPr/>
        </p:nvSpPr>
        <p:spPr>
          <a:xfrm>
            <a:off x="1778600" y="227853"/>
            <a:ext cx="5556000" cy="36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u="sng">
                <a:solidFill>
                  <a:schemeClr val="dk1"/>
                </a:solidFill>
                <a:latin typeface="Edu TAS Beginner"/>
                <a:ea typeface="Edu TAS Beginner"/>
                <a:cs typeface="Edu TAS Beginner"/>
                <a:sym typeface="Edu TAS Beginner"/>
              </a:rPr>
              <a:t>The Causes of World War I</a:t>
            </a:r>
            <a:endParaRPr b="1" u="sng">
              <a:solidFill>
                <a:schemeClr val="dk1"/>
              </a:solidFill>
              <a:latin typeface="Edu TAS Beginner"/>
              <a:ea typeface="Edu TAS Beginner"/>
              <a:cs typeface="Edu TAS Beginner"/>
              <a:sym typeface="Edu TAS Beginner"/>
            </a:endParaRPr>
          </a:p>
        </p:txBody>
      </p:sp>
      <p:sp>
        <p:nvSpPr>
          <p:cNvPr id="57" name="Google Shape;57;p13"/>
          <p:cNvSpPr txBox="1"/>
          <p:nvPr/>
        </p:nvSpPr>
        <p:spPr>
          <a:xfrm>
            <a:off x="87500" y="627450"/>
            <a:ext cx="4482900" cy="564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 sz="1000" b="1">
                <a:solidFill>
                  <a:srgbClr val="364152"/>
                </a:solidFill>
                <a:highlight>
                  <a:srgbClr val="FFFFFF"/>
                </a:highlight>
                <a:latin typeface="Poppins"/>
                <a:ea typeface="Poppins"/>
                <a:cs typeface="Poppins"/>
                <a:sym typeface="Poppins"/>
              </a:rPr>
              <a:t>1. What does militarism mean?</a:t>
            </a: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A) Building strong armies and being ready to use them</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B) Wanting peace and avoiding fighting</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C) Reducing weapons to save money</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D) Using soldiers only for parades</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b="1">
                <a:solidFill>
                  <a:srgbClr val="364152"/>
                </a:solidFill>
                <a:highlight>
                  <a:srgbClr val="FFFFFF"/>
                </a:highlight>
                <a:latin typeface="Poppins"/>
                <a:ea typeface="Poppins"/>
                <a:cs typeface="Poppins"/>
                <a:sym typeface="Poppins"/>
              </a:rPr>
              <a:t>2. Why did countries build up their militaries before WWI?</a:t>
            </a: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A) They wanted to show peace and friendship</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B) New factories made weapons faster and deadlier</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C) Leaders wanted to spend less on armies</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D) Railways made travel easier for civilians</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b="1">
                <a:solidFill>
                  <a:srgbClr val="364152"/>
                </a:solidFill>
                <a:highlight>
                  <a:srgbClr val="FFFFFF"/>
                </a:highlight>
                <a:latin typeface="Poppins"/>
                <a:ea typeface="Poppins"/>
                <a:cs typeface="Poppins"/>
                <a:sym typeface="Poppins"/>
              </a:rPr>
              <a:t>3. Which country had the strongest military before WWI?</a:t>
            </a: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A) Britain</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B) </a:t>
            </a:r>
            <a:r>
              <a:rPr lang="en" sz="1000">
                <a:solidFill>
                  <a:srgbClr val="364152"/>
                </a:solidFill>
                <a:highlight>
                  <a:schemeClr val="lt1"/>
                </a:highlight>
                <a:latin typeface="Poppins"/>
                <a:ea typeface="Poppins"/>
                <a:cs typeface="Poppins"/>
                <a:sym typeface="Poppins"/>
              </a:rPr>
              <a:t>Italy </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C) France</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D) </a:t>
            </a:r>
            <a:r>
              <a:rPr lang="en" sz="1000">
                <a:solidFill>
                  <a:srgbClr val="364152"/>
                </a:solidFill>
                <a:highlight>
                  <a:schemeClr val="lt1"/>
                </a:highlight>
                <a:latin typeface="Poppins"/>
                <a:ea typeface="Poppins"/>
                <a:cs typeface="Poppins"/>
                <a:sym typeface="Poppins"/>
              </a:rPr>
              <a:t>Germany</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b="1">
                <a:solidFill>
                  <a:srgbClr val="364152"/>
                </a:solidFill>
                <a:highlight>
                  <a:srgbClr val="FFFFFF"/>
                </a:highlight>
                <a:latin typeface="Poppins"/>
                <a:ea typeface="Poppins"/>
                <a:cs typeface="Poppins"/>
                <a:sym typeface="Poppins"/>
              </a:rPr>
              <a:t>4. Why was France worried about Germany?</a:t>
            </a: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A) France had no soldiers at all</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B) France’s army was weaker because of problems at home</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C) France and Germany were close allies</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D) France had already beaten Germany in war</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b="1">
                <a:solidFill>
                  <a:srgbClr val="364152"/>
                </a:solidFill>
                <a:highlight>
                  <a:srgbClr val="FFFFFF"/>
                </a:highlight>
                <a:latin typeface="Poppins"/>
                <a:ea typeface="Poppins"/>
                <a:cs typeface="Poppins"/>
                <a:sym typeface="Poppins"/>
              </a:rPr>
              <a:t>5. Who were in the Triple Alliance?</a:t>
            </a: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A) Britain, France, Russia</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B) </a:t>
            </a:r>
            <a:r>
              <a:rPr lang="en" sz="1000">
                <a:solidFill>
                  <a:srgbClr val="364152"/>
                </a:solidFill>
                <a:highlight>
                  <a:schemeClr val="lt1"/>
                </a:highlight>
                <a:latin typeface="Poppins"/>
                <a:ea typeface="Poppins"/>
                <a:cs typeface="Poppins"/>
                <a:sym typeface="Poppins"/>
              </a:rPr>
              <a:t>Germany, Britain, France </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C) </a:t>
            </a:r>
            <a:r>
              <a:rPr lang="en" sz="1000">
                <a:solidFill>
                  <a:srgbClr val="364152"/>
                </a:solidFill>
                <a:highlight>
                  <a:schemeClr val="lt1"/>
                </a:highlight>
                <a:latin typeface="Poppins"/>
                <a:ea typeface="Poppins"/>
                <a:cs typeface="Poppins"/>
                <a:sym typeface="Poppins"/>
              </a:rPr>
              <a:t>Germany, Italy, Austria-Hungary</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D) Russia, Italy, Britain</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endParaRPr sz="1000" b="1">
              <a:solidFill>
                <a:srgbClr val="364152"/>
              </a:solidFill>
              <a:highlight>
                <a:srgbClr val="FFFFFF"/>
              </a:highlight>
              <a:latin typeface="Poppins"/>
              <a:ea typeface="Poppins"/>
              <a:cs typeface="Poppins"/>
              <a:sym typeface="Poppins"/>
            </a:endParaRPr>
          </a:p>
        </p:txBody>
      </p:sp>
      <p:sp>
        <p:nvSpPr>
          <p:cNvPr id="58" name="Google Shape;58;p13"/>
          <p:cNvSpPr txBox="1"/>
          <p:nvPr/>
        </p:nvSpPr>
        <p:spPr>
          <a:xfrm>
            <a:off x="4572000" y="627450"/>
            <a:ext cx="3522600" cy="1223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b="1">
                <a:solidFill>
                  <a:srgbClr val="364152"/>
                </a:solidFill>
                <a:highlight>
                  <a:srgbClr val="FFFFFF"/>
                </a:highlight>
                <a:latin typeface="Poppins"/>
                <a:ea typeface="Poppins"/>
                <a:cs typeface="Poppins"/>
                <a:sym typeface="Poppins"/>
              </a:rPr>
              <a:t>6. Why did countries build so many railways before WWI?</a:t>
            </a: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rgbClr val="FFFFFF"/>
                </a:highlight>
                <a:latin typeface="Poppins"/>
                <a:ea typeface="Poppins"/>
                <a:cs typeface="Poppins"/>
                <a:sym typeface="Poppins"/>
              </a:rPr>
              <a:t>A) To sell goods to other countries</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rgbClr val="FFFFFF"/>
                </a:highlight>
                <a:latin typeface="Poppins"/>
                <a:ea typeface="Poppins"/>
                <a:cs typeface="Poppins"/>
                <a:sym typeface="Poppins"/>
              </a:rPr>
              <a:t>B) </a:t>
            </a:r>
            <a:r>
              <a:rPr lang="en" sz="1000">
                <a:solidFill>
                  <a:srgbClr val="364152"/>
                </a:solidFill>
                <a:highlight>
                  <a:schemeClr val="lt1"/>
                </a:highlight>
                <a:latin typeface="Poppins"/>
                <a:ea typeface="Poppins"/>
                <a:cs typeface="Poppins"/>
                <a:sym typeface="Poppins"/>
              </a:rPr>
              <a:t>To give people holidays abroad </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rgbClr val="FFFFFF"/>
                </a:highlight>
                <a:latin typeface="Poppins"/>
                <a:ea typeface="Poppins"/>
                <a:cs typeface="Poppins"/>
                <a:sym typeface="Poppins"/>
              </a:rPr>
              <a:t>C) To connect colonies to Europe</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rgbClr val="FFFFFF"/>
                </a:highlight>
                <a:latin typeface="Poppins"/>
                <a:ea typeface="Poppins"/>
                <a:cs typeface="Poppins"/>
                <a:sym typeface="Poppins"/>
              </a:rPr>
              <a:t>D) </a:t>
            </a:r>
            <a:r>
              <a:rPr lang="en" sz="1000">
                <a:solidFill>
                  <a:srgbClr val="364152"/>
                </a:solidFill>
                <a:highlight>
                  <a:schemeClr val="lt1"/>
                </a:highlight>
                <a:latin typeface="Poppins"/>
                <a:ea typeface="Poppins"/>
                <a:cs typeface="Poppins"/>
                <a:sym typeface="Poppins"/>
              </a:rPr>
              <a:t>To move troops quickly if war started</a:t>
            </a:r>
            <a:endParaRPr sz="1000">
              <a:solidFill>
                <a:srgbClr val="364152"/>
              </a:solidFill>
              <a:highlight>
                <a:srgbClr val="FFFFFF"/>
              </a:highlight>
              <a:latin typeface="Poppins"/>
              <a:ea typeface="Poppins"/>
              <a:cs typeface="Poppins"/>
              <a:sym typeface="Poppins"/>
            </a:endParaRPr>
          </a:p>
        </p:txBody>
      </p:sp>
      <p:sp>
        <p:nvSpPr>
          <p:cNvPr id="59" name="Google Shape;59;p13"/>
          <p:cNvSpPr txBox="1"/>
          <p:nvPr/>
        </p:nvSpPr>
        <p:spPr>
          <a:xfrm>
            <a:off x="4570400" y="1851150"/>
            <a:ext cx="4376700" cy="4233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b="1">
                <a:solidFill>
                  <a:srgbClr val="364152"/>
                </a:solidFill>
                <a:highlight>
                  <a:schemeClr val="lt1"/>
                </a:highlight>
                <a:latin typeface="Poppins"/>
                <a:ea typeface="Poppins"/>
                <a:cs typeface="Poppins"/>
                <a:sym typeface="Poppins"/>
              </a:rPr>
              <a:t>7. What was imperialism about?</a:t>
            </a: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A) Competing to build bigger empires </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B) Countries avoiding colonies overseas</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C) Sharing colonies fairly between nations</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D) Giving colonies independence</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b="1">
                <a:solidFill>
                  <a:srgbClr val="364152"/>
                </a:solidFill>
                <a:highlight>
                  <a:schemeClr val="lt1"/>
                </a:highlight>
                <a:latin typeface="Poppins"/>
                <a:ea typeface="Poppins"/>
                <a:cs typeface="Poppins"/>
                <a:sym typeface="Poppins"/>
              </a:rPr>
              <a:t>8. How did nationalism increase tension in Europe?</a:t>
            </a: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A) People thought peace was most important</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B) Countries felt proud but also feared other nations</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C) Countries always wanted to compromise</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D) People ignored their national pride</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b="1">
                <a:solidFill>
                  <a:srgbClr val="364152"/>
                </a:solidFill>
                <a:highlight>
                  <a:schemeClr val="lt1"/>
                </a:highlight>
                <a:latin typeface="Poppins"/>
                <a:ea typeface="Poppins"/>
                <a:cs typeface="Poppins"/>
                <a:sym typeface="Poppins"/>
              </a:rPr>
              <a:t>9. What was the ‘spark’ that began WWI?</a:t>
            </a: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A) Germany invaded Belgium</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B) Britain built a bigger navy</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C) Archduke Franz Ferdinand was killed</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D) France declared war on Germany</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b="1">
                <a:solidFill>
                  <a:srgbClr val="364152"/>
                </a:solidFill>
                <a:highlight>
                  <a:schemeClr val="lt1"/>
                </a:highlight>
                <a:latin typeface="Poppins"/>
                <a:ea typeface="Poppins"/>
                <a:cs typeface="Poppins"/>
                <a:sym typeface="Poppins"/>
              </a:rPr>
              <a:t>10. Why did a small fight turn into World War I?</a:t>
            </a: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A) The alliance system pulled many countries into war</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B) Only Austria-Hungary and Serbia wanted to fight</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C) Britain stayed out of the conflict</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D) Germany chose to stay neutral</a:t>
            </a:r>
            <a:endParaRPr sz="1000">
              <a:solidFill>
                <a:srgbClr val="364152"/>
              </a:solidFill>
              <a:highlight>
                <a:schemeClr val="lt1"/>
              </a:highlight>
              <a:latin typeface="Poppins"/>
              <a:ea typeface="Poppins"/>
              <a:cs typeface="Poppins"/>
              <a:sym typeface="Poppins"/>
            </a:endParaRPr>
          </a:p>
        </p:txBody>
      </p:sp>
      <p:pic>
        <p:nvPicPr>
          <p:cNvPr id="60" name="Google Shape;60;p13"/>
          <p:cNvPicPr preferRelativeResize="0"/>
          <p:nvPr/>
        </p:nvPicPr>
        <p:blipFill>
          <a:blip r:embed="rId4">
            <a:alphaModFix/>
          </a:blip>
          <a:stretch>
            <a:fillRect/>
          </a:stretch>
        </p:blipFill>
        <p:spPr>
          <a:xfrm>
            <a:off x="8380700" y="225900"/>
            <a:ext cx="568000" cy="56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p:nvPr/>
        </p:nvSpPr>
        <p:spPr>
          <a:xfrm>
            <a:off x="257875" y="196438"/>
            <a:ext cx="3166200" cy="2294700"/>
          </a:xfrm>
          <a:prstGeom prst="rect">
            <a:avLst/>
          </a:prstGeom>
          <a:noFill/>
          <a:ln w="9525" cap="flat" cmpd="sng">
            <a:solidFill>
              <a:srgbClr val="000000"/>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6" name="Google Shape;66;p14"/>
          <p:cNvPicPr preferRelativeResize="0"/>
          <p:nvPr/>
        </p:nvPicPr>
        <p:blipFill rotWithShape="1">
          <a:blip r:embed="rId3">
            <a:alphaModFix/>
          </a:blip>
          <a:srcRect/>
          <a:stretch/>
        </p:blipFill>
        <p:spPr>
          <a:xfrm>
            <a:off x="257875" y="196440"/>
            <a:ext cx="3166326" cy="2294775"/>
          </a:xfrm>
          <a:prstGeom prst="rect">
            <a:avLst/>
          </a:prstGeom>
          <a:noFill/>
          <a:ln>
            <a:noFill/>
          </a:ln>
        </p:spPr>
      </p:pic>
      <p:pic>
        <p:nvPicPr>
          <p:cNvPr id="67" name="Google Shape;67;p14"/>
          <p:cNvPicPr preferRelativeResize="0"/>
          <p:nvPr/>
        </p:nvPicPr>
        <p:blipFill rotWithShape="1">
          <a:blip r:embed="rId4">
            <a:alphaModFix/>
          </a:blip>
          <a:srcRect t="17179" b="24290"/>
          <a:stretch/>
        </p:blipFill>
        <p:spPr>
          <a:xfrm rot="-5400000">
            <a:off x="3097822" y="406267"/>
            <a:ext cx="651350" cy="231675"/>
          </a:xfrm>
          <a:prstGeom prst="rect">
            <a:avLst/>
          </a:prstGeom>
          <a:noFill/>
          <a:ln>
            <a:noFill/>
          </a:ln>
        </p:spPr>
      </p:pic>
      <p:sp>
        <p:nvSpPr>
          <p:cNvPr id="68" name="Google Shape;68;p14"/>
          <p:cNvSpPr txBox="1"/>
          <p:nvPr/>
        </p:nvSpPr>
        <p:spPr>
          <a:xfrm>
            <a:off x="161700" y="2736663"/>
            <a:ext cx="3295800" cy="3924900"/>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b="1">
                <a:solidFill>
                  <a:schemeClr val="dk1"/>
                </a:solidFill>
                <a:latin typeface="Poppins"/>
                <a:ea typeface="Poppins"/>
                <a:cs typeface="Poppins"/>
                <a:sym typeface="Poppins"/>
              </a:rPr>
              <a:t>Excerpt from a Daily Telegraph (UK Newspaper) interview with Kaiser Wilhelm II in 1908.</a:t>
            </a:r>
            <a:endParaRPr sz="900" b="1">
              <a:latin typeface="Poppins"/>
              <a:ea typeface="Poppins"/>
              <a:cs typeface="Poppins"/>
              <a:sym typeface="Poppins"/>
            </a:endParaRPr>
          </a:p>
          <a:p>
            <a:pPr marL="0" lvl="0" indent="0" algn="l" rtl="0">
              <a:spcBef>
                <a:spcPts val="0"/>
              </a:spcBef>
              <a:spcAft>
                <a:spcPts val="0"/>
              </a:spcAft>
              <a:buNone/>
            </a:pPr>
            <a:r>
              <a:rPr lang="en" sz="1000">
                <a:latin typeface="Poppins"/>
                <a:ea typeface="Poppins"/>
                <a:cs typeface="Poppins"/>
                <a:sym typeface="Poppins"/>
              </a:rPr>
              <a:t>The Kaiser said he wanted peace with Britain and could not understand why the English distrusted him. He reminded them of his speech at Guildhall, where he promised that one of his greatest wishes was to live on good terms with England. He asked if he had ever broken his word.</a:t>
            </a:r>
            <a:endParaRPr sz="1000">
              <a:latin typeface="Poppins"/>
              <a:ea typeface="Poppins"/>
              <a:cs typeface="Poppins"/>
              <a:sym typeface="Poppins"/>
            </a:endParaRPr>
          </a:p>
          <a:p>
            <a:pPr marL="0" lvl="0" indent="0" algn="l" rtl="0">
              <a:spcBef>
                <a:spcPts val="0"/>
              </a:spcBef>
              <a:spcAft>
                <a:spcPts val="0"/>
              </a:spcAft>
              <a:buNone/>
            </a:pPr>
            <a:endParaRPr sz="1000">
              <a:latin typeface="Poppins"/>
              <a:ea typeface="Poppins"/>
              <a:cs typeface="Poppins"/>
              <a:sym typeface="Poppins"/>
            </a:endParaRPr>
          </a:p>
          <a:p>
            <a:pPr marL="0" lvl="0" indent="0" algn="l" rtl="0">
              <a:spcBef>
                <a:spcPts val="0"/>
              </a:spcBef>
              <a:spcAft>
                <a:spcPts val="0"/>
              </a:spcAft>
              <a:buNone/>
            </a:pPr>
            <a:r>
              <a:rPr lang="en" sz="1000">
                <a:latin typeface="Poppins"/>
                <a:ea typeface="Poppins"/>
                <a:cs typeface="Poppins"/>
                <a:sym typeface="Poppins"/>
              </a:rPr>
              <a:t>The Kaiser admitted that Germany was building a large navy, but explained it was not meant to threaten England. Instead, he said Germany was a young and growing empire with worldwide trade that needed protection. A strong navy, he argued, was necessary to defend German interests, even in faraway seas.</a:t>
            </a:r>
            <a:endParaRPr sz="1000">
              <a:latin typeface="Poppins"/>
              <a:ea typeface="Poppins"/>
              <a:cs typeface="Poppins"/>
              <a:sym typeface="Poppins"/>
            </a:endParaRPr>
          </a:p>
          <a:p>
            <a:pPr marL="0" lvl="0" indent="0" algn="l" rtl="0">
              <a:spcBef>
                <a:spcPts val="0"/>
              </a:spcBef>
              <a:spcAft>
                <a:spcPts val="0"/>
              </a:spcAft>
              <a:buNone/>
            </a:pPr>
            <a:endParaRPr sz="1000">
              <a:latin typeface="Poppins"/>
              <a:ea typeface="Poppins"/>
              <a:cs typeface="Poppins"/>
              <a:sym typeface="Poppins"/>
            </a:endParaRPr>
          </a:p>
          <a:p>
            <a:pPr marL="0" lvl="0" indent="0" algn="l" rtl="0">
              <a:spcBef>
                <a:spcPts val="0"/>
              </a:spcBef>
              <a:spcAft>
                <a:spcPts val="0"/>
              </a:spcAft>
              <a:buNone/>
            </a:pPr>
            <a:r>
              <a:rPr lang="en" sz="1000">
                <a:latin typeface="Poppins"/>
                <a:ea typeface="Poppins"/>
                <a:cs typeface="Poppins"/>
                <a:sym typeface="Poppins"/>
              </a:rPr>
              <a:t>He pointed to the rise of Japan and the possible awakening of China as reasons why all European powers should be prepared for future challenges in the Pacific. The Kaiser added that one day, Britain might even welcome Germany’s fleet as an ally in world affairs.</a:t>
            </a:r>
            <a:endParaRPr sz="1000">
              <a:latin typeface="Poppins"/>
              <a:ea typeface="Poppins"/>
              <a:cs typeface="Poppins"/>
              <a:sym typeface="Poppins"/>
            </a:endParaRPr>
          </a:p>
        </p:txBody>
      </p:sp>
      <p:pic>
        <p:nvPicPr>
          <p:cNvPr id="69" name="Google Shape;69;p14"/>
          <p:cNvPicPr preferRelativeResize="0"/>
          <p:nvPr/>
        </p:nvPicPr>
        <p:blipFill rotWithShape="1">
          <a:blip r:embed="rId4">
            <a:alphaModFix/>
          </a:blip>
          <a:srcRect t="17179" b="24290"/>
          <a:stretch/>
        </p:blipFill>
        <p:spPr>
          <a:xfrm rot="-5400000">
            <a:off x="3212362" y="2828000"/>
            <a:ext cx="482350" cy="171575"/>
          </a:xfrm>
          <a:prstGeom prst="rect">
            <a:avLst/>
          </a:prstGeom>
          <a:noFill/>
          <a:ln>
            <a:noFill/>
          </a:ln>
        </p:spPr>
      </p:pic>
      <p:sp>
        <p:nvSpPr>
          <p:cNvPr id="70" name="Google Shape;70;p14"/>
          <p:cNvSpPr/>
          <p:nvPr/>
        </p:nvSpPr>
        <p:spPr>
          <a:xfrm>
            <a:off x="5585900" y="196438"/>
            <a:ext cx="3166200" cy="2294700"/>
          </a:xfrm>
          <a:prstGeom prst="rect">
            <a:avLst/>
          </a:prstGeom>
          <a:noFill/>
          <a:ln w="9525" cap="flat" cmpd="sng">
            <a:solidFill>
              <a:srgbClr val="000000"/>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1" name="Google Shape;71;p14"/>
          <p:cNvPicPr preferRelativeResize="0"/>
          <p:nvPr/>
        </p:nvPicPr>
        <p:blipFill rotWithShape="1">
          <a:blip r:embed="rId3">
            <a:alphaModFix/>
          </a:blip>
          <a:srcRect/>
          <a:stretch/>
        </p:blipFill>
        <p:spPr>
          <a:xfrm>
            <a:off x="5585900" y="196440"/>
            <a:ext cx="3166326" cy="2294775"/>
          </a:xfrm>
          <a:prstGeom prst="rect">
            <a:avLst/>
          </a:prstGeom>
          <a:noFill/>
          <a:ln>
            <a:noFill/>
          </a:ln>
        </p:spPr>
      </p:pic>
      <p:pic>
        <p:nvPicPr>
          <p:cNvPr id="72" name="Google Shape;72;p14"/>
          <p:cNvPicPr preferRelativeResize="0"/>
          <p:nvPr/>
        </p:nvPicPr>
        <p:blipFill rotWithShape="1">
          <a:blip r:embed="rId4">
            <a:alphaModFix/>
          </a:blip>
          <a:srcRect t="17179" b="24290"/>
          <a:stretch/>
        </p:blipFill>
        <p:spPr>
          <a:xfrm rot="-5400000">
            <a:off x="8425847" y="406267"/>
            <a:ext cx="651350" cy="231675"/>
          </a:xfrm>
          <a:prstGeom prst="rect">
            <a:avLst/>
          </a:prstGeom>
          <a:noFill/>
          <a:ln>
            <a:noFill/>
          </a:ln>
        </p:spPr>
      </p:pic>
      <p:sp>
        <p:nvSpPr>
          <p:cNvPr id="73" name="Google Shape;73;p14"/>
          <p:cNvSpPr txBox="1"/>
          <p:nvPr/>
        </p:nvSpPr>
        <p:spPr>
          <a:xfrm>
            <a:off x="5489725" y="2736663"/>
            <a:ext cx="3295800" cy="3924900"/>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b="1">
                <a:solidFill>
                  <a:schemeClr val="dk1"/>
                </a:solidFill>
                <a:latin typeface="Poppins"/>
                <a:ea typeface="Poppins"/>
                <a:cs typeface="Poppins"/>
                <a:sym typeface="Poppins"/>
              </a:rPr>
              <a:t>Excerpt from a Daily Telegraph (UK Newspaper) interview with Kaiser Wilhelm II in 1908.</a:t>
            </a:r>
            <a:endParaRPr sz="900" b="1">
              <a:latin typeface="Poppins"/>
              <a:ea typeface="Poppins"/>
              <a:cs typeface="Poppins"/>
              <a:sym typeface="Poppins"/>
            </a:endParaRPr>
          </a:p>
          <a:p>
            <a:pPr marL="0" lvl="0" indent="0" algn="l" rtl="0">
              <a:spcBef>
                <a:spcPts val="0"/>
              </a:spcBef>
              <a:spcAft>
                <a:spcPts val="0"/>
              </a:spcAft>
              <a:buNone/>
            </a:pPr>
            <a:r>
              <a:rPr lang="en" sz="1000">
                <a:latin typeface="Poppins"/>
                <a:ea typeface="Poppins"/>
                <a:cs typeface="Poppins"/>
                <a:sym typeface="Poppins"/>
              </a:rPr>
              <a:t>The Kaiser said he wanted peace with Britain and could not understand why the English distrusted him. He reminded them of his speech at Guildhall, where he promised that one of his greatest wishes was to live on good terms with England. He asked if he had ever broken his word.</a:t>
            </a:r>
            <a:endParaRPr sz="1000">
              <a:latin typeface="Poppins"/>
              <a:ea typeface="Poppins"/>
              <a:cs typeface="Poppins"/>
              <a:sym typeface="Poppins"/>
            </a:endParaRPr>
          </a:p>
          <a:p>
            <a:pPr marL="0" lvl="0" indent="0" algn="l" rtl="0">
              <a:spcBef>
                <a:spcPts val="0"/>
              </a:spcBef>
              <a:spcAft>
                <a:spcPts val="0"/>
              </a:spcAft>
              <a:buNone/>
            </a:pPr>
            <a:endParaRPr sz="1000">
              <a:latin typeface="Poppins"/>
              <a:ea typeface="Poppins"/>
              <a:cs typeface="Poppins"/>
              <a:sym typeface="Poppins"/>
            </a:endParaRPr>
          </a:p>
          <a:p>
            <a:pPr marL="0" lvl="0" indent="0" algn="l" rtl="0">
              <a:spcBef>
                <a:spcPts val="0"/>
              </a:spcBef>
              <a:spcAft>
                <a:spcPts val="0"/>
              </a:spcAft>
              <a:buNone/>
            </a:pPr>
            <a:r>
              <a:rPr lang="en" sz="1000">
                <a:latin typeface="Poppins"/>
                <a:ea typeface="Poppins"/>
                <a:cs typeface="Poppins"/>
                <a:sym typeface="Poppins"/>
              </a:rPr>
              <a:t>The Kaiser admitted that Germany was building a large navy, but explained it was not meant to threaten England. Instead, he said Germany was a young and growing empire with worldwide trade that needed protection. A strong navy, he argued, was necessary to defend German interests, even in faraway seas.</a:t>
            </a:r>
            <a:endParaRPr sz="1000">
              <a:latin typeface="Poppins"/>
              <a:ea typeface="Poppins"/>
              <a:cs typeface="Poppins"/>
              <a:sym typeface="Poppins"/>
            </a:endParaRPr>
          </a:p>
          <a:p>
            <a:pPr marL="0" lvl="0" indent="0" algn="l" rtl="0">
              <a:spcBef>
                <a:spcPts val="0"/>
              </a:spcBef>
              <a:spcAft>
                <a:spcPts val="0"/>
              </a:spcAft>
              <a:buNone/>
            </a:pPr>
            <a:endParaRPr sz="1000">
              <a:latin typeface="Poppins"/>
              <a:ea typeface="Poppins"/>
              <a:cs typeface="Poppins"/>
              <a:sym typeface="Poppins"/>
            </a:endParaRPr>
          </a:p>
          <a:p>
            <a:pPr marL="0" lvl="0" indent="0" algn="l" rtl="0">
              <a:spcBef>
                <a:spcPts val="0"/>
              </a:spcBef>
              <a:spcAft>
                <a:spcPts val="0"/>
              </a:spcAft>
              <a:buNone/>
            </a:pPr>
            <a:r>
              <a:rPr lang="en" sz="1000">
                <a:latin typeface="Poppins"/>
                <a:ea typeface="Poppins"/>
                <a:cs typeface="Poppins"/>
                <a:sym typeface="Poppins"/>
              </a:rPr>
              <a:t>He pointed to the rise of Japan and the possible awakening of China as reasons why all European powers should be prepared for future challenges in the Pacific. The Kaiser added that one day, Britain might even welcome Germany’s fleet as an ally in world affairs.</a:t>
            </a:r>
            <a:endParaRPr sz="1000">
              <a:latin typeface="Poppins"/>
              <a:ea typeface="Poppins"/>
              <a:cs typeface="Poppins"/>
              <a:sym typeface="Poppins"/>
            </a:endParaRPr>
          </a:p>
        </p:txBody>
      </p:sp>
      <p:pic>
        <p:nvPicPr>
          <p:cNvPr id="74" name="Google Shape;74;p14"/>
          <p:cNvPicPr preferRelativeResize="0"/>
          <p:nvPr/>
        </p:nvPicPr>
        <p:blipFill rotWithShape="1">
          <a:blip r:embed="rId4">
            <a:alphaModFix/>
          </a:blip>
          <a:srcRect t="17179" b="24290"/>
          <a:stretch/>
        </p:blipFill>
        <p:spPr>
          <a:xfrm rot="-5400000">
            <a:off x="8540387" y="2828000"/>
            <a:ext cx="482350" cy="171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BFA511-1F4D-B7F7-C00C-56384258FA17}"/>
              </a:ext>
            </a:extLst>
          </p:cNvPr>
          <p:cNvSpPr txBox="1"/>
          <p:nvPr/>
        </p:nvSpPr>
        <p:spPr>
          <a:xfrm>
            <a:off x="1328745" y="1587520"/>
            <a:ext cx="971741" cy="307777"/>
          </a:xfrm>
          <a:prstGeom prst="rect">
            <a:avLst/>
          </a:prstGeom>
          <a:noFill/>
        </p:spPr>
        <p:txBody>
          <a:bodyPr wrap="none" rtlCol="0">
            <a:spAutoFit/>
          </a:bodyPr>
          <a:lstStyle/>
          <a:p>
            <a:r>
              <a:rPr lang="en-US" b="1" u="sng" dirty="0"/>
              <a:t>Source B</a:t>
            </a:r>
          </a:p>
        </p:txBody>
      </p:sp>
      <p:sp>
        <p:nvSpPr>
          <p:cNvPr id="5" name="TextBox 4">
            <a:extLst>
              <a:ext uri="{FF2B5EF4-FFF2-40B4-BE49-F238E27FC236}">
                <a16:creationId xmlns:a16="http://schemas.microsoft.com/office/drawing/2014/main" id="{D3CAEAE3-8587-44DD-9E92-859A4E6BEC66}"/>
              </a:ext>
            </a:extLst>
          </p:cNvPr>
          <p:cNvSpPr txBox="1"/>
          <p:nvPr/>
        </p:nvSpPr>
        <p:spPr>
          <a:xfrm>
            <a:off x="6486526" y="1587520"/>
            <a:ext cx="971741" cy="307777"/>
          </a:xfrm>
          <a:prstGeom prst="rect">
            <a:avLst/>
          </a:prstGeom>
          <a:noFill/>
        </p:spPr>
        <p:txBody>
          <a:bodyPr wrap="none" rtlCol="0">
            <a:spAutoFit/>
          </a:bodyPr>
          <a:lstStyle/>
          <a:p>
            <a:r>
              <a:rPr lang="en-US" b="1" dirty="0"/>
              <a:t>Source B</a:t>
            </a:r>
          </a:p>
        </p:txBody>
      </p:sp>
      <p:sp>
        <p:nvSpPr>
          <p:cNvPr id="7" name="TextBox 6">
            <a:extLst>
              <a:ext uri="{FF2B5EF4-FFF2-40B4-BE49-F238E27FC236}">
                <a16:creationId xmlns:a16="http://schemas.microsoft.com/office/drawing/2014/main" id="{6ED60DF1-74B1-75E3-9527-D52198A4DB27}"/>
              </a:ext>
            </a:extLst>
          </p:cNvPr>
          <p:cNvSpPr txBox="1"/>
          <p:nvPr/>
        </p:nvSpPr>
        <p:spPr>
          <a:xfrm>
            <a:off x="4557714" y="1895296"/>
            <a:ext cx="4586286" cy="3970318"/>
          </a:xfrm>
          <a:prstGeom prst="rect">
            <a:avLst/>
          </a:prstGeom>
          <a:noFill/>
        </p:spPr>
        <p:txBody>
          <a:bodyPr wrap="square">
            <a:spAutoFit/>
          </a:bodyPr>
          <a:lstStyle/>
          <a:p>
            <a:pPr>
              <a:buNone/>
            </a:pPr>
            <a:r>
              <a:rPr lang="en-GB" dirty="0"/>
              <a:t>摘自英国《每日电讯报》1908 </a:t>
            </a:r>
            <a:r>
              <a:rPr lang="en-GB" dirty="0" err="1"/>
              <a:t>年对德皇威廉二世的采访</a:t>
            </a:r>
            <a:endParaRPr lang="en-GB" dirty="0"/>
          </a:p>
          <a:p>
            <a:pPr>
              <a:buNone/>
            </a:pPr>
            <a:endParaRPr lang="en-GB" dirty="0"/>
          </a:p>
          <a:p>
            <a:pPr>
              <a:buNone/>
            </a:pPr>
            <a:r>
              <a:rPr lang="en-GB" dirty="0"/>
              <a:t>德皇表示，他希望与英国保持和平，并且不明白为什么英国人不信任他。他提醒英国人回想起自己在伦敦市政厅发表的演讲，当时他曾承诺，与英国保持良好关系是他最大的愿望之一。他还反问道，自己是否曾经违背过诺言。</a:t>
            </a:r>
          </a:p>
          <a:p>
            <a:pPr>
              <a:buNone/>
            </a:pPr>
            <a:endParaRPr lang="en-GB" dirty="0"/>
          </a:p>
          <a:p>
            <a:pPr>
              <a:buNone/>
            </a:pPr>
            <a:r>
              <a:rPr lang="en-GB" dirty="0"/>
              <a:t>德皇承认，德国正在建造一支规模庞大的海军，但他解释说，这并不是为了威胁英国。相反，他表示，德国是一个年轻且不断发展的帝国，拥有遍布世界各地的贸易，因此需要保护这些贸易。一支强大的海军是捍卫德国利益所必需的，即使是在遥远的海域也不例外。</a:t>
            </a:r>
          </a:p>
          <a:p>
            <a:pPr>
              <a:buNone/>
            </a:pPr>
            <a:endParaRPr lang="en-GB" dirty="0"/>
          </a:p>
          <a:p>
            <a:pPr>
              <a:buNone/>
            </a:pPr>
            <a:r>
              <a:rPr lang="en-GB" dirty="0"/>
              <a:t>他指出，日本的崛起以及中国未来可能的崛起，说明所有欧洲列强都应该为太平洋地区未来可能出现的挑战做好准备。德皇还补充说，有朝一日，英国甚至可能会在国际事务中欢迎德国舰队成为自己的盟友。</a:t>
            </a:r>
          </a:p>
        </p:txBody>
      </p:sp>
      <p:sp>
        <p:nvSpPr>
          <p:cNvPr id="9" name="TextBox 8">
            <a:extLst>
              <a:ext uri="{FF2B5EF4-FFF2-40B4-BE49-F238E27FC236}">
                <a16:creationId xmlns:a16="http://schemas.microsoft.com/office/drawing/2014/main" id="{FEFDD295-FC12-7A5B-011B-8C55B219C65E}"/>
              </a:ext>
            </a:extLst>
          </p:cNvPr>
          <p:cNvSpPr txBox="1"/>
          <p:nvPr/>
        </p:nvSpPr>
        <p:spPr>
          <a:xfrm>
            <a:off x="43257" y="1942699"/>
            <a:ext cx="4586286" cy="4185761"/>
          </a:xfrm>
          <a:prstGeom prst="rect">
            <a:avLst/>
          </a:prstGeom>
          <a:noFill/>
        </p:spPr>
        <p:txBody>
          <a:bodyPr wrap="square">
            <a:spAutoFit/>
          </a:bodyPr>
          <a:lstStyle/>
          <a:p>
            <a:pPr>
              <a:buNone/>
            </a:pPr>
            <a:r>
              <a:rPr lang="en-GB" sz="1200" b="1" dirty="0"/>
              <a:t>1908년 </a:t>
            </a:r>
            <a:r>
              <a:rPr lang="en-GB" sz="1200" b="1" dirty="0" err="1"/>
              <a:t>영국</a:t>
            </a:r>
            <a:r>
              <a:rPr lang="en-GB" sz="1200" b="1" dirty="0"/>
              <a:t> </a:t>
            </a:r>
            <a:r>
              <a:rPr lang="en-GB" sz="1200" b="1" dirty="0" err="1"/>
              <a:t>신문</a:t>
            </a:r>
            <a:r>
              <a:rPr lang="en-GB" sz="1200" b="1" dirty="0"/>
              <a:t> 《</a:t>
            </a:r>
            <a:r>
              <a:rPr lang="en-GB" sz="1200" b="1" dirty="0" err="1"/>
              <a:t>데일리</a:t>
            </a:r>
            <a:r>
              <a:rPr lang="en-GB" sz="1200" b="1" dirty="0"/>
              <a:t> </a:t>
            </a:r>
            <a:r>
              <a:rPr lang="en-GB" sz="1200" b="1" dirty="0" err="1"/>
              <a:t>텔레그래프</a:t>
            </a:r>
            <a:r>
              <a:rPr lang="en-GB" sz="1200" b="1" dirty="0"/>
              <a:t>(The Daily Telegraph)》</a:t>
            </a:r>
            <a:r>
              <a:rPr lang="en-GB" sz="1200" b="1" dirty="0" err="1"/>
              <a:t>에</a:t>
            </a:r>
            <a:r>
              <a:rPr lang="en-GB" sz="1200" b="1" dirty="0"/>
              <a:t> </a:t>
            </a:r>
            <a:r>
              <a:rPr lang="en-GB" sz="1200" b="1" dirty="0" err="1"/>
              <a:t>실린</a:t>
            </a:r>
            <a:r>
              <a:rPr lang="en-GB" sz="1200" b="1" dirty="0"/>
              <a:t> </a:t>
            </a:r>
            <a:r>
              <a:rPr lang="en-GB" sz="1200" b="1" dirty="0" err="1"/>
              <a:t>독일</a:t>
            </a:r>
            <a:r>
              <a:rPr lang="en-GB" sz="1200" b="1" dirty="0"/>
              <a:t> </a:t>
            </a:r>
            <a:r>
              <a:rPr lang="en-GB" sz="1200" b="1" dirty="0" err="1"/>
              <a:t>황제</a:t>
            </a:r>
            <a:r>
              <a:rPr lang="en-GB" sz="1200" b="1" dirty="0"/>
              <a:t> </a:t>
            </a:r>
            <a:r>
              <a:rPr lang="en-GB" sz="1200" b="1" dirty="0" err="1"/>
              <a:t>빌헬름</a:t>
            </a:r>
            <a:r>
              <a:rPr lang="en-GB" sz="1200" b="1" dirty="0"/>
              <a:t> 2세와의 </a:t>
            </a:r>
            <a:r>
              <a:rPr lang="en-GB" sz="1200" b="1" dirty="0" err="1"/>
              <a:t>인터뷰</a:t>
            </a:r>
            <a:r>
              <a:rPr lang="en-GB" sz="1200" b="1" dirty="0"/>
              <a:t> </a:t>
            </a:r>
            <a:r>
              <a:rPr lang="en-GB" sz="1200" b="1" dirty="0" err="1"/>
              <a:t>발췌문</a:t>
            </a:r>
            <a:endParaRPr lang="en-GB" sz="1200" b="1" dirty="0"/>
          </a:p>
          <a:p>
            <a:pPr>
              <a:buNone/>
            </a:pPr>
            <a:endParaRPr lang="en-GB" sz="1200" b="1" dirty="0"/>
          </a:p>
          <a:p>
            <a:r>
              <a:rPr lang="en-GB" sz="1200" dirty="0" err="1"/>
              <a:t>황제는</a:t>
            </a:r>
            <a:r>
              <a:rPr lang="en-GB" sz="1200" dirty="0"/>
              <a:t> </a:t>
            </a:r>
            <a:r>
              <a:rPr lang="en-GB" sz="1200" dirty="0" err="1"/>
              <a:t>영국과</a:t>
            </a:r>
            <a:r>
              <a:rPr lang="en-GB" sz="1200" dirty="0"/>
              <a:t> </a:t>
            </a:r>
            <a:r>
              <a:rPr lang="en-GB" sz="1200" dirty="0" err="1"/>
              <a:t>평화로운</a:t>
            </a:r>
            <a:r>
              <a:rPr lang="en-GB" sz="1200" dirty="0"/>
              <a:t> </a:t>
            </a:r>
            <a:r>
              <a:rPr lang="en-GB" sz="1200" dirty="0" err="1"/>
              <a:t>관계를</a:t>
            </a:r>
            <a:r>
              <a:rPr lang="en-GB" sz="1200" dirty="0"/>
              <a:t> </a:t>
            </a:r>
            <a:r>
              <a:rPr lang="en-GB" sz="1200" dirty="0" err="1"/>
              <a:t>유지하고</a:t>
            </a:r>
            <a:r>
              <a:rPr lang="en-GB" sz="1200" dirty="0"/>
              <a:t> </a:t>
            </a:r>
            <a:r>
              <a:rPr lang="en-GB" sz="1200" dirty="0" err="1"/>
              <a:t>싶으며</a:t>
            </a:r>
            <a:r>
              <a:rPr lang="en-GB" sz="1200" dirty="0"/>
              <a:t>, </a:t>
            </a:r>
            <a:r>
              <a:rPr lang="en-GB" sz="1200" dirty="0" err="1"/>
              <a:t>영국인들이</a:t>
            </a:r>
            <a:r>
              <a:rPr lang="en-GB" sz="1200" dirty="0"/>
              <a:t> </a:t>
            </a:r>
            <a:r>
              <a:rPr lang="en-GB" sz="1200" dirty="0" err="1"/>
              <a:t>왜</a:t>
            </a:r>
            <a:r>
              <a:rPr lang="en-GB" sz="1200" dirty="0"/>
              <a:t> </a:t>
            </a:r>
            <a:r>
              <a:rPr lang="en-GB" sz="1200" dirty="0" err="1"/>
              <a:t>자신을</a:t>
            </a:r>
            <a:r>
              <a:rPr lang="en-GB" sz="1200" dirty="0"/>
              <a:t> </a:t>
            </a:r>
            <a:r>
              <a:rPr lang="en-GB" sz="1200" dirty="0" err="1"/>
              <a:t>불신하는지</a:t>
            </a:r>
            <a:r>
              <a:rPr lang="en-GB" sz="1200" dirty="0"/>
              <a:t> </a:t>
            </a:r>
            <a:r>
              <a:rPr lang="en-GB" sz="1200" dirty="0" err="1"/>
              <a:t>이해할</a:t>
            </a:r>
            <a:r>
              <a:rPr lang="en-GB" sz="1200" dirty="0"/>
              <a:t> </a:t>
            </a:r>
            <a:r>
              <a:rPr lang="en-GB" sz="1200" dirty="0" err="1"/>
              <a:t>수</a:t>
            </a:r>
            <a:r>
              <a:rPr lang="en-GB" sz="1200" dirty="0"/>
              <a:t> </a:t>
            </a:r>
            <a:r>
              <a:rPr lang="en-GB" sz="1200" dirty="0" err="1"/>
              <a:t>없다고</a:t>
            </a:r>
            <a:r>
              <a:rPr lang="en-GB" sz="1200" dirty="0"/>
              <a:t> </a:t>
            </a:r>
            <a:r>
              <a:rPr lang="en-GB" sz="1200" dirty="0" err="1"/>
              <a:t>말했다</a:t>
            </a:r>
            <a:r>
              <a:rPr lang="en-GB" sz="1200" dirty="0"/>
              <a:t>. </a:t>
            </a:r>
            <a:r>
              <a:rPr lang="en-GB" sz="1200" dirty="0" err="1"/>
              <a:t>그는</a:t>
            </a:r>
            <a:r>
              <a:rPr lang="en-GB" sz="1200" dirty="0"/>
              <a:t> </a:t>
            </a:r>
            <a:r>
              <a:rPr lang="en-GB" sz="1200" dirty="0" err="1"/>
              <a:t>길드홀</a:t>
            </a:r>
            <a:r>
              <a:rPr lang="en-GB" sz="1200" dirty="0"/>
              <a:t>(Guildhall)</a:t>
            </a:r>
            <a:r>
              <a:rPr lang="en-GB" sz="1200" dirty="0" err="1"/>
              <a:t>에서</a:t>
            </a:r>
            <a:r>
              <a:rPr lang="en-GB" sz="1200" dirty="0"/>
              <a:t> </a:t>
            </a:r>
            <a:r>
              <a:rPr lang="en-GB" sz="1200" dirty="0" err="1"/>
              <a:t>했던</a:t>
            </a:r>
            <a:r>
              <a:rPr lang="en-GB" sz="1200" dirty="0"/>
              <a:t> </a:t>
            </a:r>
            <a:r>
              <a:rPr lang="en-GB" sz="1200" dirty="0" err="1"/>
              <a:t>연설을</a:t>
            </a:r>
            <a:r>
              <a:rPr lang="en-GB" sz="1200" dirty="0"/>
              <a:t> </a:t>
            </a:r>
            <a:r>
              <a:rPr lang="en-GB" sz="1200" dirty="0" err="1"/>
              <a:t>상기시키며</a:t>
            </a:r>
            <a:r>
              <a:rPr lang="en-GB" sz="1200" dirty="0"/>
              <a:t>, </a:t>
            </a:r>
            <a:r>
              <a:rPr lang="en-GB" sz="1200" dirty="0" err="1"/>
              <a:t>자신의</a:t>
            </a:r>
            <a:r>
              <a:rPr lang="en-GB" sz="1200" dirty="0"/>
              <a:t> </a:t>
            </a:r>
            <a:r>
              <a:rPr lang="en-GB" sz="1200" dirty="0" err="1"/>
              <a:t>가장</a:t>
            </a:r>
            <a:r>
              <a:rPr lang="en-GB" sz="1200" dirty="0"/>
              <a:t> </a:t>
            </a:r>
            <a:r>
              <a:rPr lang="en-GB" sz="1200" dirty="0" err="1"/>
              <a:t>큰</a:t>
            </a:r>
            <a:r>
              <a:rPr lang="en-GB" sz="1200" dirty="0"/>
              <a:t> </a:t>
            </a:r>
            <a:r>
              <a:rPr lang="en-GB" sz="1200" dirty="0" err="1"/>
              <a:t>소망</a:t>
            </a:r>
            <a:r>
              <a:rPr lang="en-GB" sz="1200" dirty="0"/>
              <a:t> </a:t>
            </a:r>
            <a:r>
              <a:rPr lang="en-GB" sz="1200" dirty="0" err="1"/>
              <a:t>중</a:t>
            </a:r>
            <a:r>
              <a:rPr lang="en-GB" sz="1200" dirty="0"/>
              <a:t> </a:t>
            </a:r>
            <a:r>
              <a:rPr lang="en-GB" sz="1200" dirty="0" err="1"/>
              <a:t>하나가</a:t>
            </a:r>
            <a:r>
              <a:rPr lang="en-GB" sz="1200" dirty="0"/>
              <a:t> </a:t>
            </a:r>
            <a:r>
              <a:rPr lang="en-GB" sz="1200" dirty="0" err="1"/>
              <a:t>영국과</a:t>
            </a:r>
            <a:r>
              <a:rPr lang="en-GB" sz="1200" dirty="0"/>
              <a:t> </a:t>
            </a:r>
            <a:r>
              <a:rPr lang="en-GB" sz="1200" dirty="0" err="1"/>
              <a:t>좋은</a:t>
            </a:r>
            <a:r>
              <a:rPr lang="en-GB" sz="1200" dirty="0"/>
              <a:t> </a:t>
            </a:r>
            <a:r>
              <a:rPr lang="en-GB" sz="1200" dirty="0" err="1"/>
              <a:t>관계를</a:t>
            </a:r>
            <a:r>
              <a:rPr lang="en-GB" sz="1200" dirty="0"/>
              <a:t> </a:t>
            </a:r>
            <a:r>
              <a:rPr lang="en-GB" sz="1200" dirty="0" err="1"/>
              <a:t>유지하며</a:t>
            </a:r>
            <a:r>
              <a:rPr lang="en-GB" sz="1200" dirty="0"/>
              <a:t> </a:t>
            </a:r>
            <a:r>
              <a:rPr lang="en-GB" sz="1200" dirty="0" err="1"/>
              <a:t>살아가는</a:t>
            </a:r>
            <a:r>
              <a:rPr lang="en-GB" sz="1200" dirty="0"/>
              <a:t> </a:t>
            </a:r>
            <a:r>
              <a:rPr lang="en-GB" sz="1200" dirty="0" err="1"/>
              <a:t>것이라고</a:t>
            </a:r>
            <a:r>
              <a:rPr lang="en-GB" sz="1200" dirty="0"/>
              <a:t> </a:t>
            </a:r>
            <a:r>
              <a:rPr lang="en-GB" sz="1200" dirty="0" err="1"/>
              <a:t>약속했다고</a:t>
            </a:r>
            <a:r>
              <a:rPr lang="en-GB" sz="1200" dirty="0"/>
              <a:t> </a:t>
            </a:r>
            <a:r>
              <a:rPr lang="en-GB" sz="1200" dirty="0" err="1"/>
              <a:t>강조했다</a:t>
            </a:r>
            <a:r>
              <a:rPr lang="en-GB" sz="1200" dirty="0"/>
              <a:t>. </a:t>
            </a:r>
            <a:r>
              <a:rPr lang="en-GB" sz="1200" dirty="0" err="1"/>
              <a:t>또한</a:t>
            </a:r>
            <a:r>
              <a:rPr lang="en-GB" sz="1200" dirty="0"/>
              <a:t> </a:t>
            </a:r>
            <a:r>
              <a:rPr lang="en-GB" sz="1200" dirty="0" err="1"/>
              <a:t>자신이</a:t>
            </a:r>
            <a:r>
              <a:rPr lang="en-GB" sz="1200" dirty="0"/>
              <a:t> </a:t>
            </a:r>
            <a:r>
              <a:rPr lang="en-GB" sz="1200" dirty="0" err="1"/>
              <a:t>약속을</a:t>
            </a:r>
            <a:r>
              <a:rPr lang="en-GB" sz="1200" dirty="0"/>
              <a:t> </a:t>
            </a:r>
            <a:r>
              <a:rPr lang="en-GB" sz="1200" dirty="0" err="1"/>
              <a:t>어긴</a:t>
            </a:r>
            <a:r>
              <a:rPr lang="en-GB" sz="1200" dirty="0"/>
              <a:t> </a:t>
            </a:r>
            <a:r>
              <a:rPr lang="en-GB" sz="1200" dirty="0" err="1"/>
              <a:t>적이</a:t>
            </a:r>
            <a:r>
              <a:rPr lang="en-GB" sz="1200" dirty="0"/>
              <a:t> </a:t>
            </a:r>
            <a:r>
              <a:rPr lang="en-GB" sz="1200" dirty="0" err="1"/>
              <a:t>있었는지</a:t>
            </a:r>
            <a:r>
              <a:rPr lang="en-GB" sz="1200" dirty="0"/>
              <a:t> </a:t>
            </a:r>
            <a:r>
              <a:rPr lang="en-GB" sz="1200" dirty="0" err="1"/>
              <a:t>물었다</a:t>
            </a:r>
            <a:r>
              <a:rPr lang="en-GB" sz="1200" dirty="0"/>
              <a:t>.</a:t>
            </a:r>
          </a:p>
          <a:p>
            <a:pPr>
              <a:buNone/>
            </a:pPr>
            <a:endParaRPr lang="en-GB" sz="1200" dirty="0"/>
          </a:p>
          <a:p>
            <a:r>
              <a:rPr lang="en-GB" sz="1200" dirty="0" err="1"/>
              <a:t>황제는</a:t>
            </a:r>
            <a:r>
              <a:rPr lang="en-GB" sz="1200" dirty="0"/>
              <a:t> </a:t>
            </a:r>
            <a:r>
              <a:rPr lang="en-GB" sz="1200" dirty="0" err="1"/>
              <a:t>독일이</a:t>
            </a:r>
            <a:r>
              <a:rPr lang="en-GB" sz="1200" dirty="0"/>
              <a:t> </a:t>
            </a:r>
            <a:r>
              <a:rPr lang="en-GB" sz="1200" dirty="0" err="1"/>
              <a:t>대규모</a:t>
            </a:r>
            <a:r>
              <a:rPr lang="en-GB" sz="1200" dirty="0"/>
              <a:t> </a:t>
            </a:r>
            <a:r>
              <a:rPr lang="en-GB" sz="1200" dirty="0" err="1"/>
              <a:t>해군을</a:t>
            </a:r>
            <a:r>
              <a:rPr lang="en-GB" sz="1200" dirty="0"/>
              <a:t> </a:t>
            </a:r>
            <a:r>
              <a:rPr lang="en-GB" sz="1200" dirty="0" err="1"/>
              <a:t>건설하고</a:t>
            </a:r>
            <a:r>
              <a:rPr lang="en-GB" sz="1200" dirty="0"/>
              <a:t> </a:t>
            </a:r>
            <a:r>
              <a:rPr lang="en-GB" sz="1200" dirty="0" err="1"/>
              <a:t>있다는</a:t>
            </a:r>
            <a:r>
              <a:rPr lang="en-GB" sz="1200" dirty="0"/>
              <a:t> </a:t>
            </a:r>
            <a:r>
              <a:rPr lang="en-GB" sz="1200" dirty="0" err="1"/>
              <a:t>사실을</a:t>
            </a:r>
            <a:r>
              <a:rPr lang="en-GB" sz="1200" dirty="0"/>
              <a:t> </a:t>
            </a:r>
            <a:r>
              <a:rPr lang="en-GB" sz="1200" dirty="0" err="1"/>
              <a:t>인정했지만</a:t>
            </a:r>
            <a:r>
              <a:rPr lang="en-GB" sz="1200" dirty="0"/>
              <a:t>, </a:t>
            </a:r>
            <a:r>
              <a:rPr lang="en-GB" sz="1200" dirty="0" err="1"/>
              <a:t>그것이</a:t>
            </a:r>
            <a:r>
              <a:rPr lang="en-GB" sz="1200" dirty="0"/>
              <a:t> </a:t>
            </a:r>
            <a:r>
              <a:rPr lang="en-GB" sz="1200" dirty="0" err="1"/>
              <a:t>영국을</a:t>
            </a:r>
            <a:r>
              <a:rPr lang="en-GB" sz="1200" dirty="0"/>
              <a:t> </a:t>
            </a:r>
            <a:r>
              <a:rPr lang="en-GB" sz="1200" dirty="0" err="1"/>
              <a:t>위협하기</a:t>
            </a:r>
            <a:r>
              <a:rPr lang="en-GB" sz="1200" dirty="0"/>
              <a:t> </a:t>
            </a:r>
            <a:r>
              <a:rPr lang="en-GB" sz="1200" dirty="0" err="1"/>
              <a:t>위한</a:t>
            </a:r>
            <a:r>
              <a:rPr lang="en-GB" sz="1200" dirty="0"/>
              <a:t> </a:t>
            </a:r>
            <a:r>
              <a:rPr lang="en-GB" sz="1200" dirty="0" err="1"/>
              <a:t>것은</a:t>
            </a:r>
            <a:r>
              <a:rPr lang="en-GB" sz="1200" dirty="0"/>
              <a:t> </a:t>
            </a:r>
            <a:r>
              <a:rPr lang="en-GB" sz="1200" dirty="0" err="1"/>
              <a:t>아니라고</a:t>
            </a:r>
            <a:r>
              <a:rPr lang="en-GB" sz="1200" dirty="0"/>
              <a:t> </a:t>
            </a:r>
            <a:r>
              <a:rPr lang="en-GB" sz="1200" dirty="0" err="1"/>
              <a:t>설명했다</a:t>
            </a:r>
            <a:r>
              <a:rPr lang="en-GB" sz="1200" dirty="0"/>
              <a:t>. </a:t>
            </a:r>
            <a:r>
              <a:rPr lang="en-GB" sz="1200" dirty="0" err="1"/>
              <a:t>대신</a:t>
            </a:r>
            <a:r>
              <a:rPr lang="en-GB" sz="1200" dirty="0"/>
              <a:t> </a:t>
            </a:r>
            <a:r>
              <a:rPr lang="en-GB" sz="1200" dirty="0" err="1"/>
              <a:t>독일은</a:t>
            </a:r>
            <a:r>
              <a:rPr lang="en-GB" sz="1200" dirty="0"/>
              <a:t> </a:t>
            </a:r>
            <a:r>
              <a:rPr lang="en-GB" sz="1200" dirty="0" err="1"/>
              <a:t>세계</a:t>
            </a:r>
            <a:r>
              <a:rPr lang="en-GB" sz="1200" dirty="0"/>
              <a:t> </a:t>
            </a:r>
            <a:r>
              <a:rPr lang="en-GB" sz="1200" dirty="0" err="1"/>
              <a:t>곳곳에서</a:t>
            </a:r>
            <a:r>
              <a:rPr lang="en-GB" sz="1200" dirty="0"/>
              <a:t> </a:t>
            </a:r>
            <a:r>
              <a:rPr lang="en-GB" sz="1200" dirty="0" err="1"/>
              <a:t>무역을</a:t>
            </a:r>
            <a:r>
              <a:rPr lang="en-GB" sz="1200" dirty="0"/>
              <a:t> </a:t>
            </a:r>
            <a:r>
              <a:rPr lang="en-GB" sz="1200" dirty="0" err="1"/>
              <a:t>펼치는</a:t>
            </a:r>
            <a:r>
              <a:rPr lang="en-GB" sz="1200" dirty="0"/>
              <a:t> </a:t>
            </a:r>
            <a:r>
              <a:rPr lang="en-GB" sz="1200" dirty="0" err="1"/>
              <a:t>젊고</a:t>
            </a:r>
            <a:r>
              <a:rPr lang="en-GB" sz="1200" dirty="0"/>
              <a:t> </a:t>
            </a:r>
            <a:r>
              <a:rPr lang="en-GB" sz="1200" dirty="0" err="1"/>
              <a:t>성장하는</a:t>
            </a:r>
            <a:r>
              <a:rPr lang="en-GB" sz="1200" dirty="0"/>
              <a:t> </a:t>
            </a:r>
            <a:r>
              <a:rPr lang="en-GB" sz="1200" dirty="0" err="1"/>
              <a:t>제국이므로</a:t>
            </a:r>
            <a:r>
              <a:rPr lang="en-GB" sz="1200" dirty="0"/>
              <a:t> </a:t>
            </a:r>
            <a:r>
              <a:rPr lang="en-GB" sz="1200" dirty="0" err="1"/>
              <a:t>이를</a:t>
            </a:r>
            <a:r>
              <a:rPr lang="en-GB" sz="1200" dirty="0"/>
              <a:t> </a:t>
            </a:r>
            <a:r>
              <a:rPr lang="en-GB" sz="1200" dirty="0" err="1"/>
              <a:t>보호할</a:t>
            </a:r>
            <a:r>
              <a:rPr lang="en-GB" sz="1200" dirty="0"/>
              <a:t> </a:t>
            </a:r>
            <a:r>
              <a:rPr lang="en-GB" sz="1200" dirty="0" err="1"/>
              <a:t>필요가</a:t>
            </a:r>
            <a:r>
              <a:rPr lang="en-GB" sz="1200" dirty="0"/>
              <a:t> </a:t>
            </a:r>
            <a:r>
              <a:rPr lang="en-GB" sz="1200" dirty="0" err="1"/>
              <a:t>있다고</a:t>
            </a:r>
            <a:r>
              <a:rPr lang="en-GB" sz="1200" dirty="0"/>
              <a:t> </a:t>
            </a:r>
            <a:r>
              <a:rPr lang="en-GB" sz="1200" dirty="0" err="1"/>
              <a:t>주장했다</a:t>
            </a:r>
            <a:r>
              <a:rPr lang="en-GB" sz="1200" dirty="0"/>
              <a:t>. </a:t>
            </a:r>
            <a:r>
              <a:rPr lang="en-GB" sz="1200" dirty="0" err="1"/>
              <a:t>그는</a:t>
            </a:r>
            <a:r>
              <a:rPr lang="en-GB" sz="1200" dirty="0"/>
              <a:t> </a:t>
            </a:r>
            <a:r>
              <a:rPr lang="en-GB" sz="1200" dirty="0" err="1"/>
              <a:t>멀리</a:t>
            </a:r>
            <a:r>
              <a:rPr lang="en-GB" sz="1200" dirty="0"/>
              <a:t> </a:t>
            </a:r>
            <a:r>
              <a:rPr lang="en-GB" sz="1200" dirty="0" err="1"/>
              <a:t>떨어진</a:t>
            </a:r>
            <a:r>
              <a:rPr lang="en-GB" sz="1200" dirty="0"/>
              <a:t> </a:t>
            </a:r>
            <a:r>
              <a:rPr lang="en-GB" sz="1200" dirty="0" err="1"/>
              <a:t>바다에서도</a:t>
            </a:r>
            <a:r>
              <a:rPr lang="en-GB" sz="1200" dirty="0"/>
              <a:t> </a:t>
            </a:r>
            <a:r>
              <a:rPr lang="en-GB" sz="1200" dirty="0" err="1"/>
              <a:t>독일의</a:t>
            </a:r>
            <a:r>
              <a:rPr lang="en-GB" sz="1200" dirty="0"/>
              <a:t> </a:t>
            </a:r>
            <a:r>
              <a:rPr lang="en-GB" sz="1200" dirty="0" err="1"/>
              <a:t>이익을</a:t>
            </a:r>
            <a:r>
              <a:rPr lang="en-GB" sz="1200" dirty="0"/>
              <a:t> </a:t>
            </a:r>
            <a:r>
              <a:rPr lang="en-GB" sz="1200" dirty="0" err="1"/>
              <a:t>지키기</a:t>
            </a:r>
            <a:r>
              <a:rPr lang="en-GB" sz="1200" dirty="0"/>
              <a:t> </a:t>
            </a:r>
            <a:r>
              <a:rPr lang="en-GB" sz="1200" dirty="0" err="1"/>
              <a:t>위해서는</a:t>
            </a:r>
            <a:r>
              <a:rPr lang="en-GB" sz="1200" dirty="0"/>
              <a:t> </a:t>
            </a:r>
            <a:r>
              <a:rPr lang="en-GB" sz="1200" dirty="0" err="1"/>
              <a:t>강력한</a:t>
            </a:r>
            <a:r>
              <a:rPr lang="en-GB" sz="1200" dirty="0"/>
              <a:t> </a:t>
            </a:r>
            <a:r>
              <a:rPr lang="en-GB" sz="1200" dirty="0" err="1"/>
              <a:t>해군이</a:t>
            </a:r>
            <a:r>
              <a:rPr lang="en-GB" sz="1200" dirty="0"/>
              <a:t> </a:t>
            </a:r>
            <a:r>
              <a:rPr lang="en-GB" sz="1200" dirty="0" err="1"/>
              <a:t>필요하다고</a:t>
            </a:r>
            <a:r>
              <a:rPr lang="en-GB" sz="1200" dirty="0"/>
              <a:t> </a:t>
            </a:r>
            <a:r>
              <a:rPr lang="en-GB" sz="1200" dirty="0" err="1"/>
              <a:t>말했다</a:t>
            </a:r>
            <a:r>
              <a:rPr lang="en-GB" sz="1200" dirty="0"/>
              <a:t>.</a:t>
            </a:r>
          </a:p>
          <a:p>
            <a:pPr>
              <a:buNone/>
            </a:pPr>
            <a:endParaRPr lang="en-GB" sz="1200" dirty="0"/>
          </a:p>
          <a:p>
            <a:r>
              <a:rPr lang="en-GB" sz="1200" dirty="0" err="1"/>
              <a:t>그는</a:t>
            </a:r>
            <a:r>
              <a:rPr lang="en-GB" sz="1200" dirty="0"/>
              <a:t> </a:t>
            </a:r>
            <a:r>
              <a:rPr lang="en-GB" sz="1200" dirty="0" err="1"/>
              <a:t>일본의</a:t>
            </a:r>
            <a:r>
              <a:rPr lang="en-GB" sz="1200" dirty="0"/>
              <a:t> </a:t>
            </a:r>
            <a:r>
              <a:rPr lang="en-GB" sz="1200" dirty="0" err="1"/>
              <a:t>부상과</a:t>
            </a:r>
            <a:r>
              <a:rPr lang="en-GB" sz="1200" dirty="0"/>
              <a:t> </a:t>
            </a:r>
            <a:r>
              <a:rPr lang="en-GB" sz="1200" dirty="0" err="1"/>
              <a:t>중국이</a:t>
            </a:r>
            <a:r>
              <a:rPr lang="en-GB" sz="1200" dirty="0"/>
              <a:t> </a:t>
            </a:r>
            <a:r>
              <a:rPr lang="en-GB" sz="1200" dirty="0" err="1"/>
              <a:t>잠재력을</a:t>
            </a:r>
            <a:r>
              <a:rPr lang="en-GB" sz="1200" dirty="0"/>
              <a:t> </a:t>
            </a:r>
            <a:r>
              <a:rPr lang="en-GB" sz="1200" dirty="0" err="1"/>
              <a:t>발휘하기</a:t>
            </a:r>
            <a:r>
              <a:rPr lang="en-GB" sz="1200" dirty="0"/>
              <a:t> </a:t>
            </a:r>
            <a:r>
              <a:rPr lang="en-GB" sz="1200" dirty="0" err="1"/>
              <a:t>시작할</a:t>
            </a:r>
            <a:r>
              <a:rPr lang="en-GB" sz="1200" dirty="0"/>
              <a:t> </a:t>
            </a:r>
            <a:r>
              <a:rPr lang="en-GB" sz="1200" dirty="0" err="1"/>
              <a:t>가능성을</a:t>
            </a:r>
            <a:r>
              <a:rPr lang="en-GB" sz="1200" dirty="0"/>
              <a:t> </a:t>
            </a:r>
            <a:r>
              <a:rPr lang="en-GB" sz="1200" dirty="0" err="1"/>
              <a:t>언급하며</a:t>
            </a:r>
            <a:r>
              <a:rPr lang="en-GB" sz="1200" dirty="0"/>
              <a:t>, </a:t>
            </a:r>
            <a:r>
              <a:rPr lang="en-GB" sz="1200" dirty="0" err="1"/>
              <a:t>태평양에서</a:t>
            </a:r>
            <a:r>
              <a:rPr lang="en-GB" sz="1200" dirty="0"/>
              <a:t> </a:t>
            </a:r>
            <a:r>
              <a:rPr lang="en-GB" sz="1200" dirty="0" err="1"/>
              <a:t>미래의</a:t>
            </a:r>
            <a:r>
              <a:rPr lang="en-GB" sz="1200" dirty="0"/>
              <a:t> </a:t>
            </a:r>
            <a:r>
              <a:rPr lang="en-GB" sz="1200" dirty="0" err="1"/>
              <a:t>도전에</a:t>
            </a:r>
            <a:r>
              <a:rPr lang="en-GB" sz="1200" dirty="0"/>
              <a:t> </a:t>
            </a:r>
            <a:r>
              <a:rPr lang="en-GB" sz="1200" dirty="0" err="1"/>
              <a:t>대비하기</a:t>
            </a:r>
            <a:r>
              <a:rPr lang="en-GB" sz="1200" dirty="0"/>
              <a:t> </a:t>
            </a:r>
            <a:r>
              <a:rPr lang="en-GB" sz="1200" dirty="0" err="1"/>
              <a:t>위해</a:t>
            </a:r>
            <a:r>
              <a:rPr lang="en-GB" sz="1200" dirty="0"/>
              <a:t> </a:t>
            </a:r>
            <a:r>
              <a:rPr lang="en-GB" sz="1200" dirty="0" err="1"/>
              <a:t>모든</a:t>
            </a:r>
            <a:r>
              <a:rPr lang="en-GB" sz="1200" dirty="0"/>
              <a:t> </a:t>
            </a:r>
            <a:r>
              <a:rPr lang="en-GB" sz="1200" dirty="0" err="1"/>
              <a:t>유럽</a:t>
            </a:r>
            <a:r>
              <a:rPr lang="en-GB" sz="1200" dirty="0"/>
              <a:t> </a:t>
            </a:r>
            <a:r>
              <a:rPr lang="en-GB" sz="1200" dirty="0" err="1"/>
              <a:t>열강이</a:t>
            </a:r>
            <a:r>
              <a:rPr lang="en-GB" sz="1200" dirty="0"/>
              <a:t> </a:t>
            </a:r>
            <a:r>
              <a:rPr lang="en-GB" sz="1200" dirty="0" err="1"/>
              <a:t>준비해야</a:t>
            </a:r>
            <a:r>
              <a:rPr lang="en-GB" sz="1200" dirty="0"/>
              <a:t> </a:t>
            </a:r>
            <a:r>
              <a:rPr lang="en-GB" sz="1200" dirty="0" err="1"/>
              <a:t>한다고</a:t>
            </a:r>
            <a:r>
              <a:rPr lang="en-GB" sz="1200" dirty="0"/>
              <a:t> </a:t>
            </a:r>
            <a:r>
              <a:rPr lang="en-GB" sz="1200" dirty="0" err="1"/>
              <a:t>주장했다</a:t>
            </a:r>
            <a:r>
              <a:rPr lang="en-GB" sz="1200" dirty="0"/>
              <a:t>. </a:t>
            </a:r>
            <a:r>
              <a:rPr lang="en-GB" sz="1200" dirty="0" err="1"/>
              <a:t>황제는</a:t>
            </a:r>
            <a:r>
              <a:rPr lang="en-GB" sz="1200" dirty="0"/>
              <a:t> </a:t>
            </a:r>
            <a:r>
              <a:rPr lang="en-GB" sz="1200" dirty="0" err="1"/>
              <a:t>또한</a:t>
            </a:r>
            <a:r>
              <a:rPr lang="en-GB" sz="1200" dirty="0"/>
              <a:t> </a:t>
            </a:r>
            <a:r>
              <a:rPr lang="en-GB" sz="1200" dirty="0" err="1"/>
              <a:t>언젠가</a:t>
            </a:r>
            <a:r>
              <a:rPr lang="en-GB" sz="1200" dirty="0"/>
              <a:t> </a:t>
            </a:r>
            <a:r>
              <a:rPr lang="en-GB" sz="1200" dirty="0" err="1"/>
              <a:t>영국이</a:t>
            </a:r>
            <a:r>
              <a:rPr lang="en-GB" sz="1200" dirty="0"/>
              <a:t> </a:t>
            </a:r>
            <a:r>
              <a:rPr lang="en-GB" sz="1200" dirty="0" err="1"/>
              <a:t>국제</a:t>
            </a:r>
            <a:r>
              <a:rPr lang="en-GB" sz="1200" dirty="0"/>
              <a:t> </a:t>
            </a:r>
            <a:r>
              <a:rPr lang="en-GB" sz="1200" dirty="0" err="1"/>
              <a:t>정세에서</a:t>
            </a:r>
            <a:r>
              <a:rPr lang="en-GB" sz="1200" dirty="0"/>
              <a:t> </a:t>
            </a:r>
            <a:r>
              <a:rPr lang="en-GB" sz="1200" dirty="0" err="1"/>
              <a:t>독일</a:t>
            </a:r>
            <a:r>
              <a:rPr lang="en-GB" sz="1200" dirty="0"/>
              <a:t> </a:t>
            </a:r>
            <a:r>
              <a:rPr lang="en-GB" sz="1200" dirty="0" err="1"/>
              <a:t>함대를</a:t>
            </a:r>
            <a:r>
              <a:rPr lang="en-GB" sz="1200" dirty="0"/>
              <a:t> </a:t>
            </a:r>
            <a:r>
              <a:rPr lang="en-GB" sz="1200" dirty="0" err="1"/>
              <a:t>동맹국으로서</a:t>
            </a:r>
            <a:r>
              <a:rPr lang="en-GB" sz="1200" dirty="0"/>
              <a:t> </a:t>
            </a:r>
            <a:r>
              <a:rPr lang="en-GB" sz="1200" dirty="0" err="1"/>
              <a:t>환영하게</a:t>
            </a:r>
            <a:r>
              <a:rPr lang="en-GB" sz="1200" dirty="0"/>
              <a:t> </a:t>
            </a:r>
            <a:r>
              <a:rPr lang="en-GB" sz="1200" dirty="0" err="1"/>
              <a:t>될</a:t>
            </a:r>
            <a:r>
              <a:rPr lang="en-GB" sz="1200" dirty="0"/>
              <a:t> </a:t>
            </a:r>
            <a:r>
              <a:rPr lang="en-GB" sz="1200" dirty="0" err="1"/>
              <a:t>수도</a:t>
            </a:r>
            <a:r>
              <a:rPr lang="en-GB" sz="1200" dirty="0"/>
              <a:t> </a:t>
            </a:r>
            <a:r>
              <a:rPr lang="en-GB" sz="1200" dirty="0" err="1"/>
              <a:t>있다고</a:t>
            </a:r>
            <a:r>
              <a:rPr lang="en-GB" sz="1200" dirty="0"/>
              <a:t> </a:t>
            </a:r>
            <a:r>
              <a:rPr lang="en-GB" sz="1200" dirty="0" err="1"/>
              <a:t>덧붙였다</a:t>
            </a:r>
            <a:r>
              <a:rPr lang="en-GB" sz="1200" dirty="0"/>
              <a:t>.</a:t>
            </a:r>
          </a:p>
          <a:p>
            <a:pPr>
              <a:buNone/>
            </a:pPr>
            <a:endParaRPr lang="en-GB" dirty="0"/>
          </a:p>
        </p:txBody>
      </p:sp>
      <p:sp>
        <p:nvSpPr>
          <p:cNvPr id="10" name="Google Shape;284;p36">
            <a:extLst>
              <a:ext uri="{FF2B5EF4-FFF2-40B4-BE49-F238E27FC236}">
                <a16:creationId xmlns:a16="http://schemas.microsoft.com/office/drawing/2014/main" id="{4EABCCA2-9137-1822-4983-B1EDE7B917CE}"/>
              </a:ext>
            </a:extLst>
          </p:cNvPr>
          <p:cNvSpPr txBox="1"/>
          <p:nvPr/>
        </p:nvSpPr>
        <p:spPr>
          <a:xfrm>
            <a:off x="100800" y="825818"/>
            <a:ext cx="8942400" cy="750945"/>
          </a:xfrm>
          <a:prstGeom prst="rect">
            <a:avLst/>
          </a:prstGeom>
          <a:noFill/>
          <a:ln>
            <a:noFill/>
          </a:ln>
        </p:spPr>
        <p:txBody>
          <a:bodyPr spcFirstLastPara="1" wrap="square" lIns="91425" tIns="91425" rIns="91425" bIns="91425" anchor="t" anchorCtr="0">
            <a:spAutoFit/>
          </a:bodyPr>
          <a:lstStyle/>
          <a:p>
            <a:pPr>
              <a:lnSpc>
                <a:spcPct val="115000"/>
              </a:lnSpc>
            </a:pPr>
            <a:r>
              <a:rPr lang="en" sz="1600" b="1" dirty="0">
                <a:solidFill>
                  <a:schemeClr val="dk1"/>
                </a:solidFill>
                <a:highlight>
                  <a:srgbClr val="00FF00"/>
                </a:highlight>
                <a:latin typeface="Baumans"/>
                <a:ea typeface="Baumans"/>
                <a:cs typeface="Baumans"/>
                <a:sym typeface="Baumans"/>
              </a:rPr>
              <a:t>Activity:</a:t>
            </a:r>
            <a:r>
              <a:rPr lang="en" sz="1600" dirty="0">
                <a:solidFill>
                  <a:schemeClr val="dk1"/>
                </a:solidFill>
                <a:latin typeface="Baumans"/>
                <a:ea typeface="Baumans"/>
                <a:cs typeface="Baumans"/>
                <a:sym typeface="Baumans"/>
              </a:rPr>
              <a:t> Using Sources A and B, identify the strongest navy, explain how competition increased tensions, and assess whether the Kaiser’s arguments would reassure or worry Britain.</a:t>
            </a:r>
            <a:endParaRPr sz="1600" dirty="0">
              <a:solidFill>
                <a:schemeClr val="dk1"/>
              </a:solidFill>
              <a:latin typeface="Baumans"/>
              <a:ea typeface="Baumans"/>
              <a:cs typeface="Baumans"/>
              <a:sym typeface="Baumans"/>
            </a:endParaRPr>
          </a:p>
        </p:txBody>
      </p:sp>
    </p:spTree>
    <p:extLst>
      <p:ext uri="{BB962C8B-B14F-4D97-AF65-F5344CB8AC3E}">
        <p14:creationId xmlns:p14="http://schemas.microsoft.com/office/powerpoint/2010/main" val="68630530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1000</Words>
  <Application>Microsoft Macintosh PowerPoint</Application>
  <PresentationFormat>On-screen Show (4:3)</PresentationFormat>
  <Paragraphs>87</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Edu TAS Beginner</vt:lpstr>
      <vt:lpstr>Baumans</vt:lpstr>
      <vt:lpstr>Poppins</vt:lpstr>
      <vt:lpstr>Arial</vt:lpstr>
      <vt:lpstr>Simple Light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2</cp:revision>
  <dcterms:modified xsi:type="dcterms:W3CDTF">2026-10-19T23:23:25Z</dcterms:modified>
</cp:coreProperties>
</file>