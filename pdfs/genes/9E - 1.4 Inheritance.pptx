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Dosis"/>
      <p:regular r:id="rId43"/>
      <p:bold r:id="rId44"/>
    </p:embeddedFon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g4VQCmxCXzCHkaskvogrQXCs8r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004527-5937-4E58-A188-62C8517E1519}">
  <a:tblStyle styleId="{CC004527-5937-4E58-A188-62C8517E151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5558401-557A-411D-AF7C-896EABA07CAE}"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Dosis-bold.fntdata"/><Relationship Id="rId43" Type="http://schemas.openxmlformats.org/officeDocument/2006/relationships/font" Target="fonts/Dosis-regular.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boldItalic.fntdata"/><Relationship Id="rId47" Type="http://schemas.openxmlformats.org/officeDocument/2006/relationships/font" Target="fonts/Roboto-italic.fntdata"/><Relationship Id="rId49"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d012705da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ed012705d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XX females XY males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9de48047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f9de4804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9de480475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f9de480475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8677bd84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f8677bd842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g3f8677bd842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8677bd842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f8677bd842_0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3f8677bd842_0_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9c7caa14d_0_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3f9c7caa14d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9c7caa14d_0_1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3f9c7caa14d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9c7caa14d_0_1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g3f9c7caa14d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9c7caa14d_0_1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3f9c7caa14d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9f84f226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g3f9f84f226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Award 1 point to every team with genes, gametes, inherited in their answer.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9c7caa14d_0_1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g3f9c7caa14d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Award 1 point to every team with genes, gametes, inherited in their answer.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9c7caa14d_0_1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3f9c7caa14d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6" name="Google Shape;58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f9c7caa14d_0_16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3f9c7caa14d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ed012705da_0_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g3ed012705d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9" name="Shape 9"/>
        <p:cNvGrpSpPr/>
        <p:nvPr/>
      </p:nvGrpSpPr>
      <p:grpSpPr>
        <a:xfrm>
          <a:off x="0" y="0"/>
          <a:ext cx="0" cy="0"/>
          <a:chOff x="0" y="0"/>
          <a:chExt cx="0" cy="0"/>
        </a:xfrm>
      </p:grpSpPr>
      <p:sp>
        <p:nvSpPr>
          <p:cNvPr id="10" name="Google Shape;10;p27"/>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lt1"/>
              </a:buClr>
              <a:buSzPts val="2400"/>
              <a:buFont typeface="Calibri"/>
              <a:buNone/>
              <a:defRPr b="0" i="0" sz="4400" u="none" cap="none" strike="noStrike">
                <a:solidFill>
                  <a:schemeClr val="lt1"/>
                </a:solidFill>
                <a:latin typeface="Calibri"/>
                <a:ea typeface="Calibri"/>
                <a:cs typeface="Calibri"/>
                <a:sym typeface="Calibri"/>
              </a:defRPr>
            </a:lvl1pPr>
            <a:lvl2pPr lvl="1" algn="l">
              <a:lnSpc>
                <a:spcPct val="100000"/>
              </a:lnSpc>
              <a:spcBef>
                <a:spcPts val="0"/>
              </a:spcBef>
              <a:spcAft>
                <a:spcPts val="0"/>
              </a:spcAft>
              <a:buSzPts val="2400"/>
              <a:buNone/>
              <a:defRPr sz="1800"/>
            </a:lvl2pPr>
            <a:lvl3pPr lvl="2" algn="l">
              <a:lnSpc>
                <a:spcPct val="100000"/>
              </a:lnSpc>
              <a:spcBef>
                <a:spcPts val="0"/>
              </a:spcBef>
              <a:spcAft>
                <a:spcPts val="0"/>
              </a:spcAft>
              <a:buSzPts val="2400"/>
              <a:buNone/>
              <a:defRPr sz="1800"/>
            </a:lvl3pPr>
            <a:lvl4pPr lvl="3" algn="l">
              <a:lnSpc>
                <a:spcPct val="100000"/>
              </a:lnSpc>
              <a:spcBef>
                <a:spcPts val="0"/>
              </a:spcBef>
              <a:spcAft>
                <a:spcPts val="0"/>
              </a:spcAft>
              <a:buSzPts val="2400"/>
              <a:buNone/>
              <a:defRPr sz="1800"/>
            </a:lvl4pPr>
            <a:lvl5pPr lvl="4" algn="l">
              <a:lnSpc>
                <a:spcPct val="100000"/>
              </a:lnSpc>
              <a:spcBef>
                <a:spcPts val="0"/>
              </a:spcBef>
              <a:spcAft>
                <a:spcPts val="0"/>
              </a:spcAft>
              <a:buSzPts val="2400"/>
              <a:buNone/>
              <a:defRPr sz="1800"/>
            </a:lvl5pPr>
            <a:lvl6pPr lvl="5" algn="l">
              <a:lnSpc>
                <a:spcPct val="100000"/>
              </a:lnSpc>
              <a:spcBef>
                <a:spcPts val="0"/>
              </a:spcBef>
              <a:spcAft>
                <a:spcPts val="0"/>
              </a:spcAft>
              <a:buSzPts val="2400"/>
              <a:buNone/>
              <a:defRPr sz="1800"/>
            </a:lvl6pPr>
            <a:lvl7pPr lvl="6" algn="l">
              <a:lnSpc>
                <a:spcPct val="100000"/>
              </a:lnSpc>
              <a:spcBef>
                <a:spcPts val="0"/>
              </a:spcBef>
              <a:spcAft>
                <a:spcPts val="0"/>
              </a:spcAft>
              <a:buSzPts val="2400"/>
              <a:buNone/>
              <a:defRPr sz="1800"/>
            </a:lvl7pPr>
            <a:lvl8pPr lvl="7" algn="l">
              <a:lnSpc>
                <a:spcPct val="100000"/>
              </a:lnSpc>
              <a:spcBef>
                <a:spcPts val="0"/>
              </a:spcBef>
              <a:spcAft>
                <a:spcPts val="0"/>
              </a:spcAft>
              <a:buSzPts val="2400"/>
              <a:buNone/>
              <a:defRPr sz="1800"/>
            </a:lvl8pPr>
            <a:lvl9pPr lvl="8" algn="l">
              <a:lnSpc>
                <a:spcPct val="100000"/>
              </a:lnSpc>
              <a:spcBef>
                <a:spcPts val="0"/>
              </a:spcBef>
              <a:spcAft>
                <a:spcPts val="0"/>
              </a:spcAft>
              <a:buSzPts val="2400"/>
              <a:buNone/>
              <a:defRPr sz="1800"/>
            </a:lvl9pPr>
          </a:lstStyle>
          <a:p/>
        </p:txBody>
      </p:sp>
      <p:sp>
        <p:nvSpPr>
          <p:cNvPr id="11" name="Google Shape;11;p27"/>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lt1"/>
              </a:buClr>
              <a:buSzPts val="3200"/>
              <a:buFont typeface="Arial"/>
              <a:buChar char="•"/>
              <a:defRPr b="0" i="0" sz="3200" u="none" cap="none" strike="noStrike">
                <a:solidFill>
                  <a:schemeClr val="lt1"/>
                </a:solidFill>
                <a:latin typeface="Calibri"/>
                <a:ea typeface="Calibri"/>
                <a:cs typeface="Calibri"/>
                <a:sym typeface="Calibri"/>
              </a:defRPr>
            </a:lvl1pPr>
            <a:lvl2pPr indent="-406400" lvl="1" marL="914400" marR="0" algn="l">
              <a:lnSpc>
                <a:spcPct val="100000"/>
              </a:lnSpc>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indent="-381000" lvl="2" marL="1371600" marR="0" algn="l">
              <a:lnSpc>
                <a:spcPct val="100000"/>
              </a:lnSpc>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indent="-355600" lvl="3" marL="18288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indent="-355600" lvl="4" marL="22860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indent="-355600" lvl="5" marL="27432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12" name="Google Shape;12;p27"/>
          <p:cNvSpPr txBox="1"/>
          <p:nvPr>
            <p:ph idx="10" type="dt"/>
          </p:nvPr>
        </p:nvSpPr>
        <p:spPr>
          <a:xfrm>
            <a:off x="457200" y="4767263"/>
            <a:ext cx="21336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3" name="Google Shape;13;p27"/>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4" name="Google Shape;14;p2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38"/>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8"/>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8"/>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19" name="Google Shape;19;p38"/>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28"/>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8"/>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8"/>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4" name="Shape 24"/>
        <p:cNvGrpSpPr/>
        <p:nvPr/>
      </p:nvGrpSpPr>
      <p:grpSpPr>
        <a:xfrm>
          <a:off x="0" y="0"/>
          <a:ext cx="0" cy="0"/>
          <a:chOff x="0" y="0"/>
          <a:chExt cx="0" cy="0"/>
        </a:xfrm>
      </p:grpSpPr>
      <p:sp>
        <p:nvSpPr>
          <p:cNvPr id="25" name="Google Shape;25;p29"/>
          <p:cNvSpPr/>
          <p:nvPr/>
        </p:nvSpPr>
        <p:spPr>
          <a:xfrm rot="10800000">
            <a:off x="-150" y="4156675"/>
            <a:ext cx="9144000" cy="276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flipH="1">
            <a:off x="-150" y="0"/>
            <a:ext cx="9144000" cy="41568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txBox="1"/>
          <p:nvPr>
            <p:ph type="ctrTitle"/>
          </p:nvPr>
        </p:nvSpPr>
        <p:spPr>
          <a:xfrm>
            <a:off x="685800" y="2525225"/>
            <a:ext cx="53097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FFFFF"/>
              </a:buClr>
              <a:buSzPts val="6000"/>
              <a:buNone/>
              <a:defRPr sz="6000">
                <a:solidFill>
                  <a:srgbClr val="FFFFFF"/>
                </a:solidFill>
              </a:defRPr>
            </a:lvl1pPr>
            <a:lvl2pPr lvl="1" algn="l">
              <a:lnSpc>
                <a:spcPct val="100000"/>
              </a:lnSpc>
              <a:spcBef>
                <a:spcPts val="0"/>
              </a:spcBef>
              <a:spcAft>
                <a:spcPts val="0"/>
              </a:spcAft>
              <a:buClr>
                <a:srgbClr val="FFFFFF"/>
              </a:buClr>
              <a:buSzPts val="6000"/>
              <a:buNone/>
              <a:defRPr sz="6000">
                <a:solidFill>
                  <a:srgbClr val="FFFFFF"/>
                </a:solidFill>
              </a:defRPr>
            </a:lvl2pPr>
            <a:lvl3pPr lvl="2" algn="l">
              <a:lnSpc>
                <a:spcPct val="100000"/>
              </a:lnSpc>
              <a:spcBef>
                <a:spcPts val="0"/>
              </a:spcBef>
              <a:spcAft>
                <a:spcPts val="0"/>
              </a:spcAft>
              <a:buClr>
                <a:srgbClr val="FFFFFF"/>
              </a:buClr>
              <a:buSzPts val="6000"/>
              <a:buNone/>
              <a:defRPr sz="6000">
                <a:solidFill>
                  <a:srgbClr val="FFFFFF"/>
                </a:solidFill>
              </a:defRPr>
            </a:lvl3pPr>
            <a:lvl4pPr lvl="3" algn="l">
              <a:lnSpc>
                <a:spcPct val="100000"/>
              </a:lnSpc>
              <a:spcBef>
                <a:spcPts val="0"/>
              </a:spcBef>
              <a:spcAft>
                <a:spcPts val="0"/>
              </a:spcAft>
              <a:buClr>
                <a:srgbClr val="FFFFFF"/>
              </a:buClr>
              <a:buSzPts val="6000"/>
              <a:buNone/>
              <a:defRPr sz="6000">
                <a:solidFill>
                  <a:srgbClr val="FFFFFF"/>
                </a:solidFill>
              </a:defRPr>
            </a:lvl4pPr>
            <a:lvl5pPr lvl="4" algn="l">
              <a:lnSpc>
                <a:spcPct val="100000"/>
              </a:lnSpc>
              <a:spcBef>
                <a:spcPts val="0"/>
              </a:spcBef>
              <a:spcAft>
                <a:spcPts val="0"/>
              </a:spcAft>
              <a:buClr>
                <a:srgbClr val="FFFFFF"/>
              </a:buClr>
              <a:buSzPts val="6000"/>
              <a:buNone/>
              <a:defRPr sz="6000">
                <a:solidFill>
                  <a:srgbClr val="FFFFFF"/>
                </a:solidFill>
              </a:defRPr>
            </a:lvl5pPr>
            <a:lvl6pPr lvl="5" algn="l">
              <a:lnSpc>
                <a:spcPct val="100000"/>
              </a:lnSpc>
              <a:spcBef>
                <a:spcPts val="0"/>
              </a:spcBef>
              <a:spcAft>
                <a:spcPts val="0"/>
              </a:spcAft>
              <a:buClr>
                <a:srgbClr val="FFFFFF"/>
              </a:buClr>
              <a:buSzPts val="6000"/>
              <a:buNone/>
              <a:defRPr sz="6000">
                <a:solidFill>
                  <a:srgbClr val="FFFFFF"/>
                </a:solidFill>
              </a:defRPr>
            </a:lvl6pPr>
            <a:lvl7pPr lvl="6" algn="l">
              <a:lnSpc>
                <a:spcPct val="100000"/>
              </a:lnSpc>
              <a:spcBef>
                <a:spcPts val="0"/>
              </a:spcBef>
              <a:spcAft>
                <a:spcPts val="0"/>
              </a:spcAft>
              <a:buClr>
                <a:srgbClr val="FFFFFF"/>
              </a:buClr>
              <a:buSzPts val="6000"/>
              <a:buNone/>
              <a:defRPr sz="6000">
                <a:solidFill>
                  <a:srgbClr val="FFFFFF"/>
                </a:solidFill>
              </a:defRPr>
            </a:lvl7pPr>
            <a:lvl8pPr lvl="7" algn="l">
              <a:lnSpc>
                <a:spcPct val="100000"/>
              </a:lnSpc>
              <a:spcBef>
                <a:spcPts val="0"/>
              </a:spcBef>
              <a:spcAft>
                <a:spcPts val="0"/>
              </a:spcAft>
              <a:buClr>
                <a:srgbClr val="FFFFFF"/>
              </a:buClr>
              <a:buSzPts val="6000"/>
              <a:buNone/>
              <a:defRPr sz="6000">
                <a:solidFill>
                  <a:srgbClr val="FFFFFF"/>
                </a:solidFill>
              </a:defRPr>
            </a:lvl8pPr>
            <a:lvl9pPr lvl="8" algn="l">
              <a:lnSpc>
                <a:spcPct val="100000"/>
              </a:lnSpc>
              <a:spcBef>
                <a:spcPts val="0"/>
              </a:spcBef>
              <a:spcAft>
                <a:spcPts val="0"/>
              </a:spcAft>
              <a:buClr>
                <a:srgbClr val="FFFFFF"/>
              </a:buClr>
              <a:buSzPts val="6000"/>
              <a:buNone/>
              <a:defRPr sz="6000">
                <a:solidFill>
                  <a:srgbClr val="FFFFFF"/>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 name="Shape 28"/>
        <p:cNvGrpSpPr/>
        <p:nvPr/>
      </p:nvGrpSpPr>
      <p:grpSpPr>
        <a:xfrm>
          <a:off x="0" y="0"/>
          <a:ext cx="0" cy="0"/>
          <a:chOff x="0" y="0"/>
          <a:chExt cx="0" cy="0"/>
        </a:xfrm>
      </p:grpSpPr>
      <p:sp>
        <p:nvSpPr>
          <p:cNvPr id="29" name="Google Shape;29;p30"/>
          <p:cNvSpPr/>
          <p:nvPr/>
        </p:nvSpPr>
        <p:spPr>
          <a:xfrm flipH="1">
            <a:off x="-75" y="0"/>
            <a:ext cx="1851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flipH="1">
            <a:off x="-75" y="0"/>
            <a:ext cx="1851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
        <p:nvSpPr>
          <p:cNvPr id="32" name="Google Shape;32;p30"/>
          <p:cNvSpPr txBox="1"/>
          <p:nvPr>
            <p:ph idx="1" type="body"/>
          </p:nvPr>
        </p:nvSpPr>
        <p:spPr>
          <a:xfrm>
            <a:off x="223150" y="1284100"/>
            <a:ext cx="1393200" cy="19329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360"/>
              </a:spcBef>
              <a:spcAft>
                <a:spcPts val="0"/>
              </a:spcAft>
              <a:buClr>
                <a:srgbClr val="415665"/>
              </a:buClr>
              <a:buSzPts val="1200"/>
              <a:buNone/>
              <a:defRPr sz="12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33" name="Shape 33"/>
        <p:cNvGrpSpPr/>
        <p:nvPr/>
      </p:nvGrpSpPr>
      <p:grpSpPr>
        <a:xfrm>
          <a:off x="0" y="0"/>
          <a:ext cx="0" cy="0"/>
          <a:chOff x="0" y="0"/>
          <a:chExt cx="0" cy="0"/>
        </a:xfrm>
      </p:grpSpPr>
      <p:sp>
        <p:nvSpPr>
          <p:cNvPr id="34" name="Google Shape;34;p33"/>
          <p:cNvSpPr/>
          <p:nvPr/>
        </p:nvSpPr>
        <p:spPr>
          <a:xfrm rot="10800000">
            <a:off x="-150" y="3082200"/>
            <a:ext cx="9144000" cy="687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3"/>
          <p:cNvSpPr/>
          <p:nvPr/>
        </p:nvSpPr>
        <p:spPr>
          <a:xfrm flipH="1">
            <a:off x="-150" y="0"/>
            <a:ext cx="9144000" cy="30822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3"/>
          <p:cNvSpPr txBox="1"/>
          <p:nvPr>
            <p:ph type="ctrTitle"/>
          </p:nvPr>
        </p:nvSpPr>
        <p:spPr>
          <a:xfrm>
            <a:off x="685800" y="1907659"/>
            <a:ext cx="5008200" cy="104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FFFFF"/>
              </a:buClr>
              <a:buSzPts val="4800"/>
              <a:buNone/>
              <a:defRPr sz="4800">
                <a:solidFill>
                  <a:srgbClr val="FFFFFF"/>
                </a:solidFill>
              </a:defRPr>
            </a:lvl1pPr>
            <a:lvl2pPr lvl="1" algn="l">
              <a:lnSpc>
                <a:spcPct val="100000"/>
              </a:lnSpc>
              <a:spcBef>
                <a:spcPts val="0"/>
              </a:spcBef>
              <a:spcAft>
                <a:spcPts val="0"/>
              </a:spcAft>
              <a:buClr>
                <a:srgbClr val="FFFFFF"/>
              </a:buClr>
              <a:buSzPts val="4800"/>
              <a:buNone/>
              <a:defRPr sz="4800">
                <a:solidFill>
                  <a:srgbClr val="FFFFFF"/>
                </a:solidFill>
              </a:defRPr>
            </a:lvl2pPr>
            <a:lvl3pPr lvl="2" algn="l">
              <a:lnSpc>
                <a:spcPct val="100000"/>
              </a:lnSpc>
              <a:spcBef>
                <a:spcPts val="0"/>
              </a:spcBef>
              <a:spcAft>
                <a:spcPts val="0"/>
              </a:spcAft>
              <a:buClr>
                <a:srgbClr val="FFFFFF"/>
              </a:buClr>
              <a:buSzPts val="4800"/>
              <a:buNone/>
              <a:defRPr sz="4800">
                <a:solidFill>
                  <a:srgbClr val="FFFFFF"/>
                </a:solidFill>
              </a:defRPr>
            </a:lvl3pPr>
            <a:lvl4pPr lvl="3" algn="l">
              <a:lnSpc>
                <a:spcPct val="100000"/>
              </a:lnSpc>
              <a:spcBef>
                <a:spcPts val="0"/>
              </a:spcBef>
              <a:spcAft>
                <a:spcPts val="0"/>
              </a:spcAft>
              <a:buClr>
                <a:srgbClr val="FFFFFF"/>
              </a:buClr>
              <a:buSzPts val="4800"/>
              <a:buNone/>
              <a:defRPr sz="4800">
                <a:solidFill>
                  <a:srgbClr val="FFFFFF"/>
                </a:solidFill>
              </a:defRPr>
            </a:lvl4pPr>
            <a:lvl5pPr lvl="4" algn="l">
              <a:lnSpc>
                <a:spcPct val="100000"/>
              </a:lnSpc>
              <a:spcBef>
                <a:spcPts val="0"/>
              </a:spcBef>
              <a:spcAft>
                <a:spcPts val="0"/>
              </a:spcAft>
              <a:buClr>
                <a:srgbClr val="FFFFFF"/>
              </a:buClr>
              <a:buSzPts val="4800"/>
              <a:buNone/>
              <a:defRPr sz="4800">
                <a:solidFill>
                  <a:srgbClr val="FFFFFF"/>
                </a:solidFill>
              </a:defRPr>
            </a:lvl5pPr>
            <a:lvl6pPr lvl="5" algn="l">
              <a:lnSpc>
                <a:spcPct val="100000"/>
              </a:lnSpc>
              <a:spcBef>
                <a:spcPts val="0"/>
              </a:spcBef>
              <a:spcAft>
                <a:spcPts val="0"/>
              </a:spcAft>
              <a:buClr>
                <a:srgbClr val="FFFFFF"/>
              </a:buClr>
              <a:buSzPts val="4800"/>
              <a:buNone/>
              <a:defRPr sz="4800">
                <a:solidFill>
                  <a:srgbClr val="FFFFFF"/>
                </a:solidFill>
              </a:defRPr>
            </a:lvl6pPr>
            <a:lvl7pPr lvl="6" algn="l">
              <a:lnSpc>
                <a:spcPct val="100000"/>
              </a:lnSpc>
              <a:spcBef>
                <a:spcPts val="0"/>
              </a:spcBef>
              <a:spcAft>
                <a:spcPts val="0"/>
              </a:spcAft>
              <a:buClr>
                <a:srgbClr val="FFFFFF"/>
              </a:buClr>
              <a:buSzPts val="4800"/>
              <a:buNone/>
              <a:defRPr sz="4800">
                <a:solidFill>
                  <a:srgbClr val="FFFFFF"/>
                </a:solidFill>
              </a:defRPr>
            </a:lvl7pPr>
            <a:lvl8pPr lvl="7" algn="l">
              <a:lnSpc>
                <a:spcPct val="100000"/>
              </a:lnSpc>
              <a:spcBef>
                <a:spcPts val="0"/>
              </a:spcBef>
              <a:spcAft>
                <a:spcPts val="0"/>
              </a:spcAft>
              <a:buClr>
                <a:srgbClr val="FFFFFF"/>
              </a:buClr>
              <a:buSzPts val="4800"/>
              <a:buNone/>
              <a:defRPr sz="4800">
                <a:solidFill>
                  <a:srgbClr val="FFFFFF"/>
                </a:solidFill>
              </a:defRPr>
            </a:lvl8pPr>
            <a:lvl9pPr lvl="8" algn="l">
              <a:lnSpc>
                <a:spcPct val="100000"/>
              </a:lnSpc>
              <a:spcBef>
                <a:spcPts val="0"/>
              </a:spcBef>
              <a:spcAft>
                <a:spcPts val="0"/>
              </a:spcAft>
              <a:buClr>
                <a:srgbClr val="FFFFFF"/>
              </a:buClr>
              <a:buSzPts val="4800"/>
              <a:buNone/>
              <a:defRPr sz="4800">
                <a:solidFill>
                  <a:srgbClr val="FFFFFF"/>
                </a:solidFill>
              </a:defRPr>
            </a:lvl9pPr>
          </a:lstStyle>
          <a:p/>
        </p:txBody>
      </p:sp>
      <p:sp>
        <p:nvSpPr>
          <p:cNvPr id="37" name="Google Shape;37;p33"/>
          <p:cNvSpPr txBox="1"/>
          <p:nvPr>
            <p:ph idx="1" type="subTitle"/>
          </p:nvPr>
        </p:nvSpPr>
        <p:spPr>
          <a:xfrm>
            <a:off x="685800" y="3082250"/>
            <a:ext cx="5008200" cy="68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415665"/>
              </a:buClr>
              <a:buSzPts val="1800"/>
              <a:buNone/>
              <a:defRPr sz="1800"/>
            </a:lvl1pPr>
            <a:lvl2pPr lvl="1" algn="l">
              <a:lnSpc>
                <a:spcPct val="100000"/>
              </a:lnSpc>
              <a:spcBef>
                <a:spcPts val="0"/>
              </a:spcBef>
              <a:spcAft>
                <a:spcPts val="0"/>
              </a:spcAft>
              <a:buClr>
                <a:srgbClr val="415665"/>
              </a:buClr>
              <a:buSzPts val="1800"/>
              <a:buNone/>
              <a:defRPr sz="1800"/>
            </a:lvl2pPr>
            <a:lvl3pPr lvl="2" algn="l">
              <a:lnSpc>
                <a:spcPct val="100000"/>
              </a:lnSpc>
              <a:spcBef>
                <a:spcPts val="0"/>
              </a:spcBef>
              <a:spcAft>
                <a:spcPts val="0"/>
              </a:spcAft>
              <a:buClr>
                <a:srgbClr val="415665"/>
              </a:buClr>
              <a:buSzPts val="1800"/>
              <a:buNone/>
              <a:defRPr sz="1800"/>
            </a:lvl3pPr>
            <a:lvl4pPr lvl="3" algn="l">
              <a:lnSpc>
                <a:spcPct val="100000"/>
              </a:lnSpc>
              <a:spcBef>
                <a:spcPts val="0"/>
              </a:spcBef>
              <a:spcAft>
                <a:spcPts val="0"/>
              </a:spcAft>
              <a:buClr>
                <a:srgbClr val="415665"/>
              </a:buClr>
              <a:buSzPts val="1800"/>
              <a:buNone/>
              <a:defRPr/>
            </a:lvl4pPr>
            <a:lvl5pPr lvl="4" algn="l">
              <a:lnSpc>
                <a:spcPct val="100000"/>
              </a:lnSpc>
              <a:spcBef>
                <a:spcPts val="0"/>
              </a:spcBef>
              <a:spcAft>
                <a:spcPts val="0"/>
              </a:spcAft>
              <a:buClr>
                <a:srgbClr val="415665"/>
              </a:buClr>
              <a:buSzPts val="1800"/>
              <a:buNone/>
              <a:defRPr/>
            </a:lvl5pPr>
            <a:lvl6pPr lvl="5" algn="l">
              <a:lnSpc>
                <a:spcPct val="100000"/>
              </a:lnSpc>
              <a:spcBef>
                <a:spcPts val="0"/>
              </a:spcBef>
              <a:spcAft>
                <a:spcPts val="0"/>
              </a:spcAft>
              <a:buClr>
                <a:srgbClr val="415665"/>
              </a:buClr>
              <a:buSzPts val="1800"/>
              <a:buNone/>
              <a:defRPr/>
            </a:lvl6pPr>
            <a:lvl7pPr lvl="6" algn="l">
              <a:lnSpc>
                <a:spcPct val="100000"/>
              </a:lnSpc>
              <a:spcBef>
                <a:spcPts val="0"/>
              </a:spcBef>
              <a:spcAft>
                <a:spcPts val="0"/>
              </a:spcAft>
              <a:buClr>
                <a:srgbClr val="415665"/>
              </a:buClr>
              <a:buSzPts val="1800"/>
              <a:buNone/>
              <a:defRPr/>
            </a:lvl7pPr>
            <a:lvl8pPr lvl="7" algn="l">
              <a:lnSpc>
                <a:spcPct val="100000"/>
              </a:lnSpc>
              <a:spcBef>
                <a:spcPts val="0"/>
              </a:spcBef>
              <a:spcAft>
                <a:spcPts val="0"/>
              </a:spcAft>
              <a:buClr>
                <a:srgbClr val="415665"/>
              </a:buClr>
              <a:buSzPts val="1800"/>
              <a:buNone/>
              <a:defRPr/>
            </a:lvl8pPr>
            <a:lvl9pPr lvl="8" algn="l">
              <a:lnSpc>
                <a:spcPct val="100000"/>
              </a:lnSpc>
              <a:spcBef>
                <a:spcPts val="0"/>
              </a:spcBef>
              <a:spcAft>
                <a:spcPts val="0"/>
              </a:spcAft>
              <a:buClr>
                <a:srgbClr val="415665"/>
              </a:buClr>
              <a:buSzPts val="1800"/>
              <a:buNone/>
              <a:defRPr/>
            </a:lvl9pPr>
          </a:lstStyle>
          <a:p/>
        </p:txBody>
      </p:sp>
      <p:sp>
        <p:nvSpPr>
          <p:cNvPr id="38" name="Google Shape;38;p33"/>
          <p:cNvSpPr txBox="1"/>
          <p:nvPr>
            <p:ph idx="12" type="sldNum"/>
          </p:nvPr>
        </p:nvSpPr>
        <p:spPr>
          <a:xfrm>
            <a:off x="-75" y="3420000"/>
            <a:ext cx="669600" cy="17235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9" name="Shape 39"/>
        <p:cNvGrpSpPr/>
        <p:nvPr/>
      </p:nvGrpSpPr>
      <p:grpSpPr>
        <a:xfrm>
          <a:off x="0" y="0"/>
          <a:ext cx="0" cy="0"/>
          <a:chOff x="0" y="0"/>
          <a:chExt cx="0" cy="0"/>
        </a:xfrm>
      </p:grpSpPr>
      <p:sp>
        <p:nvSpPr>
          <p:cNvPr id="40" name="Google Shape;40;p34"/>
          <p:cNvSpPr/>
          <p:nvPr/>
        </p:nvSpPr>
        <p:spPr>
          <a:xfrm rot="10800000">
            <a:off x="-150" y="3769825"/>
            <a:ext cx="9144000" cy="6876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p:nvPr/>
        </p:nvSpPr>
        <p:spPr>
          <a:xfrm flipH="1">
            <a:off x="-150" y="0"/>
            <a:ext cx="9144000" cy="37698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4"/>
          <p:cNvSpPr txBox="1"/>
          <p:nvPr>
            <p:ph idx="1" type="body"/>
          </p:nvPr>
        </p:nvSpPr>
        <p:spPr>
          <a:xfrm>
            <a:off x="1616475" y="0"/>
            <a:ext cx="5910900" cy="3769800"/>
          </a:xfrm>
          <a:prstGeom prst="rect">
            <a:avLst/>
          </a:prstGeom>
          <a:noFill/>
          <a:ln>
            <a:noFill/>
          </a:ln>
        </p:spPr>
        <p:txBody>
          <a:bodyPr anchorCtr="0" anchor="ctr" bIns="91425" lIns="91425" spcFirstLastPara="1" rIns="91425" wrap="square" tIns="91425">
            <a:noAutofit/>
          </a:bodyPr>
          <a:lstStyle>
            <a:lvl1pPr indent="-419100" lvl="0" marL="457200" algn="ctr">
              <a:lnSpc>
                <a:spcPct val="100000"/>
              </a:lnSpc>
              <a:spcBef>
                <a:spcPts val="600"/>
              </a:spcBef>
              <a:spcAft>
                <a:spcPts val="0"/>
              </a:spcAft>
              <a:buClr>
                <a:srgbClr val="FFFFFF"/>
              </a:buClr>
              <a:buSzPts val="3000"/>
              <a:buChar char="▹"/>
              <a:defRPr i="1">
                <a:solidFill>
                  <a:srgbClr val="FFFFFF"/>
                </a:solidFill>
              </a:defRPr>
            </a:lvl1pPr>
            <a:lvl2pPr indent="-381000" lvl="1" marL="914400" algn="ctr">
              <a:lnSpc>
                <a:spcPct val="100000"/>
              </a:lnSpc>
              <a:spcBef>
                <a:spcPts val="0"/>
              </a:spcBef>
              <a:spcAft>
                <a:spcPts val="0"/>
              </a:spcAft>
              <a:buClr>
                <a:srgbClr val="FFFFFF"/>
              </a:buClr>
              <a:buSzPts val="2400"/>
              <a:buChar char="▸"/>
              <a:defRPr i="1">
                <a:solidFill>
                  <a:srgbClr val="FFFFFF"/>
                </a:solidFill>
              </a:defRPr>
            </a:lvl2pPr>
            <a:lvl3pPr indent="-381000" lvl="2" marL="1371600" algn="ctr">
              <a:lnSpc>
                <a:spcPct val="100000"/>
              </a:lnSpc>
              <a:spcBef>
                <a:spcPts val="0"/>
              </a:spcBef>
              <a:spcAft>
                <a:spcPts val="0"/>
              </a:spcAft>
              <a:buClr>
                <a:srgbClr val="FFFFFF"/>
              </a:buClr>
              <a:buSzPts val="2400"/>
              <a:buChar char="⬩"/>
              <a:defRPr i="1">
                <a:solidFill>
                  <a:srgbClr val="FFFFFF"/>
                </a:solidFill>
              </a:defRPr>
            </a:lvl3pPr>
            <a:lvl4pPr indent="-342900" lvl="3" marL="1828800" algn="ctr">
              <a:lnSpc>
                <a:spcPct val="100000"/>
              </a:lnSpc>
              <a:spcBef>
                <a:spcPts val="0"/>
              </a:spcBef>
              <a:spcAft>
                <a:spcPts val="0"/>
              </a:spcAft>
              <a:buClr>
                <a:srgbClr val="FFFFFF"/>
              </a:buClr>
              <a:buSzPts val="1800"/>
              <a:buChar char="⬞"/>
              <a:defRPr i="1">
                <a:solidFill>
                  <a:srgbClr val="FFFFFF"/>
                </a:solidFill>
              </a:defRPr>
            </a:lvl4pPr>
            <a:lvl5pPr indent="-342900" lvl="4" marL="2286000" algn="ctr">
              <a:lnSpc>
                <a:spcPct val="100000"/>
              </a:lnSpc>
              <a:spcBef>
                <a:spcPts val="0"/>
              </a:spcBef>
              <a:spcAft>
                <a:spcPts val="0"/>
              </a:spcAft>
              <a:buClr>
                <a:srgbClr val="FFFFFF"/>
              </a:buClr>
              <a:buSzPts val="1800"/>
              <a:buChar char="○"/>
              <a:defRPr i="1">
                <a:solidFill>
                  <a:srgbClr val="FFFFFF"/>
                </a:solidFill>
              </a:defRPr>
            </a:lvl5pPr>
            <a:lvl6pPr indent="-342900" lvl="5" marL="2743200" algn="ctr">
              <a:lnSpc>
                <a:spcPct val="100000"/>
              </a:lnSpc>
              <a:spcBef>
                <a:spcPts val="0"/>
              </a:spcBef>
              <a:spcAft>
                <a:spcPts val="0"/>
              </a:spcAft>
              <a:buClr>
                <a:srgbClr val="FFFFFF"/>
              </a:buClr>
              <a:buSzPts val="1800"/>
              <a:buChar char="■"/>
              <a:defRPr i="1">
                <a:solidFill>
                  <a:srgbClr val="FFFFFF"/>
                </a:solidFill>
              </a:defRPr>
            </a:lvl6pPr>
            <a:lvl7pPr indent="-342900" lvl="6" marL="3200400" algn="ctr">
              <a:lnSpc>
                <a:spcPct val="100000"/>
              </a:lnSpc>
              <a:spcBef>
                <a:spcPts val="0"/>
              </a:spcBef>
              <a:spcAft>
                <a:spcPts val="0"/>
              </a:spcAft>
              <a:buClr>
                <a:srgbClr val="FFFFFF"/>
              </a:buClr>
              <a:buSzPts val="1800"/>
              <a:buChar char="●"/>
              <a:defRPr i="1">
                <a:solidFill>
                  <a:srgbClr val="FFFFFF"/>
                </a:solidFill>
              </a:defRPr>
            </a:lvl7pPr>
            <a:lvl8pPr indent="-342900" lvl="7" marL="3657600" algn="ctr">
              <a:lnSpc>
                <a:spcPct val="100000"/>
              </a:lnSpc>
              <a:spcBef>
                <a:spcPts val="0"/>
              </a:spcBef>
              <a:spcAft>
                <a:spcPts val="0"/>
              </a:spcAft>
              <a:buClr>
                <a:srgbClr val="FFFFFF"/>
              </a:buClr>
              <a:buSzPts val="1800"/>
              <a:buChar char="○"/>
              <a:defRPr i="1">
                <a:solidFill>
                  <a:srgbClr val="FFFFFF"/>
                </a:solidFill>
              </a:defRPr>
            </a:lvl8pPr>
            <a:lvl9pPr indent="-342900" lvl="8" marL="4114800" algn="ctr">
              <a:lnSpc>
                <a:spcPct val="100000"/>
              </a:lnSpc>
              <a:spcBef>
                <a:spcPts val="0"/>
              </a:spcBef>
              <a:spcAft>
                <a:spcPts val="0"/>
              </a:spcAft>
              <a:buClr>
                <a:srgbClr val="FFFFFF"/>
              </a:buClr>
              <a:buSzPts val="1800"/>
              <a:buChar char="■"/>
              <a:defRPr i="1">
                <a:solidFill>
                  <a:srgbClr val="FFFFFF"/>
                </a:solidFill>
              </a:defRPr>
            </a:lvl9pPr>
          </a:lstStyle>
          <a:p/>
        </p:txBody>
      </p:sp>
      <p:sp>
        <p:nvSpPr>
          <p:cNvPr id="43" name="Google Shape;43;p34"/>
          <p:cNvSpPr txBox="1"/>
          <p:nvPr/>
        </p:nvSpPr>
        <p:spPr>
          <a:xfrm>
            <a:off x="3593400" y="3670520"/>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0DB7C4"/>
                </a:solidFill>
                <a:latin typeface="Arial"/>
                <a:ea typeface="Arial"/>
                <a:cs typeface="Arial"/>
                <a:sym typeface="Arial"/>
              </a:rPr>
              <a:t>”</a:t>
            </a:r>
            <a:endParaRPr b="1" i="0" sz="7200" u="none" cap="none" strike="noStrike">
              <a:solidFill>
                <a:srgbClr val="0DB7C4"/>
              </a:solidFill>
              <a:latin typeface="Arial"/>
              <a:ea typeface="Arial"/>
              <a:cs typeface="Arial"/>
              <a:sym typeface="Arial"/>
            </a:endParaRPr>
          </a:p>
        </p:txBody>
      </p:sp>
      <p:sp>
        <p:nvSpPr>
          <p:cNvPr id="44" name="Google Shape;44;p34"/>
          <p:cNvSpPr txBox="1"/>
          <p:nvPr>
            <p:ph idx="12" type="sldNum"/>
          </p:nvPr>
        </p:nvSpPr>
        <p:spPr>
          <a:xfrm>
            <a:off x="-75" y="3420000"/>
            <a:ext cx="669600" cy="17235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0DB7C4"/>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45" name="Shape 45"/>
        <p:cNvGrpSpPr/>
        <p:nvPr/>
      </p:nvGrpSpPr>
      <p:grpSpPr>
        <a:xfrm>
          <a:off x="0" y="0"/>
          <a:ext cx="0" cy="0"/>
          <a:chOff x="0" y="0"/>
          <a:chExt cx="0" cy="0"/>
        </a:xfrm>
      </p:grpSpPr>
      <p:sp>
        <p:nvSpPr>
          <p:cNvPr id="46" name="Google Shape;46;p35"/>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5"/>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5"/>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9" name="Google Shape;49;p35"/>
          <p:cNvSpPr txBox="1"/>
          <p:nvPr>
            <p:ph idx="1" type="body"/>
          </p:nvPr>
        </p:nvSpPr>
        <p:spPr>
          <a:xfrm>
            <a:off x="844425" y="1538075"/>
            <a:ext cx="5169000" cy="33879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sz="2400"/>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sz="2400"/>
            </a:lvl4pPr>
            <a:lvl5pPr indent="-381000" lvl="4" marL="2286000" algn="l">
              <a:lnSpc>
                <a:spcPct val="100000"/>
              </a:lnSpc>
              <a:spcBef>
                <a:spcPts val="0"/>
              </a:spcBef>
              <a:spcAft>
                <a:spcPts val="0"/>
              </a:spcAft>
              <a:buSzPts val="2400"/>
              <a:buChar char="○"/>
              <a:defRPr sz="2400"/>
            </a:lvl5pPr>
            <a:lvl6pPr indent="-381000" lvl="5" marL="2743200" algn="l">
              <a:lnSpc>
                <a:spcPct val="100000"/>
              </a:lnSpc>
              <a:spcBef>
                <a:spcPts val="0"/>
              </a:spcBef>
              <a:spcAft>
                <a:spcPts val="0"/>
              </a:spcAft>
              <a:buSzPts val="2400"/>
              <a:buChar char="■"/>
              <a:defRPr sz="2400"/>
            </a:lvl6pPr>
            <a:lvl7pPr indent="-381000" lvl="6" marL="3200400" algn="l">
              <a:lnSpc>
                <a:spcPct val="100000"/>
              </a:lnSpc>
              <a:spcBef>
                <a:spcPts val="0"/>
              </a:spcBef>
              <a:spcAft>
                <a:spcPts val="0"/>
              </a:spcAft>
              <a:buSzPts val="2400"/>
              <a:buChar char="●"/>
              <a:defRPr sz="2400"/>
            </a:lvl7pPr>
            <a:lvl8pPr indent="-381000" lvl="7" marL="3657600" algn="l">
              <a:lnSpc>
                <a:spcPct val="100000"/>
              </a:lnSpc>
              <a:spcBef>
                <a:spcPts val="0"/>
              </a:spcBef>
              <a:spcAft>
                <a:spcPts val="0"/>
              </a:spcAft>
              <a:buSzPts val="2400"/>
              <a:buChar char="○"/>
              <a:defRPr sz="2400"/>
            </a:lvl8pPr>
            <a:lvl9pPr indent="-381000" lvl="8" marL="4114800" algn="l">
              <a:lnSpc>
                <a:spcPct val="100000"/>
              </a:lnSpc>
              <a:spcBef>
                <a:spcPts val="0"/>
              </a:spcBef>
              <a:spcAft>
                <a:spcPts val="0"/>
              </a:spcAft>
              <a:buSzPts val="2400"/>
              <a:buChar char="■"/>
              <a:defRPr sz="2400"/>
            </a:lvl9pPr>
          </a:lstStyle>
          <a:p/>
        </p:txBody>
      </p:sp>
      <p:sp>
        <p:nvSpPr>
          <p:cNvPr id="50" name="Google Shape;50;p35"/>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51" name="Shape 51"/>
        <p:cNvGrpSpPr/>
        <p:nvPr/>
      </p:nvGrpSpPr>
      <p:grpSpPr>
        <a:xfrm>
          <a:off x="0" y="0"/>
          <a:ext cx="0" cy="0"/>
          <a:chOff x="0" y="0"/>
          <a:chExt cx="0" cy="0"/>
        </a:xfrm>
      </p:grpSpPr>
      <p:sp>
        <p:nvSpPr>
          <p:cNvPr id="52" name="Google Shape;52;p36"/>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6"/>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6"/>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55" name="Google Shape;55;p36"/>
          <p:cNvSpPr txBox="1"/>
          <p:nvPr>
            <p:ph idx="1" type="body"/>
          </p:nvPr>
        </p:nvSpPr>
        <p:spPr>
          <a:xfrm>
            <a:off x="844425" y="1534257"/>
            <a:ext cx="2804700" cy="33216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56" name="Google Shape;56;p36"/>
          <p:cNvSpPr txBox="1"/>
          <p:nvPr>
            <p:ph idx="2" type="body"/>
          </p:nvPr>
        </p:nvSpPr>
        <p:spPr>
          <a:xfrm>
            <a:off x="3818123" y="1534257"/>
            <a:ext cx="2804700" cy="33216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57" name="Google Shape;57;p36"/>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8" name="Shape 58"/>
        <p:cNvGrpSpPr/>
        <p:nvPr/>
      </p:nvGrpSpPr>
      <p:grpSpPr>
        <a:xfrm>
          <a:off x="0" y="0"/>
          <a:ext cx="0" cy="0"/>
          <a:chOff x="0" y="0"/>
          <a:chExt cx="0" cy="0"/>
        </a:xfrm>
      </p:grpSpPr>
      <p:sp>
        <p:nvSpPr>
          <p:cNvPr id="59" name="Google Shape;59;p37"/>
          <p:cNvSpPr/>
          <p:nvPr/>
        </p:nvSpPr>
        <p:spPr>
          <a:xfrm flipH="1">
            <a:off x="-75" y="0"/>
            <a:ext cx="669600" cy="51435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7"/>
          <p:cNvSpPr/>
          <p:nvPr/>
        </p:nvSpPr>
        <p:spPr>
          <a:xfrm flipH="1">
            <a:off x="-75" y="0"/>
            <a:ext cx="669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7"/>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62" name="Google Shape;62;p37"/>
          <p:cNvSpPr txBox="1"/>
          <p:nvPr>
            <p:ph idx="1" type="body"/>
          </p:nvPr>
        </p:nvSpPr>
        <p:spPr>
          <a:xfrm>
            <a:off x="844425"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3" name="Google Shape;63;p37"/>
          <p:cNvSpPr txBox="1"/>
          <p:nvPr>
            <p:ph idx="2" type="body"/>
          </p:nvPr>
        </p:nvSpPr>
        <p:spPr>
          <a:xfrm>
            <a:off x="2861613"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4" name="Google Shape;64;p37"/>
          <p:cNvSpPr txBox="1"/>
          <p:nvPr>
            <p:ph idx="3" type="body"/>
          </p:nvPr>
        </p:nvSpPr>
        <p:spPr>
          <a:xfrm>
            <a:off x="4878801" y="1548525"/>
            <a:ext cx="1918800" cy="32250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65" name="Google Shape;65;p37"/>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background">
  <p:cSld name="TITLE_ONLY_1">
    <p:spTree>
      <p:nvGrpSpPr>
        <p:cNvPr id="66" name="Shape 66"/>
        <p:cNvGrpSpPr/>
        <p:nvPr/>
      </p:nvGrpSpPr>
      <p:grpSpPr>
        <a:xfrm>
          <a:off x="0" y="0"/>
          <a:ext cx="0" cy="0"/>
          <a:chOff x="0" y="0"/>
          <a:chExt cx="0" cy="0"/>
        </a:xfrm>
      </p:grpSpPr>
      <p:sp>
        <p:nvSpPr>
          <p:cNvPr id="67" name="Google Shape;67;p39"/>
          <p:cNvSpPr/>
          <p:nvPr/>
        </p:nvSpPr>
        <p:spPr>
          <a:xfrm flipH="1">
            <a:off x="-75" y="0"/>
            <a:ext cx="1851600" cy="5143500"/>
          </a:xfrm>
          <a:prstGeom prst="rect">
            <a:avLst/>
          </a:prstGeom>
          <a:solidFill>
            <a:srgbClr val="0DB7C4">
              <a:alpha val="3647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9"/>
          <p:cNvSpPr/>
          <p:nvPr/>
        </p:nvSpPr>
        <p:spPr>
          <a:xfrm flipH="1">
            <a:off x="-75" y="0"/>
            <a:ext cx="1851600" cy="11400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9"/>
          <p:cNvSpPr txBox="1"/>
          <p:nvPr>
            <p:ph type="title"/>
          </p:nvPr>
        </p:nvSpPr>
        <p:spPr>
          <a:xfrm>
            <a:off x="235225" y="1292400"/>
            <a:ext cx="1381200" cy="114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800"/>
              <a:buNone/>
              <a:defRPr sz="1800">
                <a:solidFill>
                  <a:srgbClr val="FFFFFF"/>
                </a:solidFill>
              </a:defRPr>
            </a:lvl1pPr>
            <a:lvl2pPr lvl="1" algn="l">
              <a:lnSpc>
                <a:spcPct val="100000"/>
              </a:lnSpc>
              <a:spcBef>
                <a:spcPts val="0"/>
              </a:spcBef>
              <a:spcAft>
                <a:spcPts val="0"/>
              </a:spcAft>
              <a:buClr>
                <a:srgbClr val="FFFFFF"/>
              </a:buClr>
              <a:buSzPts val="1800"/>
              <a:buNone/>
              <a:defRPr sz="1800">
                <a:solidFill>
                  <a:srgbClr val="FFFFFF"/>
                </a:solidFill>
              </a:defRPr>
            </a:lvl2pPr>
            <a:lvl3pPr lvl="2" algn="l">
              <a:lnSpc>
                <a:spcPct val="100000"/>
              </a:lnSpc>
              <a:spcBef>
                <a:spcPts val="0"/>
              </a:spcBef>
              <a:spcAft>
                <a:spcPts val="0"/>
              </a:spcAft>
              <a:buClr>
                <a:srgbClr val="FFFFFF"/>
              </a:buClr>
              <a:buSzPts val="1800"/>
              <a:buNone/>
              <a:defRPr sz="1800">
                <a:solidFill>
                  <a:srgbClr val="FFFFFF"/>
                </a:solidFill>
              </a:defRPr>
            </a:lvl3pPr>
            <a:lvl4pPr lvl="3" algn="l">
              <a:lnSpc>
                <a:spcPct val="100000"/>
              </a:lnSpc>
              <a:spcBef>
                <a:spcPts val="0"/>
              </a:spcBef>
              <a:spcAft>
                <a:spcPts val="0"/>
              </a:spcAft>
              <a:buClr>
                <a:srgbClr val="FFFFFF"/>
              </a:buClr>
              <a:buSzPts val="1800"/>
              <a:buNone/>
              <a:defRPr sz="1800">
                <a:solidFill>
                  <a:srgbClr val="FFFFFF"/>
                </a:solidFill>
              </a:defRPr>
            </a:lvl4pPr>
            <a:lvl5pPr lvl="4" algn="l">
              <a:lnSpc>
                <a:spcPct val="100000"/>
              </a:lnSpc>
              <a:spcBef>
                <a:spcPts val="0"/>
              </a:spcBef>
              <a:spcAft>
                <a:spcPts val="0"/>
              </a:spcAft>
              <a:buClr>
                <a:srgbClr val="FFFFFF"/>
              </a:buClr>
              <a:buSzPts val="1800"/>
              <a:buNone/>
              <a:defRPr sz="1800">
                <a:solidFill>
                  <a:srgbClr val="FFFFFF"/>
                </a:solidFill>
              </a:defRPr>
            </a:lvl5pPr>
            <a:lvl6pPr lvl="5" algn="l">
              <a:lnSpc>
                <a:spcPct val="100000"/>
              </a:lnSpc>
              <a:spcBef>
                <a:spcPts val="0"/>
              </a:spcBef>
              <a:spcAft>
                <a:spcPts val="0"/>
              </a:spcAft>
              <a:buClr>
                <a:srgbClr val="FFFFFF"/>
              </a:buClr>
              <a:buSzPts val="1800"/>
              <a:buNone/>
              <a:defRPr sz="1800">
                <a:solidFill>
                  <a:srgbClr val="FFFFFF"/>
                </a:solidFill>
              </a:defRPr>
            </a:lvl6pPr>
            <a:lvl7pPr lvl="6" algn="l">
              <a:lnSpc>
                <a:spcPct val="100000"/>
              </a:lnSpc>
              <a:spcBef>
                <a:spcPts val="0"/>
              </a:spcBef>
              <a:spcAft>
                <a:spcPts val="0"/>
              </a:spcAft>
              <a:buClr>
                <a:srgbClr val="FFFFFF"/>
              </a:buClr>
              <a:buSzPts val="1800"/>
              <a:buNone/>
              <a:defRPr sz="1800">
                <a:solidFill>
                  <a:srgbClr val="FFFFFF"/>
                </a:solidFill>
              </a:defRPr>
            </a:lvl7pPr>
            <a:lvl8pPr lvl="7" algn="l">
              <a:lnSpc>
                <a:spcPct val="100000"/>
              </a:lnSpc>
              <a:spcBef>
                <a:spcPts val="0"/>
              </a:spcBef>
              <a:spcAft>
                <a:spcPts val="0"/>
              </a:spcAft>
              <a:buClr>
                <a:srgbClr val="FFFFFF"/>
              </a:buClr>
              <a:buSzPts val="1800"/>
              <a:buNone/>
              <a:defRPr sz="1800">
                <a:solidFill>
                  <a:srgbClr val="FFFFFF"/>
                </a:solidFill>
              </a:defRPr>
            </a:lvl8pPr>
            <a:lvl9pPr lvl="8" algn="l">
              <a:lnSpc>
                <a:spcPct val="100000"/>
              </a:lnSpc>
              <a:spcBef>
                <a:spcPts val="0"/>
              </a:spcBef>
              <a:spcAft>
                <a:spcPts val="0"/>
              </a:spcAft>
              <a:buClr>
                <a:srgbClr val="FFFFFF"/>
              </a:buClr>
              <a:buSzPts val="1800"/>
              <a:buNone/>
              <a:defRPr sz="1800">
                <a:solidFill>
                  <a:srgbClr val="FFFFFF"/>
                </a:solidFill>
              </a:defRPr>
            </a:lvl9pPr>
          </a:lstStyle>
          <a:p/>
        </p:txBody>
      </p:sp>
      <p:sp>
        <p:nvSpPr>
          <p:cNvPr id="70" name="Google Shape;70;p39"/>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lvl1pPr indent="0" lvl="0"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7" name="Shape 77"/>
        <p:cNvGrpSpPr/>
        <p:nvPr/>
      </p:nvGrpSpPr>
      <p:grpSpPr>
        <a:xfrm>
          <a:off x="0" y="0"/>
          <a:ext cx="0" cy="0"/>
          <a:chOff x="0" y="0"/>
          <a:chExt cx="0" cy="0"/>
        </a:xfrm>
      </p:grpSpPr>
      <p:sp>
        <p:nvSpPr>
          <p:cNvPr id="78" name="Google Shape;78;p3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3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3" name="Shape 83"/>
        <p:cNvGrpSpPr/>
        <p:nvPr/>
      </p:nvGrpSpPr>
      <p:grpSpPr>
        <a:xfrm>
          <a:off x="0" y="0"/>
          <a:ext cx="0" cy="0"/>
          <a:chOff x="0" y="0"/>
          <a:chExt cx="0" cy="0"/>
        </a:xfrm>
      </p:grpSpPr>
      <p:sp>
        <p:nvSpPr>
          <p:cNvPr id="84" name="Google Shape;84;p40"/>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0"/>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86" name="Google Shape;86;p4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sp>
        <p:nvSpPr>
          <p:cNvPr id="90" name="Google Shape;90;p41"/>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1"/>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92" name="Google Shape;92;p4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5" name="Shape 95"/>
        <p:cNvGrpSpPr/>
        <p:nvPr/>
      </p:nvGrpSpPr>
      <p:grpSpPr>
        <a:xfrm>
          <a:off x="0" y="0"/>
          <a:ext cx="0" cy="0"/>
          <a:chOff x="0" y="0"/>
          <a:chExt cx="0" cy="0"/>
        </a:xfrm>
      </p:grpSpPr>
      <p:sp>
        <p:nvSpPr>
          <p:cNvPr id="96" name="Google Shape;96;p4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2"/>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8" name="Google Shape;98;p42"/>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99" name="Google Shape;99;p4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2" name="Shape 102"/>
        <p:cNvGrpSpPr/>
        <p:nvPr/>
      </p:nvGrpSpPr>
      <p:grpSpPr>
        <a:xfrm>
          <a:off x="0" y="0"/>
          <a:ext cx="0" cy="0"/>
          <a:chOff x="0" y="0"/>
          <a:chExt cx="0" cy="0"/>
        </a:xfrm>
      </p:grpSpPr>
      <p:sp>
        <p:nvSpPr>
          <p:cNvPr id="103" name="Google Shape;103;p4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3"/>
          <p:cNvSpPr txBox="1"/>
          <p:nvPr>
            <p:ph idx="1" type="body"/>
          </p:nvPr>
        </p:nvSpPr>
        <p:spPr>
          <a:xfrm>
            <a:off x="457200" y="1151335"/>
            <a:ext cx="4040100" cy="480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05" name="Google Shape;105;p43"/>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06" name="Google Shape;106;p43"/>
          <p:cNvSpPr txBox="1"/>
          <p:nvPr>
            <p:ph idx="3" type="body"/>
          </p:nvPr>
        </p:nvSpPr>
        <p:spPr>
          <a:xfrm>
            <a:off x="4645025" y="1151335"/>
            <a:ext cx="4041900" cy="480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07" name="Google Shape;107;p43"/>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08" name="Google Shape;108;p4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4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4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4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
        <p:nvSpPr>
          <p:cNvPr id="117" name="Google Shape;117;p4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4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0" name="Shape 120"/>
        <p:cNvGrpSpPr/>
        <p:nvPr/>
      </p:nvGrpSpPr>
      <p:grpSpPr>
        <a:xfrm>
          <a:off x="0" y="0"/>
          <a:ext cx="0" cy="0"/>
          <a:chOff x="0" y="0"/>
          <a:chExt cx="0" cy="0"/>
        </a:xfrm>
      </p:grpSpPr>
      <p:sp>
        <p:nvSpPr>
          <p:cNvPr id="121" name="Google Shape;121;p46"/>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6"/>
          <p:cNvSpPr txBox="1"/>
          <p:nvPr>
            <p:ph idx="1" type="body"/>
          </p:nvPr>
        </p:nvSpPr>
        <p:spPr>
          <a:xfrm>
            <a:off x="3575050" y="204788"/>
            <a:ext cx="5111700" cy="43896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23" name="Google Shape;123;p46"/>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4" name="Google Shape;124;p4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4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7" name="Shape 127"/>
        <p:cNvGrpSpPr/>
        <p:nvPr/>
      </p:nvGrpSpPr>
      <p:grpSpPr>
        <a:xfrm>
          <a:off x="0" y="0"/>
          <a:ext cx="0" cy="0"/>
          <a:chOff x="0" y="0"/>
          <a:chExt cx="0" cy="0"/>
        </a:xfrm>
      </p:grpSpPr>
      <p:sp>
        <p:nvSpPr>
          <p:cNvPr id="128" name="Google Shape;128;p47"/>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7"/>
          <p:cNvSpPr/>
          <p:nvPr>
            <p:ph idx="2" type="pic"/>
          </p:nvPr>
        </p:nvSpPr>
        <p:spPr>
          <a:xfrm>
            <a:off x="1792288" y="459581"/>
            <a:ext cx="5486400" cy="3086100"/>
          </a:xfrm>
          <a:prstGeom prst="rect">
            <a:avLst/>
          </a:prstGeom>
          <a:noFill/>
          <a:ln>
            <a:noFill/>
          </a:ln>
        </p:spPr>
      </p:sp>
      <p:sp>
        <p:nvSpPr>
          <p:cNvPr id="130" name="Google Shape;130;p47"/>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1" name="Google Shape;131;p4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4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4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48"/>
          <p:cNvSpPr txBox="1"/>
          <p:nvPr>
            <p:ph idx="1" type="body"/>
          </p:nvPr>
        </p:nvSpPr>
        <p:spPr>
          <a:xfrm rot="5400000">
            <a:off x="2874749" y="-1217400"/>
            <a:ext cx="3394500"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 name="Google Shape;137;p4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4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49"/>
          <p:cNvSpPr txBox="1"/>
          <p:nvPr>
            <p:ph type="title"/>
          </p:nvPr>
        </p:nvSpPr>
        <p:spPr>
          <a:xfrm rot="5400000">
            <a:off x="5463749" y="1371628"/>
            <a:ext cx="4388700"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9"/>
          <p:cNvSpPr txBox="1"/>
          <p:nvPr>
            <p:ph idx="1" type="body"/>
          </p:nvPr>
        </p:nvSpPr>
        <p:spPr>
          <a:xfrm rot="5400000">
            <a:off x="1272750" y="-609571"/>
            <a:ext cx="4388700"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3" name="Google Shape;143;p4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4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44425" y="5598"/>
            <a:ext cx="3552600" cy="11400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1pPr>
            <a:lvl2pPr lvl="1"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2pPr>
            <a:lvl3pPr lvl="2"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3pPr>
            <a:lvl4pPr lvl="3"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4pPr>
            <a:lvl5pPr lvl="4"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5pPr>
            <a:lvl6pPr lvl="5"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6pPr>
            <a:lvl7pPr lvl="6"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7pPr>
            <a:lvl8pPr lvl="7"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8pPr>
            <a:lvl9pPr lvl="8" marR="0" rtl="0" algn="l">
              <a:lnSpc>
                <a:spcPct val="100000"/>
              </a:lnSpc>
              <a:spcBef>
                <a:spcPts val="0"/>
              </a:spcBef>
              <a:spcAft>
                <a:spcPts val="0"/>
              </a:spcAft>
              <a:buClr>
                <a:srgbClr val="0DB7C4"/>
              </a:buClr>
              <a:buSzPts val="2400"/>
              <a:buFont typeface="Dosis"/>
              <a:buNone/>
              <a:defRPr b="0" i="0" sz="2400" u="none" cap="none" strike="noStrike">
                <a:solidFill>
                  <a:srgbClr val="0DB7C4"/>
                </a:solidFill>
                <a:latin typeface="Dosis"/>
                <a:ea typeface="Dosis"/>
                <a:cs typeface="Dosis"/>
                <a:sym typeface="Dosis"/>
              </a:defRPr>
            </a:lvl9pPr>
          </a:lstStyle>
          <a:p/>
        </p:txBody>
      </p:sp>
      <p:sp>
        <p:nvSpPr>
          <p:cNvPr id="7" name="Google Shape;7;p26"/>
          <p:cNvSpPr txBox="1"/>
          <p:nvPr>
            <p:ph idx="1" type="body"/>
          </p:nvPr>
        </p:nvSpPr>
        <p:spPr>
          <a:xfrm>
            <a:off x="844425" y="1538075"/>
            <a:ext cx="5169000" cy="33879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rgbClr val="0DB7C4"/>
              </a:buClr>
              <a:buSzPts val="3000"/>
              <a:buFont typeface="Arial"/>
              <a:buChar char="▹"/>
              <a:defRPr b="0" i="0" sz="3000" u="none" cap="none" strike="noStrike">
                <a:solidFill>
                  <a:srgbClr val="415665"/>
                </a:solidFill>
                <a:latin typeface="Arial"/>
                <a:ea typeface="Arial"/>
                <a:cs typeface="Arial"/>
                <a:sym typeface="Arial"/>
              </a:defRPr>
            </a:lvl1pPr>
            <a:lvl2pPr indent="-381000" lvl="1" marL="914400" marR="0" rtl="0" algn="l">
              <a:lnSpc>
                <a:spcPct val="100000"/>
              </a:lnSpc>
              <a:spcBef>
                <a:spcPts val="0"/>
              </a:spcBef>
              <a:spcAft>
                <a:spcPts val="0"/>
              </a:spcAft>
              <a:buClr>
                <a:srgbClr val="0DB7C4"/>
              </a:buClr>
              <a:buSzPts val="2400"/>
              <a:buFont typeface="Arial"/>
              <a:buChar char="▸"/>
              <a:defRPr b="0" i="0" sz="2400" u="none" cap="none" strike="noStrike">
                <a:solidFill>
                  <a:srgbClr val="415665"/>
                </a:solidFill>
                <a:latin typeface="Arial"/>
                <a:ea typeface="Arial"/>
                <a:cs typeface="Arial"/>
                <a:sym typeface="Arial"/>
              </a:defRPr>
            </a:lvl2pPr>
            <a:lvl3pPr indent="-381000" lvl="2" marL="1371600" marR="0" rtl="0" algn="l">
              <a:lnSpc>
                <a:spcPct val="100000"/>
              </a:lnSpc>
              <a:spcBef>
                <a:spcPts val="0"/>
              </a:spcBef>
              <a:spcAft>
                <a:spcPts val="0"/>
              </a:spcAft>
              <a:buClr>
                <a:srgbClr val="0DB7C4"/>
              </a:buClr>
              <a:buSzPts val="2400"/>
              <a:buFont typeface="Arial"/>
              <a:buChar char="⬩"/>
              <a:defRPr b="0" i="0" sz="2400" u="none" cap="none" strike="noStrike">
                <a:solidFill>
                  <a:srgbClr val="415665"/>
                </a:solidFill>
                <a:latin typeface="Arial"/>
                <a:ea typeface="Arial"/>
                <a:cs typeface="Arial"/>
                <a:sym typeface="Arial"/>
              </a:defRPr>
            </a:lvl3pPr>
            <a:lvl4pPr indent="-342900" lvl="3" marL="18288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4pPr>
            <a:lvl5pPr indent="-342900" lvl="4" marL="22860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5pPr>
            <a:lvl6pPr indent="-342900" lvl="5" marL="27432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6pPr>
            <a:lvl7pPr indent="-342900" lvl="6" marL="32004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7pPr>
            <a:lvl8pPr indent="-342900" lvl="7" marL="36576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8pPr>
            <a:lvl9pPr indent="-342900" lvl="8" marL="4114800" marR="0" rtl="0" algn="l">
              <a:lnSpc>
                <a:spcPct val="100000"/>
              </a:lnSpc>
              <a:spcBef>
                <a:spcPts val="0"/>
              </a:spcBef>
              <a:spcAft>
                <a:spcPts val="0"/>
              </a:spcAft>
              <a:buClr>
                <a:srgbClr val="0DB7C4"/>
              </a:buClr>
              <a:buSzPts val="1800"/>
              <a:buFont typeface="Arial"/>
              <a:buChar char="■"/>
              <a:defRPr b="0" i="0" sz="1800" u="none" cap="none" strike="noStrike">
                <a:solidFill>
                  <a:srgbClr val="415665"/>
                </a:solidFill>
                <a:latin typeface="Arial"/>
                <a:ea typeface="Arial"/>
                <a:cs typeface="Arial"/>
                <a:sym typeface="Arial"/>
              </a:defRPr>
            </a:lvl9pPr>
          </a:lstStyle>
          <a:p/>
        </p:txBody>
      </p:sp>
      <p:sp>
        <p:nvSpPr>
          <p:cNvPr id="8" name="Google Shape;8;p26"/>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1pPr>
            <a:lvl2pPr indent="0" lvl="1"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2pPr>
            <a:lvl3pPr indent="0" lvl="2"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3pPr>
            <a:lvl4pPr indent="0" lvl="3"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4pPr>
            <a:lvl5pPr indent="0" lvl="4"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5pPr>
            <a:lvl6pPr indent="0" lvl="5"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6pPr>
            <a:lvl7pPr indent="0" lvl="6"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7pPr>
            <a:lvl8pPr indent="0" lvl="7"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8pPr>
            <a:lvl9pPr indent="0" lvl="8" marL="0" marR="0" rtl="0" algn="ctr">
              <a:lnSpc>
                <a:spcPct val="100000"/>
              </a:lnSpc>
              <a:spcBef>
                <a:spcPts val="0"/>
              </a:spcBef>
              <a:spcAft>
                <a:spcPts val="0"/>
              </a:spcAft>
              <a:buClr>
                <a:srgbClr val="000000"/>
              </a:buClr>
              <a:buSzPts val="2400"/>
              <a:buFont typeface="Arial"/>
              <a:buNone/>
              <a:defRPr b="0" i="0" sz="2400" u="none" cap="none" strike="noStrike">
                <a:solidFill>
                  <a:srgbClr val="FFFFFF"/>
                </a:solidFill>
                <a:latin typeface="Dosis"/>
                <a:ea typeface="Dosis"/>
                <a:cs typeface="Dosis"/>
                <a:sym typeface="Dosis"/>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3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3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4" name="Google Shape;74;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5" name="Google Shape;75;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0.jp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hyperlink" Target="http://www.youtube.com/watch?v=Ogc4ZXRF6Y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hyperlink" Target="http://www.youtube.com/watch?v=Mehz7tCxjSE" TargetMode="External"/><Relationship Id="rId5"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hyperlink" Target="http://www.youtube.com/watch?v=_W0bSen8Qjg" TargetMode="External"/><Relationship Id="rId5"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hyperlink" Target="http://www.youtube.com/watch?v=TkQSodgdz7g" TargetMode="External"/><Relationship Id="rId5"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5MQdXjRPHmQ" TargetMode="External"/><Relationship Id="rId4"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
          <p:cNvPicPr preferRelativeResize="0"/>
          <p:nvPr/>
        </p:nvPicPr>
        <p:blipFill rotWithShape="1">
          <a:blip r:embed="rId3">
            <a:alphaModFix/>
          </a:blip>
          <a:srcRect b="7860" l="0" r="5276" t="0"/>
          <a:stretch/>
        </p:blipFill>
        <p:spPr>
          <a:xfrm>
            <a:off x="0" y="0"/>
            <a:ext cx="648500" cy="361950"/>
          </a:xfrm>
          <a:prstGeom prst="rect">
            <a:avLst/>
          </a:prstGeom>
          <a:noFill/>
          <a:ln>
            <a:noFill/>
          </a:ln>
        </p:spPr>
      </p:pic>
      <p:graphicFrame>
        <p:nvGraphicFramePr>
          <p:cNvPr id="151" name="Google Shape;151;p2"/>
          <p:cNvGraphicFramePr/>
          <p:nvPr/>
        </p:nvGraphicFramePr>
        <p:xfrm>
          <a:off x="104775" y="438150"/>
          <a:ext cx="3000000" cy="3000000"/>
        </p:xfrm>
        <a:graphic>
          <a:graphicData uri="http://schemas.openxmlformats.org/drawingml/2006/table">
            <a:tbl>
              <a:tblPr>
                <a:noFill/>
                <a:tableStyleId>{CC004527-5937-4E58-A188-62C8517E1519}</a:tableStyleId>
              </a:tblPr>
              <a:tblGrid>
                <a:gridCol w="1734675"/>
                <a:gridCol w="2135650"/>
                <a:gridCol w="5064125"/>
              </a:tblGrid>
              <a:tr h="604550">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lt1"/>
                          </a:solidFill>
                          <a:latin typeface="Roboto"/>
                          <a:ea typeface="Roboto"/>
                          <a:cs typeface="Roboto"/>
                          <a:sym typeface="Roboto"/>
                        </a:rPr>
                        <a:t>Variation</a:t>
                      </a:r>
                      <a:endParaRPr sz="1800" u="none" cap="none" strike="noStrike">
                        <a:solidFill>
                          <a:schemeClr val="lt1"/>
                        </a:solidFill>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DB7C4"/>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a. Which graph shows continuous variation?</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b. Which graph shows discontinuous variation?</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c. Give one genetic cause of variation and one environmental cause.</a:t>
                      </a:r>
                      <a:endParaRPr sz="18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30125">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lt1"/>
                          </a:solidFill>
                          <a:latin typeface="Roboto"/>
                          <a:ea typeface="Roboto"/>
                          <a:cs typeface="Roboto"/>
                          <a:sym typeface="Roboto"/>
                        </a:rPr>
                        <a:t>Chromosomes, Genes &amp; DNA</a:t>
                      </a:r>
                      <a:endParaRPr sz="1800" u="none" cap="none" strike="noStrike">
                        <a:solidFill>
                          <a:schemeClr val="lt1"/>
                        </a:solidFill>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DB7C4"/>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a. What is the shape of DNA called?</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b. Which bases pair together?</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c. How many pairs of chromosomes are in a human cell?</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d. What is a gene and what does it code for?</a:t>
                      </a:r>
                      <a:endParaRPr sz="18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04550">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lt1"/>
                          </a:solidFill>
                          <a:latin typeface="Roboto"/>
                          <a:ea typeface="Roboto"/>
                          <a:cs typeface="Roboto"/>
                          <a:sym typeface="Roboto"/>
                        </a:rPr>
                        <a:t>Gametes</a:t>
                      </a:r>
                      <a:endParaRPr sz="1800" u="none" cap="none" strike="noStrike">
                        <a:solidFill>
                          <a:schemeClr val="lt1"/>
                        </a:solidFill>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DB7C4"/>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a.Why do gametes contain only 23 chromosomes?</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b. After fertilisation, why does the zygote have 46 chromosomes?</a:t>
                      </a:r>
                      <a:endParaRPr sz="18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c. What do we call different versions of the same gene?</a:t>
                      </a:r>
                      <a:endParaRPr sz="1800" u="none" cap="none" strike="noStrike">
                        <a:latin typeface="Roboto"/>
                        <a:ea typeface="Roboto"/>
                        <a:cs typeface="Roboto"/>
                        <a:sym typeface="Robo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52" name="Google Shape;152;p2"/>
          <p:cNvPicPr preferRelativeResize="0"/>
          <p:nvPr/>
        </p:nvPicPr>
        <p:blipFill rotWithShape="1">
          <a:blip r:embed="rId4">
            <a:alphaModFix/>
          </a:blip>
          <a:srcRect b="0" l="6912" r="5821" t="0"/>
          <a:stretch/>
        </p:blipFill>
        <p:spPr>
          <a:xfrm>
            <a:off x="1895475" y="3345075"/>
            <a:ext cx="1994450" cy="1559743"/>
          </a:xfrm>
          <a:prstGeom prst="rect">
            <a:avLst/>
          </a:prstGeom>
          <a:noFill/>
          <a:ln>
            <a:noFill/>
          </a:ln>
        </p:spPr>
      </p:pic>
      <p:pic>
        <p:nvPicPr>
          <p:cNvPr id="153" name="Google Shape;153;p2"/>
          <p:cNvPicPr preferRelativeResize="0"/>
          <p:nvPr/>
        </p:nvPicPr>
        <p:blipFill rotWithShape="1">
          <a:blip r:embed="rId5">
            <a:alphaModFix/>
          </a:blip>
          <a:srcRect b="18890" l="0" r="0" t="25372"/>
          <a:stretch/>
        </p:blipFill>
        <p:spPr>
          <a:xfrm>
            <a:off x="1839450" y="514350"/>
            <a:ext cx="2135649" cy="1190428"/>
          </a:xfrm>
          <a:prstGeom prst="rect">
            <a:avLst/>
          </a:prstGeom>
          <a:noFill/>
          <a:ln>
            <a:noFill/>
          </a:ln>
        </p:spPr>
      </p:pic>
      <p:pic>
        <p:nvPicPr>
          <p:cNvPr id="154" name="Google Shape;154;p2"/>
          <p:cNvPicPr preferRelativeResize="0"/>
          <p:nvPr/>
        </p:nvPicPr>
        <p:blipFill rotWithShape="1">
          <a:blip r:embed="rId6">
            <a:alphaModFix/>
          </a:blip>
          <a:srcRect b="7310" l="5997" r="7833" t="5877"/>
          <a:stretch/>
        </p:blipFill>
        <p:spPr>
          <a:xfrm>
            <a:off x="1910050" y="1777226"/>
            <a:ext cx="1994449" cy="1396507"/>
          </a:xfrm>
          <a:prstGeom prst="rect">
            <a:avLst/>
          </a:prstGeom>
          <a:noFill/>
          <a:ln>
            <a:noFill/>
          </a:ln>
        </p:spPr>
      </p:pic>
      <p:pic>
        <p:nvPicPr>
          <p:cNvPr id="155" name="Google Shape;155;p2"/>
          <p:cNvPicPr preferRelativeResize="0"/>
          <p:nvPr/>
        </p:nvPicPr>
        <p:blipFill rotWithShape="1">
          <a:blip r:embed="rId7">
            <a:alphaModFix/>
          </a:blip>
          <a:srcRect b="0" l="0" r="0" t="0"/>
          <a:stretch/>
        </p:blipFill>
        <p:spPr>
          <a:xfrm>
            <a:off x="648496" y="-1"/>
            <a:ext cx="418919" cy="361950"/>
          </a:xfrm>
          <a:prstGeom prst="rect">
            <a:avLst/>
          </a:prstGeom>
          <a:noFill/>
          <a:ln>
            <a:noFill/>
          </a:ln>
        </p:spPr>
      </p:pic>
      <p:sp>
        <p:nvSpPr>
          <p:cNvPr id="156" name="Google Shape;156;p2"/>
          <p:cNvSpPr/>
          <p:nvPr/>
        </p:nvSpPr>
        <p:spPr>
          <a:xfrm>
            <a:off x="1401800" y="0"/>
            <a:ext cx="7742100" cy="4953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lt1"/>
                </a:solidFill>
                <a:latin typeface="Roboto"/>
                <a:ea typeface="Roboto"/>
                <a:cs typeface="Roboto"/>
                <a:sym typeface="Roboto"/>
              </a:rPr>
              <a:t>As you come in…</a:t>
            </a:r>
            <a:endParaRPr b="0" i="0" sz="2400" u="none" cap="none" strike="noStrike">
              <a:solidFill>
                <a:schemeClr val="lt1"/>
              </a:solidFill>
              <a:latin typeface="Roboto"/>
              <a:ea typeface="Roboto"/>
              <a:cs typeface="Roboto"/>
              <a:sym typeface="Roboto"/>
            </a:endParaRPr>
          </a:p>
        </p:txBody>
      </p:sp>
      <p:pic>
        <p:nvPicPr>
          <p:cNvPr descr="This 10 Minute Timer with Alarm Alert at the End counts down silently to 0:00 exactly.&#10;&#10;Playlist with all Timers! : https://www.youtube.com/playlist?list=PLhJ10MzpCOQ10WPDPYQFt10iJAdnqTFQ-ksu&#10;&#10;Do you want another timer? Tell me in comments.&#10;The only thing you have to do is only to credit me with the link of the video and my channel (https://www.youtube.com/channel/UCRJD10e10100IvvEGPhoq-rV10g), very easy!&#10;&#10;Subscribe : https://www.youtube.com/channel/UCRJD10e10100IvvEGPhoq-rV10g?sub_confirmation=1&#10;&#10;#timer&#10;&#10;00:00 10 Minute Timer &#10;00:00 10 Min Timer&#10;00:00 Ten Minute Timer&#10;&#10;Original Creator : https://youtube.com/@AdamEschborn&#10;Timer playlist of Adam Eschborn : https://youtube.com/playlist?list=PLBMED-rCVbDiiqfY_XfNA79I7k7npEsP9" id="157" name="Google Shape;157;p2" title="10 Minute Timer">
            <a:hlinkClick r:id="rId8"/>
          </p:cNvPr>
          <p:cNvPicPr preferRelativeResize="0"/>
          <p:nvPr/>
        </p:nvPicPr>
        <p:blipFill rotWithShape="1">
          <a:blip r:embed="rId9">
            <a:alphaModFix/>
          </a:blip>
          <a:srcRect b="0" l="0" r="0" t="0"/>
          <a:stretch/>
        </p:blipFill>
        <p:spPr>
          <a:xfrm>
            <a:off x="0" y="4047925"/>
            <a:ext cx="1872975" cy="105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t/>
            </a:r>
            <a:endParaRPr/>
          </a:p>
        </p:txBody>
      </p:sp>
      <p:sp>
        <p:nvSpPr>
          <p:cNvPr id="163" name="Google Shape;163;p3"/>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40"/>
              </a:spcBef>
              <a:spcAft>
                <a:spcPts val="0"/>
              </a:spcAft>
              <a:buSzPts val="3200"/>
              <a:buNone/>
            </a:pPr>
            <a:r>
              <a:t/>
            </a:r>
            <a:endParaRPr/>
          </a:p>
        </p:txBody>
      </p:sp>
      <p:sp>
        <p:nvSpPr>
          <p:cNvPr id="164" name="Google Shape;164;p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
        <p:nvSpPr>
          <p:cNvPr id="165" name="Google Shape;165;p3"/>
          <p:cNvSpPr txBox="1"/>
          <p:nvPr/>
        </p:nvSpPr>
        <p:spPr>
          <a:xfrm>
            <a:off x="0" y="0"/>
            <a:ext cx="9144000" cy="466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 sz="1700" u="none" cap="none" strike="noStrike">
                <a:solidFill>
                  <a:schemeClr val="dk1"/>
                </a:solidFill>
                <a:latin typeface="Arial"/>
                <a:ea typeface="Arial"/>
                <a:cs typeface="Arial"/>
                <a:sym typeface="Arial"/>
              </a:rPr>
              <a:t>Variation</a:t>
            </a:r>
            <a:br>
              <a:rPr b="1"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a. Continuous variation → a smooth bell-shaped (normal distribution) graph (left).</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b. Discontinuous variation → a bar chart with distinct categories (right).</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c. Genetic cause → mutation / different alleles </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Environmental cause → diet / climate.</a:t>
            </a:r>
            <a:endParaRPr b="0" i="0" sz="17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700"/>
              <a:buFont typeface="Arial"/>
              <a:buNone/>
            </a:pPr>
            <a:r>
              <a:rPr b="1" i="0" lang="en" sz="1700" u="none" cap="none" strike="noStrike">
                <a:solidFill>
                  <a:schemeClr val="dk1"/>
                </a:solidFill>
                <a:latin typeface="Arial"/>
                <a:ea typeface="Arial"/>
                <a:cs typeface="Arial"/>
                <a:sym typeface="Arial"/>
              </a:rPr>
              <a:t>Chromosomes, genes, DNA</a:t>
            </a:r>
            <a:br>
              <a:rPr b="1"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a. Shape → double helix.</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b. Base pairs → A–T and C–G.</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c. Chromosome pairs → 23 pairs.</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d. Gene → a section of DNA that codes for a protein.</a:t>
            </a:r>
            <a:endParaRPr b="0" i="0" sz="17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700"/>
              <a:buFont typeface="Arial"/>
              <a:buNone/>
            </a:pPr>
            <a:r>
              <a:rPr b="1" i="0" lang="en" sz="1700" u="none" cap="none" strike="noStrike">
                <a:solidFill>
                  <a:schemeClr val="dk1"/>
                </a:solidFill>
                <a:latin typeface="Arial"/>
                <a:ea typeface="Arial"/>
                <a:cs typeface="Arial"/>
                <a:sym typeface="Arial"/>
              </a:rPr>
              <a:t>Gametes</a:t>
            </a:r>
            <a:br>
              <a:rPr b="1"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a. Gametes have 23 chromosomes so that chromosome number makes 46 after fertilisation </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b. After fertilisation, zygote has 46 because chromosomes from sperm and egg combine.</a:t>
            </a:r>
            <a:br>
              <a:rPr b="0" i="0" lang="en" sz="1700" u="none" cap="none" strike="noStrike">
                <a:solidFill>
                  <a:schemeClr val="dk1"/>
                </a:solidFill>
                <a:latin typeface="Arial"/>
                <a:ea typeface="Arial"/>
                <a:cs typeface="Arial"/>
                <a:sym typeface="Arial"/>
              </a:rPr>
            </a:br>
            <a:r>
              <a:rPr b="0" i="0" lang="en" sz="1700" u="none" cap="none" strike="noStrike">
                <a:solidFill>
                  <a:schemeClr val="dk1"/>
                </a:solidFill>
                <a:latin typeface="Arial"/>
                <a:ea typeface="Arial"/>
                <a:cs typeface="Arial"/>
                <a:sym typeface="Arial"/>
              </a:rPr>
              <a:t> c. Different versions of the same gene → alleles.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4"/>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
        <p:nvSpPr>
          <p:cNvPr id="171" name="Google Shape;171;p4"/>
          <p:cNvSpPr txBox="1"/>
          <p:nvPr/>
        </p:nvSpPr>
        <p:spPr>
          <a:xfrm>
            <a:off x="762175" y="594000"/>
            <a:ext cx="83202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200" u="sng" cap="none" strike="noStrike">
                <a:solidFill>
                  <a:srgbClr val="000000"/>
                </a:solidFill>
                <a:latin typeface="Roboto"/>
                <a:ea typeface="Roboto"/>
                <a:cs typeface="Roboto"/>
                <a:sym typeface="Roboto"/>
              </a:rPr>
              <a:t>Lesson objectives</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explain that inherited characteristics are controlled by genes passed from parents to offspring via gametes</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describe the difference between dominant and recessive alleles using examples</a:t>
            </a:r>
            <a:endParaRPr b="0" i="0" sz="2200" u="none" cap="none" strike="noStrike">
              <a:solidFill>
                <a:srgbClr val="000000"/>
              </a:solidFill>
              <a:latin typeface="Roboto"/>
              <a:ea typeface="Roboto"/>
              <a:cs typeface="Roboto"/>
              <a:sym typeface="Roboto"/>
            </a:endParaRPr>
          </a:p>
          <a:p>
            <a:pPr indent="-368300" lvl="0" marL="457200" marR="0" rtl="0" algn="l">
              <a:lnSpc>
                <a:spcPct val="100000"/>
              </a:lnSpc>
              <a:spcBef>
                <a:spcPts val="0"/>
              </a:spcBef>
              <a:spcAft>
                <a:spcPts val="0"/>
              </a:spcAft>
              <a:buClr>
                <a:srgbClr val="000000"/>
              </a:buClr>
              <a:buSzPts val="2200"/>
              <a:buFont typeface="Roboto"/>
              <a:buChar char="❏"/>
            </a:pPr>
            <a:r>
              <a:rPr b="0" i="0" lang="en" sz="2200" u="none" cap="none" strike="noStrike">
                <a:solidFill>
                  <a:srgbClr val="000000"/>
                </a:solidFill>
                <a:latin typeface="Roboto"/>
                <a:ea typeface="Roboto"/>
                <a:cs typeface="Roboto"/>
                <a:sym typeface="Roboto"/>
              </a:rPr>
              <a:t>To use genetic diagrams (Punnett squares) and pedigrees to predict inheritance patterns involving dominant and recessive alleles.</a:t>
            </a:r>
            <a:endParaRPr b="0" i="0" sz="2200" u="none" cap="none" strike="noStrike">
              <a:solidFill>
                <a:srgbClr val="000000"/>
              </a:solidFill>
              <a:latin typeface="Roboto"/>
              <a:ea typeface="Roboto"/>
              <a:cs typeface="Roboto"/>
              <a:sym typeface="Roboto"/>
            </a:endParaRPr>
          </a:p>
        </p:txBody>
      </p:sp>
      <p:sp>
        <p:nvSpPr>
          <p:cNvPr id="172" name="Google Shape;172;p4"/>
          <p:cNvSpPr/>
          <p:nvPr/>
        </p:nvSpPr>
        <p:spPr>
          <a:xfrm>
            <a:off x="728425" y="4419600"/>
            <a:ext cx="8320200" cy="620400"/>
          </a:xfrm>
          <a:prstGeom prst="rect">
            <a:avLst/>
          </a:prstGeom>
          <a:noFill/>
          <a:ln cap="flat" cmpd="sng" w="19050">
            <a:solidFill>
              <a:srgbClr val="0A95B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1500" u="none" cap="none" strike="noStrike">
                <a:solidFill>
                  <a:srgbClr val="000000"/>
                </a:solidFill>
                <a:latin typeface="Roboto"/>
                <a:ea typeface="Roboto"/>
                <a:cs typeface="Roboto"/>
                <a:sym typeface="Roboto"/>
              </a:rPr>
              <a:t>Keywords:</a:t>
            </a:r>
            <a:r>
              <a:rPr b="0" i="0" lang="en" sz="1500" u="none" cap="none" strike="noStrike">
                <a:solidFill>
                  <a:srgbClr val="000000"/>
                </a:solidFill>
                <a:latin typeface="Roboto"/>
                <a:ea typeface="Roboto"/>
                <a:cs typeface="Roboto"/>
                <a:sym typeface="Roboto"/>
              </a:rPr>
              <a:t> gene, allele, dominant, recessive, genotype, phenotype, homozygous, heterozygous</a:t>
            </a:r>
            <a:endParaRPr b="0" i="0" sz="1500" u="none" cap="none" strike="noStrike">
              <a:solidFill>
                <a:srgbClr val="000000"/>
              </a:solidFill>
              <a:latin typeface="Roboto"/>
              <a:ea typeface="Roboto"/>
              <a:cs typeface="Roboto"/>
              <a:sym typeface="Roboto"/>
            </a:endParaRPr>
          </a:p>
        </p:txBody>
      </p:sp>
      <p:sp>
        <p:nvSpPr>
          <p:cNvPr id="173" name="Google Shape;173;p4"/>
          <p:cNvSpPr txBox="1"/>
          <p:nvPr/>
        </p:nvSpPr>
        <p:spPr>
          <a:xfrm>
            <a:off x="7079500" y="181525"/>
            <a:ext cx="2019300" cy="3915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600"/>
              </a:spcBef>
              <a:spcAft>
                <a:spcPts val="0"/>
              </a:spcAft>
              <a:buClr>
                <a:srgbClr val="000000"/>
              </a:buClr>
              <a:buSzPts val="1400"/>
              <a:buFont typeface="Arial"/>
              <a:buNone/>
            </a:pPr>
            <a:r>
              <a:rPr b="0" i="0" lang="en" sz="1400" u="none" cap="none" strike="noStrike">
                <a:solidFill>
                  <a:srgbClr val="000000"/>
                </a:solidFill>
                <a:latin typeface="Dosis"/>
                <a:ea typeface="Dosis"/>
                <a:cs typeface="Dosis"/>
                <a:sym typeface="Dosis"/>
              </a:rPr>
              <a:t>Not in your textbook</a:t>
            </a:r>
            <a:endParaRPr b="0" i="0" sz="1400" u="none" cap="none" strike="noStrike">
              <a:solidFill>
                <a:srgbClr val="000000"/>
              </a:solidFill>
              <a:latin typeface="Dosis"/>
              <a:ea typeface="Dosis"/>
              <a:cs typeface="Dosis"/>
              <a:sym typeface="Dosi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5"/>
          <p:cNvSpPr txBox="1"/>
          <p:nvPr/>
        </p:nvSpPr>
        <p:spPr>
          <a:xfrm>
            <a:off x="550650" y="4497000"/>
            <a:ext cx="80427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graphicFrame>
        <p:nvGraphicFramePr>
          <p:cNvPr id="179" name="Google Shape;179;p5"/>
          <p:cNvGraphicFramePr/>
          <p:nvPr/>
        </p:nvGraphicFramePr>
        <p:xfrm>
          <a:off x="204775" y="247650"/>
          <a:ext cx="3000000" cy="3000000"/>
        </p:xfrm>
        <a:graphic>
          <a:graphicData uri="http://schemas.openxmlformats.org/drawingml/2006/table">
            <a:tbl>
              <a:tblPr>
                <a:noFill/>
                <a:tableStyleId>{E5558401-557A-411D-AF7C-896EABA07CAE}</a:tableStyleId>
              </a:tblPr>
              <a:tblGrid>
                <a:gridCol w="3082750"/>
                <a:gridCol w="3082750"/>
                <a:gridCol w="2568950"/>
              </a:tblGrid>
              <a:tr h="12700">
                <a:tc gridSpan="3">
                  <a:txBody>
                    <a:bodyPr/>
                    <a:lstStyle/>
                    <a:p>
                      <a:pPr indent="0" lvl="0" marL="0" marR="0" rtl="0" algn="ctr">
                        <a:lnSpc>
                          <a:spcPct val="100000"/>
                        </a:lnSpc>
                        <a:spcBef>
                          <a:spcPts val="0"/>
                        </a:spcBef>
                        <a:spcAft>
                          <a:spcPts val="0"/>
                        </a:spcAft>
                        <a:buClr>
                          <a:srgbClr val="000000"/>
                        </a:buClr>
                        <a:buSzPts val="1800"/>
                        <a:buFont typeface="Arial"/>
                        <a:buNone/>
                      </a:pPr>
                      <a:r>
                        <a:rPr b="1" lang="en" sz="1800" u="none" cap="none" strike="noStrike">
                          <a:solidFill>
                            <a:srgbClr val="FFFFFF"/>
                          </a:solidFill>
                          <a:latin typeface="Roboto"/>
                          <a:ea typeface="Roboto"/>
                          <a:cs typeface="Roboto"/>
                          <a:sym typeface="Roboto"/>
                        </a:rPr>
                        <a:t>Success Criteria</a:t>
                      </a:r>
                      <a:endParaRPr b="1" sz="1800" u="none" cap="none" strike="noStrike">
                        <a:solidFill>
                          <a:srgbClr val="FFFFFF"/>
                        </a:solidFill>
                        <a:latin typeface="Roboto"/>
                        <a:ea typeface="Roboto"/>
                        <a:cs typeface="Roboto"/>
                        <a:sym typeface="Roboto"/>
                      </a:endParaRPr>
                    </a:p>
                  </a:txBody>
                  <a:tcPr marT="63500" marB="63500" marR="63500" marL="63500">
                    <a:lnB cap="flat" cmpd="sng" w="12700">
                      <a:solidFill>
                        <a:srgbClr val="000000"/>
                      </a:solidFill>
                      <a:prstDash val="solid"/>
                      <a:round/>
                      <a:headEnd len="sm" w="sm" type="none"/>
                      <a:tailEnd len="sm" w="sm" type="none"/>
                    </a:lnB>
                  </a:tcPr>
                </a:tc>
                <a:tc hMerge="1"/>
                <a:tc hMerge="1"/>
              </a:tr>
              <a:tr h="12700">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towards</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at</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solidFill>
                            <a:srgbClr val="FFFFFF"/>
                          </a:solidFill>
                          <a:latin typeface="Roboto"/>
                          <a:ea typeface="Roboto"/>
                          <a:cs typeface="Roboto"/>
                          <a:sym typeface="Roboto"/>
                        </a:rPr>
                        <a:t>Working beyond</a:t>
                      </a:r>
                      <a:endParaRPr sz="1800" u="none" cap="none" strike="noStrike">
                        <a:solidFill>
                          <a:srgbClr val="FFFFFF"/>
                        </a:solidFill>
                        <a:latin typeface="Roboto"/>
                        <a:ea typeface="Roboto"/>
                        <a:cs typeface="Roboto"/>
                        <a:sym typeface="Roboto"/>
                      </a:endParaRPr>
                    </a:p>
                  </a:txBody>
                  <a:tcPr marT="63500" marB="63500" marR="63500" marL="63500">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explain that inherited characteristics are controlled by genes passed from parents to offspring via gametes.</a:t>
                      </a:r>
                      <a:endParaRPr sz="1800" u="none" cap="none" strike="noStrike">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describe the difference between dominant and recessive alleles using examples.</a:t>
                      </a:r>
                      <a:endParaRPr sz="1800" u="none" cap="none" strike="noStrike">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latin typeface="Roboto"/>
                          <a:ea typeface="Roboto"/>
                          <a:cs typeface="Roboto"/>
                          <a:sym typeface="Roboto"/>
                        </a:rPr>
                        <a:t>I can use genetic diagrams (Punnett squares) and pedigrees to predict inheritance patterns involving dominant and recessive alleles.</a:t>
                      </a:r>
                      <a:endParaRPr sz="1800" u="none" cap="none" strike="noStrike">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ed012705da_0_0"/>
          <p:cNvSpPr txBox="1"/>
          <p:nvPr>
            <p:ph type="ctrTitle"/>
          </p:nvPr>
        </p:nvSpPr>
        <p:spPr>
          <a:xfrm>
            <a:off x="685800" y="2525225"/>
            <a:ext cx="5309700" cy="1159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t/>
            </a:r>
            <a:endParaRPr/>
          </a:p>
        </p:txBody>
      </p:sp>
      <p:pic>
        <p:nvPicPr>
          <p:cNvPr id="185" name="Google Shape;185;g3ed012705da_0_0"/>
          <p:cNvPicPr preferRelativeResize="0"/>
          <p:nvPr/>
        </p:nvPicPr>
        <p:blipFill rotWithShape="1">
          <a:blip r:embed="rId3">
            <a:alphaModFix/>
          </a:blip>
          <a:srcRect b="0" l="0" r="0" t="0"/>
          <a:stretch/>
        </p:blipFill>
        <p:spPr>
          <a:xfrm>
            <a:off x="152400" y="152400"/>
            <a:ext cx="7332201" cy="4859475"/>
          </a:xfrm>
          <a:prstGeom prst="rect">
            <a:avLst/>
          </a:prstGeom>
          <a:noFill/>
          <a:ln>
            <a:noFill/>
          </a:ln>
        </p:spPr>
      </p:pic>
      <p:sp>
        <p:nvSpPr>
          <p:cNvPr id="186" name="Google Shape;186;g3ed012705da_0_0"/>
          <p:cNvSpPr/>
          <p:nvPr/>
        </p:nvSpPr>
        <p:spPr>
          <a:xfrm>
            <a:off x="254950" y="2718725"/>
            <a:ext cx="7127100" cy="772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6"/>
          <p:cNvPicPr preferRelativeResize="0"/>
          <p:nvPr/>
        </p:nvPicPr>
        <p:blipFill rotWithShape="1">
          <a:blip r:embed="rId3">
            <a:alphaModFix/>
          </a:blip>
          <a:srcRect b="0" l="0" r="0" t="0"/>
          <a:stretch/>
        </p:blipFill>
        <p:spPr>
          <a:xfrm>
            <a:off x="1390238" y="104450"/>
            <a:ext cx="6986974" cy="3504400"/>
          </a:xfrm>
          <a:prstGeom prst="rect">
            <a:avLst/>
          </a:prstGeom>
          <a:noFill/>
          <a:ln>
            <a:noFill/>
          </a:ln>
        </p:spPr>
      </p:pic>
      <p:sp>
        <p:nvSpPr>
          <p:cNvPr id="192" name="Google Shape;192;p6"/>
          <p:cNvSpPr txBox="1"/>
          <p:nvPr/>
        </p:nvSpPr>
        <p:spPr>
          <a:xfrm>
            <a:off x="754225" y="3699675"/>
            <a:ext cx="8389800" cy="106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6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I</a:t>
            </a:r>
            <a:r>
              <a:rPr b="0" i="0" lang="en" sz="1700" u="none" cap="none" strike="noStrike">
                <a:solidFill>
                  <a:schemeClr val="dk1"/>
                </a:solidFill>
                <a:latin typeface="Arial"/>
                <a:ea typeface="Arial"/>
                <a:cs typeface="Arial"/>
                <a:sym typeface="Arial"/>
              </a:rPr>
              <a:t>n most cells, chromosomes are matched in pairs based on their </a:t>
            </a:r>
            <a:r>
              <a:rPr b="1" i="0" lang="en" sz="1700" u="none" cap="none" strike="noStrike">
                <a:solidFill>
                  <a:schemeClr val="dk1"/>
                </a:solidFill>
                <a:latin typeface="Arial"/>
                <a:ea typeface="Arial"/>
                <a:cs typeface="Arial"/>
                <a:sym typeface="Arial"/>
              </a:rPr>
              <a:t>size and shape.</a:t>
            </a:r>
            <a:endParaRPr b="1" i="0" sz="17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 sz="1700" u="none" cap="none" strike="noStrike">
                <a:solidFill>
                  <a:schemeClr val="dk1"/>
                </a:solidFill>
                <a:latin typeface="Arial"/>
                <a:ea typeface="Arial"/>
                <a:cs typeface="Arial"/>
                <a:sym typeface="Arial"/>
              </a:rPr>
              <a:t>The 23rd pair of human chromosomes is special, these are called the _________</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Clr>
                <a:srgbClr val="000000"/>
              </a:buClr>
              <a:buSzPts val="1800"/>
              <a:buFont typeface="Arial"/>
              <a:buNone/>
            </a:pPr>
            <a:r>
              <a:rPr b="0" i="0" lang="en" sz="1700" u="none" cap="none" strike="noStrike">
                <a:solidFill>
                  <a:schemeClr val="dk1"/>
                </a:solidFill>
                <a:latin typeface="Arial"/>
                <a:ea typeface="Arial"/>
                <a:cs typeface="Arial"/>
                <a:sym typeface="Arial"/>
              </a:rPr>
              <a:t>__________________. They control the ____ of the fetus . </a:t>
            </a:r>
            <a:endParaRPr b="0" i="0" sz="1700" u="none" cap="none" strike="noStrike">
              <a:solidFill>
                <a:schemeClr val="dk1"/>
              </a:solidFill>
              <a:latin typeface="Arial"/>
              <a:ea typeface="Arial"/>
              <a:cs typeface="Arial"/>
              <a:sym typeface="Arial"/>
            </a:endParaRPr>
          </a:p>
        </p:txBody>
      </p:sp>
      <p:grpSp>
        <p:nvGrpSpPr>
          <p:cNvPr id="193" name="Google Shape;193;p6"/>
          <p:cNvGrpSpPr/>
          <p:nvPr/>
        </p:nvGrpSpPr>
        <p:grpSpPr>
          <a:xfrm>
            <a:off x="982250" y="4009275"/>
            <a:ext cx="7940925" cy="658575"/>
            <a:chOff x="982250" y="4009275"/>
            <a:chExt cx="7940925" cy="658575"/>
          </a:xfrm>
        </p:grpSpPr>
        <p:sp>
          <p:nvSpPr>
            <p:cNvPr id="194" name="Google Shape;194;p6"/>
            <p:cNvSpPr txBox="1"/>
            <p:nvPr/>
          </p:nvSpPr>
          <p:spPr>
            <a:xfrm>
              <a:off x="7856975" y="4009275"/>
              <a:ext cx="10662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60"/>
                </a:spcBef>
                <a:spcAft>
                  <a:spcPts val="0"/>
                </a:spcAft>
                <a:buClr>
                  <a:srgbClr val="000000"/>
                </a:buClr>
                <a:buSzPts val="1800"/>
                <a:buFont typeface="Arial"/>
                <a:buNone/>
              </a:pPr>
              <a:r>
                <a:rPr b="1" i="0" lang="en" sz="1800" u="none" cap="none" strike="noStrike">
                  <a:solidFill>
                    <a:srgbClr val="741B47"/>
                  </a:solidFill>
                  <a:latin typeface="Arial"/>
                  <a:ea typeface="Arial"/>
                  <a:cs typeface="Arial"/>
                  <a:sym typeface="Arial"/>
                </a:rPr>
                <a:t>sex</a:t>
              </a:r>
              <a:endParaRPr b="1" i="0" sz="1400" u="none" cap="none" strike="noStrike">
                <a:solidFill>
                  <a:srgbClr val="741B47"/>
                </a:solidFill>
                <a:latin typeface="Arial"/>
                <a:ea typeface="Arial"/>
                <a:cs typeface="Arial"/>
                <a:sym typeface="Arial"/>
              </a:endParaRPr>
            </a:p>
          </p:txBody>
        </p:sp>
        <p:sp>
          <p:nvSpPr>
            <p:cNvPr id="195" name="Google Shape;195;p6"/>
            <p:cNvSpPr txBox="1"/>
            <p:nvPr/>
          </p:nvSpPr>
          <p:spPr>
            <a:xfrm>
              <a:off x="982250" y="4306050"/>
              <a:ext cx="19908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60"/>
                </a:spcBef>
                <a:spcAft>
                  <a:spcPts val="0"/>
                </a:spcAft>
                <a:buClr>
                  <a:srgbClr val="000000"/>
                </a:buClr>
                <a:buSzPts val="1800"/>
                <a:buFont typeface="Arial"/>
                <a:buNone/>
              </a:pPr>
              <a:r>
                <a:rPr b="1" i="0" lang="en" sz="1800" u="none" cap="none" strike="noStrike">
                  <a:solidFill>
                    <a:srgbClr val="741B47"/>
                  </a:solidFill>
                  <a:latin typeface="Arial"/>
                  <a:ea typeface="Arial"/>
                  <a:cs typeface="Arial"/>
                  <a:sym typeface="Arial"/>
                </a:rPr>
                <a:t>chromosomes</a:t>
              </a:r>
              <a:endParaRPr b="1" i="0" sz="1400" u="none" cap="none" strike="noStrike">
                <a:solidFill>
                  <a:srgbClr val="741B47"/>
                </a:solidFill>
                <a:latin typeface="Arial"/>
                <a:ea typeface="Arial"/>
                <a:cs typeface="Arial"/>
                <a:sym typeface="Arial"/>
              </a:endParaRPr>
            </a:p>
          </p:txBody>
        </p:sp>
      </p:grpSp>
      <p:sp>
        <p:nvSpPr>
          <p:cNvPr id="196" name="Google Shape;196;p6"/>
          <p:cNvSpPr/>
          <p:nvPr/>
        </p:nvSpPr>
        <p:spPr>
          <a:xfrm rot="-689618">
            <a:off x="347396" y="1416209"/>
            <a:ext cx="3596828" cy="1666623"/>
          </a:xfrm>
          <a:prstGeom prst="roundRect">
            <a:avLst>
              <a:gd fmla="val 16667" name="adj"/>
            </a:avLst>
          </a:prstGeom>
          <a:solidFill>
            <a:srgbClr val="0A95B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FFFFFF"/>
                </a:solidFill>
                <a:latin typeface="Arial"/>
                <a:ea typeface="Arial"/>
                <a:cs typeface="Arial"/>
                <a:sym typeface="Arial"/>
              </a:rPr>
              <a:t>Does this set of chromosomes come from a male or female?</a:t>
            </a:r>
            <a:endParaRPr b="1" i="0" sz="2400" u="none" cap="none" strike="noStrike">
              <a:solidFill>
                <a:srgbClr val="FFFFFF"/>
              </a:solidFill>
              <a:latin typeface="Arial"/>
              <a:ea typeface="Arial"/>
              <a:cs typeface="Arial"/>
              <a:sym typeface="Arial"/>
            </a:endParaRPr>
          </a:p>
        </p:txBody>
      </p:sp>
      <p:sp>
        <p:nvSpPr>
          <p:cNvPr id="197" name="Google Shape;197;p6"/>
          <p:cNvSpPr txBox="1"/>
          <p:nvPr/>
        </p:nvSpPr>
        <p:spPr>
          <a:xfrm>
            <a:off x="4623613" y="4306050"/>
            <a:ext cx="1066200" cy="36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60"/>
              </a:spcBef>
              <a:spcAft>
                <a:spcPts val="0"/>
              </a:spcAft>
              <a:buClr>
                <a:srgbClr val="000000"/>
              </a:buClr>
              <a:buSzPts val="1800"/>
              <a:buFont typeface="Arial"/>
              <a:buNone/>
            </a:pPr>
            <a:r>
              <a:rPr b="1" i="0" lang="en" sz="1800" u="none" cap="none" strike="noStrike">
                <a:solidFill>
                  <a:srgbClr val="741B47"/>
                </a:solidFill>
                <a:latin typeface="Arial"/>
                <a:ea typeface="Arial"/>
                <a:cs typeface="Arial"/>
                <a:sym typeface="Arial"/>
              </a:rPr>
              <a:t>sex</a:t>
            </a:r>
            <a:endParaRPr b="1" i="0" sz="1400" u="none" cap="none" strike="noStrike">
              <a:solidFill>
                <a:srgbClr val="741B47"/>
              </a:solidFill>
              <a:latin typeface="Arial"/>
              <a:ea typeface="Arial"/>
              <a:cs typeface="Arial"/>
              <a:sym typeface="Arial"/>
            </a:endParaRPr>
          </a:p>
        </p:txBody>
      </p:sp>
      <p:pic>
        <p:nvPicPr>
          <p:cNvPr id="198" name="Google Shape;198;p6"/>
          <p:cNvPicPr preferRelativeResize="0"/>
          <p:nvPr/>
        </p:nvPicPr>
        <p:blipFill rotWithShape="1">
          <a:blip r:embed="rId4">
            <a:alphaModFix/>
          </a:blip>
          <a:srcRect b="0" l="0" r="0" t="0"/>
          <a:stretch/>
        </p:blipFill>
        <p:spPr>
          <a:xfrm>
            <a:off x="57150" y="1192475"/>
            <a:ext cx="561976" cy="502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txBox="1"/>
          <p:nvPr>
            <p:ph idx="12" type="sldNum"/>
          </p:nvPr>
        </p:nvSpPr>
        <p:spPr>
          <a:xfrm>
            <a:off x="-75" y="0"/>
            <a:ext cx="1851600" cy="1140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400"/>
              <a:buNone/>
            </a:pPr>
            <a:r>
              <a:rPr lang="en"/>
              <a:t>Gregor Mendel</a:t>
            </a:r>
            <a:endParaRPr/>
          </a:p>
        </p:txBody>
      </p:sp>
      <p:sp>
        <p:nvSpPr>
          <p:cNvPr id="204" name="Google Shape;204;p7"/>
          <p:cNvSpPr txBox="1"/>
          <p:nvPr/>
        </p:nvSpPr>
        <p:spPr>
          <a:xfrm>
            <a:off x="-75" y="1212700"/>
            <a:ext cx="1851600" cy="21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1800" u="none" cap="none" strike="noStrike">
                <a:solidFill>
                  <a:srgbClr val="000000"/>
                </a:solidFill>
                <a:latin typeface="Roboto"/>
                <a:ea typeface="Roboto"/>
                <a:cs typeface="Roboto"/>
                <a:sym typeface="Roboto"/>
              </a:rPr>
              <a:t>Gregor Mendel, through his work on pea plants, discovered the fundamental laws of inheritance. </a:t>
            </a:r>
            <a:endParaRPr b="0" i="0" sz="1800" u="none" cap="none" strike="noStrike">
              <a:solidFill>
                <a:srgbClr val="000000"/>
              </a:solidFill>
              <a:latin typeface="Roboto"/>
              <a:ea typeface="Roboto"/>
              <a:cs typeface="Roboto"/>
              <a:sym typeface="Roboto"/>
            </a:endParaRPr>
          </a:p>
        </p:txBody>
      </p:sp>
      <p:pic>
        <p:nvPicPr>
          <p:cNvPr id="205" name="Google Shape;205;p7"/>
          <p:cNvPicPr preferRelativeResize="0"/>
          <p:nvPr/>
        </p:nvPicPr>
        <p:blipFill rotWithShape="1">
          <a:blip r:embed="rId3">
            <a:alphaModFix/>
          </a:blip>
          <a:srcRect b="0" l="0" r="0" t="0"/>
          <a:stretch/>
        </p:blipFill>
        <p:spPr>
          <a:xfrm>
            <a:off x="95062" y="3522750"/>
            <a:ext cx="1661325" cy="1620750"/>
          </a:xfrm>
          <a:prstGeom prst="rect">
            <a:avLst/>
          </a:prstGeom>
          <a:noFill/>
          <a:ln>
            <a:noFill/>
          </a:ln>
        </p:spPr>
      </p:pic>
      <p:pic>
        <p:nvPicPr>
          <p:cNvPr descr="View full lesson: http://ed.ted.com/lessons/how-mendel-s-pea-plants-helped-us-understand-genetics-hortensia-jimenez-diaz&#10;&#10;Each father and mother pass down traits to their children, who inherit combinations of their dominant or recessive alleles. But how do we know so much about genetics today? Hortensia Jiménez Díaz explains how studying pea plants revealed why you may have blue eyes.&#10;&#10;Lesson by Hortensia Jiménez Díaz, animation by Cinematic Sweden." id="206" name="Google Shape;206;p7" title="How Mendel's pea plants helped us understand genetics - Hortensia Jiménez Díaz">
            <a:hlinkClick r:id="rId4"/>
          </p:cNvPr>
          <p:cNvPicPr preferRelativeResize="0"/>
          <p:nvPr/>
        </p:nvPicPr>
        <p:blipFill rotWithShape="1">
          <a:blip r:embed="rId5">
            <a:alphaModFix/>
          </a:blip>
          <a:srcRect b="0" l="0" r="0" t="0"/>
          <a:stretch/>
        </p:blipFill>
        <p:spPr>
          <a:xfrm>
            <a:off x="1937250" y="144575"/>
            <a:ext cx="7140075" cy="40162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idx="1" type="body"/>
          </p:nvPr>
        </p:nvSpPr>
        <p:spPr>
          <a:xfrm>
            <a:off x="50200" y="1158675"/>
            <a:ext cx="1726800" cy="371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b="1" lang="en" sz="1500">
                <a:solidFill>
                  <a:schemeClr val="dk1"/>
                </a:solidFill>
                <a:highlight>
                  <a:srgbClr val="CCFFFF"/>
                </a:highlight>
                <a:latin typeface="Roboto"/>
                <a:ea typeface="Roboto"/>
                <a:cs typeface="Roboto"/>
                <a:sym typeface="Roboto"/>
              </a:rPr>
              <a:t>Allele</a:t>
            </a:r>
            <a:r>
              <a:rPr lang="en" sz="1500">
                <a:solidFill>
                  <a:schemeClr val="dk1"/>
                </a:solidFill>
                <a:latin typeface="Roboto"/>
                <a:ea typeface="Roboto"/>
                <a:cs typeface="Roboto"/>
                <a:sym typeface="Roboto"/>
              </a:rPr>
              <a:t> = Different version of the same gene</a:t>
            </a:r>
            <a:endParaRPr sz="1500">
              <a:solidFill>
                <a:schemeClr val="dk1"/>
              </a:solidFill>
              <a:latin typeface="Roboto"/>
              <a:ea typeface="Roboto"/>
              <a:cs typeface="Roboto"/>
              <a:sym typeface="Roboto"/>
            </a:endParaRPr>
          </a:p>
          <a:p>
            <a:pPr indent="0" lvl="0" marL="0" marR="0" rtl="0" algn="l">
              <a:lnSpc>
                <a:spcPct val="115000"/>
              </a:lnSpc>
              <a:spcBef>
                <a:spcPts val="900"/>
              </a:spcBef>
              <a:spcAft>
                <a:spcPts val="0"/>
              </a:spcAft>
              <a:buClr>
                <a:srgbClr val="000000"/>
              </a:buClr>
              <a:buSzPts val="1100"/>
              <a:buFont typeface="Arial"/>
              <a:buNone/>
            </a:pPr>
            <a:r>
              <a:rPr b="1" lang="en" sz="1500">
                <a:solidFill>
                  <a:schemeClr val="dk1"/>
                </a:solidFill>
                <a:highlight>
                  <a:srgbClr val="CCFFFF"/>
                </a:highlight>
                <a:latin typeface="Roboto"/>
                <a:ea typeface="Roboto"/>
                <a:cs typeface="Roboto"/>
                <a:sym typeface="Roboto"/>
              </a:rPr>
              <a:t>Dominant</a:t>
            </a:r>
            <a:r>
              <a:rPr lang="en" sz="1500">
                <a:solidFill>
                  <a:schemeClr val="dk1"/>
                </a:solidFill>
                <a:latin typeface="Roboto"/>
                <a:ea typeface="Roboto"/>
                <a:cs typeface="Roboto"/>
                <a:sym typeface="Roboto"/>
              </a:rPr>
              <a:t> = only needs </a:t>
            </a:r>
            <a:r>
              <a:rPr b="1" lang="en" sz="1500">
                <a:solidFill>
                  <a:schemeClr val="dk1"/>
                </a:solidFill>
                <a:latin typeface="Roboto"/>
                <a:ea typeface="Roboto"/>
                <a:cs typeface="Roboto"/>
                <a:sym typeface="Roboto"/>
              </a:rPr>
              <a:t>1 copy</a:t>
            </a:r>
            <a:r>
              <a:rPr lang="en" sz="1500">
                <a:solidFill>
                  <a:schemeClr val="dk1"/>
                </a:solidFill>
                <a:latin typeface="Roboto"/>
                <a:ea typeface="Roboto"/>
                <a:cs typeface="Roboto"/>
                <a:sym typeface="Roboto"/>
              </a:rPr>
              <a:t> of the allele to display the characteristic</a:t>
            </a:r>
            <a:endParaRPr sz="1500">
              <a:solidFill>
                <a:schemeClr val="dk1"/>
              </a:solidFill>
              <a:latin typeface="Roboto"/>
              <a:ea typeface="Roboto"/>
              <a:cs typeface="Roboto"/>
              <a:sym typeface="Roboto"/>
            </a:endParaRPr>
          </a:p>
          <a:p>
            <a:pPr indent="0" lvl="0" marL="0" rtl="0" algn="l">
              <a:lnSpc>
                <a:spcPct val="115000"/>
              </a:lnSpc>
              <a:spcBef>
                <a:spcPts val="900"/>
              </a:spcBef>
              <a:spcAft>
                <a:spcPts val="600"/>
              </a:spcAft>
              <a:buSzPts val="1200"/>
              <a:buNone/>
            </a:pPr>
            <a:r>
              <a:rPr b="1" lang="en" sz="1500">
                <a:solidFill>
                  <a:schemeClr val="dk1"/>
                </a:solidFill>
                <a:highlight>
                  <a:srgbClr val="CCFFFF"/>
                </a:highlight>
                <a:latin typeface="Roboto"/>
                <a:ea typeface="Roboto"/>
                <a:cs typeface="Roboto"/>
                <a:sym typeface="Roboto"/>
              </a:rPr>
              <a:t>Recessive</a:t>
            </a:r>
            <a:r>
              <a:rPr lang="en" sz="1500">
                <a:solidFill>
                  <a:schemeClr val="dk1"/>
                </a:solidFill>
                <a:latin typeface="Roboto"/>
                <a:ea typeface="Roboto"/>
                <a:cs typeface="Roboto"/>
                <a:sym typeface="Roboto"/>
              </a:rPr>
              <a:t> = needs </a:t>
            </a:r>
            <a:r>
              <a:rPr b="1" lang="en" sz="1500">
                <a:solidFill>
                  <a:schemeClr val="dk1"/>
                </a:solidFill>
                <a:latin typeface="Roboto"/>
                <a:ea typeface="Roboto"/>
                <a:cs typeface="Roboto"/>
                <a:sym typeface="Roboto"/>
              </a:rPr>
              <a:t>2 copies</a:t>
            </a:r>
            <a:r>
              <a:rPr lang="en" sz="1500">
                <a:solidFill>
                  <a:schemeClr val="dk1"/>
                </a:solidFill>
                <a:latin typeface="Roboto"/>
                <a:ea typeface="Roboto"/>
                <a:cs typeface="Roboto"/>
                <a:sym typeface="Roboto"/>
              </a:rPr>
              <a:t> of a recessive allele to display the characteristic</a:t>
            </a:r>
            <a:endParaRPr sz="1500">
              <a:latin typeface="Roboto"/>
              <a:ea typeface="Roboto"/>
              <a:cs typeface="Roboto"/>
              <a:sym typeface="Roboto"/>
            </a:endParaRPr>
          </a:p>
        </p:txBody>
      </p:sp>
      <p:grpSp>
        <p:nvGrpSpPr>
          <p:cNvPr id="212" name="Google Shape;212;p10"/>
          <p:cNvGrpSpPr/>
          <p:nvPr/>
        </p:nvGrpSpPr>
        <p:grpSpPr>
          <a:xfrm>
            <a:off x="2286000" y="154275"/>
            <a:ext cx="1726800" cy="4834955"/>
            <a:chOff x="2286000" y="154275"/>
            <a:chExt cx="1726800" cy="4834955"/>
          </a:xfrm>
        </p:grpSpPr>
        <p:pic>
          <p:nvPicPr>
            <p:cNvPr id="213" name="Google Shape;213;p10"/>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14" name="Google Shape;214;p10"/>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0"/>
          <p:cNvGrpSpPr/>
          <p:nvPr/>
        </p:nvGrpSpPr>
        <p:grpSpPr>
          <a:xfrm>
            <a:off x="4649850" y="154275"/>
            <a:ext cx="1726800" cy="4834955"/>
            <a:chOff x="2286000" y="154275"/>
            <a:chExt cx="1726800" cy="4834955"/>
          </a:xfrm>
        </p:grpSpPr>
        <p:pic>
          <p:nvPicPr>
            <p:cNvPr id="217" name="Google Shape;217;p10"/>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18" name="Google Shape;218;p10"/>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0"/>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10"/>
          <p:cNvGrpSpPr/>
          <p:nvPr/>
        </p:nvGrpSpPr>
        <p:grpSpPr>
          <a:xfrm>
            <a:off x="6914300" y="154275"/>
            <a:ext cx="1726800" cy="4834955"/>
            <a:chOff x="2286000" y="154275"/>
            <a:chExt cx="1726800" cy="4834955"/>
          </a:xfrm>
        </p:grpSpPr>
        <p:pic>
          <p:nvPicPr>
            <p:cNvPr id="221" name="Google Shape;221;p10"/>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22" name="Google Shape;222;p10"/>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3" name="Google Shape;223;p10"/>
          <p:cNvSpPr/>
          <p:nvPr/>
        </p:nvSpPr>
        <p:spPr>
          <a:xfrm>
            <a:off x="7228200" y="71875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0"/>
          <p:cNvSpPr txBox="1"/>
          <p:nvPr/>
        </p:nvSpPr>
        <p:spPr>
          <a:xfrm>
            <a:off x="2464025" y="4300575"/>
            <a:ext cx="1498800" cy="447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25" name="Google Shape;225;p10"/>
          <p:cNvSpPr txBox="1"/>
          <p:nvPr/>
        </p:nvSpPr>
        <p:spPr>
          <a:xfrm>
            <a:off x="4867275" y="4300575"/>
            <a:ext cx="1452300" cy="57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26" name="Google Shape;226;p10"/>
          <p:cNvSpPr txBox="1"/>
          <p:nvPr/>
        </p:nvSpPr>
        <p:spPr>
          <a:xfrm>
            <a:off x="7013700" y="4321625"/>
            <a:ext cx="1612800" cy="447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27" name="Google Shape;227;p10"/>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a:t>Which allele is dominant?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11"/>
          <p:cNvPicPr preferRelativeResize="0"/>
          <p:nvPr/>
        </p:nvPicPr>
        <p:blipFill rotWithShape="1">
          <a:blip r:embed="rId3">
            <a:alphaModFix/>
          </a:blip>
          <a:srcRect b="0" l="0" r="0" t="0"/>
          <a:stretch/>
        </p:blipFill>
        <p:spPr>
          <a:xfrm>
            <a:off x="3531550" y="2690868"/>
            <a:ext cx="3306924" cy="1433025"/>
          </a:xfrm>
          <a:prstGeom prst="rect">
            <a:avLst/>
          </a:prstGeom>
          <a:noFill/>
          <a:ln>
            <a:noFill/>
          </a:ln>
        </p:spPr>
      </p:pic>
      <p:grpSp>
        <p:nvGrpSpPr>
          <p:cNvPr id="233" name="Google Shape;233;p11"/>
          <p:cNvGrpSpPr/>
          <p:nvPr/>
        </p:nvGrpSpPr>
        <p:grpSpPr>
          <a:xfrm>
            <a:off x="1466036" y="154281"/>
            <a:ext cx="1358301" cy="3796890"/>
            <a:chOff x="2286000" y="154275"/>
            <a:chExt cx="1726800" cy="4834955"/>
          </a:xfrm>
        </p:grpSpPr>
        <p:pic>
          <p:nvPicPr>
            <p:cNvPr id="234" name="Google Shape;234;p11"/>
            <p:cNvPicPr preferRelativeResize="0"/>
            <p:nvPr/>
          </p:nvPicPr>
          <p:blipFill rotWithShape="1">
            <a:blip r:embed="rId4">
              <a:alphaModFix/>
            </a:blip>
            <a:srcRect b="0" l="50032" r="0" t="0"/>
            <a:stretch/>
          </p:blipFill>
          <p:spPr>
            <a:xfrm>
              <a:off x="2286000" y="154275"/>
              <a:ext cx="1726800" cy="4834955"/>
            </a:xfrm>
            <a:prstGeom prst="rect">
              <a:avLst/>
            </a:prstGeom>
            <a:noFill/>
            <a:ln>
              <a:noFill/>
            </a:ln>
          </p:spPr>
        </p:pic>
        <p:sp>
          <p:nvSpPr>
            <p:cNvPr id="235" name="Google Shape;235;p11"/>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 name="Google Shape;237;p11"/>
          <p:cNvSpPr/>
          <p:nvPr/>
        </p:nvSpPr>
        <p:spPr>
          <a:xfrm rot="7687966">
            <a:off x="3035517" y="341645"/>
            <a:ext cx="315797" cy="3035959"/>
          </a:xfrm>
          <a:prstGeom prst="upArrow">
            <a:avLst>
              <a:gd fmla="val 50000" name="adj1"/>
              <a:gd fmla="val 50000" name="adj2"/>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rot="7687966">
            <a:off x="3950111" y="245327"/>
            <a:ext cx="315797" cy="3539360"/>
          </a:xfrm>
          <a:prstGeom prst="upArrow">
            <a:avLst>
              <a:gd fmla="val 50000" name="adj1"/>
              <a:gd fmla="val 50000" name="adj2"/>
            </a:avLst>
          </a:prstGeom>
          <a:solidFill>
            <a:srgbClr val="00FFFF"/>
          </a:solidFill>
          <a:ln cap="flat" cmpd="sng" w="9525">
            <a:solidFill>
              <a:srgbClr val="0DB7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1"/>
          <p:cNvSpPr txBox="1"/>
          <p:nvPr/>
        </p:nvSpPr>
        <p:spPr>
          <a:xfrm>
            <a:off x="3847175" y="63925"/>
            <a:ext cx="4934400" cy="126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Genes are represented with a letter</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5A3E06"/>
                </a:solidFill>
                <a:latin typeface="Arial"/>
                <a:ea typeface="Arial"/>
                <a:cs typeface="Arial"/>
                <a:sym typeface="Arial"/>
              </a:rPr>
              <a:t>Dominant </a:t>
            </a:r>
            <a:r>
              <a:rPr b="0" i="0" lang="en" sz="2400" u="none" cap="none" strike="noStrike">
                <a:solidFill>
                  <a:srgbClr val="000000"/>
                </a:solidFill>
                <a:latin typeface="Arial"/>
                <a:ea typeface="Arial"/>
                <a:cs typeface="Arial"/>
                <a:sym typeface="Arial"/>
              </a:rPr>
              <a:t>= Capital (B)</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recessive</a:t>
            </a:r>
            <a:r>
              <a:rPr b="0" i="0" lang="en" sz="2400" u="none" cap="none" strike="noStrike">
                <a:solidFill>
                  <a:srgbClr val="000000"/>
                </a:solidFill>
                <a:latin typeface="Arial"/>
                <a:ea typeface="Arial"/>
                <a:cs typeface="Arial"/>
                <a:sym typeface="Arial"/>
              </a:rPr>
              <a:t> = lower case (b)</a:t>
            </a:r>
            <a:endParaRPr b="0" i="0" sz="2400" u="none" cap="none" strike="noStrike">
              <a:solidFill>
                <a:srgbClr val="000000"/>
              </a:solidFill>
              <a:latin typeface="Arial"/>
              <a:ea typeface="Arial"/>
              <a:cs typeface="Arial"/>
              <a:sym typeface="Arial"/>
            </a:endParaRPr>
          </a:p>
        </p:txBody>
      </p:sp>
      <p:sp>
        <p:nvSpPr>
          <p:cNvPr id="240" name="Google Shape;240;p11"/>
          <p:cNvSpPr txBox="1"/>
          <p:nvPr/>
        </p:nvSpPr>
        <p:spPr>
          <a:xfrm>
            <a:off x="6209075" y="1884775"/>
            <a:ext cx="2781600" cy="170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2400" u="none" cap="none" strike="noStrike">
                <a:solidFill>
                  <a:srgbClr val="000000"/>
                </a:solidFill>
                <a:latin typeface="Arial"/>
                <a:ea typeface="Arial"/>
                <a:cs typeface="Arial"/>
                <a:sym typeface="Arial"/>
              </a:rPr>
              <a:t>The </a:t>
            </a:r>
            <a:r>
              <a:rPr b="1" i="0" lang="en" sz="2400" u="none" cap="none" strike="noStrike">
                <a:solidFill>
                  <a:srgbClr val="000000"/>
                </a:solidFill>
                <a:latin typeface="Arial"/>
                <a:ea typeface="Arial"/>
                <a:cs typeface="Arial"/>
                <a:sym typeface="Arial"/>
              </a:rPr>
              <a:t>dominant allele</a:t>
            </a:r>
            <a:r>
              <a:rPr b="0" i="0" lang="en" sz="2400" u="none" cap="none" strike="noStrike">
                <a:solidFill>
                  <a:srgbClr val="000000"/>
                </a:solidFill>
                <a:latin typeface="Arial"/>
                <a:ea typeface="Arial"/>
                <a:cs typeface="Arial"/>
                <a:sym typeface="Arial"/>
              </a:rPr>
              <a:t> is expressed even if there is only one present. </a:t>
            </a:r>
            <a:endParaRPr b="0" i="0" sz="2400" u="none" cap="none" strike="noStrike">
              <a:solidFill>
                <a:srgbClr val="000000"/>
              </a:solidFill>
              <a:latin typeface="Arial"/>
              <a:ea typeface="Arial"/>
              <a:cs typeface="Arial"/>
              <a:sym typeface="Arial"/>
            </a:endParaRPr>
          </a:p>
        </p:txBody>
      </p:sp>
      <p:pic>
        <p:nvPicPr>
          <p:cNvPr id="241" name="Google Shape;241;p11"/>
          <p:cNvPicPr preferRelativeResize="0"/>
          <p:nvPr/>
        </p:nvPicPr>
        <p:blipFill rotWithShape="1">
          <a:blip r:embed="rId5">
            <a:alphaModFix/>
          </a:blip>
          <a:srcRect b="6462" l="5651" r="0" t="71092"/>
          <a:stretch/>
        </p:blipFill>
        <p:spPr>
          <a:xfrm>
            <a:off x="819325" y="4043200"/>
            <a:ext cx="8171350" cy="1024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grpSp>
        <p:nvGrpSpPr>
          <p:cNvPr id="246" name="Google Shape;246;p12"/>
          <p:cNvGrpSpPr/>
          <p:nvPr/>
        </p:nvGrpSpPr>
        <p:grpSpPr>
          <a:xfrm>
            <a:off x="1985950" y="154275"/>
            <a:ext cx="1726800" cy="4834955"/>
            <a:chOff x="2286000" y="154275"/>
            <a:chExt cx="1726800" cy="4834955"/>
          </a:xfrm>
        </p:grpSpPr>
        <p:pic>
          <p:nvPicPr>
            <p:cNvPr id="247" name="Google Shape;247;p12"/>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48" name="Google Shape;248;p12"/>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2"/>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 name="Google Shape;250;p12"/>
          <p:cNvSpPr txBox="1"/>
          <p:nvPr>
            <p:ph idx="1" type="body"/>
          </p:nvPr>
        </p:nvSpPr>
        <p:spPr>
          <a:xfrm>
            <a:off x="0" y="1140000"/>
            <a:ext cx="1924200" cy="3911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900"/>
              </a:spcBef>
              <a:spcAft>
                <a:spcPts val="0"/>
              </a:spcAft>
              <a:buClr>
                <a:srgbClr val="000000"/>
              </a:buClr>
              <a:buSzPts val="1100"/>
              <a:buFont typeface="Arial"/>
              <a:buNone/>
            </a:pPr>
            <a:r>
              <a:rPr b="1" lang="en" sz="1400">
                <a:solidFill>
                  <a:schemeClr val="dk1"/>
                </a:solidFill>
                <a:highlight>
                  <a:srgbClr val="CCFFFF"/>
                </a:highlight>
                <a:latin typeface="Roboto"/>
                <a:ea typeface="Roboto"/>
                <a:cs typeface="Roboto"/>
                <a:sym typeface="Roboto"/>
              </a:rPr>
              <a:t>Genotype</a:t>
            </a:r>
            <a:r>
              <a:rPr lang="en" sz="1400">
                <a:solidFill>
                  <a:schemeClr val="dk1"/>
                </a:solidFill>
                <a:latin typeface="Roboto"/>
                <a:ea typeface="Roboto"/>
                <a:cs typeface="Roboto"/>
                <a:sym typeface="Roboto"/>
              </a:rPr>
              <a:t> – the combination of alleles a person has</a:t>
            </a:r>
            <a:endParaRPr sz="1400">
              <a:solidFill>
                <a:schemeClr val="dk1"/>
              </a:solidFill>
              <a:latin typeface="Roboto"/>
              <a:ea typeface="Roboto"/>
              <a:cs typeface="Roboto"/>
              <a:sym typeface="Roboto"/>
            </a:endParaRPr>
          </a:p>
          <a:p>
            <a:pPr indent="0" lvl="0" marL="0" marR="0" rtl="0" algn="l">
              <a:lnSpc>
                <a:spcPct val="115000"/>
              </a:lnSpc>
              <a:spcBef>
                <a:spcPts val="900"/>
              </a:spcBef>
              <a:spcAft>
                <a:spcPts val="0"/>
              </a:spcAft>
              <a:buClr>
                <a:srgbClr val="000000"/>
              </a:buClr>
              <a:buSzPts val="1100"/>
              <a:buFont typeface="Arial"/>
              <a:buNone/>
            </a:pPr>
            <a:r>
              <a:rPr b="1" lang="en" sz="1400">
                <a:solidFill>
                  <a:schemeClr val="dk1"/>
                </a:solidFill>
                <a:highlight>
                  <a:srgbClr val="CCFFFF"/>
                </a:highlight>
                <a:latin typeface="Roboto"/>
                <a:ea typeface="Roboto"/>
                <a:cs typeface="Roboto"/>
                <a:sym typeface="Roboto"/>
              </a:rPr>
              <a:t>Homozygous </a:t>
            </a:r>
            <a:r>
              <a:rPr lang="en" sz="1400">
                <a:solidFill>
                  <a:schemeClr val="dk1"/>
                </a:solidFill>
                <a:latin typeface="Roboto"/>
                <a:ea typeface="Roboto"/>
                <a:cs typeface="Roboto"/>
                <a:sym typeface="Roboto"/>
              </a:rPr>
              <a:t>– when both </a:t>
            </a:r>
            <a:r>
              <a:rPr b="1" lang="en" sz="1400">
                <a:solidFill>
                  <a:schemeClr val="dk1"/>
                </a:solidFill>
                <a:latin typeface="Roboto"/>
                <a:ea typeface="Roboto"/>
                <a:cs typeface="Roboto"/>
                <a:sym typeface="Roboto"/>
              </a:rPr>
              <a:t>alleles</a:t>
            </a:r>
            <a:r>
              <a:rPr lang="en" sz="1400">
                <a:solidFill>
                  <a:schemeClr val="dk1"/>
                </a:solidFill>
                <a:latin typeface="Roboto"/>
                <a:ea typeface="Roboto"/>
                <a:cs typeface="Roboto"/>
                <a:sym typeface="Roboto"/>
              </a:rPr>
              <a:t> a person has </a:t>
            </a:r>
            <a:r>
              <a:rPr b="1" lang="en" sz="1400">
                <a:solidFill>
                  <a:schemeClr val="dk1"/>
                </a:solidFill>
                <a:latin typeface="Roboto"/>
                <a:ea typeface="Roboto"/>
                <a:cs typeface="Roboto"/>
                <a:sym typeface="Roboto"/>
              </a:rPr>
              <a:t>are the same</a:t>
            </a:r>
            <a:endParaRPr b="1" sz="1400">
              <a:solidFill>
                <a:schemeClr val="dk1"/>
              </a:solidFill>
              <a:latin typeface="Roboto"/>
              <a:ea typeface="Roboto"/>
              <a:cs typeface="Roboto"/>
              <a:sym typeface="Roboto"/>
            </a:endParaRPr>
          </a:p>
          <a:p>
            <a:pPr indent="0" lvl="0" marL="0" marR="0" rtl="0" algn="l">
              <a:lnSpc>
                <a:spcPct val="115000"/>
              </a:lnSpc>
              <a:spcBef>
                <a:spcPts val="900"/>
              </a:spcBef>
              <a:spcAft>
                <a:spcPts val="0"/>
              </a:spcAft>
              <a:buClr>
                <a:srgbClr val="000000"/>
              </a:buClr>
              <a:buSzPts val="1100"/>
              <a:buFont typeface="Arial"/>
              <a:buNone/>
            </a:pPr>
            <a:r>
              <a:rPr b="1" lang="en" sz="1400">
                <a:solidFill>
                  <a:schemeClr val="dk1"/>
                </a:solidFill>
                <a:highlight>
                  <a:srgbClr val="CCFFFF"/>
                </a:highlight>
                <a:latin typeface="Roboto"/>
                <a:ea typeface="Roboto"/>
                <a:cs typeface="Roboto"/>
                <a:sym typeface="Roboto"/>
              </a:rPr>
              <a:t>Heterozygous</a:t>
            </a:r>
            <a:r>
              <a:rPr b="1" lang="en" sz="1400">
                <a:solidFill>
                  <a:schemeClr val="dk1"/>
                </a:solidFill>
                <a:latin typeface="Roboto"/>
                <a:ea typeface="Roboto"/>
                <a:cs typeface="Roboto"/>
                <a:sym typeface="Roboto"/>
              </a:rPr>
              <a:t>  - </a:t>
            </a:r>
            <a:r>
              <a:rPr lang="en" sz="1400">
                <a:solidFill>
                  <a:schemeClr val="dk1"/>
                </a:solidFill>
                <a:latin typeface="Roboto"/>
                <a:ea typeface="Roboto"/>
                <a:cs typeface="Roboto"/>
                <a:sym typeface="Roboto"/>
              </a:rPr>
              <a:t>when a person has </a:t>
            </a:r>
            <a:r>
              <a:rPr b="1" lang="en" sz="1400">
                <a:solidFill>
                  <a:schemeClr val="dk1"/>
                </a:solidFill>
                <a:latin typeface="Roboto"/>
                <a:ea typeface="Roboto"/>
                <a:cs typeface="Roboto"/>
                <a:sym typeface="Roboto"/>
              </a:rPr>
              <a:t>two different alleles</a:t>
            </a:r>
            <a:r>
              <a:rPr lang="en" sz="1400">
                <a:solidFill>
                  <a:schemeClr val="dk1"/>
                </a:solidFill>
                <a:latin typeface="Roboto"/>
                <a:ea typeface="Roboto"/>
                <a:cs typeface="Roboto"/>
                <a:sym typeface="Roboto"/>
              </a:rPr>
              <a:t> for the same gene</a:t>
            </a:r>
            <a:endParaRPr sz="1400">
              <a:solidFill>
                <a:schemeClr val="dk1"/>
              </a:solidFill>
              <a:latin typeface="Roboto"/>
              <a:ea typeface="Roboto"/>
              <a:cs typeface="Roboto"/>
              <a:sym typeface="Roboto"/>
            </a:endParaRPr>
          </a:p>
          <a:p>
            <a:pPr indent="0" lvl="0" marL="0" marR="0" rtl="0" algn="l">
              <a:lnSpc>
                <a:spcPct val="115000"/>
              </a:lnSpc>
              <a:spcBef>
                <a:spcPts val="900"/>
              </a:spcBef>
              <a:spcAft>
                <a:spcPts val="600"/>
              </a:spcAft>
              <a:buSzPts val="1200"/>
              <a:buNone/>
            </a:pPr>
            <a:r>
              <a:rPr b="1" lang="en" sz="1400">
                <a:solidFill>
                  <a:schemeClr val="dk1"/>
                </a:solidFill>
                <a:highlight>
                  <a:srgbClr val="CCFFFF"/>
                </a:highlight>
                <a:latin typeface="Roboto"/>
                <a:ea typeface="Roboto"/>
                <a:cs typeface="Roboto"/>
                <a:sym typeface="Roboto"/>
              </a:rPr>
              <a:t>Phenotype</a:t>
            </a:r>
            <a:r>
              <a:rPr b="1" lang="en" sz="1400">
                <a:solidFill>
                  <a:schemeClr val="dk1"/>
                </a:solidFill>
                <a:latin typeface="Roboto"/>
                <a:ea typeface="Roboto"/>
                <a:cs typeface="Roboto"/>
                <a:sym typeface="Roboto"/>
              </a:rPr>
              <a:t> – </a:t>
            </a:r>
            <a:r>
              <a:rPr lang="en" sz="1400">
                <a:solidFill>
                  <a:schemeClr val="dk1"/>
                </a:solidFill>
                <a:latin typeface="Roboto"/>
                <a:ea typeface="Roboto"/>
                <a:cs typeface="Roboto"/>
                <a:sym typeface="Roboto"/>
              </a:rPr>
              <a:t>the physical appearance of someone based on their genotype</a:t>
            </a:r>
            <a:endParaRPr b="1" sz="1400">
              <a:solidFill>
                <a:schemeClr val="dk1"/>
              </a:solidFill>
              <a:highlight>
                <a:srgbClr val="CCFFFF"/>
              </a:highlight>
              <a:latin typeface="Roboto"/>
              <a:ea typeface="Roboto"/>
              <a:cs typeface="Roboto"/>
              <a:sym typeface="Roboto"/>
            </a:endParaRPr>
          </a:p>
        </p:txBody>
      </p:sp>
      <p:grpSp>
        <p:nvGrpSpPr>
          <p:cNvPr id="251" name="Google Shape;251;p12"/>
          <p:cNvGrpSpPr/>
          <p:nvPr/>
        </p:nvGrpSpPr>
        <p:grpSpPr>
          <a:xfrm>
            <a:off x="6914300" y="154275"/>
            <a:ext cx="1726800" cy="4834955"/>
            <a:chOff x="2286000" y="154275"/>
            <a:chExt cx="1726800" cy="4834955"/>
          </a:xfrm>
        </p:grpSpPr>
        <p:pic>
          <p:nvPicPr>
            <p:cNvPr id="252" name="Google Shape;252;p12"/>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53" name="Google Shape;253;p12"/>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4" name="Google Shape;254;p12"/>
          <p:cNvSpPr/>
          <p:nvPr/>
        </p:nvSpPr>
        <p:spPr>
          <a:xfrm>
            <a:off x="7220000" y="751775"/>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5" name="Google Shape;255;p12"/>
          <p:cNvGrpSpPr/>
          <p:nvPr/>
        </p:nvGrpSpPr>
        <p:grpSpPr>
          <a:xfrm>
            <a:off x="4602975" y="154275"/>
            <a:ext cx="1726800" cy="4834955"/>
            <a:chOff x="2286000" y="154275"/>
            <a:chExt cx="1726800" cy="4834955"/>
          </a:xfrm>
        </p:grpSpPr>
        <p:pic>
          <p:nvPicPr>
            <p:cNvPr id="256" name="Google Shape;256;p12"/>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57" name="Google Shape;257;p12"/>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8" name="Google Shape;258;p12"/>
          <p:cNvSpPr/>
          <p:nvPr/>
        </p:nvSpPr>
        <p:spPr>
          <a:xfrm>
            <a:off x="5732975" y="751775"/>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txBox="1"/>
          <p:nvPr/>
        </p:nvSpPr>
        <p:spPr>
          <a:xfrm>
            <a:off x="2843575" y="4008650"/>
            <a:ext cx="4934400" cy="836100"/>
          </a:xfrm>
          <a:prstGeom prst="rect">
            <a:avLst/>
          </a:prstGeom>
          <a:solidFill>
            <a:srgbClr val="0DB7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lt1"/>
                </a:solidFill>
                <a:latin typeface="Arial"/>
                <a:ea typeface="Arial"/>
                <a:cs typeface="Arial"/>
                <a:sym typeface="Arial"/>
              </a:rPr>
              <a:t>What are the genotypes and phenotypes for these individuals?</a:t>
            </a:r>
            <a:endParaRPr b="0" i="0" sz="2400" u="none" cap="none" strike="noStrike">
              <a:solidFill>
                <a:schemeClr val="lt1"/>
              </a:solidFill>
              <a:latin typeface="Arial"/>
              <a:ea typeface="Arial"/>
              <a:cs typeface="Arial"/>
              <a:sym typeface="Arial"/>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13"/>
          <p:cNvGrpSpPr/>
          <p:nvPr/>
        </p:nvGrpSpPr>
        <p:grpSpPr>
          <a:xfrm>
            <a:off x="2198386" y="154267"/>
            <a:ext cx="1413213" cy="3597690"/>
            <a:chOff x="2286000" y="154275"/>
            <a:chExt cx="1726800" cy="4834955"/>
          </a:xfrm>
        </p:grpSpPr>
        <p:pic>
          <p:nvPicPr>
            <p:cNvPr id="265" name="Google Shape;265;p13"/>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66" name="Google Shape;266;p13"/>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3"/>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8" name="Google Shape;268;p13"/>
          <p:cNvGrpSpPr/>
          <p:nvPr/>
        </p:nvGrpSpPr>
        <p:grpSpPr>
          <a:xfrm>
            <a:off x="7387836" y="154267"/>
            <a:ext cx="1413213" cy="3597690"/>
            <a:chOff x="6914300" y="154275"/>
            <a:chExt cx="1726800" cy="4834955"/>
          </a:xfrm>
        </p:grpSpPr>
        <p:grpSp>
          <p:nvGrpSpPr>
            <p:cNvPr id="269" name="Google Shape;269;p13"/>
            <p:cNvGrpSpPr/>
            <p:nvPr/>
          </p:nvGrpSpPr>
          <p:grpSpPr>
            <a:xfrm>
              <a:off x="6914300" y="154275"/>
              <a:ext cx="1726800" cy="4834955"/>
              <a:chOff x="2286000" y="154275"/>
              <a:chExt cx="1726800" cy="4834955"/>
            </a:xfrm>
          </p:grpSpPr>
          <p:pic>
            <p:nvPicPr>
              <p:cNvPr id="270" name="Google Shape;270;p13"/>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71" name="Google Shape;271;p13"/>
              <p:cNvSpPr/>
              <p:nvPr/>
            </p:nvSpPr>
            <p:spPr>
              <a:xfrm>
                <a:off x="3428975" y="752700"/>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2" name="Google Shape;272;p13"/>
            <p:cNvSpPr/>
            <p:nvPr/>
          </p:nvSpPr>
          <p:spPr>
            <a:xfrm>
              <a:off x="7220000" y="751775"/>
              <a:ext cx="410100" cy="211200"/>
            </a:xfrm>
            <a:prstGeom prst="roundRect">
              <a:avLst>
                <a:gd fmla="val 16667" name="adj"/>
              </a:avLst>
            </a:prstGeom>
            <a:solidFill>
              <a:srgbClr val="00FFFF"/>
            </a:solidFill>
            <a:ln cap="flat" cmpd="sng" w="952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3" name="Google Shape;273;p13"/>
          <p:cNvGrpSpPr/>
          <p:nvPr/>
        </p:nvGrpSpPr>
        <p:grpSpPr>
          <a:xfrm>
            <a:off x="4682161" y="154267"/>
            <a:ext cx="1413213" cy="3597690"/>
            <a:chOff x="2286000" y="154275"/>
            <a:chExt cx="1726800" cy="4834955"/>
          </a:xfrm>
        </p:grpSpPr>
        <p:pic>
          <p:nvPicPr>
            <p:cNvPr id="274" name="Google Shape;274;p13"/>
            <p:cNvPicPr preferRelativeResize="0"/>
            <p:nvPr/>
          </p:nvPicPr>
          <p:blipFill rotWithShape="1">
            <a:blip r:embed="rId3">
              <a:alphaModFix/>
            </a:blip>
            <a:srcRect b="0" l="50032" r="0" t="0"/>
            <a:stretch/>
          </p:blipFill>
          <p:spPr>
            <a:xfrm>
              <a:off x="2286000" y="154275"/>
              <a:ext cx="1726800" cy="4834955"/>
            </a:xfrm>
            <a:prstGeom prst="rect">
              <a:avLst/>
            </a:prstGeom>
            <a:noFill/>
            <a:ln>
              <a:noFill/>
            </a:ln>
          </p:spPr>
        </p:pic>
        <p:sp>
          <p:nvSpPr>
            <p:cNvPr id="275" name="Google Shape;275;p13"/>
            <p:cNvSpPr/>
            <p:nvPr/>
          </p:nvSpPr>
          <p:spPr>
            <a:xfrm>
              <a:off x="2587475" y="752700"/>
              <a:ext cx="410100" cy="211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6" name="Google Shape;276;p13"/>
          <p:cNvSpPr/>
          <p:nvPr/>
        </p:nvSpPr>
        <p:spPr>
          <a:xfrm>
            <a:off x="5591425" y="574825"/>
            <a:ext cx="366300" cy="169200"/>
          </a:xfrm>
          <a:prstGeom prst="roundRect">
            <a:avLst>
              <a:gd fmla="val 16667" name="adj"/>
            </a:avLst>
          </a:prstGeom>
          <a:solidFill>
            <a:srgbClr val="5A3E06"/>
          </a:solidFill>
          <a:ln cap="flat" cmpd="sng" w="9525">
            <a:solidFill>
              <a:srgbClr val="5A3E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3"/>
          <p:cNvSpPr txBox="1"/>
          <p:nvPr/>
        </p:nvSpPr>
        <p:spPr>
          <a:xfrm>
            <a:off x="1851600" y="3838300"/>
            <a:ext cx="2336100" cy="836100"/>
          </a:xfrm>
          <a:prstGeom prst="rect">
            <a:avLst/>
          </a:prstGeom>
          <a:solidFill>
            <a:srgbClr val="FFF2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Heterozygous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Genotype: Bb</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Phenotype: Brown eyes</a:t>
            </a:r>
            <a:endParaRPr b="0" i="0" sz="1600" u="none" cap="none" strike="noStrike">
              <a:solidFill>
                <a:srgbClr val="000000"/>
              </a:solidFill>
              <a:latin typeface="Arial"/>
              <a:ea typeface="Arial"/>
              <a:cs typeface="Arial"/>
              <a:sym typeface="Arial"/>
            </a:endParaRPr>
          </a:p>
        </p:txBody>
      </p:sp>
      <p:sp>
        <p:nvSpPr>
          <p:cNvPr id="278" name="Google Shape;278;p13"/>
          <p:cNvSpPr/>
          <p:nvPr/>
        </p:nvSpPr>
        <p:spPr>
          <a:xfrm>
            <a:off x="375" y="-200"/>
            <a:ext cx="1856100" cy="11766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3"/>
          <p:cNvSpPr txBox="1"/>
          <p:nvPr>
            <p:ph idx="1" type="body"/>
          </p:nvPr>
        </p:nvSpPr>
        <p:spPr>
          <a:xfrm>
            <a:off x="0" y="84700"/>
            <a:ext cx="1851600" cy="4967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900"/>
              </a:spcBef>
              <a:spcAft>
                <a:spcPts val="0"/>
              </a:spcAft>
              <a:buClr>
                <a:srgbClr val="000000"/>
              </a:buClr>
              <a:buSzPts val="1100"/>
              <a:buFont typeface="Arial"/>
              <a:buNone/>
            </a:pPr>
            <a:r>
              <a:rPr b="1" lang="en" sz="1400">
                <a:solidFill>
                  <a:schemeClr val="dk1"/>
                </a:solidFill>
                <a:highlight>
                  <a:srgbClr val="CCFFFF"/>
                </a:highlight>
              </a:rPr>
              <a:t>Genotype</a:t>
            </a:r>
            <a:r>
              <a:rPr lang="en" sz="1400">
                <a:solidFill>
                  <a:schemeClr val="dk1"/>
                </a:solidFill>
              </a:rPr>
              <a:t> </a:t>
            </a:r>
            <a:r>
              <a:rPr lang="en" sz="1400">
                <a:solidFill>
                  <a:schemeClr val="dk1"/>
                </a:solidFill>
                <a:latin typeface="Roboto"/>
                <a:ea typeface="Roboto"/>
                <a:cs typeface="Roboto"/>
                <a:sym typeface="Roboto"/>
              </a:rPr>
              <a:t>– the combination of alleles a person has</a:t>
            </a:r>
            <a:endParaRPr sz="14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b="1" lang="en" sz="1400">
                <a:solidFill>
                  <a:schemeClr val="dk1"/>
                </a:solidFill>
                <a:highlight>
                  <a:srgbClr val="CCFFFF"/>
                </a:highlight>
                <a:latin typeface="Roboto"/>
                <a:ea typeface="Roboto"/>
                <a:cs typeface="Roboto"/>
                <a:sym typeface="Roboto"/>
              </a:rPr>
              <a:t>Homozygous </a:t>
            </a:r>
            <a:r>
              <a:rPr lang="en" sz="1400">
                <a:solidFill>
                  <a:schemeClr val="dk1"/>
                </a:solidFill>
                <a:latin typeface="Roboto"/>
                <a:ea typeface="Roboto"/>
                <a:cs typeface="Roboto"/>
                <a:sym typeface="Roboto"/>
              </a:rPr>
              <a:t>– when both </a:t>
            </a:r>
            <a:r>
              <a:rPr b="1" lang="en" sz="1400">
                <a:solidFill>
                  <a:schemeClr val="dk1"/>
                </a:solidFill>
                <a:latin typeface="Roboto"/>
                <a:ea typeface="Roboto"/>
                <a:cs typeface="Roboto"/>
                <a:sym typeface="Roboto"/>
              </a:rPr>
              <a:t>alleles</a:t>
            </a:r>
            <a:r>
              <a:rPr lang="en" sz="1400">
                <a:solidFill>
                  <a:schemeClr val="dk1"/>
                </a:solidFill>
                <a:latin typeface="Roboto"/>
                <a:ea typeface="Roboto"/>
                <a:cs typeface="Roboto"/>
                <a:sym typeface="Roboto"/>
              </a:rPr>
              <a:t> a person has </a:t>
            </a:r>
            <a:r>
              <a:rPr b="1" lang="en" sz="1400">
                <a:solidFill>
                  <a:schemeClr val="dk1"/>
                </a:solidFill>
                <a:latin typeface="Roboto"/>
                <a:ea typeface="Roboto"/>
                <a:cs typeface="Roboto"/>
                <a:sym typeface="Roboto"/>
              </a:rPr>
              <a:t>are the same</a:t>
            </a:r>
            <a:endParaRPr b="1" sz="1400">
              <a:solidFill>
                <a:schemeClr val="dk1"/>
              </a:solidFill>
              <a:latin typeface="Roboto"/>
              <a:ea typeface="Roboto"/>
              <a:cs typeface="Roboto"/>
              <a:sym typeface="Roboto"/>
            </a:endParaRPr>
          </a:p>
          <a:p>
            <a:pPr indent="0" lvl="0" marL="0" rtl="0" algn="l">
              <a:lnSpc>
                <a:spcPct val="115000"/>
              </a:lnSpc>
              <a:spcBef>
                <a:spcPts val="900"/>
              </a:spcBef>
              <a:spcAft>
                <a:spcPts val="0"/>
              </a:spcAft>
              <a:buClr>
                <a:schemeClr val="dk1"/>
              </a:buClr>
              <a:buSzPts val="1100"/>
              <a:buFont typeface="Arial"/>
              <a:buNone/>
            </a:pPr>
            <a:r>
              <a:rPr b="1" lang="en" sz="1400">
                <a:solidFill>
                  <a:schemeClr val="dk1"/>
                </a:solidFill>
                <a:highlight>
                  <a:srgbClr val="CCFFFF"/>
                </a:highlight>
                <a:latin typeface="Roboto"/>
                <a:ea typeface="Roboto"/>
                <a:cs typeface="Roboto"/>
                <a:sym typeface="Roboto"/>
              </a:rPr>
              <a:t>Heterozygous</a:t>
            </a:r>
            <a:r>
              <a:rPr b="1" lang="en" sz="1400">
                <a:solidFill>
                  <a:schemeClr val="dk1"/>
                </a:solidFill>
                <a:latin typeface="Roboto"/>
                <a:ea typeface="Roboto"/>
                <a:cs typeface="Roboto"/>
                <a:sym typeface="Roboto"/>
              </a:rPr>
              <a:t>  - </a:t>
            </a:r>
            <a:r>
              <a:rPr lang="en" sz="1400">
                <a:solidFill>
                  <a:schemeClr val="dk1"/>
                </a:solidFill>
                <a:latin typeface="Roboto"/>
                <a:ea typeface="Roboto"/>
                <a:cs typeface="Roboto"/>
                <a:sym typeface="Roboto"/>
              </a:rPr>
              <a:t>when a person has </a:t>
            </a:r>
            <a:r>
              <a:rPr b="1" lang="en" sz="1400">
                <a:solidFill>
                  <a:schemeClr val="dk1"/>
                </a:solidFill>
                <a:latin typeface="Roboto"/>
                <a:ea typeface="Roboto"/>
                <a:cs typeface="Roboto"/>
                <a:sym typeface="Roboto"/>
              </a:rPr>
              <a:t>two different alleles</a:t>
            </a:r>
            <a:r>
              <a:rPr lang="en" sz="1400">
                <a:solidFill>
                  <a:schemeClr val="dk1"/>
                </a:solidFill>
                <a:latin typeface="Roboto"/>
                <a:ea typeface="Roboto"/>
                <a:cs typeface="Roboto"/>
                <a:sym typeface="Roboto"/>
              </a:rPr>
              <a:t> for the same gene</a:t>
            </a:r>
            <a:endParaRPr sz="1400">
              <a:solidFill>
                <a:schemeClr val="dk1"/>
              </a:solidFill>
              <a:latin typeface="Roboto"/>
              <a:ea typeface="Roboto"/>
              <a:cs typeface="Roboto"/>
              <a:sym typeface="Roboto"/>
            </a:endParaRPr>
          </a:p>
          <a:p>
            <a:pPr indent="0" lvl="0" marL="0" rtl="0" algn="l">
              <a:lnSpc>
                <a:spcPct val="115000"/>
              </a:lnSpc>
              <a:spcBef>
                <a:spcPts val="900"/>
              </a:spcBef>
              <a:spcAft>
                <a:spcPts val="600"/>
              </a:spcAft>
              <a:buClr>
                <a:schemeClr val="dk1"/>
              </a:buClr>
              <a:buSzPts val="1200"/>
              <a:buFont typeface="Arial"/>
              <a:buNone/>
            </a:pPr>
            <a:r>
              <a:rPr b="1" lang="en" sz="1400">
                <a:solidFill>
                  <a:schemeClr val="dk1"/>
                </a:solidFill>
                <a:highlight>
                  <a:srgbClr val="CCFFFF"/>
                </a:highlight>
                <a:latin typeface="Roboto"/>
                <a:ea typeface="Roboto"/>
                <a:cs typeface="Roboto"/>
                <a:sym typeface="Roboto"/>
              </a:rPr>
              <a:t>Phenotype</a:t>
            </a:r>
            <a:r>
              <a:rPr b="1" lang="en" sz="1400">
                <a:solidFill>
                  <a:schemeClr val="dk1"/>
                </a:solidFill>
                <a:latin typeface="Roboto"/>
                <a:ea typeface="Roboto"/>
                <a:cs typeface="Roboto"/>
                <a:sym typeface="Roboto"/>
              </a:rPr>
              <a:t> – </a:t>
            </a:r>
            <a:r>
              <a:rPr lang="en" sz="1400">
                <a:solidFill>
                  <a:schemeClr val="dk1"/>
                </a:solidFill>
                <a:latin typeface="Roboto"/>
                <a:ea typeface="Roboto"/>
                <a:cs typeface="Roboto"/>
                <a:sym typeface="Roboto"/>
              </a:rPr>
              <a:t>the physical appearance of someone based on their genotype</a:t>
            </a:r>
            <a:endParaRPr b="1" sz="1400">
              <a:solidFill>
                <a:schemeClr val="dk1"/>
              </a:solidFill>
              <a:highlight>
                <a:srgbClr val="CCFFFF"/>
              </a:highlight>
            </a:endParaRPr>
          </a:p>
        </p:txBody>
      </p:sp>
      <p:sp>
        <p:nvSpPr>
          <p:cNvPr id="280" name="Google Shape;280;p13"/>
          <p:cNvSpPr txBox="1"/>
          <p:nvPr/>
        </p:nvSpPr>
        <p:spPr>
          <a:xfrm>
            <a:off x="4310325" y="3838300"/>
            <a:ext cx="2336100" cy="836100"/>
          </a:xfrm>
          <a:prstGeom prst="rect">
            <a:avLst/>
          </a:prstGeom>
          <a:solidFill>
            <a:srgbClr val="FFF2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Homozygous dominant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Genotype: BB</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Phenotype: Brown eyes</a:t>
            </a:r>
            <a:endParaRPr b="0" i="0" sz="1600" u="none" cap="none" strike="noStrike">
              <a:solidFill>
                <a:srgbClr val="000000"/>
              </a:solidFill>
              <a:latin typeface="Arial"/>
              <a:ea typeface="Arial"/>
              <a:cs typeface="Arial"/>
              <a:sym typeface="Arial"/>
            </a:endParaRPr>
          </a:p>
        </p:txBody>
      </p:sp>
      <p:sp>
        <p:nvSpPr>
          <p:cNvPr id="281" name="Google Shape;281;p13"/>
          <p:cNvSpPr txBox="1"/>
          <p:nvPr/>
        </p:nvSpPr>
        <p:spPr>
          <a:xfrm>
            <a:off x="6769050" y="3838300"/>
            <a:ext cx="2299200" cy="836100"/>
          </a:xfrm>
          <a:prstGeom prst="rect">
            <a:avLst/>
          </a:prstGeom>
          <a:solidFill>
            <a:srgbClr val="FFF2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Homozygous recessive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Genotype: bb</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Phenotype: Blue eyes</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f9de480475_0_0"/>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000000"/>
              </a:buClr>
              <a:buSzPts val="2400"/>
              <a:buFont typeface="Arial"/>
              <a:buNone/>
            </a:pPr>
            <a:fld id="{00000000-1234-1234-1234-123412341234}" type="slidenum">
              <a:rPr lang="en"/>
              <a:t>‹#›</a:t>
            </a:fld>
            <a:endParaRPr/>
          </a:p>
        </p:txBody>
      </p:sp>
      <p:sp>
        <p:nvSpPr>
          <p:cNvPr id="287" name="Google Shape;287;g3f9de480475_0_0"/>
          <p:cNvSpPr txBox="1"/>
          <p:nvPr>
            <p:ph idx="1" type="body"/>
          </p:nvPr>
        </p:nvSpPr>
        <p:spPr>
          <a:xfrm>
            <a:off x="3523425" y="0"/>
            <a:ext cx="5438700" cy="1140000"/>
          </a:xfrm>
          <a:prstGeom prst="rect">
            <a:avLst/>
          </a:prstGeom>
          <a:solidFill>
            <a:srgbClr val="FFE599"/>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b="1" lang="en" sz="1900">
                <a:solidFill>
                  <a:schemeClr val="dk1"/>
                </a:solidFill>
              </a:rPr>
              <a:t>F</a:t>
            </a:r>
            <a:r>
              <a:rPr lang="en" sz="1900">
                <a:solidFill>
                  <a:schemeClr val="dk1"/>
                </a:solidFill>
              </a:rPr>
              <a:t> = Fire-breathing allele (Dominant)</a:t>
            </a:r>
            <a:endParaRPr sz="1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900">
                <a:solidFill>
                  <a:schemeClr val="dk1"/>
                </a:solidFill>
              </a:rPr>
              <a:t>f</a:t>
            </a:r>
            <a:r>
              <a:rPr lang="en" sz="1900">
                <a:solidFill>
                  <a:schemeClr val="dk1"/>
                </a:solidFill>
              </a:rPr>
              <a:t>= Non-fire-breathing allele (Recessive)</a:t>
            </a:r>
            <a:endParaRPr sz="1900">
              <a:solidFill>
                <a:schemeClr val="dk1"/>
              </a:solidFill>
            </a:endParaRPr>
          </a:p>
        </p:txBody>
      </p:sp>
      <p:sp>
        <p:nvSpPr>
          <p:cNvPr id="288" name="Google Shape;288;g3f9de480475_0_0"/>
          <p:cNvSpPr txBox="1"/>
          <p:nvPr/>
        </p:nvSpPr>
        <p:spPr>
          <a:xfrm>
            <a:off x="2118525" y="0"/>
            <a:ext cx="7222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Arial"/>
                <a:ea typeface="Arial"/>
                <a:cs typeface="Arial"/>
                <a:sym typeface="Arial"/>
              </a:rPr>
              <a:t>Starter</a:t>
            </a:r>
            <a:endParaRPr b="1" i="0" sz="3000" u="none" cap="none" strike="noStrike">
              <a:solidFill>
                <a:schemeClr val="dk1"/>
              </a:solidFill>
              <a:latin typeface="Arial"/>
              <a:ea typeface="Arial"/>
              <a:cs typeface="Arial"/>
              <a:sym typeface="Arial"/>
            </a:endParaRPr>
          </a:p>
        </p:txBody>
      </p:sp>
      <p:pic>
        <p:nvPicPr>
          <p:cNvPr id="289" name="Google Shape;289;g3f9de480475_0_0"/>
          <p:cNvPicPr preferRelativeResize="0"/>
          <p:nvPr/>
        </p:nvPicPr>
        <p:blipFill rotWithShape="1">
          <a:blip r:embed="rId3">
            <a:alphaModFix/>
          </a:blip>
          <a:srcRect b="0" l="10629" r="22145" t="0"/>
          <a:stretch/>
        </p:blipFill>
        <p:spPr>
          <a:xfrm>
            <a:off x="66275" y="1452675"/>
            <a:ext cx="2400225" cy="2562726"/>
          </a:xfrm>
          <a:prstGeom prst="rect">
            <a:avLst/>
          </a:prstGeom>
          <a:noFill/>
          <a:ln>
            <a:noFill/>
          </a:ln>
        </p:spPr>
      </p:pic>
      <p:sp>
        <p:nvSpPr>
          <p:cNvPr id="290" name="Google Shape;290;g3f9de480475_0_0"/>
          <p:cNvSpPr txBox="1"/>
          <p:nvPr/>
        </p:nvSpPr>
        <p:spPr>
          <a:xfrm>
            <a:off x="2578800" y="1140000"/>
            <a:ext cx="6495000" cy="32631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900"/>
              <a:buFont typeface="Arial"/>
              <a:buNone/>
            </a:pPr>
            <a:r>
              <a:rPr b="0" i="0" lang="en" sz="1900" u="none" cap="none" strike="noStrike">
                <a:solidFill>
                  <a:schemeClr val="dk1"/>
                </a:solidFill>
                <a:latin typeface="Arial"/>
                <a:ea typeface="Arial"/>
                <a:cs typeface="Arial"/>
                <a:sym typeface="Arial"/>
              </a:rPr>
              <a:t>Please write this in your books (only answers!)</a:t>
            </a:r>
            <a:endParaRPr b="0" i="0" sz="1900" u="none" cap="none" strike="noStrike">
              <a:solidFill>
                <a:schemeClr val="dk1"/>
              </a:solidFill>
              <a:latin typeface="Arial"/>
              <a:ea typeface="Arial"/>
              <a:cs typeface="Arial"/>
              <a:sym typeface="Arial"/>
            </a:endParaRPr>
          </a:p>
          <a:p>
            <a:pPr indent="-349250" lvl="0" marL="457200" marR="0" rtl="0" algn="just">
              <a:lnSpc>
                <a:spcPct val="150000"/>
              </a:lnSpc>
              <a:spcBef>
                <a:spcPts val="1200"/>
              </a:spcBef>
              <a:spcAft>
                <a:spcPts val="0"/>
              </a:spcAft>
              <a:buClr>
                <a:schemeClr val="dk1"/>
              </a:buClr>
              <a:buSzPts val="1900"/>
              <a:buFont typeface="Arial"/>
              <a:buAutoNum type="arabicPeriod"/>
            </a:pPr>
            <a:r>
              <a:rPr b="0" i="0" lang="en" sz="1900" u="none" cap="none" strike="noStrike">
                <a:solidFill>
                  <a:schemeClr val="dk1"/>
                </a:solidFill>
                <a:latin typeface="Arial"/>
                <a:ea typeface="Arial"/>
                <a:cs typeface="Arial"/>
                <a:sym typeface="Arial"/>
              </a:rPr>
              <a:t>The </a:t>
            </a:r>
            <a:r>
              <a:rPr b="1" i="0" lang="en" sz="1900" u="none" cap="none" strike="noStrike">
                <a:solidFill>
                  <a:schemeClr val="dk1"/>
                </a:solidFill>
                <a:latin typeface="Arial"/>
                <a:ea typeface="Arial"/>
                <a:cs typeface="Arial"/>
                <a:sym typeface="Arial"/>
              </a:rPr>
              <a:t>genotype</a:t>
            </a:r>
            <a:r>
              <a:rPr b="0" i="0" lang="en" sz="1900" u="none" cap="none" strike="noStrike">
                <a:solidFill>
                  <a:schemeClr val="dk1"/>
                </a:solidFill>
                <a:latin typeface="Arial"/>
                <a:ea typeface="Arial"/>
                <a:cs typeface="Arial"/>
                <a:sym typeface="Arial"/>
              </a:rPr>
              <a:t> of a dragon that has two </a:t>
            </a:r>
            <a:r>
              <a:rPr b="0" i="1" lang="en" sz="1900" u="none" cap="none" strike="noStrike">
                <a:solidFill>
                  <a:schemeClr val="dk1"/>
                </a:solidFill>
                <a:latin typeface="Arial"/>
                <a:ea typeface="Arial"/>
                <a:cs typeface="Arial"/>
                <a:sym typeface="Arial"/>
              </a:rPr>
              <a:t>different</a:t>
            </a:r>
            <a:r>
              <a:rPr b="0" i="0" lang="en" sz="1900" u="none" cap="none" strike="noStrike">
                <a:solidFill>
                  <a:schemeClr val="dk1"/>
                </a:solidFill>
                <a:latin typeface="Arial"/>
                <a:ea typeface="Arial"/>
                <a:cs typeface="Arial"/>
                <a:sym typeface="Arial"/>
              </a:rPr>
              <a:t> alleles. </a:t>
            </a:r>
            <a:endParaRPr b="0" i="0" sz="1900" u="none" cap="none" strike="noStrike">
              <a:solidFill>
                <a:schemeClr val="dk1"/>
              </a:solidFill>
              <a:latin typeface="Arial"/>
              <a:ea typeface="Arial"/>
              <a:cs typeface="Arial"/>
              <a:sym typeface="Arial"/>
            </a:endParaRPr>
          </a:p>
          <a:p>
            <a:pPr indent="-349250" lvl="0" marL="457200" marR="0" rtl="0" algn="just">
              <a:lnSpc>
                <a:spcPct val="150000"/>
              </a:lnSpc>
              <a:spcBef>
                <a:spcPts val="0"/>
              </a:spcBef>
              <a:spcAft>
                <a:spcPts val="0"/>
              </a:spcAft>
              <a:buClr>
                <a:schemeClr val="dk1"/>
              </a:buClr>
              <a:buSzPts val="1900"/>
              <a:buFont typeface="Arial"/>
              <a:buAutoNum type="arabicPeriod"/>
            </a:pPr>
            <a:r>
              <a:rPr b="0" i="0" lang="en" sz="1900" u="none" cap="none" strike="noStrike">
                <a:solidFill>
                  <a:schemeClr val="dk1"/>
                </a:solidFill>
                <a:latin typeface="Arial"/>
                <a:ea typeface="Arial"/>
                <a:cs typeface="Arial"/>
                <a:sym typeface="Arial"/>
              </a:rPr>
              <a:t>Is this dragon </a:t>
            </a:r>
            <a:r>
              <a:rPr b="1" i="0" lang="en" sz="1900" u="none" cap="none" strike="noStrike">
                <a:solidFill>
                  <a:schemeClr val="dk1"/>
                </a:solidFill>
                <a:latin typeface="Arial"/>
                <a:ea typeface="Arial"/>
                <a:cs typeface="Arial"/>
                <a:sym typeface="Arial"/>
              </a:rPr>
              <a:t>heterozygous</a:t>
            </a:r>
            <a:r>
              <a:rPr b="0" i="0" lang="en" sz="1900" u="none" cap="none" strike="noStrike">
                <a:solidFill>
                  <a:schemeClr val="dk1"/>
                </a:solidFill>
                <a:latin typeface="Arial"/>
                <a:ea typeface="Arial"/>
                <a:cs typeface="Arial"/>
                <a:sym typeface="Arial"/>
              </a:rPr>
              <a:t> or </a:t>
            </a:r>
            <a:r>
              <a:rPr b="1" i="0" lang="en" sz="1900" u="none" cap="none" strike="noStrike">
                <a:solidFill>
                  <a:schemeClr val="dk1"/>
                </a:solidFill>
                <a:latin typeface="Arial"/>
                <a:ea typeface="Arial"/>
                <a:cs typeface="Arial"/>
                <a:sym typeface="Arial"/>
              </a:rPr>
              <a:t>homozygous</a:t>
            </a:r>
            <a:r>
              <a:rPr b="0" i="0" lang="en" sz="1900" u="none" cap="none" strike="noStrike">
                <a:solidFill>
                  <a:schemeClr val="dk1"/>
                </a:solidFill>
                <a:latin typeface="Arial"/>
                <a:ea typeface="Arial"/>
                <a:cs typeface="Arial"/>
                <a:sym typeface="Arial"/>
              </a:rPr>
              <a:t>? </a:t>
            </a:r>
            <a:endParaRPr b="0" i="0" sz="1900" u="none" cap="none" strike="noStrike">
              <a:solidFill>
                <a:schemeClr val="dk1"/>
              </a:solidFill>
              <a:latin typeface="Arial"/>
              <a:ea typeface="Arial"/>
              <a:cs typeface="Arial"/>
              <a:sym typeface="Arial"/>
            </a:endParaRPr>
          </a:p>
          <a:p>
            <a:pPr indent="-349250" lvl="0" marL="457200" marR="0" rtl="0" algn="just">
              <a:lnSpc>
                <a:spcPct val="150000"/>
              </a:lnSpc>
              <a:spcBef>
                <a:spcPts val="0"/>
              </a:spcBef>
              <a:spcAft>
                <a:spcPts val="0"/>
              </a:spcAft>
              <a:buClr>
                <a:schemeClr val="dk1"/>
              </a:buClr>
              <a:buSzPts val="1900"/>
              <a:buFont typeface="Arial"/>
              <a:buAutoNum type="arabicPeriod"/>
            </a:pPr>
            <a:r>
              <a:rPr b="0" i="0" lang="en" sz="1900" u="none" cap="none" strike="noStrike">
                <a:solidFill>
                  <a:schemeClr val="dk1"/>
                </a:solidFill>
                <a:latin typeface="Arial"/>
                <a:ea typeface="Arial"/>
                <a:cs typeface="Arial"/>
                <a:sym typeface="Arial"/>
              </a:rPr>
              <a:t>What is this dragon's </a:t>
            </a:r>
            <a:r>
              <a:rPr b="1" i="0" lang="en" sz="1900" u="none" cap="none" strike="noStrike">
                <a:solidFill>
                  <a:schemeClr val="dk1"/>
                </a:solidFill>
                <a:latin typeface="Arial"/>
                <a:ea typeface="Arial"/>
                <a:cs typeface="Arial"/>
                <a:sym typeface="Arial"/>
              </a:rPr>
              <a:t>phenotype</a:t>
            </a:r>
            <a:r>
              <a:rPr b="0" i="0" lang="en" sz="1900" u="none" cap="none" strike="noStrike">
                <a:solidFill>
                  <a:schemeClr val="dk1"/>
                </a:solidFill>
                <a:latin typeface="Arial"/>
                <a:ea typeface="Arial"/>
                <a:cs typeface="Arial"/>
                <a:sym typeface="Arial"/>
              </a:rPr>
              <a:t>? Will it breathe fire? </a:t>
            </a:r>
            <a:endParaRPr b="0" i="0" sz="1900" u="none" cap="none" strike="noStrike">
              <a:solidFill>
                <a:schemeClr val="dk1"/>
              </a:solidFill>
              <a:latin typeface="Arial"/>
              <a:ea typeface="Arial"/>
              <a:cs typeface="Arial"/>
              <a:sym typeface="Arial"/>
            </a:endParaRPr>
          </a:p>
          <a:p>
            <a:pPr indent="-349250" lvl="0" marL="457200" marR="0" rtl="0" algn="just">
              <a:lnSpc>
                <a:spcPct val="150000"/>
              </a:lnSpc>
              <a:spcBef>
                <a:spcPts val="0"/>
              </a:spcBef>
              <a:spcAft>
                <a:spcPts val="0"/>
              </a:spcAft>
              <a:buClr>
                <a:schemeClr val="dk1"/>
              </a:buClr>
              <a:buSzPts val="1900"/>
              <a:buFont typeface="Arial"/>
              <a:buAutoNum type="arabicPeriod"/>
            </a:pPr>
            <a:r>
              <a:rPr b="0" i="0" lang="en" sz="1900" u="none" cap="none" strike="noStrike">
                <a:solidFill>
                  <a:schemeClr val="dk1"/>
                </a:solidFill>
                <a:latin typeface="Arial"/>
                <a:ea typeface="Arial"/>
                <a:cs typeface="Arial"/>
                <a:sym typeface="Arial"/>
              </a:rPr>
              <a:t>What is the only </a:t>
            </a:r>
            <a:r>
              <a:rPr b="1" i="0" lang="en" sz="1900" u="none" cap="none" strike="noStrike">
                <a:solidFill>
                  <a:schemeClr val="dk1"/>
                </a:solidFill>
                <a:latin typeface="Arial"/>
                <a:ea typeface="Arial"/>
                <a:cs typeface="Arial"/>
                <a:sym typeface="Arial"/>
              </a:rPr>
              <a:t>genotype</a:t>
            </a:r>
            <a:r>
              <a:rPr b="0" i="0" lang="en" sz="1900" u="none" cap="none" strike="noStrike">
                <a:solidFill>
                  <a:schemeClr val="dk1"/>
                </a:solidFill>
                <a:latin typeface="Arial"/>
                <a:ea typeface="Arial"/>
                <a:cs typeface="Arial"/>
                <a:sym typeface="Arial"/>
              </a:rPr>
              <a:t> that produces a non-fire-breathing dragon? </a:t>
            </a:r>
            <a:endParaRPr b="0" i="0" sz="1900" u="none" cap="none" strike="noStrike">
              <a:solidFill>
                <a:schemeClr val="dk1"/>
              </a:solidFill>
              <a:latin typeface="Arial"/>
              <a:ea typeface="Arial"/>
              <a:cs typeface="Arial"/>
              <a:sym typeface="Arial"/>
            </a:endParaRPr>
          </a:p>
        </p:txBody>
      </p:sp>
      <p:pic>
        <p:nvPicPr>
          <p:cNvPr descr="This colorful 5-minute countdown provides a vibrant visual focus that remains completely silent to ensure a distraction-free environment.&#10;&#10;Teacher’s Note: I designed this specifically for &quot;Think-Pair-Share&quot; activities or quiet independent work where students need to monitor their own pacing without auditory interruptions until the final siren." id="291" name="Google Shape;291;g3f9de480475_0_0" title="5 Minute Timer">
            <a:hlinkClick r:id="rId4"/>
          </p:cNvPr>
          <p:cNvPicPr preferRelativeResize="0"/>
          <p:nvPr/>
        </p:nvPicPr>
        <p:blipFill rotWithShape="1">
          <a:blip r:embed="rId5">
            <a:alphaModFix/>
          </a:blip>
          <a:srcRect b="0" l="0" r="0" t="0"/>
          <a:stretch/>
        </p:blipFill>
        <p:spPr>
          <a:xfrm>
            <a:off x="0" y="45050"/>
            <a:ext cx="2118525" cy="12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f9de480475_0_11"/>
          <p:cNvSpPr txBox="1"/>
          <p:nvPr>
            <p:ph idx="12" type="sldNum"/>
          </p:nvPr>
        </p:nvSpPr>
        <p:spPr>
          <a:xfrm>
            <a:off x="-75" y="0"/>
            <a:ext cx="1851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fld id="{00000000-1234-1234-1234-123412341234}" type="slidenum">
              <a:rPr lang="en"/>
              <a:t>‹#›</a:t>
            </a:fld>
            <a:endParaRPr/>
          </a:p>
        </p:txBody>
      </p:sp>
      <p:sp>
        <p:nvSpPr>
          <p:cNvPr id="297" name="Google Shape;297;g3f9de480475_0_11"/>
          <p:cNvSpPr txBox="1"/>
          <p:nvPr>
            <p:ph idx="1" type="body"/>
          </p:nvPr>
        </p:nvSpPr>
        <p:spPr>
          <a:xfrm>
            <a:off x="3450975" y="102350"/>
            <a:ext cx="5438700" cy="1311900"/>
          </a:xfrm>
          <a:prstGeom prst="rect">
            <a:avLst/>
          </a:prstGeom>
          <a:solidFill>
            <a:srgbClr val="FFE599"/>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b="1" lang="en" sz="2100">
                <a:solidFill>
                  <a:schemeClr val="dk1"/>
                </a:solidFill>
              </a:rPr>
              <a:t>F</a:t>
            </a:r>
            <a:r>
              <a:rPr lang="en" sz="2100">
                <a:solidFill>
                  <a:schemeClr val="dk1"/>
                </a:solidFill>
              </a:rPr>
              <a:t> = Fire-breathing allele (Dominant)</a:t>
            </a:r>
            <a:endParaRPr sz="2100">
              <a:solidFill>
                <a:schemeClr val="dk1"/>
              </a:solidFill>
            </a:endParaRPr>
          </a:p>
          <a:p>
            <a:pPr indent="0" lvl="0" marL="0" rtl="0" algn="l">
              <a:lnSpc>
                <a:spcPct val="115000"/>
              </a:lnSpc>
              <a:spcBef>
                <a:spcPts val="0"/>
              </a:spcBef>
              <a:spcAft>
                <a:spcPts val="0"/>
              </a:spcAft>
              <a:buSzPts val="1200"/>
              <a:buNone/>
            </a:pPr>
            <a:r>
              <a:t/>
            </a:r>
            <a:endParaRPr sz="2100">
              <a:solidFill>
                <a:schemeClr val="dk1"/>
              </a:solidFill>
            </a:endParaRPr>
          </a:p>
          <a:p>
            <a:pPr indent="0" lvl="0" marL="0" rtl="0" algn="l">
              <a:lnSpc>
                <a:spcPct val="115000"/>
              </a:lnSpc>
              <a:spcBef>
                <a:spcPts val="0"/>
              </a:spcBef>
              <a:spcAft>
                <a:spcPts val="0"/>
              </a:spcAft>
              <a:buSzPts val="1200"/>
              <a:buNone/>
            </a:pPr>
            <a:r>
              <a:rPr b="1" lang="en" sz="2100">
                <a:solidFill>
                  <a:schemeClr val="dk1"/>
                </a:solidFill>
              </a:rPr>
              <a:t>f</a:t>
            </a:r>
            <a:r>
              <a:rPr lang="en" sz="2100">
                <a:solidFill>
                  <a:schemeClr val="dk1"/>
                </a:solidFill>
              </a:rPr>
              <a:t>= Non-fire-breathing allele (Recessive)</a:t>
            </a:r>
            <a:endParaRPr sz="2100">
              <a:solidFill>
                <a:schemeClr val="dk1"/>
              </a:solidFill>
            </a:endParaRPr>
          </a:p>
        </p:txBody>
      </p:sp>
      <p:sp>
        <p:nvSpPr>
          <p:cNvPr id="298" name="Google Shape;298;g3f9de480475_0_11"/>
          <p:cNvSpPr txBox="1"/>
          <p:nvPr/>
        </p:nvSpPr>
        <p:spPr>
          <a:xfrm>
            <a:off x="1851525" y="102350"/>
            <a:ext cx="7222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Arial"/>
                <a:ea typeface="Arial"/>
                <a:cs typeface="Arial"/>
                <a:sym typeface="Arial"/>
              </a:rPr>
              <a:t>Starter</a:t>
            </a:r>
            <a:endParaRPr b="1" i="0" sz="3000" u="none" cap="none" strike="noStrike">
              <a:solidFill>
                <a:schemeClr val="dk1"/>
              </a:solidFill>
              <a:latin typeface="Arial"/>
              <a:ea typeface="Arial"/>
              <a:cs typeface="Arial"/>
              <a:sym typeface="Arial"/>
            </a:endParaRPr>
          </a:p>
        </p:txBody>
      </p:sp>
      <p:pic>
        <p:nvPicPr>
          <p:cNvPr id="299" name="Google Shape;299;g3f9de480475_0_11"/>
          <p:cNvPicPr preferRelativeResize="0"/>
          <p:nvPr/>
        </p:nvPicPr>
        <p:blipFill rotWithShape="1">
          <a:blip r:embed="rId3">
            <a:alphaModFix/>
          </a:blip>
          <a:srcRect b="0" l="10629" r="22145" t="0"/>
          <a:stretch/>
        </p:blipFill>
        <p:spPr>
          <a:xfrm>
            <a:off x="77525" y="1469775"/>
            <a:ext cx="3080300" cy="3288850"/>
          </a:xfrm>
          <a:prstGeom prst="rect">
            <a:avLst/>
          </a:prstGeom>
          <a:noFill/>
          <a:ln>
            <a:noFill/>
          </a:ln>
        </p:spPr>
      </p:pic>
      <p:sp>
        <p:nvSpPr>
          <p:cNvPr id="300" name="Google Shape;300;g3f9de480475_0_11"/>
          <p:cNvSpPr txBox="1"/>
          <p:nvPr/>
        </p:nvSpPr>
        <p:spPr>
          <a:xfrm>
            <a:off x="3266925" y="1469775"/>
            <a:ext cx="5806800" cy="3524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Please write this in your books (only answers!)</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120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The </a:t>
            </a:r>
            <a:r>
              <a:rPr b="1" i="0" lang="en" sz="1800" u="none" cap="none" strike="noStrike">
                <a:solidFill>
                  <a:schemeClr val="dk1"/>
                </a:solidFill>
                <a:latin typeface="Arial"/>
                <a:ea typeface="Arial"/>
                <a:cs typeface="Arial"/>
                <a:sym typeface="Arial"/>
              </a:rPr>
              <a:t>genotype</a:t>
            </a:r>
            <a:r>
              <a:rPr b="0" i="0" lang="en" sz="1800" u="none" cap="none" strike="noStrike">
                <a:solidFill>
                  <a:schemeClr val="dk1"/>
                </a:solidFill>
                <a:latin typeface="Arial"/>
                <a:ea typeface="Arial"/>
                <a:cs typeface="Arial"/>
                <a:sym typeface="Arial"/>
              </a:rPr>
              <a:t> of a dragon that has two </a:t>
            </a:r>
            <a:r>
              <a:rPr b="0" i="1" lang="en" sz="1800" u="none" cap="none" strike="noStrike">
                <a:solidFill>
                  <a:schemeClr val="dk1"/>
                </a:solidFill>
                <a:latin typeface="Arial"/>
                <a:ea typeface="Arial"/>
                <a:cs typeface="Arial"/>
                <a:sym typeface="Arial"/>
              </a:rPr>
              <a:t>different</a:t>
            </a:r>
            <a:r>
              <a:rPr b="0" i="0" lang="en" sz="1800" u="none" cap="none" strike="noStrike">
                <a:solidFill>
                  <a:schemeClr val="dk1"/>
                </a:solidFill>
                <a:latin typeface="Arial"/>
                <a:ea typeface="Arial"/>
                <a:cs typeface="Arial"/>
                <a:sym typeface="Arial"/>
              </a:rPr>
              <a:t> alleles. </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Is this dragon </a:t>
            </a:r>
            <a:r>
              <a:rPr b="1" i="0" lang="en" sz="1800" u="none" cap="none" strike="noStrike">
                <a:solidFill>
                  <a:schemeClr val="dk1"/>
                </a:solidFill>
                <a:latin typeface="Arial"/>
                <a:ea typeface="Arial"/>
                <a:cs typeface="Arial"/>
                <a:sym typeface="Arial"/>
              </a:rPr>
              <a:t>heterozygous</a:t>
            </a:r>
            <a:r>
              <a:rPr b="0" i="0" lang="en" sz="1800" u="none" cap="none" strike="noStrike">
                <a:solidFill>
                  <a:schemeClr val="dk1"/>
                </a:solidFill>
                <a:latin typeface="Arial"/>
                <a:ea typeface="Arial"/>
                <a:cs typeface="Arial"/>
                <a:sym typeface="Arial"/>
              </a:rPr>
              <a:t> or </a:t>
            </a:r>
            <a:r>
              <a:rPr b="1" i="0" lang="en" sz="1800" u="none" cap="none" strike="noStrike">
                <a:solidFill>
                  <a:schemeClr val="dk1"/>
                </a:solidFill>
                <a:latin typeface="Arial"/>
                <a:ea typeface="Arial"/>
                <a:cs typeface="Arial"/>
                <a:sym typeface="Arial"/>
              </a:rPr>
              <a:t>homozygous</a:t>
            </a:r>
            <a:r>
              <a:rPr b="0" i="0" lang="en"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What is this dragon's </a:t>
            </a:r>
            <a:r>
              <a:rPr b="1" i="0" lang="en" sz="1800" u="none" cap="none" strike="noStrike">
                <a:solidFill>
                  <a:schemeClr val="dk1"/>
                </a:solidFill>
                <a:latin typeface="Arial"/>
                <a:ea typeface="Arial"/>
                <a:cs typeface="Arial"/>
                <a:sym typeface="Arial"/>
              </a:rPr>
              <a:t>phenotype</a:t>
            </a:r>
            <a:r>
              <a:rPr b="0" i="0" lang="en" sz="1800" u="none" cap="none" strike="noStrike">
                <a:solidFill>
                  <a:schemeClr val="dk1"/>
                </a:solidFill>
                <a:latin typeface="Arial"/>
                <a:ea typeface="Arial"/>
                <a:cs typeface="Arial"/>
                <a:sym typeface="Arial"/>
              </a:rPr>
              <a:t>? Will it breathe fire? </a:t>
            </a:r>
            <a:endParaRPr b="0" i="0" sz="1800" u="none" cap="none" strike="noStrike">
              <a:solidFill>
                <a:schemeClr val="dk1"/>
              </a:solidFill>
              <a:latin typeface="Arial"/>
              <a:ea typeface="Arial"/>
              <a:cs typeface="Arial"/>
              <a:sym typeface="Arial"/>
            </a:endParaRPr>
          </a:p>
          <a:p>
            <a:pPr indent="-342900" lvl="0" marL="457200" marR="0" rtl="0" algn="just">
              <a:lnSpc>
                <a:spcPct val="150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Arial"/>
                <a:ea typeface="Arial"/>
                <a:cs typeface="Arial"/>
                <a:sym typeface="Arial"/>
              </a:rPr>
              <a:t>What is the only </a:t>
            </a:r>
            <a:r>
              <a:rPr b="1" i="0" lang="en" sz="1800" u="none" cap="none" strike="noStrike">
                <a:solidFill>
                  <a:schemeClr val="dk1"/>
                </a:solidFill>
                <a:latin typeface="Arial"/>
                <a:ea typeface="Arial"/>
                <a:cs typeface="Arial"/>
                <a:sym typeface="Arial"/>
              </a:rPr>
              <a:t>genotype</a:t>
            </a:r>
            <a:r>
              <a:rPr b="0" i="0" lang="en" sz="1800" u="none" cap="none" strike="noStrike">
                <a:solidFill>
                  <a:schemeClr val="dk1"/>
                </a:solidFill>
                <a:latin typeface="Arial"/>
                <a:ea typeface="Arial"/>
                <a:cs typeface="Arial"/>
                <a:sym typeface="Arial"/>
              </a:rPr>
              <a:t> that produces a non-fire-breathing dragon? </a:t>
            </a:r>
            <a:endParaRPr b="0" i="0" sz="1800" u="none" cap="none" strike="noStrike">
              <a:solidFill>
                <a:schemeClr val="dk1"/>
              </a:solidFill>
              <a:latin typeface="Arial"/>
              <a:ea typeface="Arial"/>
              <a:cs typeface="Arial"/>
              <a:sym typeface="Arial"/>
            </a:endParaRPr>
          </a:p>
        </p:txBody>
      </p:sp>
      <p:sp>
        <p:nvSpPr>
          <p:cNvPr id="301" name="Google Shape;301;g3f9de480475_0_11"/>
          <p:cNvSpPr txBox="1"/>
          <p:nvPr/>
        </p:nvSpPr>
        <p:spPr>
          <a:xfrm>
            <a:off x="4501725" y="2363500"/>
            <a:ext cx="845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Arial"/>
                <a:ea typeface="Arial"/>
                <a:cs typeface="Arial"/>
                <a:sym typeface="Arial"/>
              </a:rPr>
              <a:t>Ff</a:t>
            </a:r>
            <a:endParaRPr b="1" i="0" sz="3000" u="none" cap="none" strike="noStrike">
              <a:solidFill>
                <a:srgbClr val="FF0000"/>
              </a:solidFill>
              <a:latin typeface="Arial"/>
              <a:ea typeface="Arial"/>
              <a:cs typeface="Arial"/>
              <a:sym typeface="Arial"/>
            </a:endParaRPr>
          </a:p>
        </p:txBody>
      </p:sp>
      <p:sp>
        <p:nvSpPr>
          <p:cNvPr id="302" name="Google Shape;302;g3f9de480475_0_11"/>
          <p:cNvSpPr txBox="1"/>
          <p:nvPr/>
        </p:nvSpPr>
        <p:spPr>
          <a:xfrm>
            <a:off x="6160475" y="2363500"/>
            <a:ext cx="3080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Arial"/>
                <a:ea typeface="Arial"/>
                <a:cs typeface="Arial"/>
                <a:sym typeface="Arial"/>
              </a:rPr>
              <a:t>heterozygous</a:t>
            </a:r>
            <a:endParaRPr b="1" i="0" sz="3000" u="none" cap="none" strike="noStrike">
              <a:solidFill>
                <a:srgbClr val="FF0000"/>
              </a:solidFill>
              <a:latin typeface="Arial"/>
              <a:ea typeface="Arial"/>
              <a:cs typeface="Arial"/>
              <a:sym typeface="Arial"/>
            </a:endParaRPr>
          </a:p>
        </p:txBody>
      </p:sp>
      <p:sp>
        <p:nvSpPr>
          <p:cNvPr id="303" name="Google Shape;303;g3f9de480475_0_11"/>
          <p:cNvSpPr txBox="1"/>
          <p:nvPr/>
        </p:nvSpPr>
        <p:spPr>
          <a:xfrm>
            <a:off x="4414325" y="3562025"/>
            <a:ext cx="3780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Arial"/>
                <a:ea typeface="Arial"/>
                <a:cs typeface="Arial"/>
                <a:sym typeface="Arial"/>
              </a:rPr>
              <a:t>Yes, fire-breathing</a:t>
            </a:r>
            <a:endParaRPr b="1" i="0" sz="3000" u="none" cap="none" strike="noStrike">
              <a:solidFill>
                <a:srgbClr val="FF0000"/>
              </a:solidFill>
              <a:latin typeface="Arial"/>
              <a:ea typeface="Arial"/>
              <a:cs typeface="Arial"/>
              <a:sym typeface="Arial"/>
            </a:endParaRPr>
          </a:p>
        </p:txBody>
      </p:sp>
      <p:sp>
        <p:nvSpPr>
          <p:cNvPr id="304" name="Google Shape;304;g3f9de480475_0_11"/>
          <p:cNvSpPr txBox="1"/>
          <p:nvPr/>
        </p:nvSpPr>
        <p:spPr>
          <a:xfrm>
            <a:off x="6504000" y="4497000"/>
            <a:ext cx="1070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00"/>
                </a:solidFill>
                <a:latin typeface="Arial"/>
                <a:ea typeface="Arial"/>
                <a:cs typeface="Arial"/>
                <a:sym typeface="Arial"/>
              </a:rPr>
              <a:t>ff</a:t>
            </a:r>
            <a:endParaRPr b="1" i="0" sz="30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14"/>
          <p:cNvPicPr preferRelativeResize="0"/>
          <p:nvPr/>
        </p:nvPicPr>
        <p:blipFill rotWithShape="1">
          <a:blip r:embed="rId3">
            <a:alphaModFix/>
          </a:blip>
          <a:srcRect b="0" l="0" r="0" t="0"/>
          <a:stretch/>
        </p:blipFill>
        <p:spPr>
          <a:xfrm>
            <a:off x="2021650" y="46550"/>
            <a:ext cx="7122350" cy="5050400"/>
          </a:xfrm>
          <a:prstGeom prst="rect">
            <a:avLst/>
          </a:prstGeom>
          <a:noFill/>
          <a:ln>
            <a:noFill/>
          </a:ln>
        </p:spPr>
      </p:pic>
      <p:sp>
        <p:nvSpPr>
          <p:cNvPr id="310" name="Google Shape;310;p14"/>
          <p:cNvSpPr txBox="1"/>
          <p:nvPr/>
        </p:nvSpPr>
        <p:spPr>
          <a:xfrm>
            <a:off x="40150" y="1244975"/>
            <a:ext cx="1851600" cy="188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900"/>
              </a:spcBef>
              <a:spcAft>
                <a:spcPts val="0"/>
              </a:spcAft>
              <a:buClr>
                <a:schemeClr val="dk1"/>
              </a:buClr>
              <a:buSzPts val="1100"/>
              <a:buFont typeface="Arial"/>
              <a:buNone/>
            </a:pPr>
            <a:r>
              <a:rPr b="0" i="0" lang="en" sz="2000" u="none" cap="none" strike="noStrike">
                <a:solidFill>
                  <a:schemeClr val="dk1"/>
                </a:solidFill>
                <a:latin typeface="Roboto"/>
                <a:ea typeface="Roboto"/>
                <a:cs typeface="Roboto"/>
                <a:sym typeface="Roboto"/>
              </a:rPr>
              <a:t>A genetic diagram shows how chromosomes or alleles may combine in zygotes.</a:t>
            </a:r>
            <a:endParaRPr b="0" i="0" sz="2000" u="none" cap="none" strike="noStrike">
              <a:solidFill>
                <a:schemeClr val="dk1"/>
              </a:solidFill>
              <a:latin typeface="Roboto"/>
              <a:ea typeface="Roboto"/>
              <a:cs typeface="Roboto"/>
              <a:sym typeface="Roboto"/>
            </a:endParaRPr>
          </a:p>
        </p:txBody>
      </p:sp>
      <p:sp>
        <p:nvSpPr>
          <p:cNvPr id="311" name="Google Shape;311;p14"/>
          <p:cNvSpPr txBox="1"/>
          <p:nvPr>
            <p:ph idx="12" type="sldNum"/>
          </p:nvPr>
        </p:nvSpPr>
        <p:spPr>
          <a:xfrm>
            <a:off x="-75" y="0"/>
            <a:ext cx="1851600" cy="1140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2400"/>
              <a:buFont typeface="Arial"/>
              <a:buNone/>
            </a:pPr>
            <a:r>
              <a:rPr lang="en"/>
              <a:t>Genetic diagrams</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f8677bd842_0_0"/>
          <p:cNvSpPr txBox="1"/>
          <p:nvPr/>
        </p:nvSpPr>
        <p:spPr>
          <a:xfrm>
            <a:off x="237225" y="828506"/>
            <a:ext cx="8637600" cy="37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Practise how to draw a Punnett square to show single gene inheritance.</a:t>
            </a:r>
            <a:endParaRPr b="0" i="0" sz="2000" u="none" cap="none" strike="noStrike">
              <a:solidFill>
                <a:schemeClr val="dk1"/>
              </a:solidFill>
              <a:latin typeface="Arial"/>
              <a:ea typeface="Arial"/>
              <a:cs typeface="Arial"/>
              <a:sym typeface="Arial"/>
            </a:endParaRPr>
          </a:p>
        </p:txBody>
      </p:sp>
      <p:graphicFrame>
        <p:nvGraphicFramePr>
          <p:cNvPr id="318" name="Google Shape;318;g3f8677bd842_0_0"/>
          <p:cNvGraphicFramePr/>
          <p:nvPr/>
        </p:nvGraphicFramePr>
        <p:xfrm>
          <a:off x="237225" y="1334306"/>
          <a:ext cx="3000000" cy="3000000"/>
        </p:xfrm>
        <a:graphic>
          <a:graphicData uri="http://schemas.openxmlformats.org/drawingml/2006/table">
            <a:tbl>
              <a:tblPr>
                <a:noFill/>
                <a:tableStyleId>{CC004527-5937-4E58-A188-62C8517E1519}</a:tableStyleId>
              </a:tblPr>
              <a:tblGrid>
                <a:gridCol w="1882000"/>
                <a:gridCol w="2695525"/>
                <a:gridCol w="2448400"/>
                <a:gridCol w="1807175"/>
              </a:tblGrid>
              <a:tr h="1005575">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1</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First, draw a grid with 4 squares</a:t>
                      </a:r>
                      <a:endParaRPr sz="1100" u="none" cap="none" strike="noStrike">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2</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Put the possible gametes (eggs and sperm) </a:t>
                      </a:r>
                      <a:endParaRPr sz="1100" u="none" cap="none" strike="noStrike">
                        <a:latin typeface="Arial"/>
                        <a:ea typeface="Arial"/>
                        <a:cs typeface="Arial"/>
                        <a:sym typeface="Arial"/>
                      </a:endParaRPr>
                    </a:p>
                    <a:p>
                      <a:pPr indent="-234950" lvl="0" marL="342900" marR="0" rtl="0" algn="l">
                        <a:lnSpc>
                          <a:spcPct val="100000"/>
                        </a:lnSpc>
                        <a:spcBef>
                          <a:spcPts val="800"/>
                        </a:spcBef>
                        <a:spcAft>
                          <a:spcPts val="0"/>
                        </a:spcAft>
                        <a:buClr>
                          <a:srgbClr val="000000"/>
                        </a:buClr>
                        <a:buSzPts val="1100"/>
                        <a:buFont typeface="Arial"/>
                        <a:buChar char="●"/>
                      </a:pPr>
                      <a:r>
                        <a:rPr lang="en" sz="1100" u="none" cap="none" strike="noStrike">
                          <a:latin typeface="Arial"/>
                          <a:ea typeface="Arial"/>
                          <a:cs typeface="Arial"/>
                          <a:sym typeface="Arial"/>
                        </a:rPr>
                        <a:t>from one parent down the side, </a:t>
                      </a:r>
                      <a:endParaRPr sz="1100" u="none" cap="none" strike="noStrike">
                        <a:latin typeface="Arial"/>
                        <a:ea typeface="Arial"/>
                        <a:cs typeface="Arial"/>
                        <a:sym typeface="Arial"/>
                      </a:endParaRPr>
                    </a:p>
                    <a:p>
                      <a:pPr indent="-234950" lvl="0" marL="342900" marR="0" rtl="0" algn="l">
                        <a:lnSpc>
                          <a:spcPct val="100000"/>
                        </a:lnSpc>
                        <a:spcBef>
                          <a:spcPts val="0"/>
                        </a:spcBef>
                        <a:spcAft>
                          <a:spcPts val="0"/>
                        </a:spcAft>
                        <a:buClr>
                          <a:srgbClr val="000000"/>
                        </a:buClr>
                        <a:buSzPts val="1100"/>
                        <a:buFont typeface="Arial"/>
                        <a:buChar char="●"/>
                      </a:pPr>
                      <a:r>
                        <a:rPr lang="en" sz="1100" u="none" cap="none" strike="noStrike">
                          <a:latin typeface="Arial"/>
                          <a:ea typeface="Arial"/>
                          <a:cs typeface="Arial"/>
                          <a:sym typeface="Arial"/>
                        </a:rPr>
                        <a:t>those from the other parent along the top.</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3</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Then in each middle square, fill the letters from the top and the side that line up with the square - the pairs of letters show the possible combination of gametes.</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Finished diagram</a:t>
                      </a:r>
                      <a:endParaRPr b="1" sz="1100" u="none" cap="none" strike="noStrike">
                        <a:solidFill>
                          <a:srgbClr val="0DB7C4"/>
                        </a:solidFill>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319" name="Google Shape;319;g3f8677bd842_0_0"/>
          <p:cNvGraphicFramePr/>
          <p:nvPr/>
        </p:nvGraphicFramePr>
        <p:xfrm>
          <a:off x="3230213" y="3265013"/>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320" name="Google Shape;320;g3f8677bd842_0_0"/>
          <p:cNvGraphicFramePr/>
          <p:nvPr/>
        </p:nvGraphicFramePr>
        <p:xfrm>
          <a:off x="567775" y="325756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bl>
          </a:graphicData>
        </a:graphic>
      </p:graphicFrame>
      <p:sp>
        <p:nvSpPr>
          <p:cNvPr id="321" name="Google Shape;321;g3f8677bd842_0_0"/>
          <p:cNvSpPr txBox="1"/>
          <p:nvPr/>
        </p:nvSpPr>
        <p:spPr>
          <a:xfrm>
            <a:off x="2975900" y="2595400"/>
            <a:ext cx="1673100" cy="67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Female gametes</a:t>
            </a:r>
            <a:endParaRPr b="1" i="0" sz="1400" u="none" cap="none" strike="noStrike">
              <a:solidFill>
                <a:srgbClr val="0DB7C4"/>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322" name="Google Shape;322;g3f8677bd842_0_0"/>
          <p:cNvSpPr txBox="1"/>
          <p:nvPr/>
        </p:nvSpPr>
        <p:spPr>
          <a:xfrm>
            <a:off x="2807438" y="3168338"/>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23" name="Google Shape;323;g3f8677bd842_0_0"/>
          <p:cNvSpPr txBox="1"/>
          <p:nvPr/>
        </p:nvSpPr>
        <p:spPr>
          <a:xfrm>
            <a:off x="2807313" y="3606563"/>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24" name="Google Shape;324;g3f8677bd842_0_0"/>
          <p:cNvSpPr txBox="1"/>
          <p:nvPr/>
        </p:nvSpPr>
        <p:spPr>
          <a:xfrm rot="-5400000">
            <a:off x="1973050" y="3358000"/>
            <a:ext cx="1459200" cy="38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Male gametes</a:t>
            </a:r>
            <a:endParaRPr b="1" i="0" sz="1400" u="none" cap="none" strike="noStrike">
              <a:solidFill>
                <a:srgbClr val="0DB7C4"/>
              </a:solidFill>
              <a:latin typeface="Arial"/>
              <a:ea typeface="Arial"/>
              <a:cs typeface="Arial"/>
              <a:sym typeface="Arial"/>
            </a:endParaRPr>
          </a:p>
        </p:txBody>
      </p:sp>
      <p:graphicFrame>
        <p:nvGraphicFramePr>
          <p:cNvPr id="325" name="Google Shape;325;g3f8677bd842_0_0"/>
          <p:cNvGraphicFramePr/>
          <p:nvPr/>
        </p:nvGraphicFramePr>
        <p:xfrm>
          <a:off x="5283600" y="322711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Calibri"/>
                          <a:ea typeface="Calibri"/>
                          <a:cs typeface="Calibri"/>
                          <a:sym typeface="Calibri"/>
                        </a:rPr>
                        <a:t> BB</a:t>
                      </a:r>
                      <a:endParaRPr b="1" sz="1100" u="none" cap="none" strike="noStrike">
                        <a:solidFill>
                          <a:srgbClr val="0DB7C4"/>
                        </a:solidFil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26" name="Google Shape;326;g3f8677bd842_0_0"/>
          <p:cNvSpPr txBox="1"/>
          <p:nvPr/>
        </p:nvSpPr>
        <p:spPr>
          <a:xfrm>
            <a:off x="5136100" y="2677856"/>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Calibri"/>
                <a:ea typeface="Calibri"/>
                <a:cs typeface="Calibri"/>
                <a:sym typeface="Calibri"/>
              </a:rPr>
              <a:t>B	  b</a:t>
            </a:r>
            <a:endParaRPr b="0" i="0" sz="2400" u="none" cap="none" strike="noStrike">
              <a:solidFill>
                <a:schemeClr val="dk1"/>
              </a:solidFill>
              <a:latin typeface="Calibri"/>
              <a:ea typeface="Calibri"/>
              <a:cs typeface="Calibri"/>
              <a:sym typeface="Calibri"/>
            </a:endParaRPr>
          </a:p>
        </p:txBody>
      </p:sp>
      <p:sp>
        <p:nvSpPr>
          <p:cNvPr id="327" name="Google Shape;327;g3f8677bd842_0_0"/>
          <p:cNvSpPr txBox="1"/>
          <p:nvPr/>
        </p:nvSpPr>
        <p:spPr>
          <a:xfrm>
            <a:off x="4865950" y="3168356"/>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sp>
        <p:nvSpPr>
          <p:cNvPr id="328" name="Google Shape;328;g3f8677bd842_0_0"/>
          <p:cNvSpPr txBox="1"/>
          <p:nvPr/>
        </p:nvSpPr>
        <p:spPr>
          <a:xfrm>
            <a:off x="4865825" y="3589031"/>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cxnSp>
        <p:nvCxnSpPr>
          <p:cNvPr id="329" name="Google Shape;329;g3f8677bd842_0_0"/>
          <p:cNvCxnSpPr/>
          <p:nvPr/>
        </p:nvCxnSpPr>
        <p:spPr>
          <a:xfrm flipH="1" rot="10800000">
            <a:off x="5153525" y="3468019"/>
            <a:ext cx="261600" cy="8400"/>
          </a:xfrm>
          <a:prstGeom prst="straightConnector1">
            <a:avLst/>
          </a:prstGeom>
          <a:noFill/>
          <a:ln cap="flat" cmpd="sng" w="9525">
            <a:solidFill>
              <a:srgbClr val="0DB7C4"/>
            </a:solidFill>
            <a:prstDash val="solid"/>
            <a:round/>
            <a:headEnd len="sm" w="sm" type="none"/>
            <a:tailEnd len="med" w="med" type="triangle"/>
          </a:ln>
        </p:spPr>
      </p:cxnSp>
      <p:cxnSp>
        <p:nvCxnSpPr>
          <p:cNvPr id="330" name="Google Shape;330;g3f8677bd842_0_0"/>
          <p:cNvCxnSpPr/>
          <p:nvPr/>
        </p:nvCxnSpPr>
        <p:spPr>
          <a:xfrm>
            <a:off x="5568350" y="3114125"/>
            <a:ext cx="61500" cy="245700"/>
          </a:xfrm>
          <a:prstGeom prst="straightConnector1">
            <a:avLst/>
          </a:prstGeom>
          <a:noFill/>
          <a:ln cap="flat" cmpd="sng" w="9525">
            <a:solidFill>
              <a:srgbClr val="0DB7C4"/>
            </a:solidFill>
            <a:prstDash val="solid"/>
            <a:round/>
            <a:headEnd len="sm" w="sm" type="none"/>
            <a:tailEnd len="med" w="med" type="triangle"/>
          </a:ln>
        </p:spPr>
      </p:cxnSp>
      <p:graphicFrame>
        <p:nvGraphicFramePr>
          <p:cNvPr id="331" name="Google Shape;331;g3f8677bd842_0_0"/>
          <p:cNvGraphicFramePr/>
          <p:nvPr/>
        </p:nvGraphicFramePr>
        <p:xfrm>
          <a:off x="7342100" y="3225281"/>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32" name="Google Shape;332;g3f8677bd842_0_0"/>
          <p:cNvSpPr txBox="1"/>
          <p:nvPr/>
        </p:nvSpPr>
        <p:spPr>
          <a:xfrm>
            <a:off x="7194600" y="2676019"/>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333" name="Google Shape;333;g3f8677bd842_0_0"/>
          <p:cNvSpPr txBox="1"/>
          <p:nvPr/>
        </p:nvSpPr>
        <p:spPr>
          <a:xfrm>
            <a:off x="6924450" y="3168349"/>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34" name="Google Shape;334;g3f8677bd842_0_0"/>
          <p:cNvSpPr txBox="1"/>
          <p:nvPr/>
        </p:nvSpPr>
        <p:spPr>
          <a:xfrm>
            <a:off x="6924325" y="3549123"/>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35" name="Google Shape;335;g3f8677bd842_0_0"/>
          <p:cNvSpPr txBox="1"/>
          <p:nvPr/>
        </p:nvSpPr>
        <p:spPr>
          <a:xfrm>
            <a:off x="7394475" y="1608800"/>
            <a:ext cx="1121700" cy="97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3399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36" name="Google Shape;336;g3f8677bd842_0_0"/>
          <p:cNvSpPr txBox="1"/>
          <p:nvPr/>
        </p:nvSpPr>
        <p:spPr>
          <a:xfrm>
            <a:off x="237225" y="4269125"/>
            <a:ext cx="8564700" cy="7896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2000"/>
              <a:buFont typeface="Arial"/>
              <a:buNone/>
            </a:pPr>
            <a:r>
              <a:rPr b="1" i="0" lang="en" sz="1800" u="none" cap="none" strike="noStrike">
                <a:solidFill>
                  <a:srgbClr val="000000"/>
                </a:solidFill>
                <a:latin typeface="Arial"/>
                <a:ea typeface="Arial"/>
                <a:cs typeface="Arial"/>
                <a:sym typeface="Arial"/>
              </a:rPr>
              <a:t>Q1:</a:t>
            </a:r>
            <a:r>
              <a:rPr b="0" i="0" lang="en" sz="1800" u="none" cap="none" strike="noStrike">
                <a:solidFill>
                  <a:srgbClr val="000000"/>
                </a:solidFill>
                <a:latin typeface="Arial"/>
                <a:ea typeface="Arial"/>
                <a:cs typeface="Arial"/>
                <a:sym typeface="Arial"/>
              </a:rPr>
              <a:t> What is the probability of getting a child with brown eyes?</a:t>
            </a:r>
            <a:endParaRPr b="0" i="0" sz="18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1000"/>
              </a:spcAft>
              <a:buClr>
                <a:srgbClr val="000000"/>
              </a:buClr>
              <a:buSzPts val="2000"/>
              <a:buFont typeface="Arial"/>
              <a:buNone/>
            </a:pPr>
            <a:r>
              <a:rPr b="0" i="0" lang="en" sz="1800" u="none" cap="none" strike="noStrike">
                <a:solidFill>
                  <a:srgbClr val="000000"/>
                </a:solidFill>
                <a:latin typeface="Arial"/>
                <a:ea typeface="Arial"/>
                <a:cs typeface="Arial"/>
                <a:sym typeface="Arial"/>
              </a:rPr>
              <a:t>     Heterozygous (Bb) mother x Heterozygous father (Bb)				</a:t>
            </a:r>
            <a:endParaRPr b="0" i="0" sz="1800" u="none" cap="none" strike="noStrike">
              <a:solidFill>
                <a:srgbClr val="000000"/>
              </a:solidFill>
              <a:latin typeface="Arial"/>
              <a:ea typeface="Arial"/>
              <a:cs typeface="Arial"/>
              <a:sym typeface="Arial"/>
            </a:endParaRPr>
          </a:p>
        </p:txBody>
      </p:sp>
      <p:sp>
        <p:nvSpPr>
          <p:cNvPr id="337" name="Google Shape;337;g3f8677bd842_0_0"/>
          <p:cNvSpPr txBox="1"/>
          <p:nvPr/>
        </p:nvSpPr>
        <p:spPr>
          <a:xfrm>
            <a:off x="7194600" y="4432181"/>
            <a:ext cx="16077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p:txBody>
      </p:sp>
      <p:pic>
        <p:nvPicPr>
          <p:cNvPr id="338" name="Google Shape;338;g3f8677bd842_0_0"/>
          <p:cNvPicPr preferRelativeResize="0"/>
          <p:nvPr/>
        </p:nvPicPr>
        <p:blipFill rotWithShape="1">
          <a:blip r:embed="rId3">
            <a:alphaModFix/>
          </a:blip>
          <a:srcRect b="0" l="0" r="0" t="0"/>
          <a:stretch/>
        </p:blipFill>
        <p:spPr>
          <a:xfrm>
            <a:off x="6552700" y="4585281"/>
            <a:ext cx="841200" cy="487195"/>
          </a:xfrm>
          <a:prstGeom prst="rect">
            <a:avLst/>
          </a:prstGeom>
          <a:noFill/>
          <a:ln>
            <a:noFill/>
          </a:ln>
        </p:spPr>
      </p:pic>
      <p:pic>
        <p:nvPicPr>
          <p:cNvPr id="339" name="Google Shape;339;g3f8677bd842_0_0"/>
          <p:cNvPicPr preferRelativeResize="0"/>
          <p:nvPr/>
        </p:nvPicPr>
        <p:blipFill rotWithShape="1">
          <a:blip r:embed="rId3">
            <a:alphaModFix/>
          </a:blip>
          <a:srcRect b="0" l="0" r="0" t="0"/>
          <a:stretch/>
        </p:blipFill>
        <p:spPr>
          <a:xfrm>
            <a:off x="158500" y="4571531"/>
            <a:ext cx="841200" cy="487195"/>
          </a:xfrm>
          <a:prstGeom prst="rect">
            <a:avLst/>
          </a:prstGeom>
          <a:noFill/>
          <a:ln>
            <a:noFill/>
          </a:ln>
        </p:spPr>
      </p:pic>
      <p:sp>
        <p:nvSpPr>
          <p:cNvPr id="340" name="Google Shape;340;g3f8677bd842_0_0"/>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5"/>
          <p:cNvSpPr txBox="1"/>
          <p:nvPr/>
        </p:nvSpPr>
        <p:spPr>
          <a:xfrm>
            <a:off x="237225" y="828506"/>
            <a:ext cx="8637600" cy="37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Practise how to draw a Punnett square to show single gene inheritance.</a:t>
            </a:r>
            <a:endParaRPr b="0" i="0" sz="2000" u="none" cap="none" strike="noStrike">
              <a:solidFill>
                <a:schemeClr val="dk1"/>
              </a:solidFill>
              <a:latin typeface="Arial"/>
              <a:ea typeface="Arial"/>
              <a:cs typeface="Arial"/>
              <a:sym typeface="Arial"/>
            </a:endParaRPr>
          </a:p>
        </p:txBody>
      </p:sp>
      <p:graphicFrame>
        <p:nvGraphicFramePr>
          <p:cNvPr id="347" name="Google Shape;347;p15"/>
          <p:cNvGraphicFramePr/>
          <p:nvPr/>
        </p:nvGraphicFramePr>
        <p:xfrm>
          <a:off x="237225" y="1334306"/>
          <a:ext cx="3000000" cy="3000000"/>
        </p:xfrm>
        <a:graphic>
          <a:graphicData uri="http://schemas.openxmlformats.org/drawingml/2006/table">
            <a:tbl>
              <a:tblPr>
                <a:noFill/>
                <a:tableStyleId>{CC004527-5937-4E58-A188-62C8517E1519}</a:tableStyleId>
              </a:tblPr>
              <a:tblGrid>
                <a:gridCol w="1882000"/>
                <a:gridCol w="2695525"/>
                <a:gridCol w="2448400"/>
                <a:gridCol w="1807175"/>
              </a:tblGrid>
              <a:tr h="1005575">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1</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First, draw a grid with 4 squares</a:t>
                      </a:r>
                      <a:endParaRPr sz="1100" u="none" cap="none" strike="noStrike">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2</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Put the possible gametes (eggs and sperm) </a:t>
                      </a:r>
                      <a:endParaRPr sz="1100" u="none" cap="none" strike="noStrike">
                        <a:latin typeface="Arial"/>
                        <a:ea typeface="Arial"/>
                        <a:cs typeface="Arial"/>
                        <a:sym typeface="Arial"/>
                      </a:endParaRPr>
                    </a:p>
                    <a:p>
                      <a:pPr indent="-234950" lvl="0" marL="342900" marR="0" rtl="0" algn="l">
                        <a:lnSpc>
                          <a:spcPct val="100000"/>
                        </a:lnSpc>
                        <a:spcBef>
                          <a:spcPts val="800"/>
                        </a:spcBef>
                        <a:spcAft>
                          <a:spcPts val="0"/>
                        </a:spcAft>
                        <a:buClr>
                          <a:srgbClr val="000000"/>
                        </a:buClr>
                        <a:buSzPts val="1100"/>
                        <a:buFont typeface="Arial"/>
                        <a:buChar char="●"/>
                      </a:pPr>
                      <a:r>
                        <a:rPr lang="en" sz="1100" u="none" cap="none" strike="noStrike">
                          <a:latin typeface="Arial"/>
                          <a:ea typeface="Arial"/>
                          <a:cs typeface="Arial"/>
                          <a:sym typeface="Arial"/>
                        </a:rPr>
                        <a:t>from one parent down the side, </a:t>
                      </a:r>
                      <a:endParaRPr sz="1100" u="none" cap="none" strike="noStrike">
                        <a:latin typeface="Arial"/>
                        <a:ea typeface="Arial"/>
                        <a:cs typeface="Arial"/>
                        <a:sym typeface="Arial"/>
                      </a:endParaRPr>
                    </a:p>
                    <a:p>
                      <a:pPr indent="-234950" lvl="0" marL="342900" marR="0" rtl="0" algn="l">
                        <a:lnSpc>
                          <a:spcPct val="100000"/>
                        </a:lnSpc>
                        <a:spcBef>
                          <a:spcPts val="0"/>
                        </a:spcBef>
                        <a:spcAft>
                          <a:spcPts val="0"/>
                        </a:spcAft>
                        <a:buClr>
                          <a:srgbClr val="000000"/>
                        </a:buClr>
                        <a:buSzPts val="1100"/>
                        <a:buFont typeface="Arial"/>
                        <a:buChar char="●"/>
                      </a:pPr>
                      <a:r>
                        <a:rPr lang="en" sz="1100" u="none" cap="none" strike="noStrike">
                          <a:latin typeface="Arial"/>
                          <a:ea typeface="Arial"/>
                          <a:cs typeface="Arial"/>
                          <a:sym typeface="Arial"/>
                        </a:rPr>
                        <a:t>those from the other parent along the top.</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3</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Then in each middle square, fill the letters from the top and the side that line up with the square - the pairs of letters show the possible combination of gametes.</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Finished diagram</a:t>
                      </a:r>
                      <a:endParaRPr b="1" sz="1100" u="none" cap="none" strike="noStrike">
                        <a:solidFill>
                          <a:srgbClr val="0DB7C4"/>
                        </a:solidFill>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348" name="Google Shape;348;p15"/>
          <p:cNvGraphicFramePr/>
          <p:nvPr/>
        </p:nvGraphicFramePr>
        <p:xfrm>
          <a:off x="3230213" y="3265013"/>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349" name="Google Shape;349;p15"/>
          <p:cNvGraphicFramePr/>
          <p:nvPr/>
        </p:nvGraphicFramePr>
        <p:xfrm>
          <a:off x="567775" y="325756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bl>
          </a:graphicData>
        </a:graphic>
      </p:graphicFrame>
      <p:sp>
        <p:nvSpPr>
          <p:cNvPr id="350" name="Google Shape;350;p15"/>
          <p:cNvSpPr txBox="1"/>
          <p:nvPr/>
        </p:nvSpPr>
        <p:spPr>
          <a:xfrm>
            <a:off x="2975900" y="2595400"/>
            <a:ext cx="1673100" cy="67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Female gametes</a:t>
            </a:r>
            <a:endParaRPr b="1" i="0" sz="1400" u="none" cap="none" strike="noStrike">
              <a:solidFill>
                <a:srgbClr val="0DB7C4"/>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351" name="Google Shape;351;p15"/>
          <p:cNvSpPr txBox="1"/>
          <p:nvPr/>
        </p:nvSpPr>
        <p:spPr>
          <a:xfrm>
            <a:off x="2807438" y="3168338"/>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52" name="Google Shape;352;p15"/>
          <p:cNvSpPr txBox="1"/>
          <p:nvPr/>
        </p:nvSpPr>
        <p:spPr>
          <a:xfrm>
            <a:off x="2807313" y="3606563"/>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53" name="Google Shape;353;p15"/>
          <p:cNvSpPr txBox="1"/>
          <p:nvPr/>
        </p:nvSpPr>
        <p:spPr>
          <a:xfrm rot="-5400000">
            <a:off x="1973050" y="3358000"/>
            <a:ext cx="1459200" cy="38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Male gametes</a:t>
            </a:r>
            <a:endParaRPr b="1" i="0" sz="1400" u="none" cap="none" strike="noStrike">
              <a:solidFill>
                <a:srgbClr val="0DB7C4"/>
              </a:solidFill>
              <a:latin typeface="Arial"/>
              <a:ea typeface="Arial"/>
              <a:cs typeface="Arial"/>
              <a:sym typeface="Arial"/>
            </a:endParaRPr>
          </a:p>
        </p:txBody>
      </p:sp>
      <p:graphicFrame>
        <p:nvGraphicFramePr>
          <p:cNvPr id="354" name="Google Shape;354;p15"/>
          <p:cNvGraphicFramePr/>
          <p:nvPr/>
        </p:nvGraphicFramePr>
        <p:xfrm>
          <a:off x="5283600" y="322711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Calibri"/>
                          <a:ea typeface="Calibri"/>
                          <a:cs typeface="Calibri"/>
                          <a:sym typeface="Calibri"/>
                        </a:rPr>
                        <a:t> BB</a:t>
                      </a:r>
                      <a:endParaRPr b="1" sz="1100" u="none" cap="none" strike="noStrike">
                        <a:solidFill>
                          <a:srgbClr val="0DB7C4"/>
                        </a:solidFil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55" name="Google Shape;355;p15"/>
          <p:cNvSpPr txBox="1"/>
          <p:nvPr/>
        </p:nvSpPr>
        <p:spPr>
          <a:xfrm>
            <a:off x="5136100" y="2677856"/>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Calibri"/>
                <a:ea typeface="Calibri"/>
                <a:cs typeface="Calibri"/>
                <a:sym typeface="Calibri"/>
              </a:rPr>
              <a:t>B	  b</a:t>
            </a:r>
            <a:endParaRPr b="0" i="0" sz="2400" u="none" cap="none" strike="noStrike">
              <a:solidFill>
                <a:schemeClr val="dk1"/>
              </a:solidFill>
              <a:latin typeface="Calibri"/>
              <a:ea typeface="Calibri"/>
              <a:cs typeface="Calibri"/>
              <a:sym typeface="Calibri"/>
            </a:endParaRPr>
          </a:p>
        </p:txBody>
      </p:sp>
      <p:sp>
        <p:nvSpPr>
          <p:cNvPr id="356" name="Google Shape;356;p15"/>
          <p:cNvSpPr txBox="1"/>
          <p:nvPr/>
        </p:nvSpPr>
        <p:spPr>
          <a:xfrm>
            <a:off x="4865950" y="3168356"/>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sp>
        <p:nvSpPr>
          <p:cNvPr id="357" name="Google Shape;357;p15"/>
          <p:cNvSpPr txBox="1"/>
          <p:nvPr/>
        </p:nvSpPr>
        <p:spPr>
          <a:xfrm>
            <a:off x="4865825" y="3589031"/>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cxnSp>
        <p:nvCxnSpPr>
          <p:cNvPr id="358" name="Google Shape;358;p15"/>
          <p:cNvCxnSpPr/>
          <p:nvPr/>
        </p:nvCxnSpPr>
        <p:spPr>
          <a:xfrm flipH="1" rot="10800000">
            <a:off x="5153525" y="3468019"/>
            <a:ext cx="261600" cy="8400"/>
          </a:xfrm>
          <a:prstGeom prst="straightConnector1">
            <a:avLst/>
          </a:prstGeom>
          <a:noFill/>
          <a:ln cap="flat" cmpd="sng" w="9525">
            <a:solidFill>
              <a:srgbClr val="0DB7C4"/>
            </a:solidFill>
            <a:prstDash val="solid"/>
            <a:round/>
            <a:headEnd len="sm" w="sm" type="none"/>
            <a:tailEnd len="med" w="med" type="triangle"/>
          </a:ln>
        </p:spPr>
      </p:cxnSp>
      <p:cxnSp>
        <p:nvCxnSpPr>
          <p:cNvPr id="359" name="Google Shape;359;p15"/>
          <p:cNvCxnSpPr/>
          <p:nvPr/>
        </p:nvCxnSpPr>
        <p:spPr>
          <a:xfrm>
            <a:off x="5568350" y="3114125"/>
            <a:ext cx="61500" cy="245700"/>
          </a:xfrm>
          <a:prstGeom prst="straightConnector1">
            <a:avLst/>
          </a:prstGeom>
          <a:noFill/>
          <a:ln cap="flat" cmpd="sng" w="9525">
            <a:solidFill>
              <a:srgbClr val="0DB7C4"/>
            </a:solidFill>
            <a:prstDash val="solid"/>
            <a:round/>
            <a:headEnd len="sm" w="sm" type="none"/>
            <a:tailEnd len="med" w="med" type="triangle"/>
          </a:ln>
        </p:spPr>
      </p:cxnSp>
      <p:graphicFrame>
        <p:nvGraphicFramePr>
          <p:cNvPr id="360" name="Google Shape;360;p15"/>
          <p:cNvGraphicFramePr/>
          <p:nvPr/>
        </p:nvGraphicFramePr>
        <p:xfrm>
          <a:off x="7342100" y="3225281"/>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61" name="Google Shape;361;p15"/>
          <p:cNvSpPr txBox="1"/>
          <p:nvPr/>
        </p:nvSpPr>
        <p:spPr>
          <a:xfrm>
            <a:off x="7194600" y="2676019"/>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362" name="Google Shape;362;p15"/>
          <p:cNvSpPr txBox="1"/>
          <p:nvPr/>
        </p:nvSpPr>
        <p:spPr>
          <a:xfrm>
            <a:off x="6924450" y="3168349"/>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63" name="Google Shape;363;p15"/>
          <p:cNvSpPr txBox="1"/>
          <p:nvPr/>
        </p:nvSpPr>
        <p:spPr>
          <a:xfrm>
            <a:off x="6924325" y="3549123"/>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64" name="Google Shape;364;p15"/>
          <p:cNvSpPr txBox="1"/>
          <p:nvPr/>
        </p:nvSpPr>
        <p:spPr>
          <a:xfrm>
            <a:off x="7394475" y="1608800"/>
            <a:ext cx="1121700" cy="97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3399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5" name="Google Shape;365;p15"/>
          <p:cNvSpPr txBox="1"/>
          <p:nvPr/>
        </p:nvSpPr>
        <p:spPr>
          <a:xfrm>
            <a:off x="237225" y="4269125"/>
            <a:ext cx="8564700" cy="7896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2000"/>
              <a:buFont typeface="Arial"/>
              <a:buNone/>
            </a:pPr>
            <a:r>
              <a:rPr b="1" i="0" lang="en" sz="1800" u="none" cap="none" strike="noStrike">
                <a:solidFill>
                  <a:srgbClr val="000000"/>
                </a:solidFill>
                <a:latin typeface="Arial"/>
                <a:ea typeface="Arial"/>
                <a:cs typeface="Arial"/>
                <a:sym typeface="Arial"/>
              </a:rPr>
              <a:t>Q1:</a:t>
            </a:r>
            <a:r>
              <a:rPr b="0" i="0" lang="en" sz="1800" u="none" cap="none" strike="noStrike">
                <a:solidFill>
                  <a:srgbClr val="000000"/>
                </a:solidFill>
                <a:latin typeface="Arial"/>
                <a:ea typeface="Arial"/>
                <a:cs typeface="Arial"/>
                <a:sym typeface="Arial"/>
              </a:rPr>
              <a:t> What is the probability of getting a child with brown eyes?</a:t>
            </a:r>
            <a:endParaRPr b="0" i="0" sz="18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1000"/>
              </a:spcAft>
              <a:buClr>
                <a:srgbClr val="000000"/>
              </a:buClr>
              <a:buSzPts val="2000"/>
              <a:buFont typeface="Arial"/>
              <a:buNone/>
            </a:pPr>
            <a:r>
              <a:rPr b="0" i="0" lang="en" sz="1800" u="none" cap="none" strike="noStrike">
                <a:solidFill>
                  <a:srgbClr val="000000"/>
                </a:solidFill>
                <a:latin typeface="Arial"/>
                <a:ea typeface="Arial"/>
                <a:cs typeface="Arial"/>
                <a:sym typeface="Arial"/>
              </a:rPr>
              <a:t>     Heterozygous (Bb) mother x Heterozygous father (Bb)				</a:t>
            </a:r>
            <a:endParaRPr b="0" i="0" sz="1800" u="none" cap="none" strike="noStrike">
              <a:solidFill>
                <a:srgbClr val="000000"/>
              </a:solidFill>
              <a:latin typeface="Arial"/>
              <a:ea typeface="Arial"/>
              <a:cs typeface="Arial"/>
              <a:sym typeface="Arial"/>
            </a:endParaRPr>
          </a:p>
        </p:txBody>
      </p:sp>
      <p:sp>
        <p:nvSpPr>
          <p:cNvPr id="366" name="Google Shape;366;p15"/>
          <p:cNvSpPr txBox="1"/>
          <p:nvPr/>
        </p:nvSpPr>
        <p:spPr>
          <a:xfrm>
            <a:off x="7194600" y="4432181"/>
            <a:ext cx="16077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p:txBody>
      </p:sp>
      <p:pic>
        <p:nvPicPr>
          <p:cNvPr id="367" name="Google Shape;367;p15"/>
          <p:cNvPicPr preferRelativeResize="0"/>
          <p:nvPr/>
        </p:nvPicPr>
        <p:blipFill rotWithShape="1">
          <a:blip r:embed="rId3">
            <a:alphaModFix/>
          </a:blip>
          <a:srcRect b="0" l="0" r="0" t="0"/>
          <a:stretch/>
        </p:blipFill>
        <p:spPr>
          <a:xfrm>
            <a:off x="6552700" y="4585281"/>
            <a:ext cx="841200" cy="487195"/>
          </a:xfrm>
          <a:prstGeom prst="rect">
            <a:avLst/>
          </a:prstGeom>
          <a:noFill/>
          <a:ln>
            <a:noFill/>
          </a:ln>
        </p:spPr>
      </p:pic>
      <p:pic>
        <p:nvPicPr>
          <p:cNvPr id="368" name="Google Shape;368;p15"/>
          <p:cNvPicPr preferRelativeResize="0"/>
          <p:nvPr/>
        </p:nvPicPr>
        <p:blipFill rotWithShape="1">
          <a:blip r:embed="rId3">
            <a:alphaModFix/>
          </a:blip>
          <a:srcRect b="0" l="0" r="0" t="0"/>
          <a:stretch/>
        </p:blipFill>
        <p:spPr>
          <a:xfrm>
            <a:off x="158500" y="4571531"/>
            <a:ext cx="841200" cy="487195"/>
          </a:xfrm>
          <a:prstGeom prst="rect">
            <a:avLst/>
          </a:prstGeom>
          <a:noFill/>
          <a:ln>
            <a:noFill/>
          </a:ln>
        </p:spPr>
      </p:pic>
      <p:sp>
        <p:nvSpPr>
          <p:cNvPr id="369" name="Google Shape;369;p15"/>
          <p:cNvSpPr/>
          <p:nvPr/>
        </p:nvSpPr>
        <p:spPr>
          <a:xfrm>
            <a:off x="1755025" y="1627675"/>
            <a:ext cx="6066600" cy="1060500"/>
          </a:xfrm>
          <a:prstGeom prst="roundRect">
            <a:avLst>
              <a:gd fmla="val 16667" name="adj"/>
            </a:avLst>
          </a:prstGeom>
          <a:solidFill>
            <a:srgbClr val="0DB7C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The probability of getting a child with brown eyes is 75%.</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3:1</a:t>
            </a:r>
            <a:endParaRPr b="1" i="0" sz="1800" u="none" cap="none" strike="noStrike">
              <a:solidFill>
                <a:srgbClr val="000000"/>
              </a:solidFill>
              <a:latin typeface="Arial"/>
              <a:ea typeface="Arial"/>
              <a:cs typeface="Arial"/>
              <a:sym typeface="Arial"/>
            </a:endParaRPr>
          </a:p>
        </p:txBody>
      </p:sp>
      <p:sp>
        <p:nvSpPr>
          <p:cNvPr id="370" name="Google Shape;370;p15"/>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6"/>
          <p:cNvSpPr txBox="1"/>
          <p:nvPr/>
        </p:nvSpPr>
        <p:spPr>
          <a:xfrm>
            <a:off x="237225" y="828506"/>
            <a:ext cx="8637600" cy="37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Practise how to draw a Punnett square to show single gene inheritance.</a:t>
            </a:r>
            <a:endParaRPr b="0" i="0" sz="2000" u="none" cap="none" strike="noStrike">
              <a:solidFill>
                <a:schemeClr val="dk1"/>
              </a:solidFill>
              <a:latin typeface="Arial"/>
              <a:ea typeface="Arial"/>
              <a:cs typeface="Arial"/>
              <a:sym typeface="Arial"/>
            </a:endParaRPr>
          </a:p>
        </p:txBody>
      </p:sp>
      <p:graphicFrame>
        <p:nvGraphicFramePr>
          <p:cNvPr id="377" name="Google Shape;377;p16"/>
          <p:cNvGraphicFramePr/>
          <p:nvPr/>
        </p:nvGraphicFramePr>
        <p:xfrm>
          <a:off x="237225" y="1334306"/>
          <a:ext cx="3000000" cy="3000000"/>
        </p:xfrm>
        <a:graphic>
          <a:graphicData uri="http://schemas.openxmlformats.org/drawingml/2006/table">
            <a:tbl>
              <a:tblPr>
                <a:noFill/>
                <a:tableStyleId>{CC004527-5937-4E58-A188-62C8517E1519}</a:tableStyleId>
              </a:tblPr>
              <a:tblGrid>
                <a:gridCol w="1882000"/>
                <a:gridCol w="2695525"/>
                <a:gridCol w="2448400"/>
                <a:gridCol w="1807175"/>
              </a:tblGrid>
              <a:tr h="1005575">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1</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First, draw a grid with 4 squares</a:t>
                      </a:r>
                      <a:endParaRPr sz="1100" u="none" cap="none" strike="noStrike">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2</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Put the possible gametes (eggs and sperm) </a:t>
                      </a:r>
                      <a:endParaRPr sz="1100" u="none" cap="none" strike="noStrike">
                        <a:latin typeface="Arial"/>
                        <a:ea typeface="Arial"/>
                        <a:cs typeface="Arial"/>
                        <a:sym typeface="Arial"/>
                      </a:endParaRPr>
                    </a:p>
                    <a:p>
                      <a:pPr indent="-234950" lvl="0" marL="342900" marR="0" rtl="0" algn="l">
                        <a:lnSpc>
                          <a:spcPct val="100000"/>
                        </a:lnSpc>
                        <a:spcBef>
                          <a:spcPts val="800"/>
                        </a:spcBef>
                        <a:spcAft>
                          <a:spcPts val="0"/>
                        </a:spcAft>
                        <a:buClr>
                          <a:srgbClr val="000000"/>
                        </a:buClr>
                        <a:buSzPts val="1100"/>
                        <a:buFont typeface="Arial"/>
                        <a:buChar char="●"/>
                      </a:pPr>
                      <a:r>
                        <a:rPr lang="en" sz="1100" u="none" cap="none" strike="noStrike">
                          <a:latin typeface="Arial"/>
                          <a:ea typeface="Arial"/>
                          <a:cs typeface="Arial"/>
                          <a:sym typeface="Arial"/>
                        </a:rPr>
                        <a:t>from one parent down the side, </a:t>
                      </a:r>
                      <a:endParaRPr sz="1100" u="none" cap="none" strike="noStrike">
                        <a:latin typeface="Arial"/>
                        <a:ea typeface="Arial"/>
                        <a:cs typeface="Arial"/>
                        <a:sym typeface="Arial"/>
                      </a:endParaRPr>
                    </a:p>
                    <a:p>
                      <a:pPr indent="-234950" lvl="0" marL="342900" marR="0" rtl="0" algn="l">
                        <a:lnSpc>
                          <a:spcPct val="100000"/>
                        </a:lnSpc>
                        <a:spcBef>
                          <a:spcPts val="0"/>
                        </a:spcBef>
                        <a:spcAft>
                          <a:spcPts val="0"/>
                        </a:spcAft>
                        <a:buClr>
                          <a:srgbClr val="000000"/>
                        </a:buClr>
                        <a:buSzPts val="1100"/>
                        <a:buFont typeface="Arial"/>
                        <a:buChar char="●"/>
                      </a:pPr>
                      <a:r>
                        <a:rPr lang="en" sz="1100" u="none" cap="none" strike="noStrike">
                          <a:latin typeface="Arial"/>
                          <a:ea typeface="Arial"/>
                          <a:cs typeface="Arial"/>
                          <a:sym typeface="Arial"/>
                        </a:rPr>
                        <a:t>those from the other parent along the top.</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3</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Then in each middle square, fill the letters from the top and the side that line up with the square - the pairs of letters show the possible combination of gametes.</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Finished diagram</a:t>
                      </a:r>
                      <a:endParaRPr b="1" sz="1100" u="none" cap="none" strike="noStrike">
                        <a:solidFill>
                          <a:srgbClr val="0DB7C4"/>
                        </a:solidFill>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78" name="Google Shape;378;p16"/>
          <p:cNvSpPr txBox="1"/>
          <p:nvPr/>
        </p:nvSpPr>
        <p:spPr>
          <a:xfrm>
            <a:off x="7394475" y="1608800"/>
            <a:ext cx="1121700" cy="97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3399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164325" y="4269125"/>
            <a:ext cx="8637600" cy="7896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2000"/>
              <a:buFont typeface="Arial"/>
              <a:buNone/>
            </a:pPr>
            <a:r>
              <a:rPr b="1" i="0" lang="en" sz="1800" u="none" cap="none" strike="noStrike">
                <a:solidFill>
                  <a:srgbClr val="000000"/>
                </a:solidFill>
                <a:latin typeface="Arial"/>
                <a:ea typeface="Arial"/>
                <a:cs typeface="Arial"/>
                <a:sym typeface="Arial"/>
              </a:rPr>
              <a:t>Q2:</a:t>
            </a:r>
            <a:r>
              <a:rPr b="0" i="0" lang="en" sz="1800" u="none" cap="none" strike="noStrike">
                <a:solidFill>
                  <a:srgbClr val="000000"/>
                </a:solidFill>
                <a:latin typeface="Arial"/>
                <a:ea typeface="Arial"/>
                <a:cs typeface="Arial"/>
                <a:sym typeface="Arial"/>
              </a:rPr>
              <a:t> What is the probability of getting a child with blue eyes?</a:t>
            </a:r>
            <a:endParaRPr b="0" i="0" sz="18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1000"/>
              </a:spcAft>
              <a:buClr>
                <a:srgbClr val="000000"/>
              </a:buClr>
              <a:buSzPts val="2000"/>
              <a:buFont typeface="Arial"/>
              <a:buNone/>
            </a:pPr>
            <a:r>
              <a:rPr b="0" i="0" lang="en" sz="1800" u="none" cap="none" strike="noStrike">
                <a:solidFill>
                  <a:srgbClr val="00000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Heterozygous </a:t>
            </a:r>
            <a:r>
              <a:rPr b="0" i="0" lang="en" sz="1800" u="none" cap="none" strike="noStrike">
                <a:solidFill>
                  <a:srgbClr val="000000"/>
                </a:solidFill>
                <a:latin typeface="Arial"/>
                <a:ea typeface="Arial"/>
                <a:cs typeface="Arial"/>
                <a:sym typeface="Arial"/>
              </a:rPr>
              <a:t>mother (Bb) x </a:t>
            </a:r>
            <a:r>
              <a:rPr b="0" i="0" lang="en" sz="1800" u="none" cap="none" strike="noStrike">
                <a:solidFill>
                  <a:schemeClr val="dk1"/>
                </a:solidFill>
                <a:latin typeface="Arial"/>
                <a:ea typeface="Arial"/>
                <a:cs typeface="Arial"/>
                <a:sym typeface="Arial"/>
              </a:rPr>
              <a:t>Homozygous recessive </a:t>
            </a:r>
            <a:r>
              <a:rPr b="0" i="0" lang="en" sz="1800" u="none" cap="none" strike="noStrike">
                <a:solidFill>
                  <a:srgbClr val="000000"/>
                </a:solidFill>
                <a:latin typeface="Arial"/>
                <a:ea typeface="Arial"/>
                <a:cs typeface="Arial"/>
                <a:sym typeface="Arial"/>
              </a:rPr>
              <a:t>(bb) father			</a:t>
            </a:r>
            <a:endParaRPr b="0" i="0" sz="1800" u="none" cap="none" strike="noStrike">
              <a:solidFill>
                <a:srgbClr val="000000"/>
              </a:solidFill>
              <a:latin typeface="Arial"/>
              <a:ea typeface="Arial"/>
              <a:cs typeface="Arial"/>
              <a:sym typeface="Arial"/>
            </a:endParaRPr>
          </a:p>
        </p:txBody>
      </p:sp>
      <p:sp>
        <p:nvSpPr>
          <p:cNvPr id="380" name="Google Shape;380;p16"/>
          <p:cNvSpPr txBox="1"/>
          <p:nvPr/>
        </p:nvSpPr>
        <p:spPr>
          <a:xfrm>
            <a:off x="7194600" y="4432175"/>
            <a:ext cx="16803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p:txBody>
      </p:sp>
      <p:pic>
        <p:nvPicPr>
          <p:cNvPr id="381" name="Google Shape;381;p16"/>
          <p:cNvPicPr preferRelativeResize="0"/>
          <p:nvPr/>
        </p:nvPicPr>
        <p:blipFill rotWithShape="1">
          <a:blip r:embed="rId3">
            <a:alphaModFix/>
          </a:blip>
          <a:srcRect b="0" l="0" r="0" t="0"/>
          <a:stretch/>
        </p:blipFill>
        <p:spPr>
          <a:xfrm>
            <a:off x="6801225" y="4278256"/>
            <a:ext cx="841200" cy="487195"/>
          </a:xfrm>
          <a:prstGeom prst="rect">
            <a:avLst/>
          </a:prstGeom>
          <a:noFill/>
          <a:ln>
            <a:noFill/>
          </a:ln>
        </p:spPr>
      </p:pic>
      <p:pic>
        <p:nvPicPr>
          <p:cNvPr id="382" name="Google Shape;382;p16"/>
          <p:cNvPicPr preferRelativeResize="0"/>
          <p:nvPr/>
        </p:nvPicPr>
        <p:blipFill rotWithShape="1">
          <a:blip r:embed="rId4">
            <a:alphaModFix/>
          </a:blip>
          <a:srcRect b="0" l="0" r="0" t="0"/>
          <a:stretch/>
        </p:blipFill>
        <p:spPr>
          <a:xfrm>
            <a:off x="393450" y="4672410"/>
            <a:ext cx="551352" cy="296926"/>
          </a:xfrm>
          <a:prstGeom prst="rect">
            <a:avLst/>
          </a:prstGeom>
          <a:noFill/>
          <a:ln>
            <a:noFill/>
          </a:ln>
        </p:spPr>
      </p:pic>
      <p:sp>
        <p:nvSpPr>
          <p:cNvPr id="383" name="Google Shape;383;p16"/>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7"/>
          <p:cNvSpPr txBox="1"/>
          <p:nvPr/>
        </p:nvSpPr>
        <p:spPr>
          <a:xfrm>
            <a:off x="237225" y="828506"/>
            <a:ext cx="8637600" cy="37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Practise how to draw a Punnett square to show single gene inheritance.</a:t>
            </a:r>
            <a:endParaRPr b="0" i="0" sz="2000" u="none" cap="none" strike="noStrike">
              <a:solidFill>
                <a:schemeClr val="dk1"/>
              </a:solidFill>
              <a:latin typeface="Arial"/>
              <a:ea typeface="Arial"/>
              <a:cs typeface="Arial"/>
              <a:sym typeface="Arial"/>
            </a:endParaRPr>
          </a:p>
        </p:txBody>
      </p:sp>
      <p:graphicFrame>
        <p:nvGraphicFramePr>
          <p:cNvPr id="390" name="Google Shape;390;p17"/>
          <p:cNvGraphicFramePr/>
          <p:nvPr/>
        </p:nvGraphicFramePr>
        <p:xfrm>
          <a:off x="237225" y="1334306"/>
          <a:ext cx="3000000" cy="3000000"/>
        </p:xfrm>
        <a:graphic>
          <a:graphicData uri="http://schemas.openxmlformats.org/drawingml/2006/table">
            <a:tbl>
              <a:tblPr>
                <a:noFill/>
                <a:tableStyleId>{CC004527-5937-4E58-A188-62C8517E1519}</a:tableStyleId>
              </a:tblPr>
              <a:tblGrid>
                <a:gridCol w="1882000"/>
                <a:gridCol w="2695525"/>
                <a:gridCol w="2448400"/>
                <a:gridCol w="1807175"/>
              </a:tblGrid>
              <a:tr h="1005575">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1</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First, draw a grid with 4 squares</a:t>
                      </a:r>
                      <a:endParaRPr sz="1100" u="none" cap="none" strike="noStrike">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2</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Put the possible gametes (eggs and sperm) </a:t>
                      </a:r>
                      <a:endParaRPr sz="1100" u="none" cap="none" strike="noStrike">
                        <a:latin typeface="Arial"/>
                        <a:ea typeface="Arial"/>
                        <a:cs typeface="Arial"/>
                        <a:sym typeface="Arial"/>
                      </a:endParaRPr>
                    </a:p>
                    <a:p>
                      <a:pPr indent="-234950" lvl="0" marL="342900" marR="0" rtl="0" algn="l">
                        <a:lnSpc>
                          <a:spcPct val="100000"/>
                        </a:lnSpc>
                        <a:spcBef>
                          <a:spcPts val="800"/>
                        </a:spcBef>
                        <a:spcAft>
                          <a:spcPts val="0"/>
                        </a:spcAft>
                        <a:buClr>
                          <a:srgbClr val="000000"/>
                        </a:buClr>
                        <a:buSzPts val="1100"/>
                        <a:buFont typeface="Arial"/>
                        <a:buChar char="●"/>
                      </a:pPr>
                      <a:r>
                        <a:rPr lang="en" sz="1100" u="none" cap="none" strike="noStrike">
                          <a:latin typeface="Arial"/>
                          <a:ea typeface="Arial"/>
                          <a:cs typeface="Arial"/>
                          <a:sym typeface="Arial"/>
                        </a:rPr>
                        <a:t>from one parent down the side, </a:t>
                      </a:r>
                      <a:endParaRPr sz="1100" u="none" cap="none" strike="noStrike">
                        <a:latin typeface="Arial"/>
                        <a:ea typeface="Arial"/>
                        <a:cs typeface="Arial"/>
                        <a:sym typeface="Arial"/>
                      </a:endParaRPr>
                    </a:p>
                    <a:p>
                      <a:pPr indent="-234950" lvl="0" marL="342900" marR="0" rtl="0" algn="l">
                        <a:lnSpc>
                          <a:spcPct val="100000"/>
                        </a:lnSpc>
                        <a:spcBef>
                          <a:spcPts val="0"/>
                        </a:spcBef>
                        <a:spcAft>
                          <a:spcPts val="0"/>
                        </a:spcAft>
                        <a:buClr>
                          <a:srgbClr val="000000"/>
                        </a:buClr>
                        <a:buSzPts val="1100"/>
                        <a:buFont typeface="Arial"/>
                        <a:buChar char="●"/>
                      </a:pPr>
                      <a:r>
                        <a:rPr lang="en" sz="1100" u="none" cap="none" strike="noStrike">
                          <a:latin typeface="Arial"/>
                          <a:ea typeface="Arial"/>
                          <a:cs typeface="Arial"/>
                          <a:sym typeface="Arial"/>
                        </a:rPr>
                        <a:t>those from the other parent along the top.</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3</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Then in each middle square, fill the letters from the top and the side that line up with the square - the pairs of letters show the possible combination of gametes.</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Finished diagram</a:t>
                      </a:r>
                      <a:endParaRPr b="1" sz="1100" u="none" cap="none" strike="noStrike">
                        <a:solidFill>
                          <a:srgbClr val="0DB7C4"/>
                        </a:solidFill>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391" name="Google Shape;391;p17"/>
          <p:cNvGraphicFramePr/>
          <p:nvPr/>
        </p:nvGraphicFramePr>
        <p:xfrm>
          <a:off x="3230213" y="3265013"/>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392" name="Google Shape;392;p17"/>
          <p:cNvGraphicFramePr/>
          <p:nvPr/>
        </p:nvGraphicFramePr>
        <p:xfrm>
          <a:off x="567775" y="325756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bl>
          </a:graphicData>
        </a:graphic>
      </p:graphicFrame>
      <p:sp>
        <p:nvSpPr>
          <p:cNvPr id="393" name="Google Shape;393;p17"/>
          <p:cNvSpPr txBox="1"/>
          <p:nvPr/>
        </p:nvSpPr>
        <p:spPr>
          <a:xfrm>
            <a:off x="2975900" y="2595400"/>
            <a:ext cx="1607700" cy="67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Female gametes</a:t>
            </a:r>
            <a:endParaRPr b="1" i="0" sz="1400" u="none" cap="none" strike="noStrike">
              <a:solidFill>
                <a:srgbClr val="0DB7C4"/>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394" name="Google Shape;394;p17"/>
          <p:cNvSpPr txBox="1"/>
          <p:nvPr/>
        </p:nvSpPr>
        <p:spPr>
          <a:xfrm>
            <a:off x="2807438" y="3168338"/>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95" name="Google Shape;395;p17"/>
          <p:cNvSpPr txBox="1"/>
          <p:nvPr/>
        </p:nvSpPr>
        <p:spPr>
          <a:xfrm>
            <a:off x="2807313" y="3606563"/>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396" name="Google Shape;396;p17"/>
          <p:cNvSpPr txBox="1"/>
          <p:nvPr/>
        </p:nvSpPr>
        <p:spPr>
          <a:xfrm rot="-5400000">
            <a:off x="2022550" y="3407500"/>
            <a:ext cx="1360200" cy="38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Male gametes</a:t>
            </a:r>
            <a:endParaRPr b="1" i="0" sz="1400" u="none" cap="none" strike="noStrike">
              <a:solidFill>
                <a:srgbClr val="0DB7C4"/>
              </a:solidFill>
              <a:latin typeface="Arial"/>
              <a:ea typeface="Arial"/>
              <a:cs typeface="Arial"/>
              <a:sym typeface="Arial"/>
            </a:endParaRPr>
          </a:p>
        </p:txBody>
      </p:sp>
      <p:graphicFrame>
        <p:nvGraphicFramePr>
          <p:cNvPr id="397" name="Google Shape;397;p17"/>
          <p:cNvGraphicFramePr/>
          <p:nvPr/>
        </p:nvGraphicFramePr>
        <p:xfrm>
          <a:off x="5283600" y="322711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Calibri"/>
                          <a:ea typeface="Calibri"/>
                          <a:cs typeface="Calibri"/>
                          <a:sym typeface="Calibri"/>
                        </a:rPr>
                        <a:t> Bb</a:t>
                      </a:r>
                      <a:endParaRPr b="1" sz="1100" u="none" cap="none" strike="noStrike">
                        <a:solidFill>
                          <a:srgbClr val="0DB7C4"/>
                        </a:solidFil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98" name="Google Shape;398;p17"/>
          <p:cNvSpPr txBox="1"/>
          <p:nvPr/>
        </p:nvSpPr>
        <p:spPr>
          <a:xfrm>
            <a:off x="5136100" y="2677856"/>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Calibri"/>
                <a:ea typeface="Calibri"/>
                <a:cs typeface="Calibri"/>
                <a:sym typeface="Calibri"/>
              </a:rPr>
              <a:t>B	  b</a:t>
            </a:r>
            <a:endParaRPr b="0" i="0" sz="2400" u="none" cap="none" strike="noStrike">
              <a:solidFill>
                <a:schemeClr val="dk1"/>
              </a:solidFill>
              <a:latin typeface="Calibri"/>
              <a:ea typeface="Calibri"/>
              <a:cs typeface="Calibri"/>
              <a:sym typeface="Calibri"/>
            </a:endParaRPr>
          </a:p>
        </p:txBody>
      </p:sp>
      <p:sp>
        <p:nvSpPr>
          <p:cNvPr id="399" name="Google Shape;399;p17"/>
          <p:cNvSpPr txBox="1"/>
          <p:nvPr/>
        </p:nvSpPr>
        <p:spPr>
          <a:xfrm>
            <a:off x="4865950" y="3168356"/>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sp>
        <p:nvSpPr>
          <p:cNvPr id="400" name="Google Shape;400;p17"/>
          <p:cNvSpPr txBox="1"/>
          <p:nvPr/>
        </p:nvSpPr>
        <p:spPr>
          <a:xfrm>
            <a:off x="4865825" y="3589031"/>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cxnSp>
        <p:nvCxnSpPr>
          <p:cNvPr id="401" name="Google Shape;401;p17"/>
          <p:cNvCxnSpPr/>
          <p:nvPr/>
        </p:nvCxnSpPr>
        <p:spPr>
          <a:xfrm flipH="1" rot="10800000">
            <a:off x="5153525" y="3468019"/>
            <a:ext cx="261600" cy="8400"/>
          </a:xfrm>
          <a:prstGeom prst="straightConnector1">
            <a:avLst/>
          </a:prstGeom>
          <a:noFill/>
          <a:ln cap="flat" cmpd="sng" w="9525">
            <a:solidFill>
              <a:srgbClr val="0DB7C4"/>
            </a:solidFill>
            <a:prstDash val="solid"/>
            <a:round/>
            <a:headEnd len="sm" w="sm" type="none"/>
            <a:tailEnd len="med" w="med" type="triangle"/>
          </a:ln>
        </p:spPr>
      </p:cxnSp>
      <p:cxnSp>
        <p:nvCxnSpPr>
          <p:cNvPr id="402" name="Google Shape;402;p17"/>
          <p:cNvCxnSpPr/>
          <p:nvPr/>
        </p:nvCxnSpPr>
        <p:spPr>
          <a:xfrm>
            <a:off x="5568350" y="3114125"/>
            <a:ext cx="61500" cy="245700"/>
          </a:xfrm>
          <a:prstGeom prst="straightConnector1">
            <a:avLst/>
          </a:prstGeom>
          <a:noFill/>
          <a:ln cap="flat" cmpd="sng" w="9525">
            <a:solidFill>
              <a:srgbClr val="0DB7C4"/>
            </a:solidFill>
            <a:prstDash val="solid"/>
            <a:round/>
            <a:headEnd len="sm" w="sm" type="none"/>
            <a:tailEnd len="med" w="med" type="triangle"/>
          </a:ln>
        </p:spPr>
      </p:cxnSp>
      <p:graphicFrame>
        <p:nvGraphicFramePr>
          <p:cNvPr id="403" name="Google Shape;403;p17"/>
          <p:cNvGraphicFramePr/>
          <p:nvPr/>
        </p:nvGraphicFramePr>
        <p:xfrm>
          <a:off x="7342100" y="3225281"/>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04" name="Google Shape;404;p17"/>
          <p:cNvSpPr txBox="1"/>
          <p:nvPr/>
        </p:nvSpPr>
        <p:spPr>
          <a:xfrm>
            <a:off x="7194600" y="2676019"/>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405" name="Google Shape;405;p17"/>
          <p:cNvSpPr txBox="1"/>
          <p:nvPr/>
        </p:nvSpPr>
        <p:spPr>
          <a:xfrm>
            <a:off x="6924450" y="3168349"/>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06" name="Google Shape;406;p17"/>
          <p:cNvSpPr txBox="1"/>
          <p:nvPr/>
        </p:nvSpPr>
        <p:spPr>
          <a:xfrm>
            <a:off x="6924325" y="3549123"/>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07" name="Google Shape;407;p17"/>
          <p:cNvSpPr txBox="1"/>
          <p:nvPr/>
        </p:nvSpPr>
        <p:spPr>
          <a:xfrm>
            <a:off x="7394475" y="1608800"/>
            <a:ext cx="1121700" cy="97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3399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08" name="Google Shape;408;p17"/>
          <p:cNvSpPr txBox="1"/>
          <p:nvPr/>
        </p:nvSpPr>
        <p:spPr>
          <a:xfrm>
            <a:off x="7194600" y="4432175"/>
            <a:ext cx="16803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p:txBody>
      </p:sp>
      <p:pic>
        <p:nvPicPr>
          <p:cNvPr id="409" name="Google Shape;409;p17"/>
          <p:cNvPicPr preferRelativeResize="0"/>
          <p:nvPr/>
        </p:nvPicPr>
        <p:blipFill rotWithShape="1">
          <a:blip r:embed="rId3">
            <a:alphaModFix/>
          </a:blip>
          <a:srcRect b="0" l="0" r="0" t="0"/>
          <a:stretch/>
        </p:blipFill>
        <p:spPr>
          <a:xfrm>
            <a:off x="6801225" y="4278256"/>
            <a:ext cx="841200" cy="487195"/>
          </a:xfrm>
          <a:prstGeom prst="rect">
            <a:avLst/>
          </a:prstGeom>
          <a:noFill/>
          <a:ln>
            <a:noFill/>
          </a:ln>
        </p:spPr>
      </p:pic>
      <p:pic>
        <p:nvPicPr>
          <p:cNvPr id="410" name="Google Shape;410;p17"/>
          <p:cNvPicPr preferRelativeResize="0"/>
          <p:nvPr/>
        </p:nvPicPr>
        <p:blipFill rotWithShape="1">
          <a:blip r:embed="rId4">
            <a:alphaModFix/>
          </a:blip>
          <a:srcRect b="0" l="0" r="0" t="0"/>
          <a:stretch/>
        </p:blipFill>
        <p:spPr>
          <a:xfrm>
            <a:off x="393450" y="4672410"/>
            <a:ext cx="551352" cy="296926"/>
          </a:xfrm>
          <a:prstGeom prst="rect">
            <a:avLst/>
          </a:prstGeom>
          <a:noFill/>
          <a:ln>
            <a:noFill/>
          </a:ln>
        </p:spPr>
      </p:pic>
      <p:sp>
        <p:nvSpPr>
          <p:cNvPr id="411" name="Google Shape;411;p17"/>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
        <p:nvSpPr>
          <p:cNvPr id="412" name="Google Shape;412;p17"/>
          <p:cNvSpPr txBox="1"/>
          <p:nvPr/>
        </p:nvSpPr>
        <p:spPr>
          <a:xfrm>
            <a:off x="164325" y="4269125"/>
            <a:ext cx="8637600" cy="7896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2000"/>
              <a:buFont typeface="Arial"/>
              <a:buNone/>
            </a:pPr>
            <a:r>
              <a:rPr b="1" i="0" lang="en" sz="1800" u="none" cap="none" strike="noStrike">
                <a:solidFill>
                  <a:srgbClr val="000000"/>
                </a:solidFill>
                <a:latin typeface="Arial"/>
                <a:ea typeface="Arial"/>
                <a:cs typeface="Arial"/>
                <a:sym typeface="Arial"/>
              </a:rPr>
              <a:t>Q2:</a:t>
            </a:r>
            <a:r>
              <a:rPr b="0" i="0" lang="en" sz="1800" u="none" cap="none" strike="noStrike">
                <a:solidFill>
                  <a:srgbClr val="000000"/>
                </a:solidFill>
                <a:latin typeface="Arial"/>
                <a:ea typeface="Arial"/>
                <a:cs typeface="Arial"/>
                <a:sym typeface="Arial"/>
              </a:rPr>
              <a:t> What is the probability of getting a child with blue eyes?</a:t>
            </a:r>
            <a:endParaRPr b="0" i="0" sz="18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1000"/>
              </a:spcAft>
              <a:buClr>
                <a:srgbClr val="000000"/>
              </a:buClr>
              <a:buSzPts val="2000"/>
              <a:buFont typeface="Arial"/>
              <a:buNone/>
            </a:pPr>
            <a:r>
              <a:rPr b="0" i="0" lang="en" sz="1800" u="none" cap="none" strike="noStrike">
                <a:solidFill>
                  <a:srgbClr val="00000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Heterozygous </a:t>
            </a:r>
            <a:r>
              <a:rPr b="0" i="0" lang="en" sz="1800" u="none" cap="none" strike="noStrike">
                <a:solidFill>
                  <a:srgbClr val="000000"/>
                </a:solidFill>
                <a:latin typeface="Arial"/>
                <a:ea typeface="Arial"/>
                <a:cs typeface="Arial"/>
                <a:sym typeface="Arial"/>
              </a:rPr>
              <a:t>mother (Bb) x </a:t>
            </a:r>
            <a:r>
              <a:rPr b="0" i="0" lang="en" sz="1800" u="none" cap="none" strike="noStrike">
                <a:solidFill>
                  <a:schemeClr val="dk1"/>
                </a:solidFill>
                <a:latin typeface="Arial"/>
                <a:ea typeface="Arial"/>
                <a:cs typeface="Arial"/>
                <a:sym typeface="Arial"/>
              </a:rPr>
              <a:t>Homozygous recessive </a:t>
            </a:r>
            <a:r>
              <a:rPr b="0" i="0" lang="en" sz="1800" u="none" cap="none" strike="noStrike">
                <a:solidFill>
                  <a:srgbClr val="000000"/>
                </a:solidFill>
                <a:latin typeface="Arial"/>
                <a:ea typeface="Arial"/>
                <a:cs typeface="Arial"/>
                <a:sym typeface="Arial"/>
              </a:rPr>
              <a:t>(bb) father			</a:t>
            </a:r>
            <a:endParaRPr b="0" i="0" sz="1800" u="none" cap="none" strike="noStrike">
              <a:solidFill>
                <a:srgbClr val="000000"/>
              </a:solidFill>
              <a:latin typeface="Arial"/>
              <a:ea typeface="Arial"/>
              <a:cs typeface="Arial"/>
              <a:sym typeface="Arial"/>
            </a:endParaRPr>
          </a:p>
        </p:txBody>
      </p:sp>
      <p:sp>
        <p:nvSpPr>
          <p:cNvPr id="413" name="Google Shape;413;p17"/>
          <p:cNvSpPr txBox="1"/>
          <p:nvPr/>
        </p:nvSpPr>
        <p:spPr>
          <a:xfrm>
            <a:off x="7194600" y="4432175"/>
            <a:ext cx="16803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f8677bd842_0_29"/>
          <p:cNvSpPr txBox="1"/>
          <p:nvPr/>
        </p:nvSpPr>
        <p:spPr>
          <a:xfrm>
            <a:off x="237225" y="828506"/>
            <a:ext cx="8637600" cy="37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Practise how to draw a Punnett square to show single gene inheritance.</a:t>
            </a:r>
            <a:endParaRPr b="0" i="0" sz="2000" u="none" cap="none" strike="noStrike">
              <a:solidFill>
                <a:schemeClr val="dk1"/>
              </a:solidFill>
              <a:latin typeface="Arial"/>
              <a:ea typeface="Arial"/>
              <a:cs typeface="Arial"/>
              <a:sym typeface="Arial"/>
            </a:endParaRPr>
          </a:p>
        </p:txBody>
      </p:sp>
      <p:graphicFrame>
        <p:nvGraphicFramePr>
          <p:cNvPr id="420" name="Google Shape;420;g3f8677bd842_0_29"/>
          <p:cNvGraphicFramePr/>
          <p:nvPr/>
        </p:nvGraphicFramePr>
        <p:xfrm>
          <a:off x="237225" y="1334306"/>
          <a:ext cx="3000000" cy="3000000"/>
        </p:xfrm>
        <a:graphic>
          <a:graphicData uri="http://schemas.openxmlformats.org/drawingml/2006/table">
            <a:tbl>
              <a:tblPr>
                <a:noFill/>
                <a:tableStyleId>{CC004527-5937-4E58-A188-62C8517E1519}</a:tableStyleId>
              </a:tblPr>
              <a:tblGrid>
                <a:gridCol w="1882000"/>
                <a:gridCol w="2695525"/>
                <a:gridCol w="2448400"/>
                <a:gridCol w="1807175"/>
              </a:tblGrid>
              <a:tr h="1005575">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1</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First, draw a grid with 4 squares</a:t>
                      </a:r>
                      <a:endParaRPr sz="1100" u="none" cap="none" strike="noStrike">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2</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Put the possible gametes (eggs and sperm) </a:t>
                      </a:r>
                      <a:endParaRPr sz="1100" u="none" cap="none" strike="noStrike">
                        <a:latin typeface="Arial"/>
                        <a:ea typeface="Arial"/>
                        <a:cs typeface="Arial"/>
                        <a:sym typeface="Arial"/>
                      </a:endParaRPr>
                    </a:p>
                    <a:p>
                      <a:pPr indent="-234950" lvl="0" marL="342900" marR="0" rtl="0" algn="l">
                        <a:lnSpc>
                          <a:spcPct val="100000"/>
                        </a:lnSpc>
                        <a:spcBef>
                          <a:spcPts val="800"/>
                        </a:spcBef>
                        <a:spcAft>
                          <a:spcPts val="0"/>
                        </a:spcAft>
                        <a:buClr>
                          <a:srgbClr val="000000"/>
                        </a:buClr>
                        <a:buSzPts val="1100"/>
                        <a:buFont typeface="Arial"/>
                        <a:buChar char="●"/>
                      </a:pPr>
                      <a:r>
                        <a:rPr lang="en" sz="1100" u="none" cap="none" strike="noStrike">
                          <a:latin typeface="Arial"/>
                          <a:ea typeface="Arial"/>
                          <a:cs typeface="Arial"/>
                          <a:sym typeface="Arial"/>
                        </a:rPr>
                        <a:t>from one parent down the side, </a:t>
                      </a:r>
                      <a:endParaRPr sz="1100" u="none" cap="none" strike="noStrike">
                        <a:latin typeface="Arial"/>
                        <a:ea typeface="Arial"/>
                        <a:cs typeface="Arial"/>
                        <a:sym typeface="Arial"/>
                      </a:endParaRPr>
                    </a:p>
                    <a:p>
                      <a:pPr indent="-234950" lvl="0" marL="342900" marR="0" rtl="0" algn="l">
                        <a:lnSpc>
                          <a:spcPct val="100000"/>
                        </a:lnSpc>
                        <a:spcBef>
                          <a:spcPts val="0"/>
                        </a:spcBef>
                        <a:spcAft>
                          <a:spcPts val="0"/>
                        </a:spcAft>
                        <a:buClr>
                          <a:srgbClr val="000000"/>
                        </a:buClr>
                        <a:buSzPts val="1100"/>
                        <a:buFont typeface="Arial"/>
                        <a:buChar char="●"/>
                      </a:pPr>
                      <a:r>
                        <a:rPr lang="en" sz="1100" u="none" cap="none" strike="noStrike">
                          <a:latin typeface="Arial"/>
                          <a:ea typeface="Arial"/>
                          <a:cs typeface="Arial"/>
                          <a:sym typeface="Arial"/>
                        </a:rPr>
                        <a:t>those from the other parent along the top.</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Step 3</a:t>
                      </a:r>
                      <a:endParaRPr b="1" sz="1100" u="none" cap="none" strike="noStrike">
                        <a:solidFill>
                          <a:srgbClr val="0DB7C4"/>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900"/>
                        <a:buFont typeface="Arial"/>
                        <a:buNone/>
                      </a:pPr>
                      <a:r>
                        <a:rPr lang="en" sz="1100" u="none" cap="none" strike="noStrike">
                          <a:latin typeface="Arial"/>
                          <a:ea typeface="Arial"/>
                          <a:cs typeface="Arial"/>
                          <a:sym typeface="Arial"/>
                        </a:rPr>
                        <a:t>Then in each middle square, fill the letters from the top and the side that line up with the square - the pairs of letters show the possible combination of gametes.</a:t>
                      </a:r>
                      <a:endParaRPr sz="1100" u="none" cap="none" strike="noStrike">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u="none" cap="none" strike="noStrike">
                          <a:solidFill>
                            <a:srgbClr val="0DB7C4"/>
                          </a:solidFill>
                          <a:latin typeface="Arial"/>
                          <a:ea typeface="Arial"/>
                          <a:cs typeface="Arial"/>
                          <a:sym typeface="Arial"/>
                        </a:rPr>
                        <a:t>Finished diagram</a:t>
                      </a:r>
                      <a:endParaRPr b="1" sz="1100" u="none" cap="none" strike="noStrike">
                        <a:solidFill>
                          <a:srgbClr val="0DB7C4"/>
                        </a:solidFill>
                        <a:latin typeface="Arial"/>
                        <a:ea typeface="Arial"/>
                        <a:cs typeface="Arial"/>
                        <a:sym typeface="Arial"/>
                      </a:endParaRPr>
                    </a:p>
                  </a:txBody>
                  <a:tcPr marT="68575" marB="6857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421" name="Google Shape;421;g3f8677bd842_0_29"/>
          <p:cNvGraphicFramePr/>
          <p:nvPr/>
        </p:nvGraphicFramePr>
        <p:xfrm>
          <a:off x="3230213" y="3265013"/>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422" name="Google Shape;422;g3f8677bd842_0_29"/>
          <p:cNvGraphicFramePr/>
          <p:nvPr/>
        </p:nvGraphicFramePr>
        <p:xfrm>
          <a:off x="567775" y="325756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rgbClr val="FF0000"/>
                        </a:solidFill>
                      </a:endParaRPr>
                    </a:p>
                  </a:txBody>
                  <a:tcPr marT="68575" marB="68575" marR="91425" marL="91425">
                    <a:lnL cap="flat" cmpd="sng" w="19050">
                      <a:solidFill>
                        <a:srgbClr val="0DB7C4"/>
                      </a:solidFill>
                      <a:prstDash val="solid"/>
                      <a:round/>
                      <a:headEnd len="sm" w="sm" type="none"/>
                      <a:tailEnd len="sm" w="sm" type="none"/>
                    </a:lnL>
                    <a:lnR cap="flat" cmpd="sng" w="19050">
                      <a:solidFill>
                        <a:srgbClr val="0DB7C4"/>
                      </a:solidFill>
                      <a:prstDash val="solid"/>
                      <a:round/>
                      <a:headEnd len="sm" w="sm" type="none"/>
                      <a:tailEnd len="sm" w="sm" type="none"/>
                    </a:lnR>
                    <a:lnT cap="flat" cmpd="sng" w="19050">
                      <a:solidFill>
                        <a:srgbClr val="0DB7C4"/>
                      </a:solidFill>
                      <a:prstDash val="solid"/>
                      <a:round/>
                      <a:headEnd len="sm" w="sm" type="none"/>
                      <a:tailEnd len="sm" w="sm" type="none"/>
                    </a:lnT>
                    <a:lnB cap="flat" cmpd="sng" w="19050">
                      <a:solidFill>
                        <a:srgbClr val="0DB7C4"/>
                      </a:solidFill>
                      <a:prstDash val="solid"/>
                      <a:round/>
                      <a:headEnd len="sm" w="sm" type="none"/>
                      <a:tailEnd len="sm" w="sm" type="none"/>
                    </a:lnB>
                  </a:tcPr>
                </a:tc>
              </a:tr>
            </a:tbl>
          </a:graphicData>
        </a:graphic>
      </p:graphicFrame>
      <p:sp>
        <p:nvSpPr>
          <p:cNvPr id="423" name="Google Shape;423;g3f8677bd842_0_29"/>
          <p:cNvSpPr txBox="1"/>
          <p:nvPr/>
        </p:nvSpPr>
        <p:spPr>
          <a:xfrm>
            <a:off x="2975900" y="2595400"/>
            <a:ext cx="1607700" cy="67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Female gametes</a:t>
            </a:r>
            <a:endParaRPr b="1" i="0" sz="1400" u="none" cap="none" strike="noStrike">
              <a:solidFill>
                <a:srgbClr val="0DB7C4"/>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424" name="Google Shape;424;g3f8677bd842_0_29"/>
          <p:cNvSpPr txBox="1"/>
          <p:nvPr/>
        </p:nvSpPr>
        <p:spPr>
          <a:xfrm>
            <a:off x="2807438" y="3168338"/>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25" name="Google Shape;425;g3f8677bd842_0_29"/>
          <p:cNvSpPr txBox="1"/>
          <p:nvPr/>
        </p:nvSpPr>
        <p:spPr>
          <a:xfrm>
            <a:off x="2807313" y="3606563"/>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26" name="Google Shape;426;g3f8677bd842_0_29"/>
          <p:cNvSpPr txBox="1"/>
          <p:nvPr/>
        </p:nvSpPr>
        <p:spPr>
          <a:xfrm rot="-5400000">
            <a:off x="2022550" y="3407500"/>
            <a:ext cx="1360200" cy="38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DB7C4"/>
                </a:solidFill>
                <a:latin typeface="Arial"/>
                <a:ea typeface="Arial"/>
                <a:cs typeface="Arial"/>
                <a:sym typeface="Arial"/>
              </a:rPr>
              <a:t>Male gametes</a:t>
            </a:r>
            <a:endParaRPr b="1" i="0" sz="1400" u="none" cap="none" strike="noStrike">
              <a:solidFill>
                <a:srgbClr val="0DB7C4"/>
              </a:solidFill>
              <a:latin typeface="Arial"/>
              <a:ea typeface="Arial"/>
              <a:cs typeface="Arial"/>
              <a:sym typeface="Arial"/>
            </a:endParaRPr>
          </a:p>
        </p:txBody>
      </p:sp>
      <p:graphicFrame>
        <p:nvGraphicFramePr>
          <p:cNvPr id="427" name="Google Shape;427;g3f8677bd842_0_29"/>
          <p:cNvGraphicFramePr/>
          <p:nvPr/>
        </p:nvGraphicFramePr>
        <p:xfrm>
          <a:off x="5283600" y="3227119"/>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Calibri"/>
                          <a:ea typeface="Calibri"/>
                          <a:cs typeface="Calibri"/>
                          <a:sym typeface="Calibri"/>
                        </a:rPr>
                        <a:t> Bb</a:t>
                      </a:r>
                      <a:endParaRPr b="1" sz="1100" u="none" cap="none" strike="noStrike">
                        <a:solidFill>
                          <a:srgbClr val="0DB7C4"/>
                        </a:solidFil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28" name="Google Shape;428;g3f8677bd842_0_29"/>
          <p:cNvSpPr txBox="1"/>
          <p:nvPr/>
        </p:nvSpPr>
        <p:spPr>
          <a:xfrm>
            <a:off x="5136100" y="2677856"/>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Calibri"/>
                <a:ea typeface="Calibri"/>
                <a:cs typeface="Calibri"/>
                <a:sym typeface="Calibri"/>
              </a:rPr>
              <a:t>B	  b</a:t>
            </a:r>
            <a:endParaRPr b="0" i="0" sz="2400" u="none" cap="none" strike="noStrike">
              <a:solidFill>
                <a:schemeClr val="dk1"/>
              </a:solidFill>
              <a:latin typeface="Calibri"/>
              <a:ea typeface="Calibri"/>
              <a:cs typeface="Calibri"/>
              <a:sym typeface="Calibri"/>
            </a:endParaRPr>
          </a:p>
        </p:txBody>
      </p:sp>
      <p:sp>
        <p:nvSpPr>
          <p:cNvPr id="429" name="Google Shape;429;g3f8677bd842_0_29"/>
          <p:cNvSpPr txBox="1"/>
          <p:nvPr/>
        </p:nvSpPr>
        <p:spPr>
          <a:xfrm>
            <a:off x="4865950" y="3168356"/>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sp>
        <p:nvSpPr>
          <p:cNvPr id="430" name="Google Shape;430;g3f8677bd842_0_29"/>
          <p:cNvSpPr txBox="1"/>
          <p:nvPr/>
        </p:nvSpPr>
        <p:spPr>
          <a:xfrm>
            <a:off x="4865825" y="3589031"/>
            <a:ext cx="338700" cy="34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0" i="0" lang="en" sz="2400" u="none" cap="none" strike="noStrike">
                <a:solidFill>
                  <a:srgbClr val="000000"/>
                </a:solidFill>
                <a:latin typeface="Calibri"/>
                <a:ea typeface="Calibri"/>
                <a:cs typeface="Calibri"/>
                <a:sym typeface="Calibri"/>
              </a:rPr>
              <a:t>b</a:t>
            </a:r>
            <a:endParaRPr b="0" i="0" sz="2400" u="none" cap="none" strike="noStrike">
              <a:solidFill>
                <a:srgbClr val="000000"/>
              </a:solidFill>
              <a:latin typeface="Calibri"/>
              <a:ea typeface="Calibri"/>
              <a:cs typeface="Calibri"/>
              <a:sym typeface="Calibri"/>
            </a:endParaRPr>
          </a:p>
        </p:txBody>
      </p:sp>
      <p:cxnSp>
        <p:nvCxnSpPr>
          <p:cNvPr id="431" name="Google Shape;431;g3f8677bd842_0_29"/>
          <p:cNvCxnSpPr/>
          <p:nvPr/>
        </p:nvCxnSpPr>
        <p:spPr>
          <a:xfrm flipH="1" rot="10800000">
            <a:off x="5153525" y="3468019"/>
            <a:ext cx="261600" cy="8400"/>
          </a:xfrm>
          <a:prstGeom prst="straightConnector1">
            <a:avLst/>
          </a:prstGeom>
          <a:noFill/>
          <a:ln cap="flat" cmpd="sng" w="9525">
            <a:solidFill>
              <a:srgbClr val="0DB7C4"/>
            </a:solidFill>
            <a:prstDash val="solid"/>
            <a:round/>
            <a:headEnd len="sm" w="sm" type="none"/>
            <a:tailEnd len="med" w="med" type="triangle"/>
          </a:ln>
        </p:spPr>
      </p:cxnSp>
      <p:cxnSp>
        <p:nvCxnSpPr>
          <p:cNvPr id="432" name="Google Shape;432;g3f8677bd842_0_29"/>
          <p:cNvCxnSpPr/>
          <p:nvPr/>
        </p:nvCxnSpPr>
        <p:spPr>
          <a:xfrm>
            <a:off x="5568350" y="3114125"/>
            <a:ext cx="61500" cy="245700"/>
          </a:xfrm>
          <a:prstGeom prst="straightConnector1">
            <a:avLst/>
          </a:prstGeom>
          <a:noFill/>
          <a:ln cap="flat" cmpd="sng" w="9525">
            <a:solidFill>
              <a:srgbClr val="0DB7C4"/>
            </a:solidFill>
            <a:prstDash val="solid"/>
            <a:round/>
            <a:headEnd len="sm" w="sm" type="none"/>
            <a:tailEnd len="med" w="med" type="triangle"/>
          </a:ln>
        </p:spPr>
      </p:cxnSp>
      <p:graphicFrame>
        <p:nvGraphicFramePr>
          <p:cNvPr id="433" name="Google Shape;433;g3f8677bd842_0_29"/>
          <p:cNvGraphicFramePr/>
          <p:nvPr/>
        </p:nvGraphicFramePr>
        <p:xfrm>
          <a:off x="7342100" y="3225281"/>
          <a:ext cx="3000000" cy="3000000"/>
        </p:xfrm>
        <a:graphic>
          <a:graphicData uri="http://schemas.openxmlformats.org/drawingml/2006/table">
            <a:tbl>
              <a:tblPr>
                <a:noFill/>
                <a:tableStyleId>{CC004527-5937-4E58-A188-62C8517E1519}</a:tableStyleId>
              </a:tblPr>
              <a:tblGrid>
                <a:gridCol w="560800"/>
                <a:gridCol w="560800"/>
              </a:tblGrid>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6325">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 sz="1800" u="none" cap="none" strike="noStrike">
                          <a:solidFill>
                            <a:srgbClr val="0DB7C4"/>
                          </a:solidFill>
                          <a:latin typeface="Arial"/>
                          <a:ea typeface="Arial"/>
                          <a:cs typeface="Arial"/>
                          <a:sym typeface="Arial"/>
                        </a:rPr>
                        <a:t>bb</a:t>
                      </a:r>
                      <a:endParaRPr b="1" sz="1100" u="none" cap="none" strike="noStrike">
                        <a:solidFill>
                          <a:srgbClr val="0DB7C4"/>
                        </a:solidFill>
                        <a:latin typeface="Arial"/>
                        <a:ea typeface="Arial"/>
                        <a:cs typeface="Arial"/>
                        <a:sym typeface="Arial"/>
                      </a:endParaRPr>
                    </a:p>
                  </a:txBody>
                  <a:tcPr marT="68575" marB="6857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34" name="Google Shape;434;g3f8677bd842_0_29"/>
          <p:cNvSpPr txBox="1"/>
          <p:nvPr/>
        </p:nvSpPr>
        <p:spPr>
          <a:xfrm>
            <a:off x="7194600" y="2676019"/>
            <a:ext cx="1416600" cy="49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DB7C4"/>
                </a:solidFill>
                <a:latin typeface="Arial"/>
                <a:ea typeface="Arial"/>
                <a:cs typeface="Arial"/>
                <a:sym typeface="Arial"/>
              </a:rPr>
              <a:t>B	  b</a:t>
            </a:r>
            <a:endParaRPr b="1" i="0" sz="2400" u="none" cap="none" strike="noStrike">
              <a:solidFill>
                <a:srgbClr val="0DB7C4"/>
              </a:solidFill>
              <a:latin typeface="Arial"/>
              <a:ea typeface="Arial"/>
              <a:cs typeface="Arial"/>
              <a:sym typeface="Arial"/>
            </a:endParaRPr>
          </a:p>
        </p:txBody>
      </p:sp>
      <p:sp>
        <p:nvSpPr>
          <p:cNvPr id="435" name="Google Shape;435;g3f8677bd842_0_29"/>
          <p:cNvSpPr txBox="1"/>
          <p:nvPr/>
        </p:nvSpPr>
        <p:spPr>
          <a:xfrm>
            <a:off x="6924450" y="3168349"/>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36" name="Google Shape;436;g3f8677bd842_0_29"/>
          <p:cNvSpPr txBox="1"/>
          <p:nvPr/>
        </p:nvSpPr>
        <p:spPr>
          <a:xfrm>
            <a:off x="6924325" y="3549123"/>
            <a:ext cx="338700" cy="43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2400"/>
              <a:buFont typeface="Arial"/>
              <a:buNone/>
            </a:pPr>
            <a:r>
              <a:rPr b="1" i="0" lang="en" sz="2400" u="none" cap="none" strike="noStrike">
                <a:solidFill>
                  <a:srgbClr val="0DB7C4"/>
                </a:solidFill>
                <a:latin typeface="Arial"/>
                <a:ea typeface="Arial"/>
                <a:cs typeface="Arial"/>
                <a:sym typeface="Arial"/>
              </a:rPr>
              <a:t>b</a:t>
            </a:r>
            <a:endParaRPr b="1" i="0" sz="2400" u="none" cap="none" strike="noStrike">
              <a:solidFill>
                <a:srgbClr val="0DB7C4"/>
              </a:solidFill>
              <a:latin typeface="Arial"/>
              <a:ea typeface="Arial"/>
              <a:cs typeface="Arial"/>
              <a:sym typeface="Arial"/>
            </a:endParaRPr>
          </a:p>
        </p:txBody>
      </p:sp>
      <p:sp>
        <p:nvSpPr>
          <p:cNvPr id="437" name="Google Shape;437;g3f8677bd842_0_29"/>
          <p:cNvSpPr txBox="1"/>
          <p:nvPr/>
        </p:nvSpPr>
        <p:spPr>
          <a:xfrm>
            <a:off x="7394475" y="1608800"/>
            <a:ext cx="1121700" cy="97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3399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38" name="Google Shape;438;g3f8677bd842_0_29"/>
          <p:cNvSpPr txBox="1"/>
          <p:nvPr/>
        </p:nvSpPr>
        <p:spPr>
          <a:xfrm>
            <a:off x="7194600" y="4432175"/>
            <a:ext cx="16803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p:txBody>
      </p:sp>
      <p:pic>
        <p:nvPicPr>
          <p:cNvPr id="439" name="Google Shape;439;g3f8677bd842_0_29"/>
          <p:cNvPicPr preferRelativeResize="0"/>
          <p:nvPr/>
        </p:nvPicPr>
        <p:blipFill rotWithShape="1">
          <a:blip r:embed="rId3">
            <a:alphaModFix/>
          </a:blip>
          <a:srcRect b="0" l="0" r="0" t="0"/>
          <a:stretch/>
        </p:blipFill>
        <p:spPr>
          <a:xfrm>
            <a:off x="6801225" y="4278256"/>
            <a:ext cx="841200" cy="487195"/>
          </a:xfrm>
          <a:prstGeom prst="rect">
            <a:avLst/>
          </a:prstGeom>
          <a:noFill/>
          <a:ln>
            <a:noFill/>
          </a:ln>
        </p:spPr>
      </p:pic>
      <p:sp>
        <p:nvSpPr>
          <p:cNvPr id="440" name="Google Shape;440;g3f8677bd842_0_29"/>
          <p:cNvSpPr/>
          <p:nvPr/>
        </p:nvSpPr>
        <p:spPr>
          <a:xfrm>
            <a:off x="1755025" y="1627675"/>
            <a:ext cx="6066600" cy="1060500"/>
          </a:xfrm>
          <a:prstGeom prst="roundRect">
            <a:avLst>
              <a:gd fmla="val 16667" name="adj"/>
            </a:avLst>
          </a:prstGeom>
          <a:solidFill>
            <a:srgbClr val="0DB7C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The probability of getting a child with blue eyes is 50%.</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1:1</a:t>
            </a:r>
            <a:endParaRPr b="1" i="0" sz="1800" u="none" cap="none" strike="noStrike">
              <a:solidFill>
                <a:srgbClr val="000000"/>
              </a:solidFill>
              <a:latin typeface="Arial"/>
              <a:ea typeface="Arial"/>
              <a:cs typeface="Arial"/>
              <a:sym typeface="Arial"/>
            </a:endParaRPr>
          </a:p>
        </p:txBody>
      </p:sp>
      <p:pic>
        <p:nvPicPr>
          <p:cNvPr id="441" name="Google Shape;441;g3f8677bd842_0_29"/>
          <p:cNvPicPr preferRelativeResize="0"/>
          <p:nvPr/>
        </p:nvPicPr>
        <p:blipFill rotWithShape="1">
          <a:blip r:embed="rId4">
            <a:alphaModFix/>
          </a:blip>
          <a:srcRect b="0" l="0" r="0" t="0"/>
          <a:stretch/>
        </p:blipFill>
        <p:spPr>
          <a:xfrm>
            <a:off x="393450" y="4672410"/>
            <a:ext cx="551352" cy="296926"/>
          </a:xfrm>
          <a:prstGeom prst="rect">
            <a:avLst/>
          </a:prstGeom>
          <a:noFill/>
          <a:ln>
            <a:noFill/>
          </a:ln>
        </p:spPr>
      </p:pic>
      <p:sp>
        <p:nvSpPr>
          <p:cNvPr id="442" name="Google Shape;442;g3f8677bd842_0_29"/>
          <p:cNvSpPr txBox="1"/>
          <p:nvPr/>
        </p:nvSpPr>
        <p:spPr>
          <a:xfrm>
            <a:off x="728425" y="54025"/>
            <a:ext cx="8042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 sz="3000" u="none" cap="none" strike="noStrike">
                <a:solidFill>
                  <a:srgbClr val="0A95B0"/>
                </a:solidFill>
                <a:latin typeface="Roboto"/>
                <a:ea typeface="Roboto"/>
                <a:cs typeface="Roboto"/>
                <a:sym typeface="Roboto"/>
              </a:rPr>
              <a:t>Inheritance</a:t>
            </a:r>
            <a:endParaRPr b="0" i="0" sz="1800" u="none" cap="none" strike="noStrike">
              <a:solidFill>
                <a:srgbClr val="0A95B0"/>
              </a:solidFill>
              <a:latin typeface="Roboto"/>
              <a:ea typeface="Roboto"/>
              <a:cs typeface="Roboto"/>
              <a:sym typeface="Roboto"/>
            </a:endParaRPr>
          </a:p>
        </p:txBody>
      </p:sp>
      <p:sp>
        <p:nvSpPr>
          <p:cNvPr id="443" name="Google Shape;443;g3f8677bd842_0_29"/>
          <p:cNvSpPr txBox="1"/>
          <p:nvPr/>
        </p:nvSpPr>
        <p:spPr>
          <a:xfrm>
            <a:off x="164325" y="4269125"/>
            <a:ext cx="8637600" cy="789600"/>
          </a:xfrm>
          <a:prstGeom prst="rect">
            <a:avLst/>
          </a:prstGeom>
          <a:solidFill>
            <a:srgbClr val="CCFFFF"/>
          </a:solidFill>
          <a:ln>
            <a:noFill/>
          </a:ln>
        </p:spPr>
        <p:txBody>
          <a:bodyPr anchorCtr="0" anchor="ctr" bIns="45700" lIns="91425" spcFirstLastPara="1" rIns="91425" wrap="square" tIns="45700">
            <a:noAutofit/>
          </a:bodyPr>
          <a:lstStyle/>
          <a:p>
            <a:pPr indent="0" lvl="0" marL="0" marR="0" rtl="0" algn="l">
              <a:lnSpc>
                <a:spcPct val="100000"/>
              </a:lnSpc>
              <a:spcBef>
                <a:spcPts val="1000"/>
              </a:spcBef>
              <a:spcAft>
                <a:spcPts val="0"/>
              </a:spcAft>
              <a:buClr>
                <a:srgbClr val="000000"/>
              </a:buClr>
              <a:buSzPts val="2000"/>
              <a:buFont typeface="Arial"/>
              <a:buNone/>
            </a:pPr>
            <a:r>
              <a:rPr b="1" i="0" lang="en" sz="1800" u="none" cap="none" strike="noStrike">
                <a:solidFill>
                  <a:srgbClr val="000000"/>
                </a:solidFill>
                <a:latin typeface="Arial"/>
                <a:ea typeface="Arial"/>
                <a:cs typeface="Arial"/>
                <a:sym typeface="Arial"/>
              </a:rPr>
              <a:t>Q2:</a:t>
            </a:r>
            <a:r>
              <a:rPr b="0" i="0" lang="en" sz="1800" u="none" cap="none" strike="noStrike">
                <a:solidFill>
                  <a:srgbClr val="000000"/>
                </a:solidFill>
                <a:latin typeface="Arial"/>
                <a:ea typeface="Arial"/>
                <a:cs typeface="Arial"/>
                <a:sym typeface="Arial"/>
              </a:rPr>
              <a:t> What is the probability of getting a child with blue eyes?</a:t>
            </a:r>
            <a:endParaRPr b="0" i="0" sz="1800" u="none" cap="none" strike="noStrike">
              <a:solidFill>
                <a:srgbClr val="000000"/>
              </a:solidFill>
              <a:latin typeface="Arial"/>
              <a:ea typeface="Arial"/>
              <a:cs typeface="Arial"/>
              <a:sym typeface="Arial"/>
            </a:endParaRPr>
          </a:p>
          <a:p>
            <a:pPr indent="457200" lvl="0" marL="0" marR="0" rtl="0" algn="l">
              <a:lnSpc>
                <a:spcPct val="100000"/>
              </a:lnSpc>
              <a:spcBef>
                <a:spcPts val="1000"/>
              </a:spcBef>
              <a:spcAft>
                <a:spcPts val="1000"/>
              </a:spcAft>
              <a:buClr>
                <a:srgbClr val="000000"/>
              </a:buClr>
              <a:buSzPts val="2000"/>
              <a:buFont typeface="Arial"/>
              <a:buNone/>
            </a:pPr>
            <a:r>
              <a:rPr b="0" i="0" lang="en" sz="1800" u="none" cap="none" strike="noStrike">
                <a:solidFill>
                  <a:srgbClr val="00000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Heterozygous </a:t>
            </a:r>
            <a:r>
              <a:rPr b="0" i="0" lang="en" sz="1800" u="none" cap="none" strike="noStrike">
                <a:solidFill>
                  <a:srgbClr val="000000"/>
                </a:solidFill>
                <a:latin typeface="Arial"/>
                <a:ea typeface="Arial"/>
                <a:cs typeface="Arial"/>
                <a:sym typeface="Arial"/>
              </a:rPr>
              <a:t>mother (Bb) x </a:t>
            </a:r>
            <a:r>
              <a:rPr b="0" i="0" lang="en" sz="1800" u="none" cap="none" strike="noStrike">
                <a:solidFill>
                  <a:schemeClr val="dk1"/>
                </a:solidFill>
                <a:latin typeface="Arial"/>
                <a:ea typeface="Arial"/>
                <a:cs typeface="Arial"/>
                <a:sym typeface="Arial"/>
              </a:rPr>
              <a:t>Homozygous recessive </a:t>
            </a:r>
            <a:r>
              <a:rPr b="0" i="0" lang="en" sz="1800" u="none" cap="none" strike="noStrike">
                <a:solidFill>
                  <a:srgbClr val="000000"/>
                </a:solidFill>
                <a:latin typeface="Arial"/>
                <a:ea typeface="Arial"/>
                <a:cs typeface="Arial"/>
                <a:sym typeface="Arial"/>
              </a:rPr>
              <a:t>(bb) father			</a:t>
            </a:r>
            <a:endParaRPr b="0" i="0" sz="1800" u="none" cap="none" strike="noStrike">
              <a:solidFill>
                <a:srgbClr val="000000"/>
              </a:solidFill>
              <a:latin typeface="Arial"/>
              <a:ea typeface="Arial"/>
              <a:cs typeface="Arial"/>
              <a:sym typeface="Arial"/>
            </a:endParaRPr>
          </a:p>
        </p:txBody>
      </p:sp>
      <p:sp>
        <p:nvSpPr>
          <p:cNvPr id="444" name="Google Shape;444;g3f8677bd842_0_29"/>
          <p:cNvSpPr txBox="1"/>
          <p:nvPr/>
        </p:nvSpPr>
        <p:spPr>
          <a:xfrm>
            <a:off x="7194600" y="4432175"/>
            <a:ext cx="1680300" cy="568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Key</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blue eye allele</a:t>
            </a:r>
            <a:endParaRPr b="0"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b = brown  eye allele</a:t>
            </a:r>
            <a:endParaRPr b="0" i="0" sz="11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8"/>
          <p:cNvSpPr txBox="1"/>
          <p:nvPr/>
        </p:nvSpPr>
        <p:spPr>
          <a:xfrm>
            <a:off x="883350" y="88200"/>
            <a:ext cx="6727200" cy="102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Arial"/>
                <a:ea typeface="Arial"/>
                <a:cs typeface="Arial"/>
                <a:sym typeface="Arial"/>
              </a:rPr>
              <a:t>The allele for normal melanin (M) is dominant over the allele for albinism (m).</a:t>
            </a:r>
            <a:endParaRPr b="0" i="0" sz="2800" u="none" cap="none" strike="noStrike">
              <a:solidFill>
                <a:schemeClr val="dk1"/>
              </a:solidFill>
              <a:latin typeface="Arial"/>
              <a:ea typeface="Arial"/>
              <a:cs typeface="Arial"/>
              <a:sym typeface="Arial"/>
            </a:endParaRPr>
          </a:p>
        </p:txBody>
      </p:sp>
      <p:pic>
        <p:nvPicPr>
          <p:cNvPr id="450" name="Google Shape;450;p18"/>
          <p:cNvPicPr preferRelativeResize="0"/>
          <p:nvPr/>
        </p:nvPicPr>
        <p:blipFill rotWithShape="1">
          <a:blip r:embed="rId3">
            <a:alphaModFix/>
          </a:blip>
          <a:srcRect b="0" l="0" r="0" t="0"/>
          <a:stretch/>
        </p:blipFill>
        <p:spPr>
          <a:xfrm>
            <a:off x="1022075" y="1386300"/>
            <a:ext cx="3648281" cy="3452400"/>
          </a:xfrm>
          <a:prstGeom prst="rect">
            <a:avLst/>
          </a:prstGeom>
          <a:noFill/>
          <a:ln>
            <a:noFill/>
          </a:ln>
        </p:spPr>
      </p:pic>
      <p:sp>
        <p:nvSpPr>
          <p:cNvPr id="451" name="Google Shape;451;p18"/>
          <p:cNvSpPr txBox="1"/>
          <p:nvPr/>
        </p:nvSpPr>
        <p:spPr>
          <a:xfrm>
            <a:off x="2273575" y="1647225"/>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a:t>
            </a:r>
            <a:endParaRPr b="1" i="0" sz="1800" u="none" cap="none" strike="noStrike">
              <a:solidFill>
                <a:srgbClr val="000000"/>
              </a:solidFill>
              <a:latin typeface="Arial"/>
              <a:ea typeface="Arial"/>
              <a:cs typeface="Arial"/>
              <a:sym typeface="Arial"/>
            </a:endParaRPr>
          </a:p>
        </p:txBody>
      </p:sp>
      <p:sp>
        <p:nvSpPr>
          <p:cNvPr id="452" name="Google Shape;452;p18"/>
          <p:cNvSpPr txBox="1"/>
          <p:nvPr/>
        </p:nvSpPr>
        <p:spPr>
          <a:xfrm>
            <a:off x="1332650" y="2441250"/>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a:t>
            </a:r>
            <a:endParaRPr b="1" i="0" sz="1800" u="none" cap="none" strike="noStrike">
              <a:solidFill>
                <a:srgbClr val="000000"/>
              </a:solidFill>
              <a:latin typeface="Arial"/>
              <a:ea typeface="Arial"/>
              <a:cs typeface="Arial"/>
              <a:sym typeface="Arial"/>
            </a:endParaRPr>
          </a:p>
        </p:txBody>
      </p:sp>
      <p:sp>
        <p:nvSpPr>
          <p:cNvPr id="453" name="Google Shape;453;p18"/>
          <p:cNvSpPr txBox="1"/>
          <p:nvPr/>
        </p:nvSpPr>
        <p:spPr>
          <a:xfrm>
            <a:off x="3609550" y="1647225"/>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a:t>
            </a:r>
            <a:endParaRPr b="1" i="0" sz="1800" u="none" cap="none" strike="noStrike">
              <a:solidFill>
                <a:srgbClr val="000000"/>
              </a:solidFill>
              <a:latin typeface="Arial"/>
              <a:ea typeface="Arial"/>
              <a:cs typeface="Arial"/>
              <a:sym typeface="Arial"/>
            </a:endParaRPr>
          </a:p>
        </p:txBody>
      </p:sp>
      <p:sp>
        <p:nvSpPr>
          <p:cNvPr id="454" name="Google Shape;454;p18"/>
          <p:cNvSpPr txBox="1"/>
          <p:nvPr/>
        </p:nvSpPr>
        <p:spPr>
          <a:xfrm>
            <a:off x="1332650" y="3918325"/>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a:t>
            </a:r>
            <a:endParaRPr b="1" i="0" sz="1800" u="none" cap="none" strike="noStrike">
              <a:solidFill>
                <a:srgbClr val="000000"/>
              </a:solidFill>
              <a:latin typeface="Arial"/>
              <a:ea typeface="Arial"/>
              <a:cs typeface="Arial"/>
              <a:sym typeface="Arial"/>
            </a:endParaRPr>
          </a:p>
        </p:txBody>
      </p:sp>
      <p:sp>
        <p:nvSpPr>
          <p:cNvPr id="455" name="Google Shape;455;p18"/>
          <p:cNvSpPr txBox="1"/>
          <p:nvPr/>
        </p:nvSpPr>
        <p:spPr>
          <a:xfrm>
            <a:off x="5191125" y="2934750"/>
            <a:ext cx="3404100" cy="10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100% chance of normal melanin production</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0% chance of albinism</a:t>
            </a:r>
            <a:endParaRPr b="1" i="0" sz="1800" u="none" cap="none" strike="noStrike">
              <a:solidFill>
                <a:srgbClr val="000000"/>
              </a:solidFill>
              <a:latin typeface="Arial"/>
              <a:ea typeface="Arial"/>
              <a:cs typeface="Arial"/>
              <a:sym typeface="Arial"/>
            </a:endParaRPr>
          </a:p>
        </p:txBody>
      </p:sp>
      <p:pic>
        <p:nvPicPr>
          <p:cNvPr id="456" name="Google Shape;456;p18"/>
          <p:cNvPicPr preferRelativeResize="0"/>
          <p:nvPr/>
        </p:nvPicPr>
        <p:blipFill rotWithShape="1">
          <a:blip r:embed="rId4">
            <a:alphaModFix/>
          </a:blip>
          <a:srcRect b="0" l="0" r="0" t="0"/>
          <a:stretch/>
        </p:blipFill>
        <p:spPr>
          <a:xfrm>
            <a:off x="7760716" y="142050"/>
            <a:ext cx="1221758" cy="1386300"/>
          </a:xfrm>
          <a:prstGeom prst="rect">
            <a:avLst/>
          </a:prstGeom>
          <a:noFill/>
          <a:ln>
            <a:noFill/>
          </a:ln>
        </p:spPr>
      </p:pic>
      <p:grpSp>
        <p:nvGrpSpPr>
          <p:cNvPr id="457" name="Google Shape;457;p18"/>
          <p:cNvGrpSpPr/>
          <p:nvPr/>
        </p:nvGrpSpPr>
        <p:grpSpPr>
          <a:xfrm>
            <a:off x="2143675" y="2441250"/>
            <a:ext cx="2070525" cy="1813075"/>
            <a:chOff x="2143675" y="2441250"/>
            <a:chExt cx="2070525" cy="1813075"/>
          </a:xfrm>
        </p:grpSpPr>
        <p:sp>
          <p:nvSpPr>
            <p:cNvPr id="458" name="Google Shape;458;p18"/>
            <p:cNvSpPr txBox="1"/>
            <p:nvPr/>
          </p:nvSpPr>
          <p:spPr>
            <a:xfrm>
              <a:off x="2143675"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MM</a:t>
              </a:r>
              <a:endParaRPr b="1" i="0" sz="1800" u="none" cap="none" strike="noStrike">
                <a:solidFill>
                  <a:srgbClr val="000000"/>
                </a:solidFill>
                <a:latin typeface="Arial"/>
                <a:ea typeface="Arial"/>
                <a:cs typeface="Arial"/>
                <a:sym typeface="Arial"/>
              </a:endParaRPr>
            </a:p>
          </p:txBody>
        </p:sp>
        <p:sp>
          <p:nvSpPr>
            <p:cNvPr id="459" name="Google Shape;459;p18"/>
            <p:cNvSpPr txBox="1"/>
            <p:nvPr/>
          </p:nvSpPr>
          <p:spPr>
            <a:xfrm>
              <a:off x="2143675"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Mm</a:t>
              </a:r>
              <a:endParaRPr b="1" i="0" sz="1800" u="none" cap="none" strike="noStrike">
                <a:solidFill>
                  <a:srgbClr val="000000"/>
                </a:solidFill>
                <a:latin typeface="Arial"/>
                <a:ea typeface="Arial"/>
                <a:cs typeface="Arial"/>
                <a:sym typeface="Arial"/>
              </a:endParaRPr>
            </a:p>
          </p:txBody>
        </p:sp>
        <p:sp>
          <p:nvSpPr>
            <p:cNvPr id="460" name="Google Shape;460;p18"/>
            <p:cNvSpPr txBox="1"/>
            <p:nvPr/>
          </p:nvSpPr>
          <p:spPr>
            <a:xfrm>
              <a:off x="3544600"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Mm</a:t>
              </a:r>
              <a:endParaRPr b="1" i="0" sz="1800" u="none" cap="none" strike="noStrike">
                <a:solidFill>
                  <a:srgbClr val="000000"/>
                </a:solidFill>
                <a:latin typeface="Arial"/>
                <a:ea typeface="Arial"/>
                <a:cs typeface="Arial"/>
                <a:sym typeface="Arial"/>
              </a:endParaRPr>
            </a:p>
          </p:txBody>
        </p:sp>
        <p:sp>
          <p:nvSpPr>
            <p:cNvPr id="461" name="Google Shape;461;p18"/>
            <p:cNvSpPr txBox="1"/>
            <p:nvPr/>
          </p:nvSpPr>
          <p:spPr>
            <a:xfrm>
              <a:off x="3479800"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MM</a:t>
              </a:r>
              <a:endParaRPr b="1" i="0" sz="1800" u="none" cap="none" strike="noStrike">
                <a:solidFill>
                  <a:srgbClr val="000000"/>
                </a:solidFill>
                <a:latin typeface="Arial"/>
                <a:ea typeface="Arial"/>
                <a:cs typeface="Arial"/>
                <a:sym typeface="Arial"/>
              </a:endParaRPr>
            </a:p>
          </p:txBody>
        </p:sp>
      </p:grpSp>
      <p:sp>
        <p:nvSpPr>
          <p:cNvPr id="462" name="Google Shape;462;p18"/>
          <p:cNvSpPr txBox="1"/>
          <p:nvPr/>
        </p:nvSpPr>
        <p:spPr>
          <a:xfrm>
            <a:off x="5143500" y="1610850"/>
            <a:ext cx="3404100" cy="1241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i="0" lang="en" sz="1800" u="none" cap="none" strike="noStrike">
                <a:solidFill>
                  <a:srgbClr val="0091EA"/>
                </a:solidFill>
                <a:latin typeface="Arial"/>
                <a:ea typeface="Arial"/>
                <a:cs typeface="Arial"/>
                <a:sym typeface="Arial"/>
              </a:rPr>
              <a:t>What is the probability of these parents having a child with albinism?</a:t>
            </a:r>
            <a:endParaRPr b="0" i="0" sz="3600" u="none" cap="none" strike="noStrike">
              <a:solidFill>
                <a:srgbClr val="0091EA"/>
              </a:solidFill>
              <a:latin typeface="Comic Sans MS"/>
              <a:ea typeface="Comic Sans MS"/>
              <a:cs typeface="Comic Sans MS"/>
              <a:sym typeface="Comic Sans MS"/>
            </a:endParaRPr>
          </a:p>
        </p:txBody>
      </p:sp>
      <p:pic>
        <p:nvPicPr>
          <p:cNvPr id="463" name="Google Shape;463;p18"/>
          <p:cNvPicPr preferRelativeResize="0"/>
          <p:nvPr/>
        </p:nvPicPr>
        <p:blipFill rotWithShape="1">
          <a:blip r:embed="rId5">
            <a:alphaModFix/>
          </a:blip>
          <a:srcRect b="0" l="0" r="0" t="0"/>
          <a:stretch/>
        </p:blipFill>
        <p:spPr>
          <a:xfrm>
            <a:off x="57150" y="1238250"/>
            <a:ext cx="581025" cy="581025"/>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9"/>
          <p:cNvSpPr txBox="1"/>
          <p:nvPr/>
        </p:nvSpPr>
        <p:spPr>
          <a:xfrm>
            <a:off x="711300" y="1380950"/>
            <a:ext cx="8114100" cy="3691800"/>
          </a:xfrm>
          <a:prstGeom prst="rect">
            <a:avLst/>
          </a:prstGeom>
          <a:noFill/>
          <a:ln cap="flat" cmpd="sng" w="9525">
            <a:solidFill>
              <a:srgbClr val="0DB7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highlight>
                  <a:srgbClr val="CCFFFF"/>
                </a:highlight>
                <a:latin typeface="Arial"/>
                <a:ea typeface="Arial"/>
                <a:cs typeface="Arial"/>
                <a:sym typeface="Arial"/>
              </a:rPr>
              <a:t>Extension questions</a:t>
            </a:r>
            <a:endParaRPr b="1" i="0" sz="1800" u="none" cap="none" strike="noStrike">
              <a:solidFill>
                <a:srgbClr val="000000"/>
              </a:solidFill>
              <a:highlight>
                <a:srgbClr val="CC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These questions are more challenging as you need to work out the genotype of the parents only from a written description.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1) In mice, white fur is dominant. What type of offspring would you expect from a cross between a heterozygous individual (has genes for white and brown fur) and one with homozygous with white fur? Explain your answer with a genetic diagram.</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2) A homozygous long-tailed cat is crossed with a homozygous short-tailed cat and produces a litter of 9 long-tailed kittens. Show the probable offspring which would be produced if two of these </a:t>
            </a:r>
            <a:r>
              <a:rPr b="0" i="0" lang="en" sz="1800" u="sng" cap="none" strike="noStrike">
                <a:solidFill>
                  <a:srgbClr val="000000"/>
                </a:solidFill>
                <a:latin typeface="Arial"/>
                <a:ea typeface="Arial"/>
                <a:cs typeface="Arial"/>
                <a:sym typeface="Arial"/>
              </a:rPr>
              <a:t>kittens</a:t>
            </a:r>
            <a:r>
              <a:rPr b="0" i="0" lang="en" sz="1800" u="none" cap="none" strike="noStrike">
                <a:solidFill>
                  <a:srgbClr val="000000"/>
                </a:solidFill>
                <a:latin typeface="Arial"/>
                <a:ea typeface="Arial"/>
                <a:cs typeface="Arial"/>
                <a:sym typeface="Arial"/>
              </a:rPr>
              <a:t> were mated and describe the characteristics of the offspring (hint: work out the kittens’ genotype first).</a:t>
            </a:r>
            <a:endParaRPr b="0" i="0" sz="1800" u="none" cap="none" strike="noStrike">
              <a:solidFill>
                <a:srgbClr val="000000"/>
              </a:solidFill>
              <a:latin typeface="Arial"/>
              <a:ea typeface="Arial"/>
              <a:cs typeface="Arial"/>
              <a:sym typeface="Arial"/>
            </a:endParaRPr>
          </a:p>
        </p:txBody>
      </p:sp>
      <p:pic>
        <p:nvPicPr>
          <p:cNvPr id="469" name="Google Shape;469;p19"/>
          <p:cNvPicPr preferRelativeResize="0"/>
          <p:nvPr/>
        </p:nvPicPr>
        <p:blipFill rotWithShape="1">
          <a:blip r:embed="rId3">
            <a:alphaModFix/>
          </a:blip>
          <a:srcRect b="0" l="0" r="0" t="0"/>
          <a:stretch/>
        </p:blipFill>
        <p:spPr>
          <a:xfrm>
            <a:off x="57150" y="1238250"/>
            <a:ext cx="581025" cy="581025"/>
          </a:xfrm>
          <a:prstGeom prst="rect">
            <a:avLst/>
          </a:prstGeom>
          <a:noFill/>
          <a:ln>
            <a:noFill/>
          </a:ln>
        </p:spPr>
      </p:pic>
      <p:sp>
        <p:nvSpPr>
          <p:cNvPr id="470" name="Google Shape;470;p19"/>
          <p:cNvSpPr txBox="1"/>
          <p:nvPr/>
        </p:nvSpPr>
        <p:spPr>
          <a:xfrm>
            <a:off x="711300" y="0"/>
            <a:ext cx="77214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0A95B0"/>
                </a:solidFill>
                <a:latin typeface="Roboto"/>
                <a:ea typeface="Roboto"/>
                <a:cs typeface="Roboto"/>
                <a:sym typeface="Roboto"/>
              </a:rPr>
              <a:t>Task</a:t>
            </a:r>
            <a:r>
              <a:rPr b="0" i="0" lang="en" sz="2200" u="none" cap="none" strike="noStrike">
                <a:solidFill>
                  <a:srgbClr val="000000"/>
                </a:solidFill>
                <a:latin typeface="Roboto"/>
                <a:ea typeface="Roboto"/>
                <a:cs typeface="Roboto"/>
                <a:sym typeface="Roboto"/>
              </a:rPr>
              <a:t>: Read the </a:t>
            </a:r>
            <a:r>
              <a:rPr b="1" i="0" lang="en" sz="2200" u="none" cap="none" strike="noStrike">
                <a:solidFill>
                  <a:srgbClr val="000000"/>
                </a:solidFill>
                <a:latin typeface="Roboto"/>
                <a:ea typeface="Roboto"/>
                <a:cs typeface="Roboto"/>
                <a:sym typeface="Roboto"/>
              </a:rPr>
              <a:t>Punnett Squares Walkthrough Worksheet </a:t>
            </a:r>
            <a:r>
              <a:rPr b="0" i="0" lang="en" sz="2200" u="none" cap="none" strike="noStrike">
                <a:solidFill>
                  <a:srgbClr val="000000"/>
                </a:solidFill>
                <a:latin typeface="Roboto"/>
                <a:ea typeface="Roboto"/>
                <a:cs typeface="Roboto"/>
                <a:sym typeface="Roboto"/>
              </a:rPr>
              <a:t>uploaded onto Google classroom then answer the questions.</a:t>
            </a:r>
            <a:endParaRPr b="0" i="0" sz="2200" u="none" cap="none" strike="noStrike">
              <a:solidFill>
                <a:srgbClr val="000000"/>
              </a:solidFill>
              <a:latin typeface="Roboto"/>
              <a:ea typeface="Roboto"/>
              <a:cs typeface="Roboto"/>
              <a:sym typeface="Roboto"/>
            </a:endParaRPr>
          </a:p>
        </p:txBody>
      </p:sp>
      <p:pic>
        <p:nvPicPr>
          <p:cNvPr descr="This 15 Minute Timer with Alarm Alert at the End counts down silently to 0:00 exactly.&#10;&#10;Playlist with all Timers! : https://www.youtube.com/playlist?list=PLhJ5MzpCOQ1WPDPYQFt6iJAdnqTFQ-ksu&#10;&#10;Do you want another timer? Tell me in comments.&#10;The only thing you have to do is only to credit me with the link of the video and my channel (https://www.youtube.com/channel/UCRJD1e180IvvEGPhoq-rV7g), very easy!&#10;&#10;Subscribe : https://www.youtube.com/channel/UCRJD1e180IvvEGPhoq-rV7g?sub_confirmation=1&#10;&#10;#timer&#10;&#10;00:00 15 Minute Timer&#10;00:00 15 Min Timer&#10;00:00 Fifteen Minute Timer&#10;&#10;Original Creator : https://youtube.com/@AdamEschborn&#10;Timer playlist of Adam Eschborn : https://youtube.com/playlist?list=PLBMED-rCVbDiiqfY_XfNA79I7k7npEsP9" id="471" name="Google Shape;471;p19" title="15 Minute Timer">
            <a:hlinkClick r:id="rId4"/>
          </p:cNvPr>
          <p:cNvPicPr preferRelativeResize="0"/>
          <p:nvPr/>
        </p:nvPicPr>
        <p:blipFill rotWithShape="1">
          <a:blip r:embed="rId5">
            <a:alphaModFix/>
          </a:blip>
          <a:srcRect b="0" l="0" r="0" t="0"/>
          <a:stretch/>
        </p:blipFill>
        <p:spPr>
          <a:xfrm>
            <a:off x="7198037" y="738025"/>
            <a:ext cx="1701989" cy="957375"/>
          </a:xfrm>
          <a:prstGeom prst="rect">
            <a:avLst/>
          </a:prstGeom>
          <a:noFill/>
          <a:ln>
            <a:noFill/>
          </a:ln>
        </p:spPr>
      </p:pic>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f9c7caa14d_0_176"/>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000000"/>
              </a:buClr>
              <a:buSzPts val="2400"/>
              <a:buFont typeface="Arial"/>
              <a:buNone/>
            </a:pPr>
            <a:fld id="{00000000-1234-1234-1234-123412341234}" type="slidenum">
              <a:rPr lang="en"/>
              <a:t>‹#›</a:t>
            </a:fld>
            <a:endParaRPr/>
          </a:p>
        </p:txBody>
      </p:sp>
      <p:pic>
        <p:nvPicPr>
          <p:cNvPr id="477" name="Google Shape;477;g3f9c7caa14d_0_176" title="Screenshot 2026-09-03 at 8.09.14 AM.png"/>
          <p:cNvPicPr preferRelativeResize="0"/>
          <p:nvPr/>
        </p:nvPicPr>
        <p:blipFill rotWithShape="1">
          <a:blip r:embed="rId3">
            <a:alphaModFix/>
          </a:blip>
          <a:srcRect b="0" l="0" r="0" t="0"/>
          <a:stretch/>
        </p:blipFill>
        <p:spPr>
          <a:xfrm>
            <a:off x="909275" y="75950"/>
            <a:ext cx="6702226" cy="4964250"/>
          </a:xfrm>
          <a:prstGeom prst="rect">
            <a:avLst/>
          </a:prstGeom>
          <a:noFill/>
          <a:ln>
            <a:noFill/>
          </a:ln>
        </p:spPr>
      </p:pic>
      <p:pic>
        <p:nvPicPr>
          <p:cNvPr id="478" name="Google Shape;478;g3f9c7caa14d_0_176"/>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3f9c7caa14d_0_181"/>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fld id="{00000000-1234-1234-1234-123412341234}" type="slidenum">
              <a:rPr lang="en"/>
              <a:t>‹#›</a:t>
            </a:fld>
            <a:endParaRPr/>
          </a:p>
        </p:txBody>
      </p:sp>
      <p:pic>
        <p:nvPicPr>
          <p:cNvPr id="484" name="Google Shape;484;g3f9c7caa14d_0_181" title="Screenshot 2026-09-03 at 8.09.37 AM.png"/>
          <p:cNvPicPr preferRelativeResize="0"/>
          <p:nvPr/>
        </p:nvPicPr>
        <p:blipFill rotWithShape="1">
          <a:blip r:embed="rId3">
            <a:alphaModFix/>
          </a:blip>
          <a:srcRect b="0" l="0" r="0" t="0"/>
          <a:stretch/>
        </p:blipFill>
        <p:spPr>
          <a:xfrm>
            <a:off x="821925" y="152400"/>
            <a:ext cx="7476996" cy="4838700"/>
          </a:xfrm>
          <a:prstGeom prst="rect">
            <a:avLst/>
          </a:prstGeom>
          <a:noFill/>
          <a:ln>
            <a:noFill/>
          </a:ln>
        </p:spPr>
      </p:pic>
      <p:pic>
        <p:nvPicPr>
          <p:cNvPr id="485" name="Google Shape;485;g3f9c7caa14d_0_181"/>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f9c7caa14d_0_187"/>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fld id="{00000000-1234-1234-1234-123412341234}" type="slidenum">
              <a:rPr lang="en"/>
              <a:t>‹#›</a:t>
            </a:fld>
            <a:endParaRPr/>
          </a:p>
        </p:txBody>
      </p:sp>
      <p:pic>
        <p:nvPicPr>
          <p:cNvPr id="491" name="Google Shape;491;g3f9c7caa14d_0_187" title="Screenshot 2026-09-03 at 8.09.48 AM.png"/>
          <p:cNvPicPr preferRelativeResize="0"/>
          <p:nvPr/>
        </p:nvPicPr>
        <p:blipFill rotWithShape="1">
          <a:blip r:embed="rId3">
            <a:alphaModFix/>
          </a:blip>
          <a:srcRect b="0" l="0" r="0" t="0"/>
          <a:stretch/>
        </p:blipFill>
        <p:spPr>
          <a:xfrm>
            <a:off x="927700" y="257750"/>
            <a:ext cx="7885051" cy="1272850"/>
          </a:xfrm>
          <a:prstGeom prst="rect">
            <a:avLst/>
          </a:prstGeom>
          <a:noFill/>
          <a:ln>
            <a:noFill/>
          </a:ln>
        </p:spPr>
      </p:pic>
      <p:pic>
        <p:nvPicPr>
          <p:cNvPr id="492" name="Google Shape;492;g3f9c7caa14d_0_187"/>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f9c7caa14d_0_194"/>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fld id="{00000000-1234-1234-1234-123412341234}" type="slidenum">
              <a:rPr lang="en"/>
              <a:t>‹#›</a:t>
            </a:fld>
            <a:endParaRPr/>
          </a:p>
        </p:txBody>
      </p:sp>
      <p:pic>
        <p:nvPicPr>
          <p:cNvPr id="498" name="Google Shape;498;g3f9c7caa14d_0_194" title="Screenshot 2026-09-03 at 8.10.12 AM.png"/>
          <p:cNvPicPr preferRelativeResize="0"/>
          <p:nvPr/>
        </p:nvPicPr>
        <p:blipFill rotWithShape="1">
          <a:blip r:embed="rId3">
            <a:alphaModFix/>
          </a:blip>
          <a:srcRect b="0" l="0" r="0" t="0"/>
          <a:stretch/>
        </p:blipFill>
        <p:spPr>
          <a:xfrm>
            <a:off x="1336700" y="97800"/>
            <a:ext cx="6470577" cy="4838702"/>
          </a:xfrm>
          <a:prstGeom prst="rect">
            <a:avLst/>
          </a:prstGeom>
          <a:noFill/>
          <a:ln>
            <a:noFill/>
          </a:ln>
        </p:spPr>
      </p:pic>
      <p:pic>
        <p:nvPicPr>
          <p:cNvPr id="499" name="Google Shape;499;g3f9c7caa14d_0_194"/>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0"/>
          <p:cNvSpPr txBox="1"/>
          <p:nvPr/>
        </p:nvSpPr>
        <p:spPr>
          <a:xfrm>
            <a:off x="714375" y="0"/>
            <a:ext cx="83154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900" u="none" cap="none" strike="noStrike">
                <a:solidFill>
                  <a:schemeClr val="dk1"/>
                </a:solidFill>
                <a:latin typeface="Roboto"/>
                <a:ea typeface="Roboto"/>
                <a:cs typeface="Roboto"/>
                <a:sym typeface="Roboto"/>
              </a:rPr>
              <a:t>1) In mice, </a:t>
            </a:r>
            <a:r>
              <a:rPr b="0" i="0" lang="en" sz="1900" u="none" cap="none" strike="noStrike">
                <a:solidFill>
                  <a:schemeClr val="dk1"/>
                </a:solidFill>
                <a:highlight>
                  <a:srgbClr val="CCFFFF"/>
                </a:highlight>
                <a:latin typeface="Roboto"/>
                <a:ea typeface="Roboto"/>
                <a:cs typeface="Roboto"/>
                <a:sym typeface="Roboto"/>
              </a:rPr>
              <a:t>white fur is dominant</a:t>
            </a:r>
            <a:r>
              <a:rPr b="0" i="0" lang="en" sz="1900" u="none" cap="none" strike="noStrike">
                <a:solidFill>
                  <a:schemeClr val="dk1"/>
                </a:solidFill>
                <a:latin typeface="Roboto"/>
                <a:ea typeface="Roboto"/>
                <a:cs typeface="Roboto"/>
                <a:sym typeface="Roboto"/>
              </a:rPr>
              <a:t>. What type of offspring would you expect from a cross between a </a:t>
            </a:r>
            <a:r>
              <a:rPr b="0" i="0" lang="en" sz="1900" u="none" cap="none" strike="noStrike">
                <a:solidFill>
                  <a:schemeClr val="dk1"/>
                </a:solidFill>
                <a:highlight>
                  <a:srgbClr val="CCFFFF"/>
                </a:highlight>
                <a:latin typeface="Roboto"/>
                <a:ea typeface="Roboto"/>
                <a:cs typeface="Roboto"/>
                <a:sym typeface="Roboto"/>
              </a:rPr>
              <a:t>heterozygous</a:t>
            </a:r>
            <a:r>
              <a:rPr b="0" i="0" lang="en" sz="1900" u="none" cap="none" strike="noStrike">
                <a:solidFill>
                  <a:schemeClr val="dk1"/>
                </a:solidFill>
                <a:latin typeface="Roboto"/>
                <a:ea typeface="Roboto"/>
                <a:cs typeface="Roboto"/>
                <a:sym typeface="Roboto"/>
              </a:rPr>
              <a:t> individual (has genes for white and brown fur) and one with </a:t>
            </a:r>
            <a:r>
              <a:rPr b="0" i="0" lang="en" sz="1900" u="none" cap="none" strike="noStrike">
                <a:solidFill>
                  <a:schemeClr val="dk1"/>
                </a:solidFill>
                <a:highlight>
                  <a:srgbClr val="CCFFFF"/>
                </a:highlight>
                <a:latin typeface="Roboto"/>
                <a:ea typeface="Roboto"/>
                <a:cs typeface="Roboto"/>
                <a:sym typeface="Roboto"/>
              </a:rPr>
              <a:t>homozygous with white fur</a:t>
            </a:r>
            <a:r>
              <a:rPr b="0" i="0" lang="en" sz="1900" u="none" cap="none" strike="noStrike">
                <a:solidFill>
                  <a:schemeClr val="dk1"/>
                </a:solidFill>
                <a:latin typeface="Roboto"/>
                <a:ea typeface="Roboto"/>
                <a:cs typeface="Roboto"/>
                <a:sym typeface="Roboto"/>
              </a:rPr>
              <a:t>? Explain your answer with a genetic diagram.</a:t>
            </a:r>
            <a:endParaRPr b="0" i="0" sz="1500" u="none" cap="none" strike="noStrike">
              <a:solidFill>
                <a:srgbClr val="000000"/>
              </a:solidFill>
              <a:latin typeface="Roboto"/>
              <a:ea typeface="Roboto"/>
              <a:cs typeface="Roboto"/>
              <a:sym typeface="Roboto"/>
            </a:endParaRPr>
          </a:p>
        </p:txBody>
      </p:sp>
      <p:pic>
        <p:nvPicPr>
          <p:cNvPr id="505" name="Google Shape;505;p20"/>
          <p:cNvPicPr preferRelativeResize="0"/>
          <p:nvPr/>
        </p:nvPicPr>
        <p:blipFill rotWithShape="1">
          <a:blip r:embed="rId3">
            <a:alphaModFix/>
          </a:blip>
          <a:srcRect b="0" l="8517" r="0" t="7561"/>
          <a:stretch/>
        </p:blipFill>
        <p:spPr>
          <a:xfrm>
            <a:off x="1199300" y="1428150"/>
            <a:ext cx="3337700" cy="3191475"/>
          </a:xfrm>
          <a:prstGeom prst="rect">
            <a:avLst/>
          </a:prstGeom>
          <a:noFill/>
          <a:ln>
            <a:noFill/>
          </a:ln>
        </p:spPr>
      </p:pic>
      <p:sp>
        <p:nvSpPr>
          <p:cNvPr id="506" name="Google Shape;506;p20"/>
          <p:cNvSpPr txBox="1"/>
          <p:nvPr/>
        </p:nvSpPr>
        <p:spPr>
          <a:xfrm>
            <a:off x="2140225" y="1428150"/>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a:t>
            </a:r>
            <a:endParaRPr b="1" i="0" sz="1800" u="none" cap="none" strike="noStrike">
              <a:solidFill>
                <a:srgbClr val="000000"/>
              </a:solidFill>
              <a:latin typeface="Arial"/>
              <a:ea typeface="Arial"/>
              <a:cs typeface="Arial"/>
              <a:sym typeface="Arial"/>
            </a:endParaRPr>
          </a:p>
        </p:txBody>
      </p:sp>
      <p:sp>
        <p:nvSpPr>
          <p:cNvPr id="507" name="Google Shape;507;p20"/>
          <p:cNvSpPr txBox="1"/>
          <p:nvPr/>
        </p:nvSpPr>
        <p:spPr>
          <a:xfrm>
            <a:off x="1199300" y="2222175"/>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a:t>
            </a:r>
            <a:endParaRPr b="1" i="0" sz="1800" u="none" cap="none" strike="noStrike">
              <a:solidFill>
                <a:srgbClr val="000000"/>
              </a:solidFill>
              <a:latin typeface="Arial"/>
              <a:ea typeface="Arial"/>
              <a:cs typeface="Arial"/>
              <a:sym typeface="Arial"/>
            </a:endParaRPr>
          </a:p>
        </p:txBody>
      </p:sp>
      <p:sp>
        <p:nvSpPr>
          <p:cNvPr id="508" name="Google Shape;508;p20"/>
          <p:cNvSpPr txBox="1"/>
          <p:nvPr/>
        </p:nvSpPr>
        <p:spPr>
          <a:xfrm>
            <a:off x="3476200" y="1428150"/>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a:t>
            </a:r>
            <a:endParaRPr b="1" i="0" sz="1800" u="none" cap="none" strike="noStrike">
              <a:solidFill>
                <a:srgbClr val="000000"/>
              </a:solidFill>
              <a:latin typeface="Arial"/>
              <a:ea typeface="Arial"/>
              <a:cs typeface="Arial"/>
              <a:sym typeface="Arial"/>
            </a:endParaRPr>
          </a:p>
        </p:txBody>
      </p:sp>
      <p:sp>
        <p:nvSpPr>
          <p:cNvPr id="509" name="Google Shape;509;p20"/>
          <p:cNvSpPr txBox="1"/>
          <p:nvPr/>
        </p:nvSpPr>
        <p:spPr>
          <a:xfrm>
            <a:off x="1199300" y="3699250"/>
            <a:ext cx="410100" cy="26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a:t>
            </a:r>
            <a:endParaRPr b="1" i="0" sz="1800" u="none" cap="none" strike="noStrike">
              <a:solidFill>
                <a:srgbClr val="000000"/>
              </a:solidFill>
              <a:latin typeface="Arial"/>
              <a:ea typeface="Arial"/>
              <a:cs typeface="Arial"/>
              <a:sym typeface="Arial"/>
            </a:endParaRPr>
          </a:p>
        </p:txBody>
      </p:sp>
      <p:grpSp>
        <p:nvGrpSpPr>
          <p:cNvPr id="510" name="Google Shape;510;p20"/>
          <p:cNvGrpSpPr/>
          <p:nvPr/>
        </p:nvGrpSpPr>
        <p:grpSpPr>
          <a:xfrm>
            <a:off x="2010325" y="2222175"/>
            <a:ext cx="2070525" cy="1813075"/>
            <a:chOff x="2143675" y="2441250"/>
            <a:chExt cx="2070525" cy="1813075"/>
          </a:xfrm>
        </p:grpSpPr>
        <p:sp>
          <p:nvSpPr>
            <p:cNvPr id="511" name="Google Shape;511;p20"/>
            <p:cNvSpPr txBox="1"/>
            <p:nvPr/>
          </p:nvSpPr>
          <p:spPr>
            <a:xfrm>
              <a:off x="2143675"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WW</a:t>
              </a:r>
              <a:endParaRPr b="1" i="0" sz="1800" u="none" cap="none" strike="noStrike">
                <a:solidFill>
                  <a:srgbClr val="000000"/>
                </a:solidFill>
                <a:latin typeface="Arial"/>
                <a:ea typeface="Arial"/>
                <a:cs typeface="Arial"/>
                <a:sym typeface="Arial"/>
              </a:endParaRPr>
            </a:p>
          </p:txBody>
        </p:sp>
        <p:sp>
          <p:nvSpPr>
            <p:cNvPr id="512" name="Google Shape;512;p20"/>
            <p:cNvSpPr txBox="1"/>
            <p:nvPr/>
          </p:nvSpPr>
          <p:spPr>
            <a:xfrm>
              <a:off x="2143675"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WW</a:t>
              </a:r>
              <a:endParaRPr b="1" i="0" sz="1800" u="none" cap="none" strike="noStrike">
                <a:solidFill>
                  <a:srgbClr val="000000"/>
                </a:solidFill>
                <a:latin typeface="Arial"/>
                <a:ea typeface="Arial"/>
                <a:cs typeface="Arial"/>
                <a:sym typeface="Arial"/>
              </a:endParaRPr>
            </a:p>
          </p:txBody>
        </p:sp>
        <p:sp>
          <p:nvSpPr>
            <p:cNvPr id="513" name="Google Shape;513;p20"/>
            <p:cNvSpPr txBox="1"/>
            <p:nvPr/>
          </p:nvSpPr>
          <p:spPr>
            <a:xfrm>
              <a:off x="3544600"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Ww</a:t>
              </a:r>
              <a:endParaRPr b="1" i="0" sz="1800" u="none" cap="none" strike="noStrike">
                <a:solidFill>
                  <a:srgbClr val="000000"/>
                </a:solidFill>
                <a:latin typeface="Arial"/>
                <a:ea typeface="Arial"/>
                <a:cs typeface="Arial"/>
                <a:sym typeface="Arial"/>
              </a:endParaRPr>
            </a:p>
          </p:txBody>
        </p:sp>
        <p:sp>
          <p:nvSpPr>
            <p:cNvPr id="514" name="Google Shape;514;p20"/>
            <p:cNvSpPr txBox="1"/>
            <p:nvPr/>
          </p:nvSpPr>
          <p:spPr>
            <a:xfrm>
              <a:off x="3479800"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Ww</a:t>
              </a:r>
              <a:endParaRPr b="1" i="0" sz="1800" u="none" cap="none" strike="noStrike">
                <a:solidFill>
                  <a:srgbClr val="000000"/>
                </a:solidFill>
                <a:latin typeface="Arial"/>
                <a:ea typeface="Arial"/>
                <a:cs typeface="Arial"/>
                <a:sym typeface="Arial"/>
              </a:endParaRPr>
            </a:p>
          </p:txBody>
        </p:sp>
      </p:grpSp>
      <p:sp>
        <p:nvSpPr>
          <p:cNvPr id="515" name="Google Shape;515;p20"/>
          <p:cNvSpPr txBox="1"/>
          <p:nvPr/>
        </p:nvSpPr>
        <p:spPr>
          <a:xfrm>
            <a:off x="5019675" y="2673250"/>
            <a:ext cx="3404100" cy="10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100% chance of white fur</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0% chance of brown fur</a:t>
            </a:r>
            <a:endParaRPr b="1" i="0" sz="1800" u="none" cap="none" strike="noStrike">
              <a:solidFill>
                <a:srgbClr val="000000"/>
              </a:solidFill>
              <a:latin typeface="Arial"/>
              <a:ea typeface="Arial"/>
              <a:cs typeface="Arial"/>
              <a:sym typeface="Arial"/>
            </a:endParaRPr>
          </a:p>
        </p:txBody>
      </p:sp>
      <p:pic>
        <p:nvPicPr>
          <p:cNvPr id="516" name="Google Shape;516;p20"/>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1"/>
          <p:cNvSpPr txBox="1"/>
          <p:nvPr/>
        </p:nvSpPr>
        <p:spPr>
          <a:xfrm>
            <a:off x="723900" y="0"/>
            <a:ext cx="82392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 sz="1800" u="none" cap="none" strike="noStrike">
                <a:solidFill>
                  <a:schemeClr val="dk1"/>
                </a:solidFill>
                <a:latin typeface="Roboto"/>
                <a:ea typeface="Roboto"/>
                <a:cs typeface="Roboto"/>
                <a:sym typeface="Roboto"/>
              </a:rPr>
              <a:t>2) A </a:t>
            </a:r>
            <a:r>
              <a:rPr b="0" i="0" lang="en" sz="1800" u="none" cap="none" strike="noStrike">
                <a:solidFill>
                  <a:schemeClr val="dk1"/>
                </a:solidFill>
                <a:highlight>
                  <a:srgbClr val="CCFFFF"/>
                </a:highlight>
                <a:latin typeface="Roboto"/>
                <a:ea typeface="Roboto"/>
                <a:cs typeface="Roboto"/>
                <a:sym typeface="Roboto"/>
              </a:rPr>
              <a:t>homozygous long-tailed cat</a:t>
            </a:r>
            <a:r>
              <a:rPr b="0" i="0" lang="en" sz="1800" u="none" cap="none" strike="noStrike">
                <a:solidFill>
                  <a:schemeClr val="dk1"/>
                </a:solidFill>
                <a:latin typeface="Roboto"/>
                <a:ea typeface="Roboto"/>
                <a:cs typeface="Roboto"/>
                <a:sym typeface="Roboto"/>
              </a:rPr>
              <a:t> is crossed with a </a:t>
            </a:r>
            <a:r>
              <a:rPr b="0" i="0" lang="en" sz="1800" u="none" cap="none" strike="noStrike">
                <a:solidFill>
                  <a:schemeClr val="dk1"/>
                </a:solidFill>
                <a:highlight>
                  <a:srgbClr val="CCFFFF"/>
                </a:highlight>
                <a:latin typeface="Roboto"/>
                <a:ea typeface="Roboto"/>
                <a:cs typeface="Roboto"/>
                <a:sym typeface="Roboto"/>
              </a:rPr>
              <a:t>homozygous short-tailed cat</a:t>
            </a:r>
            <a:r>
              <a:rPr b="0" i="0" lang="en" sz="1800" u="none" cap="none" strike="noStrike">
                <a:solidFill>
                  <a:schemeClr val="dk1"/>
                </a:solidFill>
                <a:latin typeface="Roboto"/>
                <a:ea typeface="Roboto"/>
                <a:cs typeface="Roboto"/>
                <a:sym typeface="Roboto"/>
              </a:rPr>
              <a:t> and produces a litter of 9 </a:t>
            </a:r>
            <a:r>
              <a:rPr b="0" i="0" lang="en" sz="1800" u="none" cap="none" strike="noStrike">
                <a:solidFill>
                  <a:schemeClr val="dk1"/>
                </a:solidFill>
                <a:highlight>
                  <a:srgbClr val="CCFFFF"/>
                </a:highlight>
                <a:latin typeface="Roboto"/>
                <a:ea typeface="Roboto"/>
                <a:cs typeface="Roboto"/>
                <a:sym typeface="Roboto"/>
              </a:rPr>
              <a:t>long-tailed kittens</a:t>
            </a:r>
            <a:r>
              <a:rPr b="0" i="0" lang="en" sz="1800" u="none" cap="none" strike="noStrike">
                <a:solidFill>
                  <a:schemeClr val="dk1"/>
                </a:solidFill>
                <a:latin typeface="Roboto"/>
                <a:ea typeface="Roboto"/>
                <a:cs typeface="Roboto"/>
                <a:sym typeface="Roboto"/>
              </a:rPr>
              <a:t>. Show the probable offspring which would be produced if two of these </a:t>
            </a:r>
            <a:r>
              <a:rPr b="0" i="0" lang="en" sz="1800" u="sng" cap="none" strike="noStrike">
                <a:solidFill>
                  <a:schemeClr val="dk1"/>
                </a:solidFill>
                <a:highlight>
                  <a:srgbClr val="CCFFFF"/>
                </a:highlight>
                <a:latin typeface="Roboto"/>
                <a:ea typeface="Roboto"/>
                <a:cs typeface="Roboto"/>
                <a:sym typeface="Roboto"/>
              </a:rPr>
              <a:t>kittens</a:t>
            </a:r>
            <a:r>
              <a:rPr b="0" i="0" lang="en" sz="1800" u="none" cap="none" strike="noStrike">
                <a:solidFill>
                  <a:schemeClr val="dk1"/>
                </a:solidFill>
                <a:highlight>
                  <a:srgbClr val="CCFFFF"/>
                </a:highlight>
                <a:latin typeface="Roboto"/>
                <a:ea typeface="Roboto"/>
                <a:cs typeface="Roboto"/>
                <a:sym typeface="Roboto"/>
              </a:rPr>
              <a:t> were mated</a:t>
            </a:r>
            <a:r>
              <a:rPr b="0" i="0" lang="en" sz="1800" u="none" cap="none" strike="noStrike">
                <a:solidFill>
                  <a:schemeClr val="dk1"/>
                </a:solidFill>
                <a:latin typeface="Roboto"/>
                <a:ea typeface="Roboto"/>
                <a:cs typeface="Roboto"/>
                <a:sym typeface="Roboto"/>
              </a:rPr>
              <a:t> and describe the characteristics of the offspring (hint: work out the kittens’ genotype first).</a:t>
            </a:r>
            <a:endParaRPr b="0" i="0" sz="1800" u="none" cap="none" strike="noStrike">
              <a:solidFill>
                <a:schemeClr val="dk1"/>
              </a:solidFill>
              <a:latin typeface="Roboto"/>
              <a:ea typeface="Roboto"/>
              <a:cs typeface="Roboto"/>
              <a:sym typeface="Roboto"/>
            </a:endParaRPr>
          </a:p>
        </p:txBody>
      </p:sp>
      <p:pic>
        <p:nvPicPr>
          <p:cNvPr id="522" name="Google Shape;522;p21"/>
          <p:cNvPicPr preferRelativeResize="0"/>
          <p:nvPr/>
        </p:nvPicPr>
        <p:blipFill rotWithShape="1">
          <a:blip r:embed="rId3">
            <a:alphaModFix/>
          </a:blip>
          <a:srcRect b="0" l="8517" r="0" t="7561"/>
          <a:stretch/>
        </p:blipFill>
        <p:spPr>
          <a:xfrm>
            <a:off x="961175" y="1828200"/>
            <a:ext cx="2867875" cy="2915250"/>
          </a:xfrm>
          <a:prstGeom prst="rect">
            <a:avLst/>
          </a:prstGeom>
          <a:noFill/>
          <a:ln>
            <a:noFill/>
          </a:ln>
        </p:spPr>
      </p:pic>
      <p:sp>
        <p:nvSpPr>
          <p:cNvPr id="523" name="Google Shape;523;p21"/>
          <p:cNvSpPr txBox="1"/>
          <p:nvPr/>
        </p:nvSpPr>
        <p:spPr>
          <a:xfrm>
            <a:off x="1769653" y="1828200"/>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24" name="Google Shape;524;p21"/>
          <p:cNvSpPr txBox="1"/>
          <p:nvPr/>
        </p:nvSpPr>
        <p:spPr>
          <a:xfrm>
            <a:off x="961184" y="2553637"/>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25" name="Google Shape;525;p21"/>
          <p:cNvSpPr txBox="1"/>
          <p:nvPr/>
        </p:nvSpPr>
        <p:spPr>
          <a:xfrm>
            <a:off x="2917572" y="1828200"/>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26" name="Google Shape;526;p21"/>
          <p:cNvSpPr txBox="1"/>
          <p:nvPr/>
        </p:nvSpPr>
        <p:spPr>
          <a:xfrm>
            <a:off x="1036084" y="3879545"/>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grpSp>
        <p:nvGrpSpPr>
          <p:cNvPr id="527" name="Google Shape;527;p21"/>
          <p:cNvGrpSpPr/>
          <p:nvPr/>
        </p:nvGrpSpPr>
        <p:grpSpPr>
          <a:xfrm>
            <a:off x="1658173" y="2553625"/>
            <a:ext cx="1779202" cy="1656244"/>
            <a:chOff x="2143675" y="2441250"/>
            <a:chExt cx="2070525" cy="1813075"/>
          </a:xfrm>
        </p:grpSpPr>
        <p:sp>
          <p:nvSpPr>
            <p:cNvPr id="528" name="Google Shape;528;p21"/>
            <p:cNvSpPr txBox="1"/>
            <p:nvPr/>
          </p:nvSpPr>
          <p:spPr>
            <a:xfrm>
              <a:off x="2143675"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29" name="Google Shape;529;p21"/>
            <p:cNvSpPr txBox="1"/>
            <p:nvPr/>
          </p:nvSpPr>
          <p:spPr>
            <a:xfrm>
              <a:off x="2143675"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30" name="Google Shape;530;p21"/>
            <p:cNvSpPr txBox="1"/>
            <p:nvPr/>
          </p:nvSpPr>
          <p:spPr>
            <a:xfrm>
              <a:off x="3544600"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31" name="Google Shape;531;p21"/>
            <p:cNvSpPr txBox="1"/>
            <p:nvPr/>
          </p:nvSpPr>
          <p:spPr>
            <a:xfrm>
              <a:off x="3479800"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grpSp>
      <p:pic>
        <p:nvPicPr>
          <p:cNvPr id="532" name="Google Shape;532;p21"/>
          <p:cNvPicPr preferRelativeResize="0"/>
          <p:nvPr/>
        </p:nvPicPr>
        <p:blipFill rotWithShape="1">
          <a:blip r:embed="rId3">
            <a:alphaModFix/>
          </a:blip>
          <a:srcRect b="0" l="8517" r="0" t="7561"/>
          <a:stretch/>
        </p:blipFill>
        <p:spPr>
          <a:xfrm>
            <a:off x="4361600" y="1924125"/>
            <a:ext cx="2867875" cy="2915250"/>
          </a:xfrm>
          <a:prstGeom prst="rect">
            <a:avLst/>
          </a:prstGeom>
          <a:noFill/>
          <a:ln>
            <a:noFill/>
          </a:ln>
        </p:spPr>
      </p:pic>
      <p:sp>
        <p:nvSpPr>
          <p:cNvPr id="533" name="Google Shape;533;p21"/>
          <p:cNvSpPr txBox="1"/>
          <p:nvPr/>
        </p:nvSpPr>
        <p:spPr>
          <a:xfrm>
            <a:off x="5170078" y="1924125"/>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34" name="Google Shape;534;p21"/>
          <p:cNvSpPr txBox="1"/>
          <p:nvPr/>
        </p:nvSpPr>
        <p:spPr>
          <a:xfrm>
            <a:off x="4361609" y="2649562"/>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35" name="Google Shape;535;p21"/>
          <p:cNvSpPr txBox="1"/>
          <p:nvPr/>
        </p:nvSpPr>
        <p:spPr>
          <a:xfrm>
            <a:off x="6565647" y="1924125"/>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sp>
        <p:nvSpPr>
          <p:cNvPr id="536" name="Google Shape;536;p21"/>
          <p:cNvSpPr txBox="1"/>
          <p:nvPr/>
        </p:nvSpPr>
        <p:spPr>
          <a:xfrm>
            <a:off x="4419759" y="3879545"/>
            <a:ext cx="352200" cy="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a:t>
            </a:r>
            <a:endParaRPr b="1" i="0" sz="1800" u="none" cap="none" strike="noStrike">
              <a:solidFill>
                <a:srgbClr val="000000"/>
              </a:solidFill>
              <a:latin typeface="Arial"/>
              <a:ea typeface="Arial"/>
              <a:cs typeface="Arial"/>
              <a:sym typeface="Arial"/>
            </a:endParaRPr>
          </a:p>
        </p:txBody>
      </p:sp>
      <p:grpSp>
        <p:nvGrpSpPr>
          <p:cNvPr id="537" name="Google Shape;537;p21"/>
          <p:cNvGrpSpPr/>
          <p:nvPr/>
        </p:nvGrpSpPr>
        <p:grpSpPr>
          <a:xfrm>
            <a:off x="5058598" y="2649550"/>
            <a:ext cx="1779202" cy="1656244"/>
            <a:chOff x="2143675" y="2441250"/>
            <a:chExt cx="2070525" cy="1813075"/>
          </a:xfrm>
        </p:grpSpPr>
        <p:sp>
          <p:nvSpPr>
            <p:cNvPr id="538" name="Google Shape;538;p21"/>
            <p:cNvSpPr txBox="1"/>
            <p:nvPr/>
          </p:nvSpPr>
          <p:spPr>
            <a:xfrm>
              <a:off x="2143675"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39" name="Google Shape;539;p21"/>
            <p:cNvSpPr txBox="1"/>
            <p:nvPr/>
          </p:nvSpPr>
          <p:spPr>
            <a:xfrm>
              <a:off x="2143675"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40" name="Google Shape;540;p21"/>
            <p:cNvSpPr txBox="1"/>
            <p:nvPr/>
          </p:nvSpPr>
          <p:spPr>
            <a:xfrm>
              <a:off x="3544600" y="3843325"/>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sp>
          <p:nvSpPr>
            <p:cNvPr id="541" name="Google Shape;541;p21"/>
            <p:cNvSpPr txBox="1"/>
            <p:nvPr/>
          </p:nvSpPr>
          <p:spPr>
            <a:xfrm>
              <a:off x="3479800" y="2441250"/>
              <a:ext cx="669600" cy="411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a:t>
              </a:r>
              <a:endParaRPr b="1" i="0" sz="1800" u="none" cap="none" strike="noStrike">
                <a:solidFill>
                  <a:srgbClr val="000000"/>
                </a:solidFill>
                <a:latin typeface="Arial"/>
                <a:ea typeface="Arial"/>
                <a:cs typeface="Arial"/>
                <a:sym typeface="Arial"/>
              </a:endParaRPr>
            </a:p>
          </p:txBody>
        </p:sp>
      </p:grpSp>
      <p:sp>
        <p:nvSpPr>
          <p:cNvPr id="542" name="Google Shape;542;p21"/>
          <p:cNvSpPr txBox="1"/>
          <p:nvPr/>
        </p:nvSpPr>
        <p:spPr>
          <a:xfrm>
            <a:off x="874450" y="1306650"/>
            <a:ext cx="8088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sng" cap="none" strike="noStrike">
                <a:solidFill>
                  <a:schemeClr val="dk1"/>
                </a:solidFill>
                <a:latin typeface="Roboto"/>
                <a:ea typeface="Roboto"/>
                <a:cs typeface="Roboto"/>
                <a:sym typeface="Roboto"/>
              </a:rPr>
              <a:t>Cats</a:t>
            </a:r>
            <a:endParaRPr b="1" i="0" sz="1400" u="sng" cap="none" strike="noStrike">
              <a:solidFill>
                <a:srgbClr val="000000"/>
              </a:solidFill>
              <a:latin typeface="Arial"/>
              <a:ea typeface="Arial"/>
              <a:cs typeface="Arial"/>
              <a:sym typeface="Arial"/>
            </a:endParaRPr>
          </a:p>
        </p:txBody>
      </p:sp>
      <p:sp>
        <p:nvSpPr>
          <p:cNvPr id="543" name="Google Shape;543;p21"/>
          <p:cNvSpPr txBox="1"/>
          <p:nvPr/>
        </p:nvSpPr>
        <p:spPr>
          <a:xfrm>
            <a:off x="4427275" y="1306650"/>
            <a:ext cx="9543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 sz="1700" u="sng" cap="none" strike="noStrike">
                <a:solidFill>
                  <a:schemeClr val="dk1"/>
                </a:solidFill>
                <a:latin typeface="Roboto"/>
                <a:ea typeface="Roboto"/>
                <a:cs typeface="Roboto"/>
                <a:sym typeface="Roboto"/>
              </a:rPr>
              <a:t>Kittens</a:t>
            </a:r>
            <a:endParaRPr b="1" i="0" sz="1400" u="sng" cap="none" strike="noStrike">
              <a:solidFill>
                <a:srgbClr val="000000"/>
              </a:solidFill>
              <a:latin typeface="Arial"/>
              <a:ea typeface="Arial"/>
              <a:cs typeface="Arial"/>
              <a:sym typeface="Arial"/>
            </a:endParaRPr>
          </a:p>
        </p:txBody>
      </p:sp>
      <p:sp>
        <p:nvSpPr>
          <p:cNvPr id="544" name="Google Shape;544;p21"/>
          <p:cNvSpPr txBox="1"/>
          <p:nvPr/>
        </p:nvSpPr>
        <p:spPr>
          <a:xfrm>
            <a:off x="7334250" y="2673250"/>
            <a:ext cx="1714500" cy="10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50% long tail</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50% short tail</a:t>
            </a:r>
            <a:endParaRPr b="1" i="0" sz="1800" u="none" cap="none" strike="noStrike">
              <a:solidFill>
                <a:srgbClr val="000000"/>
              </a:solidFill>
              <a:latin typeface="Arial"/>
              <a:ea typeface="Arial"/>
              <a:cs typeface="Arial"/>
              <a:sym typeface="Arial"/>
            </a:endParaRPr>
          </a:p>
        </p:txBody>
      </p:sp>
      <p:pic>
        <p:nvPicPr>
          <p:cNvPr id="545" name="Google Shape;545;p21"/>
          <p:cNvPicPr preferRelativeResize="0"/>
          <p:nvPr/>
        </p:nvPicPr>
        <p:blipFill rotWithShape="1">
          <a:blip r:embed="rId4">
            <a:alphaModFix/>
          </a:blip>
          <a:srcRect b="0" l="0" r="0" t="0"/>
          <a:stretch/>
        </p:blipFill>
        <p:spPr>
          <a:xfrm>
            <a:off x="7301725" y="3483150"/>
            <a:ext cx="1842274" cy="16603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f9f84f2263_0_0"/>
          <p:cNvSpPr txBox="1"/>
          <p:nvPr>
            <p:ph idx="12" type="sldNum"/>
          </p:nvPr>
        </p:nvSpPr>
        <p:spPr>
          <a:xfrm>
            <a:off x="-75" y="0"/>
            <a:ext cx="669600" cy="1140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000000"/>
              </a:buClr>
              <a:buSzPts val="2400"/>
              <a:buFont typeface="Arial"/>
              <a:buNone/>
            </a:pPr>
            <a:fld id="{00000000-1234-1234-1234-123412341234}" type="slidenum">
              <a:rPr lang="en"/>
              <a:t>‹#›</a:t>
            </a:fld>
            <a:endParaRPr/>
          </a:p>
        </p:txBody>
      </p:sp>
      <p:sp>
        <p:nvSpPr>
          <p:cNvPr id="551" name="Google Shape;551;g3f9f84f2263_0_0"/>
          <p:cNvSpPr txBox="1"/>
          <p:nvPr/>
        </p:nvSpPr>
        <p:spPr>
          <a:xfrm>
            <a:off x="938125" y="312700"/>
            <a:ext cx="82059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sng" cap="none" strike="noStrike">
                <a:solidFill>
                  <a:srgbClr val="415665"/>
                </a:solidFill>
                <a:latin typeface="Arial"/>
                <a:ea typeface="Arial"/>
                <a:cs typeface="Arial"/>
                <a:sym typeface="Arial"/>
              </a:rPr>
              <a:t>Starter</a:t>
            </a:r>
            <a:endParaRPr b="1" i="0" sz="3000" u="sng"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415665"/>
                </a:solidFill>
                <a:latin typeface="Arial"/>
                <a:ea typeface="Arial"/>
                <a:cs typeface="Arial"/>
                <a:sym typeface="Arial"/>
              </a:rPr>
              <a:t>Pair up and each pair get a mini whiteboard and tissue at the back of the room please!</a:t>
            </a:r>
            <a:endParaRPr b="0" i="0" sz="3000" u="none"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415665"/>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22"/>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57" name="Google Shape;557;p22"/>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1:</a:t>
            </a:r>
            <a:endParaRPr b="1" i="0" sz="1800" u="none" cap="none" strike="noStrike">
              <a:solidFill>
                <a:srgbClr val="0DB7C4"/>
              </a:solidFill>
              <a:latin typeface="Roboto"/>
              <a:ea typeface="Roboto"/>
              <a:cs typeface="Roboto"/>
              <a:sym typeface="Roboto"/>
            </a:endParaRPr>
          </a:p>
        </p:txBody>
      </p:sp>
      <p:sp>
        <p:nvSpPr>
          <p:cNvPr id="558" name="Google Shape;558;p22"/>
          <p:cNvSpPr txBox="1"/>
          <p:nvPr/>
        </p:nvSpPr>
        <p:spPr>
          <a:xfrm>
            <a:off x="2295525" y="838200"/>
            <a:ext cx="50865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Arial"/>
                <a:ea typeface="Arial"/>
                <a:cs typeface="Arial"/>
                <a:sym typeface="Arial"/>
              </a:rPr>
              <a:t>Write down how inherited characteristics are passed from parents to offspring.</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g3f9c7caa14d_0_151"/>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64" name="Google Shape;564;g3f9c7caa14d_0_151"/>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1:</a:t>
            </a:r>
            <a:endParaRPr b="1" i="0" sz="1800" u="none" cap="none" strike="noStrike">
              <a:solidFill>
                <a:srgbClr val="0DB7C4"/>
              </a:solidFill>
              <a:latin typeface="Roboto"/>
              <a:ea typeface="Roboto"/>
              <a:cs typeface="Roboto"/>
              <a:sym typeface="Roboto"/>
            </a:endParaRPr>
          </a:p>
        </p:txBody>
      </p:sp>
      <p:sp>
        <p:nvSpPr>
          <p:cNvPr id="565" name="Google Shape;565;g3f9c7caa14d_0_151"/>
          <p:cNvSpPr txBox="1"/>
          <p:nvPr/>
        </p:nvSpPr>
        <p:spPr>
          <a:xfrm>
            <a:off x="2295525" y="461700"/>
            <a:ext cx="50865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Arial"/>
                <a:ea typeface="Arial"/>
                <a:cs typeface="Arial"/>
                <a:sym typeface="Arial"/>
              </a:rPr>
              <a:t>Write down how inherited characteristics are passed from parents to offspring.</a:t>
            </a:r>
            <a:endParaRPr b="0" i="0" sz="3000" u="none" cap="none" strike="noStrike">
              <a:solidFill>
                <a:srgbClr val="000000"/>
              </a:solidFill>
              <a:latin typeface="Arial"/>
              <a:ea typeface="Arial"/>
              <a:cs typeface="Arial"/>
              <a:sym typeface="Arial"/>
            </a:endParaRPr>
          </a:p>
        </p:txBody>
      </p:sp>
      <p:sp>
        <p:nvSpPr>
          <p:cNvPr id="566" name="Google Shape;566;g3f9c7caa14d_0_151"/>
          <p:cNvSpPr txBox="1"/>
          <p:nvPr/>
        </p:nvSpPr>
        <p:spPr>
          <a:xfrm>
            <a:off x="2171050" y="1945500"/>
            <a:ext cx="55278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FF00FF"/>
                </a:solidFill>
                <a:latin typeface="Arial"/>
                <a:ea typeface="Arial"/>
                <a:cs typeface="Arial"/>
                <a:sym typeface="Arial"/>
              </a:rPr>
              <a:t>Inherited characteristics are passed from parents to offspring through </a:t>
            </a:r>
            <a:r>
              <a:rPr b="1" i="0" lang="en" sz="2700" u="none" cap="none" strike="noStrike">
                <a:solidFill>
                  <a:srgbClr val="339900"/>
                </a:solidFill>
                <a:latin typeface="Arial"/>
                <a:ea typeface="Arial"/>
                <a:cs typeface="Arial"/>
                <a:sym typeface="Arial"/>
              </a:rPr>
              <a:t>genes</a:t>
            </a:r>
            <a:r>
              <a:rPr b="0" i="0" lang="en" sz="2700" u="none" cap="none" strike="noStrike">
                <a:solidFill>
                  <a:srgbClr val="FF00FF"/>
                </a:solidFill>
                <a:latin typeface="Arial"/>
                <a:ea typeface="Arial"/>
                <a:cs typeface="Arial"/>
                <a:sym typeface="Arial"/>
              </a:rPr>
              <a:t> contained in </a:t>
            </a:r>
            <a:r>
              <a:rPr b="1" i="0" lang="en" sz="2700" u="none" cap="none" strike="noStrike">
                <a:solidFill>
                  <a:srgbClr val="339900"/>
                </a:solidFill>
                <a:latin typeface="Arial"/>
                <a:ea typeface="Arial"/>
                <a:cs typeface="Arial"/>
                <a:sym typeface="Arial"/>
              </a:rPr>
              <a:t>gametes</a:t>
            </a:r>
            <a:r>
              <a:rPr b="0" i="0" lang="en" sz="2700" u="none" cap="none" strike="noStrike">
                <a:solidFill>
                  <a:srgbClr val="FF00FF"/>
                </a:solidFill>
                <a:latin typeface="Arial"/>
                <a:ea typeface="Arial"/>
                <a:cs typeface="Arial"/>
                <a:sym typeface="Arial"/>
              </a:rPr>
              <a:t> (sex cells). During fertilisation, offspring </a:t>
            </a:r>
            <a:r>
              <a:rPr b="1" i="0" lang="en" sz="2700" u="none" cap="none" strike="noStrike">
                <a:solidFill>
                  <a:srgbClr val="339900"/>
                </a:solidFill>
                <a:latin typeface="Arial"/>
                <a:ea typeface="Arial"/>
                <a:cs typeface="Arial"/>
                <a:sym typeface="Arial"/>
              </a:rPr>
              <a:t>inherit</a:t>
            </a:r>
            <a:r>
              <a:rPr b="0" i="0" lang="en" sz="2700" u="none" cap="none" strike="noStrike">
                <a:solidFill>
                  <a:srgbClr val="FF00FF"/>
                </a:solidFill>
                <a:latin typeface="Arial"/>
                <a:ea typeface="Arial"/>
                <a:cs typeface="Arial"/>
                <a:sym typeface="Arial"/>
              </a:rPr>
              <a:t> one set of genes from each parents </a:t>
            </a:r>
            <a:endParaRPr b="0" i="0" sz="2700" u="none" cap="none" strike="noStrike">
              <a:solidFill>
                <a:srgbClr val="FF00FF"/>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23"/>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72" name="Google Shape;572;p23"/>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2:</a:t>
            </a:r>
            <a:endParaRPr b="1" i="0" sz="1800" u="none" cap="none" strike="noStrike">
              <a:solidFill>
                <a:srgbClr val="0DB7C4"/>
              </a:solidFill>
              <a:latin typeface="Roboto"/>
              <a:ea typeface="Roboto"/>
              <a:cs typeface="Roboto"/>
              <a:sym typeface="Roboto"/>
            </a:endParaRPr>
          </a:p>
        </p:txBody>
      </p:sp>
      <p:sp>
        <p:nvSpPr>
          <p:cNvPr id="573" name="Google Shape;573;p23"/>
          <p:cNvSpPr txBox="1"/>
          <p:nvPr/>
        </p:nvSpPr>
        <p:spPr>
          <a:xfrm>
            <a:off x="2133600" y="478350"/>
            <a:ext cx="5305500" cy="38172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Brown eyes (B) are dominant over blue (b). Genotype = Bb → eye colour?</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2. Tongue rolling is dominant (R), both parents are Rr → what percentage of offspring can’t roll?</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3. A trait disappears in one generation but reappears in the next - is it likely dominant or recessive?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g3f9c7caa14d_0_158"/>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79" name="Google Shape;579;g3f9c7caa14d_0_158"/>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2:</a:t>
            </a:r>
            <a:endParaRPr b="1" i="0" sz="1800" u="none" cap="none" strike="noStrike">
              <a:solidFill>
                <a:srgbClr val="0DB7C4"/>
              </a:solidFill>
              <a:latin typeface="Roboto"/>
              <a:ea typeface="Roboto"/>
              <a:cs typeface="Roboto"/>
              <a:sym typeface="Roboto"/>
            </a:endParaRPr>
          </a:p>
        </p:txBody>
      </p:sp>
      <p:sp>
        <p:nvSpPr>
          <p:cNvPr id="580" name="Google Shape;580;g3f9c7caa14d_0_158"/>
          <p:cNvSpPr txBox="1"/>
          <p:nvPr/>
        </p:nvSpPr>
        <p:spPr>
          <a:xfrm>
            <a:off x="2133600" y="478350"/>
            <a:ext cx="5305500" cy="38172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000000"/>
              </a:buClr>
              <a:buSzPts val="2400"/>
              <a:buFont typeface="Arial"/>
              <a:buAutoNum type="arabicPeriod"/>
            </a:pPr>
            <a:r>
              <a:rPr b="0" i="0" lang="en" sz="2400" u="none" cap="none" strike="noStrike">
                <a:solidFill>
                  <a:srgbClr val="000000"/>
                </a:solidFill>
                <a:latin typeface="Arial"/>
                <a:ea typeface="Arial"/>
                <a:cs typeface="Arial"/>
                <a:sym typeface="Arial"/>
              </a:rPr>
              <a:t>Brown eyes (B) are dominant over blue (b). Genotype = Bb → eye colour?</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2. Tongue rolling is dominant (R), both parents are Rr → what percentage of offspring can’t roll?</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3. A trait disappears in one generation but reappears in the next - is it likely dominant or recessive?</a:t>
            </a:r>
            <a:endParaRPr b="0" i="0" sz="2400" u="none" cap="none" strike="noStrike">
              <a:solidFill>
                <a:srgbClr val="000000"/>
              </a:solidFill>
              <a:latin typeface="Arial"/>
              <a:ea typeface="Arial"/>
              <a:cs typeface="Arial"/>
              <a:sym typeface="Arial"/>
            </a:endParaRPr>
          </a:p>
        </p:txBody>
      </p:sp>
      <p:sp>
        <p:nvSpPr>
          <p:cNvPr id="581" name="Google Shape;581;g3f9c7caa14d_0_158"/>
          <p:cNvSpPr txBox="1"/>
          <p:nvPr/>
        </p:nvSpPr>
        <p:spPr>
          <a:xfrm>
            <a:off x="3685150" y="1222625"/>
            <a:ext cx="5286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FF"/>
                </a:solidFill>
                <a:latin typeface="Arial"/>
                <a:ea typeface="Arial"/>
                <a:cs typeface="Arial"/>
                <a:sym typeface="Arial"/>
              </a:rPr>
              <a:t>Brown eyes</a:t>
            </a:r>
            <a:endParaRPr b="1" i="0" sz="3000" u="none" cap="none" strike="noStrike">
              <a:solidFill>
                <a:srgbClr val="FF00FF"/>
              </a:solidFill>
              <a:latin typeface="Arial"/>
              <a:ea typeface="Arial"/>
              <a:cs typeface="Arial"/>
              <a:sym typeface="Arial"/>
            </a:endParaRPr>
          </a:p>
        </p:txBody>
      </p:sp>
      <p:sp>
        <p:nvSpPr>
          <p:cNvPr id="582" name="Google Shape;582;g3f9c7caa14d_0_158"/>
          <p:cNvSpPr txBox="1"/>
          <p:nvPr/>
        </p:nvSpPr>
        <p:spPr>
          <a:xfrm>
            <a:off x="6076175" y="2063700"/>
            <a:ext cx="5286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FF"/>
                </a:solidFill>
                <a:latin typeface="Arial"/>
                <a:ea typeface="Arial"/>
                <a:cs typeface="Arial"/>
                <a:sym typeface="Arial"/>
              </a:rPr>
              <a:t>25%</a:t>
            </a:r>
            <a:endParaRPr b="1" i="0" sz="3000" u="none" cap="none" strike="noStrike">
              <a:solidFill>
                <a:srgbClr val="FF00FF"/>
              </a:solidFill>
              <a:latin typeface="Arial"/>
              <a:ea typeface="Arial"/>
              <a:cs typeface="Arial"/>
              <a:sym typeface="Arial"/>
            </a:endParaRPr>
          </a:p>
        </p:txBody>
      </p:sp>
      <p:sp>
        <p:nvSpPr>
          <p:cNvPr id="583" name="Google Shape;583;g3f9c7caa14d_0_158"/>
          <p:cNvSpPr txBox="1"/>
          <p:nvPr/>
        </p:nvSpPr>
        <p:spPr>
          <a:xfrm>
            <a:off x="3404450" y="4093100"/>
            <a:ext cx="5286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00FF"/>
                </a:solidFill>
                <a:latin typeface="Arial"/>
                <a:ea typeface="Arial"/>
                <a:cs typeface="Arial"/>
                <a:sym typeface="Arial"/>
              </a:rPr>
              <a:t>Recessive</a:t>
            </a:r>
            <a:endParaRPr b="1" i="0" sz="3000" u="none" cap="none" strike="noStrike">
              <a:solidFill>
                <a:srgbClr val="FF00F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p24"/>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89" name="Google Shape;589;p24"/>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3:</a:t>
            </a:r>
            <a:endParaRPr b="1" i="0" sz="1800" u="none" cap="none" strike="noStrike">
              <a:solidFill>
                <a:srgbClr val="0DB7C4"/>
              </a:solidFill>
              <a:latin typeface="Roboto"/>
              <a:ea typeface="Roboto"/>
              <a:cs typeface="Roboto"/>
              <a:sym typeface="Roboto"/>
            </a:endParaRPr>
          </a:p>
        </p:txBody>
      </p:sp>
      <p:sp>
        <p:nvSpPr>
          <p:cNvPr id="590" name="Google Shape;590;p24"/>
          <p:cNvSpPr txBox="1"/>
          <p:nvPr/>
        </p:nvSpPr>
        <p:spPr>
          <a:xfrm>
            <a:off x="2247900" y="632250"/>
            <a:ext cx="50865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Arial"/>
                <a:ea typeface="Arial"/>
                <a:cs typeface="Arial"/>
                <a:sym typeface="Arial"/>
              </a:rPr>
              <a:t>Bb × Bb</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Draw the Punnett square correctly.</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Write the genotype ratio.</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Write the phenotype ratio.</a:t>
            </a:r>
            <a:endParaRPr b="0" i="0" sz="3000" u="none" cap="none" strike="noStrike">
              <a:solidFill>
                <a:srgbClr val="000000"/>
              </a:solidFill>
              <a:latin typeface="Arial"/>
              <a:ea typeface="Arial"/>
              <a:cs typeface="Arial"/>
              <a:sym typeface="Arial"/>
            </a:endParaRPr>
          </a:p>
        </p:txBody>
      </p:sp>
      <p:sp>
        <p:nvSpPr>
          <p:cNvPr id="591" name="Google Shape;591;p24"/>
          <p:cNvSpPr txBox="1"/>
          <p:nvPr/>
        </p:nvSpPr>
        <p:spPr>
          <a:xfrm>
            <a:off x="4322300" y="533825"/>
            <a:ext cx="3220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415665"/>
                </a:solidFill>
                <a:latin typeface="Arial"/>
                <a:ea typeface="Arial"/>
                <a:cs typeface="Arial"/>
                <a:sym typeface="Arial"/>
              </a:rPr>
              <a:t>B - straight hair</a:t>
            </a:r>
            <a:endParaRPr b="1" i="0" sz="3000" u="none"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415665"/>
                </a:solidFill>
                <a:latin typeface="Arial"/>
                <a:ea typeface="Arial"/>
                <a:cs typeface="Arial"/>
                <a:sym typeface="Arial"/>
              </a:rPr>
              <a:t>b - curly hair</a:t>
            </a:r>
            <a:endParaRPr b="1" i="0" sz="3000" u="none" cap="none" strike="noStrike">
              <a:solidFill>
                <a:srgbClr val="415665"/>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g3f9c7caa14d_0_167"/>
          <p:cNvPicPr preferRelativeResize="0"/>
          <p:nvPr/>
        </p:nvPicPr>
        <p:blipFill rotWithShape="1">
          <a:blip r:embed="rId3">
            <a:alphaModFix/>
          </a:blip>
          <a:srcRect b="31002" l="5811" r="0" t="10821"/>
          <a:stretch/>
        </p:blipFill>
        <p:spPr>
          <a:xfrm>
            <a:off x="771525" y="0"/>
            <a:ext cx="8326874" cy="5143500"/>
          </a:xfrm>
          <a:prstGeom prst="rect">
            <a:avLst/>
          </a:prstGeom>
          <a:noFill/>
          <a:ln>
            <a:noFill/>
          </a:ln>
        </p:spPr>
      </p:pic>
      <p:sp>
        <p:nvSpPr>
          <p:cNvPr id="597" name="Google Shape;597;g3f9c7caa14d_0_167"/>
          <p:cNvSpPr txBox="1"/>
          <p:nvPr/>
        </p:nvSpPr>
        <p:spPr>
          <a:xfrm>
            <a:off x="685800" y="0"/>
            <a:ext cx="1228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DB7C4"/>
                </a:solidFill>
                <a:latin typeface="Roboto"/>
                <a:ea typeface="Roboto"/>
                <a:cs typeface="Roboto"/>
                <a:sym typeface="Roboto"/>
              </a:rPr>
              <a:t>Round 3:</a:t>
            </a:r>
            <a:endParaRPr b="1" i="0" sz="1800" u="none" cap="none" strike="noStrike">
              <a:solidFill>
                <a:srgbClr val="0DB7C4"/>
              </a:solidFill>
              <a:latin typeface="Roboto"/>
              <a:ea typeface="Roboto"/>
              <a:cs typeface="Roboto"/>
              <a:sym typeface="Roboto"/>
            </a:endParaRPr>
          </a:p>
        </p:txBody>
      </p:sp>
      <p:sp>
        <p:nvSpPr>
          <p:cNvPr id="598" name="Google Shape;598;g3f9c7caa14d_0_167"/>
          <p:cNvSpPr txBox="1"/>
          <p:nvPr/>
        </p:nvSpPr>
        <p:spPr>
          <a:xfrm>
            <a:off x="2235750" y="339250"/>
            <a:ext cx="50865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Arial"/>
                <a:ea typeface="Arial"/>
                <a:cs typeface="Arial"/>
                <a:sym typeface="Arial"/>
              </a:rPr>
              <a:t>Bb × Bb</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Draw the Punnett square correctly.</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Write the genotype ratio.</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AutoNum type="arabicPeriod"/>
            </a:pPr>
            <a:r>
              <a:rPr b="0" i="0" lang="en" sz="3000" u="none" cap="none" strike="noStrike">
                <a:solidFill>
                  <a:srgbClr val="000000"/>
                </a:solidFill>
                <a:latin typeface="Arial"/>
                <a:ea typeface="Arial"/>
                <a:cs typeface="Arial"/>
                <a:sym typeface="Arial"/>
              </a:rPr>
              <a:t>Write the phenotype ratio.</a:t>
            </a:r>
            <a:endParaRPr b="0" i="0" sz="3000" u="none" cap="none" strike="noStrike">
              <a:solidFill>
                <a:srgbClr val="000000"/>
              </a:solidFill>
              <a:latin typeface="Arial"/>
              <a:ea typeface="Arial"/>
              <a:cs typeface="Arial"/>
              <a:sym typeface="Arial"/>
            </a:endParaRPr>
          </a:p>
        </p:txBody>
      </p:sp>
      <p:sp>
        <p:nvSpPr>
          <p:cNvPr id="599" name="Google Shape;599;g3f9c7caa14d_0_167"/>
          <p:cNvSpPr txBox="1"/>
          <p:nvPr/>
        </p:nvSpPr>
        <p:spPr>
          <a:xfrm>
            <a:off x="803350" y="3294550"/>
            <a:ext cx="8263200" cy="17238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FF00FF"/>
                </a:solidFill>
                <a:latin typeface="Arial"/>
                <a:ea typeface="Arial"/>
                <a:cs typeface="Arial"/>
                <a:sym typeface="Arial"/>
              </a:rPr>
              <a:t>2.  1 BB : 2 Bb : 1 bb (1:2:1)</a:t>
            </a:r>
            <a:endParaRPr b="1" i="0" sz="25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FF00FF"/>
                </a:solidFill>
                <a:latin typeface="Arial"/>
                <a:ea typeface="Arial"/>
                <a:cs typeface="Arial"/>
                <a:sym typeface="Arial"/>
              </a:rPr>
              <a:t>	25% BB, 50% Bb, 25% bb</a:t>
            </a:r>
            <a:endParaRPr b="1" i="0" sz="25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FF00FF"/>
                </a:solidFill>
                <a:latin typeface="Arial"/>
                <a:ea typeface="Arial"/>
                <a:cs typeface="Arial"/>
                <a:sym typeface="Arial"/>
              </a:rPr>
              <a:t>3. 3 straight hair : 1 curly hair </a:t>
            </a:r>
            <a:endParaRPr b="1" i="0" sz="25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FF00FF"/>
                </a:solidFill>
                <a:latin typeface="Arial"/>
                <a:ea typeface="Arial"/>
                <a:cs typeface="Arial"/>
                <a:sym typeface="Arial"/>
              </a:rPr>
              <a:t>	75% straight hair, 25% curly hair</a:t>
            </a:r>
            <a:endParaRPr b="1" i="0" sz="2500" u="none" cap="none" strike="noStrike">
              <a:solidFill>
                <a:srgbClr val="FF00FF"/>
              </a:solidFill>
              <a:latin typeface="Arial"/>
              <a:ea typeface="Arial"/>
              <a:cs typeface="Arial"/>
              <a:sym typeface="Arial"/>
            </a:endParaRPr>
          </a:p>
        </p:txBody>
      </p:sp>
      <p:sp>
        <p:nvSpPr>
          <p:cNvPr id="600" name="Google Shape;600;g3f9c7caa14d_0_167"/>
          <p:cNvSpPr txBox="1"/>
          <p:nvPr/>
        </p:nvSpPr>
        <p:spPr>
          <a:xfrm>
            <a:off x="4358800" y="339250"/>
            <a:ext cx="3220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415665"/>
                </a:solidFill>
                <a:latin typeface="Arial"/>
                <a:ea typeface="Arial"/>
                <a:cs typeface="Arial"/>
                <a:sym typeface="Arial"/>
              </a:rPr>
              <a:t>B - straight hair</a:t>
            </a:r>
            <a:endParaRPr b="1" i="0" sz="3000" u="none" cap="none" strike="noStrike">
              <a:solidFill>
                <a:srgbClr val="41566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415665"/>
                </a:solidFill>
                <a:latin typeface="Arial"/>
                <a:ea typeface="Arial"/>
                <a:cs typeface="Arial"/>
                <a:sym typeface="Arial"/>
              </a:rPr>
              <a:t>b - curly hair</a:t>
            </a:r>
            <a:endParaRPr b="1" i="0" sz="3000" u="none" cap="none" strike="noStrike">
              <a:solidFill>
                <a:srgbClr val="415665"/>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4" name="Shape 604"/>
        <p:cNvGrpSpPr/>
        <p:nvPr/>
      </p:nvGrpSpPr>
      <p:grpSpPr>
        <a:xfrm>
          <a:off x="0" y="0"/>
          <a:ext cx="0" cy="0"/>
          <a:chOff x="0" y="0"/>
          <a:chExt cx="0" cy="0"/>
        </a:xfrm>
      </p:grpSpPr>
      <p:pic>
        <p:nvPicPr>
          <p:cNvPr descr="Support Stated Clearly on Patreon: https://www.patreon.com/statedclearly&#10;&#10;You've probably heard about GMOs or Genetically Modified Organisms but what exactly is a gene and what does it mean to modify the genes of a plant or animal?&#10;&#10;We hear about DNA and genes all the time in the news and in our biology classes but very few of us can actually explain what a gene is? This short film is designed to help.&#10;&#10;Here we discuss a basic definition of a gene, show what a gene looks like, what it is that genes actually code for, and the basic idea behind Genetically Modified Organisms. &#10;&#10;The video also briefly mentions one of the ways DNA strongly suggests that all living things are related and share an evolutionary history.&#10;&#10;Even though the content given here is just a simplified overview of genetics, after watching this video (along with our first video on DNA http://www.youtube.com/watch?v=zwibgNGe4aY) you should be able to easily follow any news article, basic conversation, or 100 level college course lecture on genetics, even if you've never taken a biology course or studied genetics in the past. &#10;&#10;Special thanks to Hip Hop Artist Anthony Danzl for the music http://www.youtube.com/user/proofavenue?feature=watch&#10;&#10;Happy 50th to Packy the freckled Elephant from the Portland Zoo. He just had his birthday and was featured in this video (at 0:45) &#10;&#10;Content for this video has been modified from two text books:&#10;Molecular Biology of the Cell, third edition: &#10;Bruce Alberts, Dennis Bray, Julian Lewis, Martin Raff, Keith Roberts, James D. Watson&#10;&#10;Biology Eighth Edition: &#10;Neil Campbell, Jane Reece, Lisa Urry, Michael Cain, Steven Wasserman, Peter Minorsky, Robert Jackson&#10;&#10;Chimps and humans share 96% of their DNA comes from National Geographic: http://news.nationalgeographic.com/news/2005/08/0831_050831_chimp_genes.html&#10;&#10;Fruit flies share about 50% their genes with humans comes from NASA and NCBI (National Center for Biotechnology Information)&#10;http://science.nasa.gov/science-news/science-at-nasa/2004/03feb_fruitfly/&#10;http://www.ncbi.nlm.nih.gov/pmc/articles/PMC311089/&#10;&#10;Hope you liked the video, more are in the works. Stay Curious!&#10;&#10;Portuguese captions by Marcos André" id="605" name="Google Shape;605;p25" title="What is a gene?">
            <a:hlinkClick r:id="rId3"/>
          </p:cNvPr>
          <p:cNvPicPr preferRelativeResize="0"/>
          <p:nvPr/>
        </p:nvPicPr>
        <p:blipFill rotWithShape="1">
          <a:blip r:embed="rId4">
            <a:alphaModFix/>
          </a:blip>
          <a:srcRect b="0" l="0" r="0" t="0"/>
          <a:stretch/>
        </p:blipFill>
        <p:spPr>
          <a:xfrm>
            <a:off x="821925" y="152400"/>
            <a:ext cx="6380026" cy="4785025"/>
          </a:xfrm>
          <a:prstGeom prst="rect">
            <a:avLst/>
          </a:prstGeom>
          <a:noFill/>
          <a:ln>
            <a:noFill/>
          </a:ln>
        </p:spPr>
      </p:pic>
      <p:sp>
        <p:nvSpPr>
          <p:cNvPr id="606" name="Google Shape;606;p25"/>
          <p:cNvSpPr txBox="1"/>
          <p:nvPr/>
        </p:nvSpPr>
        <p:spPr>
          <a:xfrm rot="-5400000">
            <a:off x="6043500" y="2005500"/>
            <a:ext cx="3959100" cy="1132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1" i="0" lang="en" sz="2400" u="none" cap="none" strike="noStrike">
                <a:solidFill>
                  <a:srgbClr val="0091EA"/>
                </a:solidFill>
                <a:latin typeface="Arial"/>
                <a:ea typeface="Arial"/>
                <a:cs typeface="Arial"/>
                <a:sym typeface="Arial"/>
              </a:rPr>
              <a:t>‘What is a gene?’ summarised nicely!</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ed012705da_0_66"/>
          <p:cNvSpPr txBox="1"/>
          <p:nvPr>
            <p:ph type="ctrTitle"/>
          </p:nvPr>
        </p:nvSpPr>
        <p:spPr>
          <a:xfrm>
            <a:off x="685800" y="2525225"/>
            <a:ext cx="5309700" cy="1159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t/>
            </a:r>
            <a:endParaRPr/>
          </a:p>
        </p:txBody>
      </p:sp>
      <p:pic>
        <p:nvPicPr>
          <p:cNvPr id="612" name="Google Shape;612;g3ed012705da_0_66"/>
          <p:cNvPicPr preferRelativeResize="0"/>
          <p:nvPr/>
        </p:nvPicPr>
        <p:blipFill rotWithShape="1">
          <a:blip r:embed="rId3">
            <a:alphaModFix/>
          </a:blip>
          <a:srcRect b="0" l="0" r="0" t="0"/>
          <a:stretch/>
        </p:blipFill>
        <p:spPr>
          <a:xfrm>
            <a:off x="152400" y="152400"/>
            <a:ext cx="7332201" cy="4859475"/>
          </a:xfrm>
          <a:prstGeom prst="rect">
            <a:avLst/>
          </a:prstGeom>
          <a:noFill/>
          <a:ln>
            <a:noFill/>
          </a:ln>
        </p:spPr>
      </p:pic>
      <p:sp>
        <p:nvSpPr>
          <p:cNvPr id="613" name="Google Shape;613;g3ed012705da_0_66"/>
          <p:cNvSpPr/>
          <p:nvPr/>
        </p:nvSpPr>
        <p:spPr>
          <a:xfrm>
            <a:off x="254950" y="2718725"/>
            <a:ext cx="7127100" cy="772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erimon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