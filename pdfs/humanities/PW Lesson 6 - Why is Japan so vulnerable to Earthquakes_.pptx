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6"/>
  </p:notesMasterIdLst>
  <p:sldIdLst>
    <p:sldId id="257" r:id="rId2"/>
    <p:sldId id="258" r:id="rId3"/>
    <p:sldId id="259" r:id="rId4"/>
    <p:sldId id="260" r:id="rId5"/>
    <p:sldId id="261" r:id="rId6"/>
    <p:sldId id="262" r:id="rId7"/>
    <p:sldId id="263" r:id="rId8"/>
    <p:sldId id="269" r:id="rId9"/>
    <p:sldId id="264" r:id="rId10"/>
    <p:sldId id="270" r:id="rId11"/>
    <p:sldId id="271" r:id="rId12"/>
    <p:sldId id="265" r:id="rId13"/>
    <p:sldId id="266" r:id="rId14"/>
    <p:sldId id="267" r:id="rId15"/>
  </p:sldIdLst>
  <p:sldSz cx="9144000" cy="5143500" type="screen16x9"/>
  <p:notesSz cx="6858000" cy="9144000"/>
  <p:embeddedFontLst>
    <p:embeddedFont>
      <p:font typeface="Baumans" panose="02000506020000020003" pitchFamily="2" charset="0"/>
      <p:regular r:id="rId17"/>
    </p:embeddedFont>
    <p:embeddedFont>
      <p:font typeface="Delius" panose="02000603000000000000" pitchFamily="2" charset="0"/>
      <p:regular r:id="rId18"/>
    </p:embeddedFont>
    <p:embeddedFont>
      <p:font typeface="Fugaz One" pitchFamily="2" charset="0"/>
      <p:regular r:id="rId19"/>
    </p:embeddedFont>
    <p:embeddedFont>
      <p:font typeface="Luckiest Guy" panose="02000506000000020004"/>
      <p:regular r:id="rId20"/>
    </p:embeddedFont>
    <p:embeddedFont>
      <p:font typeface="Patrick Hand" pitchFamily="2" charset="77"/>
      <p:regular r:id="rId21"/>
    </p:embeddedFont>
    <p:embeddedFont>
      <p:font typeface="Poppins" pitchFamily="2" charset="77"/>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AA9290-CB86-4A3D-BE11-97ECBFC99D42}">
  <a:tblStyle styleId="{FEAA9290-CB86-4A3D-BE11-97ECBFC99D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67325EF-4102-47B8-B1A7-9FDDFBA12C46}"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348"/>
    <p:restoredTop sz="94676"/>
  </p:normalViewPr>
  <p:slideViewPr>
    <p:cSldViewPr snapToGrid="0">
      <p:cViewPr varScale="1">
        <p:scale>
          <a:sx n="96" d="100"/>
          <a:sy n="96" d="100"/>
        </p:scale>
        <p:origin x="168" y="10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9953e6bde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9953e6bde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9953e6bdef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9953e6bdef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a1d4ba30a8_1_11:notes"/>
          <p:cNvSpPr txBox="1">
            <a:spLocks noGrp="1"/>
          </p:cNvSpPr>
          <p:nvPr>
            <p:ph type="body" idx="1"/>
          </p:nvPr>
        </p:nvSpPr>
        <p:spPr>
          <a:xfrm>
            <a:off x="685801" y="4343406"/>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g3a1d4ba30a8_1_11:notes"/>
          <p:cNvSpPr>
            <a:spLocks noGrp="1" noRot="1" noChangeAspect="1"/>
          </p:cNvSpPr>
          <p:nvPr>
            <p:ph type="sldImg" idx="2"/>
          </p:nvPr>
        </p:nvSpPr>
        <p:spPr>
          <a:xfrm>
            <a:off x="381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a1d4ba30a8_1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1d4ba30a8_1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https://www.youtube.com/watch?v=Wx9vPv-T51I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1d4ba30a8_1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a1d4ba30a8_1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1d4ba30a8_1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1d4ba30a8_1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a691e5aeb9_0_0: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 name="Google Shape;52;g3a691e5aeb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https://www.youtube.com/watch?v=sasjlpt7zWM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https://www.youtube.com/watch?v=geyBSrgLazE&amp;t=13s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a1d4ba30a8_1_3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a1d4ba30a8_1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https://www.youtube.com/watch?v=KNdjMEcG0mw</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https://dashboard.blooket.com/set/691185024a7fdf5a96561d67</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200"/>
              </a:spcBef>
              <a:spcAft>
                <a:spcPts val="0"/>
              </a:spcAft>
              <a:buClr>
                <a:schemeClr val="dk1"/>
              </a:buClr>
              <a:buSzPts val="1800"/>
              <a:buChar char="○"/>
              <a:defRPr/>
            </a:lvl2pPr>
            <a:lvl3pPr marL="1371600" lvl="2" indent="-342900" algn="l">
              <a:lnSpc>
                <a:spcPct val="115000"/>
              </a:lnSpc>
              <a:spcBef>
                <a:spcPts val="1200"/>
              </a:spcBef>
              <a:spcAft>
                <a:spcPts val="0"/>
              </a:spcAft>
              <a:buClr>
                <a:schemeClr val="dk1"/>
              </a:buClr>
              <a:buSzPts val="1800"/>
              <a:buChar char="■"/>
              <a:defRPr/>
            </a:lvl3pPr>
            <a:lvl4pPr marL="1828800" lvl="3" indent="-342900" algn="l">
              <a:lnSpc>
                <a:spcPct val="115000"/>
              </a:lnSpc>
              <a:spcBef>
                <a:spcPts val="1200"/>
              </a:spcBef>
              <a:spcAft>
                <a:spcPts val="0"/>
              </a:spcAft>
              <a:buClr>
                <a:schemeClr val="dk1"/>
              </a:buClr>
              <a:buSzPts val="1800"/>
              <a:buChar char="●"/>
              <a:defRPr/>
            </a:lvl4pPr>
            <a:lvl5pPr marL="2286000" lvl="4" indent="-342900" algn="l">
              <a:lnSpc>
                <a:spcPct val="115000"/>
              </a:lnSpc>
              <a:spcBef>
                <a:spcPts val="1200"/>
              </a:spcBef>
              <a:spcAft>
                <a:spcPts val="0"/>
              </a:spcAft>
              <a:buClr>
                <a:schemeClr val="dk1"/>
              </a:buClr>
              <a:buSzPts val="1800"/>
              <a:buChar char="○"/>
              <a:defRPr/>
            </a:lvl5pPr>
            <a:lvl6pPr marL="2743200" lvl="5" indent="-342900" algn="l">
              <a:lnSpc>
                <a:spcPct val="115000"/>
              </a:lnSpc>
              <a:spcBef>
                <a:spcPts val="1200"/>
              </a:spcBef>
              <a:spcAft>
                <a:spcPts val="0"/>
              </a:spcAft>
              <a:buClr>
                <a:schemeClr val="dk1"/>
              </a:buClr>
              <a:buSzPts val="1800"/>
              <a:buChar char="■"/>
              <a:defRPr/>
            </a:lvl6pPr>
            <a:lvl7pPr marL="3200400" lvl="6" indent="-342900" algn="l">
              <a:lnSpc>
                <a:spcPct val="115000"/>
              </a:lnSpc>
              <a:spcBef>
                <a:spcPts val="1200"/>
              </a:spcBef>
              <a:spcAft>
                <a:spcPts val="0"/>
              </a:spcAft>
              <a:buClr>
                <a:schemeClr val="dk1"/>
              </a:buClr>
              <a:buSzPts val="1800"/>
              <a:buChar char="●"/>
              <a:defRPr/>
            </a:lvl7pPr>
            <a:lvl8pPr marL="3657600" lvl="7" indent="-342900" algn="l">
              <a:lnSpc>
                <a:spcPct val="115000"/>
              </a:lnSpc>
              <a:spcBef>
                <a:spcPts val="1200"/>
              </a:spcBef>
              <a:spcAft>
                <a:spcPts val="0"/>
              </a:spcAft>
              <a:buClr>
                <a:schemeClr val="dk1"/>
              </a:buClr>
              <a:buSzPts val="1800"/>
              <a:buChar char="○"/>
              <a:defRPr/>
            </a:lvl8pPr>
            <a:lvl9pPr marL="4114800" lvl="8" indent="-342900" algn="l">
              <a:lnSpc>
                <a:spcPct val="115000"/>
              </a:lnSpc>
              <a:spcBef>
                <a:spcPts val="1200"/>
              </a:spcBef>
              <a:spcAft>
                <a:spcPts val="1200"/>
              </a:spcAft>
              <a:buClr>
                <a:schemeClr val="dk1"/>
              </a:buClr>
              <a:buSzPts val="1800"/>
              <a:buChar char="■"/>
              <a:defRPr/>
            </a:lvl9pPr>
          </a:lstStyle>
          <a:p>
            <a:endParaRPr/>
          </a:p>
        </p:txBody>
      </p:sp>
      <p:sp>
        <p:nvSpPr>
          <p:cNvPr id="16" name="Google Shape;16;p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 name="Google Shape;17;p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
        <p:cNvGrpSpPr/>
        <p:nvPr/>
      </p:nvGrpSpPr>
      <p:grpSpPr>
        <a:xfrm>
          <a:off x="0" y="0"/>
          <a:ext cx="0" cy="0"/>
          <a:chOff x="0" y="0"/>
          <a:chExt cx="0" cy="0"/>
        </a:xfrm>
      </p:grpSpPr>
      <p:sp>
        <p:nvSpPr>
          <p:cNvPr id="20" name="Google Shape;20;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3" name="Google Shape;2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 name="Google Shape;26;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8" name="Google Shape;38;p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6" name="Google Shape;46;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1" name="Google Shape;51;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5" name="Google Shape;5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8" name="Google Shape;58;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9" name="Google Shape;59;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Wx9vPv-T51I"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oWzdgBNfhQU"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www.youtube.com/watch?v=sasjlpt7zWM" TargetMode="External"/><Relationship Id="rId5" Type="http://schemas.openxmlformats.org/officeDocument/2006/relationships/image" Target="../media/image18.gif"/><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hyperlink" Target="http://www.youtube.com/watch?v=geyBSrgLazE"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17.png"/><Relationship Id="rId7" Type="http://schemas.openxmlformats.org/officeDocument/2006/relationships/hyperlink" Target="http://www.youtube.com/watch?v=KNdjMEcG0mw"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gif"/><Relationship Id="rId5" Type="http://schemas.openxmlformats.org/officeDocument/2006/relationships/image" Target="../media/image26.png"/><Relationship Id="rId4" Type="http://schemas.openxmlformats.org/officeDocument/2006/relationships/image" Target="../media/image18.gif"/></Relationships>
</file>

<file path=ppt/slides/_rels/slide1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hyperlink" Target="https://dashboard.blooket.com/set/691185024a7fdf5a96561d67"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105600" y="1397600"/>
            <a:ext cx="5290800" cy="354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Meeting:</a:t>
            </a:r>
            <a:r>
              <a:rPr lang="en" sz="1600">
                <a:solidFill>
                  <a:schemeClr val="dk1"/>
                </a:solidFill>
                <a:latin typeface="Baumans"/>
                <a:ea typeface="Baumans"/>
                <a:cs typeface="Baumans"/>
                <a:sym typeface="Baumans"/>
              </a:rPr>
              <a:t> Can describe the main impacts of the 2011 earthquake in Japan and outline why earthquakes happen there.</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Exceeding: </a:t>
            </a:r>
            <a:r>
              <a:rPr lang="en" sz="1600">
                <a:solidFill>
                  <a:schemeClr val="dk1"/>
                </a:solidFill>
                <a:latin typeface="Baumans"/>
                <a:ea typeface="Baumans"/>
                <a:cs typeface="Baumans"/>
                <a:sym typeface="Baumans"/>
              </a:rPr>
              <a:t>Can explain why Japan experiences so many earthquakes and how the 2011 earthquake affected people and places.</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Mastering:</a:t>
            </a:r>
            <a:r>
              <a:rPr lang="en" sz="1600">
                <a:solidFill>
                  <a:schemeClr val="dk1"/>
                </a:solidFill>
                <a:latin typeface="Baumans"/>
                <a:ea typeface="Baumans"/>
                <a:cs typeface="Baumans"/>
                <a:sym typeface="Baumans"/>
              </a:rPr>
              <a:t> Can analyse why Japan is especially vulnerable to earthquakes and evaluate how different factors made the 2011 disaster so severe.</a:t>
            </a:r>
            <a:endParaRPr sz="1600">
              <a:solidFill>
                <a:schemeClr val="dk1"/>
              </a:solidFill>
              <a:latin typeface="Baumans"/>
              <a:ea typeface="Baumans"/>
              <a:cs typeface="Baumans"/>
              <a:sym typeface="Baumans"/>
            </a:endParaRPr>
          </a:p>
        </p:txBody>
      </p:sp>
      <p:sp>
        <p:nvSpPr>
          <p:cNvPr id="74" name="Google Shape;74;p1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pic>
        <p:nvPicPr>
          <p:cNvPr id="75" name="Google Shape;75;p16"/>
          <p:cNvPicPr preferRelativeResize="0"/>
          <p:nvPr/>
        </p:nvPicPr>
        <p:blipFill>
          <a:blip r:embed="rId3">
            <a:alphaModFix/>
          </a:blip>
          <a:stretch>
            <a:fillRect/>
          </a:stretch>
        </p:blipFill>
        <p:spPr>
          <a:xfrm>
            <a:off x="5594400" y="1487575"/>
            <a:ext cx="3444000" cy="3110440"/>
          </a:xfrm>
          <a:prstGeom prst="rect">
            <a:avLst/>
          </a:prstGeom>
          <a:noFill/>
          <a:ln>
            <a:noFill/>
          </a:ln>
        </p:spPr>
      </p:pic>
      <p:sp>
        <p:nvSpPr>
          <p:cNvPr id="76" name="Google Shape;76;p16"/>
          <p:cNvSpPr txBox="1"/>
          <p:nvPr/>
        </p:nvSpPr>
        <p:spPr>
          <a:xfrm>
            <a:off x="132250" y="727700"/>
            <a:ext cx="5481600" cy="6699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600" b="1" i="0" strike="noStrike" cap="none" dirty="0">
                <a:solidFill>
                  <a:schemeClr val="dk1"/>
                </a:solidFill>
                <a:latin typeface="Poppins"/>
                <a:ea typeface="Poppins"/>
                <a:cs typeface="Poppins"/>
                <a:sym typeface="Poppins"/>
              </a:rPr>
              <a:t>Title: Why is Japan so vulnerable to Earthquakes?</a:t>
            </a:r>
            <a:endParaRPr sz="1600" b="1" i="0" strike="noStrike" cap="none" dirty="0">
              <a:solidFill>
                <a:schemeClr val="dk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
        <p:nvSpPr>
          <p:cNvPr id="82" name="Google Shape;82;p17"/>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Key Terms</a:t>
            </a:r>
            <a:endParaRPr sz="2000" i="0" u="none" strike="noStrike" cap="none">
              <a:solidFill>
                <a:schemeClr val="dk1"/>
              </a:solidFill>
              <a:highlight>
                <a:schemeClr val="lt1"/>
              </a:highlight>
              <a:latin typeface="Luckiest Guy"/>
              <a:ea typeface="Luckiest Guy"/>
              <a:cs typeface="Luckiest Guy"/>
              <a:sym typeface="Luckiest Guy"/>
            </a:endParaRPr>
          </a:p>
        </p:txBody>
      </p:sp>
      <p:graphicFrame>
        <p:nvGraphicFramePr>
          <p:cNvPr id="83" name="Google Shape;83;p17"/>
          <p:cNvGraphicFramePr/>
          <p:nvPr/>
        </p:nvGraphicFramePr>
        <p:xfrm>
          <a:off x="125350" y="1165700"/>
          <a:ext cx="8911875" cy="3657500"/>
        </p:xfrm>
        <a:graphic>
          <a:graphicData uri="http://schemas.openxmlformats.org/drawingml/2006/table">
            <a:tbl>
              <a:tblPr>
                <a:noFill/>
                <a:tableStyleId>{FEAA9290-CB86-4A3D-BE11-97ECBFC99D42}</a:tableStyleId>
              </a:tblPr>
              <a:tblGrid>
                <a:gridCol w="2038425">
                  <a:extLst>
                    <a:ext uri="{9D8B030D-6E8A-4147-A177-3AD203B41FA5}">
                      <a16:colId xmlns:a16="http://schemas.microsoft.com/office/drawing/2014/main" val="20000"/>
                    </a:ext>
                  </a:extLst>
                </a:gridCol>
                <a:gridCol w="1204325">
                  <a:extLst>
                    <a:ext uri="{9D8B030D-6E8A-4147-A177-3AD203B41FA5}">
                      <a16:colId xmlns:a16="http://schemas.microsoft.com/office/drawing/2014/main" val="20001"/>
                    </a:ext>
                  </a:extLst>
                </a:gridCol>
                <a:gridCol w="5669125">
                  <a:extLst>
                    <a:ext uri="{9D8B030D-6E8A-4147-A177-3AD203B41FA5}">
                      <a16:colId xmlns:a16="http://schemas.microsoft.com/office/drawing/2014/main" val="20002"/>
                    </a:ext>
                  </a:extLst>
                </a:gridCol>
              </a:tblGrid>
              <a:tr h="914375">
                <a:tc>
                  <a:txBody>
                    <a:bodyPr/>
                    <a:lstStyle/>
                    <a:p>
                      <a:pPr marL="0" lvl="0" indent="0" algn="l" rtl="0">
                        <a:spcBef>
                          <a:spcPts val="0"/>
                        </a:spcBef>
                        <a:spcAft>
                          <a:spcPts val="0"/>
                        </a:spcAft>
                        <a:buNone/>
                      </a:pPr>
                      <a:r>
                        <a:rPr lang="en" sz="1600" b="1">
                          <a:latin typeface="Poppins"/>
                          <a:ea typeface="Poppins"/>
                          <a:cs typeface="Poppins"/>
                          <a:sym typeface="Poppins"/>
                        </a:rPr>
                        <a:t>Aftershock</a:t>
                      </a:r>
                      <a:endParaRPr sz="16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600">
                          <a:solidFill>
                            <a:schemeClr val="dk1"/>
                          </a:solidFill>
                          <a:latin typeface="Poppins"/>
                          <a:ea typeface="Poppins"/>
                          <a:cs typeface="Poppins"/>
                          <a:sym typeface="Poppins"/>
                        </a:rPr>
                        <a:t>A smaller earthquake that happens after a main earthquake.</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14375">
                <a:tc>
                  <a:txBody>
                    <a:bodyPr/>
                    <a:lstStyle/>
                    <a:p>
                      <a:pPr marL="0" lvl="0" indent="0" algn="l" rtl="0">
                        <a:spcBef>
                          <a:spcPts val="0"/>
                        </a:spcBef>
                        <a:spcAft>
                          <a:spcPts val="0"/>
                        </a:spcAft>
                        <a:buNone/>
                      </a:pPr>
                      <a:r>
                        <a:rPr lang="en" sz="1600" b="1">
                          <a:solidFill>
                            <a:schemeClr val="dk1"/>
                          </a:solidFill>
                          <a:latin typeface="Poppins"/>
                          <a:ea typeface="Poppins"/>
                          <a:cs typeface="Poppins"/>
                          <a:sym typeface="Poppins"/>
                        </a:rPr>
                        <a:t>Infrastructure</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600">
                          <a:solidFill>
                            <a:schemeClr val="dk1"/>
                          </a:solidFill>
                          <a:latin typeface="Poppins"/>
                          <a:ea typeface="Poppins"/>
                          <a:cs typeface="Poppins"/>
                          <a:sym typeface="Poppins"/>
                        </a:rPr>
                        <a:t>The basic buildings and systems (like roads, bridges, and power lines) that can be damaged during an earthquake.</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14375">
                <a:tc>
                  <a:txBody>
                    <a:bodyPr/>
                    <a:lstStyle/>
                    <a:p>
                      <a:pPr marL="0" lvl="0" indent="0" algn="l" rtl="0">
                        <a:spcBef>
                          <a:spcPts val="0"/>
                        </a:spcBef>
                        <a:spcAft>
                          <a:spcPts val="0"/>
                        </a:spcAft>
                        <a:buNone/>
                      </a:pPr>
                      <a:r>
                        <a:rPr lang="en" sz="1600" b="1">
                          <a:solidFill>
                            <a:schemeClr val="dk1"/>
                          </a:solidFill>
                          <a:latin typeface="Poppins"/>
                          <a:ea typeface="Poppins"/>
                          <a:cs typeface="Poppins"/>
                          <a:sym typeface="Poppins"/>
                        </a:rPr>
                        <a:t>Seismic Activity</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600">
                          <a:solidFill>
                            <a:schemeClr val="dk1"/>
                          </a:solidFill>
                          <a:latin typeface="Poppins"/>
                          <a:ea typeface="Poppins"/>
                          <a:cs typeface="Poppins"/>
                          <a:sym typeface="Poppins"/>
                        </a:rPr>
                        <a:t>The shaking or movement of the Earth’s crust caused by the movement of tectonic plates.</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14375">
                <a:tc>
                  <a:txBody>
                    <a:bodyPr/>
                    <a:lstStyle/>
                    <a:p>
                      <a:pPr marL="0" lvl="0" indent="0" algn="l" rtl="0">
                        <a:spcBef>
                          <a:spcPts val="0"/>
                        </a:spcBef>
                        <a:spcAft>
                          <a:spcPts val="0"/>
                        </a:spcAft>
                        <a:buNone/>
                      </a:pPr>
                      <a:r>
                        <a:rPr lang="en" sz="1600" b="1">
                          <a:solidFill>
                            <a:schemeClr val="dk1"/>
                          </a:solidFill>
                          <a:latin typeface="Poppins"/>
                          <a:ea typeface="Poppins"/>
                          <a:cs typeface="Poppins"/>
                          <a:sym typeface="Poppins"/>
                        </a:rPr>
                        <a:t>Tsunami</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600">
                          <a:solidFill>
                            <a:schemeClr val="dk1"/>
                          </a:solidFill>
                          <a:latin typeface="Poppins"/>
                          <a:ea typeface="Poppins"/>
                          <a:cs typeface="Poppins"/>
                          <a:sym typeface="Poppins"/>
                        </a:rPr>
                        <a:t>A large, powerful sea wave caused by an underwater earthquake</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84" name="Google Shape;84;p17"/>
          <p:cNvPicPr preferRelativeResize="0"/>
          <p:nvPr/>
        </p:nvPicPr>
        <p:blipFill>
          <a:blip r:embed="rId3">
            <a:alphaModFix/>
          </a:blip>
          <a:stretch>
            <a:fillRect/>
          </a:stretch>
        </p:blipFill>
        <p:spPr>
          <a:xfrm>
            <a:off x="2358750" y="1239300"/>
            <a:ext cx="731775" cy="731775"/>
          </a:xfrm>
          <a:prstGeom prst="rect">
            <a:avLst/>
          </a:prstGeom>
          <a:noFill/>
          <a:ln>
            <a:noFill/>
          </a:ln>
        </p:spPr>
      </p:pic>
      <p:pic>
        <p:nvPicPr>
          <p:cNvPr id="85" name="Google Shape;85;p17"/>
          <p:cNvPicPr preferRelativeResize="0"/>
          <p:nvPr/>
        </p:nvPicPr>
        <p:blipFill>
          <a:blip r:embed="rId4">
            <a:alphaModFix/>
          </a:blip>
          <a:stretch>
            <a:fillRect/>
          </a:stretch>
        </p:blipFill>
        <p:spPr>
          <a:xfrm>
            <a:off x="2358750" y="2205863"/>
            <a:ext cx="731775" cy="731775"/>
          </a:xfrm>
          <a:prstGeom prst="rect">
            <a:avLst/>
          </a:prstGeom>
          <a:noFill/>
          <a:ln>
            <a:noFill/>
          </a:ln>
        </p:spPr>
      </p:pic>
      <p:pic>
        <p:nvPicPr>
          <p:cNvPr id="86" name="Google Shape;86;p17"/>
          <p:cNvPicPr preferRelativeResize="0"/>
          <p:nvPr/>
        </p:nvPicPr>
        <p:blipFill>
          <a:blip r:embed="rId5">
            <a:alphaModFix/>
          </a:blip>
          <a:stretch>
            <a:fillRect/>
          </a:stretch>
        </p:blipFill>
        <p:spPr>
          <a:xfrm>
            <a:off x="2358750" y="3097875"/>
            <a:ext cx="731775" cy="731775"/>
          </a:xfrm>
          <a:prstGeom prst="rect">
            <a:avLst/>
          </a:prstGeom>
          <a:noFill/>
          <a:ln>
            <a:noFill/>
          </a:ln>
        </p:spPr>
      </p:pic>
      <p:pic>
        <p:nvPicPr>
          <p:cNvPr id="87" name="Google Shape;87;p17"/>
          <p:cNvPicPr preferRelativeResize="0"/>
          <p:nvPr/>
        </p:nvPicPr>
        <p:blipFill>
          <a:blip r:embed="rId6">
            <a:alphaModFix/>
          </a:blip>
          <a:stretch>
            <a:fillRect/>
          </a:stretch>
        </p:blipFill>
        <p:spPr>
          <a:xfrm>
            <a:off x="2358750" y="3989900"/>
            <a:ext cx="731775" cy="731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p:nvPr/>
        </p:nvSpPr>
        <p:spPr>
          <a:xfrm>
            <a:off x="2861550" y="647175"/>
            <a:ext cx="6063000" cy="507900"/>
          </a:xfrm>
          <a:prstGeom prst="rect">
            <a:avLst/>
          </a:prstGeom>
          <a:noFill/>
          <a:ln>
            <a:noFill/>
          </a:ln>
        </p:spPr>
        <p:txBody>
          <a:bodyPr spcFirstLastPara="1" wrap="square" lIns="68575" tIns="68575" rIns="68575" bIns="6857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 sz="2400" i="0" strike="noStrike" cap="none">
                <a:solidFill>
                  <a:schemeClr val="dk1"/>
                </a:solidFill>
                <a:latin typeface="Fugaz One"/>
                <a:ea typeface="Fugaz One"/>
                <a:cs typeface="Fugaz One"/>
                <a:sym typeface="Fugaz One"/>
              </a:rPr>
              <a:t>THINK like a Geographer:</a:t>
            </a:r>
            <a:endParaRPr sz="2400" i="0" strike="noStrike" cap="none">
              <a:solidFill>
                <a:srgbClr val="000000"/>
              </a:solidFill>
              <a:latin typeface="Fugaz One"/>
              <a:ea typeface="Fugaz One"/>
              <a:cs typeface="Fugaz One"/>
              <a:sym typeface="Fugaz One"/>
            </a:endParaRPr>
          </a:p>
        </p:txBody>
      </p:sp>
      <p:graphicFrame>
        <p:nvGraphicFramePr>
          <p:cNvPr id="93" name="Google Shape;93;p18"/>
          <p:cNvGraphicFramePr/>
          <p:nvPr/>
        </p:nvGraphicFramePr>
        <p:xfrm>
          <a:off x="165875" y="647169"/>
          <a:ext cx="2642350" cy="4437811"/>
        </p:xfrm>
        <a:graphic>
          <a:graphicData uri="http://schemas.openxmlformats.org/drawingml/2006/table">
            <a:tbl>
              <a:tblPr>
                <a:noFill/>
                <a:tableStyleId>{C67325EF-4102-47B8-B1A7-9FDDFBA12C46}</a:tableStyleId>
              </a:tblPr>
              <a:tblGrid>
                <a:gridCol w="2642350">
                  <a:extLst>
                    <a:ext uri="{9D8B030D-6E8A-4147-A177-3AD203B41FA5}">
                      <a16:colId xmlns:a16="http://schemas.microsoft.com/office/drawing/2014/main" val="20000"/>
                    </a:ext>
                  </a:extLst>
                </a:gridCol>
              </a:tblGrid>
              <a:tr h="620100">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 – Truth</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What do you notice in the pictures?</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972275">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H – Human</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a:solidFill>
                            <a:schemeClr val="dk1"/>
                          </a:solidFill>
                          <a:latin typeface="Poppins"/>
                          <a:ea typeface="Poppins"/>
                          <a:cs typeface="Poppins"/>
                          <a:sym typeface="Poppins"/>
                        </a:rPr>
                        <a:t>What features of human geography can you spot in the pictures?</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5A6BD"/>
                    </a:solidFill>
                  </a:tcPr>
                </a:tc>
                <a:extLst>
                  <a:ext uri="{0D108BD9-81ED-4DB2-BD59-A6C34878D82A}">
                    <a16:rowId xmlns:a16="http://schemas.microsoft.com/office/drawing/2014/main" val="10001"/>
                  </a:ext>
                </a:extLst>
              </a:tr>
              <a:tr h="796175">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I – Investigate</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What questions could you ask to find out more about this pictures?</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extLst>
                  <a:ext uri="{0D108BD9-81ED-4DB2-BD59-A6C34878D82A}">
                    <a16:rowId xmlns:a16="http://schemas.microsoft.com/office/drawing/2014/main" val="10002"/>
                  </a:ext>
                </a:extLst>
              </a:tr>
              <a:tr h="796175">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N – Nature</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What features of physical geography can you see in the pictures?</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3"/>
                  </a:ext>
                </a:extLst>
              </a:tr>
              <a:tr h="620100">
                <a:tc>
                  <a:txBody>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K – Knowledge</a:t>
                      </a:r>
                      <a:br>
                        <a:rPr lang="en" sz="1200" b="1">
                          <a:solidFill>
                            <a:schemeClr val="dk1"/>
                          </a:solidFill>
                          <a:latin typeface="Poppins"/>
                          <a:ea typeface="Poppins"/>
                          <a:cs typeface="Poppins"/>
                          <a:sym typeface="Poppins"/>
                        </a:rPr>
                      </a:br>
                      <a:r>
                        <a:rPr lang="en" sz="1200">
                          <a:solidFill>
                            <a:schemeClr val="dk1"/>
                          </a:solidFill>
                          <a:latin typeface="Poppins"/>
                          <a:ea typeface="Poppins"/>
                          <a:cs typeface="Poppins"/>
                          <a:sym typeface="Poppins"/>
                        </a:rPr>
                        <a:t>Why do tsunamis happen and why are they so dangerous?</a:t>
                      </a:r>
                      <a:endParaRPr sz="1200">
                        <a:solidFill>
                          <a:schemeClr val="dk1"/>
                        </a:solidFill>
                        <a:latin typeface="Poppins"/>
                        <a:ea typeface="Poppins"/>
                        <a:cs typeface="Poppins"/>
                        <a:sym typeface="Poppins"/>
                      </a:endParaRPr>
                    </a:p>
                  </a:txBody>
                  <a:tcPr marL="68575" marR="68575" marT="68575" marB="6857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A9999"/>
                    </a:solidFill>
                  </a:tcPr>
                </a:tc>
                <a:extLst>
                  <a:ext uri="{0D108BD9-81ED-4DB2-BD59-A6C34878D82A}">
                    <a16:rowId xmlns:a16="http://schemas.microsoft.com/office/drawing/2014/main" val="10004"/>
                  </a:ext>
                </a:extLst>
              </a:tr>
            </a:tbl>
          </a:graphicData>
        </a:graphic>
      </p:graphicFrame>
      <p:pic>
        <p:nvPicPr>
          <p:cNvPr id="94" name="Google Shape;94;p18" descr="Ghosts of the Tsunami: what the disaster in Japan left behind"/>
          <p:cNvPicPr preferRelativeResize="0"/>
          <p:nvPr/>
        </p:nvPicPr>
        <p:blipFill rotWithShape="1">
          <a:blip r:embed="rId3">
            <a:alphaModFix/>
          </a:blip>
          <a:srcRect/>
          <a:stretch/>
        </p:blipFill>
        <p:spPr>
          <a:xfrm>
            <a:off x="2959375" y="1155075"/>
            <a:ext cx="2955375" cy="2085175"/>
          </a:xfrm>
          <a:prstGeom prst="rect">
            <a:avLst/>
          </a:prstGeom>
          <a:noFill/>
          <a:ln>
            <a:noFill/>
          </a:ln>
        </p:spPr>
      </p:pic>
      <p:pic>
        <p:nvPicPr>
          <p:cNvPr id="95" name="Google Shape;95;p18" descr="Events following Japan&amp;#39;s worst quake and nuclear incident | Reuters"/>
          <p:cNvPicPr preferRelativeResize="0"/>
          <p:nvPr/>
        </p:nvPicPr>
        <p:blipFill rotWithShape="1">
          <a:blip r:embed="rId4">
            <a:alphaModFix/>
          </a:blip>
          <a:srcRect/>
          <a:stretch/>
        </p:blipFill>
        <p:spPr>
          <a:xfrm>
            <a:off x="5969175" y="1116150"/>
            <a:ext cx="2955374" cy="2085175"/>
          </a:xfrm>
          <a:prstGeom prst="rect">
            <a:avLst/>
          </a:prstGeom>
          <a:noFill/>
          <a:ln>
            <a:noFill/>
          </a:ln>
        </p:spPr>
      </p:pic>
      <p:pic>
        <p:nvPicPr>
          <p:cNvPr id="96" name="Google Shape;96;p18" descr="Japan earthquake and tsunami: Before and after the cleanup - Los Angeles  Times"/>
          <p:cNvPicPr preferRelativeResize="0"/>
          <p:nvPr/>
        </p:nvPicPr>
        <p:blipFill rotWithShape="1">
          <a:blip r:embed="rId5">
            <a:alphaModFix/>
          </a:blip>
          <a:srcRect/>
          <a:stretch/>
        </p:blipFill>
        <p:spPr>
          <a:xfrm>
            <a:off x="2959375" y="3241025"/>
            <a:ext cx="2955374" cy="1812625"/>
          </a:xfrm>
          <a:prstGeom prst="rect">
            <a:avLst/>
          </a:prstGeom>
          <a:noFill/>
          <a:ln>
            <a:noFill/>
          </a:ln>
        </p:spPr>
      </p:pic>
      <p:pic>
        <p:nvPicPr>
          <p:cNvPr id="97" name="Google Shape;97;p18" descr="Chinese helped Japan to tackle Tsunami in 2011 | Geopolitica.RU"/>
          <p:cNvPicPr preferRelativeResize="0"/>
          <p:nvPr/>
        </p:nvPicPr>
        <p:blipFill rotWithShape="1">
          <a:blip r:embed="rId6">
            <a:alphaModFix/>
          </a:blip>
          <a:srcRect/>
          <a:stretch/>
        </p:blipFill>
        <p:spPr>
          <a:xfrm>
            <a:off x="5969175" y="3240250"/>
            <a:ext cx="2955375" cy="1812627"/>
          </a:xfrm>
          <a:prstGeom prst="rect">
            <a:avLst/>
          </a:prstGeom>
          <a:noFill/>
          <a:ln>
            <a:noFill/>
          </a:ln>
        </p:spPr>
      </p:pic>
      <p:sp>
        <p:nvSpPr>
          <p:cNvPr id="98" name="Google Shape;98;p1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p:nvPr/>
        </p:nvSpPr>
        <p:spPr>
          <a:xfrm>
            <a:off x="4574975" y="1316700"/>
            <a:ext cx="4401900" cy="102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1:</a:t>
            </a:r>
            <a:r>
              <a:rPr lang="en" sz="1800">
                <a:solidFill>
                  <a:schemeClr val="dk1"/>
                </a:solidFill>
                <a:latin typeface="Baumans"/>
                <a:ea typeface="Baumans"/>
                <a:cs typeface="Baumans"/>
                <a:sym typeface="Baumans"/>
              </a:rPr>
              <a:t> Complete the multiple choice questions whilst watching the video: </a:t>
            </a:r>
            <a:endParaRPr sz="1800" b="1">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How Tsunamis Work.</a:t>
            </a:r>
            <a:endParaRPr sz="1800" b="1">
              <a:solidFill>
                <a:schemeClr val="dk1"/>
              </a:solidFill>
              <a:latin typeface="Baumans"/>
              <a:ea typeface="Baumans"/>
              <a:cs typeface="Baumans"/>
              <a:sym typeface="Baumans"/>
            </a:endParaRPr>
          </a:p>
        </p:txBody>
      </p:sp>
      <p:sp>
        <p:nvSpPr>
          <p:cNvPr id="104" name="Google Shape;104;p19"/>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What is a Tsunami?</a:t>
            </a:r>
            <a:endParaRPr sz="2000" i="0" u="none" strike="noStrike" cap="none">
              <a:solidFill>
                <a:schemeClr val="dk1"/>
              </a:solidFill>
              <a:highlight>
                <a:schemeClr val="lt1"/>
              </a:highlight>
              <a:latin typeface="Luckiest Guy"/>
              <a:ea typeface="Luckiest Guy"/>
              <a:cs typeface="Luckiest Guy"/>
              <a:sym typeface="Luckiest Guy"/>
            </a:endParaRPr>
          </a:p>
        </p:txBody>
      </p:sp>
      <p:pic>
        <p:nvPicPr>
          <p:cNvPr id="105" name="Google Shape;105;p19" descr="View full lesson: http://ed.ted.com/lessons/how-tsunamis-work-alex-gendler&#10;&#10;The immense swell of a tsunami can grow up to 100 feet, hitting speeds over 500 mph -- a treacherous combination for anyone or anything in its path. Alex Gendler details the causes of these towering terrors and explains how scientists are seeking to reduce their destruction in the future.&#10;&#10;Lesson by Alex Gendler, animation by Augenblick Studios." title="How tsunamis work - Alex Gendler">
            <a:hlinkClick r:id="rId3"/>
          </p:cNvPr>
          <p:cNvPicPr preferRelativeResize="0"/>
          <p:nvPr/>
        </p:nvPicPr>
        <p:blipFill>
          <a:blip r:embed="rId4">
            <a:alphaModFix/>
          </a:blip>
          <a:stretch>
            <a:fillRect/>
          </a:stretch>
        </p:blipFill>
        <p:spPr>
          <a:xfrm>
            <a:off x="152400" y="1216100"/>
            <a:ext cx="4401900" cy="2476069"/>
          </a:xfrm>
          <a:prstGeom prst="rect">
            <a:avLst/>
          </a:prstGeom>
          <a:noFill/>
          <a:ln>
            <a:noFill/>
          </a:ln>
        </p:spPr>
      </p:pic>
      <p:pic>
        <p:nvPicPr>
          <p:cNvPr id="106" name="Google Shape;106;p19" title="Screenshot 2025-11-10 at 8.25.43 AM.png"/>
          <p:cNvPicPr preferRelativeResize="0"/>
          <p:nvPr/>
        </p:nvPicPr>
        <p:blipFill>
          <a:blip r:embed="rId5">
            <a:alphaModFix/>
          </a:blip>
          <a:stretch>
            <a:fillRect/>
          </a:stretch>
        </p:blipFill>
        <p:spPr>
          <a:xfrm>
            <a:off x="5062402" y="2339700"/>
            <a:ext cx="3439367" cy="2590149"/>
          </a:xfrm>
          <a:prstGeom prst="rect">
            <a:avLst/>
          </a:prstGeom>
          <a:noFill/>
          <a:ln>
            <a:noFill/>
          </a:ln>
        </p:spPr>
      </p:pic>
      <p:sp>
        <p:nvSpPr>
          <p:cNvPr id="107" name="Google Shape;107;p1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10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p:nvPr/>
        </p:nvSpPr>
        <p:spPr>
          <a:xfrm>
            <a:off x="5541300" y="1316700"/>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13" name="Google Shape;113;p20"/>
          <p:cNvSpPr txBox="1"/>
          <p:nvPr/>
        </p:nvSpPr>
        <p:spPr>
          <a:xfrm>
            <a:off x="125350" y="1063700"/>
            <a:ext cx="5475600" cy="2979900"/>
          </a:xfrm>
          <a:prstGeom prst="rect">
            <a:avLst/>
          </a:prstGeom>
          <a:noFill/>
          <a:ln>
            <a:noFill/>
          </a:ln>
        </p:spPr>
        <p:txBody>
          <a:bodyPr spcFirstLastPara="1" wrap="square" lIns="91425" tIns="91425" rIns="91425" bIns="91425" anchor="t" anchorCtr="0">
            <a:spAutoFit/>
          </a:bodyPr>
          <a:lstStyle/>
          <a:p>
            <a:pPr marL="762000" lvl="0" indent="-330200" algn="l" rtl="0">
              <a:lnSpc>
                <a:spcPct val="115000"/>
              </a:lnSpc>
              <a:spcBef>
                <a:spcPts val="90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A tsunami</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They thought Poseidon protected them</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It is not related to tides from the Sun or Moon</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Underwater earthquakes or eruptions</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It is lifted and then pulled back down by gravity</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Over 500 miles per hour</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It slows down but grows taller</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Harbor wave</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It killed over 200,000 people in South Asia</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Using early warning systems</a:t>
            </a:r>
            <a:endParaRPr sz="1600" b="1">
              <a:solidFill>
                <a:srgbClr val="38761D"/>
              </a:solidFill>
              <a:latin typeface="Delius"/>
              <a:ea typeface="Delius"/>
              <a:cs typeface="Delius"/>
              <a:sym typeface="Delius"/>
            </a:endParaRPr>
          </a:p>
        </p:txBody>
      </p:sp>
      <p:sp>
        <p:nvSpPr>
          <p:cNvPr id="114" name="Google Shape;114;p20"/>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What is a Tsunami?</a:t>
            </a:r>
            <a:endParaRPr sz="2000" i="0" u="none" strike="noStrike" cap="none">
              <a:solidFill>
                <a:schemeClr val="dk1"/>
              </a:solidFill>
              <a:highlight>
                <a:schemeClr val="lt1"/>
              </a:highlight>
              <a:latin typeface="Luckiest Guy"/>
              <a:ea typeface="Luckiest Guy"/>
              <a:cs typeface="Luckiest Guy"/>
              <a:sym typeface="Luckiest Guy"/>
            </a:endParaRPr>
          </a:p>
        </p:txBody>
      </p:sp>
      <p:pic>
        <p:nvPicPr>
          <p:cNvPr id="115" name="Google Shape;115;p20" title="Screenshot 2025-11-10 at 8.25.43 AM.png"/>
          <p:cNvPicPr preferRelativeResize="0"/>
          <p:nvPr/>
        </p:nvPicPr>
        <p:blipFill>
          <a:blip r:embed="rId3">
            <a:alphaModFix/>
          </a:blip>
          <a:stretch>
            <a:fillRect/>
          </a:stretch>
        </p:blipFill>
        <p:spPr>
          <a:xfrm>
            <a:off x="5793850" y="2036200"/>
            <a:ext cx="3174500" cy="2390662"/>
          </a:xfrm>
          <a:prstGeom prst="rect">
            <a:avLst/>
          </a:prstGeom>
          <a:noFill/>
          <a:ln>
            <a:noFill/>
          </a:ln>
        </p:spPr>
      </p:pic>
      <p:sp>
        <p:nvSpPr>
          <p:cNvPr id="116" name="Google Shape;116;p2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77875" y="654875"/>
            <a:ext cx="8802900" cy="36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 sz="2020">
                <a:highlight>
                  <a:schemeClr val="lt1"/>
                </a:highlight>
                <a:latin typeface="Fugaz One"/>
                <a:ea typeface="Fugaz One"/>
                <a:cs typeface="Fugaz One"/>
                <a:sym typeface="Fugaz One"/>
              </a:rPr>
              <a:t>Case study: Japan 2011</a:t>
            </a:r>
            <a:endParaRPr sz="2020">
              <a:highlight>
                <a:schemeClr val="lt1"/>
              </a:highlight>
              <a:latin typeface="Fugaz One"/>
              <a:ea typeface="Fugaz One"/>
              <a:cs typeface="Fugaz One"/>
              <a:sym typeface="Fugaz One"/>
            </a:endParaRPr>
          </a:p>
        </p:txBody>
      </p:sp>
      <p:sp>
        <p:nvSpPr>
          <p:cNvPr id="122" name="Google Shape;122;p21"/>
          <p:cNvSpPr txBox="1"/>
          <p:nvPr/>
        </p:nvSpPr>
        <p:spPr>
          <a:xfrm>
            <a:off x="3062950" y="1015775"/>
            <a:ext cx="59670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On 11</a:t>
            </a:r>
            <a:r>
              <a:rPr lang="en" sz="1800" baseline="30000">
                <a:solidFill>
                  <a:schemeClr val="dk1"/>
                </a:solidFill>
                <a:latin typeface="Baumans"/>
                <a:ea typeface="Baumans"/>
                <a:cs typeface="Baumans"/>
                <a:sym typeface="Baumans"/>
              </a:rPr>
              <a:t>th</a:t>
            </a:r>
            <a:r>
              <a:rPr lang="en" sz="1800">
                <a:solidFill>
                  <a:schemeClr val="dk1"/>
                </a:solidFill>
                <a:latin typeface="Baumans"/>
                <a:ea typeface="Baumans"/>
                <a:cs typeface="Baumans"/>
                <a:sym typeface="Baumans"/>
              </a:rPr>
              <a:t> March 2011, Japan was struck by a massive earthquake 230 miles east of Tokyo.  </a:t>
            </a:r>
            <a:endParaRPr sz="1900">
              <a:latin typeface="Baumans"/>
              <a:ea typeface="Baumans"/>
              <a:cs typeface="Baumans"/>
              <a:sym typeface="Baumans"/>
            </a:endParaRPr>
          </a:p>
        </p:txBody>
      </p:sp>
      <p:sp>
        <p:nvSpPr>
          <p:cNvPr id="123" name="Google Shape;123;p21"/>
          <p:cNvSpPr txBox="1"/>
          <p:nvPr/>
        </p:nvSpPr>
        <p:spPr>
          <a:xfrm>
            <a:off x="3072000" y="1796075"/>
            <a:ext cx="5967000" cy="2550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As a result of the earthquake this triggered a tsunami which spread up to 10km in land in some places with a wave height measuring up to 40m.</a:t>
            </a:r>
            <a:endParaRPr sz="18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10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A 15m tsunami struck the Fukushima nuclear plant which disabled the cooling system for three of the nuclear reactors causing a meltdown. This supplied 30% of Japan’s electricity.</a:t>
            </a:r>
            <a:endParaRPr/>
          </a:p>
        </p:txBody>
      </p:sp>
      <p:pic>
        <p:nvPicPr>
          <p:cNvPr id="124" name="Google Shape;124;p21" descr="Map"/>
          <p:cNvPicPr preferRelativeResize="0"/>
          <p:nvPr/>
        </p:nvPicPr>
        <p:blipFill rotWithShape="1">
          <a:blip r:embed="rId3">
            <a:alphaModFix/>
          </a:blip>
          <a:srcRect/>
          <a:stretch/>
        </p:blipFill>
        <p:spPr>
          <a:xfrm>
            <a:off x="165875" y="1305888"/>
            <a:ext cx="2851250" cy="2531725"/>
          </a:xfrm>
          <a:prstGeom prst="rect">
            <a:avLst/>
          </a:prstGeom>
          <a:noFill/>
          <a:ln>
            <a:noFill/>
          </a:ln>
        </p:spPr>
      </p:pic>
      <p:sp>
        <p:nvSpPr>
          <p:cNvPr id="125" name="Google Shape;125;p21"/>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2" descr="June 9, 2011 — The March 11 earthquake and tsunami left more than 28,000 dead or missing. See incredible footage of the tsunami swamping cities and turning buildings into rubble.&#10;➡ Subscribe: https://on.natgeo.com/4p5A0D6&#10;&#10;➡ Access our digital archive by becoming a member of National Geographic: https://on.natgeo.com/37tNUGE&#10;&#10;#NationalGeographic #Japan #Tsunami&#10;&#10;About National Geographic:&#10;National Geographic is the world's premium destination for critically acclaimed storytelling around science and exploration. Discover amazing wildlife, ancient civilizations, hidden worlds, and the incredible wonders of our Earth. Through world-class scientists, photographers, journalists, and filmmakers, Nat Geo inspires fans of all ages to connect with, explore, and care about the world.&#10;&#10;Get More National Geographic:&#10;Official Site: https://nationalgeographic.com&#10;Instagram: https://instagram.com/natgeo &#10;Facebook: https://facebook.com/natgeo&#10;Threads: https://threads.com/@natgeo&#10;X: https://x.com/NatGeo&#10;LinkedIn: https://linkedin.com/company/national-geographic&#10;TikTok: https://tiktok.com/@natgeo&#10;Reddit: https://reddit.com/user/nationalgeographic&#10;TikTok: http://www.tiktok.com/@natgeo&#10;Tenor: http://on.natgeo.com/31b3Koc&#10;&#10;Rare Video: Japan Tsunami | National Geographic &#10;https://youtu.be/oWzdgBNfhQU&#10;&#10;National Geographic&#10;https://www.youtube.com/natgeo" title="Rare Video: Japan Tsunami | National Geographic">
            <a:hlinkClick r:id="rId3"/>
          </p:cNvPr>
          <p:cNvPicPr preferRelativeResize="0"/>
          <p:nvPr/>
        </p:nvPicPr>
        <p:blipFill>
          <a:blip r:embed="rId4">
            <a:alphaModFix/>
          </a:blip>
          <a:stretch>
            <a:fillRect/>
          </a:stretch>
        </p:blipFill>
        <p:spPr>
          <a:xfrm>
            <a:off x="165875" y="1262275"/>
            <a:ext cx="3734179" cy="2100462"/>
          </a:xfrm>
          <a:prstGeom prst="rect">
            <a:avLst/>
          </a:prstGeom>
          <a:noFill/>
          <a:ln>
            <a:noFill/>
          </a:ln>
        </p:spPr>
      </p:pic>
      <p:sp>
        <p:nvSpPr>
          <p:cNvPr id="131" name="Google Shape;131;p22"/>
          <p:cNvSpPr txBox="1"/>
          <p:nvPr/>
        </p:nvSpPr>
        <p:spPr>
          <a:xfrm>
            <a:off x="3900050" y="1067375"/>
            <a:ext cx="5121600" cy="26259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SzPts val="1600"/>
              <a:buFont typeface="Baumans"/>
              <a:buAutoNum type="arabicPeriod"/>
            </a:pPr>
            <a:r>
              <a:rPr lang="en" sz="1600">
                <a:latin typeface="Baumans"/>
                <a:ea typeface="Baumans"/>
                <a:cs typeface="Baumans"/>
                <a:sym typeface="Baumans"/>
              </a:rPr>
              <a:t>Why were people in Japan able to react quickly after the earthquake struck on March 11, 2011?</a:t>
            </a:r>
            <a:endParaRPr sz="1600">
              <a:latin typeface="Baumans"/>
              <a:ea typeface="Baumans"/>
              <a:cs typeface="Baumans"/>
              <a:sym typeface="Baumans"/>
            </a:endParaRPr>
          </a:p>
          <a:p>
            <a:pPr marL="0" lvl="0" indent="0" algn="l" rtl="0">
              <a:lnSpc>
                <a:spcPct val="115000"/>
              </a:lnSpc>
              <a:spcBef>
                <a:spcPts val="0"/>
              </a:spcBef>
              <a:spcAft>
                <a:spcPts val="0"/>
              </a:spcAft>
              <a:buNone/>
            </a:pPr>
            <a:endParaRPr sz="600">
              <a:latin typeface="Baumans"/>
              <a:ea typeface="Baumans"/>
              <a:cs typeface="Baumans"/>
              <a:sym typeface="Baumans"/>
            </a:endParaRPr>
          </a:p>
          <a:p>
            <a:pPr marL="457200" lvl="0" indent="-330200" algn="l" rtl="0">
              <a:lnSpc>
                <a:spcPct val="115000"/>
              </a:lnSpc>
              <a:spcBef>
                <a:spcPts val="0"/>
              </a:spcBef>
              <a:spcAft>
                <a:spcPts val="0"/>
              </a:spcAft>
              <a:buSzPts val="1600"/>
              <a:buFont typeface="Baumans"/>
              <a:buAutoNum type="arabicPeriod"/>
            </a:pPr>
            <a:r>
              <a:rPr lang="en" sz="1600">
                <a:latin typeface="Baumans"/>
                <a:ea typeface="Baumans"/>
                <a:cs typeface="Baumans"/>
                <a:sym typeface="Baumans"/>
              </a:rPr>
              <a:t>How did the power of the tsunami overwhelm Japan’s defences, even though it had the world’s largest seawall?</a:t>
            </a:r>
            <a:endParaRPr sz="1600">
              <a:latin typeface="Baumans"/>
              <a:ea typeface="Baumans"/>
              <a:cs typeface="Baumans"/>
              <a:sym typeface="Baumans"/>
            </a:endParaRPr>
          </a:p>
          <a:p>
            <a:pPr marL="0" lvl="0" indent="0" algn="l" rtl="0">
              <a:lnSpc>
                <a:spcPct val="115000"/>
              </a:lnSpc>
              <a:spcBef>
                <a:spcPts val="0"/>
              </a:spcBef>
              <a:spcAft>
                <a:spcPts val="0"/>
              </a:spcAft>
              <a:buNone/>
            </a:pPr>
            <a:endParaRPr sz="600">
              <a:latin typeface="Baumans"/>
              <a:ea typeface="Baumans"/>
              <a:cs typeface="Baumans"/>
              <a:sym typeface="Baumans"/>
            </a:endParaRPr>
          </a:p>
          <a:p>
            <a:pPr marL="457200" lvl="0" indent="-330200" algn="l" rtl="0">
              <a:lnSpc>
                <a:spcPct val="115000"/>
              </a:lnSpc>
              <a:spcBef>
                <a:spcPts val="0"/>
              </a:spcBef>
              <a:spcAft>
                <a:spcPts val="0"/>
              </a:spcAft>
              <a:buSzPts val="1600"/>
              <a:buFont typeface="Baumans"/>
              <a:buAutoNum type="arabicPeriod"/>
            </a:pPr>
            <a:r>
              <a:rPr lang="en" sz="1600">
                <a:latin typeface="Baumans"/>
                <a:ea typeface="Baumans"/>
                <a:cs typeface="Baumans"/>
                <a:sym typeface="Baumans"/>
              </a:rPr>
              <a:t>What can scientists learn from the footage and GPS data collected during the disaster, and how might this help in the future?</a:t>
            </a:r>
            <a:endParaRPr sz="1600">
              <a:latin typeface="Baumans"/>
              <a:ea typeface="Baumans"/>
              <a:cs typeface="Baumans"/>
              <a:sym typeface="Baumans"/>
            </a:endParaRPr>
          </a:p>
        </p:txBody>
      </p:sp>
      <p:sp>
        <p:nvSpPr>
          <p:cNvPr id="132" name="Google Shape;132;p22"/>
          <p:cNvSpPr txBox="1">
            <a:spLocks noGrp="1"/>
          </p:cNvSpPr>
          <p:nvPr>
            <p:ph type="title"/>
          </p:nvPr>
        </p:nvSpPr>
        <p:spPr>
          <a:xfrm>
            <a:off x="77875" y="654875"/>
            <a:ext cx="8802900" cy="36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 sz="2020">
                <a:highlight>
                  <a:schemeClr val="lt1"/>
                </a:highlight>
                <a:latin typeface="Fugaz One"/>
                <a:ea typeface="Fugaz One"/>
                <a:cs typeface="Fugaz One"/>
                <a:sym typeface="Fugaz One"/>
              </a:rPr>
              <a:t>Case study: Japan 2011</a:t>
            </a:r>
            <a:endParaRPr sz="2020">
              <a:highlight>
                <a:schemeClr val="lt1"/>
              </a:highlight>
              <a:latin typeface="Fugaz One"/>
              <a:ea typeface="Fugaz One"/>
              <a:cs typeface="Fugaz One"/>
              <a:sym typeface="Fugaz One"/>
            </a:endParaRPr>
          </a:p>
        </p:txBody>
      </p:sp>
      <p:sp>
        <p:nvSpPr>
          <p:cNvPr id="133" name="Google Shape;133;p22"/>
          <p:cNvSpPr txBox="1"/>
          <p:nvPr/>
        </p:nvSpPr>
        <p:spPr>
          <a:xfrm>
            <a:off x="77875" y="3609225"/>
            <a:ext cx="8943600" cy="12189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SzPts val="1200"/>
              <a:buFont typeface="Poppins"/>
              <a:buAutoNum type="arabicPeriod"/>
            </a:pPr>
            <a:r>
              <a:rPr lang="en" sz="1200" b="1">
                <a:highlight>
                  <a:schemeClr val="lt1"/>
                </a:highlight>
                <a:latin typeface="Poppins"/>
                <a:ea typeface="Poppins"/>
                <a:cs typeface="Poppins"/>
                <a:sym typeface="Poppins"/>
              </a:rPr>
              <a:t>Because tsunami warnings were issued immediately and people knew to run to higher ground.</a:t>
            </a:r>
            <a:endParaRPr sz="1200" b="1">
              <a:highlight>
                <a:schemeClr val="lt1"/>
              </a:highlight>
              <a:latin typeface="Poppins"/>
              <a:ea typeface="Poppins"/>
              <a:cs typeface="Poppins"/>
              <a:sym typeface="Poppins"/>
            </a:endParaRPr>
          </a:p>
          <a:p>
            <a:pPr marL="457200" lvl="0" indent="-304800" algn="l" rtl="0">
              <a:lnSpc>
                <a:spcPct val="115000"/>
              </a:lnSpc>
              <a:spcBef>
                <a:spcPts val="0"/>
              </a:spcBef>
              <a:spcAft>
                <a:spcPts val="0"/>
              </a:spcAft>
              <a:buSzPts val="1200"/>
              <a:buFont typeface="Poppins"/>
              <a:buAutoNum type="arabicPeriod"/>
            </a:pPr>
            <a:r>
              <a:rPr lang="en" sz="1200" b="1">
                <a:highlight>
                  <a:schemeClr val="lt1"/>
                </a:highlight>
                <a:latin typeface="Poppins"/>
                <a:ea typeface="Poppins"/>
                <a:cs typeface="Poppins"/>
                <a:sym typeface="Poppins"/>
              </a:rPr>
              <a:t>The tsunami was so strong and high that it rose over the 18-foot seawall, flooding and destroying coastal cities.</a:t>
            </a:r>
            <a:endParaRPr sz="1200" b="1">
              <a:highlight>
                <a:schemeClr val="lt1"/>
              </a:highlight>
              <a:latin typeface="Poppins"/>
              <a:ea typeface="Poppins"/>
              <a:cs typeface="Poppins"/>
              <a:sym typeface="Poppins"/>
            </a:endParaRPr>
          </a:p>
          <a:p>
            <a:pPr marL="457200" lvl="0" indent="-304800" algn="l" rtl="0">
              <a:lnSpc>
                <a:spcPct val="115000"/>
              </a:lnSpc>
              <a:spcBef>
                <a:spcPts val="0"/>
              </a:spcBef>
              <a:spcAft>
                <a:spcPts val="0"/>
              </a:spcAft>
              <a:buSzPts val="1200"/>
              <a:buFont typeface="Poppins"/>
              <a:buAutoNum type="arabicPeriod"/>
            </a:pPr>
            <a:r>
              <a:rPr lang="en" sz="1200" b="1">
                <a:highlight>
                  <a:schemeClr val="lt1"/>
                </a:highlight>
                <a:latin typeface="Poppins"/>
                <a:ea typeface="Poppins"/>
                <a:cs typeface="Poppins"/>
                <a:sym typeface="Poppins"/>
              </a:rPr>
              <a:t>The evidence helps scientists understand how tsunamis form and move, allowing them to improve warning systems and reduce loss of life in future disasters.</a:t>
            </a:r>
            <a:endParaRPr sz="1200" b="1">
              <a:highlight>
                <a:schemeClr val="lt1"/>
              </a:highlight>
              <a:latin typeface="Poppins"/>
              <a:ea typeface="Poppins"/>
              <a:cs typeface="Poppins"/>
              <a:sym typeface="Poppins"/>
            </a:endParaRPr>
          </a:p>
        </p:txBody>
      </p:sp>
      <p:sp>
        <p:nvSpPr>
          <p:cNvPr id="134" name="Google Shape;134;p22"/>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10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944679" y="36598"/>
            <a:ext cx="6228450" cy="667467"/>
          </a:xfrm>
          <a:prstGeom prst="rect">
            <a:avLst/>
          </a:prstGeom>
          <a:noFill/>
          <a:ln>
            <a:noFill/>
          </a:ln>
        </p:spPr>
        <p:txBody>
          <a:bodyPr spcFirstLastPara="1" wrap="square" lIns="51431" tIns="25706" rIns="51431" bIns="25706" anchor="t" anchorCtr="0">
            <a:spAutoFit/>
          </a:bodyPr>
          <a:lstStyle/>
          <a:p>
            <a:pPr algn="ctr">
              <a:buSzPts val="2400"/>
            </a:pPr>
            <a:r>
              <a:rPr lang="en" sz="2000" dirty="0">
                <a:latin typeface="Luckiest Guy"/>
                <a:ea typeface="Luckiest Guy"/>
                <a:cs typeface="Luckiest Guy"/>
                <a:sym typeface="Luckiest Guy"/>
              </a:rPr>
              <a:t>Japan 2011 Tsunami </a:t>
            </a:r>
          </a:p>
          <a:p>
            <a:pPr algn="ctr">
              <a:buSzPts val="2400"/>
            </a:pPr>
            <a:r>
              <a:rPr lang="en" sz="2000" dirty="0">
                <a:latin typeface="Luckiest Guy"/>
                <a:ea typeface="Luckiest Guy"/>
                <a:cs typeface="Luckiest Guy"/>
                <a:sym typeface="Luckiest Guy"/>
              </a:rPr>
              <a:t>Knowledge </a:t>
            </a:r>
            <a:r>
              <a:rPr lang="en" sz="2000" dirty="0" err="1">
                <a:latin typeface="Luckiest Guy"/>
                <a:ea typeface="Luckiest Guy"/>
                <a:cs typeface="Luckiest Guy"/>
                <a:sym typeface="Luckiest Guy"/>
              </a:rPr>
              <a:t>Organiser</a:t>
            </a:r>
            <a:endParaRPr sz="2000" dirty="0">
              <a:latin typeface="Luckiest Guy"/>
              <a:ea typeface="Luckiest Guy"/>
              <a:cs typeface="Luckiest Guy"/>
              <a:sym typeface="Luckiest Guy"/>
            </a:endParaRPr>
          </a:p>
        </p:txBody>
      </p:sp>
      <p:sp>
        <p:nvSpPr>
          <p:cNvPr id="55" name="Google Shape;55;p13"/>
          <p:cNvSpPr/>
          <p:nvPr/>
        </p:nvSpPr>
        <p:spPr>
          <a:xfrm>
            <a:off x="109397" y="925187"/>
            <a:ext cx="2754351" cy="1656599"/>
          </a:xfrm>
          <a:prstGeom prst="rect">
            <a:avLst/>
          </a:prstGeom>
          <a:noFill/>
          <a:ln w="19050" cap="flat" cmpd="sng">
            <a:solidFill>
              <a:srgbClr val="000000"/>
            </a:solidFill>
            <a:prstDash val="solid"/>
            <a:round/>
            <a:headEnd type="none" w="sm" len="sm"/>
            <a:tailEnd type="none" w="sm" len="sm"/>
          </a:ln>
        </p:spPr>
        <p:txBody>
          <a:bodyPr spcFirstLastPara="1" wrap="square" lIns="51431" tIns="25706" rIns="51431" bIns="25706" anchor="t" anchorCtr="0">
            <a:noAutofit/>
          </a:bodyPr>
          <a:lstStyle/>
          <a:p>
            <a:pPr>
              <a:lnSpc>
                <a:spcPct val="115000"/>
              </a:lnSpc>
              <a:buSzPts val="1200"/>
            </a:pPr>
            <a:r>
              <a:rPr lang="en" sz="900" b="1" dirty="0">
                <a:latin typeface="Poppins"/>
                <a:ea typeface="Poppins"/>
                <a:cs typeface="Poppins"/>
                <a:sym typeface="Poppins"/>
              </a:rPr>
              <a:t>When: </a:t>
            </a:r>
            <a:r>
              <a:rPr lang="en" sz="900" dirty="0">
                <a:latin typeface="Poppins"/>
                <a:ea typeface="Poppins"/>
                <a:cs typeface="Poppins"/>
                <a:sym typeface="Poppins"/>
              </a:rPr>
              <a:t>11</a:t>
            </a:r>
            <a:r>
              <a:rPr lang="en" sz="900" baseline="30000" dirty="0">
                <a:latin typeface="Poppins"/>
                <a:ea typeface="Poppins"/>
                <a:cs typeface="Poppins"/>
                <a:sym typeface="Poppins"/>
              </a:rPr>
              <a:t>th</a:t>
            </a:r>
            <a:r>
              <a:rPr lang="en" sz="900" dirty="0">
                <a:latin typeface="Poppins"/>
                <a:ea typeface="Poppins"/>
                <a:cs typeface="Poppins"/>
                <a:sym typeface="Poppins"/>
              </a:rPr>
              <a:t> March 2011</a:t>
            </a:r>
            <a:endParaRPr sz="900" dirty="0">
              <a:latin typeface="Poppins"/>
              <a:ea typeface="Poppins"/>
              <a:cs typeface="Poppins"/>
              <a:sym typeface="Poppins"/>
            </a:endParaRPr>
          </a:p>
          <a:p>
            <a:pPr>
              <a:lnSpc>
                <a:spcPct val="115000"/>
              </a:lnSpc>
              <a:buSzPts val="1200"/>
            </a:pPr>
            <a:r>
              <a:rPr lang="en" sz="900" b="1" dirty="0">
                <a:latin typeface="Poppins"/>
                <a:ea typeface="Poppins"/>
                <a:cs typeface="Poppins"/>
                <a:sym typeface="Poppins"/>
              </a:rPr>
              <a:t>Where:</a:t>
            </a:r>
            <a:r>
              <a:rPr lang="en" sz="900" dirty="0">
                <a:latin typeface="Poppins"/>
                <a:ea typeface="Poppins"/>
                <a:cs typeface="Poppins"/>
                <a:sym typeface="Poppins"/>
              </a:rPr>
              <a:t> East coast of Japan</a:t>
            </a:r>
            <a:endParaRPr sz="900" dirty="0">
              <a:latin typeface="Poppins"/>
              <a:ea typeface="Poppins"/>
              <a:cs typeface="Poppins"/>
              <a:sym typeface="Poppins"/>
            </a:endParaRPr>
          </a:p>
          <a:p>
            <a:pPr>
              <a:lnSpc>
                <a:spcPct val="115000"/>
              </a:lnSpc>
              <a:buSzPts val="1200"/>
            </a:pPr>
            <a:r>
              <a:rPr lang="en" sz="900" b="1" dirty="0">
                <a:latin typeface="Poppins"/>
                <a:ea typeface="Poppins"/>
                <a:cs typeface="Poppins"/>
                <a:sym typeface="Poppins"/>
              </a:rPr>
              <a:t>What happened: </a:t>
            </a:r>
            <a:r>
              <a:rPr lang="en" sz="900" dirty="0">
                <a:latin typeface="Poppins"/>
                <a:ea typeface="Poppins"/>
                <a:cs typeface="Poppins"/>
                <a:sym typeface="Poppins"/>
              </a:rPr>
              <a:t>A magnitude 9.0 earthquake occurred off the east coast of Japan which resulted in a large tsunami making its way to Japan.</a:t>
            </a:r>
            <a:endParaRPr sz="900" dirty="0">
              <a:latin typeface="Poppins"/>
              <a:ea typeface="Poppins"/>
              <a:cs typeface="Poppins"/>
              <a:sym typeface="Poppins"/>
            </a:endParaRPr>
          </a:p>
          <a:p>
            <a:pPr>
              <a:lnSpc>
                <a:spcPct val="115000"/>
              </a:lnSpc>
              <a:buSzPts val="1200"/>
            </a:pPr>
            <a:r>
              <a:rPr lang="en" sz="900" b="1" dirty="0">
                <a:latin typeface="Poppins"/>
                <a:ea typeface="Poppins"/>
                <a:cs typeface="Poppins"/>
                <a:sym typeface="Poppins"/>
              </a:rPr>
              <a:t>Plate boundary: </a:t>
            </a:r>
            <a:r>
              <a:rPr lang="en" sz="900" dirty="0">
                <a:latin typeface="Poppins"/>
                <a:ea typeface="Poppins"/>
                <a:cs typeface="Poppins"/>
                <a:sym typeface="Poppins"/>
              </a:rPr>
              <a:t>Destructive</a:t>
            </a:r>
            <a:endParaRPr sz="900" dirty="0">
              <a:latin typeface="Poppins"/>
              <a:ea typeface="Poppins"/>
              <a:cs typeface="Poppins"/>
              <a:sym typeface="Poppins"/>
            </a:endParaRPr>
          </a:p>
          <a:p>
            <a:pPr>
              <a:lnSpc>
                <a:spcPct val="115000"/>
              </a:lnSpc>
              <a:buSzPts val="1200"/>
            </a:pPr>
            <a:r>
              <a:rPr lang="en" sz="900" b="1" dirty="0">
                <a:latin typeface="Poppins"/>
                <a:ea typeface="Poppins"/>
                <a:cs typeface="Poppins"/>
                <a:sym typeface="Poppins"/>
              </a:rPr>
              <a:t>Death toll (from EQ and tsunami): </a:t>
            </a:r>
            <a:r>
              <a:rPr lang="en" sz="900" dirty="0">
                <a:latin typeface="Poppins"/>
                <a:ea typeface="Poppins"/>
                <a:cs typeface="Poppins"/>
                <a:sym typeface="Poppins"/>
              </a:rPr>
              <a:t>20,000 (90% of these deaths were from the tsunami)</a:t>
            </a:r>
            <a:endParaRPr sz="900" dirty="0">
              <a:latin typeface="Poppins"/>
              <a:ea typeface="Poppins"/>
              <a:cs typeface="Poppins"/>
              <a:sym typeface="Poppins"/>
            </a:endParaRPr>
          </a:p>
          <a:p>
            <a:pPr>
              <a:lnSpc>
                <a:spcPct val="115000"/>
              </a:lnSpc>
              <a:buSzPts val="1200"/>
            </a:pPr>
            <a:r>
              <a:rPr lang="en" sz="900" b="1" dirty="0">
                <a:latin typeface="Poppins"/>
                <a:ea typeface="Poppins"/>
                <a:cs typeface="Poppins"/>
                <a:sym typeface="Poppins"/>
              </a:rPr>
              <a:t>Wave height: </a:t>
            </a:r>
            <a:r>
              <a:rPr lang="en" sz="900" dirty="0">
                <a:latin typeface="Poppins"/>
                <a:ea typeface="Poppins"/>
                <a:cs typeface="Poppins"/>
                <a:sym typeface="Poppins"/>
              </a:rPr>
              <a:t>40 meters</a:t>
            </a:r>
            <a:endParaRPr sz="900" b="1" dirty="0">
              <a:latin typeface="Poppins"/>
              <a:ea typeface="Poppins"/>
              <a:cs typeface="Poppins"/>
              <a:sym typeface="Poppins"/>
            </a:endParaRPr>
          </a:p>
        </p:txBody>
      </p:sp>
      <p:pic>
        <p:nvPicPr>
          <p:cNvPr id="56" name="Google Shape;56;p13" descr="Related image"/>
          <p:cNvPicPr preferRelativeResize="0"/>
          <p:nvPr/>
        </p:nvPicPr>
        <p:blipFill rotWithShape="1">
          <a:blip r:embed="rId3">
            <a:alphaModFix/>
          </a:blip>
          <a:srcRect/>
          <a:stretch/>
        </p:blipFill>
        <p:spPr>
          <a:xfrm>
            <a:off x="3241054" y="867968"/>
            <a:ext cx="1635701" cy="1915875"/>
          </a:xfrm>
          <a:prstGeom prst="rect">
            <a:avLst/>
          </a:prstGeom>
          <a:noFill/>
          <a:ln>
            <a:noFill/>
          </a:ln>
        </p:spPr>
      </p:pic>
      <p:sp>
        <p:nvSpPr>
          <p:cNvPr id="57" name="Google Shape;57;p13"/>
          <p:cNvSpPr/>
          <p:nvPr/>
        </p:nvSpPr>
        <p:spPr>
          <a:xfrm>
            <a:off x="3167269" y="4131121"/>
            <a:ext cx="5843239" cy="950748"/>
          </a:xfrm>
          <a:prstGeom prst="rect">
            <a:avLst/>
          </a:prstGeom>
          <a:noFill/>
          <a:ln w="19050" cap="flat" cmpd="sng">
            <a:solidFill>
              <a:schemeClr val="dk1"/>
            </a:solidFill>
            <a:prstDash val="solid"/>
            <a:round/>
            <a:headEnd type="none" w="sm" len="sm"/>
            <a:tailEnd type="none" w="sm" len="sm"/>
          </a:ln>
        </p:spPr>
        <p:txBody>
          <a:bodyPr spcFirstLastPara="1" wrap="square" lIns="51431" tIns="25706" rIns="51431" bIns="25706" anchor="t" anchorCtr="0">
            <a:noAutofit/>
          </a:bodyPr>
          <a:lstStyle/>
          <a:p>
            <a:pPr>
              <a:lnSpc>
                <a:spcPct val="115000"/>
              </a:lnSpc>
              <a:buSzPts val="1200"/>
            </a:pPr>
            <a:r>
              <a:rPr lang="en" sz="900" dirty="0">
                <a:latin typeface="Poppins"/>
                <a:ea typeface="Poppins"/>
                <a:cs typeface="Poppins"/>
                <a:sym typeface="Poppins"/>
              </a:rPr>
              <a:t>On the coast of Okuma in Fukushima there is a nuclear power plant. When the tsunami made landfall it broke over the sea wall in place flooding the nuclear power plant destroying the generators which caused the nuclear power reactors to overheat causing the radiation to enter the air and spread through North East Japan.</a:t>
            </a:r>
            <a:endParaRPr sz="900" dirty="0">
              <a:latin typeface="Poppins"/>
              <a:ea typeface="Poppins"/>
              <a:cs typeface="Poppins"/>
              <a:sym typeface="Poppins"/>
            </a:endParaRPr>
          </a:p>
        </p:txBody>
      </p:sp>
      <p:sp>
        <p:nvSpPr>
          <p:cNvPr id="58" name="Google Shape;58;p13"/>
          <p:cNvSpPr txBox="1"/>
          <p:nvPr/>
        </p:nvSpPr>
        <p:spPr>
          <a:xfrm>
            <a:off x="5543737" y="-69164"/>
            <a:ext cx="3466771" cy="2281755"/>
          </a:xfrm>
          <a:prstGeom prst="rect">
            <a:avLst/>
          </a:prstGeom>
          <a:noFill/>
          <a:ln w="19050" cap="flat" cmpd="sng">
            <a:solidFill>
              <a:srgbClr val="000000"/>
            </a:solidFill>
            <a:prstDash val="solid"/>
            <a:round/>
            <a:headEnd type="none" w="sm" len="sm"/>
            <a:tailEnd type="none" w="sm" len="sm"/>
          </a:ln>
        </p:spPr>
        <p:txBody>
          <a:bodyPr spcFirstLastPara="1" wrap="square" lIns="51431" tIns="25706" rIns="51431" bIns="25706" anchor="t" anchorCtr="0">
            <a:spAutoFit/>
          </a:bodyPr>
          <a:lstStyle/>
          <a:p>
            <a:pPr>
              <a:lnSpc>
                <a:spcPct val="115000"/>
              </a:lnSpc>
              <a:buSzPts val="800"/>
            </a:pPr>
            <a:r>
              <a:rPr lang="en" sz="900" b="1" u="sng" dirty="0">
                <a:latin typeface="Poppins"/>
                <a:ea typeface="Poppins"/>
                <a:cs typeface="Poppins"/>
                <a:sym typeface="Poppins"/>
              </a:rPr>
              <a:t>Responses:</a:t>
            </a:r>
            <a:endParaRPr sz="900" b="1" u="sng" dirty="0">
              <a:latin typeface="Poppins"/>
              <a:ea typeface="Poppins"/>
              <a:cs typeface="Poppins"/>
              <a:sym typeface="Poppins"/>
            </a:endParaRPr>
          </a:p>
          <a:p>
            <a:pPr marL="128588" indent="-133350">
              <a:lnSpc>
                <a:spcPct val="115000"/>
              </a:lnSpc>
              <a:buClr>
                <a:schemeClr val="dk1"/>
              </a:buClr>
              <a:buSzPts val="1000"/>
              <a:buFont typeface="Poppins"/>
              <a:buChar char="●"/>
            </a:pPr>
            <a:r>
              <a:rPr lang="en" sz="900" dirty="0">
                <a:solidFill>
                  <a:schemeClr val="dk1"/>
                </a:solidFill>
                <a:latin typeface="Poppins"/>
                <a:ea typeface="Poppins"/>
                <a:cs typeface="Poppins"/>
                <a:sym typeface="Poppins"/>
              </a:rPr>
              <a:t>There were warnings of the earthquake given to people through their phones, telling them to get to higher ground. </a:t>
            </a:r>
            <a:endParaRPr sz="900" dirty="0">
              <a:solidFill>
                <a:schemeClr val="dk1"/>
              </a:solidFill>
              <a:latin typeface="Poppins"/>
              <a:ea typeface="Poppins"/>
              <a:cs typeface="Poppins"/>
              <a:sym typeface="Poppins"/>
            </a:endParaRPr>
          </a:p>
          <a:p>
            <a:pPr marL="128588" indent="-133350">
              <a:lnSpc>
                <a:spcPct val="115000"/>
              </a:lnSpc>
              <a:buClr>
                <a:schemeClr val="dk1"/>
              </a:buClr>
              <a:buSzPts val="1000"/>
              <a:buFont typeface="Poppins"/>
              <a:buChar char="●"/>
            </a:pPr>
            <a:r>
              <a:rPr lang="en" sz="900" dirty="0">
                <a:solidFill>
                  <a:schemeClr val="dk1"/>
                </a:solidFill>
                <a:latin typeface="Poppins"/>
                <a:ea typeface="Poppins"/>
                <a:cs typeface="Poppins"/>
                <a:sym typeface="Poppins"/>
              </a:rPr>
              <a:t>Rescue workers and Japanese soldiers were used to help and the Japanese government requested help from other countries. </a:t>
            </a:r>
            <a:endParaRPr sz="900" dirty="0">
              <a:solidFill>
                <a:schemeClr val="dk1"/>
              </a:solidFill>
              <a:latin typeface="Poppins"/>
              <a:ea typeface="Poppins"/>
              <a:cs typeface="Poppins"/>
              <a:sym typeface="Poppins"/>
            </a:endParaRPr>
          </a:p>
          <a:p>
            <a:pPr marL="128588" indent="-133350">
              <a:lnSpc>
                <a:spcPct val="115000"/>
              </a:lnSpc>
              <a:buClr>
                <a:schemeClr val="dk1"/>
              </a:buClr>
              <a:buSzPts val="1000"/>
              <a:buFont typeface="Poppins"/>
              <a:buChar char="●"/>
            </a:pPr>
            <a:r>
              <a:rPr lang="en" sz="900" dirty="0">
                <a:solidFill>
                  <a:schemeClr val="dk1"/>
                </a:solidFill>
                <a:latin typeface="Poppins"/>
                <a:ea typeface="Poppins"/>
                <a:cs typeface="Poppins"/>
                <a:sym typeface="Poppins"/>
              </a:rPr>
              <a:t>Countries such as Australia, China, India, New Zealand, South Korea and America sent teams to help with search and rescue. </a:t>
            </a:r>
            <a:endParaRPr sz="900" dirty="0">
              <a:solidFill>
                <a:schemeClr val="dk1"/>
              </a:solidFill>
              <a:latin typeface="Poppins"/>
              <a:ea typeface="Poppins"/>
              <a:cs typeface="Poppins"/>
              <a:sym typeface="Poppins"/>
            </a:endParaRPr>
          </a:p>
          <a:p>
            <a:pPr marL="128588" indent="-133350">
              <a:lnSpc>
                <a:spcPct val="115000"/>
              </a:lnSpc>
              <a:buClr>
                <a:schemeClr val="dk1"/>
              </a:buClr>
              <a:buSzPts val="1000"/>
              <a:buFont typeface="Poppins"/>
              <a:buChar char="●"/>
            </a:pPr>
            <a:r>
              <a:rPr lang="en" sz="900" dirty="0">
                <a:solidFill>
                  <a:schemeClr val="dk1"/>
                </a:solidFill>
                <a:latin typeface="Poppins"/>
                <a:ea typeface="Poppins"/>
                <a:cs typeface="Poppins"/>
                <a:sym typeface="Poppins"/>
              </a:rPr>
              <a:t>Other countries and charities also provided support, such as the Red Cross. </a:t>
            </a:r>
            <a:endParaRPr sz="900" dirty="0">
              <a:solidFill>
                <a:schemeClr val="dk1"/>
              </a:solidFill>
              <a:latin typeface="Poppins"/>
              <a:ea typeface="Poppins"/>
              <a:cs typeface="Poppins"/>
              <a:sym typeface="Poppins"/>
            </a:endParaRPr>
          </a:p>
          <a:p>
            <a:pPr marL="128588" indent="-133350">
              <a:lnSpc>
                <a:spcPct val="115000"/>
              </a:lnSpc>
              <a:buClr>
                <a:schemeClr val="dk1"/>
              </a:buClr>
              <a:buSzPts val="1000"/>
              <a:buFont typeface="Poppins"/>
              <a:buChar char="●"/>
            </a:pPr>
            <a:r>
              <a:rPr lang="en" sz="900" dirty="0">
                <a:solidFill>
                  <a:schemeClr val="dk1"/>
                </a:solidFill>
                <a:latin typeface="Poppins"/>
                <a:ea typeface="Poppins"/>
                <a:cs typeface="Poppins"/>
                <a:sym typeface="Poppins"/>
              </a:rPr>
              <a:t>A year later, the Japanese government set up a group to help with building the area</a:t>
            </a:r>
            <a:endParaRPr sz="900" dirty="0">
              <a:latin typeface="Poppins"/>
              <a:ea typeface="Poppins"/>
              <a:cs typeface="Poppins"/>
              <a:sym typeface="Poppins"/>
            </a:endParaRPr>
          </a:p>
        </p:txBody>
      </p:sp>
      <p:sp>
        <p:nvSpPr>
          <p:cNvPr id="59" name="Google Shape;59;p13"/>
          <p:cNvSpPr txBox="1"/>
          <p:nvPr/>
        </p:nvSpPr>
        <p:spPr>
          <a:xfrm>
            <a:off x="0" y="2802909"/>
            <a:ext cx="3061716" cy="2139786"/>
          </a:xfrm>
          <a:prstGeom prst="rect">
            <a:avLst/>
          </a:prstGeom>
          <a:noFill/>
          <a:ln w="19050" cap="flat" cmpd="sng">
            <a:solidFill>
              <a:srgbClr val="000000"/>
            </a:solidFill>
            <a:prstDash val="solid"/>
            <a:round/>
            <a:headEnd type="none" w="sm" len="sm"/>
            <a:tailEnd type="none" w="sm" len="sm"/>
          </a:ln>
        </p:spPr>
        <p:txBody>
          <a:bodyPr spcFirstLastPara="1" wrap="square" lIns="68569" tIns="34275" rIns="68569" bIns="34275" anchor="t" anchorCtr="0">
            <a:spAutoFit/>
          </a:bodyPr>
          <a:lstStyle/>
          <a:p>
            <a:pPr>
              <a:lnSpc>
                <a:spcPct val="115000"/>
              </a:lnSpc>
              <a:buSzPts val="900"/>
            </a:pPr>
            <a:r>
              <a:rPr lang="en" sz="900" b="1" u="sng">
                <a:latin typeface="Poppins"/>
                <a:ea typeface="Poppins"/>
                <a:cs typeface="Poppins"/>
                <a:sym typeface="Poppins"/>
              </a:rPr>
              <a:t>Primary Impacts</a:t>
            </a:r>
            <a:endParaRPr sz="900" b="1" u="sng">
              <a:latin typeface="Poppins"/>
              <a:ea typeface="Poppins"/>
              <a:cs typeface="Poppins"/>
              <a:sym typeface="Poppins"/>
            </a:endParaRPr>
          </a:p>
          <a:p>
            <a:pPr marL="128588" indent="-128588">
              <a:lnSpc>
                <a:spcPct val="115000"/>
              </a:lnSpc>
              <a:buSzPts val="1000"/>
              <a:buFont typeface="Poppins"/>
              <a:buChar char="o"/>
            </a:pPr>
            <a:r>
              <a:rPr lang="en" sz="900">
                <a:latin typeface="Poppins"/>
                <a:ea typeface="Poppins"/>
                <a:cs typeface="Poppins"/>
                <a:sym typeface="Poppins"/>
              </a:rPr>
              <a:t>Between 667-1479 deaths that caused by collapsing buildings. </a:t>
            </a:r>
            <a:endParaRPr sz="900">
              <a:latin typeface="Poppins"/>
              <a:ea typeface="Poppins"/>
              <a:cs typeface="Poppins"/>
              <a:sym typeface="Poppins"/>
            </a:endParaRPr>
          </a:p>
          <a:p>
            <a:pPr marL="128588" indent="-128588">
              <a:lnSpc>
                <a:spcPct val="115000"/>
              </a:lnSpc>
              <a:buSzPts val="1000"/>
              <a:buFont typeface="Poppins"/>
              <a:buChar char="o"/>
            </a:pPr>
            <a:r>
              <a:rPr lang="en" sz="900">
                <a:latin typeface="Poppins"/>
                <a:ea typeface="Poppins"/>
                <a:cs typeface="Poppins"/>
                <a:sym typeface="Poppins"/>
              </a:rPr>
              <a:t>More than 130,000 people were made homeless.</a:t>
            </a:r>
            <a:endParaRPr sz="900">
              <a:latin typeface="Poppins"/>
              <a:ea typeface="Poppins"/>
              <a:cs typeface="Poppins"/>
              <a:sym typeface="Poppins"/>
            </a:endParaRPr>
          </a:p>
          <a:p>
            <a:pPr marL="128588" indent="-128588">
              <a:lnSpc>
                <a:spcPct val="115000"/>
              </a:lnSpc>
              <a:buSzPts val="1000"/>
              <a:buFont typeface="Poppins"/>
              <a:buChar char="o"/>
            </a:pPr>
            <a:r>
              <a:rPr lang="en" sz="900">
                <a:latin typeface="Poppins"/>
                <a:ea typeface="Poppins"/>
                <a:cs typeface="Poppins"/>
                <a:sym typeface="Poppins"/>
              </a:rPr>
              <a:t>More than 1000 buildings were severely damaged, as well as roads and railways.</a:t>
            </a:r>
            <a:endParaRPr sz="900">
              <a:latin typeface="Poppins"/>
              <a:ea typeface="Poppins"/>
              <a:cs typeface="Poppins"/>
              <a:sym typeface="Poppins"/>
            </a:endParaRPr>
          </a:p>
          <a:p>
            <a:pPr marL="128588" indent="-128588">
              <a:lnSpc>
                <a:spcPct val="115000"/>
              </a:lnSpc>
              <a:buSzPts val="1000"/>
              <a:buFont typeface="Poppins"/>
              <a:buChar char="o"/>
            </a:pPr>
            <a:r>
              <a:rPr lang="en" sz="900">
                <a:latin typeface="Poppins"/>
                <a:ea typeface="Poppins"/>
                <a:cs typeface="Poppins"/>
                <a:sym typeface="Poppins"/>
              </a:rPr>
              <a:t>Disruption to electric power, water and sewage systems. </a:t>
            </a:r>
            <a:endParaRPr sz="900">
              <a:latin typeface="Poppins"/>
              <a:ea typeface="Poppins"/>
              <a:cs typeface="Poppins"/>
              <a:sym typeface="Poppins"/>
            </a:endParaRPr>
          </a:p>
          <a:p>
            <a:pPr marL="128588" indent="-128588">
              <a:lnSpc>
                <a:spcPct val="115000"/>
              </a:lnSpc>
              <a:buSzPts val="1000"/>
              <a:buFont typeface="Poppins"/>
              <a:buChar char="o"/>
            </a:pPr>
            <a:r>
              <a:rPr lang="en" sz="900">
                <a:latin typeface="Poppins"/>
                <a:ea typeface="Poppins"/>
                <a:cs typeface="Poppins"/>
                <a:sym typeface="Poppins"/>
              </a:rPr>
              <a:t>The earthquake damaged the main power source that supported several nuclear power stations causing the Fukushima Nuclear Disaster. This was the worst nuclear disaster since Chernobyl in 1986.</a:t>
            </a:r>
            <a:endParaRPr sz="900">
              <a:latin typeface="Poppins"/>
              <a:ea typeface="Poppins"/>
              <a:cs typeface="Poppins"/>
              <a:sym typeface="Poppins"/>
            </a:endParaRPr>
          </a:p>
        </p:txBody>
      </p:sp>
      <p:sp>
        <p:nvSpPr>
          <p:cNvPr id="60" name="Google Shape;60;p13"/>
          <p:cNvSpPr txBox="1"/>
          <p:nvPr/>
        </p:nvSpPr>
        <p:spPr>
          <a:xfrm>
            <a:off x="5631366" y="2273491"/>
            <a:ext cx="3379142" cy="1821238"/>
          </a:xfrm>
          <a:prstGeom prst="rect">
            <a:avLst/>
          </a:prstGeom>
          <a:noFill/>
          <a:ln w="19050" cap="flat" cmpd="sng">
            <a:solidFill>
              <a:srgbClr val="000000"/>
            </a:solidFill>
            <a:prstDash val="solid"/>
            <a:round/>
            <a:headEnd type="none" w="sm" len="sm"/>
            <a:tailEnd type="none" w="sm" len="sm"/>
          </a:ln>
        </p:spPr>
        <p:txBody>
          <a:bodyPr spcFirstLastPara="1" wrap="square" lIns="68569" tIns="34275" rIns="68569" bIns="34275" anchor="t" anchorCtr="0">
            <a:spAutoFit/>
          </a:bodyPr>
          <a:lstStyle/>
          <a:p>
            <a:pPr>
              <a:lnSpc>
                <a:spcPct val="115000"/>
              </a:lnSpc>
              <a:buSzPts val="900"/>
            </a:pPr>
            <a:r>
              <a:rPr lang="en" sz="900" b="1" u="sng" dirty="0">
                <a:latin typeface="Poppins"/>
                <a:ea typeface="Poppins"/>
                <a:cs typeface="Poppins"/>
                <a:sym typeface="Poppins"/>
              </a:rPr>
              <a:t>Secondary Impacts</a:t>
            </a:r>
            <a:endParaRPr sz="900" b="1" u="sng" dirty="0">
              <a:latin typeface="Poppins"/>
              <a:ea typeface="Poppins"/>
              <a:cs typeface="Poppins"/>
              <a:sym typeface="Poppins"/>
            </a:endParaRPr>
          </a:p>
          <a:p>
            <a:pPr marL="171450" indent="-171450">
              <a:lnSpc>
                <a:spcPct val="115000"/>
              </a:lnSpc>
              <a:buSzPts val="1000"/>
              <a:buFont typeface="Poppins"/>
              <a:buChar char="o"/>
            </a:pPr>
            <a:r>
              <a:rPr lang="en" sz="900" dirty="0">
                <a:latin typeface="Poppins"/>
                <a:ea typeface="Poppins"/>
                <a:cs typeface="Poppins"/>
                <a:sym typeface="Poppins"/>
              </a:rPr>
              <a:t>A tsunami which caused over 17, 000 deaths by drowning</a:t>
            </a:r>
            <a:endParaRPr sz="900" dirty="0">
              <a:latin typeface="Poppins"/>
              <a:ea typeface="Poppins"/>
              <a:cs typeface="Poppins"/>
              <a:sym typeface="Poppins"/>
            </a:endParaRPr>
          </a:p>
          <a:p>
            <a:pPr marL="171450" indent="-171450">
              <a:lnSpc>
                <a:spcPct val="115000"/>
              </a:lnSpc>
              <a:buSzPts val="1000"/>
              <a:buFont typeface="Poppins"/>
              <a:buChar char="o"/>
            </a:pPr>
            <a:r>
              <a:rPr lang="en" sz="900" dirty="0">
                <a:latin typeface="Poppins"/>
                <a:ea typeface="Poppins"/>
                <a:cs typeface="Poppins"/>
                <a:sym typeface="Poppins"/>
              </a:rPr>
              <a:t>Damage caused to 1.2 million buildings, 2000 roads, 56 bridges and 26 railways as a result of the tsunami</a:t>
            </a:r>
            <a:endParaRPr sz="900" dirty="0">
              <a:latin typeface="Poppins"/>
              <a:ea typeface="Poppins"/>
              <a:cs typeface="Poppins"/>
              <a:sym typeface="Poppins"/>
            </a:endParaRPr>
          </a:p>
          <a:p>
            <a:pPr marL="171450" indent="-171450">
              <a:lnSpc>
                <a:spcPct val="115000"/>
              </a:lnSpc>
              <a:buSzPts val="1000"/>
              <a:buFont typeface="Poppins"/>
              <a:buChar char="o"/>
            </a:pPr>
            <a:r>
              <a:rPr lang="en" sz="900" dirty="0">
                <a:latin typeface="Poppins"/>
                <a:ea typeface="Poppins"/>
                <a:cs typeface="Poppins"/>
                <a:sym typeface="Poppins"/>
              </a:rPr>
              <a:t>The damage cost US$300 billion</a:t>
            </a:r>
            <a:endParaRPr sz="900" dirty="0">
              <a:latin typeface="Poppins"/>
              <a:ea typeface="Poppins"/>
              <a:cs typeface="Poppins"/>
              <a:sym typeface="Poppins"/>
            </a:endParaRPr>
          </a:p>
          <a:p>
            <a:pPr marL="171450" indent="-171450">
              <a:lnSpc>
                <a:spcPct val="115000"/>
              </a:lnSpc>
              <a:buSzPts val="1000"/>
              <a:buFont typeface="Poppins"/>
              <a:buChar char="o"/>
            </a:pPr>
            <a:r>
              <a:rPr lang="en" sz="900" dirty="0">
                <a:latin typeface="Poppins"/>
                <a:ea typeface="Poppins"/>
                <a:cs typeface="Poppins"/>
                <a:sym typeface="Poppins"/>
              </a:rPr>
              <a:t>It took nearly 6 months for Japan to start recovering from the loss of business</a:t>
            </a:r>
            <a:endParaRPr sz="900" dirty="0">
              <a:latin typeface="Poppins"/>
              <a:ea typeface="Poppins"/>
              <a:cs typeface="Poppins"/>
              <a:sym typeface="Poppins"/>
            </a:endParaRPr>
          </a:p>
          <a:p>
            <a:pPr marL="171450" indent="-171450">
              <a:lnSpc>
                <a:spcPct val="115000"/>
              </a:lnSpc>
              <a:buSzPts val="1000"/>
              <a:buFont typeface="Poppins"/>
              <a:buChar char="o"/>
            </a:pPr>
            <a:r>
              <a:rPr lang="en" sz="900" dirty="0">
                <a:latin typeface="Poppins"/>
                <a:ea typeface="Poppins"/>
                <a:cs typeface="Poppins"/>
                <a:sym typeface="Poppins"/>
              </a:rPr>
              <a:t>The tsunami caused environmental damage as it took radioactive material from Fukushima back out to the Pacific Ocean</a:t>
            </a:r>
            <a:endParaRPr sz="900" dirty="0">
              <a:latin typeface="Poppins"/>
              <a:ea typeface="Poppins"/>
              <a:cs typeface="Poppins"/>
              <a:sym typeface="Poppins"/>
            </a:endParaRPr>
          </a:p>
        </p:txBody>
      </p:sp>
      <p:pic>
        <p:nvPicPr>
          <p:cNvPr id="61" name="Google Shape;61;p13"/>
          <p:cNvPicPr preferRelativeResize="0"/>
          <p:nvPr/>
        </p:nvPicPr>
        <p:blipFill rotWithShape="1">
          <a:blip r:embed="rId4">
            <a:alphaModFix/>
          </a:blip>
          <a:srcRect b="17171"/>
          <a:stretch/>
        </p:blipFill>
        <p:spPr>
          <a:xfrm>
            <a:off x="3600262" y="2881136"/>
            <a:ext cx="1943475" cy="1055400"/>
          </a:xfrm>
          <a:prstGeom prst="rect">
            <a:avLst/>
          </a:prstGeom>
          <a:noFill/>
          <a:ln w="9525" cap="flat" cmpd="sng">
            <a:solidFill>
              <a:schemeClr val="dk1"/>
            </a:solidFill>
            <a:prstDash val="solid"/>
            <a:round/>
            <a:headEnd type="none" w="sm" len="sm"/>
            <a:tailEnd type="none" w="sm" len="sm"/>
          </a:ln>
        </p:spPr>
      </p:pic>
      <p:pic>
        <p:nvPicPr>
          <p:cNvPr id="62" name="Google Shape;62;p13"/>
          <p:cNvPicPr preferRelativeResize="0"/>
          <p:nvPr/>
        </p:nvPicPr>
        <p:blipFill>
          <a:blip r:embed="rId5">
            <a:alphaModFix/>
          </a:blip>
          <a:stretch>
            <a:fillRect/>
          </a:stretch>
        </p:blipFill>
        <p:spPr>
          <a:xfrm>
            <a:off x="7440900" y="-415050"/>
            <a:ext cx="426000" cy="426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p:nvPr/>
        </p:nvSpPr>
        <p:spPr>
          <a:xfrm>
            <a:off x="106800" y="1111250"/>
            <a:ext cx="4230300" cy="3855000"/>
          </a:xfrm>
          <a:prstGeom prst="rect">
            <a:avLst/>
          </a:prstGeom>
          <a:solidFill>
            <a:srgbClr val="FFF2CC"/>
          </a:solidFill>
          <a:ln>
            <a:noFill/>
          </a:ln>
        </p:spPr>
        <p:txBody>
          <a:bodyPr spcFirstLastPara="1" wrap="square" lIns="68575" tIns="34275" rIns="68575" bIns="34275" anchor="t" anchorCtr="0">
            <a:noAutofit/>
          </a:bodyPr>
          <a:lstStyle/>
          <a:p>
            <a:pPr marL="0" marR="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 2:</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Read the knowledge organiser to create a case study summary:</a:t>
            </a:r>
            <a:endParaRPr sz="1800">
              <a:solidFill>
                <a:schemeClr val="dk1"/>
              </a:solidFill>
              <a:latin typeface="Baumans"/>
              <a:ea typeface="Baumans"/>
              <a:cs typeface="Baumans"/>
              <a:sym typeface="Baumans"/>
            </a:endParaRPr>
          </a:p>
          <a:p>
            <a:pPr marL="0" marR="0" lvl="0" indent="0" algn="l" rtl="0">
              <a:lnSpc>
                <a:spcPct val="115000"/>
              </a:lnSpc>
              <a:spcBef>
                <a:spcPts val="0"/>
              </a:spcBef>
              <a:spcAft>
                <a:spcPts val="0"/>
              </a:spcAft>
              <a:buNone/>
            </a:pPr>
            <a:r>
              <a:rPr lang="en" sz="1800" b="1">
                <a:solidFill>
                  <a:schemeClr val="dk1"/>
                </a:solidFill>
                <a:latin typeface="Baumans"/>
                <a:ea typeface="Baumans"/>
                <a:cs typeface="Baumans"/>
                <a:sym typeface="Baumans"/>
              </a:rPr>
              <a:t>Your summary should include:</a:t>
            </a:r>
            <a:endParaRPr sz="1800" b="1">
              <a:solidFill>
                <a:schemeClr val="dk1"/>
              </a:solidFill>
              <a:latin typeface="Baumans"/>
              <a:ea typeface="Baumans"/>
              <a:cs typeface="Baumans"/>
              <a:sym typeface="Baumans"/>
            </a:endParaRPr>
          </a:p>
          <a:p>
            <a:pPr marL="457200" marR="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An annotated diagram of the tsunami.</a:t>
            </a:r>
            <a:endParaRPr sz="1800">
              <a:solidFill>
                <a:schemeClr val="dk1"/>
              </a:solidFill>
              <a:latin typeface="Baumans"/>
              <a:ea typeface="Baumans"/>
              <a:cs typeface="Baumans"/>
              <a:sym typeface="Baumans"/>
            </a:endParaRPr>
          </a:p>
          <a:p>
            <a:pPr marL="457200" marR="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What happened?</a:t>
            </a:r>
            <a:endParaRPr sz="1800">
              <a:solidFill>
                <a:schemeClr val="dk1"/>
              </a:solidFill>
              <a:latin typeface="Baumans"/>
              <a:ea typeface="Baumans"/>
              <a:cs typeface="Baumans"/>
              <a:sym typeface="Baumans"/>
            </a:endParaRPr>
          </a:p>
          <a:p>
            <a:pPr marL="457200" marR="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Social and economic impacts.</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Why was this earthquake particularly significant?</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Whether the primary or secondary impacts were more severe?</a:t>
            </a:r>
            <a:endParaRPr sz="1800">
              <a:solidFill>
                <a:schemeClr val="dk1"/>
              </a:solidFill>
              <a:latin typeface="Baumans"/>
              <a:ea typeface="Baumans"/>
              <a:cs typeface="Baumans"/>
              <a:sym typeface="Baumans"/>
            </a:endParaRPr>
          </a:p>
        </p:txBody>
      </p:sp>
      <p:pic>
        <p:nvPicPr>
          <p:cNvPr id="140" name="Google Shape;140;p23"/>
          <p:cNvPicPr preferRelativeResize="0"/>
          <p:nvPr/>
        </p:nvPicPr>
        <p:blipFill rotWithShape="1">
          <a:blip r:embed="rId3">
            <a:alphaModFix/>
          </a:blip>
          <a:srcRect l="27312" t="33747" r="11228" b="12973"/>
          <a:stretch/>
        </p:blipFill>
        <p:spPr>
          <a:xfrm>
            <a:off x="4416013" y="1371125"/>
            <a:ext cx="4573373" cy="2578476"/>
          </a:xfrm>
          <a:prstGeom prst="rect">
            <a:avLst/>
          </a:prstGeom>
          <a:noFill/>
          <a:ln>
            <a:noFill/>
          </a:ln>
        </p:spPr>
      </p:pic>
      <p:sp>
        <p:nvSpPr>
          <p:cNvPr id="141" name="Google Shape;141;p23"/>
          <p:cNvSpPr txBox="1">
            <a:spLocks noGrp="1"/>
          </p:cNvSpPr>
          <p:nvPr>
            <p:ph type="title"/>
          </p:nvPr>
        </p:nvSpPr>
        <p:spPr>
          <a:xfrm>
            <a:off x="77875" y="654875"/>
            <a:ext cx="8802900" cy="36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 sz="2020">
                <a:highlight>
                  <a:schemeClr val="lt1"/>
                </a:highlight>
                <a:latin typeface="Fugaz One"/>
                <a:ea typeface="Fugaz One"/>
                <a:cs typeface="Fugaz One"/>
                <a:sym typeface="Fugaz One"/>
              </a:rPr>
              <a:t>Case study: Japan 2011</a:t>
            </a:r>
            <a:endParaRPr sz="2020">
              <a:highlight>
                <a:schemeClr val="lt1"/>
              </a:highlight>
              <a:latin typeface="Fugaz One"/>
              <a:ea typeface="Fugaz One"/>
              <a:cs typeface="Fugaz One"/>
              <a:sym typeface="Fugaz One"/>
            </a:endParaRPr>
          </a:p>
        </p:txBody>
      </p:sp>
      <p:sp>
        <p:nvSpPr>
          <p:cNvPr id="142" name="Google Shape;142;p23"/>
          <p:cNvSpPr txBox="1"/>
          <p:nvPr/>
        </p:nvSpPr>
        <p:spPr>
          <a:xfrm>
            <a:off x="4415950" y="798425"/>
            <a:ext cx="34401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latin typeface="Patrick Hand"/>
                <a:ea typeface="Patrick Hand"/>
                <a:cs typeface="Patrick Hand"/>
                <a:sym typeface="Patrick Hand"/>
              </a:rPr>
              <a:t>Geography skills: Case Study Creation</a:t>
            </a:r>
            <a:endParaRPr sz="1800" b="1">
              <a:latin typeface="Patrick Hand"/>
              <a:ea typeface="Patrick Hand"/>
              <a:cs typeface="Patrick Hand"/>
              <a:sym typeface="Patrick Hand"/>
            </a:endParaRPr>
          </a:p>
        </p:txBody>
      </p:sp>
      <p:grpSp>
        <p:nvGrpSpPr>
          <p:cNvPr id="143" name="Google Shape;143;p23"/>
          <p:cNvGrpSpPr/>
          <p:nvPr/>
        </p:nvGrpSpPr>
        <p:grpSpPr>
          <a:xfrm>
            <a:off x="4416021" y="4108468"/>
            <a:ext cx="598974" cy="728981"/>
            <a:chOff x="5426175" y="139294"/>
            <a:chExt cx="946695" cy="1152356"/>
          </a:xfrm>
        </p:grpSpPr>
        <p:pic>
          <p:nvPicPr>
            <p:cNvPr id="144" name="Google Shape;144;p23"/>
            <p:cNvPicPr preferRelativeResize="0"/>
            <p:nvPr/>
          </p:nvPicPr>
          <p:blipFill>
            <a:blip r:embed="rId4">
              <a:alphaModFix/>
            </a:blip>
            <a:stretch>
              <a:fillRect/>
            </a:stretch>
          </p:blipFill>
          <p:spPr>
            <a:xfrm>
              <a:off x="5469469" y="139300"/>
              <a:ext cx="903401" cy="1152350"/>
            </a:xfrm>
            <a:prstGeom prst="rect">
              <a:avLst/>
            </a:prstGeom>
            <a:noFill/>
            <a:ln>
              <a:noFill/>
            </a:ln>
          </p:spPr>
        </p:pic>
        <p:pic>
          <p:nvPicPr>
            <p:cNvPr id="145" name="Google Shape;145;p23" descr="a cartoon drawing of a fire with a flame coming out of it (Provided by Tenor)"/>
            <p:cNvPicPr preferRelativeResize="0"/>
            <p:nvPr/>
          </p:nvPicPr>
          <p:blipFill>
            <a:blip r:embed="rId5">
              <a:alphaModFix/>
            </a:blip>
            <a:stretch>
              <a:fillRect/>
            </a:stretch>
          </p:blipFill>
          <p:spPr>
            <a:xfrm>
              <a:off x="5426175" y="139294"/>
              <a:ext cx="341075" cy="391706"/>
            </a:xfrm>
            <a:prstGeom prst="rect">
              <a:avLst/>
            </a:prstGeom>
            <a:noFill/>
            <a:ln>
              <a:noFill/>
            </a:ln>
          </p:spPr>
        </p:pic>
      </p:grpSp>
      <p:sp>
        <p:nvSpPr>
          <p:cNvPr id="146" name="Google Shape;146;p23"/>
          <p:cNvSpPr txBox="1"/>
          <p:nvPr/>
        </p:nvSpPr>
        <p:spPr>
          <a:xfrm>
            <a:off x="5082050" y="3949600"/>
            <a:ext cx="39072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FFFF"/>
                </a:solidFill>
                <a:highlight>
                  <a:srgbClr val="CE0925"/>
                </a:highlight>
                <a:latin typeface="Poppins"/>
                <a:ea typeface="Poppins"/>
                <a:cs typeface="Poppins"/>
                <a:sym typeface="Poppins"/>
              </a:rPr>
              <a:t>Compare the 2011 Japan earthquake and tsunami with a volcanic eruption you have studied, thinking about their causes, impacts, responses and which was more severe.</a:t>
            </a:r>
            <a:endParaRPr b="1">
              <a:solidFill>
                <a:srgbClr val="FFFFFF"/>
              </a:solidFill>
              <a:highlight>
                <a:srgbClr val="CE0925"/>
              </a:highlight>
              <a:latin typeface="Poppins"/>
              <a:ea typeface="Poppins"/>
              <a:cs typeface="Poppins"/>
              <a:sym typeface="Poppins"/>
            </a:endParaRPr>
          </a:p>
        </p:txBody>
      </p:sp>
      <p:sp>
        <p:nvSpPr>
          <p:cNvPr id="147" name="Google Shape;147;p23"/>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pic>
        <p:nvPicPr>
          <p:cNvPr id="148" name="Google Shape;148;p23" descr="Watch the Extended version here: https://www.youtube.com/watch?v=IBtidcHE0pA&#10;&#10;&#10;Brighten up your study or classroom sessions with this 15-minute timer featuring a cheerful smiley face background and relaxing lo-fi music. Perfect for maintaining focus and productivity, this timer helps create a positive atmosphere for students and anyone looking to stay on task. Whether you're in the classroom or studying at home, this friendly and calming timer will keep you motivated and on track. Hit play and let the smiley face and chill lo-fi beats guide you through a focused 15 minutes of productivity.&#10;&#10;🔥 Before you go—click the playlist and keep your vibe alive.&#10;👀 Don’t scroll away—your next favorite timer is right here.&#10;&#10;https://youtu.be/aoN4zb2_U1s?si=OfBPT5jk0TdUTxKY&#10;&#10;&#10;Copyright Notice:&#10;All content on this channel, including music and visuals, is exclusively created and licensed for use by Chill Countdown Timers. Reuse, remixing, or redistribution of any kind — even with credit — is strictly prohibited. Unauthorized use may result in takedown notices." title="15 Minute timer with relaxing music">
            <a:hlinkClick r:id="rId6"/>
          </p:cNvPr>
          <p:cNvPicPr preferRelativeResize="0"/>
          <p:nvPr/>
        </p:nvPicPr>
        <p:blipFill>
          <a:blip r:embed="rId7">
            <a:alphaModFix/>
          </a:blip>
          <a:stretch>
            <a:fillRect/>
          </a:stretch>
        </p:blipFill>
        <p:spPr>
          <a:xfrm>
            <a:off x="7878375" y="639337"/>
            <a:ext cx="1158825" cy="6518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A986B4-4D83-13F8-8F84-38FB38FCCFA3}"/>
              </a:ext>
            </a:extLst>
          </p:cNvPr>
          <p:cNvPicPr>
            <a:picLocks noChangeAspect="1"/>
          </p:cNvPicPr>
          <p:nvPr/>
        </p:nvPicPr>
        <p:blipFill>
          <a:blip r:embed="rId2"/>
          <a:stretch>
            <a:fillRect/>
          </a:stretch>
        </p:blipFill>
        <p:spPr>
          <a:xfrm>
            <a:off x="0" y="0"/>
            <a:ext cx="4696239" cy="5143500"/>
          </a:xfrm>
          <a:prstGeom prst="rect">
            <a:avLst/>
          </a:prstGeom>
        </p:spPr>
      </p:pic>
      <p:pic>
        <p:nvPicPr>
          <p:cNvPr id="5" name="Picture 4">
            <a:extLst>
              <a:ext uri="{FF2B5EF4-FFF2-40B4-BE49-F238E27FC236}">
                <a16:creationId xmlns:a16="http://schemas.microsoft.com/office/drawing/2014/main" id="{79ACD233-2537-9761-A8F1-4F7A5805B46F}"/>
              </a:ext>
            </a:extLst>
          </p:cNvPr>
          <p:cNvPicPr>
            <a:picLocks noChangeAspect="1"/>
          </p:cNvPicPr>
          <p:nvPr/>
        </p:nvPicPr>
        <p:blipFill>
          <a:blip r:embed="rId3"/>
          <a:stretch>
            <a:fillRect/>
          </a:stretch>
        </p:blipFill>
        <p:spPr>
          <a:xfrm>
            <a:off x="4675478" y="0"/>
            <a:ext cx="4468522" cy="5143500"/>
          </a:xfrm>
          <a:prstGeom prst="rect">
            <a:avLst/>
          </a:prstGeom>
        </p:spPr>
      </p:pic>
    </p:spTree>
    <p:extLst>
      <p:ext uri="{BB962C8B-B14F-4D97-AF65-F5344CB8AC3E}">
        <p14:creationId xmlns:p14="http://schemas.microsoft.com/office/powerpoint/2010/main" val="1077086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6DBDE2-8DB2-74D7-FC56-94F92F5CB841}"/>
              </a:ext>
            </a:extLst>
          </p:cNvPr>
          <p:cNvPicPr>
            <a:picLocks noChangeAspect="1"/>
          </p:cNvPicPr>
          <p:nvPr/>
        </p:nvPicPr>
        <p:blipFill>
          <a:blip r:embed="rId2"/>
          <a:stretch>
            <a:fillRect/>
          </a:stretch>
        </p:blipFill>
        <p:spPr>
          <a:xfrm>
            <a:off x="117230" y="866042"/>
            <a:ext cx="4759693" cy="3411415"/>
          </a:xfrm>
          <a:prstGeom prst="rect">
            <a:avLst/>
          </a:prstGeom>
        </p:spPr>
      </p:pic>
      <p:pic>
        <p:nvPicPr>
          <p:cNvPr id="5" name="Picture 4">
            <a:extLst>
              <a:ext uri="{FF2B5EF4-FFF2-40B4-BE49-F238E27FC236}">
                <a16:creationId xmlns:a16="http://schemas.microsoft.com/office/drawing/2014/main" id="{8CCF7CB4-00ED-2DC2-9C06-167A145D02BC}"/>
              </a:ext>
            </a:extLst>
          </p:cNvPr>
          <p:cNvPicPr>
            <a:picLocks noChangeAspect="1"/>
          </p:cNvPicPr>
          <p:nvPr/>
        </p:nvPicPr>
        <p:blipFill>
          <a:blip r:embed="rId3"/>
          <a:stretch>
            <a:fillRect/>
          </a:stretch>
        </p:blipFill>
        <p:spPr>
          <a:xfrm>
            <a:off x="5095989" y="866041"/>
            <a:ext cx="3930782" cy="3411415"/>
          </a:xfrm>
          <a:prstGeom prst="rect">
            <a:avLst/>
          </a:prstGeom>
        </p:spPr>
      </p:pic>
    </p:spTree>
    <p:extLst>
      <p:ext uri="{BB962C8B-B14F-4D97-AF65-F5344CB8AC3E}">
        <p14:creationId xmlns:p14="http://schemas.microsoft.com/office/powerpoint/2010/main" val="103296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a:spLocks noGrp="1"/>
          </p:cNvSpPr>
          <p:nvPr>
            <p:ph type="title"/>
          </p:nvPr>
        </p:nvSpPr>
        <p:spPr>
          <a:xfrm>
            <a:off x="77875" y="654875"/>
            <a:ext cx="8802900" cy="36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 sz="2020">
                <a:highlight>
                  <a:schemeClr val="lt1"/>
                </a:highlight>
                <a:latin typeface="Fugaz One"/>
                <a:ea typeface="Fugaz One"/>
                <a:cs typeface="Fugaz One"/>
                <a:sym typeface="Fugaz One"/>
              </a:rPr>
              <a:t>Case study: Japan 2011</a:t>
            </a:r>
            <a:endParaRPr sz="2020">
              <a:highlight>
                <a:schemeClr val="lt1"/>
              </a:highlight>
              <a:latin typeface="Fugaz One"/>
              <a:ea typeface="Fugaz One"/>
              <a:cs typeface="Fugaz One"/>
              <a:sym typeface="Fugaz One"/>
            </a:endParaRPr>
          </a:p>
        </p:txBody>
      </p:sp>
      <p:sp>
        <p:nvSpPr>
          <p:cNvPr id="154" name="Google Shape;154;p24"/>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
        <p:nvSpPr>
          <p:cNvPr id="155" name="Google Shape;155;p24"/>
          <p:cNvSpPr/>
          <p:nvPr/>
        </p:nvSpPr>
        <p:spPr>
          <a:xfrm>
            <a:off x="6990238" y="1111250"/>
            <a:ext cx="2049300" cy="3585600"/>
          </a:xfrm>
          <a:prstGeom prst="rect">
            <a:avLst/>
          </a:prstGeom>
          <a:noFill/>
          <a:ln>
            <a:noFill/>
          </a:ln>
        </p:spPr>
        <p:txBody>
          <a:bodyPr spcFirstLastPara="1" wrap="square" lIns="68575" tIns="34275" rIns="68575" bIns="34275" anchor="ctr" anchorCtr="0">
            <a:noAutofit/>
          </a:bodyPr>
          <a:lstStyle/>
          <a:p>
            <a:pPr marL="0" marR="0" lvl="0" indent="0" algn="ctr" rtl="0">
              <a:lnSpc>
                <a:spcPct val="115000"/>
              </a:lnSpc>
              <a:spcBef>
                <a:spcPts val="0"/>
              </a:spcBef>
              <a:spcAft>
                <a:spcPts val="0"/>
              </a:spcAft>
              <a:buClr>
                <a:srgbClr val="000000"/>
              </a:buClr>
              <a:buSzPts val="1700"/>
              <a:buFont typeface="Arial"/>
              <a:buNone/>
            </a:pPr>
            <a:r>
              <a:rPr lang="en" sz="2000" b="1" u="none" strike="noStrike" cap="none">
                <a:solidFill>
                  <a:srgbClr val="0000FF"/>
                </a:solidFill>
                <a:latin typeface="Patrick Hand"/>
                <a:ea typeface="Patrick Hand"/>
                <a:cs typeface="Patrick Hand"/>
                <a:sym typeface="Patrick Hand"/>
              </a:rPr>
              <a:t>It is important that disaster relief teams and aid reach affected areas as soon as possible after the earthquake to minimise the secondary effects.</a:t>
            </a:r>
            <a:endParaRPr sz="2000" b="1" u="none" strike="noStrike" cap="none">
              <a:solidFill>
                <a:srgbClr val="0000FF"/>
              </a:solidFill>
              <a:latin typeface="Patrick Hand"/>
              <a:ea typeface="Patrick Hand"/>
              <a:cs typeface="Patrick Hand"/>
              <a:sym typeface="Patrick Hand"/>
            </a:endParaRPr>
          </a:p>
        </p:txBody>
      </p:sp>
      <p:sp>
        <p:nvSpPr>
          <p:cNvPr id="156" name="Google Shape;156;p24"/>
          <p:cNvSpPr/>
          <p:nvPr/>
        </p:nvSpPr>
        <p:spPr>
          <a:xfrm>
            <a:off x="104463" y="1144875"/>
            <a:ext cx="4115700" cy="1320000"/>
          </a:xfrm>
          <a:prstGeom prst="rect">
            <a:avLst/>
          </a:prstGeom>
          <a:solidFill>
            <a:srgbClr val="FFF2CC"/>
          </a:solidFill>
          <a:ln>
            <a:noFill/>
          </a:ln>
        </p:spPr>
        <p:txBody>
          <a:bodyPr spcFirstLastPara="1" wrap="square" lIns="68575" tIns="34275" rIns="68575" bIns="3427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1800" b="1">
                <a:solidFill>
                  <a:schemeClr val="dk1"/>
                </a:solidFill>
                <a:highlight>
                  <a:srgbClr val="00FF00"/>
                </a:highlight>
                <a:latin typeface="Baumans"/>
                <a:ea typeface="Baumans"/>
                <a:cs typeface="Baumans"/>
                <a:sym typeface="Baumans"/>
              </a:rPr>
              <a:t>Activity 3</a:t>
            </a:r>
            <a:r>
              <a:rPr lang="en" sz="1800" b="1" i="0" u="none" strike="noStrike" cap="none">
                <a:solidFill>
                  <a:schemeClr val="dk1"/>
                </a:solidFill>
                <a:highlight>
                  <a:srgbClr val="00FF00"/>
                </a:highlight>
                <a:latin typeface="Baumans"/>
                <a:ea typeface="Baumans"/>
                <a:cs typeface="Baumans"/>
                <a:sym typeface="Baumans"/>
              </a:rPr>
              <a:t>:</a:t>
            </a:r>
            <a:r>
              <a:rPr lang="en" sz="1800" b="1" i="0" u="none" strike="noStrike" cap="none">
                <a:solidFill>
                  <a:schemeClr val="dk1"/>
                </a:solidFill>
                <a:latin typeface="Baumans"/>
                <a:ea typeface="Baumans"/>
                <a:cs typeface="Baumans"/>
                <a:sym typeface="Baumans"/>
              </a:rPr>
              <a:t> </a:t>
            </a:r>
            <a:r>
              <a:rPr lang="en" sz="1800" i="0" u="none" strike="noStrike" cap="none">
                <a:solidFill>
                  <a:schemeClr val="dk1"/>
                </a:solidFill>
                <a:latin typeface="Baumans"/>
                <a:ea typeface="Baumans"/>
                <a:cs typeface="Baumans"/>
                <a:sym typeface="Baumans"/>
              </a:rPr>
              <a:t>You work for the Red Cross.  In your teams, you must decide what aid you will send to help the people of Japan. </a:t>
            </a:r>
            <a:endParaRPr sz="1800" i="0" u="none" strike="noStrike" cap="none">
              <a:solidFill>
                <a:srgbClr val="000000"/>
              </a:solidFill>
              <a:latin typeface="Baumans"/>
              <a:ea typeface="Baumans"/>
              <a:cs typeface="Baumans"/>
              <a:sym typeface="Baumans"/>
            </a:endParaRPr>
          </a:p>
        </p:txBody>
      </p:sp>
      <p:sp>
        <p:nvSpPr>
          <p:cNvPr id="157" name="Google Shape;157;p24"/>
          <p:cNvSpPr txBox="1"/>
          <p:nvPr/>
        </p:nvSpPr>
        <p:spPr>
          <a:xfrm>
            <a:off x="104463" y="2464875"/>
            <a:ext cx="4115700" cy="22320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You have a budget of </a:t>
            </a:r>
            <a:r>
              <a:rPr lang="en" sz="1800" b="1">
                <a:solidFill>
                  <a:schemeClr val="dk1"/>
                </a:solidFill>
                <a:latin typeface="Baumans"/>
                <a:ea typeface="Baumans"/>
                <a:cs typeface="Baumans"/>
                <a:sym typeface="Baumans"/>
              </a:rPr>
              <a:t>$25,000,000</a:t>
            </a:r>
            <a:endParaRPr sz="18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10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Make your choices and complete the decision sheet as a group to explain your choices.</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AutoNum type="arabicPeriod"/>
            </a:pPr>
            <a:r>
              <a:rPr lang="en" sz="1800">
                <a:solidFill>
                  <a:schemeClr val="dk1"/>
                </a:solidFill>
                <a:latin typeface="Baumans"/>
                <a:ea typeface="Baumans"/>
                <a:cs typeface="Baumans"/>
                <a:sym typeface="Baumans"/>
              </a:rPr>
              <a:t>Rank them in order of importance          </a:t>
            </a:r>
            <a:r>
              <a:rPr lang="en" sz="1800" b="1">
                <a:solidFill>
                  <a:schemeClr val="dk1"/>
                </a:solidFill>
                <a:latin typeface="Patrick Hand"/>
                <a:ea typeface="Patrick Hand"/>
                <a:cs typeface="Patrick Hand"/>
                <a:sym typeface="Patrick Hand"/>
              </a:rPr>
              <a:t>(1 being the most important)</a:t>
            </a:r>
            <a:endParaRPr sz="1800" b="1">
              <a:solidFill>
                <a:schemeClr val="dk1"/>
              </a:solidFill>
              <a:latin typeface="Patrick Hand"/>
              <a:ea typeface="Patrick Hand"/>
              <a:cs typeface="Patrick Hand"/>
              <a:sym typeface="Patrick Hand"/>
            </a:endParaRPr>
          </a:p>
        </p:txBody>
      </p:sp>
      <p:pic>
        <p:nvPicPr>
          <p:cNvPr id="158" name="Google Shape;158;p24" title="Screenshot 2025-11-10 at 11.56.11 AM.png"/>
          <p:cNvPicPr preferRelativeResize="0"/>
          <p:nvPr/>
        </p:nvPicPr>
        <p:blipFill>
          <a:blip r:embed="rId3">
            <a:alphaModFix/>
          </a:blip>
          <a:stretch>
            <a:fillRect/>
          </a:stretch>
        </p:blipFill>
        <p:spPr>
          <a:xfrm rot="5400000">
            <a:off x="3827476" y="1579587"/>
            <a:ext cx="3555448" cy="2686026"/>
          </a:xfrm>
          <a:prstGeom prst="rect">
            <a:avLst/>
          </a:prstGeom>
          <a:noFill/>
          <a:ln>
            <a:noFill/>
          </a:ln>
        </p:spPr>
      </p:pic>
      <p:pic>
        <p:nvPicPr>
          <p:cNvPr id="159" name="Google Shape;159;p24" descr="Need a 10-minute timer for your classroom or study session? This timer, set to relaxing lo-fi music, is designed to help improve focus and create a calm atmosphere, perfect for students or anyone needing a quick productivity boost. Whether you're working in a classroom, studying at home, or managing time for tasks, the soothing lo-fi beats will keep you relaxed and on track. Hit play, and let the peaceful music and timer guide you through your next task with ease.&#10;&#10;Keywords:&#10;10 minute timer, study timer, classroom timer, lo-fi music, study music, relaxing music, focus music, 10-minute countdown, timer for school, relaxing background music, productivity music, lo-fi for focus, timer with music, calming lo-fi beats, music for concentration, focus study, classroom countdown, lo-fi chillhop, music for students, mental focus, productivity tools, timer for students, lo-fi chill, relaxing lo-fi music, lo-fi study session, focus beats, timer with relaxing music, classroom study tools, timer for studying, background music for school&#10;&#10;🔥 Before you go—click the playlist and keep your vibe alive.&#10;👀 Don’t scroll away—your next favorite timer is right here.&#10;https://youtu.be/aoN4zb2_U1s?si=OfBPT5jk0TdUTxKY&#10;&#10;Copyright Notice:&#10;All content on this channel, including music and visuals, is exclusively created and licensed for use by Chill Countdown Timers. Reuse, remixing, or redistribution of any kind — even with credit — is strictly prohibited. Unauthorized use may result in takedown notices." title="10 Minute Timer With Relaxing Lo-Fi Music for Focus &amp; Study | Classroom Timer">
            <a:hlinkClick r:id="rId4"/>
          </p:cNvPr>
          <p:cNvPicPr preferRelativeResize="0"/>
          <p:nvPr/>
        </p:nvPicPr>
        <p:blipFill>
          <a:blip r:embed="rId5">
            <a:alphaModFix/>
          </a:blip>
          <a:stretch>
            <a:fillRect/>
          </a:stretch>
        </p:blipFill>
        <p:spPr>
          <a:xfrm>
            <a:off x="7878367" y="639350"/>
            <a:ext cx="1158833" cy="651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77875" y="654875"/>
            <a:ext cx="8802900" cy="36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 sz="2020">
                <a:highlight>
                  <a:schemeClr val="lt1"/>
                </a:highlight>
                <a:latin typeface="Fugaz One"/>
                <a:ea typeface="Fugaz One"/>
                <a:cs typeface="Fugaz One"/>
                <a:sym typeface="Fugaz One"/>
              </a:rPr>
              <a:t>Case study: Japan 2011</a:t>
            </a:r>
            <a:endParaRPr sz="2020">
              <a:highlight>
                <a:schemeClr val="lt1"/>
              </a:highlight>
              <a:latin typeface="Fugaz One"/>
              <a:ea typeface="Fugaz One"/>
              <a:cs typeface="Fugaz One"/>
              <a:sym typeface="Fugaz One"/>
            </a:endParaRPr>
          </a:p>
        </p:txBody>
      </p:sp>
      <p:sp>
        <p:nvSpPr>
          <p:cNvPr id="165" name="Google Shape;165;p2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sp>
        <p:nvSpPr>
          <p:cNvPr id="166" name="Google Shape;166;p25"/>
          <p:cNvSpPr/>
          <p:nvPr/>
        </p:nvSpPr>
        <p:spPr>
          <a:xfrm>
            <a:off x="104613" y="1111250"/>
            <a:ext cx="4197900" cy="3757200"/>
          </a:xfrm>
          <a:prstGeom prst="rect">
            <a:avLst/>
          </a:prstGeom>
          <a:solidFill>
            <a:srgbClr val="FFF2CC"/>
          </a:solidFill>
          <a:ln>
            <a:noFill/>
          </a:ln>
        </p:spPr>
        <p:txBody>
          <a:bodyPr spcFirstLastPara="1" wrap="square" lIns="68575" tIns="34275" rIns="68575" bIns="3427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1800" b="1">
                <a:solidFill>
                  <a:schemeClr val="dk1"/>
                </a:solidFill>
                <a:highlight>
                  <a:srgbClr val="00FF00"/>
                </a:highlight>
                <a:latin typeface="Baumans"/>
                <a:ea typeface="Baumans"/>
                <a:cs typeface="Baumans"/>
                <a:sym typeface="Baumans"/>
              </a:rPr>
              <a:t>Activity 4</a:t>
            </a:r>
            <a:r>
              <a:rPr lang="en" sz="1800" b="1" i="0" u="none" strike="noStrike" cap="none">
                <a:solidFill>
                  <a:schemeClr val="dk1"/>
                </a:solidFill>
                <a:highlight>
                  <a:srgbClr val="00FF00"/>
                </a:highlight>
                <a:latin typeface="Baumans"/>
                <a:ea typeface="Baumans"/>
                <a:cs typeface="Baumans"/>
                <a:sym typeface="Baumans"/>
              </a:rPr>
              <a:t>:</a:t>
            </a:r>
            <a:r>
              <a:rPr lang="en" sz="1800" b="1">
                <a:solidFill>
                  <a:schemeClr val="dk1"/>
                </a:solidFill>
                <a:latin typeface="Baumans"/>
                <a:ea typeface="Baumans"/>
                <a:cs typeface="Baumans"/>
                <a:sym typeface="Baumans"/>
              </a:rPr>
              <a:t> Independent Task</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marL="0" marR="0" lvl="0" indent="0" algn="l" rtl="0">
              <a:lnSpc>
                <a:spcPct val="115000"/>
              </a:lnSpc>
              <a:spcBef>
                <a:spcPts val="0"/>
              </a:spcBef>
              <a:spcAft>
                <a:spcPts val="0"/>
              </a:spcAft>
              <a:buClr>
                <a:srgbClr val="000000"/>
              </a:buClr>
              <a:buSzPts val="2000"/>
              <a:buFont typeface="Arial"/>
              <a:buNone/>
            </a:pPr>
            <a:endParaRPr sz="1000">
              <a:solidFill>
                <a:schemeClr val="dk1"/>
              </a:solidFill>
              <a:latin typeface="Baumans"/>
              <a:ea typeface="Baumans"/>
              <a:cs typeface="Baumans"/>
              <a:sym typeface="Baumans"/>
            </a:endParaRPr>
          </a:p>
          <a:p>
            <a:pPr marL="457200" marR="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Explain your </a:t>
            </a:r>
            <a:r>
              <a:rPr lang="en" sz="1800" b="1">
                <a:solidFill>
                  <a:schemeClr val="dk1"/>
                </a:solidFill>
                <a:latin typeface="Baumans"/>
                <a:ea typeface="Baumans"/>
                <a:cs typeface="Baumans"/>
                <a:sym typeface="Baumans"/>
              </a:rPr>
              <a:t>top 3</a:t>
            </a:r>
            <a:r>
              <a:rPr lang="en" sz="1800">
                <a:solidFill>
                  <a:schemeClr val="dk1"/>
                </a:solidFill>
                <a:latin typeface="Baumans"/>
                <a:ea typeface="Baumans"/>
                <a:cs typeface="Baumans"/>
                <a:sym typeface="Baumans"/>
              </a:rPr>
              <a:t> choices. Why do you think these are the best ways to help Japan after the earthquake, tsunami and nuclear meltdown.</a:t>
            </a:r>
            <a:endParaRPr sz="1800">
              <a:solidFill>
                <a:schemeClr val="dk1"/>
              </a:solidFill>
              <a:latin typeface="Baumans"/>
              <a:ea typeface="Baumans"/>
              <a:cs typeface="Baumans"/>
              <a:sym typeface="Baumans"/>
            </a:endParaRPr>
          </a:p>
          <a:p>
            <a:pPr marL="457200" marR="0" lvl="0" indent="-342900" algn="l" rtl="0">
              <a:lnSpc>
                <a:spcPct val="115000"/>
              </a:lnSpc>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Explain why Japan is vulnerable to seismic activity?</a:t>
            </a:r>
            <a:endParaRPr sz="1800">
              <a:solidFill>
                <a:schemeClr val="dk1"/>
              </a:solidFill>
              <a:latin typeface="Baumans"/>
              <a:ea typeface="Baumans"/>
              <a:cs typeface="Baumans"/>
              <a:sym typeface="Baumans"/>
            </a:endParaRPr>
          </a:p>
          <a:p>
            <a:pPr marL="0" marR="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Words to use:</a:t>
            </a:r>
            <a:endParaRPr sz="1800">
              <a:solidFill>
                <a:schemeClr val="dk1"/>
              </a:solidFill>
              <a:latin typeface="Baumans"/>
              <a:ea typeface="Baumans"/>
              <a:cs typeface="Baumans"/>
              <a:sym typeface="Baumans"/>
            </a:endParaRPr>
          </a:p>
          <a:p>
            <a:pPr marL="0" marR="0" lvl="0" indent="0" algn="l" rtl="0">
              <a:lnSpc>
                <a:spcPct val="115000"/>
              </a:lnSpc>
              <a:spcBef>
                <a:spcPts val="0"/>
              </a:spcBef>
              <a:spcAft>
                <a:spcPts val="0"/>
              </a:spcAft>
              <a:buNone/>
            </a:pPr>
            <a:r>
              <a:rPr lang="en" sz="1600" b="1">
                <a:solidFill>
                  <a:schemeClr val="dk1"/>
                </a:solidFill>
                <a:latin typeface="Patrick Hand"/>
                <a:ea typeface="Patrick Hand"/>
                <a:cs typeface="Patrick Hand"/>
                <a:sym typeface="Patrick Hand"/>
              </a:rPr>
              <a:t>Destructive boundary, Earthquakes, Eurasian Plate, Ocean trench, Pacific Plate, Philippine Sea Plate, Subduction, Tsunamis, Volcanoes</a:t>
            </a:r>
            <a:endParaRPr sz="1600" b="1">
              <a:solidFill>
                <a:schemeClr val="dk1"/>
              </a:solidFill>
              <a:latin typeface="Patrick Hand"/>
              <a:ea typeface="Patrick Hand"/>
              <a:cs typeface="Patrick Hand"/>
              <a:sym typeface="Patrick Hand"/>
            </a:endParaRPr>
          </a:p>
        </p:txBody>
      </p:sp>
      <p:grpSp>
        <p:nvGrpSpPr>
          <p:cNvPr id="167" name="Google Shape;167;p25"/>
          <p:cNvGrpSpPr/>
          <p:nvPr/>
        </p:nvGrpSpPr>
        <p:grpSpPr>
          <a:xfrm>
            <a:off x="4464483" y="2764259"/>
            <a:ext cx="825518" cy="1004624"/>
            <a:chOff x="5426175" y="139294"/>
            <a:chExt cx="946695" cy="1152356"/>
          </a:xfrm>
        </p:grpSpPr>
        <p:pic>
          <p:nvPicPr>
            <p:cNvPr id="168" name="Google Shape;168;p25"/>
            <p:cNvPicPr preferRelativeResize="0"/>
            <p:nvPr/>
          </p:nvPicPr>
          <p:blipFill>
            <a:blip r:embed="rId3">
              <a:alphaModFix/>
            </a:blip>
            <a:stretch>
              <a:fillRect/>
            </a:stretch>
          </p:blipFill>
          <p:spPr>
            <a:xfrm>
              <a:off x="5469469" y="139300"/>
              <a:ext cx="903401" cy="1152350"/>
            </a:xfrm>
            <a:prstGeom prst="rect">
              <a:avLst/>
            </a:prstGeom>
            <a:noFill/>
            <a:ln>
              <a:noFill/>
            </a:ln>
          </p:spPr>
        </p:pic>
        <p:pic>
          <p:nvPicPr>
            <p:cNvPr id="169" name="Google Shape;169;p25" descr="a cartoon drawing of a fire with a flame coming out of it (Provided by Tenor)"/>
            <p:cNvPicPr preferRelativeResize="0"/>
            <p:nvPr/>
          </p:nvPicPr>
          <p:blipFill>
            <a:blip r:embed="rId4">
              <a:alphaModFix/>
            </a:blip>
            <a:stretch>
              <a:fillRect/>
            </a:stretch>
          </p:blipFill>
          <p:spPr>
            <a:xfrm>
              <a:off x="5426175" y="139294"/>
              <a:ext cx="341075" cy="391706"/>
            </a:xfrm>
            <a:prstGeom prst="rect">
              <a:avLst/>
            </a:prstGeom>
            <a:noFill/>
            <a:ln>
              <a:noFill/>
            </a:ln>
          </p:spPr>
        </p:pic>
      </p:grpSp>
      <p:grpSp>
        <p:nvGrpSpPr>
          <p:cNvPr id="170" name="Google Shape;170;p25"/>
          <p:cNvGrpSpPr/>
          <p:nvPr/>
        </p:nvGrpSpPr>
        <p:grpSpPr>
          <a:xfrm>
            <a:off x="4385195" y="1332930"/>
            <a:ext cx="893829" cy="1046685"/>
            <a:chOff x="5313625" y="1569463"/>
            <a:chExt cx="1136175" cy="1330475"/>
          </a:xfrm>
        </p:grpSpPr>
        <p:pic>
          <p:nvPicPr>
            <p:cNvPr id="171" name="Google Shape;171;p25"/>
            <p:cNvPicPr preferRelativeResize="0"/>
            <p:nvPr/>
          </p:nvPicPr>
          <p:blipFill>
            <a:blip r:embed="rId5">
              <a:alphaModFix/>
            </a:blip>
            <a:stretch>
              <a:fillRect/>
            </a:stretch>
          </p:blipFill>
          <p:spPr>
            <a:xfrm>
              <a:off x="5392550" y="1569463"/>
              <a:ext cx="1057250" cy="1330475"/>
            </a:xfrm>
            <a:prstGeom prst="rect">
              <a:avLst/>
            </a:prstGeom>
            <a:noFill/>
            <a:ln>
              <a:noFill/>
            </a:ln>
          </p:spPr>
        </p:pic>
        <p:pic>
          <p:nvPicPr>
            <p:cNvPr id="172" name="Google Shape;172;p25" descr="smoke is coming out of a hole in the ground on a white background . (Provided by Tenor)"/>
            <p:cNvPicPr preferRelativeResize="0"/>
            <p:nvPr/>
          </p:nvPicPr>
          <p:blipFill rotWithShape="1">
            <a:blip r:embed="rId6">
              <a:alphaModFix/>
            </a:blip>
            <a:srcRect l="42413" t="17925"/>
            <a:stretch/>
          </p:blipFill>
          <p:spPr>
            <a:xfrm>
              <a:off x="5313625" y="1650525"/>
              <a:ext cx="418000" cy="604725"/>
            </a:xfrm>
            <a:prstGeom prst="rect">
              <a:avLst/>
            </a:prstGeom>
            <a:noFill/>
            <a:ln>
              <a:noFill/>
            </a:ln>
          </p:spPr>
        </p:pic>
      </p:grpSp>
      <p:sp>
        <p:nvSpPr>
          <p:cNvPr id="173" name="Google Shape;173;p25"/>
          <p:cNvSpPr txBox="1"/>
          <p:nvPr/>
        </p:nvSpPr>
        <p:spPr>
          <a:xfrm>
            <a:off x="5451988" y="1332925"/>
            <a:ext cx="3396300" cy="1046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highlight>
                  <a:srgbClr val="FAA500"/>
                </a:highlight>
                <a:latin typeface="Poppins"/>
                <a:ea typeface="Poppins"/>
                <a:cs typeface="Poppins"/>
                <a:sym typeface="Poppins"/>
              </a:rPr>
              <a:t>Which aid response do you think would be the least effective in helping Japan recover and why?</a:t>
            </a:r>
            <a:endParaRPr sz="1600" b="1">
              <a:highlight>
                <a:srgbClr val="FAA500"/>
              </a:highlight>
              <a:latin typeface="Poppins"/>
              <a:ea typeface="Poppins"/>
              <a:cs typeface="Poppins"/>
              <a:sym typeface="Poppins"/>
            </a:endParaRPr>
          </a:p>
        </p:txBody>
      </p:sp>
      <p:sp>
        <p:nvSpPr>
          <p:cNvPr id="174" name="Google Shape;174;p25"/>
          <p:cNvSpPr txBox="1"/>
          <p:nvPr/>
        </p:nvSpPr>
        <p:spPr>
          <a:xfrm>
            <a:off x="5451988" y="2558575"/>
            <a:ext cx="35874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rgbClr val="FFFFFF"/>
                </a:solidFill>
                <a:highlight>
                  <a:srgbClr val="CE0925"/>
                </a:highlight>
                <a:latin typeface="Poppins"/>
                <a:ea typeface="Poppins"/>
                <a:cs typeface="Poppins"/>
                <a:sym typeface="Poppins"/>
              </a:rPr>
              <a:t>Which spending choices do you think Japan should make compulsory to help reduce the effects of future earthquakes, and why?</a:t>
            </a:r>
            <a:endParaRPr sz="1600" b="1">
              <a:solidFill>
                <a:srgbClr val="FFFFFF"/>
              </a:solidFill>
              <a:highlight>
                <a:srgbClr val="CE0925"/>
              </a:highlight>
              <a:latin typeface="Poppins"/>
              <a:ea typeface="Poppins"/>
              <a:cs typeface="Poppins"/>
              <a:sym typeface="Poppins"/>
            </a:endParaRPr>
          </a:p>
        </p:txBody>
      </p:sp>
      <p:pic>
        <p:nvPicPr>
          <p:cNvPr id="175" name="Google Shape;175;p25" descr="Take a 10-minute break with this relaxing countdown timer, perfect for studying,  deep focus, or sleep. Featuring soft ambient music, calming visuals, and a peaceful atmosphere, this timer helps you reset, unwind, and recharge. Whether you need a study break, a quick mindfulness session, or a moment to relax before bed, this timer is designed to keep you refreshed and focused. 🌿✨&#10;&#10;🔔 Subscribe for more relaxing timers!&#10;&#10;⏳ Perfect for:&#10;✔ Study &amp; Focus Sessions 📖&#10;✔ Mindfulness 🧘‍♂️&#10;✔ Sleep &amp; Relaxation 😴&#10;✔ Pomodoro Study Timer 🍅&#10;&#10;🎶 Music: Soft lofi, ambient piano, and peaceful soundscapes.&#10;&#10;Enjoy your break! 💙&#10;&#10;&#10;Join this channel to get access to perks:&#10;https://www.youtube.com/channel/UCp9LPsAvjjFepgmwThD-bVg/join&#10;&#10;Visual timers:&#10;https://amzn.to/4aEwMj3&#10;https://amzn.to/40Gyv2M&#10;&#10;#affiliatelinks ⬆️&#10;&#10;🌵 Join the Chill Countdown Timers Membership! 🌵&#10;Unlock exclusive timers and special community perks! Support the channel and enjoy more aesthetic, lofi-inspired countdowns designed just for you. 🎵✨&#10;&#10;👉 Click “Join” to become a member and vibe with the Chiller Tribe! 💖🎶" title="10 Minute Relaxing Timer | Study Break, Anxiety Release,  Sleep | Soft Ambient Music">
            <a:hlinkClick r:id="rId7"/>
          </p:cNvPr>
          <p:cNvPicPr preferRelativeResize="0"/>
          <p:nvPr/>
        </p:nvPicPr>
        <p:blipFill>
          <a:blip r:embed="rId8">
            <a:alphaModFix/>
          </a:blip>
          <a:stretch>
            <a:fillRect/>
          </a:stretch>
        </p:blipFill>
        <p:spPr>
          <a:xfrm>
            <a:off x="7878363" y="620238"/>
            <a:ext cx="1158845" cy="651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p:nvPr/>
        </p:nvSpPr>
        <p:spPr>
          <a:xfrm>
            <a:off x="165875" y="1049400"/>
            <a:ext cx="4098900" cy="3994500"/>
          </a:xfrm>
          <a:prstGeom prst="rect">
            <a:avLst/>
          </a:prstGeom>
          <a:solidFill>
            <a:srgbClr val="FFF2CC"/>
          </a:solidFill>
          <a:ln>
            <a:noFill/>
          </a:ln>
        </p:spPr>
        <p:txBody>
          <a:bodyPr spcFirstLastPara="1" wrap="square" lIns="68575" tIns="34275" rIns="68575" bIns="34275" anchor="t" anchorCtr="0">
            <a:noAutofit/>
          </a:bodyPr>
          <a:lstStyle/>
          <a:p>
            <a:pPr marL="914400" marR="0" lvl="0" indent="0" algn="l" rtl="0">
              <a:lnSpc>
                <a:spcPct val="100000"/>
              </a:lnSpc>
              <a:spcBef>
                <a:spcPts val="0"/>
              </a:spcBef>
              <a:spcAft>
                <a:spcPts val="0"/>
              </a:spcAft>
              <a:buClr>
                <a:srgbClr val="000000"/>
              </a:buClr>
              <a:buSzPts val="1900"/>
              <a:buFont typeface="Arial"/>
              <a:buNone/>
            </a:pPr>
            <a:r>
              <a:rPr lang="en" sz="1600" b="1">
                <a:solidFill>
                  <a:schemeClr val="dk1"/>
                </a:solidFill>
                <a:latin typeface="Baumans"/>
                <a:ea typeface="Baumans"/>
                <a:cs typeface="Baumans"/>
                <a:sym typeface="Baumans"/>
              </a:rPr>
              <a:t>So why is Japan vulnerable to seismic activity, including </a:t>
            </a:r>
            <a:endParaRPr sz="1600" b="1">
              <a:solidFill>
                <a:schemeClr val="dk1"/>
              </a:solidFill>
              <a:latin typeface="Baumans"/>
              <a:ea typeface="Baumans"/>
              <a:cs typeface="Baumans"/>
              <a:sym typeface="Baumans"/>
            </a:endParaRPr>
          </a:p>
          <a:p>
            <a:pPr marL="0" lvl="0" indent="0" algn="l" rtl="0">
              <a:spcBef>
                <a:spcPts val="0"/>
              </a:spcBef>
              <a:spcAft>
                <a:spcPts val="0"/>
              </a:spcAft>
              <a:buClr>
                <a:schemeClr val="dk1"/>
              </a:buClr>
              <a:buSzPts val="1900"/>
              <a:buFont typeface="Arial"/>
              <a:buNone/>
            </a:pPr>
            <a:r>
              <a:rPr lang="en" sz="1600" b="1">
                <a:solidFill>
                  <a:schemeClr val="dk1"/>
                </a:solidFill>
                <a:latin typeface="Baumans"/>
                <a:ea typeface="Baumans"/>
                <a:cs typeface="Baumans"/>
                <a:sym typeface="Baumans"/>
              </a:rPr>
              <a:t>earthquakes, tsunamis and volcanic eruptions?</a:t>
            </a:r>
            <a:endParaRPr sz="1600" b="1">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900"/>
              <a:buFont typeface="Arial"/>
              <a:buNone/>
            </a:pPr>
            <a:r>
              <a:rPr lang="en" sz="1600" b="1">
                <a:solidFill>
                  <a:schemeClr val="dk1"/>
                </a:solidFill>
                <a:latin typeface="Baumans"/>
                <a:ea typeface="Baumans"/>
                <a:cs typeface="Baumans"/>
                <a:sym typeface="Baumans"/>
              </a:rPr>
              <a:t>Think about:</a:t>
            </a:r>
            <a:endParaRPr sz="1600" b="1">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Char char="●"/>
            </a:pPr>
            <a:r>
              <a:rPr lang="en" sz="1600" b="1">
                <a:solidFill>
                  <a:schemeClr val="dk1"/>
                </a:solidFill>
                <a:latin typeface="Baumans"/>
                <a:ea typeface="Baumans"/>
                <a:cs typeface="Baumans"/>
                <a:sym typeface="Baumans"/>
              </a:rPr>
              <a:t>Location:</a:t>
            </a:r>
            <a:r>
              <a:rPr lang="en" sz="1600">
                <a:solidFill>
                  <a:schemeClr val="dk1"/>
                </a:solidFill>
                <a:latin typeface="Baumans"/>
                <a:ea typeface="Baumans"/>
                <a:cs typeface="Baumans"/>
                <a:sym typeface="Baumans"/>
              </a:rPr>
              <a:t> Where is Japan in relation to tectonic plates?</a:t>
            </a:r>
            <a:endParaRPr sz="1600">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Char char="●"/>
            </a:pPr>
            <a:r>
              <a:rPr lang="en" sz="1600" b="1">
                <a:solidFill>
                  <a:schemeClr val="dk1"/>
                </a:solidFill>
                <a:latin typeface="Baumans"/>
                <a:ea typeface="Baumans"/>
                <a:cs typeface="Baumans"/>
                <a:sym typeface="Baumans"/>
              </a:rPr>
              <a:t>Tectonic activity:</a:t>
            </a:r>
            <a:r>
              <a:rPr lang="en" sz="1600">
                <a:solidFill>
                  <a:schemeClr val="dk1"/>
                </a:solidFill>
                <a:latin typeface="Baumans"/>
                <a:ea typeface="Baumans"/>
                <a:cs typeface="Baumans"/>
                <a:sym typeface="Baumans"/>
              </a:rPr>
              <a:t> How does the movement of these plates cause earthquakes?</a:t>
            </a:r>
            <a:endParaRPr sz="1600">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Char char="●"/>
            </a:pPr>
            <a:r>
              <a:rPr lang="en" sz="1600" b="1">
                <a:solidFill>
                  <a:schemeClr val="dk1"/>
                </a:solidFill>
                <a:latin typeface="Baumans"/>
                <a:ea typeface="Baumans"/>
                <a:cs typeface="Baumans"/>
                <a:sym typeface="Baumans"/>
              </a:rPr>
              <a:t>Tsunamis:</a:t>
            </a:r>
            <a:r>
              <a:rPr lang="en" sz="1600">
                <a:solidFill>
                  <a:schemeClr val="dk1"/>
                </a:solidFill>
                <a:latin typeface="Baumans"/>
                <a:ea typeface="Baumans"/>
                <a:cs typeface="Baumans"/>
                <a:sym typeface="Baumans"/>
              </a:rPr>
              <a:t> How can undersea earthquakes create tsunamis?</a:t>
            </a:r>
            <a:endParaRPr sz="1600">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Char char="●"/>
            </a:pPr>
            <a:r>
              <a:rPr lang="en" sz="1600" b="1">
                <a:solidFill>
                  <a:schemeClr val="dk1"/>
                </a:solidFill>
                <a:latin typeface="Baumans"/>
                <a:ea typeface="Baumans"/>
                <a:cs typeface="Baumans"/>
                <a:sym typeface="Baumans"/>
              </a:rPr>
              <a:t>Volcanoes:</a:t>
            </a:r>
            <a:r>
              <a:rPr lang="en" sz="1600">
                <a:solidFill>
                  <a:schemeClr val="dk1"/>
                </a:solidFill>
                <a:latin typeface="Baumans"/>
                <a:ea typeface="Baumans"/>
                <a:cs typeface="Baumans"/>
                <a:sym typeface="Baumans"/>
              </a:rPr>
              <a:t> How does plate movement lead to volcanic eruptions in Japan?</a:t>
            </a:r>
            <a:endParaRPr sz="1600">
              <a:solidFill>
                <a:schemeClr val="dk1"/>
              </a:solidFill>
              <a:latin typeface="Baumans"/>
              <a:ea typeface="Baumans"/>
              <a:cs typeface="Baumans"/>
              <a:sym typeface="Baumans"/>
            </a:endParaRPr>
          </a:p>
          <a:p>
            <a:pPr marL="457200" marR="0" lvl="0" indent="-330200" algn="l" rtl="0">
              <a:lnSpc>
                <a:spcPct val="100000"/>
              </a:lnSpc>
              <a:spcBef>
                <a:spcPts val="0"/>
              </a:spcBef>
              <a:spcAft>
                <a:spcPts val="0"/>
              </a:spcAft>
              <a:buClr>
                <a:schemeClr val="dk1"/>
              </a:buClr>
              <a:buSzPts val="1600"/>
              <a:buFont typeface="Baumans"/>
              <a:buChar char="●"/>
            </a:pPr>
            <a:r>
              <a:rPr lang="en" sz="1600" b="1">
                <a:solidFill>
                  <a:schemeClr val="dk1"/>
                </a:solidFill>
                <a:latin typeface="Baumans"/>
                <a:ea typeface="Baumans"/>
                <a:cs typeface="Baumans"/>
                <a:sym typeface="Baumans"/>
              </a:rPr>
              <a:t>Impact:</a:t>
            </a:r>
            <a:r>
              <a:rPr lang="en" sz="1600">
                <a:solidFill>
                  <a:schemeClr val="dk1"/>
                </a:solidFill>
                <a:latin typeface="Baumans"/>
                <a:ea typeface="Baumans"/>
                <a:cs typeface="Baumans"/>
                <a:sym typeface="Baumans"/>
              </a:rPr>
              <a:t> How do Japan’s geography and population make it more at risk?</a:t>
            </a:r>
            <a:endParaRPr sz="1600">
              <a:solidFill>
                <a:schemeClr val="dk1"/>
              </a:solidFill>
              <a:latin typeface="Baumans"/>
              <a:ea typeface="Baumans"/>
              <a:cs typeface="Baumans"/>
              <a:sym typeface="Baumans"/>
            </a:endParaRPr>
          </a:p>
        </p:txBody>
      </p:sp>
      <p:pic>
        <p:nvPicPr>
          <p:cNvPr id="181" name="Google Shape;181;p26"/>
          <p:cNvPicPr preferRelativeResize="0"/>
          <p:nvPr/>
        </p:nvPicPr>
        <p:blipFill rotWithShape="1">
          <a:blip r:embed="rId3">
            <a:alphaModFix/>
          </a:blip>
          <a:srcRect l="20459" t="44505" r="38704" b="43444"/>
          <a:stretch/>
        </p:blipFill>
        <p:spPr>
          <a:xfrm rot="-153838">
            <a:off x="4343074" y="1658473"/>
            <a:ext cx="4707273" cy="780801"/>
          </a:xfrm>
          <a:prstGeom prst="rect">
            <a:avLst/>
          </a:prstGeom>
          <a:solidFill>
            <a:srgbClr val="F2F2F2"/>
          </a:solidFill>
          <a:ln w="19050" cap="flat" cmpd="sng">
            <a:solidFill>
              <a:srgbClr val="000000"/>
            </a:solidFill>
            <a:prstDash val="solid"/>
            <a:round/>
            <a:headEnd type="none" w="sm" len="sm"/>
            <a:tailEnd type="none" w="sm" len="sm"/>
          </a:ln>
        </p:spPr>
      </p:pic>
      <p:pic>
        <p:nvPicPr>
          <p:cNvPr id="182" name="Google Shape;182;p26"/>
          <p:cNvPicPr preferRelativeResize="0"/>
          <p:nvPr/>
        </p:nvPicPr>
        <p:blipFill rotWithShape="1">
          <a:blip r:embed="rId4">
            <a:alphaModFix/>
          </a:blip>
          <a:srcRect l="19978" t="58117" r="42305" b="36060"/>
          <a:stretch/>
        </p:blipFill>
        <p:spPr>
          <a:xfrm rot="285725">
            <a:off x="4577271" y="909244"/>
            <a:ext cx="4477509" cy="443238"/>
          </a:xfrm>
          <a:prstGeom prst="rect">
            <a:avLst/>
          </a:prstGeom>
          <a:solidFill>
            <a:srgbClr val="F2F2F2"/>
          </a:solidFill>
          <a:ln w="19050" cap="flat" cmpd="sng">
            <a:solidFill>
              <a:srgbClr val="000000"/>
            </a:solidFill>
            <a:prstDash val="solid"/>
            <a:round/>
            <a:headEnd type="none" w="sm" len="sm"/>
            <a:tailEnd type="none" w="sm" len="sm"/>
          </a:ln>
        </p:spPr>
      </p:pic>
      <p:pic>
        <p:nvPicPr>
          <p:cNvPr id="183" name="Google Shape;183;p26"/>
          <p:cNvPicPr preferRelativeResize="0"/>
          <p:nvPr/>
        </p:nvPicPr>
        <p:blipFill rotWithShape="1">
          <a:blip r:embed="rId5">
            <a:alphaModFix/>
          </a:blip>
          <a:srcRect l="11719" t="30259" r="41026" b="62552"/>
          <a:stretch/>
        </p:blipFill>
        <p:spPr>
          <a:xfrm rot="-292352">
            <a:off x="4698296" y="2778227"/>
            <a:ext cx="3996833" cy="508146"/>
          </a:xfrm>
          <a:prstGeom prst="rect">
            <a:avLst/>
          </a:prstGeom>
          <a:solidFill>
            <a:srgbClr val="F2F2F2"/>
          </a:solidFill>
          <a:ln w="19050" cap="flat" cmpd="sng">
            <a:solidFill>
              <a:srgbClr val="000000"/>
            </a:solidFill>
            <a:prstDash val="solid"/>
            <a:round/>
            <a:headEnd type="none" w="sm" len="sm"/>
            <a:tailEnd type="none" w="sm" len="sm"/>
          </a:ln>
        </p:spPr>
      </p:pic>
      <p:pic>
        <p:nvPicPr>
          <p:cNvPr id="184" name="Google Shape;184;p26"/>
          <p:cNvPicPr preferRelativeResize="0"/>
          <p:nvPr/>
        </p:nvPicPr>
        <p:blipFill rotWithShape="1">
          <a:blip r:embed="rId6">
            <a:alphaModFix/>
          </a:blip>
          <a:srcRect l="14208" t="32993" r="34554" b="60295"/>
          <a:stretch/>
        </p:blipFill>
        <p:spPr>
          <a:xfrm>
            <a:off x="4379175" y="3568925"/>
            <a:ext cx="4692801" cy="580401"/>
          </a:xfrm>
          <a:prstGeom prst="rect">
            <a:avLst/>
          </a:prstGeom>
          <a:solidFill>
            <a:srgbClr val="F2F2F2"/>
          </a:solidFill>
          <a:ln w="19050" cap="flat" cmpd="sng">
            <a:solidFill>
              <a:srgbClr val="000000"/>
            </a:solidFill>
            <a:prstDash val="solid"/>
            <a:round/>
            <a:headEnd type="none" w="sm" len="sm"/>
            <a:tailEnd type="none" w="sm" len="sm"/>
          </a:ln>
        </p:spPr>
      </p:pic>
      <p:sp>
        <p:nvSpPr>
          <p:cNvPr id="185" name="Google Shape;185;p26"/>
          <p:cNvSpPr txBox="1">
            <a:spLocks noGrp="1"/>
          </p:cNvSpPr>
          <p:nvPr>
            <p:ph type="title"/>
          </p:nvPr>
        </p:nvSpPr>
        <p:spPr>
          <a:xfrm>
            <a:off x="77875" y="654875"/>
            <a:ext cx="8802900" cy="360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 sz="2020">
                <a:highlight>
                  <a:schemeClr val="lt1"/>
                </a:highlight>
                <a:latin typeface="Fugaz One"/>
                <a:ea typeface="Fugaz One"/>
                <a:cs typeface="Fugaz One"/>
                <a:sym typeface="Fugaz One"/>
              </a:rPr>
              <a:t>Case study: Japan 2011</a:t>
            </a:r>
            <a:endParaRPr sz="2020">
              <a:highlight>
                <a:schemeClr val="lt1"/>
              </a:highlight>
              <a:latin typeface="Fugaz One"/>
              <a:ea typeface="Fugaz One"/>
              <a:cs typeface="Fugaz One"/>
              <a:sym typeface="Fugaz One"/>
            </a:endParaRPr>
          </a:p>
        </p:txBody>
      </p:sp>
      <p:pic>
        <p:nvPicPr>
          <p:cNvPr id="186" name="Google Shape;186;p26">
            <a:hlinkClick r:id="rId7"/>
          </p:cNvPr>
          <p:cNvPicPr preferRelativeResize="0"/>
          <p:nvPr/>
        </p:nvPicPr>
        <p:blipFill>
          <a:blip r:embed="rId8">
            <a:alphaModFix/>
          </a:blip>
          <a:stretch>
            <a:fillRect/>
          </a:stretch>
        </p:blipFill>
        <p:spPr>
          <a:xfrm>
            <a:off x="8252025" y="4263050"/>
            <a:ext cx="813425" cy="813425"/>
          </a:xfrm>
          <a:prstGeom prst="rect">
            <a:avLst/>
          </a:prstGeom>
          <a:noFill/>
          <a:ln>
            <a:noFill/>
          </a:ln>
        </p:spPr>
      </p:pic>
      <p:sp>
        <p:nvSpPr>
          <p:cNvPr id="187" name="Google Shape;187;p2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Why is Japan so vulnerable to Earthquakes?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was Japan so badly affected by the 2011 earthquake and what makes the country vulnerable to earthquakes?</a:t>
            </a:r>
            <a:endParaRPr sz="1200" b="1">
              <a:solidFill>
                <a:srgbClr val="980000"/>
              </a:solidFill>
              <a:latin typeface="Delius"/>
              <a:ea typeface="Delius"/>
              <a:cs typeface="Delius"/>
              <a:sym typeface="Delius"/>
            </a:endParaRPr>
          </a:p>
        </p:txBody>
      </p:sp>
      <p:pic>
        <p:nvPicPr>
          <p:cNvPr id="188" name="Google Shape;188;p26"/>
          <p:cNvPicPr preferRelativeResize="0"/>
          <p:nvPr/>
        </p:nvPicPr>
        <p:blipFill rotWithShape="1">
          <a:blip r:embed="rId9">
            <a:alphaModFix/>
          </a:blip>
          <a:srcRect l="30711" t="5130" r="3174" b="5807"/>
          <a:stretch/>
        </p:blipFill>
        <p:spPr>
          <a:xfrm>
            <a:off x="165875" y="1049399"/>
            <a:ext cx="896551" cy="475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1714</Words>
  <Application>Microsoft Macintosh PowerPoint</Application>
  <PresentationFormat>On-screen Show (16:9)</PresentationFormat>
  <Paragraphs>141</Paragraphs>
  <Slides>14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Patrick Hand</vt:lpstr>
      <vt:lpstr>Baumans</vt:lpstr>
      <vt:lpstr>Luckiest Guy</vt:lpstr>
      <vt:lpstr>Delius</vt:lpstr>
      <vt:lpstr>Poppins</vt:lpstr>
      <vt:lpstr>Fugaz One</vt:lpstr>
      <vt:lpstr>Simple Light</vt:lpstr>
      <vt:lpstr>PowerPoint Presentation</vt:lpstr>
      <vt:lpstr>PowerPoint Presentation</vt:lpstr>
      <vt:lpstr>PowerPoint Presentation</vt:lpstr>
      <vt:lpstr>PowerPoint Presentation</vt:lpstr>
      <vt:lpstr>PowerPoint Presentation</vt:lpstr>
      <vt:lpstr>Case study: Japan 2011</vt:lpstr>
      <vt:lpstr>Case study: Japan 2011</vt:lpstr>
      <vt:lpstr>PowerPoint Presentation</vt:lpstr>
      <vt:lpstr>Case study: Japan 2011</vt:lpstr>
      <vt:lpstr>PowerPoint Presentation</vt:lpstr>
      <vt:lpstr>PowerPoint Presentation</vt:lpstr>
      <vt:lpstr>Case study: Japan 2011</vt:lpstr>
      <vt:lpstr>Case study: Japan 2011</vt:lpstr>
      <vt:lpstr>Case study: Japan 2011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6</cp:revision>
  <dcterms:modified xsi:type="dcterms:W3CDTF">2026-09-22T23:58:10Z</dcterms:modified>
</cp:coreProperties>
</file>