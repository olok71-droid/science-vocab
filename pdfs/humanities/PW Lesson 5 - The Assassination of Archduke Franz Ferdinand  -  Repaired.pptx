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72" r:id="rId12"/>
    <p:sldId id="266" r:id="rId13"/>
    <p:sldId id="273" r:id="rId14"/>
    <p:sldId id="270" r:id="rId15"/>
    <p:sldId id="267" r:id="rId16"/>
    <p:sldId id="269" r:id="rId17"/>
  </p:sldIdLst>
  <p:sldSz cx="9144000" cy="5143500" type="screen16x9"/>
  <p:notesSz cx="6858000" cy="9144000"/>
  <p:embeddedFontLst>
    <p:embeddedFont>
      <p:font typeface="Baumans" panose="02000506020000020003"/>
      <p:regular r:id="rId19"/>
      <p:bold r:id="rId20"/>
      <p:italic r:id="rId21"/>
      <p:boldItalic r:id="rId22"/>
    </p:embeddedFont>
    <p:embeddedFont>
      <p:font typeface="Caveat"/>
      <p:regular r:id="rId23"/>
      <p:bold r:id="rId23"/>
    </p:embeddedFont>
    <p:embeddedFont>
      <p:font typeface="Delius" panose="02000603000000000000"/>
      <p:regular r:id="rId23"/>
    </p:embeddedFont>
    <p:embeddedFont>
      <p:font typeface="Finger Paint" panose="020B0506040000020004"/>
      <p:regular r:id="rId23"/>
    </p:embeddedFont>
    <p:embeddedFont>
      <p:font typeface="Luckiest Guy" pitchFamily="2" charset="77"/>
      <p:regular r:id="rId23"/>
    </p:embeddedFont>
    <p:embeddedFont>
      <p:font typeface="Patrick Hand" pitchFamily="2" charset="77"/>
      <p:regular r:id="rId24"/>
    </p:embeddedFont>
    <p:embeddedFont>
      <p:font typeface="Patrick Hand SC" pitchFamily="2" charset="77"/>
      <p:regular r:id="rId25"/>
    </p:embeddedFont>
    <p:embeddedFont>
      <p:font typeface="Poppins" pitchFamily="2" charset="77"/>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A382481-0C11-43CA-AD69-166DDA1F93ED}">
  <a:tblStyle styleId="{3A382481-0C11-43CA-AD69-166DDA1F93ED}"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13"/>
    <p:restoredTop sz="94675"/>
  </p:normalViewPr>
  <p:slideViewPr>
    <p:cSldViewPr snapToGrid="0">
      <p:cViewPr varScale="1">
        <p:scale>
          <a:sx n="135" d="100"/>
          <a:sy n="135" d="100"/>
        </p:scale>
        <p:origin x="176" y="5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8a8fda467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g38a8fda467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h8ea2932de4443c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h8ea2932de4443c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8a8fda467d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8a8fda467d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8a8fda467d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38a8fda467d_0_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8a8fda467d_0_2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8a8fda467d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https://www.youtube.com/watch?v=ZmHxq28440c</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8a8fda467d_0_2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8a8fda467d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h8ea2932de4443c4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h8ea2932de4443c4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https://www.youtube.com/watch?v=f4q7BqKw50c</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h287210f57b07ecff_4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h287210f57b07ecff_4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h8ea2932de4443c4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h8ea2932de4443c4_0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D6C906D8-5003-81DA-137D-BF11152A539A}"/>
            </a:ext>
          </a:extLst>
        </p:cNvPr>
        <p:cNvGrpSpPr/>
        <p:nvPr/>
      </p:nvGrpSpPr>
      <p:grpSpPr>
        <a:xfrm>
          <a:off x="0" y="0"/>
          <a:ext cx="0" cy="0"/>
          <a:chOff x="0" y="0"/>
          <a:chExt cx="0" cy="0"/>
        </a:xfrm>
      </p:grpSpPr>
      <p:sp>
        <p:nvSpPr>
          <p:cNvPr id="155" name="Google Shape;155;h8ea2932de4443c4_0_82:notes">
            <a:extLst>
              <a:ext uri="{FF2B5EF4-FFF2-40B4-BE49-F238E27FC236}">
                <a16:creationId xmlns:a16="http://schemas.microsoft.com/office/drawing/2014/main" id="{5642BB4F-B9DA-1975-F556-3CC175ABBF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h8ea2932de4443c4_0_82:notes">
            <a:extLst>
              <a:ext uri="{FF2B5EF4-FFF2-40B4-BE49-F238E27FC236}">
                <a16:creationId xmlns:a16="http://schemas.microsoft.com/office/drawing/2014/main" id="{B4E6B5B4-AB7A-BE63-C1D0-AF893D3A2B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https://www.youtube.com/watch?v=f4q7BqKw50c</a:t>
            </a:r>
            <a:endParaRPr/>
          </a:p>
        </p:txBody>
      </p:sp>
    </p:spTree>
    <p:extLst>
      <p:ext uri="{BB962C8B-B14F-4D97-AF65-F5344CB8AC3E}">
        <p14:creationId xmlns:p14="http://schemas.microsoft.com/office/powerpoint/2010/main" val="2198183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h8ea2932de4443c4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h8ea2932de4443c4_0_2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h8ea2932de4443c4_0_2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 sz="1200">
                <a:solidFill>
                  <a:schemeClr val="dk1"/>
                </a:solidFill>
              </a:rPr>
              <a:t>https://dashboard.blooket.com/set/68cf81fc86e27c0a383a6956</a:t>
            </a:r>
            <a:endParaRPr/>
          </a:p>
        </p:txBody>
      </p:sp>
      <p:sp>
        <p:nvSpPr>
          <p:cNvPr id="200" name="Google Shape;200;h8ea2932de4443c4_0_2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50"/>
        <p:cNvGrpSpPr/>
        <p:nvPr/>
      </p:nvGrpSpPr>
      <p:grpSpPr>
        <a:xfrm>
          <a:off x="0" y="0"/>
          <a:ext cx="0" cy="0"/>
          <a:chOff x="0" y="0"/>
          <a:chExt cx="0" cy="0"/>
        </a:xfrm>
      </p:grpSpPr>
      <p:sp>
        <p:nvSpPr>
          <p:cNvPr id="51" name="Google Shape;51;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2" name="Google Shape;52;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3" name="Google Shape;5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6" name="Google Shape;56;p14"/>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200"/>
              </a:spcBef>
              <a:spcAft>
                <a:spcPts val="0"/>
              </a:spcAft>
              <a:buClr>
                <a:schemeClr val="dk1"/>
              </a:buClr>
              <a:buSzPts val="1800"/>
              <a:buChar char="○"/>
              <a:defRPr/>
            </a:lvl2pPr>
            <a:lvl3pPr marL="1371600" lvl="2" indent="-342900" algn="l">
              <a:lnSpc>
                <a:spcPct val="115000"/>
              </a:lnSpc>
              <a:spcBef>
                <a:spcPts val="1200"/>
              </a:spcBef>
              <a:spcAft>
                <a:spcPts val="0"/>
              </a:spcAft>
              <a:buClr>
                <a:schemeClr val="dk1"/>
              </a:buClr>
              <a:buSzPts val="1800"/>
              <a:buChar char="■"/>
              <a:defRPr/>
            </a:lvl3pPr>
            <a:lvl4pPr marL="1828800" lvl="3" indent="-342900" algn="l">
              <a:lnSpc>
                <a:spcPct val="115000"/>
              </a:lnSpc>
              <a:spcBef>
                <a:spcPts val="1200"/>
              </a:spcBef>
              <a:spcAft>
                <a:spcPts val="0"/>
              </a:spcAft>
              <a:buClr>
                <a:schemeClr val="dk1"/>
              </a:buClr>
              <a:buSzPts val="1800"/>
              <a:buChar char="●"/>
              <a:defRPr/>
            </a:lvl4pPr>
            <a:lvl5pPr marL="2286000" lvl="4" indent="-342900" algn="l">
              <a:lnSpc>
                <a:spcPct val="115000"/>
              </a:lnSpc>
              <a:spcBef>
                <a:spcPts val="1200"/>
              </a:spcBef>
              <a:spcAft>
                <a:spcPts val="0"/>
              </a:spcAft>
              <a:buClr>
                <a:schemeClr val="dk1"/>
              </a:buClr>
              <a:buSzPts val="1800"/>
              <a:buChar char="○"/>
              <a:defRPr/>
            </a:lvl5pPr>
            <a:lvl6pPr marL="2743200" lvl="5" indent="-342900" algn="l">
              <a:lnSpc>
                <a:spcPct val="115000"/>
              </a:lnSpc>
              <a:spcBef>
                <a:spcPts val="1200"/>
              </a:spcBef>
              <a:spcAft>
                <a:spcPts val="0"/>
              </a:spcAft>
              <a:buClr>
                <a:schemeClr val="dk1"/>
              </a:buClr>
              <a:buSzPts val="1800"/>
              <a:buChar char="■"/>
              <a:defRPr/>
            </a:lvl6pPr>
            <a:lvl7pPr marL="3200400" lvl="6" indent="-342900" algn="l">
              <a:lnSpc>
                <a:spcPct val="115000"/>
              </a:lnSpc>
              <a:spcBef>
                <a:spcPts val="1200"/>
              </a:spcBef>
              <a:spcAft>
                <a:spcPts val="0"/>
              </a:spcAft>
              <a:buClr>
                <a:schemeClr val="dk1"/>
              </a:buClr>
              <a:buSzPts val="1800"/>
              <a:buChar char="●"/>
              <a:defRPr/>
            </a:lvl7pPr>
            <a:lvl8pPr marL="3657600" lvl="7" indent="-342900" algn="l">
              <a:lnSpc>
                <a:spcPct val="115000"/>
              </a:lnSpc>
              <a:spcBef>
                <a:spcPts val="1200"/>
              </a:spcBef>
              <a:spcAft>
                <a:spcPts val="0"/>
              </a:spcAft>
              <a:buClr>
                <a:schemeClr val="dk1"/>
              </a:buClr>
              <a:buSzPts val="1800"/>
              <a:buChar char="○"/>
              <a:defRPr/>
            </a:lvl8pPr>
            <a:lvl9pPr marL="4114800" lvl="8" indent="-342900" algn="l">
              <a:lnSpc>
                <a:spcPct val="115000"/>
              </a:lnSpc>
              <a:spcBef>
                <a:spcPts val="1200"/>
              </a:spcBef>
              <a:spcAft>
                <a:spcPts val="1200"/>
              </a:spcAft>
              <a:buClr>
                <a:schemeClr val="dk1"/>
              </a:buClr>
              <a:buSzPts val="1800"/>
              <a:buChar char="■"/>
              <a:defRPr/>
            </a:lvl9pPr>
          </a:lstStyle>
          <a:p>
            <a:endParaRPr/>
          </a:p>
        </p:txBody>
      </p:sp>
      <p:sp>
        <p:nvSpPr>
          <p:cNvPr id="57" name="Google Shape;57;p14"/>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8" name="Google Shape;58;p14"/>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9" name="Google Shape;59;p14"/>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EFEFE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www.youtube.com/watch?v=ZmHxq28440c"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hyperlink" Target="http://www.youtube.com/watch?v=f4q7BqKw50c" TargetMode="External"/><Relationship Id="rId3" Type="http://schemas.openxmlformats.org/officeDocument/2006/relationships/image" Target="../media/image15.png"/><Relationship Id="rId7" Type="http://schemas.openxmlformats.org/officeDocument/2006/relationships/image" Target="../media/image19.gif"/><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gif"/><Relationship Id="rId4" Type="http://schemas.openxmlformats.org/officeDocument/2006/relationships/image" Target="../media/image16.png"/><Relationship Id="rId9" Type="http://schemas.openxmlformats.org/officeDocument/2006/relationships/image" Target="../media/image20.jp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gif"/><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gif"/><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hyperlink" Target="https://dashboard.blooket.com/set/68cf81fc86e27c0a383a6956" TargetMode="External"/><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p:nvPr/>
        </p:nvSpPr>
        <p:spPr>
          <a:xfrm>
            <a:off x="104400" y="77000"/>
            <a:ext cx="89193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Title: How Did the Assassination of Franz Ferdinand Lead to the First World War?</a:t>
            </a:r>
            <a:endParaRPr sz="1200" b="1">
              <a:solidFill>
                <a:srgbClr val="980000"/>
              </a:solidFill>
              <a:latin typeface="Delius"/>
              <a:ea typeface="Delius"/>
              <a:cs typeface="Delius"/>
              <a:sym typeface="Delius"/>
            </a:endParaRPr>
          </a:p>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LO: How did the assassination increase tensions and trigger a wider European conflict?</a:t>
            </a:r>
            <a:endParaRPr sz="1200" b="1">
              <a:solidFill>
                <a:srgbClr val="980000"/>
              </a:solidFill>
              <a:latin typeface="Delius"/>
              <a:ea typeface="Delius"/>
              <a:cs typeface="Delius"/>
              <a:sym typeface="Delius"/>
            </a:endParaRPr>
          </a:p>
          <a:p>
            <a:pPr marL="0" marR="0" lvl="0" indent="0" algn="l" rtl="0">
              <a:lnSpc>
                <a:spcPct val="115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
        <p:nvSpPr>
          <p:cNvPr id="65" name="Google Shape;65;p15"/>
          <p:cNvSpPr txBox="1"/>
          <p:nvPr/>
        </p:nvSpPr>
        <p:spPr>
          <a:xfrm>
            <a:off x="155625" y="743900"/>
            <a:ext cx="5299778" cy="921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u="sng" dirty="0">
                <a:solidFill>
                  <a:schemeClr val="dk1"/>
                </a:solidFill>
                <a:latin typeface="Delius"/>
                <a:ea typeface="Delius"/>
                <a:cs typeface="Delius"/>
                <a:sym typeface="Delius"/>
              </a:rPr>
              <a:t>Title:</a:t>
            </a:r>
            <a:r>
              <a:rPr lang="en" sz="1800" b="1" dirty="0">
                <a:solidFill>
                  <a:schemeClr val="dk1"/>
                </a:solidFill>
                <a:latin typeface="Delius"/>
                <a:ea typeface="Delius"/>
                <a:cs typeface="Delius"/>
                <a:sym typeface="Delius"/>
              </a:rPr>
              <a:t> The Assassination of Archduke Franz Ferdinand</a:t>
            </a:r>
            <a:endParaRPr sz="1800" b="1" dirty="0">
              <a:solidFill>
                <a:schemeClr val="dk1"/>
              </a:solidFill>
              <a:latin typeface="Delius"/>
              <a:ea typeface="Delius"/>
              <a:cs typeface="Delius"/>
              <a:sym typeface="Delius"/>
            </a:endParaRPr>
          </a:p>
        </p:txBody>
      </p:sp>
      <p:sp>
        <p:nvSpPr>
          <p:cNvPr id="66" name="Google Shape;66;p15"/>
          <p:cNvSpPr txBox="1"/>
          <p:nvPr/>
        </p:nvSpPr>
        <p:spPr>
          <a:xfrm>
            <a:off x="240950" y="1715175"/>
            <a:ext cx="5851800" cy="3076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endParaRPr sz="1800">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latin typeface="Delius"/>
                <a:ea typeface="Delius"/>
                <a:cs typeface="Delius"/>
                <a:sym typeface="Delius"/>
              </a:rPr>
              <a:t>Last Lesson:</a:t>
            </a:r>
            <a:r>
              <a:rPr lang="en" sz="1800">
                <a:solidFill>
                  <a:schemeClr val="dk1"/>
                </a:solidFill>
                <a:latin typeface="Delius"/>
                <a:ea typeface="Delius"/>
                <a:cs typeface="Delius"/>
                <a:sym typeface="Delius"/>
              </a:rPr>
              <a:t> What was the ‘</a:t>
            </a:r>
            <a:r>
              <a:rPr lang="en" sz="1800" b="1">
                <a:solidFill>
                  <a:schemeClr val="dk1"/>
                </a:solidFill>
                <a:latin typeface="Delius"/>
                <a:ea typeface="Delius"/>
                <a:cs typeface="Delius"/>
                <a:sym typeface="Delius"/>
              </a:rPr>
              <a:t>Arms Race</a:t>
            </a:r>
            <a:r>
              <a:rPr lang="en" sz="1800">
                <a:solidFill>
                  <a:schemeClr val="dk1"/>
                </a:solidFill>
                <a:latin typeface="Delius"/>
                <a:ea typeface="Delius"/>
                <a:cs typeface="Delius"/>
                <a:sym typeface="Delius"/>
              </a:rPr>
              <a:t>’ and how did it show competition instead of peace?</a:t>
            </a:r>
            <a:endParaRPr sz="1800" b="0"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endParaRPr sz="600" b="0"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latin typeface="Delius"/>
                <a:ea typeface="Delius"/>
                <a:cs typeface="Delius"/>
                <a:sym typeface="Delius"/>
              </a:rPr>
              <a:t>Two Lesson</a:t>
            </a:r>
            <a:r>
              <a:rPr lang="en" sz="1800" b="1" i="0" u="none" strike="noStrike" cap="none">
                <a:solidFill>
                  <a:schemeClr val="dk1"/>
                </a:solidFill>
                <a:latin typeface="Delius"/>
                <a:ea typeface="Delius"/>
                <a:cs typeface="Delius"/>
                <a:sym typeface="Delius"/>
              </a:rPr>
              <a:t>s Ago: </a:t>
            </a:r>
            <a:r>
              <a:rPr lang="en" sz="1800">
                <a:solidFill>
                  <a:schemeClr val="dk1"/>
                </a:solidFill>
                <a:latin typeface="Delius"/>
                <a:ea typeface="Delius"/>
                <a:cs typeface="Delius"/>
                <a:sym typeface="Delius"/>
              </a:rPr>
              <a:t>Which countries joined the ‘</a:t>
            </a:r>
            <a:r>
              <a:rPr lang="en" sz="1800" b="1">
                <a:solidFill>
                  <a:schemeClr val="dk1"/>
                </a:solidFill>
                <a:latin typeface="Delius"/>
                <a:ea typeface="Delius"/>
                <a:cs typeface="Delius"/>
                <a:sym typeface="Delius"/>
              </a:rPr>
              <a:t>Triple Alliance</a:t>
            </a:r>
            <a:r>
              <a:rPr lang="en" sz="1800">
                <a:solidFill>
                  <a:schemeClr val="dk1"/>
                </a:solidFill>
                <a:latin typeface="Delius"/>
                <a:ea typeface="Delius"/>
                <a:cs typeface="Delius"/>
                <a:sym typeface="Delius"/>
              </a:rPr>
              <a:t>’ and the ‘</a:t>
            </a:r>
            <a:r>
              <a:rPr lang="en" sz="1800" b="1">
                <a:solidFill>
                  <a:schemeClr val="dk1"/>
                </a:solidFill>
                <a:latin typeface="Delius"/>
                <a:ea typeface="Delius"/>
                <a:cs typeface="Delius"/>
                <a:sym typeface="Delius"/>
              </a:rPr>
              <a:t>Triple Entente</a:t>
            </a:r>
            <a:r>
              <a:rPr lang="en" sz="1800">
                <a:solidFill>
                  <a:schemeClr val="dk1"/>
                </a:solidFill>
                <a:latin typeface="Delius"/>
                <a:ea typeface="Delius"/>
                <a:cs typeface="Delius"/>
                <a:sym typeface="Delius"/>
              </a:rPr>
              <a:t>’ and what does this tell us about loyalty between nations?</a:t>
            </a:r>
            <a:endParaRPr sz="1800">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endParaRPr sz="600" b="1"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latin typeface="Delius"/>
                <a:ea typeface="Delius"/>
                <a:cs typeface="Delius"/>
                <a:sym typeface="Delius"/>
              </a:rPr>
              <a:t>Three Lessons Ago</a:t>
            </a:r>
            <a:r>
              <a:rPr lang="en" sz="1800" b="1" i="0" u="none" strike="noStrike" cap="none">
                <a:solidFill>
                  <a:schemeClr val="dk1"/>
                </a:solidFill>
                <a:latin typeface="Delius"/>
                <a:ea typeface="Delius"/>
                <a:cs typeface="Delius"/>
                <a:sym typeface="Delius"/>
              </a:rPr>
              <a:t>:</a:t>
            </a:r>
            <a:r>
              <a:rPr lang="en" sz="1800" b="0" i="0" u="none" strike="noStrike" cap="none">
                <a:solidFill>
                  <a:schemeClr val="dk1"/>
                </a:solidFill>
                <a:latin typeface="Delius"/>
                <a:ea typeface="Delius"/>
                <a:cs typeface="Delius"/>
                <a:sym typeface="Delius"/>
              </a:rPr>
              <a:t> </a:t>
            </a:r>
            <a:r>
              <a:rPr lang="en" sz="1800">
                <a:solidFill>
                  <a:schemeClr val="dk1"/>
                </a:solidFill>
                <a:latin typeface="Delius"/>
                <a:ea typeface="Delius"/>
                <a:cs typeface="Delius"/>
                <a:sym typeface="Delius"/>
              </a:rPr>
              <a:t>What is the difference between an ‘</a:t>
            </a:r>
            <a:r>
              <a:rPr lang="en" sz="1800" b="1">
                <a:solidFill>
                  <a:schemeClr val="dk1"/>
                </a:solidFill>
                <a:latin typeface="Delius"/>
                <a:ea typeface="Delius"/>
                <a:cs typeface="Delius"/>
                <a:sym typeface="Delius"/>
              </a:rPr>
              <a:t>Empire</a:t>
            </a:r>
            <a:r>
              <a:rPr lang="en" sz="1800">
                <a:solidFill>
                  <a:schemeClr val="dk1"/>
                </a:solidFill>
                <a:latin typeface="Delius"/>
                <a:ea typeface="Delius"/>
                <a:cs typeface="Delius"/>
                <a:sym typeface="Delius"/>
              </a:rPr>
              <a:t>’ and a ‘</a:t>
            </a:r>
            <a:r>
              <a:rPr lang="en" sz="1800" b="1">
                <a:solidFill>
                  <a:schemeClr val="dk1"/>
                </a:solidFill>
                <a:latin typeface="Delius"/>
                <a:ea typeface="Delius"/>
                <a:cs typeface="Delius"/>
                <a:sym typeface="Delius"/>
              </a:rPr>
              <a:t>Colony</a:t>
            </a:r>
            <a:r>
              <a:rPr lang="en" sz="1800">
                <a:solidFill>
                  <a:schemeClr val="dk1"/>
                </a:solidFill>
                <a:latin typeface="Delius"/>
                <a:ea typeface="Delius"/>
                <a:cs typeface="Delius"/>
                <a:sym typeface="Delius"/>
              </a:rPr>
              <a:t>’ and how does this link to fairness and power?</a:t>
            </a:r>
            <a:endParaRPr sz="1800" b="0" i="0" u="none" strike="noStrike" cap="none">
              <a:solidFill>
                <a:schemeClr val="dk1"/>
              </a:solidFill>
              <a:latin typeface="Delius"/>
              <a:ea typeface="Delius"/>
              <a:cs typeface="Delius"/>
              <a:sym typeface="Delius"/>
            </a:endParaRPr>
          </a:p>
        </p:txBody>
      </p:sp>
      <p:sp>
        <p:nvSpPr>
          <p:cNvPr id="67" name="Google Shape;67;p15"/>
          <p:cNvSpPr txBox="1"/>
          <p:nvPr/>
        </p:nvSpPr>
        <p:spPr>
          <a:xfrm>
            <a:off x="5334675" y="743900"/>
            <a:ext cx="3637800" cy="1300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1800" b="1" i="0" u="none" strike="noStrike" cap="none">
                <a:solidFill>
                  <a:srgbClr val="000000"/>
                </a:solidFill>
                <a:highlight>
                  <a:srgbClr val="FFFF00"/>
                </a:highlight>
                <a:latin typeface="Caveat"/>
                <a:ea typeface="Caveat"/>
                <a:cs typeface="Caveat"/>
                <a:sym typeface="Caveat"/>
              </a:rPr>
              <a:t>Key Enquiry Question: </a:t>
            </a:r>
            <a:r>
              <a:rPr lang="en" sz="1800" b="1" i="0" u="none" strike="noStrike" cap="none">
                <a:solidFill>
                  <a:srgbClr val="1F1F1F"/>
                </a:solidFill>
                <a:highlight>
                  <a:srgbClr val="FFFF00"/>
                </a:highlight>
                <a:latin typeface="Caveat"/>
                <a:ea typeface="Caveat"/>
                <a:cs typeface="Caveat"/>
                <a:sym typeface="Caveat"/>
              </a:rPr>
              <a:t>What were the causes of WW1, and how did different factors contribute to the outbreak of the conflict?</a:t>
            </a:r>
            <a:endParaRPr sz="1800" b="1" i="0" u="none" strike="noStrike" cap="none">
              <a:solidFill>
                <a:srgbClr val="000000"/>
              </a:solidFill>
              <a:highlight>
                <a:srgbClr val="FFFF00"/>
              </a:highlight>
              <a:latin typeface="Caveat"/>
              <a:ea typeface="Caveat"/>
              <a:cs typeface="Caveat"/>
              <a:sym typeface="Caveat"/>
            </a:endParaRPr>
          </a:p>
        </p:txBody>
      </p:sp>
      <p:pic>
        <p:nvPicPr>
          <p:cNvPr id="68" name="Google Shape;68;p15"/>
          <p:cNvPicPr preferRelativeResize="0"/>
          <p:nvPr/>
        </p:nvPicPr>
        <p:blipFill>
          <a:blip r:embed="rId3">
            <a:alphaModFix/>
          </a:blip>
          <a:stretch>
            <a:fillRect/>
          </a:stretch>
        </p:blipFill>
        <p:spPr>
          <a:xfrm>
            <a:off x="6185825" y="2125050"/>
            <a:ext cx="2790701" cy="2790701"/>
          </a:xfrm>
          <a:prstGeom prst="rect">
            <a:avLst/>
          </a:prstGeom>
          <a:noFill/>
          <a:ln>
            <a:noFill/>
          </a:ln>
        </p:spPr>
      </p:pic>
      <p:pic>
        <p:nvPicPr>
          <p:cNvPr id="69" name="Google Shape;69;p15"/>
          <p:cNvPicPr preferRelativeResize="0"/>
          <p:nvPr/>
        </p:nvPicPr>
        <p:blipFill>
          <a:blip r:embed="rId4">
            <a:alphaModFix/>
          </a:blip>
          <a:stretch>
            <a:fillRect/>
          </a:stretch>
        </p:blipFill>
        <p:spPr>
          <a:xfrm>
            <a:off x="201175" y="1715175"/>
            <a:ext cx="764550" cy="6235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p:nvPr/>
        </p:nvSpPr>
        <p:spPr>
          <a:xfrm>
            <a:off x="104400" y="1011663"/>
            <a:ext cx="5290800" cy="3581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1" i="0" u="none" strike="noStrike" cap="none" dirty="0">
                <a:solidFill>
                  <a:schemeClr val="dk1"/>
                </a:solidFill>
                <a:latin typeface="Baumans"/>
                <a:ea typeface="Baumans"/>
                <a:cs typeface="Baumans"/>
                <a:sym typeface="Baumans"/>
              </a:rPr>
              <a:t>Success Criteria:</a:t>
            </a:r>
            <a:endParaRPr sz="1600" b="1" i="0" u="none" strike="noStrike" cap="none" dirty="0">
              <a:solidFill>
                <a:schemeClr val="dk1"/>
              </a:solidFill>
              <a:latin typeface="Baumans"/>
              <a:ea typeface="Baumans"/>
              <a:cs typeface="Baumans"/>
              <a:sym typeface="Baumans"/>
            </a:endParaRPr>
          </a:p>
          <a:p>
            <a:pPr marL="0" marR="0" lvl="0" indent="0" algn="l" rtl="0">
              <a:lnSpc>
                <a:spcPct val="115000"/>
              </a:lnSpc>
              <a:spcBef>
                <a:spcPts val="0"/>
              </a:spcBef>
              <a:spcAft>
                <a:spcPts val="0"/>
              </a:spcAft>
              <a:buClr>
                <a:srgbClr val="000000"/>
              </a:buClr>
              <a:buSzPts val="1600"/>
              <a:buFont typeface="Arial"/>
              <a:buNone/>
            </a:pPr>
            <a:endParaRPr sz="600" b="1" dirty="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b="1" dirty="0">
                <a:solidFill>
                  <a:schemeClr val="dk1"/>
                </a:solidFill>
                <a:latin typeface="Baumans"/>
                <a:ea typeface="Baumans"/>
                <a:cs typeface="Baumans"/>
                <a:sym typeface="Baumans"/>
              </a:rPr>
              <a:t>🧭 Meeting:</a:t>
            </a:r>
            <a:endParaRPr sz="1600" b="1" dirty="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dirty="0">
                <a:solidFill>
                  <a:schemeClr val="dk1"/>
                </a:solidFill>
                <a:latin typeface="Baumans"/>
                <a:ea typeface="Baumans"/>
                <a:cs typeface="Baumans"/>
                <a:sym typeface="Baumans"/>
              </a:rPr>
              <a:t> Can </a:t>
            </a:r>
            <a:r>
              <a:rPr lang="en" sz="1600" b="1" dirty="0">
                <a:solidFill>
                  <a:schemeClr val="dk1"/>
                </a:solidFill>
                <a:latin typeface="Baumans"/>
                <a:ea typeface="Baumans"/>
                <a:cs typeface="Baumans"/>
                <a:sym typeface="Baumans"/>
              </a:rPr>
              <a:t>identify key events and individuals </a:t>
            </a:r>
            <a:r>
              <a:rPr lang="en" sz="1600" dirty="0">
                <a:solidFill>
                  <a:schemeClr val="dk1"/>
                </a:solidFill>
                <a:latin typeface="Baumans"/>
                <a:ea typeface="Baumans"/>
                <a:cs typeface="Baumans"/>
                <a:sym typeface="Baumans"/>
              </a:rPr>
              <a:t>involved in the assassination of Franz Ferdinand.</a:t>
            </a:r>
            <a:endParaRPr sz="16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endParaRPr sz="600" b="1" dirty="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b="1" dirty="0">
                <a:solidFill>
                  <a:schemeClr val="dk1"/>
                </a:solidFill>
                <a:latin typeface="Baumans"/>
                <a:ea typeface="Baumans"/>
                <a:cs typeface="Baumans"/>
                <a:sym typeface="Baumans"/>
              </a:rPr>
              <a:t>🔎 Exceeding:</a:t>
            </a:r>
            <a:endParaRPr sz="1600" b="1" dirty="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dirty="0">
                <a:solidFill>
                  <a:schemeClr val="dk1"/>
                </a:solidFill>
                <a:latin typeface="Baumans"/>
                <a:ea typeface="Baumans"/>
                <a:cs typeface="Baumans"/>
                <a:sym typeface="Baumans"/>
              </a:rPr>
              <a:t> Can</a:t>
            </a:r>
            <a:r>
              <a:rPr lang="en" sz="1600" b="1" dirty="0">
                <a:solidFill>
                  <a:schemeClr val="dk1"/>
                </a:solidFill>
                <a:latin typeface="Baumans"/>
                <a:ea typeface="Baumans"/>
                <a:cs typeface="Baumans"/>
                <a:sym typeface="Baumans"/>
              </a:rPr>
              <a:t> explain how the assassination increased tensions </a:t>
            </a:r>
            <a:r>
              <a:rPr lang="en" sz="1600" dirty="0">
                <a:solidFill>
                  <a:schemeClr val="dk1"/>
                </a:solidFill>
                <a:latin typeface="Baumans"/>
                <a:ea typeface="Baumans"/>
                <a:cs typeface="Baumans"/>
                <a:sym typeface="Baumans"/>
              </a:rPr>
              <a:t>between Austria-Hungary and Serbia.</a:t>
            </a:r>
            <a:endParaRPr sz="16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endParaRPr sz="600" b="1" dirty="0">
              <a:solidFill>
                <a:schemeClr val="dk1"/>
              </a:solidFill>
              <a:latin typeface="Baumans"/>
              <a:ea typeface="Baumans"/>
              <a:cs typeface="Baumans"/>
              <a:sym typeface="Baumans"/>
            </a:endParaRPr>
          </a:p>
          <a:p>
            <a:pPr marL="0" lvl="0" indent="0" algn="l" rtl="0">
              <a:lnSpc>
                <a:spcPct val="115000"/>
              </a:lnSpc>
              <a:spcBef>
                <a:spcPts val="0"/>
              </a:spcBef>
              <a:spcAft>
                <a:spcPts val="0"/>
              </a:spcAft>
              <a:buClr>
                <a:schemeClr val="dk1"/>
              </a:buClr>
              <a:buSzPts val="1100"/>
              <a:buFont typeface="Arial"/>
              <a:buNone/>
            </a:pPr>
            <a:r>
              <a:rPr lang="en" sz="1600" b="1" dirty="0">
                <a:solidFill>
                  <a:schemeClr val="dk1"/>
                </a:solidFill>
                <a:latin typeface="Baumans"/>
                <a:ea typeface="Baumans"/>
                <a:cs typeface="Baumans"/>
                <a:sym typeface="Baumans"/>
              </a:rPr>
              <a:t>🧠 Mastering:</a:t>
            </a:r>
            <a:br>
              <a:rPr lang="en" sz="1600" b="1" dirty="0">
                <a:solidFill>
                  <a:schemeClr val="dk1"/>
                </a:solidFill>
                <a:latin typeface="Baumans"/>
                <a:ea typeface="Baumans"/>
                <a:cs typeface="Baumans"/>
                <a:sym typeface="Baumans"/>
              </a:rPr>
            </a:br>
            <a:r>
              <a:rPr lang="en" sz="1600" b="1" dirty="0">
                <a:solidFill>
                  <a:schemeClr val="dk1"/>
                </a:solidFill>
                <a:latin typeface="Baumans"/>
                <a:ea typeface="Baumans"/>
                <a:cs typeface="Baumans"/>
                <a:sym typeface="Baumans"/>
              </a:rPr>
              <a:t> </a:t>
            </a:r>
            <a:r>
              <a:rPr lang="en" sz="1600" dirty="0">
                <a:solidFill>
                  <a:schemeClr val="dk1"/>
                </a:solidFill>
                <a:latin typeface="Baumans"/>
                <a:ea typeface="Baumans"/>
                <a:cs typeface="Baumans"/>
                <a:sym typeface="Baumans"/>
              </a:rPr>
              <a:t>Can</a:t>
            </a:r>
            <a:r>
              <a:rPr lang="en" sz="1600" b="1" dirty="0">
                <a:solidFill>
                  <a:schemeClr val="dk1"/>
                </a:solidFill>
                <a:latin typeface="Baumans"/>
                <a:ea typeface="Baumans"/>
                <a:cs typeface="Baumans"/>
                <a:sym typeface="Baumans"/>
              </a:rPr>
              <a:t> </a:t>
            </a:r>
            <a:r>
              <a:rPr lang="en" sz="1600" b="1" dirty="0" err="1">
                <a:solidFill>
                  <a:schemeClr val="dk1"/>
                </a:solidFill>
                <a:latin typeface="Baumans"/>
                <a:ea typeface="Baumans"/>
                <a:cs typeface="Baumans"/>
                <a:sym typeface="Baumans"/>
              </a:rPr>
              <a:t>analyse</a:t>
            </a:r>
            <a:r>
              <a:rPr lang="en" sz="1600" b="1" dirty="0">
                <a:solidFill>
                  <a:schemeClr val="dk1"/>
                </a:solidFill>
                <a:latin typeface="Baumans"/>
                <a:ea typeface="Baumans"/>
                <a:cs typeface="Baumans"/>
                <a:sym typeface="Baumans"/>
              </a:rPr>
              <a:t> how the assassination and the reactions of European powers </a:t>
            </a:r>
            <a:r>
              <a:rPr lang="en" sz="1600" dirty="0">
                <a:solidFill>
                  <a:schemeClr val="dk1"/>
                </a:solidFill>
                <a:latin typeface="Baumans"/>
                <a:ea typeface="Baumans"/>
                <a:cs typeface="Baumans"/>
                <a:sym typeface="Baumans"/>
              </a:rPr>
              <a:t>contributed to the outbreak of the First World War.</a:t>
            </a:r>
            <a:endParaRPr sz="1600" dirty="0">
              <a:solidFill>
                <a:schemeClr val="dk1"/>
              </a:solidFill>
              <a:latin typeface="Baumans"/>
              <a:ea typeface="Baumans"/>
              <a:cs typeface="Baumans"/>
              <a:sym typeface="Baumans"/>
            </a:endParaRPr>
          </a:p>
        </p:txBody>
      </p:sp>
      <p:sp>
        <p:nvSpPr>
          <p:cNvPr id="75" name="Google Shape;75;p16"/>
          <p:cNvSpPr txBox="1"/>
          <p:nvPr/>
        </p:nvSpPr>
        <p:spPr>
          <a:xfrm>
            <a:off x="5330325" y="702213"/>
            <a:ext cx="3637800" cy="1465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000" b="1" i="0" u="none" strike="noStrike" cap="none">
                <a:solidFill>
                  <a:srgbClr val="000000"/>
                </a:solidFill>
                <a:highlight>
                  <a:srgbClr val="FFFF00"/>
                </a:highlight>
                <a:latin typeface="Caveat"/>
                <a:ea typeface="Caveat"/>
                <a:cs typeface="Caveat"/>
                <a:sym typeface="Caveat"/>
              </a:rPr>
              <a:t>Key Enquiry Question: </a:t>
            </a:r>
            <a:r>
              <a:rPr lang="en" sz="2000" b="1" i="0" u="none" strike="noStrike" cap="none">
                <a:solidFill>
                  <a:srgbClr val="1F1F1F"/>
                </a:solidFill>
                <a:highlight>
                  <a:srgbClr val="FFFF00"/>
                </a:highlight>
                <a:latin typeface="Caveat"/>
                <a:ea typeface="Caveat"/>
                <a:cs typeface="Caveat"/>
                <a:sym typeface="Caveat"/>
              </a:rPr>
              <a:t>What were the causes of WW1, and how did different factors contribute to the outbreak of the conflict?</a:t>
            </a:r>
            <a:endParaRPr sz="2000" b="1" i="0" u="none" strike="noStrike" cap="none">
              <a:solidFill>
                <a:srgbClr val="000000"/>
              </a:solidFill>
              <a:highlight>
                <a:srgbClr val="FFFF00"/>
              </a:highlight>
              <a:latin typeface="Caveat"/>
              <a:ea typeface="Caveat"/>
              <a:cs typeface="Caveat"/>
              <a:sym typeface="Caveat"/>
            </a:endParaRPr>
          </a:p>
        </p:txBody>
      </p:sp>
      <p:sp>
        <p:nvSpPr>
          <p:cNvPr id="77" name="Google Shape;77;p16"/>
          <p:cNvSpPr txBox="1"/>
          <p:nvPr/>
        </p:nvSpPr>
        <p:spPr>
          <a:xfrm>
            <a:off x="104400" y="77000"/>
            <a:ext cx="89193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800"/>
              <a:buFont typeface="Arial"/>
              <a:buNone/>
            </a:pPr>
            <a:r>
              <a:rPr lang="en" sz="1200" b="1" dirty="0">
                <a:solidFill>
                  <a:srgbClr val="980000"/>
                </a:solidFill>
                <a:latin typeface="Delius"/>
                <a:ea typeface="Delius"/>
                <a:cs typeface="Delius"/>
                <a:sym typeface="Delius"/>
              </a:rPr>
              <a:t>Title: How Did the Assassination of Franz Ferdinand Lead to the First World War?</a:t>
            </a:r>
            <a:endParaRPr sz="1200" b="1" dirty="0">
              <a:solidFill>
                <a:srgbClr val="980000"/>
              </a:solidFill>
              <a:latin typeface="Delius"/>
              <a:ea typeface="Delius"/>
              <a:cs typeface="Delius"/>
              <a:sym typeface="Delius"/>
            </a:endParaRPr>
          </a:p>
          <a:p>
            <a:pPr marL="0" lvl="0" indent="0" algn="l" rtl="0">
              <a:lnSpc>
                <a:spcPct val="115000"/>
              </a:lnSpc>
              <a:spcBef>
                <a:spcPts val="0"/>
              </a:spcBef>
              <a:spcAft>
                <a:spcPts val="0"/>
              </a:spcAft>
              <a:buClr>
                <a:schemeClr val="dk1"/>
              </a:buClr>
              <a:buSzPts val="800"/>
              <a:buFont typeface="Arial"/>
              <a:buNone/>
            </a:pPr>
            <a:r>
              <a:rPr lang="en" sz="1200" b="1" dirty="0">
                <a:solidFill>
                  <a:srgbClr val="980000"/>
                </a:solidFill>
                <a:latin typeface="Delius"/>
                <a:ea typeface="Delius"/>
                <a:cs typeface="Delius"/>
                <a:sym typeface="Delius"/>
              </a:rPr>
              <a:t>LO: How did the assassination increase tensions and trigger a wider European conflict?</a:t>
            </a:r>
            <a:endParaRPr sz="1200" b="1" dirty="0">
              <a:solidFill>
                <a:srgbClr val="980000"/>
              </a:solidFill>
              <a:latin typeface="Delius"/>
              <a:ea typeface="Delius"/>
              <a:cs typeface="Delius"/>
              <a:sym typeface="Delius"/>
            </a:endParaRPr>
          </a:p>
          <a:p>
            <a:pPr marL="0" marR="0" lvl="0" indent="0" algn="l" rtl="0">
              <a:lnSpc>
                <a:spcPct val="115000"/>
              </a:lnSpc>
              <a:spcBef>
                <a:spcPts val="0"/>
              </a:spcBef>
              <a:spcAft>
                <a:spcPts val="0"/>
              </a:spcAft>
              <a:buClr>
                <a:srgbClr val="000000"/>
              </a:buClr>
              <a:buSzPts val="800"/>
              <a:buFont typeface="Arial"/>
              <a:buNone/>
            </a:pPr>
            <a:endParaRPr sz="1200" b="1" dirty="0">
              <a:solidFill>
                <a:srgbClr val="980000"/>
              </a:solidFill>
              <a:latin typeface="Delius"/>
              <a:ea typeface="Delius"/>
              <a:cs typeface="Delius"/>
              <a:sym typeface="Delius"/>
            </a:endParaRPr>
          </a:p>
        </p:txBody>
      </p:sp>
      <p:pic>
        <p:nvPicPr>
          <p:cNvPr id="78" name="Google Shape;78;p16" descr="Picture 5"/>
          <p:cNvPicPr preferRelativeResize="0"/>
          <p:nvPr/>
        </p:nvPicPr>
        <p:blipFill rotWithShape="1">
          <a:blip r:embed="rId3">
            <a:alphaModFix/>
          </a:blip>
          <a:srcRect/>
          <a:stretch/>
        </p:blipFill>
        <p:spPr>
          <a:xfrm>
            <a:off x="5691353" y="2167736"/>
            <a:ext cx="2915725" cy="2564325"/>
          </a:xfrm>
          <a:prstGeom prst="rect">
            <a:avLst/>
          </a:prstGeom>
          <a:noFill/>
          <a:ln w="19050" cap="flat" cmpd="sng">
            <a:solidFill>
              <a:srgbClr val="000000"/>
            </a:solidFill>
            <a:prstDash val="solid"/>
            <a:miter lim="8000"/>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p:nvPr/>
        </p:nvSpPr>
        <p:spPr>
          <a:xfrm>
            <a:off x="33900" y="1453000"/>
            <a:ext cx="5901900" cy="46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200">
              <a:solidFill>
                <a:schemeClr val="dk1"/>
              </a:solidFill>
              <a:latin typeface="Luckiest Guy"/>
              <a:ea typeface="Luckiest Guy"/>
              <a:cs typeface="Luckiest Guy"/>
              <a:sym typeface="Luckiest Guy"/>
            </a:endParaRPr>
          </a:p>
        </p:txBody>
      </p:sp>
      <p:sp>
        <p:nvSpPr>
          <p:cNvPr id="84" name="Google Shape;84;p17"/>
          <p:cNvSpPr txBox="1"/>
          <p:nvPr/>
        </p:nvSpPr>
        <p:spPr>
          <a:xfrm>
            <a:off x="115350" y="1424525"/>
            <a:ext cx="5124300" cy="2770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2400">
                <a:latin typeface="Baumans"/>
                <a:ea typeface="Baumans"/>
                <a:cs typeface="Baumans"/>
                <a:sym typeface="Baumans"/>
              </a:rPr>
              <a:t>Remember the acronym </a:t>
            </a:r>
            <a:r>
              <a:rPr lang="en" sz="2400" b="1">
                <a:solidFill>
                  <a:srgbClr val="980000"/>
                </a:solidFill>
                <a:latin typeface="Baumans"/>
                <a:ea typeface="Baumans"/>
                <a:cs typeface="Baumans"/>
                <a:sym typeface="Baumans"/>
              </a:rPr>
              <a:t>MAINS</a:t>
            </a:r>
            <a:r>
              <a:rPr lang="en" sz="2400">
                <a:latin typeface="Baumans"/>
                <a:ea typeface="Baumans"/>
                <a:cs typeface="Baumans"/>
                <a:sym typeface="Baumans"/>
              </a:rPr>
              <a:t>: </a:t>
            </a:r>
            <a:endParaRPr sz="2400">
              <a:latin typeface="Baumans"/>
              <a:ea typeface="Baumans"/>
              <a:cs typeface="Baumans"/>
              <a:sym typeface="Baumans"/>
            </a:endParaRPr>
          </a:p>
          <a:p>
            <a:pPr marL="0" lvl="0" indent="0" algn="l" rtl="0">
              <a:spcBef>
                <a:spcPts val="0"/>
              </a:spcBef>
              <a:spcAft>
                <a:spcPts val="0"/>
              </a:spcAft>
              <a:buNone/>
            </a:pP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M</a:t>
            </a:r>
            <a:r>
              <a:rPr lang="en" sz="2400">
                <a:latin typeface="Baumans"/>
                <a:ea typeface="Baumans"/>
                <a:cs typeface="Baumans"/>
                <a:sym typeface="Baumans"/>
              </a:rPr>
              <a:t> is for </a:t>
            </a:r>
            <a:r>
              <a:rPr lang="en" sz="2400" b="1">
                <a:solidFill>
                  <a:srgbClr val="980000"/>
                </a:solidFill>
                <a:latin typeface="Baumans"/>
                <a:ea typeface="Baumans"/>
                <a:cs typeface="Baumans"/>
                <a:sym typeface="Baumans"/>
              </a:rPr>
              <a:t>M</a:t>
            </a:r>
            <a:r>
              <a:rPr lang="en" sz="2400">
                <a:latin typeface="Baumans"/>
                <a:ea typeface="Baumans"/>
                <a:cs typeface="Baumans"/>
                <a:sym typeface="Baumans"/>
              </a:rPr>
              <a:t>ilitarism </a:t>
            </a: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A</a:t>
            </a:r>
            <a:r>
              <a:rPr lang="en" sz="2400" b="1">
                <a:latin typeface="Baumans"/>
                <a:ea typeface="Baumans"/>
                <a:cs typeface="Baumans"/>
                <a:sym typeface="Baumans"/>
              </a:rPr>
              <a:t> </a:t>
            </a:r>
            <a:r>
              <a:rPr lang="en" sz="2400">
                <a:latin typeface="Baumans"/>
                <a:ea typeface="Baumans"/>
                <a:cs typeface="Baumans"/>
                <a:sym typeface="Baumans"/>
              </a:rPr>
              <a:t>is for the </a:t>
            </a:r>
            <a:r>
              <a:rPr lang="en" sz="2400" b="1">
                <a:solidFill>
                  <a:srgbClr val="980000"/>
                </a:solidFill>
                <a:latin typeface="Baumans"/>
                <a:ea typeface="Baumans"/>
                <a:cs typeface="Baumans"/>
                <a:sym typeface="Baumans"/>
              </a:rPr>
              <a:t>A</a:t>
            </a:r>
            <a:r>
              <a:rPr lang="en" sz="2400">
                <a:latin typeface="Baumans"/>
                <a:ea typeface="Baumans"/>
                <a:cs typeface="Baumans"/>
                <a:sym typeface="Baumans"/>
              </a:rPr>
              <a:t>lliance System </a:t>
            </a: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I</a:t>
            </a:r>
            <a:r>
              <a:rPr lang="en" sz="2400">
                <a:latin typeface="Baumans"/>
                <a:ea typeface="Baumans"/>
                <a:cs typeface="Baumans"/>
                <a:sym typeface="Baumans"/>
              </a:rPr>
              <a:t> is for </a:t>
            </a:r>
            <a:r>
              <a:rPr lang="en" sz="2400" b="1">
                <a:solidFill>
                  <a:srgbClr val="980000"/>
                </a:solidFill>
                <a:latin typeface="Baumans"/>
                <a:ea typeface="Baumans"/>
                <a:cs typeface="Baumans"/>
                <a:sym typeface="Baumans"/>
              </a:rPr>
              <a:t>I</a:t>
            </a:r>
            <a:r>
              <a:rPr lang="en" sz="2400">
                <a:latin typeface="Baumans"/>
                <a:ea typeface="Baumans"/>
                <a:cs typeface="Baumans"/>
                <a:sym typeface="Baumans"/>
              </a:rPr>
              <a:t>mperialism </a:t>
            </a: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N</a:t>
            </a:r>
            <a:r>
              <a:rPr lang="en" sz="2400">
                <a:latin typeface="Baumans"/>
                <a:ea typeface="Baumans"/>
                <a:cs typeface="Baumans"/>
                <a:sym typeface="Baumans"/>
              </a:rPr>
              <a:t> is for </a:t>
            </a:r>
            <a:r>
              <a:rPr lang="en" sz="2400" b="1">
                <a:solidFill>
                  <a:srgbClr val="980000"/>
                </a:solidFill>
                <a:latin typeface="Baumans"/>
                <a:ea typeface="Baumans"/>
                <a:cs typeface="Baumans"/>
                <a:sym typeface="Baumans"/>
              </a:rPr>
              <a:t>N</a:t>
            </a:r>
            <a:r>
              <a:rPr lang="en" sz="2400">
                <a:latin typeface="Baumans"/>
                <a:ea typeface="Baumans"/>
                <a:cs typeface="Baumans"/>
                <a:sym typeface="Baumans"/>
              </a:rPr>
              <a:t>ationalism </a:t>
            </a:r>
            <a:endParaRPr sz="2400">
              <a:latin typeface="Baumans"/>
              <a:ea typeface="Baumans"/>
              <a:cs typeface="Baumans"/>
              <a:sym typeface="Baumans"/>
            </a:endParaRPr>
          </a:p>
          <a:p>
            <a:pPr marL="0" lvl="0" indent="0" algn="l" rtl="0">
              <a:spcBef>
                <a:spcPts val="0"/>
              </a:spcBef>
              <a:spcAft>
                <a:spcPts val="0"/>
              </a:spcAft>
              <a:buNone/>
            </a:pPr>
            <a:r>
              <a:rPr lang="en" sz="2400" b="1">
                <a:solidFill>
                  <a:srgbClr val="980000"/>
                </a:solidFill>
                <a:latin typeface="Baumans"/>
                <a:ea typeface="Baumans"/>
                <a:cs typeface="Baumans"/>
                <a:sym typeface="Baumans"/>
              </a:rPr>
              <a:t>S</a:t>
            </a:r>
            <a:r>
              <a:rPr lang="en" sz="2400">
                <a:latin typeface="Baumans"/>
                <a:ea typeface="Baumans"/>
                <a:cs typeface="Baumans"/>
                <a:sym typeface="Baumans"/>
              </a:rPr>
              <a:t> is for </a:t>
            </a:r>
            <a:r>
              <a:rPr lang="en" sz="2400">
                <a:solidFill>
                  <a:srgbClr val="980000"/>
                </a:solidFill>
                <a:latin typeface="Baumans"/>
                <a:ea typeface="Baumans"/>
                <a:cs typeface="Baumans"/>
                <a:sym typeface="Baumans"/>
              </a:rPr>
              <a:t>S</a:t>
            </a:r>
            <a:r>
              <a:rPr lang="en" sz="2400">
                <a:latin typeface="Baumans"/>
                <a:ea typeface="Baumans"/>
                <a:cs typeface="Baumans"/>
                <a:sym typeface="Baumans"/>
              </a:rPr>
              <a:t>ignificant Individuals</a:t>
            </a:r>
            <a:endParaRPr sz="2400">
              <a:latin typeface="Baumans"/>
              <a:ea typeface="Baumans"/>
              <a:cs typeface="Baumans"/>
              <a:sym typeface="Baumans"/>
            </a:endParaRPr>
          </a:p>
        </p:txBody>
      </p:sp>
      <p:pic>
        <p:nvPicPr>
          <p:cNvPr id="85" name="Google Shape;85;p17" descr="The Main Causes of World War I - WorldAtlas"/>
          <p:cNvPicPr preferRelativeResize="0"/>
          <p:nvPr/>
        </p:nvPicPr>
        <p:blipFill rotWithShape="1">
          <a:blip r:embed="rId3">
            <a:alphaModFix/>
          </a:blip>
          <a:srcRect/>
          <a:stretch/>
        </p:blipFill>
        <p:spPr>
          <a:xfrm>
            <a:off x="5426950" y="1815625"/>
            <a:ext cx="3601800" cy="2254339"/>
          </a:xfrm>
          <a:prstGeom prst="rect">
            <a:avLst/>
          </a:prstGeom>
          <a:noFill/>
          <a:ln>
            <a:noFill/>
          </a:ln>
        </p:spPr>
      </p:pic>
      <p:sp>
        <p:nvSpPr>
          <p:cNvPr id="86" name="Google Shape;86;p17"/>
          <p:cNvSpPr txBox="1"/>
          <p:nvPr/>
        </p:nvSpPr>
        <p:spPr>
          <a:xfrm>
            <a:off x="104400" y="700400"/>
            <a:ext cx="54474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What were the main causes of WW1?</a:t>
            </a:r>
            <a:endParaRPr sz="2400" b="1" u="sng">
              <a:solidFill>
                <a:srgbClr val="000000"/>
              </a:solidFill>
              <a:latin typeface="Patrick Hand SC"/>
              <a:ea typeface="Patrick Hand SC"/>
              <a:cs typeface="Patrick Hand SC"/>
              <a:sym typeface="Patrick Hand SC"/>
            </a:endParaRPr>
          </a:p>
        </p:txBody>
      </p:sp>
      <p:sp>
        <p:nvSpPr>
          <p:cNvPr id="87" name="Google Shape;87;p17"/>
          <p:cNvSpPr txBox="1"/>
          <p:nvPr/>
        </p:nvSpPr>
        <p:spPr>
          <a:xfrm>
            <a:off x="5426950" y="782525"/>
            <a:ext cx="3601800" cy="87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1600" b="1">
              <a:solidFill>
                <a:schemeClr val="dk1"/>
              </a:solidFill>
              <a:highlight>
                <a:srgbClr val="FFFF00"/>
              </a:highlight>
              <a:latin typeface="Caveat"/>
              <a:ea typeface="Caveat"/>
              <a:cs typeface="Caveat"/>
              <a:sym typeface="Caveat"/>
            </a:endParaRPr>
          </a:p>
        </p:txBody>
      </p:sp>
      <p:sp>
        <p:nvSpPr>
          <p:cNvPr id="88" name="Google Shape;88;p17"/>
          <p:cNvSpPr txBox="1"/>
          <p:nvPr/>
        </p:nvSpPr>
        <p:spPr>
          <a:xfrm>
            <a:off x="104400" y="77000"/>
            <a:ext cx="89193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Title: How Did the Assassination of Franz Ferdinand Lead to the First World War?</a:t>
            </a:r>
            <a:endParaRPr sz="1200" b="1">
              <a:solidFill>
                <a:srgbClr val="980000"/>
              </a:solidFill>
              <a:latin typeface="Delius"/>
              <a:ea typeface="Delius"/>
              <a:cs typeface="Delius"/>
              <a:sym typeface="Delius"/>
            </a:endParaRPr>
          </a:p>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LO: How did the assassination increase tensions and trigger a wider European conflict?</a:t>
            </a:r>
            <a:endParaRPr sz="1200" b="1">
              <a:solidFill>
                <a:srgbClr val="980000"/>
              </a:solidFill>
              <a:latin typeface="Delius"/>
              <a:ea typeface="Delius"/>
              <a:cs typeface="Delius"/>
              <a:sym typeface="Delius"/>
            </a:endParaRPr>
          </a:p>
          <a:p>
            <a:pPr marL="0" marR="0" lvl="0" indent="0" algn="l" rtl="0">
              <a:lnSpc>
                <a:spcPct val="115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p:nvPr/>
        </p:nvSpPr>
        <p:spPr>
          <a:xfrm>
            <a:off x="104388" y="834875"/>
            <a:ext cx="26157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sng" strike="noStrike" cap="none">
                <a:solidFill>
                  <a:schemeClr val="dk1"/>
                </a:solidFill>
                <a:latin typeface="Patrick Hand"/>
                <a:ea typeface="Patrick Hand"/>
                <a:cs typeface="Patrick Hand"/>
                <a:sym typeface="Patrick Hand"/>
              </a:rPr>
              <a:t>Keywords:</a:t>
            </a:r>
            <a:endParaRPr sz="2400" b="1" i="0" u="sng" strike="noStrike" cap="none">
              <a:solidFill>
                <a:schemeClr val="dk1"/>
              </a:solidFill>
              <a:latin typeface="Patrick Hand"/>
              <a:ea typeface="Patrick Hand"/>
              <a:cs typeface="Patrick Hand"/>
              <a:sym typeface="Patrick Hand"/>
            </a:endParaRPr>
          </a:p>
        </p:txBody>
      </p:sp>
      <p:graphicFrame>
        <p:nvGraphicFramePr>
          <p:cNvPr id="94" name="Google Shape;94;p18"/>
          <p:cNvGraphicFramePr/>
          <p:nvPr>
            <p:extLst>
              <p:ext uri="{D42A27DB-BD31-4B8C-83A1-F6EECF244321}">
                <p14:modId xmlns:p14="http://schemas.microsoft.com/office/powerpoint/2010/main" val="280385102"/>
              </p:ext>
            </p:extLst>
          </p:nvPr>
        </p:nvGraphicFramePr>
        <p:xfrm>
          <a:off x="194675" y="1406375"/>
          <a:ext cx="8829025" cy="3575934"/>
        </p:xfrm>
        <a:graphic>
          <a:graphicData uri="http://schemas.openxmlformats.org/drawingml/2006/table">
            <a:tbl>
              <a:tblPr>
                <a:noFill/>
                <a:tableStyleId>{3A382481-0C11-43CA-AD69-166DDA1F93ED}</a:tableStyleId>
              </a:tblPr>
              <a:tblGrid>
                <a:gridCol w="1843925">
                  <a:extLst>
                    <a:ext uri="{9D8B030D-6E8A-4147-A177-3AD203B41FA5}">
                      <a16:colId xmlns:a16="http://schemas.microsoft.com/office/drawing/2014/main" val="20000"/>
                    </a:ext>
                  </a:extLst>
                </a:gridCol>
                <a:gridCol w="1055275">
                  <a:extLst>
                    <a:ext uri="{9D8B030D-6E8A-4147-A177-3AD203B41FA5}">
                      <a16:colId xmlns:a16="http://schemas.microsoft.com/office/drawing/2014/main" val="20001"/>
                    </a:ext>
                  </a:extLst>
                </a:gridCol>
                <a:gridCol w="5929825">
                  <a:extLst>
                    <a:ext uri="{9D8B030D-6E8A-4147-A177-3AD203B41FA5}">
                      <a16:colId xmlns:a16="http://schemas.microsoft.com/office/drawing/2014/main" val="20002"/>
                    </a:ext>
                  </a:extLst>
                </a:gridCol>
              </a:tblGrid>
              <a:tr h="1191978">
                <a:tc>
                  <a:txBody>
                    <a:bodyPr/>
                    <a:lstStyle/>
                    <a:p>
                      <a:pPr marL="0" lvl="0" indent="0" algn="l" rtl="0">
                        <a:spcBef>
                          <a:spcPts val="0"/>
                        </a:spcBef>
                        <a:spcAft>
                          <a:spcPts val="0"/>
                        </a:spcAft>
                        <a:buClr>
                          <a:schemeClr val="dk1"/>
                        </a:buClr>
                        <a:buSzPts val="1700"/>
                        <a:buFont typeface="Arial"/>
                        <a:buNone/>
                      </a:pPr>
                      <a:r>
                        <a:rPr lang="en" sz="1600" b="1" dirty="0">
                          <a:solidFill>
                            <a:schemeClr val="dk1"/>
                          </a:solidFill>
                          <a:latin typeface="Poppins"/>
                          <a:ea typeface="Poppins"/>
                          <a:cs typeface="Poppins"/>
                          <a:sym typeface="Poppins"/>
                        </a:rPr>
                        <a:t>Assassination</a:t>
                      </a:r>
                    </a:p>
                    <a:p>
                      <a:pPr marL="0" lvl="0" indent="0" algn="l" rtl="0">
                        <a:spcBef>
                          <a:spcPts val="0"/>
                        </a:spcBef>
                        <a:spcAft>
                          <a:spcPts val="0"/>
                        </a:spcAft>
                        <a:buClr>
                          <a:schemeClr val="dk1"/>
                        </a:buClr>
                        <a:buSzPts val="1700"/>
                        <a:buFont typeface="Arial"/>
                        <a:buNone/>
                      </a:pPr>
                      <a:r>
                        <a:rPr lang="ja-JP" altLang="en-US" sz="1600" b="1">
                          <a:solidFill>
                            <a:schemeClr val="dk1"/>
                          </a:solidFill>
                          <a:latin typeface="Poppins"/>
                          <a:ea typeface="Poppins"/>
                          <a:cs typeface="Poppins"/>
                          <a:sym typeface="Poppins"/>
                        </a:rPr>
                        <a:t>暗杀</a:t>
                      </a:r>
                      <a:r>
                        <a:rPr lang="en" sz="1600" b="1" dirty="0">
                          <a:solidFill>
                            <a:schemeClr val="dk1"/>
                          </a:solidFill>
                          <a:latin typeface="Poppins"/>
                          <a:ea typeface="Poppins"/>
                          <a:cs typeface="Poppins"/>
                          <a:sym typeface="Poppins"/>
                        </a:rPr>
                        <a:t> </a:t>
                      </a:r>
                    </a:p>
                    <a:p>
                      <a:pPr marL="0" lvl="0" indent="0" algn="l" rtl="0">
                        <a:spcBef>
                          <a:spcPts val="0"/>
                        </a:spcBef>
                        <a:spcAft>
                          <a:spcPts val="0"/>
                        </a:spcAft>
                        <a:buClr>
                          <a:schemeClr val="dk1"/>
                        </a:buClr>
                        <a:buSzPts val="1700"/>
                        <a:buFont typeface="Arial"/>
                        <a:buNone/>
                      </a:pPr>
                      <a:r>
                        <a:rPr lang="ko-KR" altLang="en-US" sz="1600" b="1" dirty="0">
                          <a:solidFill>
                            <a:schemeClr val="dk1"/>
                          </a:solidFill>
                          <a:latin typeface="Poppins"/>
                          <a:ea typeface="Poppins"/>
                          <a:cs typeface="Poppins"/>
                          <a:sym typeface="Poppins"/>
                        </a:rPr>
                        <a:t>암살</a:t>
                      </a:r>
                      <a:endParaRPr sz="1600" b="1" u="none" strike="noStrike" cap="none"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6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700"/>
                        <a:buFont typeface="Arial"/>
                        <a:buNone/>
                      </a:pPr>
                      <a:r>
                        <a:rPr lang="en" sz="1600" dirty="0">
                          <a:solidFill>
                            <a:schemeClr val="dk1"/>
                          </a:solidFill>
                          <a:latin typeface="Poppins"/>
                          <a:ea typeface="Poppins"/>
                          <a:cs typeface="Poppins"/>
                          <a:sym typeface="Poppins"/>
                        </a:rPr>
                        <a:t>The </a:t>
                      </a:r>
                      <a:r>
                        <a:rPr lang="en" sz="1600" b="1" dirty="0">
                          <a:solidFill>
                            <a:schemeClr val="dk1"/>
                          </a:solidFill>
                          <a:latin typeface="Poppins"/>
                          <a:ea typeface="Poppins"/>
                          <a:cs typeface="Poppins"/>
                          <a:sym typeface="Poppins"/>
                        </a:rPr>
                        <a:t>planned killing </a:t>
                      </a:r>
                      <a:r>
                        <a:rPr lang="ja-JP" altLang="en-US" sz="1600" b="1">
                          <a:solidFill>
                            <a:schemeClr val="dk1"/>
                          </a:solidFill>
                          <a:latin typeface="Poppins"/>
                          <a:ea typeface="Poppins"/>
                          <a:cs typeface="Poppins"/>
                          <a:sym typeface="Poppins"/>
                        </a:rPr>
                        <a:t>计划杀戮</a:t>
                      </a:r>
                      <a:r>
                        <a:rPr lang="en" sz="1600" dirty="0">
                          <a:solidFill>
                            <a:schemeClr val="dk1"/>
                          </a:solidFill>
                          <a:latin typeface="Poppins"/>
                          <a:ea typeface="Poppins"/>
                          <a:cs typeface="Poppins"/>
                          <a:sym typeface="Poppins"/>
                        </a:rPr>
                        <a:t> of an important person, usually for political reasons </a:t>
                      </a:r>
                      <a:r>
                        <a:rPr lang="ja-JP" altLang="en-US" sz="1600">
                          <a:solidFill>
                            <a:schemeClr val="dk1"/>
                          </a:solidFill>
                          <a:latin typeface="Poppins"/>
                          <a:ea typeface="Poppins"/>
                          <a:cs typeface="Poppins"/>
                          <a:sym typeface="Poppins"/>
                        </a:rPr>
                        <a:t>政治原因</a:t>
                      </a:r>
                      <a:r>
                        <a:rPr lang="en" sz="1600" dirty="0">
                          <a:solidFill>
                            <a:schemeClr val="dk1"/>
                          </a:solidFill>
                          <a:latin typeface="Poppins"/>
                          <a:ea typeface="Poppins"/>
                          <a:cs typeface="Poppins"/>
                          <a:sym typeface="Poppins"/>
                        </a:rPr>
                        <a:t>.</a:t>
                      </a:r>
                      <a:endParaRPr sz="1600" u="none" strike="noStrike" cap="none"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191978">
                <a:tc>
                  <a:txBody>
                    <a:bodyPr/>
                    <a:lstStyle/>
                    <a:p>
                      <a:pPr marL="0" marR="0" lvl="0" indent="0" algn="l" rtl="0">
                        <a:lnSpc>
                          <a:spcPct val="100000"/>
                        </a:lnSpc>
                        <a:spcBef>
                          <a:spcPts val="0"/>
                        </a:spcBef>
                        <a:spcAft>
                          <a:spcPts val="0"/>
                        </a:spcAft>
                        <a:buClr>
                          <a:schemeClr val="dk1"/>
                        </a:buClr>
                        <a:buSzPts val="1100"/>
                        <a:buFont typeface="Arial"/>
                        <a:buNone/>
                      </a:pPr>
                      <a:r>
                        <a:rPr lang="en" sz="1600" b="1" dirty="0">
                          <a:solidFill>
                            <a:schemeClr val="dk1"/>
                          </a:solidFill>
                          <a:latin typeface="Poppins"/>
                          <a:ea typeface="Poppins"/>
                          <a:cs typeface="Poppins"/>
                          <a:sym typeface="Poppins"/>
                        </a:rPr>
                        <a:t>The Black Hand </a:t>
                      </a:r>
                      <a:r>
                        <a:rPr lang="ja-JP" altLang="en-US" sz="1600" b="1">
                          <a:solidFill>
                            <a:schemeClr val="dk1"/>
                          </a:solidFill>
                          <a:latin typeface="Poppins"/>
                          <a:ea typeface="Poppins"/>
                          <a:cs typeface="Poppins"/>
                          <a:sym typeface="Poppins"/>
                        </a:rPr>
                        <a:t>黑手党</a:t>
                      </a:r>
                      <a:r>
                        <a:rPr lang="en" sz="1600" b="1" dirty="0">
                          <a:solidFill>
                            <a:schemeClr val="dk1"/>
                          </a:solidFill>
                          <a:latin typeface="Poppins"/>
                          <a:ea typeface="Poppins"/>
                          <a:cs typeface="Poppins"/>
                          <a:sym typeface="Poppins"/>
                        </a:rPr>
                        <a:t> </a:t>
                      </a:r>
                    </a:p>
                    <a:p>
                      <a:pPr marL="0" marR="0" lvl="0" indent="0" algn="l" rtl="0">
                        <a:lnSpc>
                          <a:spcPct val="100000"/>
                        </a:lnSpc>
                        <a:spcBef>
                          <a:spcPts val="0"/>
                        </a:spcBef>
                        <a:spcAft>
                          <a:spcPts val="0"/>
                        </a:spcAft>
                        <a:buClr>
                          <a:schemeClr val="dk1"/>
                        </a:buClr>
                        <a:buSzPts val="1100"/>
                        <a:buFont typeface="Arial"/>
                        <a:buNone/>
                      </a:pPr>
                      <a:r>
                        <a:rPr lang="ko-KR" altLang="en-US" sz="1600" b="1" dirty="0">
                          <a:solidFill>
                            <a:schemeClr val="dk1"/>
                          </a:solidFill>
                          <a:latin typeface="Poppins"/>
                          <a:ea typeface="Poppins"/>
                          <a:cs typeface="Poppins"/>
                          <a:sym typeface="Poppins"/>
                        </a:rPr>
                        <a:t>블랙 핸드</a:t>
                      </a:r>
                      <a:endParaRPr sz="1600" b="1" u="none" strike="noStrike" cap="none"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6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700"/>
                        <a:buFont typeface="Arial"/>
                        <a:buNone/>
                      </a:pPr>
                      <a:r>
                        <a:rPr lang="en" sz="1600">
                          <a:solidFill>
                            <a:schemeClr val="dk1"/>
                          </a:solidFill>
                          <a:latin typeface="Poppins"/>
                          <a:ea typeface="Poppins"/>
                          <a:cs typeface="Poppins"/>
                          <a:sym typeface="Poppins"/>
                        </a:rPr>
                        <a:t>A secret Serbian nationalist group that supported uniting Serbian people and used violence to pursue its aims.</a:t>
                      </a:r>
                      <a:endParaRPr sz="1600" u="none" strike="noStrike" cap="none">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91978">
                <a:tc>
                  <a:txBody>
                    <a:bodyPr/>
                    <a:lstStyle/>
                    <a:p>
                      <a:pPr marL="0" lvl="0" indent="0" algn="l" rtl="0">
                        <a:spcBef>
                          <a:spcPts val="0"/>
                        </a:spcBef>
                        <a:spcAft>
                          <a:spcPts val="0"/>
                        </a:spcAft>
                        <a:buClr>
                          <a:schemeClr val="dk1"/>
                        </a:buClr>
                        <a:buSzPts val="1700"/>
                        <a:buFont typeface="Arial"/>
                        <a:buNone/>
                      </a:pPr>
                      <a:r>
                        <a:rPr lang="en" sz="1600" b="1" dirty="0">
                          <a:solidFill>
                            <a:schemeClr val="dk1"/>
                          </a:solidFill>
                          <a:latin typeface="Poppins"/>
                          <a:ea typeface="Poppins"/>
                          <a:cs typeface="Poppins"/>
                          <a:sym typeface="Poppins"/>
                        </a:rPr>
                        <a:t>Nationalism </a:t>
                      </a:r>
                    </a:p>
                    <a:p>
                      <a:pPr marL="0" lvl="0" indent="0" algn="l" rtl="0">
                        <a:spcBef>
                          <a:spcPts val="0"/>
                        </a:spcBef>
                        <a:spcAft>
                          <a:spcPts val="0"/>
                        </a:spcAft>
                        <a:buClr>
                          <a:schemeClr val="dk1"/>
                        </a:buClr>
                        <a:buSzPts val="1700"/>
                        <a:buFont typeface="Arial"/>
                        <a:buNone/>
                      </a:pPr>
                      <a:r>
                        <a:rPr lang="ja-JP" altLang="en-US" sz="1600" b="1">
                          <a:solidFill>
                            <a:schemeClr val="dk1"/>
                          </a:solidFill>
                          <a:latin typeface="Poppins"/>
                          <a:ea typeface="Poppins"/>
                          <a:cs typeface="Poppins"/>
                          <a:sym typeface="Poppins"/>
                        </a:rPr>
                        <a:t>民族主义</a:t>
                      </a:r>
                      <a:r>
                        <a:rPr lang="en" sz="1600" b="1" dirty="0">
                          <a:solidFill>
                            <a:schemeClr val="dk1"/>
                          </a:solidFill>
                          <a:latin typeface="Poppins"/>
                          <a:ea typeface="Poppins"/>
                          <a:cs typeface="Poppins"/>
                          <a:sym typeface="Poppins"/>
                        </a:rPr>
                        <a:t> </a:t>
                      </a:r>
                    </a:p>
                    <a:p>
                      <a:pPr marL="0" lvl="0" indent="0" algn="l" rtl="0">
                        <a:spcBef>
                          <a:spcPts val="0"/>
                        </a:spcBef>
                        <a:spcAft>
                          <a:spcPts val="0"/>
                        </a:spcAft>
                        <a:buClr>
                          <a:schemeClr val="dk1"/>
                        </a:buClr>
                        <a:buSzPts val="1700"/>
                        <a:buFont typeface="Arial"/>
                        <a:buNone/>
                      </a:pPr>
                      <a:r>
                        <a:rPr lang="ko-KR" altLang="en-US" sz="1600" b="1" dirty="0">
                          <a:solidFill>
                            <a:schemeClr val="dk1"/>
                          </a:solidFill>
                          <a:latin typeface="Poppins"/>
                          <a:ea typeface="Poppins"/>
                          <a:cs typeface="Poppins"/>
                          <a:sym typeface="Poppins"/>
                        </a:rPr>
                        <a:t>민족주의</a:t>
                      </a:r>
                      <a:endParaRPr sz="1600" b="1"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endParaRPr sz="160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700"/>
                        <a:buFont typeface="Arial"/>
                        <a:buNone/>
                      </a:pPr>
                      <a:r>
                        <a:rPr lang="en" sz="1600" dirty="0">
                          <a:solidFill>
                            <a:schemeClr val="dk1"/>
                          </a:solidFill>
                          <a:latin typeface="Poppins"/>
                          <a:ea typeface="Poppins"/>
                          <a:cs typeface="Poppins"/>
                          <a:sym typeface="Poppins"/>
                        </a:rPr>
                        <a:t>The idea that people who share the same culture, language, or history should have their own country.</a:t>
                      </a:r>
                      <a:endParaRPr sz="1600" u="none" strike="noStrike" cap="none" dirty="0">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96" name="Google Shape;96;p18"/>
          <p:cNvPicPr preferRelativeResize="0"/>
          <p:nvPr/>
        </p:nvPicPr>
        <p:blipFill>
          <a:blip r:embed="rId3">
            <a:alphaModFix/>
          </a:blip>
          <a:stretch>
            <a:fillRect/>
          </a:stretch>
        </p:blipFill>
        <p:spPr>
          <a:xfrm>
            <a:off x="2140400" y="1628750"/>
            <a:ext cx="801149" cy="801149"/>
          </a:xfrm>
          <a:prstGeom prst="rect">
            <a:avLst/>
          </a:prstGeom>
          <a:noFill/>
          <a:ln>
            <a:noFill/>
          </a:ln>
        </p:spPr>
      </p:pic>
      <p:pic>
        <p:nvPicPr>
          <p:cNvPr id="97" name="Google Shape;97;p18"/>
          <p:cNvPicPr preferRelativeResize="0"/>
          <p:nvPr/>
        </p:nvPicPr>
        <p:blipFill>
          <a:blip r:embed="rId4">
            <a:alphaModFix/>
          </a:blip>
          <a:stretch>
            <a:fillRect/>
          </a:stretch>
        </p:blipFill>
        <p:spPr>
          <a:xfrm>
            <a:off x="2140400" y="2674113"/>
            <a:ext cx="801149" cy="801149"/>
          </a:xfrm>
          <a:prstGeom prst="rect">
            <a:avLst/>
          </a:prstGeom>
          <a:noFill/>
          <a:ln>
            <a:noFill/>
          </a:ln>
        </p:spPr>
      </p:pic>
      <p:pic>
        <p:nvPicPr>
          <p:cNvPr id="98" name="Google Shape;98;p18"/>
          <p:cNvPicPr preferRelativeResize="0"/>
          <p:nvPr/>
        </p:nvPicPr>
        <p:blipFill>
          <a:blip r:embed="rId5">
            <a:alphaModFix/>
          </a:blip>
          <a:stretch>
            <a:fillRect/>
          </a:stretch>
        </p:blipFill>
        <p:spPr>
          <a:xfrm>
            <a:off x="2140400" y="4046762"/>
            <a:ext cx="801149" cy="801149"/>
          </a:xfrm>
          <a:prstGeom prst="rect">
            <a:avLst/>
          </a:prstGeom>
          <a:noFill/>
          <a:ln>
            <a:noFill/>
          </a:ln>
        </p:spPr>
      </p:pic>
      <p:sp>
        <p:nvSpPr>
          <p:cNvPr id="99" name="Google Shape;99;p18"/>
          <p:cNvSpPr txBox="1"/>
          <p:nvPr/>
        </p:nvSpPr>
        <p:spPr>
          <a:xfrm>
            <a:off x="104400" y="77000"/>
            <a:ext cx="89193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Title: How Did the Assassination of Franz Ferdinand Lead to the First World War?</a:t>
            </a:r>
            <a:endParaRPr sz="1200" b="1">
              <a:solidFill>
                <a:srgbClr val="980000"/>
              </a:solidFill>
              <a:latin typeface="Delius"/>
              <a:ea typeface="Delius"/>
              <a:cs typeface="Delius"/>
              <a:sym typeface="Delius"/>
            </a:endParaRPr>
          </a:p>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LO: How did the assassination increase tensions and trigger a wider European conflict?</a:t>
            </a:r>
            <a:endParaRPr sz="1200" b="1">
              <a:solidFill>
                <a:srgbClr val="980000"/>
              </a:solidFill>
              <a:latin typeface="Delius"/>
              <a:ea typeface="Delius"/>
              <a:cs typeface="Delius"/>
              <a:sym typeface="Delius"/>
            </a:endParaRPr>
          </a:p>
          <a:p>
            <a:pPr marL="0" marR="0" lvl="0" indent="0" algn="l" rtl="0">
              <a:lnSpc>
                <a:spcPct val="115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p:nvPr/>
        </p:nvSpPr>
        <p:spPr>
          <a:xfrm>
            <a:off x="104400" y="144800"/>
            <a:ext cx="5167800" cy="44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400" b="1" i="0" u="none" strike="noStrike" cap="none" dirty="0">
                <a:solidFill>
                  <a:schemeClr val="dk1"/>
                </a:solidFill>
                <a:latin typeface="Patrick Hand"/>
                <a:ea typeface="Patrick Hand"/>
                <a:cs typeface="Patrick Hand"/>
                <a:sym typeface="Patrick Hand"/>
              </a:rPr>
              <a:t>Who was Franz Ferdinand?</a:t>
            </a:r>
            <a:endParaRPr sz="2400" b="1" i="0" u="none" strike="noStrike" cap="none" dirty="0">
              <a:solidFill>
                <a:schemeClr val="dk1"/>
              </a:solidFill>
              <a:latin typeface="Patrick Hand"/>
              <a:ea typeface="Patrick Hand"/>
              <a:cs typeface="Patrick Hand"/>
              <a:sym typeface="Patrick Hand"/>
            </a:endParaRPr>
          </a:p>
        </p:txBody>
      </p:sp>
      <p:sp>
        <p:nvSpPr>
          <p:cNvPr id="106" name="Google Shape;106;p19"/>
          <p:cNvSpPr txBox="1"/>
          <p:nvPr/>
        </p:nvSpPr>
        <p:spPr>
          <a:xfrm>
            <a:off x="4465498" y="281354"/>
            <a:ext cx="4566152" cy="358248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400" b="1" dirty="0">
                <a:latin typeface="Baumans"/>
                <a:ea typeface="Baumans"/>
                <a:cs typeface="Baumans"/>
                <a:sym typeface="Baumans"/>
              </a:rPr>
              <a:t>He was next to become emperor / king of Austria – Hungary. </a:t>
            </a:r>
          </a:p>
          <a:p>
            <a:pPr marL="0" lvl="0" indent="0" algn="l" rtl="0">
              <a:lnSpc>
                <a:spcPct val="115000"/>
              </a:lnSpc>
              <a:spcBef>
                <a:spcPts val="0"/>
              </a:spcBef>
              <a:spcAft>
                <a:spcPts val="0"/>
              </a:spcAft>
              <a:buNone/>
            </a:pPr>
            <a:r>
              <a:rPr lang="en" sz="2400" dirty="0">
                <a:latin typeface="Baumans"/>
                <a:ea typeface="Baumans"/>
                <a:cs typeface="Baumans"/>
                <a:sym typeface="Baumans"/>
              </a:rPr>
              <a:t>He became heir to the throne after the emperor's son, Crown Prince Rudolf, died in 1889. His father, Karl Ludwig, later gave up his claim to the throne.</a:t>
            </a:r>
          </a:p>
          <a:p>
            <a:pPr algn="ctr">
              <a:lnSpc>
                <a:spcPct val="115000"/>
              </a:lnSpc>
            </a:pPr>
            <a:r>
              <a:rPr lang="en-GB" sz="2400" b="1" dirty="0">
                <a:solidFill>
                  <a:srgbClr val="980000"/>
                </a:solidFill>
                <a:latin typeface="Baumans"/>
                <a:ea typeface="Baumans"/>
                <a:cs typeface="Baumans"/>
                <a:sym typeface="Baumans"/>
              </a:rPr>
              <a:t>Why did he matter?</a:t>
            </a:r>
          </a:p>
        </p:txBody>
      </p:sp>
      <p:pic>
        <p:nvPicPr>
          <p:cNvPr id="107" name="Google Shape;107;p19"/>
          <p:cNvPicPr preferRelativeResize="0"/>
          <p:nvPr/>
        </p:nvPicPr>
        <p:blipFill>
          <a:blip r:embed="rId3">
            <a:alphaModFix/>
          </a:blip>
          <a:stretch>
            <a:fillRect/>
          </a:stretch>
        </p:blipFill>
        <p:spPr>
          <a:xfrm>
            <a:off x="104399" y="586700"/>
            <a:ext cx="4127632" cy="4008746"/>
          </a:xfrm>
          <a:prstGeom prst="rect">
            <a:avLst/>
          </a:prstGeom>
          <a:noFill/>
          <a:ln>
            <a:noFill/>
          </a:ln>
        </p:spPr>
      </p:pic>
      <p:sp>
        <p:nvSpPr>
          <p:cNvPr id="109" name="Google Shape;109;p19"/>
          <p:cNvSpPr txBox="1"/>
          <p:nvPr/>
        </p:nvSpPr>
        <p:spPr>
          <a:xfrm>
            <a:off x="4232031" y="3828047"/>
            <a:ext cx="4799619" cy="1034099"/>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dirty="0">
                <a:solidFill>
                  <a:srgbClr val="980000"/>
                </a:solidFill>
                <a:latin typeface="Baumans"/>
                <a:ea typeface="Baumans"/>
                <a:cs typeface="Baumans"/>
                <a:sym typeface="Baumans"/>
              </a:rPr>
              <a:t>As heir to the throne, Franz Ferdinand was an important figure in Austria-Hungary. His assassination would create a major political crisis.</a:t>
            </a:r>
            <a:endParaRPr sz="1600" b="1" dirty="0">
              <a:solidFill>
                <a:srgbClr val="980000"/>
              </a:solidFill>
              <a:latin typeface="Baumans"/>
              <a:ea typeface="Baumans"/>
              <a:cs typeface="Baumans"/>
              <a:sym typeface="Baum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p:nvPr/>
        </p:nvSpPr>
        <p:spPr>
          <a:xfrm>
            <a:off x="150275" y="1017150"/>
            <a:ext cx="45657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000000"/>
              </a:solidFill>
              <a:latin typeface="Delius"/>
              <a:ea typeface="Delius"/>
              <a:cs typeface="Delius"/>
              <a:sym typeface="Delius"/>
            </a:endParaRPr>
          </a:p>
        </p:txBody>
      </p:sp>
      <p:sp>
        <p:nvSpPr>
          <p:cNvPr id="116" name="Google Shape;116;p20"/>
          <p:cNvSpPr txBox="1"/>
          <p:nvPr/>
        </p:nvSpPr>
        <p:spPr>
          <a:xfrm>
            <a:off x="104400" y="1088300"/>
            <a:ext cx="40035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dirty="0">
                <a:solidFill>
                  <a:schemeClr val="dk1"/>
                </a:solidFill>
                <a:latin typeface="Baumans"/>
                <a:ea typeface="Baumans"/>
                <a:cs typeface="Baumans"/>
                <a:sym typeface="Baumans"/>
              </a:rPr>
              <a:t>On 28 June 1914, Franz Ferdinand and his wife Sophie visited </a:t>
            </a:r>
            <a:r>
              <a:rPr lang="en" sz="1600" b="1" dirty="0">
                <a:solidFill>
                  <a:schemeClr val="dk1"/>
                </a:solidFill>
                <a:highlight>
                  <a:schemeClr val="lt1"/>
                </a:highlight>
                <a:latin typeface="Baumans"/>
                <a:ea typeface="Baumans"/>
                <a:cs typeface="Baumans"/>
                <a:sym typeface="Baumans"/>
              </a:rPr>
              <a:t>Sarajevo in Bosnia</a:t>
            </a:r>
            <a:r>
              <a:rPr lang="en" sz="1600" dirty="0">
                <a:solidFill>
                  <a:schemeClr val="dk1"/>
                </a:solidFill>
                <a:latin typeface="Baumans"/>
                <a:ea typeface="Baumans"/>
                <a:cs typeface="Baumans"/>
                <a:sym typeface="Baumans"/>
              </a:rPr>
              <a:t>.</a:t>
            </a:r>
            <a:endParaRPr sz="1600" dirty="0">
              <a:solidFill>
                <a:schemeClr val="dk1"/>
              </a:solidFill>
              <a:latin typeface="Baumans"/>
              <a:ea typeface="Baumans"/>
              <a:cs typeface="Baumans"/>
              <a:sym typeface="Baumans"/>
            </a:endParaRPr>
          </a:p>
        </p:txBody>
      </p:sp>
      <p:pic>
        <p:nvPicPr>
          <p:cNvPr id="117" name="Google Shape;117;p20"/>
          <p:cNvPicPr preferRelativeResize="0"/>
          <p:nvPr/>
        </p:nvPicPr>
        <p:blipFill rotWithShape="1">
          <a:blip r:embed="rId3">
            <a:alphaModFix/>
          </a:blip>
          <a:srcRect l="1271" r="8516"/>
          <a:stretch/>
        </p:blipFill>
        <p:spPr>
          <a:xfrm>
            <a:off x="4309425" y="839188"/>
            <a:ext cx="4714275" cy="2952726"/>
          </a:xfrm>
          <a:prstGeom prst="rect">
            <a:avLst/>
          </a:prstGeom>
          <a:noFill/>
          <a:ln>
            <a:noFill/>
          </a:ln>
        </p:spPr>
      </p:pic>
      <p:sp>
        <p:nvSpPr>
          <p:cNvPr id="118" name="Google Shape;118;p20"/>
          <p:cNvSpPr txBox="1"/>
          <p:nvPr/>
        </p:nvSpPr>
        <p:spPr>
          <a:xfrm>
            <a:off x="104400" y="612500"/>
            <a:ext cx="5167800" cy="475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400" b="1">
                <a:solidFill>
                  <a:schemeClr val="dk1"/>
                </a:solidFill>
                <a:latin typeface="Patrick Hand"/>
                <a:ea typeface="Patrick Hand"/>
                <a:cs typeface="Patrick Hand"/>
                <a:sym typeface="Patrick Hand"/>
              </a:rPr>
              <a:t>A Shot that Changed the World!</a:t>
            </a:r>
            <a:endParaRPr sz="2400" b="1" i="0" u="none" strike="noStrike" cap="none">
              <a:solidFill>
                <a:schemeClr val="dk1"/>
              </a:solidFill>
              <a:latin typeface="Patrick Hand"/>
              <a:ea typeface="Patrick Hand"/>
              <a:cs typeface="Patrick Hand"/>
              <a:sym typeface="Patrick Hand"/>
            </a:endParaRPr>
          </a:p>
        </p:txBody>
      </p:sp>
      <p:sp>
        <p:nvSpPr>
          <p:cNvPr id="119" name="Google Shape;119;p20"/>
          <p:cNvSpPr/>
          <p:nvPr/>
        </p:nvSpPr>
        <p:spPr>
          <a:xfrm>
            <a:off x="6945625" y="2307938"/>
            <a:ext cx="369300" cy="1929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 name="Google Shape;120;p20"/>
          <p:cNvSpPr txBox="1"/>
          <p:nvPr/>
        </p:nvSpPr>
        <p:spPr>
          <a:xfrm>
            <a:off x="104400" y="2935100"/>
            <a:ext cx="4003500" cy="213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600" dirty="0">
                <a:solidFill>
                  <a:schemeClr val="dk1"/>
                </a:solidFill>
                <a:latin typeface="Baumans"/>
                <a:ea typeface="Baumans"/>
                <a:cs typeface="Baumans"/>
                <a:sym typeface="Baumans"/>
              </a:rPr>
              <a:t>The visit took place on </a:t>
            </a:r>
            <a:r>
              <a:rPr lang="en" sz="1600" b="1" dirty="0" err="1">
                <a:solidFill>
                  <a:schemeClr val="dk1"/>
                </a:solidFill>
                <a:latin typeface="Baumans"/>
                <a:ea typeface="Baumans"/>
                <a:cs typeface="Baumans"/>
                <a:sym typeface="Baumans"/>
              </a:rPr>
              <a:t>Vidovdan</a:t>
            </a:r>
            <a:r>
              <a:rPr lang="en" sz="1600" dirty="0">
                <a:solidFill>
                  <a:schemeClr val="dk1"/>
                </a:solidFill>
                <a:latin typeface="Baumans"/>
                <a:ea typeface="Baumans"/>
                <a:cs typeface="Baumans"/>
                <a:sym typeface="Baumans"/>
              </a:rPr>
              <a:t>, an important date in Serbian history and </a:t>
            </a:r>
            <a:r>
              <a:rPr lang="en" sz="1600" b="1" dirty="0">
                <a:solidFill>
                  <a:schemeClr val="dk1"/>
                </a:solidFill>
                <a:latin typeface="Baumans"/>
                <a:ea typeface="Baumans"/>
                <a:cs typeface="Baumans"/>
                <a:sym typeface="Baumans"/>
              </a:rPr>
              <a:t>national identity</a:t>
            </a:r>
            <a:r>
              <a:rPr lang="en" sz="1600" dirty="0">
                <a:solidFill>
                  <a:schemeClr val="dk1"/>
                </a:solidFill>
                <a:latin typeface="Baumans"/>
                <a:ea typeface="Baumans"/>
                <a:cs typeface="Baumans"/>
                <a:sym typeface="Baumans"/>
              </a:rPr>
              <a:t>. It was a time for Serbs to remember their history and celebrate pride in their nation (</a:t>
            </a:r>
            <a:r>
              <a:rPr lang="en" sz="1600" b="1" dirty="0">
                <a:solidFill>
                  <a:schemeClr val="dk1"/>
                </a:solidFill>
                <a:latin typeface="Baumans"/>
                <a:ea typeface="Baumans"/>
                <a:cs typeface="Baumans"/>
                <a:sym typeface="Baumans"/>
              </a:rPr>
              <a:t>nationalism</a:t>
            </a:r>
            <a:r>
              <a:rPr lang="en" sz="1600" dirty="0">
                <a:solidFill>
                  <a:schemeClr val="dk1"/>
                </a:solidFill>
                <a:latin typeface="Baumans"/>
                <a:ea typeface="Baumans"/>
                <a:cs typeface="Baumans"/>
                <a:sym typeface="Baumans"/>
              </a:rPr>
              <a:t>). This added significance to the visit in an already tense region.</a:t>
            </a:r>
            <a:endParaRPr sz="2100" dirty="0">
              <a:solidFill>
                <a:schemeClr val="dk1"/>
              </a:solidFill>
              <a:latin typeface="Baumans"/>
              <a:ea typeface="Baumans"/>
              <a:cs typeface="Baumans"/>
              <a:sym typeface="Baumans"/>
            </a:endParaRPr>
          </a:p>
        </p:txBody>
      </p:sp>
      <p:cxnSp>
        <p:nvCxnSpPr>
          <p:cNvPr id="121" name="Google Shape;121;p20"/>
          <p:cNvCxnSpPr>
            <a:endCxn id="119" idx="2"/>
          </p:cNvCxnSpPr>
          <p:nvPr/>
        </p:nvCxnSpPr>
        <p:spPr>
          <a:xfrm>
            <a:off x="3851425" y="1543088"/>
            <a:ext cx="3094200" cy="861300"/>
          </a:xfrm>
          <a:prstGeom prst="straightConnector1">
            <a:avLst/>
          </a:prstGeom>
          <a:noFill/>
          <a:ln w="19050" cap="flat" cmpd="sng">
            <a:solidFill>
              <a:schemeClr val="lt1"/>
            </a:solidFill>
            <a:prstDash val="solid"/>
            <a:round/>
            <a:headEnd type="none" w="med" len="med"/>
            <a:tailEnd type="triangle" w="med" len="med"/>
          </a:ln>
        </p:spPr>
      </p:cxnSp>
      <p:sp>
        <p:nvSpPr>
          <p:cNvPr id="122" name="Google Shape;122;p20"/>
          <p:cNvSpPr txBox="1"/>
          <p:nvPr/>
        </p:nvSpPr>
        <p:spPr>
          <a:xfrm>
            <a:off x="104400" y="77000"/>
            <a:ext cx="89193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Title: How Did the Assassination of Franz Ferdinand Lead to the First World War?</a:t>
            </a:r>
            <a:endParaRPr sz="1200" b="1">
              <a:solidFill>
                <a:srgbClr val="980000"/>
              </a:solidFill>
              <a:latin typeface="Delius"/>
              <a:ea typeface="Delius"/>
              <a:cs typeface="Delius"/>
              <a:sym typeface="Delius"/>
            </a:endParaRPr>
          </a:p>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LO: How did the assassination increase tensions and trigger a wider European conflict?</a:t>
            </a:r>
            <a:endParaRPr sz="1200" b="1">
              <a:solidFill>
                <a:srgbClr val="980000"/>
              </a:solidFill>
              <a:latin typeface="Delius"/>
              <a:ea typeface="Delius"/>
              <a:cs typeface="Delius"/>
              <a:sym typeface="Delius"/>
            </a:endParaRPr>
          </a:p>
          <a:p>
            <a:pPr marL="0" marR="0" lvl="0" indent="0" algn="l" rtl="0">
              <a:lnSpc>
                <a:spcPct val="115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
        <p:nvSpPr>
          <p:cNvPr id="123" name="Google Shape;123;p20"/>
          <p:cNvSpPr txBox="1"/>
          <p:nvPr/>
        </p:nvSpPr>
        <p:spPr>
          <a:xfrm>
            <a:off x="104400" y="1765400"/>
            <a:ext cx="4087456" cy="116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chemeClr val="dk1"/>
                </a:solidFill>
                <a:latin typeface="Baumans"/>
                <a:ea typeface="Baumans"/>
                <a:cs typeface="Baumans"/>
                <a:sym typeface="Baumans"/>
              </a:rPr>
              <a:t>Many Serbian </a:t>
            </a:r>
            <a:r>
              <a:rPr lang="en" sz="1600" b="1" dirty="0">
                <a:solidFill>
                  <a:schemeClr val="dk1"/>
                </a:solidFill>
                <a:latin typeface="Baumans"/>
                <a:ea typeface="Baumans"/>
                <a:cs typeface="Baumans"/>
                <a:sym typeface="Baumans"/>
              </a:rPr>
              <a:t>nationalists opposed Austro-Hungarian control</a:t>
            </a:r>
            <a:r>
              <a:rPr lang="en" sz="1600" dirty="0">
                <a:solidFill>
                  <a:schemeClr val="dk1"/>
                </a:solidFill>
                <a:latin typeface="Baumans"/>
                <a:ea typeface="Baumans"/>
                <a:cs typeface="Baumans"/>
                <a:sym typeface="Baumans"/>
              </a:rPr>
              <a:t> of Serbia. They wanted Serbian people living there to be united with Serbia.</a:t>
            </a:r>
            <a:endParaRPr dirty="0"/>
          </a:p>
        </p:txBody>
      </p:sp>
      <p:sp>
        <p:nvSpPr>
          <p:cNvPr id="124" name="Google Shape;124;p20"/>
          <p:cNvSpPr txBox="1"/>
          <p:nvPr/>
        </p:nvSpPr>
        <p:spPr>
          <a:xfrm>
            <a:off x="4309425" y="3863275"/>
            <a:ext cx="4714200" cy="997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rgbClr val="980000"/>
                </a:solidFill>
                <a:latin typeface="Baumans"/>
                <a:ea typeface="Baumans"/>
                <a:cs typeface="Baumans"/>
                <a:sym typeface="Baumans"/>
              </a:rPr>
              <a:t>Tensions between Austro-Hungarian authorities and Serbian nationalists formed the background to the assassination in Sarajevo.</a:t>
            </a:r>
            <a:endParaRPr sz="1600" b="1">
              <a:solidFill>
                <a:srgbClr val="980000"/>
              </a:solidFill>
              <a:latin typeface="Baumans"/>
              <a:ea typeface="Baumans"/>
              <a:cs typeface="Baumans"/>
              <a:sym typeface="Baum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p:nvPr/>
        </p:nvSpPr>
        <p:spPr>
          <a:xfrm>
            <a:off x="4574975" y="1316700"/>
            <a:ext cx="4401900" cy="106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a:t>
            </a:r>
            <a:r>
              <a:rPr lang="en" sz="1800">
                <a:solidFill>
                  <a:schemeClr val="dk1"/>
                </a:solidFill>
                <a:latin typeface="Baumans"/>
                <a:ea typeface="Baumans"/>
                <a:cs typeface="Baumans"/>
                <a:sym typeface="Baumans"/>
              </a:rPr>
              <a:t> Complete the multiple choice questions whilst watching the video: </a:t>
            </a:r>
            <a:endParaRPr sz="1800">
              <a:solidFill>
                <a:schemeClr val="dk1"/>
              </a:solidFill>
              <a:latin typeface="Baumans"/>
              <a:ea typeface="Baumans"/>
              <a:cs typeface="Baumans"/>
              <a:sym typeface="Baumans"/>
            </a:endParaRPr>
          </a:p>
          <a:p>
            <a:pPr marL="0" lvl="0" indent="0" algn="l" rtl="0">
              <a:spcBef>
                <a:spcPts val="0"/>
              </a:spcBef>
              <a:spcAft>
                <a:spcPts val="0"/>
              </a:spcAft>
              <a:buNone/>
            </a:pPr>
            <a:r>
              <a:rPr lang="en" sz="1800" b="1">
                <a:solidFill>
                  <a:schemeClr val="dk1"/>
                </a:solidFill>
                <a:latin typeface="Baumans"/>
                <a:ea typeface="Baumans"/>
                <a:cs typeface="Baumans"/>
                <a:sym typeface="Baumans"/>
              </a:rPr>
              <a:t>A Shot that Changed the World</a:t>
            </a:r>
            <a:endParaRPr sz="1800" b="1">
              <a:solidFill>
                <a:schemeClr val="dk1"/>
              </a:solidFill>
              <a:latin typeface="Baumans"/>
              <a:ea typeface="Baumans"/>
              <a:cs typeface="Baumans"/>
              <a:sym typeface="Baumans"/>
            </a:endParaRPr>
          </a:p>
        </p:txBody>
      </p:sp>
      <p:pic>
        <p:nvPicPr>
          <p:cNvPr id="130" name="Google Shape;130;p21" descr="On June 28th, 1914, Franz Ferdinand, the heir to the Austro-Hungarian throne, was assassinated by Gavrilo Princip, a nationalist working for the Serbian underground organisation &quot;Black Hand&quot; (officially known as &quot;Unification or Death&quot;). From today's perspective, the assassination is seen as the event that triggered the chain reaction leading to the outbreak of the Great War. These events are known today as the July Crisis. Only one month after the shot, on July 28th, Austria-Hungary declared war on Serbia. &#10;&#10;Watch the other episodes of our prelude to war special here: http://bit.ly/prld2wr&#10;&#10;The events leading to World War One started 100 years ago. Check out the first episode right here: http://bit.ly/1ufwpk3&#10;&#10;» HOW CAN I SUPPORT YOUR CHANNEL?&#10;You can support us by sharing our videos with your friends and spreading the word about our work.You can also support us financially on Patreon: https://www.patreon.com/thegreatwar&#10;&#10;Patreon is a platform for creators like us, that enables us to get monthly financial support from the community in exchange for cool perks. &#10;&#10;» MORE HISTORY? &#10;Check out our sister channel IT’S HISTORY: http://youtube.com/itshistory&#10;&#10;» WHERE CAN I GET MORE INFORMATION ABOUT WORLD WAR I AND WHERE ELSE CAN I FIND YOU? &#10;We’re offering background knowledge, news, a glimpse behind the scenes and much more on: &#10;reddit: http://bit.ly/TheGreatSubReddit&#10;Facebook: http://bit.ly/WW1FB&#10;Twitter: http://bit.ly/WW1Series&#10;Instagram: http://bit.ly/ZpMYPL&#10;&#10;» CAN I EMBED YOUR VIDEOS ON MY WEBSITE? &#10;Of course, you can embed our videos on your website. We are happy if you show our channel to your friends, fellow students, classmates, professors, teachers or neighbours. Or just share our videos on Facebook, Twitter, Reddit etc. &#10;&#10;We are also happy to get your feedback, criticism or ideas in the comments. If you have interesting historical questions, just post them and we will answer in our OUT OF THE TRENCHES videos. You can find a selection of answers to the most frequently asked questions here: http://bit.ly/OOtrenches&#10;&#10;» CAN I SHOW YOUR VIDEOS IN CLASS? &#10;Of course! Tell your teachers or professors about our channel and our videos. We’re happy if we can contribute with our videos. If you are a teacher and have questions about our show, you can get in contact with us on one of our social media presences. &#10;&#10;» WHAT ARE YOUR SOURCES? &#10;Videos: British Pathé&#10;Pictures: Mostly Picture Alliance &#10;Background Map: http://d-maps.com/carte.php?num_car=6030&amp;lang=en&#10;Literature (excerpt):&#10;Gilbert, Martin. The First World War. A Complete History, Holt Paperbacks, 2004.&#10;Hart, Peter. The Great War. A Combat History of the First World War, Oxford University Press, 2013.&#10;Hart, Peter. The Great War. 1914-1918, Profile Books, 2013.&#10;Stone, Norman. World War One. A Short History, Penguin, 2008.&#10;Keegan, John. The First World War, Vintage, 2000.&#10;Hastings, Max. Catastrophe 1914. Europe Goes To War, Knopf, 2013.&#10;Hirschfeld, Gerhard. Enzyklopädie Erster Weltkrieg, Schöningh Paderborn, 2004&#10;Michalka, Wolfgang. Der Erste Weltkrieg. Wirkung, Wahrnehmung, Analyse, Seehamer Verlag GmbH, 2000&#10;Leonhard, Jörn. Die Büchse der Pandora: Geschichte des Ersten Weltkrieges, C.H. Beck, 2014&#10;&#10;If you want to buy some of the books we use or recommend during our show, check out our Amazon Store: http://bit.ly/AmazonTGW&#10;NOTE: This store uses affiliate links which grant us a commission if you buy a product there. &#10;&#10;» WHAT IS “THE GREAT WAR” PROJECT? &#10;THE GREAT WAR covers the events exactly 100 years ago: The story of World War I in realtime. Featuring: The unique archive material of British Pathé. Indy Neidell takes you on a journey into the past to show you what really happened and how it all could spiral into more than four years of dire war. Subscribe to our channel and don’t miss our new episodes every Thursday. &#10;&#10;» WHO IS REPLYING TO MY COMMENTS? AND WHO IS BEHIND THIS PROJECT? &#10;Most of the comments are written by our social media manager Florian. He is posting links, facts and backstage material on our social media channels. But from time to time, Indy reads and answers comments with his personal account, too. &#10;&#10;The Team responsible for THE GREAT WAR is even bigger: &#10;&#10;- CREDITS -&#10;Presented by : Indiana Neidell&#10;Written by: Indiana Neidell&#10;Director: David Voss&#10;Director of Photography: Toni Steller&#10;Sound: Toni Steller&#10;Sound Design: Marc Glücks&#10;Editing: Toni Steller &amp; Ole-Sten Haufe&#10;Research by: Indiana Neidell&#10;Fact checking: Latoya Wild, Johanna Müssiger, Florian Wittig, David Voss&#10;&#10;A Mediakraft Networks Original Channel&#10;Based on a concept by Spartacus Olsson&#10;Author: Indiana Neidell&#10;Visual Concept: Astrid Deinhard-Olsson&#10;Executive Producer: Astrid Deinhard-Olsson and Spartacus Olsson&#10;Producer: David Voss&#10;Social Media Manager: Florian Wittig&#10;&#10;Contains licenced Material by British Pathé&#10;All rights reserved - © Mediakraft Networks GmbH, 2014" title="A Shot that Changed the World - The Assassination of Franz Ferdinand I PRELUDE TO WW1 - Part 3/3">
            <a:hlinkClick r:id="rId3"/>
          </p:cNvPr>
          <p:cNvPicPr preferRelativeResize="0"/>
          <p:nvPr/>
        </p:nvPicPr>
        <p:blipFill>
          <a:blip r:embed="rId4">
            <a:alphaModFix/>
          </a:blip>
          <a:stretch>
            <a:fillRect/>
          </a:stretch>
        </p:blipFill>
        <p:spPr>
          <a:xfrm>
            <a:off x="129425" y="1316700"/>
            <a:ext cx="4471200" cy="2515050"/>
          </a:xfrm>
          <a:prstGeom prst="rect">
            <a:avLst/>
          </a:prstGeom>
          <a:noFill/>
          <a:ln>
            <a:noFill/>
          </a:ln>
        </p:spPr>
      </p:pic>
      <p:sp>
        <p:nvSpPr>
          <p:cNvPr id="131" name="Google Shape;131;p21"/>
          <p:cNvSpPr txBox="1"/>
          <p:nvPr/>
        </p:nvSpPr>
        <p:spPr>
          <a:xfrm>
            <a:off x="104400" y="612500"/>
            <a:ext cx="3950100" cy="52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2400"/>
              <a:buFont typeface="Arial"/>
              <a:buNone/>
            </a:pPr>
            <a:r>
              <a:rPr lang="en" sz="2400" b="1">
                <a:solidFill>
                  <a:schemeClr val="dk1"/>
                </a:solidFill>
                <a:latin typeface="Patrick Hand"/>
                <a:ea typeface="Patrick Hand"/>
                <a:cs typeface="Patrick Hand"/>
                <a:sym typeface="Patrick Hand"/>
              </a:rPr>
              <a:t>A Shot that Changed the World!</a:t>
            </a:r>
            <a:endParaRPr sz="2400" b="1" i="0" strike="noStrike" cap="none">
              <a:solidFill>
                <a:schemeClr val="dk1"/>
              </a:solidFill>
              <a:latin typeface="Patrick Hand"/>
              <a:ea typeface="Patrick Hand"/>
              <a:cs typeface="Patrick Hand"/>
              <a:sym typeface="Patrick Hand"/>
            </a:endParaRPr>
          </a:p>
        </p:txBody>
      </p:sp>
      <p:pic>
        <p:nvPicPr>
          <p:cNvPr id="132" name="Google Shape;132;p21" title="Screenshot 2025-09-18 at 1.41.14 PM.png"/>
          <p:cNvPicPr preferRelativeResize="0"/>
          <p:nvPr/>
        </p:nvPicPr>
        <p:blipFill>
          <a:blip r:embed="rId5">
            <a:alphaModFix/>
          </a:blip>
          <a:stretch>
            <a:fillRect/>
          </a:stretch>
        </p:blipFill>
        <p:spPr>
          <a:xfrm>
            <a:off x="5162275" y="2379600"/>
            <a:ext cx="3284761" cy="2459099"/>
          </a:xfrm>
          <a:prstGeom prst="rect">
            <a:avLst/>
          </a:prstGeom>
          <a:noFill/>
          <a:ln>
            <a:noFill/>
          </a:ln>
        </p:spPr>
      </p:pic>
      <p:sp>
        <p:nvSpPr>
          <p:cNvPr id="133" name="Google Shape;133;p21"/>
          <p:cNvSpPr txBox="1"/>
          <p:nvPr/>
        </p:nvSpPr>
        <p:spPr>
          <a:xfrm>
            <a:off x="104400" y="77000"/>
            <a:ext cx="89193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Title: How Did the Assassination of Franz Ferdinand Lead to the First World War?</a:t>
            </a:r>
            <a:endParaRPr sz="1200" b="1">
              <a:solidFill>
                <a:srgbClr val="980000"/>
              </a:solidFill>
              <a:latin typeface="Delius"/>
              <a:ea typeface="Delius"/>
              <a:cs typeface="Delius"/>
              <a:sym typeface="Delius"/>
            </a:endParaRPr>
          </a:p>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LO: How did the assassination increase tensions and trigger a wider European conflict?</a:t>
            </a:r>
            <a:endParaRPr sz="1200" b="1">
              <a:solidFill>
                <a:srgbClr val="980000"/>
              </a:solidFill>
              <a:latin typeface="Delius"/>
              <a:ea typeface="Delius"/>
              <a:cs typeface="Delius"/>
              <a:sym typeface="Delius"/>
            </a:endParaRPr>
          </a:p>
          <a:p>
            <a:pPr marL="0" marR="0" lvl="0" indent="0" algn="l" rtl="0">
              <a:lnSpc>
                <a:spcPct val="115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p:nvPr/>
        </p:nvSpPr>
        <p:spPr>
          <a:xfrm>
            <a:off x="5878450" y="1316700"/>
            <a:ext cx="3158700" cy="6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139" name="Google Shape;139;p22"/>
          <p:cNvSpPr txBox="1"/>
          <p:nvPr/>
        </p:nvSpPr>
        <p:spPr>
          <a:xfrm>
            <a:off x="104400" y="1226300"/>
            <a:ext cx="5753100" cy="33294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rgbClr val="38761D"/>
              </a:buClr>
              <a:buSzPts val="1800"/>
              <a:buFont typeface="Delius"/>
              <a:buAutoNum type="arabicPeriod"/>
            </a:pPr>
            <a:r>
              <a:rPr lang="en" sz="1800" b="1">
                <a:solidFill>
                  <a:srgbClr val="38761D"/>
                </a:solidFill>
                <a:latin typeface="Delius"/>
                <a:ea typeface="Delius"/>
                <a:cs typeface="Delius"/>
                <a:sym typeface="Delius"/>
              </a:rPr>
              <a:t>d. An Austrian archduke</a:t>
            </a:r>
            <a:endParaRPr sz="1800" b="1">
              <a:solidFill>
                <a:srgbClr val="38761D"/>
              </a:solidFill>
              <a:latin typeface="Delius"/>
              <a:ea typeface="Delius"/>
              <a:cs typeface="Delius"/>
              <a:sym typeface="Delius"/>
            </a:endParaRPr>
          </a:p>
          <a:p>
            <a:pPr marL="457200" lvl="0" indent="-342900" algn="l" rtl="0">
              <a:lnSpc>
                <a:spcPct val="115000"/>
              </a:lnSpc>
              <a:spcBef>
                <a:spcPts val="0"/>
              </a:spcBef>
              <a:spcAft>
                <a:spcPts val="0"/>
              </a:spcAft>
              <a:buClr>
                <a:srgbClr val="38761D"/>
              </a:buClr>
              <a:buSzPts val="1800"/>
              <a:buFont typeface="Delius"/>
              <a:buAutoNum type="arabicPeriod"/>
            </a:pPr>
            <a:r>
              <a:rPr lang="en" sz="1800" b="1">
                <a:solidFill>
                  <a:srgbClr val="38761D"/>
                </a:solidFill>
                <a:latin typeface="Delius"/>
                <a:ea typeface="Delius"/>
                <a:cs typeface="Delius"/>
                <a:sym typeface="Delius"/>
              </a:rPr>
              <a:t>b. 1863</a:t>
            </a:r>
            <a:endParaRPr sz="1800" b="1">
              <a:solidFill>
                <a:srgbClr val="38761D"/>
              </a:solidFill>
              <a:latin typeface="Delius"/>
              <a:ea typeface="Delius"/>
              <a:cs typeface="Delius"/>
              <a:sym typeface="Delius"/>
            </a:endParaRPr>
          </a:p>
          <a:p>
            <a:pPr marL="457200" lvl="0" indent="-342900" algn="l" rtl="0">
              <a:lnSpc>
                <a:spcPct val="115000"/>
              </a:lnSpc>
              <a:spcBef>
                <a:spcPts val="0"/>
              </a:spcBef>
              <a:spcAft>
                <a:spcPts val="0"/>
              </a:spcAft>
              <a:buClr>
                <a:srgbClr val="38761D"/>
              </a:buClr>
              <a:buSzPts val="1800"/>
              <a:buFont typeface="Delius"/>
              <a:buAutoNum type="arabicPeriod"/>
            </a:pPr>
            <a:r>
              <a:rPr lang="en" sz="1800" b="1">
                <a:solidFill>
                  <a:srgbClr val="38761D"/>
                </a:solidFill>
                <a:latin typeface="Delius"/>
                <a:ea typeface="Delius"/>
                <a:cs typeface="Delius"/>
                <a:sym typeface="Delius"/>
              </a:rPr>
              <a:t>c. He died by suicide</a:t>
            </a:r>
            <a:endParaRPr sz="1800" b="1">
              <a:solidFill>
                <a:srgbClr val="38761D"/>
              </a:solidFill>
              <a:latin typeface="Delius"/>
              <a:ea typeface="Delius"/>
              <a:cs typeface="Delius"/>
              <a:sym typeface="Delius"/>
            </a:endParaRPr>
          </a:p>
          <a:p>
            <a:pPr marL="457200" lvl="0" indent="-342900" algn="l" rtl="0">
              <a:lnSpc>
                <a:spcPct val="115000"/>
              </a:lnSpc>
              <a:spcBef>
                <a:spcPts val="0"/>
              </a:spcBef>
              <a:spcAft>
                <a:spcPts val="0"/>
              </a:spcAft>
              <a:buClr>
                <a:srgbClr val="38761D"/>
              </a:buClr>
              <a:buSzPts val="1800"/>
              <a:buFont typeface="Delius"/>
              <a:buAutoNum type="arabicPeriod"/>
            </a:pPr>
            <a:r>
              <a:rPr lang="en" sz="1800" b="1">
                <a:solidFill>
                  <a:srgbClr val="38761D"/>
                </a:solidFill>
                <a:latin typeface="Delius"/>
                <a:ea typeface="Delius"/>
                <a:cs typeface="Delius"/>
                <a:sym typeface="Delius"/>
              </a:rPr>
              <a:t>a. Duchess Sophia (Sophie Chotek)</a:t>
            </a:r>
            <a:endParaRPr sz="1800" b="1">
              <a:solidFill>
                <a:srgbClr val="38761D"/>
              </a:solidFill>
              <a:latin typeface="Delius"/>
              <a:ea typeface="Delius"/>
              <a:cs typeface="Delius"/>
              <a:sym typeface="Delius"/>
            </a:endParaRPr>
          </a:p>
          <a:p>
            <a:pPr marL="457200" lvl="0" indent="-342900" algn="l" rtl="0">
              <a:lnSpc>
                <a:spcPct val="115000"/>
              </a:lnSpc>
              <a:spcBef>
                <a:spcPts val="0"/>
              </a:spcBef>
              <a:spcAft>
                <a:spcPts val="0"/>
              </a:spcAft>
              <a:buClr>
                <a:srgbClr val="38761D"/>
              </a:buClr>
              <a:buSzPts val="1800"/>
              <a:buFont typeface="Delius"/>
              <a:buAutoNum type="arabicPeriod"/>
            </a:pPr>
            <a:r>
              <a:rPr lang="en" sz="1800" b="1">
                <a:solidFill>
                  <a:srgbClr val="38761D"/>
                </a:solidFill>
                <a:latin typeface="Delius"/>
                <a:ea typeface="Delius"/>
                <a:cs typeface="Delius"/>
                <a:sym typeface="Delius"/>
              </a:rPr>
              <a:t>b. Hunting</a:t>
            </a:r>
            <a:endParaRPr sz="1800" b="1">
              <a:solidFill>
                <a:srgbClr val="38761D"/>
              </a:solidFill>
              <a:latin typeface="Delius"/>
              <a:ea typeface="Delius"/>
              <a:cs typeface="Delius"/>
              <a:sym typeface="Delius"/>
            </a:endParaRPr>
          </a:p>
          <a:p>
            <a:pPr marL="457200" lvl="0" indent="-342900" algn="l" rtl="0">
              <a:lnSpc>
                <a:spcPct val="115000"/>
              </a:lnSpc>
              <a:spcBef>
                <a:spcPts val="0"/>
              </a:spcBef>
              <a:spcAft>
                <a:spcPts val="0"/>
              </a:spcAft>
              <a:buClr>
                <a:srgbClr val="38761D"/>
              </a:buClr>
              <a:buSzPts val="1800"/>
              <a:buFont typeface="Delius"/>
              <a:buAutoNum type="arabicPeriod"/>
            </a:pPr>
            <a:r>
              <a:rPr lang="en" sz="1800" b="1">
                <a:solidFill>
                  <a:srgbClr val="38761D"/>
                </a:solidFill>
                <a:latin typeface="Delius"/>
                <a:ea typeface="Delius"/>
                <a:cs typeface="Delius"/>
                <a:sym typeface="Delius"/>
              </a:rPr>
              <a:t>b. He hated them</a:t>
            </a:r>
            <a:endParaRPr sz="1800" b="1">
              <a:solidFill>
                <a:srgbClr val="38761D"/>
              </a:solidFill>
              <a:latin typeface="Delius"/>
              <a:ea typeface="Delius"/>
              <a:cs typeface="Delius"/>
              <a:sym typeface="Delius"/>
            </a:endParaRPr>
          </a:p>
          <a:p>
            <a:pPr marL="457200" lvl="0" indent="-342900" algn="l" rtl="0">
              <a:lnSpc>
                <a:spcPct val="115000"/>
              </a:lnSpc>
              <a:spcBef>
                <a:spcPts val="0"/>
              </a:spcBef>
              <a:spcAft>
                <a:spcPts val="0"/>
              </a:spcAft>
              <a:buClr>
                <a:srgbClr val="38761D"/>
              </a:buClr>
              <a:buSzPts val="1800"/>
              <a:buFont typeface="Delius"/>
              <a:buAutoNum type="arabicPeriod"/>
            </a:pPr>
            <a:r>
              <a:rPr lang="en" sz="1800" b="1">
                <a:solidFill>
                  <a:srgbClr val="38761D"/>
                </a:solidFill>
                <a:latin typeface="Delius"/>
                <a:ea typeface="Delius"/>
                <a:cs typeface="Delius"/>
                <a:sym typeface="Delius"/>
              </a:rPr>
              <a:t>c. Gavrilo Princip</a:t>
            </a:r>
            <a:endParaRPr sz="1800" b="1">
              <a:solidFill>
                <a:srgbClr val="38761D"/>
              </a:solidFill>
              <a:latin typeface="Delius"/>
              <a:ea typeface="Delius"/>
              <a:cs typeface="Delius"/>
              <a:sym typeface="Delius"/>
            </a:endParaRPr>
          </a:p>
          <a:p>
            <a:pPr marL="457200" lvl="0" indent="-342900" algn="l" rtl="0">
              <a:lnSpc>
                <a:spcPct val="115000"/>
              </a:lnSpc>
              <a:spcBef>
                <a:spcPts val="0"/>
              </a:spcBef>
              <a:spcAft>
                <a:spcPts val="0"/>
              </a:spcAft>
              <a:buClr>
                <a:srgbClr val="38761D"/>
              </a:buClr>
              <a:buSzPts val="1800"/>
              <a:buFont typeface="Delius"/>
              <a:buAutoNum type="arabicPeriod"/>
            </a:pPr>
            <a:r>
              <a:rPr lang="en" sz="1800" b="1">
                <a:solidFill>
                  <a:srgbClr val="38761D"/>
                </a:solidFill>
                <a:latin typeface="Delius"/>
                <a:ea typeface="Delius"/>
                <a:cs typeface="Delius"/>
                <a:sym typeface="Delius"/>
              </a:rPr>
              <a:t>d. He thought they were less than humans</a:t>
            </a:r>
            <a:endParaRPr sz="1800" b="1">
              <a:solidFill>
                <a:srgbClr val="38761D"/>
              </a:solidFill>
              <a:latin typeface="Delius"/>
              <a:ea typeface="Delius"/>
              <a:cs typeface="Delius"/>
              <a:sym typeface="Delius"/>
            </a:endParaRPr>
          </a:p>
          <a:p>
            <a:pPr marL="457200" lvl="0" indent="-342900" algn="l" rtl="0">
              <a:lnSpc>
                <a:spcPct val="115000"/>
              </a:lnSpc>
              <a:spcBef>
                <a:spcPts val="0"/>
              </a:spcBef>
              <a:spcAft>
                <a:spcPts val="0"/>
              </a:spcAft>
              <a:buClr>
                <a:srgbClr val="38761D"/>
              </a:buClr>
              <a:buSzPts val="1800"/>
              <a:buFont typeface="Delius"/>
              <a:buAutoNum type="arabicPeriod"/>
            </a:pPr>
            <a:r>
              <a:rPr lang="en" sz="1800" b="1">
                <a:solidFill>
                  <a:srgbClr val="38761D"/>
                </a:solidFill>
                <a:latin typeface="Delius"/>
                <a:ea typeface="Delius"/>
                <a:cs typeface="Delius"/>
                <a:sym typeface="Delius"/>
              </a:rPr>
              <a:t>c. Pistols and bombs</a:t>
            </a:r>
            <a:endParaRPr sz="1800" b="1">
              <a:solidFill>
                <a:srgbClr val="38761D"/>
              </a:solidFill>
              <a:latin typeface="Delius"/>
              <a:ea typeface="Delius"/>
              <a:cs typeface="Delius"/>
              <a:sym typeface="Delius"/>
            </a:endParaRPr>
          </a:p>
          <a:p>
            <a:pPr marL="457200" lvl="0" indent="-342900" algn="l" rtl="0">
              <a:lnSpc>
                <a:spcPct val="115000"/>
              </a:lnSpc>
              <a:spcBef>
                <a:spcPts val="0"/>
              </a:spcBef>
              <a:spcAft>
                <a:spcPts val="0"/>
              </a:spcAft>
              <a:buClr>
                <a:srgbClr val="38761D"/>
              </a:buClr>
              <a:buSzPts val="1800"/>
              <a:buFont typeface="Delius"/>
              <a:buAutoNum type="arabicPeriod"/>
            </a:pPr>
            <a:r>
              <a:rPr lang="en" sz="1800" b="1">
                <a:solidFill>
                  <a:srgbClr val="38761D"/>
                </a:solidFill>
                <a:latin typeface="Delius"/>
                <a:ea typeface="Delius"/>
                <a:cs typeface="Delius"/>
                <a:sym typeface="Delius"/>
              </a:rPr>
              <a:t>b. They drove a car</a:t>
            </a:r>
            <a:endParaRPr sz="1800" b="1">
              <a:solidFill>
                <a:srgbClr val="38761D"/>
              </a:solidFill>
              <a:latin typeface="Delius"/>
              <a:ea typeface="Delius"/>
              <a:cs typeface="Delius"/>
              <a:sym typeface="Delius"/>
            </a:endParaRPr>
          </a:p>
        </p:txBody>
      </p:sp>
      <p:pic>
        <p:nvPicPr>
          <p:cNvPr id="140" name="Google Shape;140;p22"/>
          <p:cNvPicPr preferRelativeResize="0"/>
          <p:nvPr/>
        </p:nvPicPr>
        <p:blipFill>
          <a:blip r:embed="rId3">
            <a:alphaModFix/>
          </a:blip>
          <a:stretch>
            <a:fillRect/>
          </a:stretch>
        </p:blipFill>
        <p:spPr>
          <a:xfrm>
            <a:off x="7012200" y="762600"/>
            <a:ext cx="554100" cy="554100"/>
          </a:xfrm>
          <a:prstGeom prst="rect">
            <a:avLst/>
          </a:prstGeom>
          <a:noFill/>
          <a:ln>
            <a:noFill/>
          </a:ln>
        </p:spPr>
      </p:pic>
      <p:sp>
        <p:nvSpPr>
          <p:cNvPr id="141" name="Google Shape;141;p22"/>
          <p:cNvSpPr txBox="1"/>
          <p:nvPr/>
        </p:nvSpPr>
        <p:spPr>
          <a:xfrm>
            <a:off x="104400" y="612500"/>
            <a:ext cx="3950100" cy="52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2400"/>
              <a:buFont typeface="Arial"/>
              <a:buNone/>
            </a:pPr>
            <a:r>
              <a:rPr lang="en" sz="2400" b="1">
                <a:solidFill>
                  <a:schemeClr val="dk1"/>
                </a:solidFill>
                <a:latin typeface="Patrick Hand"/>
                <a:ea typeface="Patrick Hand"/>
                <a:cs typeface="Patrick Hand"/>
                <a:sym typeface="Patrick Hand"/>
              </a:rPr>
              <a:t>A Shot that Changed the World!</a:t>
            </a:r>
            <a:endParaRPr sz="2400" b="1" i="0" strike="noStrike" cap="none">
              <a:solidFill>
                <a:schemeClr val="dk1"/>
              </a:solidFill>
              <a:latin typeface="Patrick Hand"/>
              <a:ea typeface="Patrick Hand"/>
              <a:cs typeface="Patrick Hand"/>
              <a:sym typeface="Patrick Hand"/>
            </a:endParaRPr>
          </a:p>
        </p:txBody>
      </p:sp>
      <p:pic>
        <p:nvPicPr>
          <p:cNvPr id="142" name="Google Shape;142;p22" title="Screenshot 2025-09-18 at 1.41.14 PM.png"/>
          <p:cNvPicPr preferRelativeResize="0"/>
          <p:nvPr/>
        </p:nvPicPr>
        <p:blipFill>
          <a:blip r:embed="rId4">
            <a:alphaModFix/>
          </a:blip>
          <a:stretch>
            <a:fillRect/>
          </a:stretch>
        </p:blipFill>
        <p:spPr>
          <a:xfrm>
            <a:off x="5646875" y="2016300"/>
            <a:ext cx="3284761" cy="2459099"/>
          </a:xfrm>
          <a:prstGeom prst="rect">
            <a:avLst/>
          </a:prstGeom>
          <a:noFill/>
          <a:ln>
            <a:noFill/>
          </a:ln>
        </p:spPr>
      </p:pic>
      <p:sp>
        <p:nvSpPr>
          <p:cNvPr id="143" name="Google Shape;143;p22"/>
          <p:cNvSpPr txBox="1"/>
          <p:nvPr/>
        </p:nvSpPr>
        <p:spPr>
          <a:xfrm>
            <a:off x="104400" y="77000"/>
            <a:ext cx="89193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Title: How Did the Assassination of Franz Ferdinand Lead to the First World War?</a:t>
            </a:r>
            <a:endParaRPr sz="1200" b="1">
              <a:solidFill>
                <a:srgbClr val="980000"/>
              </a:solidFill>
              <a:latin typeface="Delius"/>
              <a:ea typeface="Delius"/>
              <a:cs typeface="Delius"/>
              <a:sym typeface="Delius"/>
            </a:endParaRPr>
          </a:p>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LO: How did the assassination increase tensions and trigger a wider European conflict?</a:t>
            </a:r>
            <a:endParaRPr sz="1200" b="1">
              <a:solidFill>
                <a:srgbClr val="980000"/>
              </a:solidFill>
              <a:latin typeface="Delius"/>
              <a:ea typeface="Delius"/>
              <a:cs typeface="Delius"/>
              <a:sym typeface="Delius"/>
            </a:endParaRPr>
          </a:p>
          <a:p>
            <a:pPr marL="0" marR="0" lvl="0" indent="0" algn="l" rtl="0">
              <a:lnSpc>
                <a:spcPct val="115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3"/>
          <p:cNvSpPr txBox="1"/>
          <p:nvPr/>
        </p:nvSpPr>
        <p:spPr>
          <a:xfrm>
            <a:off x="104400" y="612500"/>
            <a:ext cx="5167800" cy="44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400" b="1">
                <a:solidFill>
                  <a:schemeClr val="dk1"/>
                </a:solidFill>
                <a:latin typeface="Patrick Hand"/>
                <a:ea typeface="Patrick Hand"/>
                <a:cs typeface="Patrick Hand"/>
                <a:sym typeface="Patrick Hand"/>
              </a:rPr>
              <a:t>The Black Hand Gang</a:t>
            </a:r>
            <a:endParaRPr sz="2400" b="1" i="0" u="none" strike="noStrike" cap="none">
              <a:solidFill>
                <a:schemeClr val="dk1"/>
              </a:solidFill>
              <a:latin typeface="Patrick Hand"/>
              <a:ea typeface="Patrick Hand"/>
              <a:cs typeface="Patrick Hand"/>
              <a:sym typeface="Patrick Hand"/>
            </a:endParaRPr>
          </a:p>
        </p:txBody>
      </p:sp>
      <p:sp>
        <p:nvSpPr>
          <p:cNvPr id="149" name="Google Shape;149;p23"/>
          <p:cNvSpPr txBox="1"/>
          <p:nvPr/>
        </p:nvSpPr>
        <p:spPr>
          <a:xfrm>
            <a:off x="256650" y="1656325"/>
            <a:ext cx="8759400" cy="703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1" i="0" u="none" strike="noStrike" cap="none">
              <a:solidFill>
                <a:schemeClr val="dk1"/>
              </a:solidFill>
              <a:latin typeface="Caveat"/>
              <a:ea typeface="Caveat"/>
              <a:cs typeface="Caveat"/>
              <a:sym typeface="Caveat"/>
            </a:endParaRPr>
          </a:p>
        </p:txBody>
      </p:sp>
      <p:pic>
        <p:nvPicPr>
          <p:cNvPr id="150" name="Google Shape;150;p23" descr="Picture 2"/>
          <p:cNvPicPr preferRelativeResize="0"/>
          <p:nvPr/>
        </p:nvPicPr>
        <p:blipFill rotWithShape="1">
          <a:blip r:embed="rId3">
            <a:alphaModFix/>
          </a:blip>
          <a:srcRect/>
          <a:stretch/>
        </p:blipFill>
        <p:spPr>
          <a:xfrm>
            <a:off x="6757175" y="2983262"/>
            <a:ext cx="1733425" cy="1734715"/>
          </a:xfrm>
          <a:prstGeom prst="rect">
            <a:avLst/>
          </a:prstGeom>
          <a:noFill/>
          <a:ln w="38100" cap="sq" cmpd="sng">
            <a:solidFill>
              <a:srgbClr val="000000"/>
            </a:solidFill>
            <a:prstDash val="solid"/>
            <a:miter lim="8000"/>
            <a:headEnd type="none" w="sm" len="sm"/>
            <a:tailEnd type="none" w="sm" len="sm"/>
          </a:ln>
          <a:effectLst>
            <a:outerShdw blurRad="50800" dist="38100" dir="2700000" rotWithShape="0">
              <a:srgbClr val="808080">
                <a:alpha val="42745"/>
              </a:srgbClr>
            </a:outerShdw>
          </a:effectLst>
        </p:spPr>
      </p:pic>
      <p:pic>
        <p:nvPicPr>
          <p:cNvPr id="151" name="Google Shape;151;p23" descr="Picture 4"/>
          <p:cNvPicPr preferRelativeResize="0"/>
          <p:nvPr/>
        </p:nvPicPr>
        <p:blipFill rotWithShape="1">
          <a:blip r:embed="rId4">
            <a:alphaModFix/>
          </a:blip>
          <a:srcRect/>
          <a:stretch/>
        </p:blipFill>
        <p:spPr>
          <a:xfrm>
            <a:off x="6757185" y="1396112"/>
            <a:ext cx="1733425" cy="1460950"/>
          </a:xfrm>
          <a:prstGeom prst="rect">
            <a:avLst/>
          </a:prstGeom>
          <a:noFill/>
          <a:ln w="38100" cap="sq" cmpd="sng">
            <a:solidFill>
              <a:srgbClr val="000000"/>
            </a:solidFill>
            <a:prstDash val="solid"/>
            <a:miter lim="8000"/>
            <a:headEnd type="none" w="sm" len="sm"/>
            <a:tailEnd type="none" w="sm" len="sm"/>
          </a:ln>
          <a:effectLst>
            <a:outerShdw blurRad="50800" dist="38100" dir="2700000" rotWithShape="0">
              <a:srgbClr val="808080">
                <a:alpha val="42745"/>
              </a:srgbClr>
            </a:outerShdw>
          </a:effectLst>
        </p:spPr>
      </p:pic>
      <p:sp>
        <p:nvSpPr>
          <p:cNvPr id="152" name="Google Shape;152;p23"/>
          <p:cNvSpPr txBox="1"/>
          <p:nvPr/>
        </p:nvSpPr>
        <p:spPr>
          <a:xfrm>
            <a:off x="104400" y="1054400"/>
            <a:ext cx="6387600" cy="397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dirty="0">
                <a:solidFill>
                  <a:schemeClr val="dk1"/>
                </a:solidFill>
                <a:latin typeface="Baumans"/>
                <a:ea typeface="Baumans"/>
                <a:cs typeface="Baumans"/>
                <a:sym typeface="Baumans"/>
              </a:rPr>
              <a:t>The </a:t>
            </a:r>
            <a:r>
              <a:rPr lang="en" sz="1600" b="1" dirty="0">
                <a:solidFill>
                  <a:schemeClr val="dk1"/>
                </a:solidFill>
                <a:latin typeface="Baumans"/>
                <a:ea typeface="Baumans"/>
                <a:cs typeface="Baumans"/>
                <a:sym typeface="Baumans"/>
              </a:rPr>
              <a:t>Black Hand</a:t>
            </a:r>
            <a:r>
              <a:rPr lang="en" sz="1600" dirty="0">
                <a:solidFill>
                  <a:schemeClr val="dk1"/>
                </a:solidFill>
                <a:latin typeface="Baumans"/>
                <a:ea typeface="Baumans"/>
                <a:cs typeface="Baumans"/>
                <a:sym typeface="Baumans"/>
              </a:rPr>
              <a:t>, also called </a:t>
            </a:r>
            <a:r>
              <a:rPr lang="en" sz="1600" b="1" dirty="0">
                <a:solidFill>
                  <a:schemeClr val="dk1"/>
                </a:solidFill>
                <a:latin typeface="Baumans"/>
                <a:ea typeface="Baumans"/>
                <a:cs typeface="Baumans"/>
                <a:sym typeface="Baumans"/>
              </a:rPr>
              <a:t>Unification or Death</a:t>
            </a:r>
            <a:r>
              <a:rPr lang="en" sz="1600" dirty="0">
                <a:solidFill>
                  <a:schemeClr val="dk1"/>
                </a:solidFill>
                <a:latin typeface="Baumans"/>
                <a:ea typeface="Baumans"/>
                <a:cs typeface="Baumans"/>
                <a:sym typeface="Baumans"/>
              </a:rPr>
              <a:t>, was a secret Serbian nationalist group formed in 1911.</a:t>
            </a:r>
            <a:endParaRPr sz="16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6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dirty="0">
                <a:solidFill>
                  <a:schemeClr val="dk1"/>
                </a:solidFill>
                <a:latin typeface="Baumans"/>
                <a:ea typeface="Baumans"/>
                <a:cs typeface="Baumans"/>
                <a:sym typeface="Baumans"/>
              </a:rPr>
              <a:t>They wanted all Serbian people to be united in one country and were willing to use </a:t>
            </a:r>
            <a:r>
              <a:rPr lang="en" sz="1600" b="1" dirty="0">
                <a:solidFill>
                  <a:schemeClr val="dk1"/>
                </a:solidFill>
                <a:latin typeface="Baumans"/>
                <a:ea typeface="Baumans"/>
                <a:cs typeface="Baumans"/>
                <a:sym typeface="Baumans"/>
              </a:rPr>
              <a:t>violence</a:t>
            </a:r>
            <a:r>
              <a:rPr lang="en" sz="1600" dirty="0">
                <a:solidFill>
                  <a:schemeClr val="dk1"/>
                </a:solidFill>
                <a:latin typeface="Baumans"/>
                <a:ea typeface="Baumans"/>
                <a:cs typeface="Baumans"/>
                <a:sym typeface="Baumans"/>
              </a:rPr>
              <a:t> to achieve it.</a:t>
            </a:r>
            <a:endParaRPr sz="16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6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dirty="0">
                <a:solidFill>
                  <a:schemeClr val="dk1"/>
                </a:solidFill>
                <a:latin typeface="Baumans"/>
                <a:ea typeface="Baumans"/>
                <a:cs typeface="Baumans"/>
                <a:sym typeface="Baumans"/>
              </a:rPr>
              <a:t>Serbia had </a:t>
            </a:r>
            <a:r>
              <a:rPr lang="en" sz="1600" b="1" dirty="0">
                <a:solidFill>
                  <a:schemeClr val="dk1"/>
                </a:solidFill>
                <a:latin typeface="Baumans"/>
                <a:ea typeface="Baumans"/>
                <a:cs typeface="Baumans"/>
                <a:sym typeface="Baumans"/>
              </a:rPr>
              <a:t>gained independence</a:t>
            </a:r>
            <a:r>
              <a:rPr lang="en" sz="1600" dirty="0">
                <a:solidFill>
                  <a:schemeClr val="dk1"/>
                </a:solidFill>
                <a:latin typeface="Baumans"/>
                <a:ea typeface="Baumans"/>
                <a:cs typeface="Baumans"/>
                <a:sym typeface="Baumans"/>
              </a:rPr>
              <a:t> from the Ottoman Empire in the nineteenth century </a:t>
            </a:r>
            <a:r>
              <a:rPr lang="en" sz="1600" b="1" dirty="0">
                <a:solidFill>
                  <a:schemeClr val="dk1"/>
                </a:solidFill>
                <a:latin typeface="Patrick Hand"/>
                <a:ea typeface="Patrick Hand"/>
                <a:cs typeface="Patrick Hand"/>
                <a:sym typeface="Patrick Hand"/>
              </a:rPr>
              <a:t>(1800’s)</a:t>
            </a:r>
            <a:r>
              <a:rPr lang="en" sz="1600" dirty="0">
                <a:solidFill>
                  <a:schemeClr val="dk1"/>
                </a:solidFill>
                <a:latin typeface="Baumans"/>
                <a:ea typeface="Baumans"/>
                <a:cs typeface="Baumans"/>
                <a:sym typeface="Baumans"/>
              </a:rPr>
              <a:t>, but </a:t>
            </a:r>
            <a:r>
              <a:rPr lang="en" sz="1600" b="1" dirty="0">
                <a:solidFill>
                  <a:schemeClr val="dk1"/>
                </a:solidFill>
                <a:latin typeface="Baumans"/>
                <a:ea typeface="Baumans"/>
                <a:cs typeface="Baumans"/>
                <a:sym typeface="Baumans"/>
              </a:rPr>
              <a:t>many Serbs still lived under Austro-Hungarian rule</a:t>
            </a:r>
            <a:r>
              <a:rPr lang="en" sz="1600" dirty="0">
                <a:solidFill>
                  <a:schemeClr val="dk1"/>
                </a:solidFill>
                <a:latin typeface="Baumans"/>
                <a:ea typeface="Baumans"/>
                <a:cs typeface="Baumans"/>
                <a:sym typeface="Baumans"/>
              </a:rPr>
              <a:t>.</a:t>
            </a:r>
            <a:endParaRPr sz="16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6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dirty="0">
                <a:solidFill>
                  <a:schemeClr val="dk1"/>
                </a:solidFill>
                <a:latin typeface="Baumans"/>
                <a:ea typeface="Baumans"/>
                <a:cs typeface="Baumans"/>
                <a:sym typeface="Baumans"/>
              </a:rPr>
              <a:t>When Austria-Hungary took control of Bosnia in 1908, Serbian nationalists were angry because it blocked their dream of a united Serbia.</a:t>
            </a:r>
            <a:endParaRPr sz="16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6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dirty="0">
                <a:solidFill>
                  <a:schemeClr val="dk1"/>
                </a:solidFill>
                <a:latin typeface="Baumans"/>
                <a:ea typeface="Baumans"/>
                <a:cs typeface="Baumans"/>
                <a:sym typeface="Baumans"/>
              </a:rPr>
              <a:t>The Black Hand trained young people in </a:t>
            </a:r>
            <a:r>
              <a:rPr lang="en" sz="1600" b="1" dirty="0">
                <a:solidFill>
                  <a:schemeClr val="dk1"/>
                </a:solidFill>
                <a:latin typeface="Baumans"/>
                <a:ea typeface="Baumans"/>
                <a:cs typeface="Baumans"/>
                <a:sym typeface="Baumans"/>
              </a:rPr>
              <a:t>weapons and bomb-making</a:t>
            </a:r>
            <a:r>
              <a:rPr lang="en" sz="1600" dirty="0">
                <a:solidFill>
                  <a:schemeClr val="dk1"/>
                </a:solidFill>
                <a:latin typeface="Baumans"/>
                <a:ea typeface="Baumans"/>
                <a:cs typeface="Baumans"/>
                <a:sym typeface="Baumans"/>
              </a:rPr>
              <a:t> and had some support from Serbian military leaders.</a:t>
            </a:r>
            <a:endParaRPr sz="1600" b="1" i="0" u="none" strike="noStrike" cap="none" dirty="0">
              <a:solidFill>
                <a:schemeClr val="dk1"/>
              </a:solidFill>
              <a:highlight>
                <a:srgbClr val="FFF2CC"/>
              </a:highlight>
              <a:latin typeface="Baumans"/>
              <a:ea typeface="Baumans"/>
              <a:cs typeface="Baumans"/>
              <a:sym typeface="Baumans"/>
            </a:endParaRPr>
          </a:p>
        </p:txBody>
      </p:sp>
      <p:sp>
        <p:nvSpPr>
          <p:cNvPr id="153" name="Google Shape;153;p23"/>
          <p:cNvSpPr txBox="1"/>
          <p:nvPr/>
        </p:nvSpPr>
        <p:spPr>
          <a:xfrm>
            <a:off x="104400" y="77000"/>
            <a:ext cx="89193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Title: How Did the Assassination of Franz Ferdinand Lead to the First World War?</a:t>
            </a:r>
            <a:endParaRPr sz="1200" b="1">
              <a:solidFill>
                <a:srgbClr val="980000"/>
              </a:solidFill>
              <a:latin typeface="Delius"/>
              <a:ea typeface="Delius"/>
              <a:cs typeface="Delius"/>
              <a:sym typeface="Delius"/>
            </a:endParaRPr>
          </a:p>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LO: How did the assassination increase tensions and trigger a wider European conflict?</a:t>
            </a:r>
            <a:endParaRPr sz="1200" b="1">
              <a:solidFill>
                <a:srgbClr val="980000"/>
              </a:solidFill>
              <a:latin typeface="Delius"/>
              <a:ea typeface="Delius"/>
              <a:cs typeface="Delius"/>
              <a:sym typeface="Delius"/>
            </a:endParaRPr>
          </a:p>
          <a:p>
            <a:pPr marL="0" marR="0" lvl="0" indent="0" algn="l" rtl="0">
              <a:lnSpc>
                <a:spcPct val="115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4"/>
          <p:cNvSpPr txBox="1"/>
          <p:nvPr/>
        </p:nvSpPr>
        <p:spPr>
          <a:xfrm>
            <a:off x="104400" y="77000"/>
            <a:ext cx="89193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Title: How Did the Assassination of Franz Ferdinand Lead to the First World War?</a:t>
            </a:r>
            <a:endParaRPr sz="1200" b="1">
              <a:solidFill>
                <a:srgbClr val="980000"/>
              </a:solidFill>
              <a:latin typeface="Delius"/>
              <a:ea typeface="Delius"/>
              <a:cs typeface="Delius"/>
              <a:sym typeface="Delius"/>
            </a:endParaRPr>
          </a:p>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LO: How did the assassination increase tensions and trigger a wider European conflict?</a:t>
            </a:r>
            <a:endParaRPr sz="1200" b="1">
              <a:solidFill>
                <a:srgbClr val="980000"/>
              </a:solidFill>
              <a:latin typeface="Delius"/>
              <a:ea typeface="Delius"/>
              <a:cs typeface="Delius"/>
              <a:sym typeface="Delius"/>
            </a:endParaRPr>
          </a:p>
          <a:p>
            <a:pPr marL="0" marR="0" lvl="0" indent="0" algn="l" rtl="0">
              <a:lnSpc>
                <a:spcPct val="115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
        <p:nvSpPr>
          <p:cNvPr id="159" name="Google Shape;159;p24"/>
          <p:cNvSpPr txBox="1"/>
          <p:nvPr/>
        </p:nvSpPr>
        <p:spPr>
          <a:xfrm>
            <a:off x="144300" y="612500"/>
            <a:ext cx="8839500" cy="525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400" b="1">
                <a:solidFill>
                  <a:schemeClr val="dk1"/>
                </a:solidFill>
                <a:latin typeface="Patrick Hand"/>
                <a:ea typeface="Patrick Hand"/>
                <a:cs typeface="Patrick Hand"/>
                <a:sym typeface="Patrick Hand"/>
              </a:rPr>
              <a:t>From Assassination to World War!</a:t>
            </a:r>
            <a:endParaRPr sz="2400" b="1" i="0" u="none" strike="noStrike" cap="none">
              <a:solidFill>
                <a:schemeClr val="dk1"/>
              </a:solidFill>
              <a:latin typeface="Patrick Hand"/>
              <a:ea typeface="Patrick Hand"/>
              <a:cs typeface="Patrick Hand"/>
              <a:sym typeface="Patrick Hand"/>
            </a:endParaRPr>
          </a:p>
        </p:txBody>
      </p:sp>
      <p:sp>
        <p:nvSpPr>
          <p:cNvPr id="160" name="Google Shape;160;p24"/>
          <p:cNvSpPr txBox="1"/>
          <p:nvPr/>
        </p:nvSpPr>
        <p:spPr>
          <a:xfrm>
            <a:off x="144300" y="1138400"/>
            <a:ext cx="4863000" cy="375946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800" b="1" dirty="0">
                <a:solidFill>
                  <a:schemeClr val="dk1"/>
                </a:solidFill>
                <a:highlight>
                  <a:srgbClr val="00FF00"/>
                </a:highlight>
                <a:latin typeface="Baumans"/>
                <a:ea typeface="Baumans"/>
                <a:cs typeface="Baumans"/>
                <a:sym typeface="Baumans"/>
              </a:rPr>
              <a:t>Activities:</a:t>
            </a:r>
            <a:endParaRPr sz="2800" b="1" dirty="0">
              <a:solidFill>
                <a:schemeClr val="dk1"/>
              </a:solidFill>
              <a:highlight>
                <a:srgbClr val="00FF00"/>
              </a:highlight>
              <a:latin typeface="Baumans"/>
              <a:ea typeface="Baumans"/>
              <a:cs typeface="Baumans"/>
              <a:sym typeface="Baumans"/>
            </a:endParaRPr>
          </a:p>
          <a:p>
            <a:pPr marL="0" lvl="0" indent="0" algn="l" rtl="0">
              <a:lnSpc>
                <a:spcPct val="115000"/>
              </a:lnSpc>
              <a:spcBef>
                <a:spcPts val="0"/>
              </a:spcBef>
              <a:spcAft>
                <a:spcPts val="0"/>
              </a:spcAft>
              <a:buNone/>
            </a:pPr>
            <a:r>
              <a:rPr lang="en" sz="2800" b="1" dirty="0">
                <a:solidFill>
                  <a:schemeClr val="dk1"/>
                </a:solidFill>
                <a:latin typeface="Baumans"/>
                <a:ea typeface="Baumans"/>
                <a:cs typeface="Baumans"/>
                <a:sym typeface="Baumans"/>
              </a:rPr>
              <a:t>Part A — Sequence the Events</a:t>
            </a:r>
            <a:endParaRPr sz="2800" b="1" dirty="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AutoNum type="arabicPeriod"/>
            </a:pPr>
            <a:r>
              <a:rPr lang="en" sz="2800" dirty="0">
                <a:solidFill>
                  <a:schemeClr val="dk1"/>
                </a:solidFill>
                <a:latin typeface="Baumans"/>
                <a:ea typeface="Baumans"/>
                <a:cs typeface="Baumans"/>
                <a:sym typeface="Baumans"/>
              </a:rPr>
              <a:t>In </a:t>
            </a:r>
            <a:r>
              <a:rPr lang="en" sz="2800" b="1" dirty="0">
                <a:solidFill>
                  <a:schemeClr val="dk1"/>
                </a:solidFill>
                <a:latin typeface="Baumans"/>
                <a:ea typeface="Baumans"/>
                <a:cs typeface="Baumans"/>
                <a:sym typeface="Baumans"/>
              </a:rPr>
              <a:t>pairs</a:t>
            </a:r>
            <a:r>
              <a:rPr lang="en" sz="2800" dirty="0">
                <a:solidFill>
                  <a:schemeClr val="dk1"/>
                </a:solidFill>
                <a:latin typeface="Baumans"/>
                <a:ea typeface="Baumans"/>
                <a:cs typeface="Baumans"/>
                <a:sym typeface="Baumans"/>
              </a:rPr>
              <a:t> number the six events in the correct chronological order.</a:t>
            </a:r>
            <a:endParaRPr sz="2800" dirty="0">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AutoNum type="arabicPeriod"/>
            </a:pPr>
            <a:r>
              <a:rPr lang="en" sz="2800" dirty="0">
                <a:solidFill>
                  <a:schemeClr val="dk1"/>
                </a:solidFill>
                <a:latin typeface="Baumans"/>
                <a:ea typeface="Baumans"/>
                <a:cs typeface="Baumans"/>
                <a:sym typeface="Baumans"/>
              </a:rPr>
              <a:t>Use the historical reference sheet to help you.</a:t>
            </a:r>
            <a:endParaRPr sz="2800"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600" b="1" dirty="0">
              <a:solidFill>
                <a:schemeClr val="dk1"/>
              </a:solidFill>
              <a:latin typeface="Baumans"/>
              <a:ea typeface="Baumans"/>
              <a:cs typeface="Baumans"/>
              <a:sym typeface="Baumans"/>
            </a:endParaRPr>
          </a:p>
        </p:txBody>
      </p:sp>
      <p:pic>
        <p:nvPicPr>
          <p:cNvPr id="161" name="Google Shape;161;p24"/>
          <p:cNvPicPr preferRelativeResize="0"/>
          <p:nvPr/>
        </p:nvPicPr>
        <p:blipFill>
          <a:blip r:embed="rId3">
            <a:alphaModFix/>
          </a:blip>
          <a:stretch>
            <a:fillRect/>
          </a:stretch>
        </p:blipFill>
        <p:spPr>
          <a:xfrm>
            <a:off x="5305597" y="2873984"/>
            <a:ext cx="712250" cy="464500"/>
          </a:xfrm>
          <a:prstGeom prst="rect">
            <a:avLst/>
          </a:prstGeom>
          <a:noFill/>
          <a:ln>
            <a:noFill/>
          </a:ln>
        </p:spPr>
      </p:pic>
      <p:grpSp>
        <p:nvGrpSpPr>
          <p:cNvPr id="162" name="Google Shape;162;p24"/>
          <p:cNvGrpSpPr/>
          <p:nvPr/>
        </p:nvGrpSpPr>
        <p:grpSpPr>
          <a:xfrm>
            <a:off x="5280011" y="3635943"/>
            <a:ext cx="763414" cy="870260"/>
            <a:chOff x="5426175" y="139294"/>
            <a:chExt cx="946695" cy="1152356"/>
          </a:xfrm>
        </p:grpSpPr>
        <p:pic>
          <p:nvPicPr>
            <p:cNvPr id="163" name="Google Shape;163;p24"/>
            <p:cNvPicPr preferRelativeResize="0"/>
            <p:nvPr/>
          </p:nvPicPr>
          <p:blipFill>
            <a:blip r:embed="rId4">
              <a:alphaModFix/>
            </a:blip>
            <a:stretch>
              <a:fillRect/>
            </a:stretch>
          </p:blipFill>
          <p:spPr>
            <a:xfrm>
              <a:off x="5469469" y="139300"/>
              <a:ext cx="903401" cy="1152350"/>
            </a:xfrm>
            <a:prstGeom prst="rect">
              <a:avLst/>
            </a:prstGeom>
            <a:noFill/>
            <a:ln>
              <a:noFill/>
            </a:ln>
          </p:spPr>
        </p:pic>
        <p:pic>
          <p:nvPicPr>
            <p:cNvPr id="164" name="Google Shape;164;p24" descr="a cartoon drawing of a fire with a flame coming out of it (Provided by Tenor)"/>
            <p:cNvPicPr preferRelativeResize="0"/>
            <p:nvPr/>
          </p:nvPicPr>
          <p:blipFill>
            <a:blip r:embed="rId5">
              <a:alphaModFix/>
            </a:blip>
            <a:stretch>
              <a:fillRect/>
            </a:stretch>
          </p:blipFill>
          <p:spPr>
            <a:xfrm>
              <a:off x="5426175" y="139294"/>
              <a:ext cx="341075" cy="391706"/>
            </a:xfrm>
            <a:prstGeom prst="rect">
              <a:avLst/>
            </a:prstGeom>
            <a:noFill/>
            <a:ln>
              <a:noFill/>
            </a:ln>
          </p:spPr>
        </p:pic>
      </p:grpSp>
      <p:grpSp>
        <p:nvGrpSpPr>
          <p:cNvPr id="165" name="Google Shape;165;p24"/>
          <p:cNvGrpSpPr/>
          <p:nvPr/>
        </p:nvGrpSpPr>
        <p:grpSpPr>
          <a:xfrm>
            <a:off x="5280018" y="1706285"/>
            <a:ext cx="763396" cy="870264"/>
            <a:chOff x="5313625" y="1569463"/>
            <a:chExt cx="1136175" cy="1330475"/>
          </a:xfrm>
        </p:grpSpPr>
        <p:pic>
          <p:nvPicPr>
            <p:cNvPr id="166" name="Google Shape;166;p24"/>
            <p:cNvPicPr preferRelativeResize="0"/>
            <p:nvPr/>
          </p:nvPicPr>
          <p:blipFill>
            <a:blip r:embed="rId6">
              <a:alphaModFix/>
            </a:blip>
            <a:stretch>
              <a:fillRect/>
            </a:stretch>
          </p:blipFill>
          <p:spPr>
            <a:xfrm>
              <a:off x="5392550" y="1569463"/>
              <a:ext cx="1057250" cy="1330475"/>
            </a:xfrm>
            <a:prstGeom prst="rect">
              <a:avLst/>
            </a:prstGeom>
            <a:noFill/>
            <a:ln>
              <a:noFill/>
            </a:ln>
          </p:spPr>
        </p:pic>
        <p:pic>
          <p:nvPicPr>
            <p:cNvPr id="167" name="Google Shape;167;p24" descr="smoke is coming out of a hole in the ground on a white background . (Provided by Tenor)"/>
            <p:cNvPicPr preferRelativeResize="0"/>
            <p:nvPr/>
          </p:nvPicPr>
          <p:blipFill rotWithShape="1">
            <a:blip r:embed="rId7">
              <a:alphaModFix/>
            </a:blip>
            <a:srcRect l="42413" t="17925"/>
            <a:stretch/>
          </p:blipFill>
          <p:spPr>
            <a:xfrm>
              <a:off x="5313625" y="1650525"/>
              <a:ext cx="418000" cy="604725"/>
            </a:xfrm>
            <a:prstGeom prst="rect">
              <a:avLst/>
            </a:prstGeom>
            <a:noFill/>
            <a:ln>
              <a:noFill/>
            </a:ln>
          </p:spPr>
        </p:pic>
      </p:grpSp>
      <p:sp>
        <p:nvSpPr>
          <p:cNvPr id="168" name="Google Shape;168;p24"/>
          <p:cNvSpPr txBox="1"/>
          <p:nvPr/>
        </p:nvSpPr>
        <p:spPr>
          <a:xfrm>
            <a:off x="6230100" y="1425613"/>
            <a:ext cx="2753700" cy="1431600"/>
          </a:xfrm>
          <a:prstGeom prst="rect">
            <a:avLst/>
          </a:prstGeom>
          <a:solidFill>
            <a:srgbClr val="FAA500"/>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dirty="0">
                <a:latin typeface="Poppins"/>
                <a:ea typeface="Poppins"/>
                <a:cs typeface="Poppins"/>
                <a:sym typeface="Poppins"/>
              </a:rPr>
              <a:t>How did the </a:t>
            </a:r>
            <a:r>
              <a:rPr lang="en" sz="1200" b="1" dirty="0">
                <a:solidFill>
                  <a:schemeClr val="lt1"/>
                </a:solidFill>
                <a:latin typeface="Poppins"/>
                <a:ea typeface="Poppins"/>
                <a:cs typeface="Poppins"/>
                <a:sym typeface="Poppins"/>
              </a:rPr>
              <a:t>decisions made</a:t>
            </a:r>
            <a:r>
              <a:rPr lang="en" sz="1200" b="1" dirty="0">
                <a:latin typeface="Poppins"/>
                <a:ea typeface="Poppins"/>
                <a:cs typeface="Poppins"/>
                <a:sym typeface="Poppins"/>
              </a:rPr>
              <a:t> by Germany, Austria-Hungary and Russia help </a:t>
            </a:r>
            <a:r>
              <a:rPr lang="en" sz="1200" b="1" dirty="0">
                <a:solidFill>
                  <a:schemeClr val="lt1"/>
                </a:solidFill>
                <a:latin typeface="Poppins"/>
                <a:ea typeface="Poppins"/>
                <a:cs typeface="Poppins"/>
                <a:sym typeface="Poppins"/>
              </a:rPr>
              <a:t>turn the assassination into a wider conflict</a:t>
            </a:r>
            <a:r>
              <a:rPr lang="en" sz="1200" b="1" dirty="0">
                <a:latin typeface="Poppins"/>
                <a:ea typeface="Poppins"/>
                <a:cs typeface="Poppins"/>
                <a:sym typeface="Poppins"/>
              </a:rPr>
              <a:t>? Explain your answer using historical evidence.</a:t>
            </a:r>
            <a:endParaRPr sz="1200" b="1" dirty="0">
              <a:latin typeface="Poppins"/>
              <a:ea typeface="Poppins"/>
              <a:cs typeface="Poppins"/>
              <a:sym typeface="Poppins"/>
            </a:endParaRPr>
          </a:p>
        </p:txBody>
      </p:sp>
      <p:sp>
        <p:nvSpPr>
          <p:cNvPr id="169" name="Google Shape;169;p24"/>
          <p:cNvSpPr txBox="1"/>
          <p:nvPr/>
        </p:nvSpPr>
        <p:spPr>
          <a:xfrm>
            <a:off x="6230100" y="3355275"/>
            <a:ext cx="2753700" cy="1431600"/>
          </a:xfrm>
          <a:prstGeom prst="rect">
            <a:avLst/>
          </a:prstGeom>
          <a:solidFill>
            <a:srgbClr val="CE0925"/>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rgbClr val="FFFFFF"/>
                </a:solidFill>
                <a:latin typeface="Poppins"/>
                <a:ea typeface="Poppins"/>
                <a:cs typeface="Poppins"/>
                <a:sym typeface="Poppins"/>
              </a:rPr>
              <a:t>Which was </a:t>
            </a:r>
            <a:r>
              <a:rPr lang="en" sz="1200" b="1">
                <a:solidFill>
                  <a:srgbClr val="FFFF00"/>
                </a:solidFill>
                <a:latin typeface="Poppins"/>
                <a:ea typeface="Poppins"/>
                <a:cs typeface="Poppins"/>
                <a:sym typeface="Poppins"/>
              </a:rPr>
              <a:t>more important</a:t>
            </a:r>
            <a:r>
              <a:rPr lang="en" sz="1200" b="1">
                <a:solidFill>
                  <a:srgbClr val="FFFFFF"/>
                </a:solidFill>
                <a:latin typeface="Poppins"/>
                <a:ea typeface="Poppins"/>
                <a:cs typeface="Poppins"/>
                <a:sym typeface="Poppins"/>
              </a:rPr>
              <a:t> in causing the First World War: </a:t>
            </a:r>
            <a:r>
              <a:rPr lang="en" sz="1200" b="1">
                <a:solidFill>
                  <a:srgbClr val="FFFF00"/>
                </a:solidFill>
                <a:latin typeface="Poppins"/>
                <a:ea typeface="Poppins"/>
                <a:cs typeface="Poppins"/>
                <a:sym typeface="Poppins"/>
              </a:rPr>
              <a:t>the assassination</a:t>
            </a:r>
            <a:r>
              <a:rPr lang="en" sz="1200" b="1">
                <a:solidFill>
                  <a:srgbClr val="FFFFFF"/>
                </a:solidFill>
                <a:latin typeface="Poppins"/>
                <a:ea typeface="Poppins"/>
                <a:cs typeface="Poppins"/>
                <a:sym typeface="Poppins"/>
              </a:rPr>
              <a:t> itself or </a:t>
            </a:r>
            <a:r>
              <a:rPr lang="en" sz="1200" b="1">
                <a:solidFill>
                  <a:srgbClr val="FFFF00"/>
                </a:solidFill>
                <a:latin typeface="Poppins"/>
                <a:ea typeface="Poppins"/>
                <a:cs typeface="Poppins"/>
                <a:sym typeface="Poppins"/>
              </a:rPr>
              <a:t>the decisions made</a:t>
            </a:r>
            <a:r>
              <a:rPr lang="en" sz="1200" b="1">
                <a:solidFill>
                  <a:srgbClr val="FFFFFF"/>
                </a:solidFill>
                <a:latin typeface="Poppins"/>
                <a:ea typeface="Poppins"/>
                <a:cs typeface="Poppins"/>
                <a:sym typeface="Poppins"/>
              </a:rPr>
              <a:t> by European leaders? Justify your judgement using historical evidence.</a:t>
            </a:r>
            <a:endParaRPr sz="1200" b="1">
              <a:solidFill>
                <a:srgbClr val="FFFFFF"/>
              </a:solidFill>
              <a:latin typeface="Poppins"/>
              <a:ea typeface="Poppins"/>
              <a:cs typeface="Poppins"/>
              <a:sym typeface="Poppins"/>
            </a:endParaRPr>
          </a:p>
        </p:txBody>
      </p:sp>
      <p:pic>
        <p:nvPicPr>
          <p:cNvPr id="170" name="Google Shape;170;p24" descr="This timer is perfect for anyone who wants to take a break and relax. The 12-minute timer includes calming music and beautiful dancing visuals to help you de-stress and unwind.&#10;&#10;Join our Patreon community and help support us while also having the opportunity to request video ideas. https://www.patreon.com/CountdownStudio&#10;&#10;&#10;⚡Subscribe: https://bit.ly/3uUcvRk ⚡" title="12 Minute Relaxing Timer">
            <a:hlinkClick r:id="rId8"/>
          </p:cNvPr>
          <p:cNvPicPr preferRelativeResize="0"/>
          <p:nvPr/>
        </p:nvPicPr>
        <p:blipFill>
          <a:blip r:embed="rId9">
            <a:alphaModFix/>
          </a:blip>
          <a:stretch>
            <a:fillRect/>
          </a:stretch>
        </p:blipFill>
        <p:spPr>
          <a:xfrm>
            <a:off x="7436644" y="77000"/>
            <a:ext cx="1547155" cy="8702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70"/>
                                        </p:tgtEl>
                                        <p:attrNameLst>
                                          <p:attrName>style.visibility</p:attrName>
                                        </p:attrNameLst>
                                      </p:cBhvr>
                                      <p:to>
                                        <p:strVal val="visible"/>
                                      </p:to>
                                    </p:set>
                                    <p:animEffect transition="in" filter="fade">
                                      <p:cBhvr>
                                        <p:cTn id="19" dur="10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p:nvPr/>
        </p:nvSpPr>
        <p:spPr>
          <a:xfrm>
            <a:off x="1208625" y="101363"/>
            <a:ext cx="6703650" cy="4940775"/>
          </a:xfrm>
          <a:prstGeom prst="rect">
            <a:avLst/>
          </a:prstGeom>
          <a:noFill/>
          <a:ln w="9525" cap="flat" cmpd="sng">
            <a:solidFill>
              <a:srgbClr val="000000"/>
            </a:solidFill>
            <a:prstDash val="lgDash"/>
            <a:round/>
            <a:headEnd type="none" w="sm" len="sm"/>
            <a:tailEnd type="none" w="sm" len="sm"/>
          </a:ln>
        </p:spPr>
        <p:txBody>
          <a:bodyPr spcFirstLastPara="1" wrap="square" lIns="68569" tIns="68569" rIns="68569" bIns="68569" anchor="ctr" anchorCtr="0">
            <a:noAutofit/>
          </a:bodyPr>
          <a:lstStyle/>
          <a:p>
            <a:endParaRPr sz="1050"/>
          </a:p>
        </p:txBody>
      </p:sp>
      <p:pic>
        <p:nvPicPr>
          <p:cNvPr id="72" name="Google Shape;72;p15"/>
          <p:cNvPicPr preferRelativeResize="0"/>
          <p:nvPr/>
        </p:nvPicPr>
        <p:blipFill rotWithShape="1">
          <a:blip r:embed="rId3">
            <a:alphaModFix/>
          </a:blip>
          <a:srcRect t="17179" b="24290"/>
          <a:stretch/>
        </p:blipFill>
        <p:spPr>
          <a:xfrm>
            <a:off x="7350177" y="4936240"/>
            <a:ext cx="582694" cy="207263"/>
          </a:xfrm>
          <a:prstGeom prst="rect">
            <a:avLst/>
          </a:prstGeom>
          <a:noFill/>
          <a:ln>
            <a:noFill/>
          </a:ln>
        </p:spPr>
      </p:pic>
      <p:pic>
        <p:nvPicPr>
          <p:cNvPr id="73" name="Google Shape;73;p15"/>
          <p:cNvPicPr preferRelativeResize="0"/>
          <p:nvPr/>
        </p:nvPicPr>
        <p:blipFill rotWithShape="1">
          <a:blip r:embed="rId4">
            <a:alphaModFix/>
          </a:blip>
          <a:srcRect b="3939"/>
          <a:stretch/>
        </p:blipFill>
        <p:spPr>
          <a:xfrm>
            <a:off x="1266469" y="169388"/>
            <a:ext cx="6587964" cy="47754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5"/>
          <p:cNvSpPr txBox="1"/>
          <p:nvPr/>
        </p:nvSpPr>
        <p:spPr>
          <a:xfrm>
            <a:off x="132600" y="1154000"/>
            <a:ext cx="8878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latin typeface="Poppins"/>
                <a:ea typeface="Poppins"/>
                <a:cs typeface="Poppins"/>
                <a:sym typeface="Poppins"/>
              </a:rPr>
              <a:t>Part A — Sequence the Events</a:t>
            </a:r>
            <a:endParaRPr sz="1600" b="1">
              <a:latin typeface="Poppins"/>
              <a:ea typeface="Poppins"/>
              <a:cs typeface="Poppins"/>
              <a:sym typeface="Poppins"/>
            </a:endParaRPr>
          </a:p>
          <a:p>
            <a:pPr marL="0" lvl="0" indent="0" algn="l" rtl="0">
              <a:spcBef>
                <a:spcPts val="0"/>
              </a:spcBef>
              <a:spcAft>
                <a:spcPts val="0"/>
              </a:spcAft>
              <a:buNone/>
            </a:pPr>
            <a:r>
              <a:rPr lang="en" sz="1600" b="1">
                <a:latin typeface="Poppins"/>
                <a:ea typeface="Poppins"/>
                <a:cs typeface="Poppins"/>
                <a:sym typeface="Poppins"/>
              </a:rPr>
              <a:t>The correct chronological order is:</a:t>
            </a:r>
            <a:endParaRPr sz="1600">
              <a:latin typeface="Poppins"/>
              <a:ea typeface="Poppins"/>
              <a:cs typeface="Poppins"/>
              <a:sym typeface="Poppins"/>
            </a:endParaRPr>
          </a:p>
        </p:txBody>
      </p:sp>
      <p:pic>
        <p:nvPicPr>
          <p:cNvPr id="176" name="Google Shape;176;p25"/>
          <p:cNvPicPr preferRelativeResize="0"/>
          <p:nvPr/>
        </p:nvPicPr>
        <p:blipFill>
          <a:blip r:embed="rId3">
            <a:alphaModFix/>
          </a:blip>
          <a:stretch>
            <a:fillRect/>
          </a:stretch>
        </p:blipFill>
        <p:spPr>
          <a:xfrm>
            <a:off x="7408211" y="77000"/>
            <a:ext cx="1615488" cy="1077000"/>
          </a:xfrm>
          <a:prstGeom prst="rect">
            <a:avLst/>
          </a:prstGeom>
          <a:noFill/>
          <a:ln>
            <a:noFill/>
          </a:ln>
        </p:spPr>
      </p:pic>
      <p:sp>
        <p:nvSpPr>
          <p:cNvPr id="177" name="Google Shape;177;p25"/>
          <p:cNvSpPr txBox="1"/>
          <p:nvPr/>
        </p:nvSpPr>
        <p:spPr>
          <a:xfrm>
            <a:off x="104400" y="77000"/>
            <a:ext cx="89193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Title: How Did the Assassination of Franz Ferdinand Lead to the First World War?</a:t>
            </a:r>
            <a:endParaRPr sz="1200" b="1">
              <a:solidFill>
                <a:srgbClr val="980000"/>
              </a:solidFill>
              <a:latin typeface="Delius"/>
              <a:ea typeface="Delius"/>
              <a:cs typeface="Delius"/>
              <a:sym typeface="Delius"/>
            </a:endParaRPr>
          </a:p>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LO: How did the assassination increase tensions and trigger a wider European conflict?</a:t>
            </a:r>
            <a:endParaRPr sz="1200" b="1">
              <a:solidFill>
                <a:srgbClr val="980000"/>
              </a:solidFill>
              <a:latin typeface="Delius"/>
              <a:ea typeface="Delius"/>
              <a:cs typeface="Delius"/>
              <a:sym typeface="Delius"/>
            </a:endParaRPr>
          </a:p>
          <a:p>
            <a:pPr marL="0" marR="0" lvl="0" indent="0" algn="l" rtl="0">
              <a:lnSpc>
                <a:spcPct val="115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
        <p:nvSpPr>
          <p:cNvPr id="178" name="Google Shape;178;p25"/>
          <p:cNvSpPr txBox="1"/>
          <p:nvPr/>
        </p:nvSpPr>
        <p:spPr>
          <a:xfrm>
            <a:off x="144300" y="612500"/>
            <a:ext cx="8839500" cy="525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400" b="1">
                <a:solidFill>
                  <a:schemeClr val="dk1"/>
                </a:solidFill>
                <a:latin typeface="Patrick Hand"/>
                <a:ea typeface="Patrick Hand"/>
                <a:cs typeface="Patrick Hand"/>
                <a:sym typeface="Patrick Hand"/>
              </a:rPr>
              <a:t>From Assassination to World War!</a:t>
            </a:r>
            <a:endParaRPr sz="2400" b="1" i="0" u="none" strike="noStrike" cap="none">
              <a:solidFill>
                <a:schemeClr val="dk1"/>
              </a:solidFill>
              <a:latin typeface="Patrick Hand"/>
              <a:ea typeface="Patrick Hand"/>
              <a:cs typeface="Patrick Hand"/>
              <a:sym typeface="Patrick Hand"/>
            </a:endParaRPr>
          </a:p>
        </p:txBody>
      </p:sp>
      <p:sp>
        <p:nvSpPr>
          <p:cNvPr id="179" name="Google Shape;179;p25"/>
          <p:cNvSpPr txBox="1"/>
          <p:nvPr/>
        </p:nvSpPr>
        <p:spPr>
          <a:xfrm>
            <a:off x="144300" y="1831100"/>
            <a:ext cx="8878800" cy="3140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Font typeface="Poppins"/>
              <a:buAutoNum type="arabicPeriod"/>
            </a:pPr>
            <a:r>
              <a:rPr lang="en" sz="1600" b="1">
                <a:solidFill>
                  <a:srgbClr val="38761D"/>
                </a:solidFill>
                <a:latin typeface="Poppins"/>
                <a:ea typeface="Poppins"/>
                <a:cs typeface="Poppins"/>
                <a:sym typeface="Poppins"/>
              </a:rPr>
              <a:t>The Assassination</a:t>
            </a:r>
            <a:r>
              <a:rPr lang="en" sz="1600">
                <a:solidFill>
                  <a:schemeClr val="dk1"/>
                </a:solidFill>
                <a:latin typeface="Poppins"/>
                <a:ea typeface="Poppins"/>
                <a:cs typeface="Poppins"/>
                <a:sym typeface="Poppins"/>
              </a:rPr>
              <a:t> — On 28 June 1914, Gavrilo Princip shoots Archduke Franz Ferdinand and his wife Sophie in Sarajevo.</a:t>
            </a:r>
            <a:endParaRPr sz="1600">
              <a:solidFill>
                <a:schemeClr val="dk1"/>
              </a:solidFill>
              <a:latin typeface="Poppins"/>
              <a:ea typeface="Poppins"/>
              <a:cs typeface="Poppins"/>
              <a:sym typeface="Poppins"/>
            </a:endParaRPr>
          </a:p>
          <a:p>
            <a:pPr marL="457200" lvl="0" indent="-330200" algn="l" rtl="0">
              <a:spcBef>
                <a:spcPts val="0"/>
              </a:spcBef>
              <a:spcAft>
                <a:spcPts val="0"/>
              </a:spcAft>
              <a:buClr>
                <a:schemeClr val="dk1"/>
              </a:buClr>
              <a:buSzPts val="1600"/>
              <a:buFont typeface="Poppins"/>
              <a:buAutoNum type="arabicPeriod"/>
            </a:pPr>
            <a:r>
              <a:rPr lang="en" sz="1600" b="1">
                <a:solidFill>
                  <a:srgbClr val="38761D"/>
                </a:solidFill>
                <a:latin typeface="Poppins"/>
                <a:ea typeface="Poppins"/>
                <a:cs typeface="Poppins"/>
                <a:sym typeface="Poppins"/>
              </a:rPr>
              <a:t>Austria-Hungary Blamed Serbia</a:t>
            </a:r>
            <a:r>
              <a:rPr lang="en" sz="1600">
                <a:solidFill>
                  <a:srgbClr val="38761D"/>
                </a:solidFill>
                <a:latin typeface="Poppins"/>
                <a:ea typeface="Poppins"/>
                <a:cs typeface="Poppins"/>
                <a:sym typeface="Poppins"/>
              </a:rPr>
              <a:t> </a:t>
            </a:r>
            <a:r>
              <a:rPr lang="en" sz="1600">
                <a:solidFill>
                  <a:schemeClr val="dk1"/>
                </a:solidFill>
                <a:latin typeface="Poppins"/>
                <a:ea typeface="Poppins"/>
                <a:cs typeface="Poppins"/>
                <a:sym typeface="Poppins"/>
              </a:rPr>
              <a:t>— Austria-Hungary blamed Serbia for the assassination.</a:t>
            </a:r>
            <a:endParaRPr sz="1600">
              <a:solidFill>
                <a:schemeClr val="dk1"/>
              </a:solidFill>
              <a:latin typeface="Poppins"/>
              <a:ea typeface="Poppins"/>
              <a:cs typeface="Poppins"/>
              <a:sym typeface="Poppins"/>
            </a:endParaRPr>
          </a:p>
          <a:p>
            <a:pPr marL="457200" lvl="0" indent="-330200" algn="l" rtl="0">
              <a:spcBef>
                <a:spcPts val="0"/>
              </a:spcBef>
              <a:spcAft>
                <a:spcPts val="0"/>
              </a:spcAft>
              <a:buClr>
                <a:schemeClr val="dk1"/>
              </a:buClr>
              <a:buSzPts val="1600"/>
              <a:buFont typeface="Poppins"/>
              <a:buAutoNum type="arabicPeriod"/>
            </a:pPr>
            <a:r>
              <a:rPr lang="en" sz="1600" b="1">
                <a:solidFill>
                  <a:srgbClr val="38761D"/>
                </a:solidFill>
                <a:latin typeface="Poppins"/>
                <a:ea typeface="Poppins"/>
                <a:cs typeface="Poppins"/>
                <a:sym typeface="Poppins"/>
              </a:rPr>
              <a:t>Germany Promises Support </a:t>
            </a:r>
            <a:r>
              <a:rPr lang="en" sz="1600">
                <a:solidFill>
                  <a:schemeClr val="dk1"/>
                </a:solidFill>
                <a:latin typeface="Poppins"/>
                <a:ea typeface="Poppins"/>
                <a:cs typeface="Poppins"/>
                <a:sym typeface="Poppins"/>
              </a:rPr>
              <a:t>— Germany promises to support Austria-Hungary if Russia becomes involved.</a:t>
            </a:r>
            <a:endParaRPr sz="1600">
              <a:solidFill>
                <a:schemeClr val="dk1"/>
              </a:solidFill>
              <a:latin typeface="Poppins"/>
              <a:ea typeface="Poppins"/>
              <a:cs typeface="Poppins"/>
              <a:sym typeface="Poppins"/>
            </a:endParaRPr>
          </a:p>
          <a:p>
            <a:pPr marL="457200" lvl="0" indent="-330200" algn="l" rtl="0">
              <a:spcBef>
                <a:spcPts val="0"/>
              </a:spcBef>
              <a:spcAft>
                <a:spcPts val="0"/>
              </a:spcAft>
              <a:buClr>
                <a:schemeClr val="dk1"/>
              </a:buClr>
              <a:buSzPts val="1600"/>
              <a:buFont typeface="Poppins"/>
              <a:buAutoNum type="arabicPeriod"/>
            </a:pPr>
            <a:r>
              <a:rPr lang="en" sz="1600" b="1">
                <a:solidFill>
                  <a:srgbClr val="38761D"/>
                </a:solidFill>
                <a:latin typeface="Poppins"/>
                <a:ea typeface="Poppins"/>
                <a:cs typeface="Poppins"/>
                <a:sym typeface="Poppins"/>
              </a:rPr>
              <a:t>Austria-Hungary Declares War</a:t>
            </a:r>
            <a:r>
              <a:rPr lang="en" sz="1600">
                <a:solidFill>
                  <a:schemeClr val="dk1"/>
                </a:solidFill>
                <a:latin typeface="Poppins"/>
                <a:ea typeface="Poppins"/>
                <a:cs typeface="Poppins"/>
                <a:sym typeface="Poppins"/>
              </a:rPr>
              <a:t> - Austria-Hungary declares war on Serbia on 28 July 1914.</a:t>
            </a:r>
            <a:endParaRPr sz="1600">
              <a:solidFill>
                <a:schemeClr val="dk1"/>
              </a:solidFill>
              <a:latin typeface="Poppins"/>
              <a:ea typeface="Poppins"/>
              <a:cs typeface="Poppins"/>
              <a:sym typeface="Poppins"/>
            </a:endParaRPr>
          </a:p>
          <a:p>
            <a:pPr marL="457200" lvl="0" indent="-330200" algn="l" rtl="0">
              <a:spcBef>
                <a:spcPts val="0"/>
              </a:spcBef>
              <a:spcAft>
                <a:spcPts val="0"/>
              </a:spcAft>
              <a:buClr>
                <a:schemeClr val="dk1"/>
              </a:buClr>
              <a:buSzPts val="1600"/>
              <a:buFont typeface="Poppins"/>
              <a:buAutoNum type="arabicPeriod"/>
            </a:pPr>
            <a:r>
              <a:rPr lang="en" sz="1600" b="1">
                <a:solidFill>
                  <a:srgbClr val="38761D"/>
                </a:solidFill>
                <a:latin typeface="Poppins"/>
                <a:ea typeface="Poppins"/>
                <a:cs typeface="Poppins"/>
                <a:sym typeface="Poppins"/>
              </a:rPr>
              <a:t>Russia Supports Serbia</a:t>
            </a:r>
            <a:r>
              <a:rPr lang="en" sz="1600" b="1">
                <a:solidFill>
                  <a:schemeClr val="dk1"/>
                </a:solidFill>
                <a:latin typeface="Poppins"/>
                <a:ea typeface="Poppins"/>
                <a:cs typeface="Poppins"/>
                <a:sym typeface="Poppins"/>
              </a:rPr>
              <a:t> </a:t>
            </a:r>
            <a:r>
              <a:rPr lang="en" sz="1600">
                <a:solidFill>
                  <a:schemeClr val="dk1"/>
                </a:solidFill>
                <a:latin typeface="Poppins"/>
                <a:ea typeface="Poppins"/>
                <a:cs typeface="Poppins"/>
                <a:sym typeface="Poppins"/>
              </a:rPr>
              <a:t>— Russia prepares to support Serbia against Austria-Hungary.</a:t>
            </a:r>
            <a:endParaRPr sz="1600">
              <a:solidFill>
                <a:schemeClr val="dk1"/>
              </a:solidFill>
              <a:latin typeface="Poppins"/>
              <a:ea typeface="Poppins"/>
              <a:cs typeface="Poppins"/>
              <a:sym typeface="Poppins"/>
            </a:endParaRPr>
          </a:p>
          <a:p>
            <a:pPr marL="457200" lvl="0" indent="-330200" algn="l" rtl="0">
              <a:spcBef>
                <a:spcPts val="0"/>
              </a:spcBef>
              <a:spcAft>
                <a:spcPts val="0"/>
              </a:spcAft>
              <a:buClr>
                <a:schemeClr val="dk1"/>
              </a:buClr>
              <a:buSzPts val="1600"/>
              <a:buFont typeface="Poppins"/>
              <a:buAutoNum type="arabicPeriod"/>
            </a:pPr>
            <a:r>
              <a:rPr lang="en" sz="1600" b="1">
                <a:solidFill>
                  <a:srgbClr val="38761D"/>
                </a:solidFill>
                <a:latin typeface="Poppins"/>
                <a:ea typeface="Poppins"/>
                <a:cs typeface="Poppins"/>
                <a:sym typeface="Poppins"/>
              </a:rPr>
              <a:t>The Conflict Spreads</a:t>
            </a:r>
            <a:r>
              <a:rPr lang="en" sz="1600">
                <a:solidFill>
                  <a:schemeClr val="dk1"/>
                </a:solidFill>
                <a:latin typeface="Poppins"/>
                <a:ea typeface="Poppins"/>
                <a:cs typeface="Poppins"/>
                <a:sym typeface="Poppins"/>
              </a:rPr>
              <a:t> — Germany, France and Britain become involved as the crisis develops into a wider European war.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143000" y="0"/>
            <a:ext cx="6858001"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A9ADFFEF-C83A-03DD-CDCE-F1FB077E2E72}"/>
            </a:ext>
          </a:extLst>
        </p:cNvPr>
        <p:cNvGrpSpPr/>
        <p:nvPr/>
      </p:nvGrpSpPr>
      <p:grpSpPr>
        <a:xfrm>
          <a:off x="0" y="0"/>
          <a:ext cx="0" cy="0"/>
          <a:chOff x="0" y="0"/>
          <a:chExt cx="0" cy="0"/>
        </a:xfrm>
      </p:grpSpPr>
      <p:sp>
        <p:nvSpPr>
          <p:cNvPr id="158" name="Google Shape;158;p24">
            <a:extLst>
              <a:ext uri="{FF2B5EF4-FFF2-40B4-BE49-F238E27FC236}">
                <a16:creationId xmlns:a16="http://schemas.microsoft.com/office/drawing/2014/main" id="{11F4B463-F060-83D0-B269-D23214B0726D}"/>
              </a:ext>
            </a:extLst>
          </p:cNvPr>
          <p:cNvSpPr txBox="1"/>
          <p:nvPr/>
        </p:nvSpPr>
        <p:spPr>
          <a:xfrm>
            <a:off x="104400" y="77000"/>
            <a:ext cx="89193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Title: How Did the Assassination of Franz Ferdinand Lead to the First World War?</a:t>
            </a:r>
            <a:endParaRPr sz="1200" b="1">
              <a:solidFill>
                <a:srgbClr val="980000"/>
              </a:solidFill>
              <a:latin typeface="Delius"/>
              <a:ea typeface="Delius"/>
              <a:cs typeface="Delius"/>
              <a:sym typeface="Delius"/>
            </a:endParaRPr>
          </a:p>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LO: How did the assassination increase tensions and trigger a wider European conflict?</a:t>
            </a:r>
            <a:endParaRPr sz="1200" b="1">
              <a:solidFill>
                <a:srgbClr val="980000"/>
              </a:solidFill>
              <a:latin typeface="Delius"/>
              <a:ea typeface="Delius"/>
              <a:cs typeface="Delius"/>
              <a:sym typeface="Delius"/>
            </a:endParaRPr>
          </a:p>
          <a:p>
            <a:pPr marL="0" marR="0" lvl="0" indent="0" algn="l" rtl="0">
              <a:lnSpc>
                <a:spcPct val="115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sp>
        <p:nvSpPr>
          <p:cNvPr id="159" name="Google Shape;159;p24">
            <a:extLst>
              <a:ext uri="{FF2B5EF4-FFF2-40B4-BE49-F238E27FC236}">
                <a16:creationId xmlns:a16="http://schemas.microsoft.com/office/drawing/2014/main" id="{83A3C3E7-66AA-AAC7-F374-897547FB0F53}"/>
              </a:ext>
            </a:extLst>
          </p:cNvPr>
          <p:cNvSpPr txBox="1"/>
          <p:nvPr/>
        </p:nvSpPr>
        <p:spPr>
          <a:xfrm>
            <a:off x="144300" y="612500"/>
            <a:ext cx="8839500" cy="525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400" b="1">
                <a:solidFill>
                  <a:schemeClr val="dk1"/>
                </a:solidFill>
                <a:latin typeface="Patrick Hand"/>
                <a:ea typeface="Patrick Hand"/>
                <a:cs typeface="Patrick Hand"/>
                <a:sym typeface="Patrick Hand"/>
              </a:rPr>
              <a:t>From Assassination to World War!</a:t>
            </a:r>
            <a:endParaRPr sz="2400" b="1" i="0" u="none" strike="noStrike" cap="none">
              <a:solidFill>
                <a:schemeClr val="dk1"/>
              </a:solidFill>
              <a:latin typeface="Patrick Hand"/>
              <a:ea typeface="Patrick Hand"/>
              <a:cs typeface="Patrick Hand"/>
              <a:sym typeface="Patrick Hand"/>
            </a:endParaRPr>
          </a:p>
        </p:txBody>
      </p:sp>
      <p:sp>
        <p:nvSpPr>
          <p:cNvPr id="160" name="Google Shape;160;p24">
            <a:extLst>
              <a:ext uri="{FF2B5EF4-FFF2-40B4-BE49-F238E27FC236}">
                <a16:creationId xmlns:a16="http://schemas.microsoft.com/office/drawing/2014/main" id="{783E6926-01F1-A939-7666-14EC0B18246D}"/>
              </a:ext>
            </a:extLst>
          </p:cNvPr>
          <p:cNvSpPr txBox="1"/>
          <p:nvPr/>
        </p:nvSpPr>
        <p:spPr>
          <a:xfrm>
            <a:off x="144300" y="1069416"/>
            <a:ext cx="4863000" cy="411340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600" b="1"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800" b="1" dirty="0">
                <a:solidFill>
                  <a:schemeClr val="dk1"/>
                </a:solidFill>
                <a:latin typeface="Baumans"/>
                <a:ea typeface="Baumans"/>
                <a:cs typeface="Baumans"/>
                <a:sym typeface="Baumans"/>
              </a:rPr>
              <a:t>Part B — Explain the Events</a:t>
            </a:r>
            <a:endParaRPr sz="1800" b="1" dirty="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800" dirty="0">
                <a:solidFill>
                  <a:schemeClr val="dk1"/>
                </a:solidFill>
                <a:latin typeface="Baumans"/>
                <a:ea typeface="Baumans"/>
                <a:cs typeface="Baumans"/>
                <a:sym typeface="Baumans"/>
              </a:rPr>
              <a:t>Answer the questions in full sentences </a:t>
            </a:r>
            <a:r>
              <a:rPr lang="en" sz="1800" b="1" dirty="0">
                <a:solidFill>
                  <a:schemeClr val="dk1"/>
                </a:solidFill>
                <a:latin typeface="Baumans"/>
                <a:ea typeface="Baumans"/>
                <a:cs typeface="Baumans"/>
                <a:sym typeface="Baumans"/>
              </a:rPr>
              <a:t>individually</a:t>
            </a:r>
            <a:r>
              <a:rPr lang="en" sz="1800" dirty="0">
                <a:solidFill>
                  <a:schemeClr val="dk1"/>
                </a:solidFill>
                <a:latin typeface="Baumans"/>
                <a:ea typeface="Baumans"/>
                <a:cs typeface="Baumans"/>
                <a:sym typeface="Baumans"/>
              </a:rPr>
              <a:t> in your book.</a:t>
            </a:r>
            <a:endParaRPr sz="1800" dirty="0">
              <a:solidFill>
                <a:schemeClr val="dk1"/>
              </a:solidFill>
              <a:latin typeface="Baumans"/>
              <a:ea typeface="Baumans"/>
              <a:cs typeface="Baumans"/>
              <a:sym typeface="Baumans"/>
            </a:endParaRPr>
          </a:p>
          <a:p>
            <a:pPr marL="457200" lvl="0" indent="-330200">
              <a:lnSpc>
                <a:spcPct val="115000"/>
              </a:lnSpc>
              <a:buClr>
                <a:schemeClr val="dk1"/>
              </a:buClr>
              <a:buSzPts val="1600"/>
              <a:buFont typeface="Baumans"/>
              <a:buAutoNum type="arabicPeriod"/>
            </a:pPr>
            <a:r>
              <a:rPr lang="en" sz="1800" dirty="0">
                <a:solidFill>
                  <a:schemeClr val="dk1"/>
                </a:solidFill>
                <a:latin typeface="Baumans"/>
                <a:ea typeface="Baumans"/>
                <a:cs typeface="Baumans"/>
                <a:sym typeface="Baumans"/>
              </a:rPr>
              <a:t>Why did Austria-Hungary blame Serbia for the assassination? </a:t>
            </a:r>
            <a:r>
              <a:rPr lang="ja-JP" altLang="en-US" sz="1800">
                <a:solidFill>
                  <a:schemeClr val="dk1"/>
                </a:solidFill>
                <a:latin typeface="Baumans"/>
                <a:ea typeface="Baumans"/>
                <a:cs typeface="Baumans"/>
                <a:sym typeface="Baumans"/>
              </a:rPr>
              <a:t>奥匈帝国为什么指责塞尔维亚是暗杀的凶手？</a:t>
            </a:r>
            <a:endParaRPr sz="1800" dirty="0">
              <a:solidFill>
                <a:schemeClr val="dk1"/>
              </a:solidFill>
              <a:latin typeface="Baumans"/>
              <a:ea typeface="Baumans"/>
              <a:cs typeface="Baumans"/>
              <a:sym typeface="Baumans"/>
            </a:endParaRPr>
          </a:p>
          <a:p>
            <a:pPr marL="457200" lvl="0" indent="-330200">
              <a:lnSpc>
                <a:spcPct val="115000"/>
              </a:lnSpc>
              <a:buClr>
                <a:schemeClr val="dk1"/>
              </a:buClr>
              <a:buSzPts val="1600"/>
              <a:buFont typeface="Baumans"/>
              <a:buAutoNum type="arabicPeriod"/>
            </a:pPr>
            <a:r>
              <a:rPr lang="en" sz="1800" dirty="0">
                <a:solidFill>
                  <a:schemeClr val="dk1"/>
                </a:solidFill>
                <a:latin typeface="Baumans"/>
                <a:ea typeface="Baumans"/>
                <a:cs typeface="Baumans"/>
                <a:sym typeface="Baumans"/>
              </a:rPr>
              <a:t>How did Germany’s support make the crisis more dangerous? </a:t>
            </a:r>
            <a:r>
              <a:rPr lang="ja-JP" altLang="en-US" sz="1800">
                <a:solidFill>
                  <a:schemeClr val="dk1"/>
                </a:solidFill>
                <a:latin typeface="Baumans"/>
                <a:ea typeface="Baumans"/>
                <a:cs typeface="Baumans"/>
                <a:sym typeface="Baumans"/>
              </a:rPr>
              <a:t>德国的支持如何使危机更加危险？</a:t>
            </a:r>
            <a:endParaRPr sz="1800" dirty="0">
              <a:solidFill>
                <a:schemeClr val="dk1"/>
              </a:solidFill>
              <a:latin typeface="Baumans"/>
              <a:ea typeface="Baumans"/>
              <a:cs typeface="Baumans"/>
              <a:sym typeface="Baumans"/>
            </a:endParaRPr>
          </a:p>
          <a:p>
            <a:pPr marL="457200" lvl="0" indent="-330200">
              <a:lnSpc>
                <a:spcPct val="115000"/>
              </a:lnSpc>
              <a:buClr>
                <a:schemeClr val="dk1"/>
              </a:buClr>
              <a:buSzPts val="1600"/>
              <a:buFont typeface="Baumans"/>
              <a:buAutoNum type="arabicPeriod"/>
            </a:pPr>
            <a:r>
              <a:rPr lang="en" sz="1800" dirty="0">
                <a:solidFill>
                  <a:schemeClr val="dk1"/>
                </a:solidFill>
                <a:latin typeface="Baumans"/>
                <a:ea typeface="Baumans"/>
                <a:cs typeface="Baumans"/>
                <a:sym typeface="Baumans"/>
              </a:rPr>
              <a:t>How did the conflict spread across Europe? </a:t>
            </a:r>
            <a:r>
              <a:rPr lang="ja-JP" altLang="en-US" sz="1800">
                <a:solidFill>
                  <a:schemeClr val="dk1"/>
                </a:solidFill>
                <a:latin typeface="Baumans"/>
                <a:ea typeface="Baumans"/>
                <a:cs typeface="Baumans"/>
                <a:sym typeface="Baumans"/>
              </a:rPr>
              <a:t>这场冲突是如何蔓延到整个欧洲的？</a:t>
            </a:r>
            <a:endParaRPr sz="1800" dirty="0">
              <a:solidFill>
                <a:schemeClr val="dk1"/>
              </a:solidFill>
              <a:latin typeface="Baumans"/>
              <a:ea typeface="Baumans"/>
              <a:cs typeface="Baumans"/>
              <a:sym typeface="Baumans"/>
            </a:endParaRPr>
          </a:p>
        </p:txBody>
      </p:sp>
      <p:pic>
        <p:nvPicPr>
          <p:cNvPr id="161" name="Google Shape;161;p24">
            <a:extLst>
              <a:ext uri="{FF2B5EF4-FFF2-40B4-BE49-F238E27FC236}">
                <a16:creationId xmlns:a16="http://schemas.microsoft.com/office/drawing/2014/main" id="{F0D4F53A-3685-D4B7-31BE-B1C8331DB3F4}"/>
              </a:ext>
            </a:extLst>
          </p:cNvPr>
          <p:cNvPicPr preferRelativeResize="0"/>
          <p:nvPr/>
        </p:nvPicPr>
        <p:blipFill>
          <a:blip r:embed="rId3">
            <a:alphaModFix/>
          </a:blip>
          <a:stretch>
            <a:fillRect/>
          </a:stretch>
        </p:blipFill>
        <p:spPr>
          <a:xfrm>
            <a:off x="5305597" y="2873984"/>
            <a:ext cx="712250" cy="464500"/>
          </a:xfrm>
          <a:prstGeom prst="rect">
            <a:avLst/>
          </a:prstGeom>
          <a:noFill/>
          <a:ln>
            <a:noFill/>
          </a:ln>
        </p:spPr>
      </p:pic>
      <p:grpSp>
        <p:nvGrpSpPr>
          <p:cNvPr id="162" name="Google Shape;162;p24">
            <a:extLst>
              <a:ext uri="{FF2B5EF4-FFF2-40B4-BE49-F238E27FC236}">
                <a16:creationId xmlns:a16="http://schemas.microsoft.com/office/drawing/2014/main" id="{4FD5B084-CEBC-D953-9FA2-F0A8394DB74C}"/>
              </a:ext>
            </a:extLst>
          </p:cNvPr>
          <p:cNvGrpSpPr/>
          <p:nvPr/>
        </p:nvGrpSpPr>
        <p:grpSpPr>
          <a:xfrm>
            <a:off x="5280011" y="3635943"/>
            <a:ext cx="763414" cy="870260"/>
            <a:chOff x="5426175" y="139294"/>
            <a:chExt cx="946695" cy="1152356"/>
          </a:xfrm>
        </p:grpSpPr>
        <p:pic>
          <p:nvPicPr>
            <p:cNvPr id="163" name="Google Shape;163;p24">
              <a:extLst>
                <a:ext uri="{FF2B5EF4-FFF2-40B4-BE49-F238E27FC236}">
                  <a16:creationId xmlns:a16="http://schemas.microsoft.com/office/drawing/2014/main" id="{CE14D664-1743-68B3-3302-5607158E6E96}"/>
                </a:ext>
              </a:extLst>
            </p:cNvPr>
            <p:cNvPicPr preferRelativeResize="0"/>
            <p:nvPr/>
          </p:nvPicPr>
          <p:blipFill>
            <a:blip r:embed="rId4">
              <a:alphaModFix/>
            </a:blip>
            <a:stretch>
              <a:fillRect/>
            </a:stretch>
          </p:blipFill>
          <p:spPr>
            <a:xfrm>
              <a:off x="5469469" y="139300"/>
              <a:ext cx="903401" cy="1152350"/>
            </a:xfrm>
            <a:prstGeom prst="rect">
              <a:avLst/>
            </a:prstGeom>
            <a:noFill/>
            <a:ln>
              <a:noFill/>
            </a:ln>
          </p:spPr>
        </p:pic>
        <p:pic>
          <p:nvPicPr>
            <p:cNvPr id="164" name="Google Shape;164;p24" descr="a cartoon drawing of a fire with a flame coming out of it (Provided by Tenor)">
              <a:extLst>
                <a:ext uri="{FF2B5EF4-FFF2-40B4-BE49-F238E27FC236}">
                  <a16:creationId xmlns:a16="http://schemas.microsoft.com/office/drawing/2014/main" id="{711A440B-4E3E-C1D7-5E6D-38DDEC8AB930}"/>
                </a:ext>
              </a:extLst>
            </p:cNvPr>
            <p:cNvPicPr preferRelativeResize="0"/>
            <p:nvPr/>
          </p:nvPicPr>
          <p:blipFill>
            <a:blip r:embed="rId5">
              <a:alphaModFix/>
            </a:blip>
            <a:stretch>
              <a:fillRect/>
            </a:stretch>
          </p:blipFill>
          <p:spPr>
            <a:xfrm>
              <a:off x="5426175" y="139294"/>
              <a:ext cx="341075" cy="391706"/>
            </a:xfrm>
            <a:prstGeom prst="rect">
              <a:avLst/>
            </a:prstGeom>
            <a:noFill/>
            <a:ln>
              <a:noFill/>
            </a:ln>
          </p:spPr>
        </p:pic>
      </p:grpSp>
      <p:grpSp>
        <p:nvGrpSpPr>
          <p:cNvPr id="165" name="Google Shape;165;p24">
            <a:extLst>
              <a:ext uri="{FF2B5EF4-FFF2-40B4-BE49-F238E27FC236}">
                <a16:creationId xmlns:a16="http://schemas.microsoft.com/office/drawing/2014/main" id="{FBD00B24-8020-B69A-62BB-D549D0B42CF8}"/>
              </a:ext>
            </a:extLst>
          </p:cNvPr>
          <p:cNvGrpSpPr/>
          <p:nvPr/>
        </p:nvGrpSpPr>
        <p:grpSpPr>
          <a:xfrm>
            <a:off x="5280018" y="1706285"/>
            <a:ext cx="763396" cy="870264"/>
            <a:chOff x="5313625" y="1569463"/>
            <a:chExt cx="1136175" cy="1330475"/>
          </a:xfrm>
        </p:grpSpPr>
        <p:pic>
          <p:nvPicPr>
            <p:cNvPr id="166" name="Google Shape;166;p24">
              <a:extLst>
                <a:ext uri="{FF2B5EF4-FFF2-40B4-BE49-F238E27FC236}">
                  <a16:creationId xmlns:a16="http://schemas.microsoft.com/office/drawing/2014/main" id="{35CAAA51-CF7D-260A-F204-B1394E0D2A36}"/>
                </a:ext>
              </a:extLst>
            </p:cNvPr>
            <p:cNvPicPr preferRelativeResize="0"/>
            <p:nvPr/>
          </p:nvPicPr>
          <p:blipFill>
            <a:blip r:embed="rId6">
              <a:alphaModFix/>
            </a:blip>
            <a:stretch>
              <a:fillRect/>
            </a:stretch>
          </p:blipFill>
          <p:spPr>
            <a:xfrm>
              <a:off x="5392550" y="1569463"/>
              <a:ext cx="1057250" cy="1330475"/>
            </a:xfrm>
            <a:prstGeom prst="rect">
              <a:avLst/>
            </a:prstGeom>
            <a:noFill/>
            <a:ln>
              <a:noFill/>
            </a:ln>
          </p:spPr>
        </p:pic>
        <p:pic>
          <p:nvPicPr>
            <p:cNvPr id="167" name="Google Shape;167;p24" descr="smoke is coming out of a hole in the ground on a white background . (Provided by Tenor)">
              <a:extLst>
                <a:ext uri="{FF2B5EF4-FFF2-40B4-BE49-F238E27FC236}">
                  <a16:creationId xmlns:a16="http://schemas.microsoft.com/office/drawing/2014/main" id="{BDE2B55F-366E-5F57-6A1F-44A6B596911F}"/>
                </a:ext>
              </a:extLst>
            </p:cNvPr>
            <p:cNvPicPr preferRelativeResize="0"/>
            <p:nvPr/>
          </p:nvPicPr>
          <p:blipFill rotWithShape="1">
            <a:blip r:embed="rId7">
              <a:alphaModFix/>
            </a:blip>
            <a:srcRect l="42413" t="17925"/>
            <a:stretch/>
          </p:blipFill>
          <p:spPr>
            <a:xfrm>
              <a:off x="5313625" y="1650525"/>
              <a:ext cx="418000" cy="604725"/>
            </a:xfrm>
            <a:prstGeom prst="rect">
              <a:avLst/>
            </a:prstGeom>
            <a:noFill/>
            <a:ln>
              <a:noFill/>
            </a:ln>
          </p:spPr>
        </p:pic>
      </p:grpSp>
      <p:sp>
        <p:nvSpPr>
          <p:cNvPr id="168" name="Google Shape;168;p24">
            <a:extLst>
              <a:ext uri="{FF2B5EF4-FFF2-40B4-BE49-F238E27FC236}">
                <a16:creationId xmlns:a16="http://schemas.microsoft.com/office/drawing/2014/main" id="{1AE92B4D-5891-3ACE-B2D9-F364EB24DB47}"/>
              </a:ext>
            </a:extLst>
          </p:cNvPr>
          <p:cNvSpPr txBox="1"/>
          <p:nvPr/>
        </p:nvSpPr>
        <p:spPr>
          <a:xfrm>
            <a:off x="6230100" y="1425613"/>
            <a:ext cx="2753700" cy="1431600"/>
          </a:xfrm>
          <a:prstGeom prst="rect">
            <a:avLst/>
          </a:prstGeom>
          <a:solidFill>
            <a:srgbClr val="FAA500"/>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dirty="0">
                <a:latin typeface="Poppins"/>
                <a:ea typeface="Poppins"/>
                <a:cs typeface="Poppins"/>
                <a:sym typeface="Poppins"/>
              </a:rPr>
              <a:t>How did the </a:t>
            </a:r>
            <a:r>
              <a:rPr lang="en" sz="1200" b="1" dirty="0">
                <a:solidFill>
                  <a:schemeClr val="lt1"/>
                </a:solidFill>
                <a:latin typeface="Poppins"/>
                <a:ea typeface="Poppins"/>
                <a:cs typeface="Poppins"/>
                <a:sym typeface="Poppins"/>
              </a:rPr>
              <a:t>decisions made</a:t>
            </a:r>
            <a:r>
              <a:rPr lang="en" sz="1200" b="1" dirty="0">
                <a:latin typeface="Poppins"/>
                <a:ea typeface="Poppins"/>
                <a:cs typeface="Poppins"/>
                <a:sym typeface="Poppins"/>
              </a:rPr>
              <a:t> by Germany, Austria-Hungary and Russia help </a:t>
            </a:r>
            <a:r>
              <a:rPr lang="en" sz="1200" b="1" dirty="0">
                <a:solidFill>
                  <a:schemeClr val="lt1"/>
                </a:solidFill>
                <a:latin typeface="Poppins"/>
                <a:ea typeface="Poppins"/>
                <a:cs typeface="Poppins"/>
                <a:sym typeface="Poppins"/>
              </a:rPr>
              <a:t>turn the assassination into a wider conflict</a:t>
            </a:r>
            <a:r>
              <a:rPr lang="en" sz="1200" b="1" dirty="0">
                <a:latin typeface="Poppins"/>
                <a:ea typeface="Poppins"/>
                <a:cs typeface="Poppins"/>
                <a:sym typeface="Poppins"/>
              </a:rPr>
              <a:t>? Explain your answer using historical evidence.</a:t>
            </a:r>
            <a:endParaRPr sz="1200" b="1" dirty="0">
              <a:latin typeface="Poppins"/>
              <a:ea typeface="Poppins"/>
              <a:cs typeface="Poppins"/>
              <a:sym typeface="Poppins"/>
            </a:endParaRPr>
          </a:p>
        </p:txBody>
      </p:sp>
      <p:sp>
        <p:nvSpPr>
          <p:cNvPr id="169" name="Google Shape;169;p24">
            <a:extLst>
              <a:ext uri="{FF2B5EF4-FFF2-40B4-BE49-F238E27FC236}">
                <a16:creationId xmlns:a16="http://schemas.microsoft.com/office/drawing/2014/main" id="{1B618EFF-4AD1-64AD-081E-A19A54DE68E2}"/>
              </a:ext>
            </a:extLst>
          </p:cNvPr>
          <p:cNvSpPr txBox="1"/>
          <p:nvPr/>
        </p:nvSpPr>
        <p:spPr>
          <a:xfrm>
            <a:off x="6230100" y="3355275"/>
            <a:ext cx="2753700" cy="1431600"/>
          </a:xfrm>
          <a:prstGeom prst="rect">
            <a:avLst/>
          </a:prstGeom>
          <a:solidFill>
            <a:srgbClr val="CE0925"/>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rgbClr val="FFFFFF"/>
                </a:solidFill>
                <a:latin typeface="Poppins"/>
                <a:ea typeface="Poppins"/>
                <a:cs typeface="Poppins"/>
                <a:sym typeface="Poppins"/>
              </a:rPr>
              <a:t>Which was </a:t>
            </a:r>
            <a:r>
              <a:rPr lang="en" sz="1200" b="1">
                <a:solidFill>
                  <a:srgbClr val="FFFF00"/>
                </a:solidFill>
                <a:latin typeface="Poppins"/>
                <a:ea typeface="Poppins"/>
                <a:cs typeface="Poppins"/>
                <a:sym typeface="Poppins"/>
              </a:rPr>
              <a:t>more important</a:t>
            </a:r>
            <a:r>
              <a:rPr lang="en" sz="1200" b="1">
                <a:solidFill>
                  <a:srgbClr val="FFFFFF"/>
                </a:solidFill>
                <a:latin typeface="Poppins"/>
                <a:ea typeface="Poppins"/>
                <a:cs typeface="Poppins"/>
                <a:sym typeface="Poppins"/>
              </a:rPr>
              <a:t> in causing the First World War: </a:t>
            </a:r>
            <a:r>
              <a:rPr lang="en" sz="1200" b="1">
                <a:solidFill>
                  <a:srgbClr val="FFFF00"/>
                </a:solidFill>
                <a:latin typeface="Poppins"/>
                <a:ea typeface="Poppins"/>
                <a:cs typeface="Poppins"/>
                <a:sym typeface="Poppins"/>
              </a:rPr>
              <a:t>the assassination</a:t>
            </a:r>
            <a:r>
              <a:rPr lang="en" sz="1200" b="1">
                <a:solidFill>
                  <a:srgbClr val="FFFFFF"/>
                </a:solidFill>
                <a:latin typeface="Poppins"/>
                <a:ea typeface="Poppins"/>
                <a:cs typeface="Poppins"/>
                <a:sym typeface="Poppins"/>
              </a:rPr>
              <a:t> itself or </a:t>
            </a:r>
            <a:r>
              <a:rPr lang="en" sz="1200" b="1">
                <a:solidFill>
                  <a:srgbClr val="FFFF00"/>
                </a:solidFill>
                <a:latin typeface="Poppins"/>
                <a:ea typeface="Poppins"/>
                <a:cs typeface="Poppins"/>
                <a:sym typeface="Poppins"/>
              </a:rPr>
              <a:t>the decisions made</a:t>
            </a:r>
            <a:r>
              <a:rPr lang="en" sz="1200" b="1">
                <a:solidFill>
                  <a:srgbClr val="FFFFFF"/>
                </a:solidFill>
                <a:latin typeface="Poppins"/>
                <a:ea typeface="Poppins"/>
                <a:cs typeface="Poppins"/>
                <a:sym typeface="Poppins"/>
              </a:rPr>
              <a:t> by European leaders? Justify your judgement using historical evidence.</a:t>
            </a:r>
            <a:endParaRPr sz="1200" b="1">
              <a:solidFill>
                <a:srgbClr val="FFFFFF"/>
              </a:solidFill>
              <a:latin typeface="Poppins"/>
              <a:ea typeface="Poppins"/>
              <a:cs typeface="Poppins"/>
              <a:sym typeface="Poppins"/>
            </a:endParaRPr>
          </a:p>
        </p:txBody>
      </p:sp>
    </p:spTree>
    <p:extLst>
      <p:ext uri="{BB962C8B-B14F-4D97-AF65-F5344CB8AC3E}">
        <p14:creationId xmlns:p14="http://schemas.microsoft.com/office/powerpoint/2010/main" val="57676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8" name="Google Shape;188;p26"/>
          <p:cNvSpPr txBox="1"/>
          <p:nvPr/>
        </p:nvSpPr>
        <p:spPr>
          <a:xfrm>
            <a:off x="84150" y="0"/>
            <a:ext cx="9059850" cy="538606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a:solidFill>
                  <a:schemeClr val="dk1"/>
                </a:solidFill>
                <a:latin typeface="Poppins"/>
                <a:ea typeface="Poppins"/>
                <a:cs typeface="Poppins"/>
                <a:sym typeface="Poppins"/>
              </a:rPr>
              <a:t>1. Why did Austria-Hungary blame Serbia for the assassination?</a:t>
            </a:r>
            <a:endParaRPr sz="1800" b="1" dirty="0">
              <a:solidFill>
                <a:schemeClr val="dk1"/>
              </a:solidFill>
              <a:latin typeface="Poppins"/>
              <a:ea typeface="Poppins"/>
              <a:cs typeface="Poppins"/>
              <a:sym typeface="Poppins"/>
            </a:endParaRPr>
          </a:p>
          <a:p>
            <a:pPr marL="0" lvl="0" indent="0" algn="l" rtl="0">
              <a:spcBef>
                <a:spcPts val="0"/>
              </a:spcBef>
              <a:spcAft>
                <a:spcPts val="0"/>
              </a:spcAft>
              <a:buNone/>
            </a:pPr>
            <a:r>
              <a:rPr lang="en" sz="1800" b="1" dirty="0">
                <a:solidFill>
                  <a:srgbClr val="38761D"/>
                </a:solidFill>
                <a:latin typeface="Poppins"/>
                <a:ea typeface="Poppins"/>
                <a:cs typeface="Poppins"/>
                <a:sym typeface="Poppins"/>
              </a:rPr>
              <a:t>Austria-Hungary blamed Serbia because Gavrilo Princip was a Bosnian Serb nationalist who wanted Serbian people to be united in one country. Austria-Hungary suspected that Serbian nationalism threatened its control of Bosnia.</a:t>
            </a:r>
            <a:endParaRPr sz="1800" b="1" dirty="0">
              <a:solidFill>
                <a:srgbClr val="38761D"/>
              </a:solidFill>
              <a:latin typeface="Poppins"/>
              <a:ea typeface="Poppins"/>
              <a:cs typeface="Poppins"/>
              <a:sym typeface="Poppins"/>
            </a:endParaRPr>
          </a:p>
          <a:p>
            <a:pPr marL="0" lvl="0" indent="0" algn="l" rtl="0">
              <a:spcBef>
                <a:spcPts val="0"/>
              </a:spcBef>
              <a:spcAft>
                <a:spcPts val="0"/>
              </a:spcAft>
              <a:buNone/>
            </a:pPr>
            <a:endParaRPr sz="1800" b="1" dirty="0">
              <a:solidFill>
                <a:schemeClr val="dk1"/>
              </a:solidFill>
              <a:latin typeface="Poppins"/>
              <a:ea typeface="Poppins"/>
              <a:cs typeface="Poppins"/>
              <a:sym typeface="Poppins"/>
            </a:endParaRPr>
          </a:p>
          <a:p>
            <a:pPr marL="0" lvl="0" indent="0" algn="l" rtl="0">
              <a:spcBef>
                <a:spcPts val="0"/>
              </a:spcBef>
              <a:spcAft>
                <a:spcPts val="0"/>
              </a:spcAft>
              <a:buNone/>
            </a:pPr>
            <a:r>
              <a:rPr lang="en" sz="1800" b="1" dirty="0">
                <a:solidFill>
                  <a:schemeClr val="dk1"/>
                </a:solidFill>
                <a:latin typeface="Poppins"/>
                <a:ea typeface="Poppins"/>
                <a:cs typeface="Poppins"/>
                <a:sym typeface="Poppins"/>
              </a:rPr>
              <a:t>2. How did Germany’s support make the crisis more dangerous?</a:t>
            </a:r>
            <a:endParaRPr sz="1800" b="1" dirty="0">
              <a:solidFill>
                <a:schemeClr val="dk1"/>
              </a:solidFill>
              <a:latin typeface="Poppins"/>
              <a:ea typeface="Poppins"/>
              <a:cs typeface="Poppins"/>
              <a:sym typeface="Poppins"/>
            </a:endParaRPr>
          </a:p>
          <a:p>
            <a:pPr marL="0" lvl="0" indent="0" algn="l" rtl="0">
              <a:spcBef>
                <a:spcPts val="0"/>
              </a:spcBef>
              <a:spcAft>
                <a:spcPts val="0"/>
              </a:spcAft>
              <a:buNone/>
            </a:pPr>
            <a:r>
              <a:rPr lang="en" sz="1800" b="1" dirty="0">
                <a:solidFill>
                  <a:srgbClr val="38761D"/>
                </a:solidFill>
                <a:latin typeface="Poppins"/>
                <a:ea typeface="Poppins"/>
                <a:cs typeface="Poppins"/>
                <a:sym typeface="Poppins"/>
              </a:rPr>
              <a:t>Germany promised to support Austria-Hungary if Russia became involved. This gave Austria-Hungary confidence to take stronger action against Serbia and increased the risk that other European powers would become involved.</a:t>
            </a:r>
          </a:p>
          <a:p>
            <a:pPr marL="0" lvl="0" indent="0" algn="l" rtl="0">
              <a:spcBef>
                <a:spcPts val="0"/>
              </a:spcBef>
              <a:spcAft>
                <a:spcPts val="0"/>
              </a:spcAft>
              <a:buNone/>
            </a:pPr>
            <a:endParaRPr lang="en" sz="1800" b="1" dirty="0">
              <a:solidFill>
                <a:srgbClr val="38761D"/>
              </a:solidFill>
              <a:latin typeface="Poppins"/>
              <a:cs typeface="Poppins"/>
              <a:sym typeface="Poppins"/>
            </a:endParaRPr>
          </a:p>
          <a:p>
            <a:pPr lvl="0"/>
            <a:r>
              <a:rPr lang="en-GB" sz="1800" b="1" dirty="0">
                <a:solidFill>
                  <a:schemeClr val="dk1"/>
                </a:solidFill>
                <a:latin typeface="Poppins"/>
                <a:ea typeface="Poppins"/>
                <a:cs typeface="Poppins"/>
                <a:sym typeface="Poppins"/>
              </a:rPr>
              <a:t>3. How did the conflict spread across Europe?</a:t>
            </a:r>
          </a:p>
          <a:p>
            <a:pPr lvl="0"/>
            <a:r>
              <a:rPr lang="en-GB" sz="1800" b="1" dirty="0">
                <a:solidFill>
                  <a:srgbClr val="38761D"/>
                </a:solidFill>
                <a:latin typeface="Poppins"/>
                <a:ea typeface="Poppins"/>
                <a:cs typeface="Poppins"/>
                <a:sym typeface="Poppins"/>
              </a:rPr>
              <a:t>Austria-Hungary declared war on Serbia, while Russia prepared to support Serbia. Germany supported Austria-Hungary, and France and Britain became involved as the crisis widened. The alliances and decisions of European leaders helped turn a conflict between two countries into a wider war.</a:t>
            </a:r>
            <a:endParaRPr lang="en-GB" sz="1800" dirty="0"/>
          </a:p>
          <a:p>
            <a:pPr marL="0" lvl="0" indent="0" algn="l" rtl="0">
              <a:spcBef>
                <a:spcPts val="0"/>
              </a:spcBef>
              <a:spcAft>
                <a:spcPts val="0"/>
              </a:spcAft>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8">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28"/>
          <p:cNvPicPr preferRelativeResize="0"/>
          <p:nvPr/>
        </p:nvPicPr>
        <p:blipFill rotWithShape="1">
          <a:blip r:embed="rId3">
            <a:alphaModFix/>
          </a:blip>
          <a:srcRect/>
          <a:stretch/>
        </p:blipFill>
        <p:spPr>
          <a:xfrm>
            <a:off x="1281200" y="587411"/>
            <a:ext cx="784591" cy="784591"/>
          </a:xfrm>
          <a:prstGeom prst="rect">
            <a:avLst/>
          </a:prstGeom>
          <a:noFill/>
          <a:ln>
            <a:noFill/>
          </a:ln>
        </p:spPr>
      </p:pic>
      <p:sp>
        <p:nvSpPr>
          <p:cNvPr id="203" name="Google Shape;203;p28"/>
          <p:cNvSpPr txBox="1"/>
          <p:nvPr/>
        </p:nvSpPr>
        <p:spPr>
          <a:xfrm>
            <a:off x="2264600" y="702650"/>
            <a:ext cx="3428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82D362"/>
                </a:solidFill>
                <a:highlight>
                  <a:srgbClr val="FFFFFF"/>
                </a:highlight>
                <a:latin typeface="Finger Paint"/>
                <a:ea typeface="Finger Paint"/>
                <a:cs typeface="Finger Paint"/>
                <a:sym typeface="Finger Paint"/>
              </a:rPr>
              <a:t>True</a:t>
            </a:r>
            <a:r>
              <a:rPr lang="en" sz="2400" b="1" i="0" u="none" strike="noStrike" cap="none">
                <a:solidFill>
                  <a:srgbClr val="000000"/>
                </a:solidFill>
                <a:highlight>
                  <a:srgbClr val="FFFFFF"/>
                </a:highlight>
                <a:latin typeface="Finger Paint"/>
                <a:ea typeface="Finger Paint"/>
                <a:cs typeface="Finger Paint"/>
                <a:sym typeface="Finger Paint"/>
              </a:rPr>
              <a:t> Or </a:t>
            </a:r>
            <a:r>
              <a:rPr lang="en" sz="2400" b="1" i="0" u="none" strike="noStrike" cap="none">
                <a:solidFill>
                  <a:srgbClr val="F63741"/>
                </a:solidFill>
                <a:highlight>
                  <a:srgbClr val="FFFFFF"/>
                </a:highlight>
                <a:latin typeface="Finger Paint"/>
                <a:ea typeface="Finger Paint"/>
                <a:cs typeface="Finger Paint"/>
                <a:sym typeface="Finger Paint"/>
              </a:rPr>
              <a:t>False</a:t>
            </a:r>
            <a:endParaRPr sz="2000" b="0" i="0" u="none" strike="noStrike" cap="none">
              <a:solidFill>
                <a:srgbClr val="F63741"/>
              </a:solidFill>
              <a:highlight>
                <a:srgbClr val="FFFFFF"/>
              </a:highlight>
              <a:latin typeface="Arial"/>
              <a:ea typeface="Arial"/>
              <a:cs typeface="Arial"/>
              <a:sym typeface="Arial"/>
            </a:endParaRPr>
          </a:p>
        </p:txBody>
      </p:sp>
      <p:sp>
        <p:nvSpPr>
          <p:cNvPr id="204" name="Google Shape;204;p28"/>
          <p:cNvSpPr/>
          <p:nvPr/>
        </p:nvSpPr>
        <p:spPr>
          <a:xfrm>
            <a:off x="106825" y="151927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1. Franz Ferdinand was assassinated in Sarajevo because he was already the ruler of Austria-Hungary.</a:t>
            </a:r>
            <a:endParaRPr sz="1600">
              <a:latin typeface="Baumans"/>
              <a:ea typeface="Baumans"/>
              <a:cs typeface="Baumans"/>
              <a:sym typeface="Baumans"/>
            </a:endParaRPr>
          </a:p>
        </p:txBody>
      </p:sp>
      <p:sp>
        <p:nvSpPr>
          <p:cNvPr id="205" name="Google Shape;205;p28"/>
          <p:cNvSpPr/>
          <p:nvPr/>
        </p:nvSpPr>
        <p:spPr>
          <a:xfrm>
            <a:off x="3259825" y="151927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2. Serbian nationalists opposed Austro-Hungarian rule in Bosnia because they wanted unity.</a:t>
            </a:r>
            <a:endParaRPr sz="1600">
              <a:latin typeface="Baumans"/>
              <a:ea typeface="Baumans"/>
              <a:cs typeface="Baumans"/>
              <a:sym typeface="Baumans"/>
            </a:endParaRPr>
          </a:p>
        </p:txBody>
      </p:sp>
      <p:sp>
        <p:nvSpPr>
          <p:cNvPr id="206" name="Google Shape;206;p28"/>
          <p:cNvSpPr/>
          <p:nvPr/>
        </p:nvSpPr>
        <p:spPr>
          <a:xfrm>
            <a:off x="106825" y="324542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4. Austria-Hungary declared war on Serbia before Germany promised to support it.</a:t>
            </a:r>
            <a:endParaRPr sz="1600">
              <a:latin typeface="Baumans"/>
              <a:ea typeface="Baumans"/>
              <a:cs typeface="Baumans"/>
              <a:sym typeface="Baumans"/>
            </a:endParaRPr>
          </a:p>
        </p:txBody>
      </p:sp>
      <p:sp>
        <p:nvSpPr>
          <p:cNvPr id="207" name="Google Shape;207;p28"/>
          <p:cNvSpPr/>
          <p:nvPr/>
        </p:nvSpPr>
        <p:spPr>
          <a:xfrm>
            <a:off x="3259825" y="324542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5. Germany’s promise to support Austria-Hungary increased the risk of other European powers becoming involved.</a:t>
            </a:r>
            <a:endParaRPr sz="1600">
              <a:latin typeface="Baumans"/>
              <a:ea typeface="Baumans"/>
              <a:cs typeface="Baumans"/>
              <a:sym typeface="Baumans"/>
            </a:endParaRPr>
          </a:p>
        </p:txBody>
      </p:sp>
      <p:sp>
        <p:nvSpPr>
          <p:cNvPr id="208" name="Google Shape;208;p28"/>
          <p:cNvSpPr/>
          <p:nvPr/>
        </p:nvSpPr>
        <p:spPr>
          <a:xfrm>
            <a:off x="6428975" y="151927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3. The Black Hand supported the use of violence to achieve Serbian nationalist aims.</a:t>
            </a:r>
            <a:endParaRPr sz="1600">
              <a:latin typeface="Baumans"/>
              <a:ea typeface="Baumans"/>
              <a:cs typeface="Baumans"/>
              <a:sym typeface="Baumans"/>
            </a:endParaRPr>
          </a:p>
        </p:txBody>
      </p:sp>
      <p:sp>
        <p:nvSpPr>
          <p:cNvPr id="209" name="Google Shape;209;p28"/>
          <p:cNvSpPr/>
          <p:nvPr/>
        </p:nvSpPr>
        <p:spPr>
          <a:xfrm>
            <a:off x="6428975" y="324542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6. The assassination made a wider European war inevitable, regardless of the decisions made by political leaders.</a:t>
            </a:r>
            <a:endParaRPr sz="1600">
              <a:latin typeface="Baumans"/>
              <a:ea typeface="Baumans"/>
              <a:cs typeface="Baumans"/>
              <a:sym typeface="Baumans"/>
            </a:endParaRPr>
          </a:p>
        </p:txBody>
      </p:sp>
      <p:pic>
        <p:nvPicPr>
          <p:cNvPr id="210" name="Google Shape;210;p28"/>
          <p:cNvPicPr preferRelativeResize="0"/>
          <p:nvPr/>
        </p:nvPicPr>
        <p:blipFill rotWithShape="1">
          <a:blip r:embed="rId4">
            <a:alphaModFix/>
          </a:blip>
          <a:srcRect l="25716" t="15310" r="25672" b="17805"/>
          <a:stretch/>
        </p:blipFill>
        <p:spPr>
          <a:xfrm>
            <a:off x="5404062" y="2640700"/>
            <a:ext cx="463960" cy="425585"/>
          </a:xfrm>
          <a:prstGeom prst="rect">
            <a:avLst/>
          </a:prstGeom>
          <a:noFill/>
          <a:ln>
            <a:noFill/>
          </a:ln>
        </p:spPr>
      </p:pic>
      <p:pic>
        <p:nvPicPr>
          <p:cNvPr id="211" name="Google Shape;211;p28"/>
          <p:cNvPicPr preferRelativeResize="0"/>
          <p:nvPr/>
        </p:nvPicPr>
        <p:blipFill rotWithShape="1">
          <a:blip r:embed="rId5">
            <a:alphaModFix/>
          </a:blip>
          <a:srcRect l="26264" t="15218" r="24368" b="18067"/>
          <a:stretch/>
        </p:blipFill>
        <p:spPr>
          <a:xfrm>
            <a:off x="2234909" y="2644498"/>
            <a:ext cx="463960" cy="417981"/>
          </a:xfrm>
          <a:prstGeom prst="rect">
            <a:avLst/>
          </a:prstGeom>
          <a:noFill/>
          <a:ln>
            <a:noFill/>
          </a:ln>
        </p:spPr>
      </p:pic>
      <p:pic>
        <p:nvPicPr>
          <p:cNvPr id="212" name="Google Shape;212;p28"/>
          <p:cNvPicPr preferRelativeResize="0"/>
          <p:nvPr/>
        </p:nvPicPr>
        <p:blipFill rotWithShape="1">
          <a:blip r:embed="rId5">
            <a:alphaModFix/>
          </a:blip>
          <a:srcRect l="26264" t="15218" r="24368" b="18067"/>
          <a:stretch/>
        </p:blipFill>
        <p:spPr>
          <a:xfrm>
            <a:off x="8564677" y="4370645"/>
            <a:ext cx="463960" cy="417981"/>
          </a:xfrm>
          <a:prstGeom prst="rect">
            <a:avLst/>
          </a:prstGeom>
          <a:noFill/>
          <a:ln>
            <a:noFill/>
          </a:ln>
        </p:spPr>
      </p:pic>
      <p:pic>
        <p:nvPicPr>
          <p:cNvPr id="213" name="Google Shape;213;p28"/>
          <p:cNvPicPr preferRelativeResize="0"/>
          <p:nvPr/>
        </p:nvPicPr>
        <p:blipFill rotWithShape="1">
          <a:blip r:embed="rId6">
            <a:alphaModFix/>
          </a:blip>
          <a:srcRect l="30711" t="5130" r="3174" b="5807"/>
          <a:stretch/>
        </p:blipFill>
        <p:spPr>
          <a:xfrm>
            <a:off x="106800" y="720975"/>
            <a:ext cx="975600" cy="517450"/>
          </a:xfrm>
          <a:prstGeom prst="rect">
            <a:avLst/>
          </a:prstGeom>
          <a:noFill/>
          <a:ln>
            <a:noFill/>
          </a:ln>
        </p:spPr>
      </p:pic>
      <p:pic>
        <p:nvPicPr>
          <p:cNvPr id="214" name="Google Shape;214;p28"/>
          <p:cNvPicPr preferRelativeResize="0"/>
          <p:nvPr/>
        </p:nvPicPr>
        <p:blipFill rotWithShape="1">
          <a:blip r:embed="rId4">
            <a:alphaModFix/>
          </a:blip>
          <a:srcRect l="25716" t="15310" r="25672" b="17805"/>
          <a:stretch/>
        </p:blipFill>
        <p:spPr>
          <a:xfrm>
            <a:off x="5407875" y="4366850"/>
            <a:ext cx="463960" cy="425585"/>
          </a:xfrm>
          <a:prstGeom prst="rect">
            <a:avLst/>
          </a:prstGeom>
          <a:noFill/>
          <a:ln>
            <a:noFill/>
          </a:ln>
        </p:spPr>
      </p:pic>
      <p:pic>
        <p:nvPicPr>
          <p:cNvPr id="215" name="Google Shape;215;p28"/>
          <p:cNvPicPr preferRelativeResize="0"/>
          <p:nvPr/>
        </p:nvPicPr>
        <p:blipFill rotWithShape="1">
          <a:blip r:embed="rId4">
            <a:alphaModFix/>
          </a:blip>
          <a:srcRect l="25716" t="15310" r="25672" b="17805"/>
          <a:stretch/>
        </p:blipFill>
        <p:spPr>
          <a:xfrm>
            <a:off x="8559737" y="2640700"/>
            <a:ext cx="463960" cy="425585"/>
          </a:xfrm>
          <a:prstGeom prst="rect">
            <a:avLst/>
          </a:prstGeom>
          <a:noFill/>
          <a:ln>
            <a:noFill/>
          </a:ln>
        </p:spPr>
      </p:pic>
      <p:sp>
        <p:nvSpPr>
          <p:cNvPr id="216" name="Google Shape;216;p28"/>
          <p:cNvSpPr txBox="1"/>
          <p:nvPr/>
        </p:nvSpPr>
        <p:spPr>
          <a:xfrm>
            <a:off x="104400" y="77000"/>
            <a:ext cx="89193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Title: How Did the Assassination of Franz Ferdinand Lead to the First World War?</a:t>
            </a:r>
            <a:endParaRPr sz="1200" b="1">
              <a:solidFill>
                <a:srgbClr val="980000"/>
              </a:solidFill>
              <a:latin typeface="Delius"/>
              <a:ea typeface="Delius"/>
              <a:cs typeface="Delius"/>
              <a:sym typeface="Delius"/>
            </a:endParaRPr>
          </a:p>
          <a:p>
            <a:pPr marL="0" lvl="0" indent="0" algn="l" rtl="0">
              <a:lnSpc>
                <a:spcPct val="115000"/>
              </a:lnSpc>
              <a:spcBef>
                <a:spcPts val="0"/>
              </a:spcBef>
              <a:spcAft>
                <a:spcPts val="0"/>
              </a:spcAft>
              <a:buClr>
                <a:schemeClr val="dk1"/>
              </a:buClr>
              <a:buSzPts val="800"/>
              <a:buFont typeface="Arial"/>
              <a:buNone/>
            </a:pPr>
            <a:r>
              <a:rPr lang="en" sz="1200" b="1">
                <a:solidFill>
                  <a:srgbClr val="980000"/>
                </a:solidFill>
                <a:latin typeface="Delius"/>
                <a:ea typeface="Delius"/>
                <a:cs typeface="Delius"/>
                <a:sym typeface="Delius"/>
              </a:rPr>
              <a:t>LO: How did the assassination increase tensions and trigger a wider European conflict?</a:t>
            </a:r>
            <a:endParaRPr sz="1200" b="1">
              <a:solidFill>
                <a:srgbClr val="980000"/>
              </a:solidFill>
              <a:latin typeface="Delius"/>
              <a:ea typeface="Delius"/>
              <a:cs typeface="Delius"/>
              <a:sym typeface="Delius"/>
            </a:endParaRPr>
          </a:p>
          <a:p>
            <a:pPr marL="0" marR="0" lvl="0" indent="0" algn="l" rtl="0">
              <a:lnSpc>
                <a:spcPct val="115000"/>
              </a:lnSpc>
              <a:spcBef>
                <a:spcPts val="0"/>
              </a:spcBef>
              <a:spcAft>
                <a:spcPts val="0"/>
              </a:spcAft>
              <a:buClr>
                <a:srgbClr val="000000"/>
              </a:buClr>
              <a:buSzPts val="800"/>
              <a:buFont typeface="Arial"/>
              <a:buNone/>
            </a:pPr>
            <a:endParaRPr sz="1200" b="1">
              <a:solidFill>
                <a:srgbClr val="980000"/>
              </a:solidFill>
              <a:latin typeface="Delius"/>
              <a:ea typeface="Delius"/>
              <a:cs typeface="Delius"/>
              <a:sym typeface="Delius"/>
            </a:endParaRPr>
          </a:p>
        </p:txBody>
      </p:sp>
      <p:pic>
        <p:nvPicPr>
          <p:cNvPr id="217" name="Google Shape;217;p28">
            <a:hlinkClick r:id="rId7"/>
          </p:cNvPr>
          <p:cNvPicPr preferRelativeResize="0"/>
          <p:nvPr/>
        </p:nvPicPr>
        <p:blipFill>
          <a:blip r:embed="rId8">
            <a:alphaModFix/>
          </a:blip>
          <a:stretch>
            <a:fillRect/>
          </a:stretch>
        </p:blipFill>
        <p:spPr>
          <a:xfrm>
            <a:off x="6741424" y="562216"/>
            <a:ext cx="2287226" cy="676200"/>
          </a:xfrm>
          <a:prstGeom prst="rect">
            <a:avLst/>
          </a:prstGeom>
          <a:noFill/>
          <a:ln>
            <a:noFill/>
          </a:ln>
        </p:spPr>
      </p:pic>
      <p:pic>
        <p:nvPicPr>
          <p:cNvPr id="218" name="Google Shape;218;p28"/>
          <p:cNvPicPr preferRelativeResize="0"/>
          <p:nvPr/>
        </p:nvPicPr>
        <p:blipFill rotWithShape="1">
          <a:blip r:embed="rId5">
            <a:alphaModFix/>
          </a:blip>
          <a:srcRect l="26264" t="15218" r="24368" b="18067"/>
          <a:stretch/>
        </p:blipFill>
        <p:spPr>
          <a:xfrm>
            <a:off x="2234902" y="4370645"/>
            <a:ext cx="463960" cy="41798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1723</Words>
  <Application>Microsoft Macintosh PowerPoint</Application>
  <PresentationFormat>On-screen Show (16:9)</PresentationFormat>
  <Paragraphs>143</Paragraphs>
  <Slides>16</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Caveat</vt:lpstr>
      <vt:lpstr>Finger Paint</vt:lpstr>
      <vt:lpstr>Baumans</vt:lpstr>
      <vt:lpstr>Patrick Hand</vt:lpstr>
      <vt:lpstr>Delius</vt:lpstr>
      <vt:lpstr>Patrick Hand SC</vt:lpstr>
      <vt:lpstr>Luckiest Guy</vt:lpstr>
      <vt:lpstr>Poppins</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5</cp:revision>
  <dcterms:modified xsi:type="dcterms:W3CDTF">2026-10-22T08:30:52Z</dcterms:modified>
</cp:coreProperties>
</file>