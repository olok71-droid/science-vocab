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Kalam"/>
      <p:regular r:id="rId19"/>
      <p:bold r:id="rId20"/>
    </p:embeddedFont>
    <p:embeddedFont>
      <p:font typeface="Merriweather"/>
      <p:regular r:id="rId21"/>
      <p:bold r:id="rId22"/>
      <p:italic r:id="rId23"/>
      <p:boldItalic r:id="rId24"/>
    </p:embeddedFont>
    <p:embeddedFont>
      <p:font typeface="Kalam Light"/>
      <p:regular r:id="rId25"/>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7" roundtripDataSignature="AMtx7mhhIR2E2eCeFCjHxUsy28NJl+GA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68FA9AF-B9B2-41F7-862A-7FF6F53703CB}">
  <a:tblStyle styleId="{C68FA9AF-B9B2-41F7-862A-7FF6F53703CB}"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Kalam-bold.fntdata"/><Relationship Id="rId22" Type="http://schemas.openxmlformats.org/officeDocument/2006/relationships/font" Target="fonts/Merriweather-bold.fntdata"/><Relationship Id="rId21" Type="http://schemas.openxmlformats.org/officeDocument/2006/relationships/font" Target="fonts/Merriweather-regular.fntdata"/><Relationship Id="rId24" Type="http://schemas.openxmlformats.org/officeDocument/2006/relationships/font" Target="fonts/Merriweather-boldItalic.fntdata"/><Relationship Id="rId23" Type="http://schemas.openxmlformats.org/officeDocument/2006/relationships/font" Target="fonts/Merriweather-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KalamLight-bold.fntdata"/><Relationship Id="rId25" Type="http://schemas.openxmlformats.org/officeDocument/2006/relationships/font" Target="fonts/KalamLight-regular.fntdata"/><Relationship Id="rId27"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Kalam-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74" name="Google Shape;74;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h3d3baae4a9ea6c1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h3d3baae4a9ea6c1d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h3d3baae4a9ea6c1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h3d3baae4a9ea6c1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Two examples - low and high quality responses. Live model how to self-assess against the success criteria, including how to ask questions of one’s own work in order to scrutinise it effectively.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1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53" name="Shape 53"/>
        <p:cNvGrpSpPr/>
        <p:nvPr/>
      </p:nvGrpSpPr>
      <p:grpSpPr>
        <a:xfrm>
          <a:off x="0" y="0"/>
          <a:ext cx="0" cy="0"/>
          <a:chOff x="0" y="0"/>
          <a:chExt cx="0" cy="0"/>
        </a:xfrm>
      </p:grpSpPr>
      <p:sp>
        <p:nvSpPr>
          <p:cNvPr id="54" name="Google Shape;54;p1"/>
          <p:cNvSpPr txBox="1"/>
          <p:nvPr/>
        </p:nvSpPr>
        <p:spPr>
          <a:xfrm>
            <a:off x="1430100" y="423775"/>
            <a:ext cx="6283800" cy="7695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n" sz="1900" u="sng" cap="none" strike="noStrike">
                <a:solidFill>
                  <a:schemeClr val="dk1"/>
                </a:solidFill>
                <a:latin typeface="Arial"/>
                <a:ea typeface="Arial"/>
                <a:cs typeface="Arial"/>
                <a:sym typeface="Arial"/>
              </a:rPr>
              <a:t>Starter: </a:t>
            </a:r>
            <a:r>
              <a:rPr b="1" i="0" lang="en" sz="1900" u="none" cap="none" strike="noStrike">
                <a:solidFill>
                  <a:schemeClr val="dk1"/>
                </a:solidFill>
                <a:latin typeface="Arial"/>
                <a:ea typeface="Arial"/>
                <a:cs typeface="Arial"/>
                <a:sym typeface="Arial"/>
              </a:rPr>
              <a:t>This word spells “fish” if you follow some rules in English spelling. Can you figure out how?  </a:t>
            </a:r>
            <a:endParaRPr b="1" i="0" sz="1900" u="none" cap="none" strike="noStrike">
              <a:solidFill>
                <a:schemeClr val="dk1"/>
              </a:solidFill>
              <a:latin typeface="Arial"/>
              <a:ea typeface="Arial"/>
              <a:cs typeface="Arial"/>
              <a:sym typeface="Arial"/>
            </a:endParaRPr>
          </a:p>
        </p:txBody>
      </p:sp>
      <p:sp>
        <p:nvSpPr>
          <p:cNvPr id="55" name="Google Shape;55;p1"/>
          <p:cNvSpPr txBox="1"/>
          <p:nvPr/>
        </p:nvSpPr>
        <p:spPr>
          <a:xfrm>
            <a:off x="3260250" y="1661875"/>
            <a:ext cx="2623500" cy="939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900"/>
              <a:buFont typeface="Arial"/>
              <a:buNone/>
            </a:pPr>
            <a:r>
              <a:rPr b="1" i="0" lang="en" sz="4900" u="none" cap="none" strike="noStrike">
                <a:solidFill>
                  <a:schemeClr val="dk1"/>
                </a:solidFill>
                <a:latin typeface="Arial"/>
                <a:ea typeface="Arial"/>
                <a:cs typeface="Arial"/>
                <a:sym typeface="Arial"/>
              </a:rPr>
              <a:t>Ghoti</a:t>
            </a:r>
            <a:endParaRPr b="1" i="0" sz="4900" u="none" cap="none" strike="noStrike">
              <a:solidFill>
                <a:schemeClr val="dk1"/>
              </a:solidFill>
              <a:latin typeface="Arial"/>
              <a:ea typeface="Arial"/>
              <a:cs typeface="Arial"/>
              <a:sym typeface="Arial"/>
            </a:endParaRPr>
          </a:p>
        </p:txBody>
      </p:sp>
      <p:pic>
        <p:nvPicPr>
          <p:cNvPr id="56" name="Google Shape;56;p1"/>
          <p:cNvPicPr preferRelativeResize="0"/>
          <p:nvPr/>
        </p:nvPicPr>
        <p:blipFill rotWithShape="1">
          <a:blip r:embed="rId3">
            <a:alphaModFix/>
          </a:blip>
          <a:srcRect b="0" l="0" r="0" t="0"/>
          <a:stretch/>
        </p:blipFill>
        <p:spPr>
          <a:xfrm>
            <a:off x="2438863" y="2778200"/>
            <a:ext cx="4266276" cy="1585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599"/>
        </a:solidFill>
      </p:bgPr>
    </p:bg>
    <p:spTree>
      <p:nvGrpSpPr>
        <p:cNvPr id="60" name="Shape 60"/>
        <p:cNvGrpSpPr/>
        <p:nvPr/>
      </p:nvGrpSpPr>
      <p:grpSpPr>
        <a:xfrm>
          <a:off x="0" y="0"/>
          <a:ext cx="0" cy="0"/>
          <a:chOff x="0" y="0"/>
          <a:chExt cx="0" cy="0"/>
        </a:xfrm>
      </p:grpSpPr>
      <p:sp>
        <p:nvSpPr>
          <p:cNvPr id="61" name="Google Shape;61;p2"/>
          <p:cNvSpPr txBox="1"/>
          <p:nvPr/>
        </p:nvSpPr>
        <p:spPr>
          <a:xfrm>
            <a:off x="326475" y="1337025"/>
            <a:ext cx="4135800" cy="1736100"/>
          </a:xfrm>
          <a:prstGeom prst="rect">
            <a:avLst/>
          </a:prstGeom>
          <a:solidFill>
            <a:schemeClr val="lt1"/>
          </a:solidFill>
          <a:ln cap="flat" cmpd="sng" w="9525">
            <a:solidFill>
              <a:srgbClr val="000000"/>
            </a:solidFill>
            <a:prstDash val="solid"/>
            <a:round/>
            <a:headEnd len="sm" w="sm" type="none"/>
            <a:tailEnd len="sm" w="sm" type="none"/>
          </a:ln>
          <a:effectLst>
            <a:outerShdw blurRad="28575" rotWithShape="0" algn="bl" dir="21540000" dist="14288">
              <a:srgbClr val="000000">
                <a:alpha val="49804"/>
              </a:srgbClr>
            </a:outerShdw>
          </a:effectLst>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1" i="0" lang="en" sz="1800" u="none" cap="none" strike="noStrike">
                <a:solidFill>
                  <a:schemeClr val="dk1"/>
                </a:solidFill>
                <a:latin typeface="Kalam"/>
                <a:ea typeface="Kalam"/>
                <a:cs typeface="Kalam"/>
                <a:sym typeface="Kalam"/>
              </a:rPr>
              <a:t>You will need:</a:t>
            </a:r>
            <a:endParaRPr b="1" i="0" sz="1800" u="none" cap="none" strike="noStrike">
              <a:solidFill>
                <a:schemeClr val="dk1"/>
              </a:solidFill>
              <a:latin typeface="Kalam"/>
              <a:ea typeface="Kalam"/>
              <a:cs typeface="Kalam"/>
              <a:sym typeface="Kalam"/>
            </a:endParaRPr>
          </a:p>
          <a:p>
            <a:pPr indent="-342900" lvl="0" marL="457200" marR="0" rtl="0" algn="l">
              <a:lnSpc>
                <a:spcPct val="115000"/>
              </a:lnSpc>
              <a:spcBef>
                <a:spcPts val="0"/>
              </a:spcBef>
              <a:spcAft>
                <a:spcPts val="0"/>
              </a:spcAft>
              <a:buClr>
                <a:schemeClr val="dk1"/>
              </a:buClr>
              <a:buSzPts val="1800"/>
              <a:buFont typeface="Kalam Light"/>
              <a:buChar char="●"/>
            </a:pPr>
            <a:r>
              <a:rPr b="0" i="0" lang="en" sz="1800" u="none" cap="none" strike="noStrike">
                <a:solidFill>
                  <a:schemeClr val="dk1"/>
                </a:solidFill>
                <a:latin typeface="Kalam Light"/>
                <a:ea typeface="Kalam Light"/>
                <a:cs typeface="Kalam Light"/>
                <a:sym typeface="Kalam Light"/>
              </a:rPr>
              <a:t>Your assessment </a:t>
            </a:r>
            <a:endParaRPr b="0" i="0" sz="1800" u="none" cap="none" strike="noStrike">
              <a:solidFill>
                <a:schemeClr val="dk1"/>
              </a:solidFill>
              <a:latin typeface="Kalam Light"/>
              <a:ea typeface="Kalam Light"/>
              <a:cs typeface="Kalam Light"/>
              <a:sym typeface="Kalam Light"/>
            </a:endParaRPr>
          </a:p>
          <a:p>
            <a:pPr indent="-342900" lvl="0" marL="457200" marR="0" rtl="0" algn="l">
              <a:lnSpc>
                <a:spcPct val="115000"/>
              </a:lnSpc>
              <a:spcBef>
                <a:spcPts val="0"/>
              </a:spcBef>
              <a:spcAft>
                <a:spcPts val="0"/>
              </a:spcAft>
              <a:buClr>
                <a:schemeClr val="dk1"/>
              </a:buClr>
              <a:buSzPts val="1800"/>
              <a:buFont typeface="Kalam Light"/>
              <a:buChar char="●"/>
            </a:pPr>
            <a:r>
              <a:rPr b="0" i="0" lang="en" sz="1800" u="none" cap="none" strike="noStrike">
                <a:solidFill>
                  <a:schemeClr val="dk1"/>
                </a:solidFill>
                <a:latin typeface="Kalam Light"/>
                <a:ea typeface="Kalam Light"/>
                <a:cs typeface="Kalam Light"/>
                <a:sym typeface="Kalam Light"/>
              </a:rPr>
              <a:t>A green pen</a:t>
            </a:r>
            <a:endParaRPr b="0" i="0" sz="1800" u="none" cap="none" strike="noStrike">
              <a:solidFill>
                <a:schemeClr val="dk1"/>
              </a:solidFill>
              <a:latin typeface="Kalam Light"/>
              <a:ea typeface="Kalam Light"/>
              <a:cs typeface="Kalam Light"/>
              <a:sym typeface="Kalam Light"/>
            </a:endParaRPr>
          </a:p>
          <a:p>
            <a:pPr indent="-342900" lvl="0" marL="457200" marR="0" rtl="0" algn="l">
              <a:lnSpc>
                <a:spcPct val="115000"/>
              </a:lnSpc>
              <a:spcBef>
                <a:spcPts val="0"/>
              </a:spcBef>
              <a:spcAft>
                <a:spcPts val="0"/>
              </a:spcAft>
              <a:buClr>
                <a:schemeClr val="dk1"/>
              </a:buClr>
              <a:buSzPts val="1800"/>
              <a:buFont typeface="Kalam Light"/>
              <a:buChar char="●"/>
            </a:pPr>
            <a:r>
              <a:rPr b="0" i="0" lang="en" sz="1800" u="none" cap="none" strike="noStrike">
                <a:solidFill>
                  <a:schemeClr val="dk1"/>
                </a:solidFill>
                <a:latin typeface="Kalam Light"/>
                <a:ea typeface="Kalam Light"/>
                <a:cs typeface="Kalam Light"/>
                <a:sym typeface="Kalam Light"/>
              </a:rPr>
              <a:t>A range of different colours or highlighters</a:t>
            </a:r>
            <a:endParaRPr b="0" i="0" sz="1800" u="none" cap="none" strike="noStrike">
              <a:solidFill>
                <a:schemeClr val="dk1"/>
              </a:solidFill>
              <a:latin typeface="Kalam Light"/>
              <a:ea typeface="Kalam Light"/>
              <a:cs typeface="Kalam Light"/>
              <a:sym typeface="Kalam Light"/>
            </a:endParaRPr>
          </a:p>
        </p:txBody>
      </p:sp>
      <p:sp>
        <p:nvSpPr>
          <p:cNvPr id="62" name="Google Shape;62;p2"/>
          <p:cNvSpPr txBox="1"/>
          <p:nvPr/>
        </p:nvSpPr>
        <p:spPr>
          <a:xfrm>
            <a:off x="4674625" y="1337025"/>
            <a:ext cx="4135800" cy="2055000"/>
          </a:xfrm>
          <a:prstGeom prst="rect">
            <a:avLst/>
          </a:prstGeom>
          <a:solidFill>
            <a:srgbClr val="D0E0E3"/>
          </a:solidFill>
          <a:ln cap="flat" cmpd="sng" w="9525">
            <a:solidFill>
              <a:srgbClr val="000000"/>
            </a:solidFill>
            <a:prstDash val="solid"/>
            <a:round/>
            <a:headEnd len="sm" w="sm" type="none"/>
            <a:tailEnd len="sm" w="sm" type="none"/>
          </a:ln>
          <a:effectLst>
            <a:outerShdw blurRad="28575" rotWithShape="0" algn="bl" dir="21540000" dist="14288">
              <a:srgbClr val="000000">
                <a:alpha val="49804"/>
              </a:srgbClr>
            </a:outerShdw>
          </a:effectLst>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1" i="0" lang="en" sz="1800" u="none" cap="none" strike="noStrike">
                <a:solidFill>
                  <a:schemeClr val="dk1"/>
                </a:solidFill>
                <a:latin typeface="Kalam"/>
                <a:ea typeface="Kalam"/>
                <a:cs typeface="Kalam"/>
                <a:sym typeface="Kalam"/>
              </a:rPr>
              <a:t>Plan for today’s lesson:</a:t>
            </a:r>
            <a:endParaRPr b="1" i="0" sz="1800" u="none" cap="none" strike="noStrike">
              <a:solidFill>
                <a:schemeClr val="dk1"/>
              </a:solidFill>
              <a:latin typeface="Kalam"/>
              <a:ea typeface="Kalam"/>
              <a:cs typeface="Kalam"/>
              <a:sym typeface="Kalam"/>
            </a:endParaRPr>
          </a:p>
          <a:p>
            <a:pPr indent="-342900" lvl="0" marL="457200" marR="0" rtl="0" algn="l">
              <a:lnSpc>
                <a:spcPct val="115000"/>
              </a:lnSpc>
              <a:spcBef>
                <a:spcPts val="0"/>
              </a:spcBef>
              <a:spcAft>
                <a:spcPts val="0"/>
              </a:spcAft>
              <a:buClr>
                <a:schemeClr val="dk1"/>
              </a:buClr>
              <a:buSzPts val="1800"/>
              <a:buFont typeface="Kalam Light"/>
              <a:buAutoNum type="arabicPeriod"/>
            </a:pPr>
            <a:r>
              <a:rPr b="0" i="0" lang="en" sz="1800" u="none" cap="none" strike="noStrike">
                <a:solidFill>
                  <a:schemeClr val="dk1"/>
                </a:solidFill>
                <a:latin typeface="Kalam Light"/>
                <a:ea typeface="Kalam Light"/>
                <a:cs typeface="Kalam Light"/>
                <a:sym typeface="Kalam Light"/>
              </a:rPr>
              <a:t>First impressions of your work</a:t>
            </a:r>
            <a:endParaRPr b="0" i="0" sz="1800" u="none" cap="none" strike="noStrike">
              <a:solidFill>
                <a:schemeClr val="dk1"/>
              </a:solidFill>
              <a:latin typeface="Kalam Light"/>
              <a:ea typeface="Kalam Light"/>
              <a:cs typeface="Kalam Light"/>
              <a:sym typeface="Kalam Light"/>
            </a:endParaRPr>
          </a:p>
          <a:p>
            <a:pPr indent="-342900" lvl="0" marL="457200" marR="0" rtl="0" algn="l">
              <a:lnSpc>
                <a:spcPct val="115000"/>
              </a:lnSpc>
              <a:spcBef>
                <a:spcPts val="0"/>
              </a:spcBef>
              <a:spcAft>
                <a:spcPts val="0"/>
              </a:spcAft>
              <a:buClr>
                <a:schemeClr val="dk1"/>
              </a:buClr>
              <a:buSzPts val="1800"/>
              <a:buFont typeface="Kalam Light"/>
              <a:buAutoNum type="arabicPeriod"/>
            </a:pPr>
            <a:r>
              <a:rPr b="0" i="0" lang="en" sz="1800" u="none" cap="none" strike="noStrike">
                <a:solidFill>
                  <a:schemeClr val="dk1"/>
                </a:solidFill>
                <a:latin typeface="Kalam Light"/>
                <a:ea typeface="Kalam Light"/>
                <a:cs typeface="Kalam Light"/>
                <a:sym typeface="Kalam Light"/>
              </a:rPr>
              <a:t>Self-assessment against success criteria</a:t>
            </a:r>
            <a:endParaRPr b="0" i="0" sz="1800" u="none" cap="none" strike="noStrike">
              <a:solidFill>
                <a:schemeClr val="dk1"/>
              </a:solidFill>
              <a:latin typeface="Kalam Light"/>
              <a:ea typeface="Kalam Light"/>
              <a:cs typeface="Kalam Light"/>
              <a:sym typeface="Kalam Light"/>
            </a:endParaRPr>
          </a:p>
          <a:p>
            <a:pPr indent="-342900" lvl="0" marL="457200" marR="0" rtl="0" algn="l">
              <a:lnSpc>
                <a:spcPct val="115000"/>
              </a:lnSpc>
              <a:spcBef>
                <a:spcPts val="0"/>
              </a:spcBef>
              <a:spcAft>
                <a:spcPts val="0"/>
              </a:spcAft>
              <a:buClr>
                <a:schemeClr val="dk1"/>
              </a:buClr>
              <a:buSzPts val="1800"/>
              <a:buFont typeface="Kalam Light"/>
              <a:buAutoNum type="arabicPeriod"/>
            </a:pPr>
            <a:r>
              <a:rPr b="0" i="0" lang="en" sz="1800" u="none" cap="none" strike="noStrike">
                <a:solidFill>
                  <a:schemeClr val="dk1"/>
                </a:solidFill>
                <a:latin typeface="Kalam Light"/>
                <a:ea typeface="Kalam Light"/>
                <a:cs typeface="Kalam Light"/>
                <a:sym typeface="Kalam Light"/>
              </a:rPr>
              <a:t>Mr. Glanz’s Feedback </a:t>
            </a:r>
            <a:endParaRPr b="0" i="0" sz="1800" u="none" cap="none" strike="noStrike">
              <a:solidFill>
                <a:schemeClr val="dk1"/>
              </a:solidFill>
              <a:latin typeface="Kalam Light"/>
              <a:ea typeface="Kalam Light"/>
              <a:cs typeface="Kalam Light"/>
              <a:sym typeface="Kalam Light"/>
            </a:endParaRPr>
          </a:p>
          <a:p>
            <a:pPr indent="-342900" lvl="0" marL="457200" marR="0" rtl="0" algn="l">
              <a:lnSpc>
                <a:spcPct val="115000"/>
              </a:lnSpc>
              <a:spcBef>
                <a:spcPts val="0"/>
              </a:spcBef>
              <a:spcAft>
                <a:spcPts val="0"/>
              </a:spcAft>
              <a:buClr>
                <a:schemeClr val="dk1"/>
              </a:buClr>
              <a:buSzPts val="1800"/>
              <a:buFont typeface="Kalam Light"/>
              <a:buAutoNum type="arabicPeriod"/>
            </a:pPr>
            <a:r>
              <a:rPr b="0" i="0" lang="en" sz="1800" u="none" cap="none" strike="noStrike">
                <a:solidFill>
                  <a:schemeClr val="dk1"/>
                </a:solidFill>
                <a:latin typeface="Kalam Light"/>
                <a:ea typeface="Kalam Light"/>
                <a:cs typeface="Kalam Light"/>
                <a:sym typeface="Kalam Light"/>
              </a:rPr>
              <a:t>Addressing action targets </a:t>
            </a:r>
            <a:endParaRPr b="0" i="0" sz="1800" u="none" cap="none" strike="noStrike">
              <a:solidFill>
                <a:schemeClr val="dk1"/>
              </a:solidFill>
              <a:latin typeface="Kalam Light"/>
              <a:ea typeface="Kalam Light"/>
              <a:cs typeface="Kalam Light"/>
              <a:sym typeface="Kalam Light"/>
            </a:endParaRPr>
          </a:p>
        </p:txBody>
      </p:sp>
      <p:sp>
        <p:nvSpPr>
          <p:cNvPr id="63" name="Google Shape;63;p2"/>
          <p:cNvSpPr/>
          <p:nvPr/>
        </p:nvSpPr>
        <p:spPr>
          <a:xfrm>
            <a:off x="0" y="154175"/>
            <a:ext cx="7841400" cy="783900"/>
          </a:xfrm>
          <a:prstGeom prst="rect">
            <a:avLst/>
          </a:prstGeom>
          <a:solidFill>
            <a:srgbClr val="073763"/>
          </a:solidFill>
          <a:ln cap="flat" cmpd="sng" w="19050">
            <a:solidFill>
              <a:srgbClr val="FFFFFF"/>
            </a:solidFill>
            <a:prstDash val="solid"/>
            <a:miter lim="8000"/>
            <a:headEnd len="sm" w="sm" type="none"/>
            <a:tailEnd len="sm" w="sm" type="none"/>
          </a:ln>
          <a:effectLst>
            <a:outerShdw blurRad="25400" rotWithShape="0" algn="tl" dir="2700000" dist="19050">
              <a:srgbClr val="000000">
                <a:alpha val="69412"/>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4400"/>
              <a:buFont typeface="Calibri"/>
              <a:buNone/>
            </a:pPr>
            <a:r>
              <a:rPr b="0" i="0" lang="en" sz="1900" u="none" cap="none" strike="noStrike">
                <a:solidFill>
                  <a:srgbClr val="FFFFFF"/>
                </a:solidFill>
                <a:latin typeface="Calibri"/>
                <a:ea typeface="Calibri"/>
                <a:cs typeface="Calibri"/>
                <a:sym typeface="Calibri"/>
              </a:rPr>
              <a:t>Year 9 English</a:t>
            </a:r>
            <a:endParaRPr b="0" i="0" sz="1900" u="none" cap="none" strike="noStrike">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4400"/>
              <a:buFont typeface="Calibri"/>
              <a:buNone/>
            </a:pPr>
            <a:r>
              <a:rPr b="0" i="0" lang="en" sz="1900" u="none" cap="none" strike="noStrike">
                <a:solidFill>
                  <a:srgbClr val="FFFFFF"/>
                </a:solidFill>
                <a:latin typeface="Calibri"/>
                <a:ea typeface="Calibri"/>
                <a:cs typeface="Calibri"/>
                <a:sym typeface="Calibri"/>
              </a:rPr>
              <a:t>Assessment Feedback and Reflection: Analysing an opening for ‘The Bridge’</a:t>
            </a:r>
            <a:endParaRPr b="0" i="0" sz="19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2800"/>
              <a:buFont typeface="Calibri"/>
              <a:buNone/>
            </a:pPr>
            <a:r>
              <a:t/>
            </a:r>
            <a:endParaRPr b="0" i="0" sz="300" u="none" cap="none" strike="noStrike">
              <a:solidFill>
                <a:srgbClr val="000000"/>
              </a:solidFill>
              <a:latin typeface="Kalam Light"/>
              <a:ea typeface="Kalam Light"/>
              <a:cs typeface="Kalam Light"/>
              <a:sym typeface="Kalam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599"/>
        </a:solidFill>
      </p:bgPr>
    </p:bg>
    <p:spTree>
      <p:nvGrpSpPr>
        <p:cNvPr id="67" name="Shape 67"/>
        <p:cNvGrpSpPr/>
        <p:nvPr/>
      </p:nvGrpSpPr>
      <p:grpSpPr>
        <a:xfrm>
          <a:off x="0" y="0"/>
          <a:ext cx="0" cy="0"/>
          <a:chOff x="0" y="0"/>
          <a:chExt cx="0" cy="0"/>
        </a:xfrm>
      </p:grpSpPr>
      <p:sp>
        <p:nvSpPr>
          <p:cNvPr id="68" name="Google Shape;68;p3"/>
          <p:cNvSpPr txBox="1"/>
          <p:nvPr/>
        </p:nvSpPr>
        <p:spPr>
          <a:xfrm>
            <a:off x="303025" y="837100"/>
            <a:ext cx="5092200" cy="4075200"/>
          </a:xfrm>
          <a:prstGeom prst="rect">
            <a:avLst/>
          </a:prstGeom>
          <a:solidFill>
            <a:schemeClr val="lt1"/>
          </a:solidFill>
          <a:ln cap="flat" cmpd="sng" w="9525">
            <a:solidFill>
              <a:srgbClr val="000000"/>
            </a:solidFill>
            <a:prstDash val="solid"/>
            <a:round/>
            <a:headEnd len="sm" w="sm" type="none"/>
            <a:tailEnd len="sm" w="sm" type="none"/>
          </a:ln>
          <a:effectLst>
            <a:outerShdw blurRad="28575" rotWithShape="0" algn="bl" dir="21540000" dist="14288">
              <a:srgbClr val="000000">
                <a:alpha val="49804"/>
              </a:srgbClr>
            </a:outerShdw>
          </a:effectLst>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700"/>
              <a:buFont typeface="Arial"/>
              <a:buNone/>
            </a:pPr>
            <a:r>
              <a:rPr b="0" i="0" lang="en" sz="1700" u="none" cap="none" strike="noStrike">
                <a:solidFill>
                  <a:schemeClr val="dk1"/>
                </a:solidFill>
                <a:latin typeface="Kalam"/>
                <a:ea typeface="Kalam"/>
                <a:cs typeface="Kalam"/>
                <a:sym typeface="Kalam"/>
              </a:rPr>
              <a:t>It’s been two school weeks since the common assessment, so we need to begin by refamiliarising ourselves with the task and our responses. I will now give back your work with just comments - no score or grade. Take 5 minutes to read over your work to form a first impression. </a:t>
            </a:r>
            <a:endParaRPr b="0" i="0" sz="1700" u="none" cap="none" strike="noStrike">
              <a:solidFill>
                <a:schemeClr val="dk1"/>
              </a:solidFill>
              <a:latin typeface="Kalam"/>
              <a:ea typeface="Kalam"/>
              <a:cs typeface="Kalam"/>
              <a:sym typeface="Kalam"/>
            </a:endParaRPr>
          </a:p>
          <a:p>
            <a:pPr indent="0" lvl="0" marL="0" marR="0" rtl="0" algn="l">
              <a:lnSpc>
                <a:spcPct val="115000"/>
              </a:lnSpc>
              <a:spcBef>
                <a:spcPts val="0"/>
              </a:spcBef>
              <a:spcAft>
                <a:spcPts val="0"/>
              </a:spcAft>
              <a:buClr>
                <a:srgbClr val="000000"/>
              </a:buClr>
              <a:buSzPts val="1700"/>
              <a:buFont typeface="Arial"/>
              <a:buNone/>
            </a:pPr>
            <a:r>
              <a:t/>
            </a:r>
            <a:endParaRPr b="0" i="0" sz="1700" u="none" cap="none" strike="noStrike">
              <a:solidFill>
                <a:schemeClr val="dk1"/>
              </a:solidFill>
              <a:latin typeface="Kalam"/>
              <a:ea typeface="Kalam"/>
              <a:cs typeface="Kalam"/>
              <a:sym typeface="Kalam"/>
            </a:endParaRPr>
          </a:p>
          <a:p>
            <a:pPr indent="0" lvl="0" marL="0" marR="0" rtl="0" algn="l">
              <a:lnSpc>
                <a:spcPct val="115000"/>
              </a:lnSpc>
              <a:spcBef>
                <a:spcPts val="0"/>
              </a:spcBef>
              <a:spcAft>
                <a:spcPts val="0"/>
              </a:spcAft>
              <a:buClr>
                <a:srgbClr val="000000"/>
              </a:buClr>
              <a:buSzPts val="1700"/>
              <a:buFont typeface="Arial"/>
              <a:buNone/>
            </a:pPr>
            <a:r>
              <a:rPr b="0" i="0" lang="en" sz="1700" u="none" cap="none" strike="noStrike">
                <a:solidFill>
                  <a:schemeClr val="dk1"/>
                </a:solidFill>
                <a:latin typeface="Kalam"/>
                <a:ea typeface="Kalam"/>
                <a:cs typeface="Kalam"/>
                <a:sym typeface="Kalam"/>
              </a:rPr>
              <a:t>Ask yourself:</a:t>
            </a:r>
            <a:endParaRPr b="0" i="0" sz="1700" u="none" cap="none" strike="noStrike">
              <a:solidFill>
                <a:schemeClr val="dk1"/>
              </a:solidFill>
              <a:latin typeface="Kalam"/>
              <a:ea typeface="Kalam"/>
              <a:cs typeface="Kalam"/>
              <a:sym typeface="Kalam"/>
            </a:endParaRPr>
          </a:p>
          <a:p>
            <a:pPr indent="-342900" lvl="0" marL="457200" marR="0" rtl="0" algn="l">
              <a:lnSpc>
                <a:spcPct val="115000"/>
              </a:lnSpc>
              <a:spcBef>
                <a:spcPts val="0"/>
              </a:spcBef>
              <a:spcAft>
                <a:spcPts val="0"/>
              </a:spcAft>
              <a:buClr>
                <a:schemeClr val="dk1"/>
              </a:buClr>
              <a:buSzPts val="1800"/>
              <a:buFont typeface="Kalam Light"/>
              <a:buChar char="●"/>
            </a:pPr>
            <a:r>
              <a:rPr b="0" i="0" lang="en" sz="1800" u="none" cap="none" strike="noStrike">
                <a:solidFill>
                  <a:schemeClr val="dk1"/>
                </a:solidFill>
                <a:latin typeface="Kalam Light"/>
                <a:ea typeface="Kalam Light"/>
                <a:cs typeface="Kalam Light"/>
                <a:sym typeface="Kalam Light"/>
              </a:rPr>
              <a:t>Does your analysis respond to task? </a:t>
            </a:r>
            <a:endParaRPr b="0" i="0" sz="1800" u="none" cap="none" strike="noStrike">
              <a:solidFill>
                <a:schemeClr val="dk1"/>
              </a:solidFill>
              <a:latin typeface="Kalam Light"/>
              <a:ea typeface="Kalam Light"/>
              <a:cs typeface="Kalam Light"/>
              <a:sym typeface="Kalam Light"/>
            </a:endParaRPr>
          </a:p>
          <a:p>
            <a:pPr indent="-336550" lvl="0" marL="457200" marR="0" rtl="0" algn="l">
              <a:lnSpc>
                <a:spcPct val="115000"/>
              </a:lnSpc>
              <a:spcBef>
                <a:spcPts val="0"/>
              </a:spcBef>
              <a:spcAft>
                <a:spcPts val="0"/>
              </a:spcAft>
              <a:buClr>
                <a:schemeClr val="dk1"/>
              </a:buClr>
              <a:buSzPts val="1700"/>
              <a:buFont typeface="Kalam Light"/>
              <a:buChar char="●"/>
            </a:pPr>
            <a:r>
              <a:rPr b="0" i="0" lang="en" sz="1700" u="none" cap="none" strike="noStrike">
                <a:solidFill>
                  <a:schemeClr val="dk1"/>
                </a:solidFill>
                <a:latin typeface="Kalam Light"/>
                <a:ea typeface="Kalam Light"/>
                <a:cs typeface="Kalam Light"/>
                <a:sym typeface="Kalam Light"/>
              </a:rPr>
              <a:t>To what extent does this analysis reflect the quality you expect from your work? </a:t>
            </a:r>
            <a:endParaRPr b="0" i="0" sz="1700" u="none" cap="none" strike="noStrike">
              <a:solidFill>
                <a:schemeClr val="dk1"/>
              </a:solidFill>
              <a:latin typeface="Kalam Light"/>
              <a:ea typeface="Kalam Light"/>
              <a:cs typeface="Kalam Light"/>
              <a:sym typeface="Kalam Light"/>
            </a:endParaRPr>
          </a:p>
          <a:p>
            <a:pPr indent="-336550" lvl="0" marL="457200" marR="0" rtl="0" algn="l">
              <a:lnSpc>
                <a:spcPct val="115000"/>
              </a:lnSpc>
              <a:spcBef>
                <a:spcPts val="0"/>
              </a:spcBef>
              <a:spcAft>
                <a:spcPts val="0"/>
              </a:spcAft>
              <a:buClr>
                <a:schemeClr val="dk1"/>
              </a:buClr>
              <a:buSzPts val="1700"/>
              <a:buFont typeface="Kalam Light"/>
              <a:buChar char="●"/>
            </a:pPr>
            <a:r>
              <a:rPr b="0" i="0" lang="en" sz="1700" u="none" cap="none" strike="noStrike">
                <a:solidFill>
                  <a:schemeClr val="dk1"/>
                </a:solidFill>
                <a:latin typeface="Kalam Light"/>
                <a:ea typeface="Kalam Light"/>
                <a:cs typeface="Kalam Light"/>
                <a:sym typeface="Kalam Light"/>
              </a:rPr>
              <a:t>What impresses you? What are you proud of?</a:t>
            </a:r>
            <a:endParaRPr b="0" i="0" sz="1700" u="none" cap="none" strike="noStrike">
              <a:solidFill>
                <a:schemeClr val="dk1"/>
              </a:solidFill>
              <a:latin typeface="Kalam Light"/>
              <a:ea typeface="Kalam Light"/>
              <a:cs typeface="Kalam Light"/>
              <a:sym typeface="Kalam Light"/>
            </a:endParaRPr>
          </a:p>
          <a:p>
            <a:pPr indent="-336550" lvl="0" marL="457200" marR="0" rtl="0" algn="l">
              <a:lnSpc>
                <a:spcPct val="115000"/>
              </a:lnSpc>
              <a:spcBef>
                <a:spcPts val="0"/>
              </a:spcBef>
              <a:spcAft>
                <a:spcPts val="0"/>
              </a:spcAft>
              <a:buClr>
                <a:schemeClr val="dk1"/>
              </a:buClr>
              <a:buSzPts val="1700"/>
              <a:buFont typeface="Kalam Light"/>
              <a:buChar char="●"/>
            </a:pPr>
            <a:r>
              <a:rPr b="0" i="0" lang="en" sz="1700" u="none" cap="none" strike="noStrike">
                <a:solidFill>
                  <a:schemeClr val="dk1"/>
                </a:solidFill>
                <a:latin typeface="Kalam Light"/>
                <a:ea typeface="Kalam Light"/>
                <a:cs typeface="Kalam Light"/>
                <a:sym typeface="Kalam Light"/>
              </a:rPr>
              <a:t>What would you want to change?</a:t>
            </a:r>
            <a:endParaRPr b="0" i="0" sz="1700" u="none" cap="none" strike="noStrike">
              <a:solidFill>
                <a:schemeClr val="dk1"/>
              </a:solidFill>
              <a:latin typeface="Kalam Light"/>
              <a:ea typeface="Kalam Light"/>
              <a:cs typeface="Kalam Light"/>
              <a:sym typeface="Kalam Light"/>
            </a:endParaRPr>
          </a:p>
        </p:txBody>
      </p:sp>
      <p:sp>
        <p:nvSpPr>
          <p:cNvPr id="69" name="Google Shape;69;p3"/>
          <p:cNvSpPr txBox="1"/>
          <p:nvPr/>
        </p:nvSpPr>
        <p:spPr>
          <a:xfrm>
            <a:off x="5630225" y="1651950"/>
            <a:ext cx="3099900" cy="2055000"/>
          </a:xfrm>
          <a:prstGeom prst="rect">
            <a:avLst/>
          </a:prstGeom>
          <a:solidFill>
            <a:srgbClr val="D0E0E3"/>
          </a:solidFill>
          <a:ln cap="flat" cmpd="sng" w="9525">
            <a:solidFill>
              <a:srgbClr val="000000"/>
            </a:solidFill>
            <a:prstDash val="solid"/>
            <a:round/>
            <a:headEnd len="sm" w="sm" type="none"/>
            <a:tailEnd len="sm" w="sm" type="none"/>
          </a:ln>
          <a:effectLst>
            <a:outerShdw blurRad="28575" rotWithShape="0" algn="bl" dir="21540000" dist="14288">
              <a:srgbClr val="000000">
                <a:alpha val="49804"/>
              </a:srgbClr>
            </a:outerShdw>
          </a:effectLst>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800"/>
              <a:buFont typeface="Arial"/>
              <a:buNone/>
            </a:pPr>
            <a:r>
              <a:rPr b="1" i="0" lang="en" sz="1800" u="none" cap="none" strike="noStrike">
                <a:solidFill>
                  <a:schemeClr val="dk1"/>
                </a:solidFill>
                <a:latin typeface="Kalam"/>
                <a:ea typeface="Kalam"/>
                <a:cs typeface="Kalam"/>
                <a:sym typeface="Kalam"/>
              </a:rPr>
              <a:t>Task:</a:t>
            </a:r>
            <a:endParaRPr b="0" i="0" sz="1800" u="none" cap="none" strike="noStrike">
              <a:solidFill>
                <a:schemeClr val="dk1"/>
              </a:solidFill>
              <a:latin typeface="Kalam Light"/>
              <a:ea typeface="Kalam Light"/>
              <a:cs typeface="Kalam Light"/>
              <a:sym typeface="Kalam Light"/>
            </a:endParaRPr>
          </a:p>
          <a:p>
            <a:pPr indent="0" lvl="0" marL="0" marR="0" rtl="0" algn="ctr">
              <a:lnSpc>
                <a:spcPct val="115000"/>
              </a:lnSpc>
              <a:spcBef>
                <a:spcPts val="0"/>
              </a:spcBef>
              <a:spcAft>
                <a:spcPts val="0"/>
              </a:spcAft>
              <a:buClr>
                <a:srgbClr val="000000"/>
              </a:buClr>
              <a:buSzPts val="1800"/>
              <a:buFont typeface="Arial"/>
              <a:buNone/>
            </a:pPr>
            <a:r>
              <a:rPr b="0" i="0" lang="en" sz="1800" u="none" cap="none" strike="noStrike">
                <a:solidFill>
                  <a:schemeClr val="dk1"/>
                </a:solidFill>
                <a:latin typeface="Kalam Light"/>
                <a:ea typeface="Kalam Light"/>
                <a:cs typeface="Kalam Light"/>
                <a:sym typeface="Kalam Light"/>
              </a:rPr>
              <a:t>“Read five story openings for the ‘The Bridge’. Select ONE opening passage and analyse how/why it is an effective way to begin a narrative.”</a:t>
            </a:r>
            <a:endParaRPr b="0" i="0" sz="1800" u="none" cap="none" strike="noStrike">
              <a:solidFill>
                <a:schemeClr val="dk1"/>
              </a:solidFill>
              <a:latin typeface="Kalam Light"/>
              <a:ea typeface="Kalam Light"/>
              <a:cs typeface="Kalam Light"/>
              <a:sym typeface="Kalam Light"/>
            </a:endParaRPr>
          </a:p>
        </p:txBody>
      </p:sp>
      <p:sp>
        <p:nvSpPr>
          <p:cNvPr id="70" name="Google Shape;70;p3"/>
          <p:cNvSpPr/>
          <p:nvPr/>
        </p:nvSpPr>
        <p:spPr>
          <a:xfrm>
            <a:off x="0" y="154175"/>
            <a:ext cx="3168900" cy="438900"/>
          </a:xfrm>
          <a:prstGeom prst="rect">
            <a:avLst/>
          </a:prstGeom>
          <a:solidFill>
            <a:srgbClr val="073763"/>
          </a:solidFill>
          <a:ln cap="flat" cmpd="sng" w="19050">
            <a:solidFill>
              <a:srgbClr val="FFFFFF"/>
            </a:solidFill>
            <a:prstDash val="solid"/>
            <a:miter lim="8000"/>
            <a:headEnd len="sm" w="sm" type="none"/>
            <a:tailEnd len="sm" w="sm" type="none"/>
          </a:ln>
          <a:effectLst>
            <a:outerShdw blurRad="25400" rotWithShape="0" algn="tl" dir="2700000" dist="19050">
              <a:srgbClr val="000000">
                <a:alpha val="69412"/>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4400"/>
              <a:buFont typeface="Calibri"/>
              <a:buNone/>
            </a:pPr>
            <a:r>
              <a:rPr b="0" i="0" lang="en" sz="1900" u="none" cap="none" strike="noStrike">
                <a:solidFill>
                  <a:srgbClr val="FFFFFF"/>
                </a:solidFill>
                <a:latin typeface="Calibri"/>
                <a:ea typeface="Calibri"/>
                <a:cs typeface="Calibri"/>
                <a:sym typeface="Calibri"/>
              </a:rPr>
              <a:t>First impressions of your work</a:t>
            </a:r>
            <a:endParaRPr b="0" i="0" sz="19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2800"/>
              <a:buFont typeface="Calibri"/>
              <a:buNone/>
            </a:pPr>
            <a:r>
              <a:t/>
            </a:r>
            <a:endParaRPr b="0" i="0" sz="300" u="none" cap="none" strike="noStrike">
              <a:solidFill>
                <a:srgbClr val="000000"/>
              </a:solidFill>
              <a:latin typeface="Kalam Light"/>
              <a:ea typeface="Kalam Light"/>
              <a:cs typeface="Kalam Light"/>
              <a:sym typeface="Kalam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599"/>
        </a:solidFill>
      </p:bgPr>
    </p:bg>
    <p:spTree>
      <p:nvGrpSpPr>
        <p:cNvPr id="75" name="Shape 75"/>
        <p:cNvGrpSpPr/>
        <p:nvPr/>
      </p:nvGrpSpPr>
      <p:grpSpPr>
        <a:xfrm>
          <a:off x="0" y="0"/>
          <a:ext cx="0" cy="0"/>
          <a:chOff x="0" y="0"/>
          <a:chExt cx="0" cy="0"/>
        </a:xfrm>
      </p:grpSpPr>
      <p:pic>
        <p:nvPicPr>
          <p:cNvPr id="76" name="Google Shape;76;p4"/>
          <p:cNvPicPr preferRelativeResize="0"/>
          <p:nvPr/>
        </p:nvPicPr>
        <p:blipFill rotWithShape="1">
          <a:blip r:embed="rId3">
            <a:alphaModFix/>
          </a:blip>
          <a:srcRect b="11633" l="2495" r="50161" t="2574"/>
          <a:stretch/>
        </p:blipFill>
        <p:spPr>
          <a:xfrm>
            <a:off x="1693250" y="750425"/>
            <a:ext cx="3004550" cy="4088750"/>
          </a:xfrm>
          <a:prstGeom prst="rect">
            <a:avLst/>
          </a:prstGeom>
          <a:noFill/>
          <a:ln cap="flat" cmpd="sng" w="9525">
            <a:solidFill>
              <a:srgbClr val="000000"/>
            </a:solidFill>
            <a:prstDash val="solid"/>
            <a:round/>
            <a:headEnd len="sm" w="sm" type="none"/>
            <a:tailEnd len="sm" w="sm" type="none"/>
          </a:ln>
        </p:spPr>
      </p:pic>
      <p:sp>
        <p:nvSpPr>
          <p:cNvPr id="77" name="Google Shape;77;p4"/>
          <p:cNvSpPr/>
          <p:nvPr/>
        </p:nvSpPr>
        <p:spPr>
          <a:xfrm>
            <a:off x="0" y="154175"/>
            <a:ext cx="5118600" cy="438900"/>
          </a:xfrm>
          <a:prstGeom prst="rect">
            <a:avLst/>
          </a:prstGeom>
          <a:solidFill>
            <a:srgbClr val="073763"/>
          </a:solidFill>
          <a:ln cap="flat" cmpd="sng" w="19050">
            <a:solidFill>
              <a:srgbClr val="FFFFFF"/>
            </a:solidFill>
            <a:prstDash val="solid"/>
            <a:miter lim="8000"/>
            <a:headEnd len="sm" w="sm" type="none"/>
            <a:tailEnd len="sm" w="sm" type="none"/>
          </a:ln>
          <a:effectLst>
            <a:outerShdw blurRad="25400" rotWithShape="0" algn="tl" dir="2700000" dist="19050">
              <a:srgbClr val="000000">
                <a:alpha val="69412"/>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4400"/>
              <a:buFont typeface="Calibri"/>
              <a:buNone/>
            </a:pPr>
            <a:r>
              <a:rPr b="0" i="0" lang="en" sz="1900" u="none" cap="none" strike="noStrike">
                <a:solidFill>
                  <a:srgbClr val="FFFFFF"/>
                </a:solidFill>
                <a:latin typeface="Calibri"/>
                <a:ea typeface="Calibri"/>
                <a:cs typeface="Calibri"/>
                <a:sym typeface="Calibri"/>
              </a:rPr>
              <a:t>What might meaningful self-assessment look like? </a:t>
            </a:r>
            <a:endParaRPr b="0" i="0" sz="19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2800"/>
              <a:buFont typeface="Calibri"/>
              <a:buNone/>
            </a:pPr>
            <a:r>
              <a:t/>
            </a:r>
            <a:endParaRPr b="0" i="0" sz="300" u="none" cap="none" strike="noStrike">
              <a:solidFill>
                <a:srgbClr val="000000"/>
              </a:solidFill>
              <a:latin typeface="Kalam Light"/>
              <a:ea typeface="Kalam Light"/>
              <a:cs typeface="Kalam Light"/>
              <a:sym typeface="Kalam Light"/>
            </a:endParaRPr>
          </a:p>
        </p:txBody>
      </p:sp>
      <p:cxnSp>
        <p:nvCxnSpPr>
          <p:cNvPr id="78" name="Google Shape;78;p4"/>
          <p:cNvCxnSpPr/>
          <p:nvPr/>
        </p:nvCxnSpPr>
        <p:spPr>
          <a:xfrm flipH="1" rot="10800000">
            <a:off x="998450" y="1563825"/>
            <a:ext cx="1377600" cy="420000"/>
          </a:xfrm>
          <a:prstGeom prst="straightConnector1">
            <a:avLst/>
          </a:prstGeom>
          <a:noFill/>
          <a:ln cap="flat" cmpd="sng" w="9525">
            <a:solidFill>
              <a:schemeClr val="dk2"/>
            </a:solidFill>
            <a:prstDash val="solid"/>
            <a:round/>
            <a:headEnd len="sm" w="sm" type="none"/>
            <a:tailEnd len="med" w="med" type="triangle"/>
          </a:ln>
        </p:spPr>
      </p:cxnSp>
      <p:sp>
        <p:nvSpPr>
          <p:cNvPr id="79" name="Google Shape;79;p4"/>
          <p:cNvSpPr txBox="1"/>
          <p:nvPr/>
        </p:nvSpPr>
        <p:spPr>
          <a:xfrm>
            <a:off x="0" y="1983825"/>
            <a:ext cx="1628100" cy="32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chemeClr val="dk2"/>
                </a:solidFill>
                <a:latin typeface="Kalam"/>
                <a:ea typeface="Kalam"/>
                <a:cs typeface="Kalam"/>
                <a:sym typeface="Kalam"/>
              </a:rPr>
              <a:t>green-pen editing</a:t>
            </a:r>
            <a:endParaRPr b="0" i="0" sz="1300" u="none" cap="none" strike="noStrike">
              <a:solidFill>
                <a:schemeClr val="dk2"/>
              </a:solidFill>
              <a:latin typeface="Kalam"/>
              <a:ea typeface="Kalam"/>
              <a:cs typeface="Kalam"/>
              <a:sym typeface="Kalam"/>
            </a:endParaRPr>
          </a:p>
        </p:txBody>
      </p:sp>
      <p:cxnSp>
        <p:nvCxnSpPr>
          <p:cNvPr id="80" name="Google Shape;80;p4"/>
          <p:cNvCxnSpPr/>
          <p:nvPr/>
        </p:nvCxnSpPr>
        <p:spPr>
          <a:xfrm rot="10800000">
            <a:off x="4501625" y="3520275"/>
            <a:ext cx="1312200" cy="629700"/>
          </a:xfrm>
          <a:prstGeom prst="straightConnector1">
            <a:avLst/>
          </a:prstGeom>
          <a:noFill/>
          <a:ln cap="flat" cmpd="sng" w="9525">
            <a:solidFill>
              <a:schemeClr val="dk2"/>
            </a:solidFill>
            <a:prstDash val="solid"/>
            <a:round/>
            <a:headEnd len="sm" w="sm" type="none"/>
            <a:tailEnd len="med" w="med" type="triangle"/>
          </a:ln>
        </p:spPr>
      </p:cxnSp>
      <p:sp>
        <p:nvSpPr>
          <p:cNvPr id="81" name="Google Shape;81;p4"/>
          <p:cNvSpPr txBox="1"/>
          <p:nvPr/>
        </p:nvSpPr>
        <p:spPr>
          <a:xfrm>
            <a:off x="5118600" y="4240800"/>
            <a:ext cx="1628100" cy="496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chemeClr val="dk2"/>
                </a:solidFill>
                <a:latin typeface="Kalam"/>
                <a:ea typeface="Kalam"/>
                <a:cs typeface="Kalam"/>
                <a:sym typeface="Kalam"/>
              </a:rPr>
              <a:t>self-assessing for skills against the success criteria</a:t>
            </a:r>
            <a:endParaRPr b="0" i="0" sz="1300" u="none" cap="none" strike="noStrike">
              <a:solidFill>
                <a:schemeClr val="dk2"/>
              </a:solidFill>
              <a:latin typeface="Kalam"/>
              <a:ea typeface="Kalam"/>
              <a:cs typeface="Kalam"/>
              <a:sym typeface="Kalam"/>
            </a:endParaRPr>
          </a:p>
        </p:txBody>
      </p:sp>
      <p:cxnSp>
        <p:nvCxnSpPr>
          <p:cNvPr id="82" name="Google Shape;82;p4"/>
          <p:cNvCxnSpPr/>
          <p:nvPr/>
        </p:nvCxnSpPr>
        <p:spPr>
          <a:xfrm flipH="1" rot="10800000">
            <a:off x="921600" y="3120600"/>
            <a:ext cx="1104600" cy="621300"/>
          </a:xfrm>
          <a:prstGeom prst="straightConnector1">
            <a:avLst/>
          </a:prstGeom>
          <a:noFill/>
          <a:ln cap="flat" cmpd="sng" w="9525">
            <a:solidFill>
              <a:schemeClr val="dk2"/>
            </a:solidFill>
            <a:prstDash val="solid"/>
            <a:round/>
            <a:headEnd len="sm" w="sm" type="none"/>
            <a:tailEnd len="med" w="med" type="triangle"/>
          </a:ln>
        </p:spPr>
      </p:cxnSp>
      <p:sp>
        <p:nvSpPr>
          <p:cNvPr id="83" name="Google Shape;83;p4"/>
          <p:cNvSpPr txBox="1"/>
          <p:nvPr/>
        </p:nvSpPr>
        <p:spPr>
          <a:xfrm>
            <a:off x="65150" y="3741900"/>
            <a:ext cx="1628100" cy="32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chemeClr val="dk2"/>
                </a:solidFill>
                <a:latin typeface="Kalam"/>
                <a:ea typeface="Kalam"/>
                <a:cs typeface="Kalam"/>
                <a:sym typeface="Kalam"/>
              </a:rPr>
              <a:t>redrafting</a:t>
            </a:r>
            <a:endParaRPr b="0" i="0" sz="1300" u="none" cap="none" strike="noStrike">
              <a:solidFill>
                <a:schemeClr val="dk2"/>
              </a:solidFill>
              <a:latin typeface="Kalam"/>
              <a:ea typeface="Kalam"/>
              <a:cs typeface="Kalam"/>
              <a:sym typeface="Kalam"/>
            </a:endParaRPr>
          </a:p>
        </p:txBody>
      </p:sp>
      <p:sp>
        <p:nvSpPr>
          <p:cNvPr id="84" name="Google Shape;84;p4"/>
          <p:cNvSpPr txBox="1"/>
          <p:nvPr/>
        </p:nvSpPr>
        <p:spPr>
          <a:xfrm>
            <a:off x="4943575" y="750425"/>
            <a:ext cx="2468400" cy="1821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800"/>
              </a:spcBef>
              <a:spcAft>
                <a:spcPts val="0"/>
              </a:spcAft>
              <a:buClr>
                <a:srgbClr val="000000"/>
              </a:buClr>
              <a:buSzPts val="1400"/>
              <a:buFont typeface="Arial"/>
              <a:buNone/>
            </a:pPr>
            <a:r>
              <a:rPr b="0" i="0" lang="en" sz="1400" u="none" cap="none" strike="noStrike">
                <a:solidFill>
                  <a:schemeClr val="dk2"/>
                </a:solidFill>
                <a:latin typeface="Kalam"/>
                <a:ea typeface="Kalam"/>
                <a:cs typeface="Kalam"/>
                <a:sym typeface="Kalam"/>
              </a:rPr>
              <a:t>As well as:</a:t>
            </a:r>
            <a:endParaRPr b="0" i="0" sz="1400" u="none" cap="none" strike="noStrike">
              <a:solidFill>
                <a:schemeClr val="dk2"/>
              </a:solidFill>
              <a:latin typeface="Kalam"/>
              <a:ea typeface="Kalam"/>
              <a:cs typeface="Kalam"/>
              <a:sym typeface="Kalam"/>
            </a:endParaRPr>
          </a:p>
          <a:p>
            <a:pPr indent="-152400" lvl="0" marL="177800" marR="0" rtl="0" algn="l">
              <a:lnSpc>
                <a:spcPct val="100000"/>
              </a:lnSpc>
              <a:spcBef>
                <a:spcPts val="800"/>
              </a:spcBef>
              <a:spcAft>
                <a:spcPts val="0"/>
              </a:spcAft>
              <a:buClr>
                <a:schemeClr val="dk2"/>
              </a:buClr>
              <a:buSzPts val="1400"/>
              <a:buFont typeface="Kalam"/>
              <a:buChar char="●"/>
            </a:pPr>
            <a:r>
              <a:rPr b="0" i="0" lang="en" sz="1400" u="none" cap="none" strike="noStrike">
                <a:solidFill>
                  <a:schemeClr val="dk2"/>
                </a:solidFill>
                <a:latin typeface="Kalam"/>
                <a:ea typeface="Kalam"/>
                <a:cs typeface="Kalam"/>
                <a:sym typeface="Kalam"/>
              </a:rPr>
              <a:t>responding to pink-pen teacher comments</a:t>
            </a:r>
            <a:endParaRPr b="0" i="0" sz="1400" u="none" cap="none" strike="noStrike">
              <a:solidFill>
                <a:schemeClr val="dk2"/>
              </a:solidFill>
              <a:latin typeface="Kalam"/>
              <a:ea typeface="Kalam"/>
              <a:cs typeface="Kalam"/>
              <a:sym typeface="Kalam"/>
            </a:endParaRPr>
          </a:p>
          <a:p>
            <a:pPr indent="-152400" lvl="0" marL="177800" marR="0" rtl="0" algn="l">
              <a:lnSpc>
                <a:spcPct val="100000"/>
              </a:lnSpc>
              <a:spcBef>
                <a:spcPts val="800"/>
              </a:spcBef>
              <a:spcAft>
                <a:spcPts val="0"/>
              </a:spcAft>
              <a:buClr>
                <a:schemeClr val="dk2"/>
              </a:buClr>
              <a:buSzPts val="1400"/>
              <a:buFont typeface="Kalam"/>
              <a:buChar char="●"/>
            </a:pPr>
            <a:r>
              <a:rPr b="0" i="0" lang="en" sz="1400" u="none" cap="none" strike="noStrike">
                <a:solidFill>
                  <a:schemeClr val="dk2"/>
                </a:solidFill>
                <a:latin typeface="Kalam"/>
                <a:ea typeface="Kalam"/>
                <a:cs typeface="Kalam"/>
                <a:sym typeface="Kalam"/>
              </a:rPr>
              <a:t>identifying what is a ‘missed opportunity’...</a:t>
            </a:r>
            <a:endParaRPr b="0" i="0" sz="1400" u="none" cap="none" strike="noStrike">
              <a:solidFill>
                <a:schemeClr val="dk2"/>
              </a:solidFill>
              <a:latin typeface="Kalam"/>
              <a:ea typeface="Kalam"/>
              <a:cs typeface="Kalam"/>
              <a:sym typeface="Kalam"/>
            </a:endParaRPr>
          </a:p>
          <a:p>
            <a:pPr indent="-152400" lvl="0" marL="177800" marR="0" rtl="0" algn="l">
              <a:lnSpc>
                <a:spcPct val="100000"/>
              </a:lnSpc>
              <a:spcBef>
                <a:spcPts val="800"/>
              </a:spcBef>
              <a:spcAft>
                <a:spcPts val="800"/>
              </a:spcAft>
              <a:buClr>
                <a:schemeClr val="dk2"/>
              </a:buClr>
              <a:buSzPts val="1400"/>
              <a:buFont typeface="Kalam"/>
              <a:buChar char="●"/>
            </a:pPr>
            <a:r>
              <a:rPr b="0" i="0" lang="en" sz="1400" u="none" cap="none" strike="noStrike">
                <a:solidFill>
                  <a:schemeClr val="dk2"/>
                </a:solidFill>
                <a:latin typeface="Kalam"/>
                <a:ea typeface="Kalam"/>
                <a:cs typeface="Kalam"/>
                <a:sym typeface="Kalam"/>
              </a:rPr>
              <a:t>…and what is a ‘gap’</a:t>
            </a:r>
            <a:endParaRPr b="0" i="0" sz="1400" u="none" cap="none" strike="noStrike">
              <a:solidFill>
                <a:schemeClr val="dk2"/>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599"/>
        </a:solidFill>
      </p:bgPr>
    </p:bg>
    <p:spTree>
      <p:nvGrpSpPr>
        <p:cNvPr id="88" name="Shape 88"/>
        <p:cNvGrpSpPr/>
        <p:nvPr/>
      </p:nvGrpSpPr>
      <p:grpSpPr>
        <a:xfrm>
          <a:off x="0" y="0"/>
          <a:ext cx="0" cy="0"/>
          <a:chOff x="0" y="0"/>
          <a:chExt cx="0" cy="0"/>
        </a:xfrm>
      </p:grpSpPr>
      <p:pic>
        <p:nvPicPr>
          <p:cNvPr id="89" name="Google Shape;89;p5"/>
          <p:cNvPicPr preferRelativeResize="0"/>
          <p:nvPr/>
        </p:nvPicPr>
        <p:blipFill rotWithShape="1">
          <a:blip r:embed="rId3">
            <a:alphaModFix/>
          </a:blip>
          <a:srcRect b="0" l="0" r="0" t="0"/>
          <a:stretch/>
        </p:blipFill>
        <p:spPr>
          <a:xfrm>
            <a:off x="592800" y="111150"/>
            <a:ext cx="7675027" cy="4296125"/>
          </a:xfrm>
          <a:prstGeom prst="rect">
            <a:avLst/>
          </a:prstGeom>
          <a:noFill/>
          <a:ln>
            <a:noFill/>
          </a:ln>
        </p:spPr>
      </p:pic>
      <p:sp>
        <p:nvSpPr>
          <p:cNvPr id="90" name="Google Shape;90;p5"/>
          <p:cNvSpPr/>
          <p:nvPr/>
        </p:nvSpPr>
        <p:spPr>
          <a:xfrm>
            <a:off x="0" y="36353"/>
            <a:ext cx="2160300" cy="438900"/>
          </a:xfrm>
          <a:prstGeom prst="rect">
            <a:avLst/>
          </a:prstGeom>
          <a:solidFill>
            <a:srgbClr val="073763"/>
          </a:solidFill>
          <a:ln cap="flat" cmpd="sng" w="19050">
            <a:solidFill>
              <a:srgbClr val="FFFFFF"/>
            </a:solidFill>
            <a:prstDash val="solid"/>
            <a:miter lim="8000"/>
            <a:headEnd len="sm" w="sm" type="none"/>
            <a:tailEnd len="sm" w="sm" type="none"/>
          </a:ln>
          <a:effectLst>
            <a:outerShdw blurRad="25400" rotWithShape="0" algn="tl" dir="2700000" dist="19050">
              <a:srgbClr val="000000">
                <a:alpha val="69412"/>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4400"/>
              <a:buFont typeface="Calibri"/>
              <a:buNone/>
            </a:pPr>
            <a:r>
              <a:rPr b="0" i="0" lang="en" sz="1900" u="none" cap="none" strike="noStrike">
                <a:solidFill>
                  <a:srgbClr val="FFFFFF"/>
                </a:solidFill>
                <a:latin typeface="Calibri"/>
                <a:ea typeface="Calibri"/>
                <a:cs typeface="Calibri"/>
                <a:sym typeface="Calibri"/>
              </a:rPr>
              <a:t>The success criteria: </a:t>
            </a:r>
            <a:endParaRPr b="0" i="0" sz="19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2800"/>
              <a:buFont typeface="Calibri"/>
              <a:buNone/>
            </a:pPr>
            <a:r>
              <a:t/>
            </a:r>
            <a:endParaRPr b="0" i="0" sz="300" u="none" cap="none" strike="noStrike">
              <a:solidFill>
                <a:srgbClr val="000000"/>
              </a:solidFill>
              <a:latin typeface="Kalam Light"/>
              <a:ea typeface="Kalam Light"/>
              <a:cs typeface="Kalam Light"/>
              <a:sym typeface="Kalam Light"/>
            </a:endParaRPr>
          </a:p>
        </p:txBody>
      </p:sp>
      <p:sp>
        <p:nvSpPr>
          <p:cNvPr id="91" name="Google Shape;91;p5"/>
          <p:cNvSpPr txBox="1"/>
          <p:nvPr/>
        </p:nvSpPr>
        <p:spPr>
          <a:xfrm>
            <a:off x="99700" y="4520325"/>
            <a:ext cx="8916000" cy="3849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1" i="0" lang="en" sz="1300" u="none" cap="none" strike="noStrike">
                <a:solidFill>
                  <a:schemeClr val="dk1"/>
                </a:solidFill>
                <a:latin typeface="Kalam"/>
                <a:ea typeface="Kalam"/>
                <a:cs typeface="Kalam"/>
                <a:sym typeface="Kalam"/>
              </a:rPr>
              <a:t>AO1:</a:t>
            </a:r>
            <a:r>
              <a:rPr b="0" i="0" lang="en" sz="1300" u="none" cap="none" strike="noStrike">
                <a:solidFill>
                  <a:schemeClr val="dk1"/>
                </a:solidFill>
                <a:latin typeface="Kalam"/>
                <a:ea typeface="Kalam"/>
                <a:cs typeface="Kalam"/>
                <a:sym typeface="Kalam"/>
              </a:rPr>
              <a:t> Using evidence  </a:t>
            </a:r>
            <a:r>
              <a:rPr b="1" i="0" lang="en" sz="1300" u="none" cap="none" strike="noStrike">
                <a:solidFill>
                  <a:schemeClr val="dk1"/>
                </a:solidFill>
                <a:latin typeface="Kalam"/>
                <a:ea typeface="Kalam"/>
                <a:cs typeface="Kalam"/>
                <a:sym typeface="Kalam"/>
              </a:rPr>
              <a:t> AO2:</a:t>
            </a:r>
            <a:r>
              <a:rPr b="0" i="0" lang="en" sz="1300" u="none" cap="none" strike="noStrike">
                <a:solidFill>
                  <a:schemeClr val="dk1"/>
                </a:solidFill>
                <a:latin typeface="Kalam"/>
                <a:ea typeface="Kalam"/>
                <a:cs typeface="Kalam"/>
                <a:sym typeface="Kalam"/>
              </a:rPr>
              <a:t> Deeper understanding of the text  </a:t>
            </a:r>
            <a:r>
              <a:rPr b="1" i="0" lang="en" sz="1300" u="none" cap="none" strike="noStrike">
                <a:solidFill>
                  <a:schemeClr val="dk1"/>
                </a:solidFill>
                <a:latin typeface="Kalam"/>
                <a:ea typeface="Kalam"/>
                <a:cs typeface="Kalam"/>
                <a:sym typeface="Kalam"/>
              </a:rPr>
              <a:t> AO3: </a:t>
            </a:r>
            <a:r>
              <a:rPr b="0" i="0" lang="en" sz="1300" u="none" cap="none" strike="noStrike">
                <a:solidFill>
                  <a:schemeClr val="dk1"/>
                </a:solidFill>
                <a:latin typeface="Kalam"/>
                <a:ea typeface="Kalam"/>
                <a:cs typeface="Kalam"/>
                <a:sym typeface="Kalam"/>
              </a:rPr>
              <a:t>Author technique  </a:t>
            </a:r>
            <a:r>
              <a:rPr b="1" i="0" lang="en" sz="1300" u="none" cap="none" strike="noStrike">
                <a:solidFill>
                  <a:schemeClr val="dk1"/>
                </a:solidFill>
                <a:latin typeface="Kalam"/>
                <a:ea typeface="Kalam"/>
                <a:cs typeface="Kalam"/>
                <a:sym typeface="Kalam"/>
              </a:rPr>
              <a:t> AO4: </a:t>
            </a:r>
            <a:r>
              <a:rPr b="0" i="0" lang="en" sz="1300" u="none" cap="none" strike="noStrike">
                <a:solidFill>
                  <a:schemeClr val="dk1"/>
                </a:solidFill>
                <a:latin typeface="Kalam"/>
                <a:ea typeface="Kalam"/>
                <a:cs typeface="Kalam"/>
                <a:sym typeface="Kalam"/>
              </a:rPr>
              <a:t>Reader response </a:t>
            </a:r>
            <a:endParaRPr b="0" i="0" sz="1300" u="none" cap="none" strike="noStrike">
              <a:solidFill>
                <a:schemeClr val="dk1"/>
              </a:solidFill>
              <a:latin typeface="Kalam"/>
              <a:ea typeface="Kalam"/>
              <a:cs typeface="Kalam"/>
              <a:sym typeface="Kala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599"/>
        </a:solidFill>
      </p:bgPr>
    </p:bg>
    <p:spTree>
      <p:nvGrpSpPr>
        <p:cNvPr id="95" name="Shape 95"/>
        <p:cNvGrpSpPr/>
        <p:nvPr/>
      </p:nvGrpSpPr>
      <p:grpSpPr>
        <a:xfrm>
          <a:off x="0" y="0"/>
          <a:ext cx="0" cy="0"/>
          <a:chOff x="0" y="0"/>
          <a:chExt cx="0" cy="0"/>
        </a:xfrm>
      </p:grpSpPr>
      <p:sp>
        <p:nvSpPr>
          <p:cNvPr id="96" name="Google Shape;96;p6"/>
          <p:cNvSpPr/>
          <p:nvPr/>
        </p:nvSpPr>
        <p:spPr>
          <a:xfrm>
            <a:off x="0" y="154175"/>
            <a:ext cx="2712000" cy="469500"/>
          </a:xfrm>
          <a:prstGeom prst="rect">
            <a:avLst/>
          </a:prstGeom>
          <a:solidFill>
            <a:srgbClr val="073763"/>
          </a:solidFill>
          <a:ln cap="flat" cmpd="sng" w="19050">
            <a:solidFill>
              <a:srgbClr val="FFFFFF"/>
            </a:solidFill>
            <a:prstDash val="solid"/>
            <a:miter lim="8000"/>
            <a:headEnd len="sm" w="sm" type="none"/>
            <a:tailEnd len="sm" w="sm" type="none"/>
          </a:ln>
          <a:effectLst>
            <a:outerShdw blurRad="25400" rotWithShape="0" algn="tl" dir="2700000" dist="19050">
              <a:srgbClr val="000000">
                <a:alpha val="69412"/>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4400"/>
              <a:buFont typeface="Calibri"/>
              <a:buNone/>
            </a:pPr>
            <a:r>
              <a:rPr b="0" i="0" lang="en" sz="1900" u="none" cap="none" strike="noStrike">
                <a:solidFill>
                  <a:srgbClr val="FFFFFF"/>
                </a:solidFill>
                <a:latin typeface="Calibri"/>
                <a:ea typeface="Calibri"/>
                <a:cs typeface="Calibri"/>
                <a:sym typeface="Calibri"/>
              </a:rPr>
              <a:t>Mr. Glanz’s Feedback</a:t>
            </a:r>
            <a:endParaRPr b="0" i="0" sz="19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2800"/>
              <a:buFont typeface="Calibri"/>
              <a:buNone/>
            </a:pPr>
            <a:r>
              <a:t/>
            </a:r>
            <a:endParaRPr b="0" i="0" sz="300" u="none" cap="none" strike="noStrike">
              <a:solidFill>
                <a:srgbClr val="000000"/>
              </a:solidFill>
              <a:latin typeface="Kalam Light"/>
              <a:ea typeface="Kalam Light"/>
              <a:cs typeface="Kalam Light"/>
              <a:sym typeface="Kalam Light"/>
            </a:endParaRPr>
          </a:p>
        </p:txBody>
      </p:sp>
      <p:sp>
        <p:nvSpPr>
          <p:cNvPr id="97" name="Google Shape;97;p6"/>
          <p:cNvSpPr txBox="1"/>
          <p:nvPr/>
        </p:nvSpPr>
        <p:spPr>
          <a:xfrm>
            <a:off x="108025" y="764475"/>
            <a:ext cx="8816400" cy="40635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342900" lvl="0" marL="457200" marR="0" rtl="0" algn="l">
              <a:lnSpc>
                <a:spcPct val="100000"/>
              </a:lnSpc>
              <a:spcBef>
                <a:spcPts val="0"/>
              </a:spcBef>
              <a:spcAft>
                <a:spcPts val="0"/>
              </a:spcAft>
              <a:buClr>
                <a:schemeClr val="dk1"/>
              </a:buClr>
              <a:buSzPts val="1800"/>
              <a:buFont typeface="Kalam"/>
              <a:buChar char="●"/>
            </a:pPr>
            <a:r>
              <a:rPr b="0" i="0" lang="en" sz="1800" u="none" cap="none" strike="noStrike">
                <a:solidFill>
                  <a:schemeClr val="dk1"/>
                </a:solidFill>
                <a:latin typeface="Kalam"/>
                <a:ea typeface="Kalam"/>
                <a:cs typeface="Kalam"/>
                <a:sym typeface="Kalam"/>
              </a:rPr>
              <a:t>Normally, I would “summarise” the class’s strengths and areas for development… but this was not possible. This is not a bad thing… </a:t>
            </a:r>
            <a:endParaRPr b="0" i="0" sz="1800" u="none" cap="none" strike="noStrike">
              <a:solidFill>
                <a:schemeClr val="dk1"/>
              </a:solidFill>
              <a:latin typeface="Kalam"/>
              <a:ea typeface="Kalam"/>
              <a:cs typeface="Kalam"/>
              <a:sym typeface="Kalam"/>
            </a:endParaRPr>
          </a:p>
          <a:p>
            <a:pPr indent="-342900" lvl="0" marL="457200" marR="0" rtl="0" algn="l">
              <a:lnSpc>
                <a:spcPct val="100000"/>
              </a:lnSpc>
              <a:spcBef>
                <a:spcPts val="0"/>
              </a:spcBef>
              <a:spcAft>
                <a:spcPts val="0"/>
              </a:spcAft>
              <a:buClr>
                <a:schemeClr val="dk1"/>
              </a:buClr>
              <a:buSzPts val="1800"/>
              <a:buFont typeface="Kalam"/>
              <a:buChar char="●"/>
            </a:pPr>
            <a:r>
              <a:rPr b="0" i="0" lang="en" sz="1800" u="none" cap="none" strike="noStrike">
                <a:solidFill>
                  <a:schemeClr val="dk1"/>
                </a:solidFill>
                <a:latin typeface="Kalam"/>
                <a:ea typeface="Kalam"/>
                <a:cs typeface="Kalam"/>
                <a:sym typeface="Kalam"/>
              </a:rPr>
              <a:t>… It does mean that you will need to </a:t>
            </a:r>
            <a:r>
              <a:rPr b="0" i="0" lang="en" sz="1800" u="none" cap="none" strike="noStrike">
                <a:solidFill>
                  <a:schemeClr val="dk1"/>
                </a:solidFill>
                <a:highlight>
                  <a:srgbClr val="FFFF00"/>
                </a:highlight>
                <a:latin typeface="Kalam"/>
                <a:ea typeface="Kalam"/>
                <a:cs typeface="Kalam"/>
                <a:sym typeface="Kalam"/>
              </a:rPr>
              <a:t>pay extra attention to your individual feedback. </a:t>
            </a:r>
            <a:endParaRPr b="0" i="0" sz="1800" u="none" cap="none" strike="noStrike">
              <a:solidFill>
                <a:schemeClr val="dk1"/>
              </a:solidFill>
              <a:highlight>
                <a:srgbClr val="FFFF00"/>
              </a:highlight>
              <a:latin typeface="Kalam"/>
              <a:ea typeface="Kalam"/>
              <a:cs typeface="Kalam"/>
              <a:sym typeface="Kalam"/>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Kalam"/>
              <a:ea typeface="Kalam"/>
              <a:cs typeface="Kalam"/>
              <a:sym typeface="Kalam"/>
            </a:endParaRPr>
          </a:p>
          <a:p>
            <a:pPr indent="-342900" lvl="0" marL="457200" marR="0" rtl="0" algn="l">
              <a:lnSpc>
                <a:spcPct val="100000"/>
              </a:lnSpc>
              <a:spcBef>
                <a:spcPts val="0"/>
              </a:spcBef>
              <a:spcAft>
                <a:spcPts val="0"/>
              </a:spcAft>
              <a:buClr>
                <a:schemeClr val="dk1"/>
              </a:buClr>
              <a:buSzPts val="1800"/>
              <a:buFont typeface="Kalam"/>
              <a:buChar char="●"/>
            </a:pPr>
            <a:r>
              <a:rPr b="0" i="0" lang="en" sz="1800" u="none" cap="none" strike="noStrike">
                <a:solidFill>
                  <a:schemeClr val="dk1"/>
                </a:solidFill>
                <a:latin typeface="Kalam"/>
                <a:ea typeface="Kalam"/>
                <a:cs typeface="Kalam"/>
                <a:sym typeface="Kalam"/>
              </a:rPr>
              <a:t>Observations: </a:t>
            </a:r>
            <a:endParaRPr b="0" i="0" sz="1800" u="none" cap="none" strike="noStrike">
              <a:solidFill>
                <a:schemeClr val="dk1"/>
              </a:solidFill>
              <a:latin typeface="Kalam"/>
              <a:ea typeface="Kalam"/>
              <a:cs typeface="Kalam"/>
              <a:sym typeface="Kalam"/>
            </a:endParaRPr>
          </a:p>
          <a:p>
            <a:pPr indent="-342900" lvl="0" marL="457200" marR="0" rtl="0" algn="l">
              <a:lnSpc>
                <a:spcPct val="100000"/>
              </a:lnSpc>
              <a:spcBef>
                <a:spcPts val="0"/>
              </a:spcBef>
              <a:spcAft>
                <a:spcPts val="0"/>
              </a:spcAft>
              <a:buClr>
                <a:schemeClr val="dk1"/>
              </a:buClr>
              <a:buSzPts val="1800"/>
              <a:buFont typeface="Kalam"/>
              <a:buChar char="-"/>
            </a:pPr>
            <a:r>
              <a:rPr b="0" i="0" lang="en" sz="1800" u="none" cap="none" strike="noStrike">
                <a:solidFill>
                  <a:schemeClr val="dk1"/>
                </a:solidFill>
                <a:latin typeface="Kalam"/>
                <a:ea typeface="Kalam"/>
                <a:cs typeface="Kalam"/>
                <a:sym typeface="Kalam"/>
              </a:rPr>
              <a:t>Sometimes, opinions were justified well, but used no evidence from the text. </a:t>
            </a:r>
            <a:endParaRPr b="0" i="0" sz="1800" u="none" cap="none" strike="noStrike">
              <a:solidFill>
                <a:schemeClr val="dk1"/>
              </a:solidFill>
              <a:latin typeface="Kalam"/>
              <a:ea typeface="Kalam"/>
              <a:cs typeface="Kalam"/>
              <a:sym typeface="Kalam"/>
            </a:endParaRPr>
          </a:p>
          <a:p>
            <a:pPr indent="-342900" lvl="0" marL="457200" marR="0" rtl="0" algn="l">
              <a:lnSpc>
                <a:spcPct val="100000"/>
              </a:lnSpc>
              <a:spcBef>
                <a:spcPts val="0"/>
              </a:spcBef>
              <a:spcAft>
                <a:spcPts val="0"/>
              </a:spcAft>
              <a:buClr>
                <a:schemeClr val="dk1"/>
              </a:buClr>
              <a:buSzPts val="1800"/>
              <a:buFont typeface="Kalam"/>
              <a:buChar char="-"/>
            </a:pPr>
            <a:r>
              <a:rPr b="0" i="0" lang="en" sz="1800" u="none" cap="none" strike="noStrike">
                <a:solidFill>
                  <a:schemeClr val="dk1"/>
                </a:solidFill>
                <a:latin typeface="Kalam"/>
                <a:ea typeface="Kalam"/>
                <a:cs typeface="Kalam"/>
                <a:sym typeface="Kalam"/>
              </a:rPr>
              <a:t>Sometimes, evidence was used, but techniques were not pointed out. </a:t>
            </a:r>
            <a:endParaRPr b="0" i="0" sz="1800" u="none" cap="none" strike="noStrike">
              <a:solidFill>
                <a:schemeClr val="dk1"/>
              </a:solidFill>
              <a:latin typeface="Kalam"/>
              <a:ea typeface="Kalam"/>
              <a:cs typeface="Kalam"/>
              <a:sym typeface="Kalam"/>
            </a:endParaRPr>
          </a:p>
          <a:p>
            <a:pPr indent="-342900" lvl="0" marL="457200" marR="0" rtl="0" algn="l">
              <a:lnSpc>
                <a:spcPct val="100000"/>
              </a:lnSpc>
              <a:spcBef>
                <a:spcPts val="0"/>
              </a:spcBef>
              <a:spcAft>
                <a:spcPts val="0"/>
              </a:spcAft>
              <a:buClr>
                <a:schemeClr val="dk1"/>
              </a:buClr>
              <a:buSzPts val="1800"/>
              <a:buFont typeface="Kalam"/>
              <a:buChar char="-"/>
            </a:pPr>
            <a:r>
              <a:rPr b="0" i="0" lang="en" sz="1800" u="none" cap="none" strike="noStrike">
                <a:solidFill>
                  <a:schemeClr val="dk1"/>
                </a:solidFill>
                <a:latin typeface="Kalam"/>
                <a:ea typeface="Kalam"/>
                <a:cs typeface="Kalam"/>
                <a:sym typeface="Kalam"/>
              </a:rPr>
              <a:t>Sometimes, evidence was used, but not in relation to the overall question. </a:t>
            </a:r>
            <a:endParaRPr b="0" i="0" sz="1800" u="none" cap="none" strike="noStrike">
              <a:solidFill>
                <a:schemeClr val="dk1"/>
              </a:solidFill>
              <a:latin typeface="Kalam"/>
              <a:ea typeface="Kalam"/>
              <a:cs typeface="Kalam"/>
              <a:sym typeface="Kalam"/>
            </a:endParaRPr>
          </a:p>
          <a:p>
            <a:pPr indent="-342900" lvl="0" marL="457200" marR="0" rtl="0" algn="l">
              <a:lnSpc>
                <a:spcPct val="100000"/>
              </a:lnSpc>
              <a:spcBef>
                <a:spcPts val="0"/>
              </a:spcBef>
              <a:spcAft>
                <a:spcPts val="0"/>
              </a:spcAft>
              <a:buClr>
                <a:schemeClr val="dk1"/>
              </a:buClr>
              <a:buSzPts val="1800"/>
              <a:buFont typeface="Kalam"/>
              <a:buChar char="-"/>
            </a:pPr>
            <a:r>
              <a:rPr b="0" i="0" lang="en" sz="1800" u="none" cap="none" strike="noStrike">
                <a:solidFill>
                  <a:schemeClr val="dk1"/>
                </a:solidFill>
                <a:latin typeface="Kalam"/>
                <a:ea typeface="Kalam"/>
                <a:cs typeface="Kalam"/>
                <a:sym typeface="Kalam"/>
              </a:rPr>
              <a:t>Everyone completed the task on time, however. Well done. </a:t>
            </a:r>
            <a:endParaRPr b="0" i="0" sz="1800" u="none" cap="none" strike="noStrike">
              <a:solidFill>
                <a:schemeClr val="dk1"/>
              </a:solidFill>
              <a:latin typeface="Kalam"/>
              <a:ea typeface="Kalam"/>
              <a:cs typeface="Kalam"/>
              <a:sym typeface="Kalam"/>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Kalam"/>
              <a:ea typeface="Kalam"/>
              <a:cs typeface="Kalam"/>
              <a:sym typeface="Kalam"/>
            </a:endParaRPr>
          </a:p>
          <a:p>
            <a:pPr indent="-342900" lvl="0" marL="457200" marR="0" rtl="0" algn="l">
              <a:lnSpc>
                <a:spcPct val="100000"/>
              </a:lnSpc>
              <a:spcBef>
                <a:spcPts val="0"/>
              </a:spcBef>
              <a:spcAft>
                <a:spcPts val="0"/>
              </a:spcAft>
              <a:buClr>
                <a:schemeClr val="dk1"/>
              </a:buClr>
              <a:buSzPts val="1800"/>
              <a:buFont typeface="Kalam"/>
              <a:buChar char="●"/>
            </a:pPr>
            <a:r>
              <a:rPr b="0" i="0" lang="en" sz="1800" u="none" cap="none" strike="noStrike">
                <a:solidFill>
                  <a:schemeClr val="dk1"/>
                </a:solidFill>
                <a:latin typeface="Kalam"/>
                <a:ea typeface="Kalam"/>
                <a:cs typeface="Kalam"/>
                <a:sym typeface="Kalam"/>
              </a:rPr>
              <a:t>In other words, strengths and weaknesses were “all over the place.” Very few students addressed every AO (assessment objective).  </a:t>
            </a:r>
            <a:endParaRPr b="0" i="0" sz="1800" u="none" cap="none" strike="noStrike">
              <a:solidFill>
                <a:schemeClr val="dk1"/>
              </a:solidFill>
              <a:latin typeface="Kalam"/>
              <a:ea typeface="Kalam"/>
              <a:cs typeface="Kalam"/>
              <a:sym typeface="Kalam"/>
            </a:endParaRPr>
          </a:p>
          <a:p>
            <a:pPr indent="-342900" lvl="0" marL="457200" marR="0" rtl="0" algn="l">
              <a:lnSpc>
                <a:spcPct val="100000"/>
              </a:lnSpc>
              <a:spcBef>
                <a:spcPts val="0"/>
              </a:spcBef>
              <a:spcAft>
                <a:spcPts val="0"/>
              </a:spcAft>
              <a:buClr>
                <a:schemeClr val="dk1"/>
              </a:buClr>
              <a:buSzPts val="1800"/>
              <a:buFont typeface="Kalam"/>
              <a:buChar char="●"/>
            </a:pPr>
            <a:r>
              <a:rPr b="0" i="0" lang="en" sz="1800" u="none" cap="none" strike="noStrike">
                <a:solidFill>
                  <a:schemeClr val="dk1"/>
                </a:solidFill>
                <a:latin typeface="Kalam"/>
                <a:ea typeface="Kalam"/>
                <a:cs typeface="Kalam"/>
                <a:sym typeface="Kalam"/>
              </a:rPr>
              <a:t>As a group, you need to make sure your work is “the whole package.” </a:t>
            </a:r>
            <a:endParaRPr b="0" i="0" sz="1800" u="none" cap="none" strike="noStrike">
              <a:solidFill>
                <a:schemeClr val="dk1"/>
              </a:solidFill>
              <a:latin typeface="Kalam"/>
              <a:ea typeface="Kalam"/>
              <a:cs typeface="Kalam"/>
              <a:sym typeface="Kala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599"/>
        </a:solidFill>
      </p:bgPr>
    </p:bg>
    <p:spTree>
      <p:nvGrpSpPr>
        <p:cNvPr id="101" name="Shape 101"/>
        <p:cNvGrpSpPr/>
        <p:nvPr/>
      </p:nvGrpSpPr>
      <p:grpSpPr>
        <a:xfrm>
          <a:off x="0" y="0"/>
          <a:ext cx="0" cy="0"/>
          <a:chOff x="0" y="0"/>
          <a:chExt cx="0" cy="0"/>
        </a:xfrm>
      </p:grpSpPr>
      <p:sp>
        <p:nvSpPr>
          <p:cNvPr id="102" name="Google Shape;102;h3d3baae4a9ea6c1d_0_5"/>
          <p:cNvSpPr/>
          <p:nvPr/>
        </p:nvSpPr>
        <p:spPr>
          <a:xfrm>
            <a:off x="0" y="154175"/>
            <a:ext cx="2712000" cy="469500"/>
          </a:xfrm>
          <a:prstGeom prst="rect">
            <a:avLst/>
          </a:prstGeom>
          <a:solidFill>
            <a:srgbClr val="073763"/>
          </a:solidFill>
          <a:ln cap="flat" cmpd="sng" w="19050">
            <a:solidFill>
              <a:srgbClr val="FFFFFF"/>
            </a:solidFill>
            <a:prstDash val="solid"/>
            <a:miter lim="8000"/>
            <a:headEnd len="sm" w="sm" type="none"/>
            <a:tailEnd len="sm" w="sm" type="none"/>
          </a:ln>
          <a:effectLst>
            <a:outerShdw blurRad="25400" rotWithShape="0" algn="tl" dir="2700000" dist="19050">
              <a:srgbClr val="000000">
                <a:alpha val="6941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4400"/>
              <a:buFont typeface="Calibri"/>
              <a:buNone/>
            </a:pPr>
            <a:r>
              <a:rPr b="0" i="0" lang="en" sz="1900" u="none" cap="none" strike="noStrike">
                <a:solidFill>
                  <a:srgbClr val="FFFFFF"/>
                </a:solidFill>
                <a:latin typeface="Calibri"/>
                <a:ea typeface="Calibri"/>
                <a:cs typeface="Calibri"/>
                <a:sym typeface="Calibri"/>
              </a:rPr>
              <a:t>Mr. Glanz’s Feedback</a:t>
            </a:r>
            <a:endParaRPr b="0" i="0" sz="19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2800"/>
              <a:buFont typeface="Calibri"/>
              <a:buNone/>
            </a:pPr>
            <a:r>
              <a:t/>
            </a:r>
            <a:endParaRPr b="0" i="0" sz="300" u="none" cap="none" strike="noStrike">
              <a:solidFill>
                <a:srgbClr val="000000"/>
              </a:solidFill>
              <a:latin typeface="Kalam Light"/>
              <a:ea typeface="Kalam Light"/>
              <a:cs typeface="Kalam Light"/>
              <a:sym typeface="Kalam Light"/>
            </a:endParaRPr>
          </a:p>
        </p:txBody>
      </p:sp>
      <p:sp>
        <p:nvSpPr>
          <p:cNvPr id="103" name="Google Shape;103;h3d3baae4a9ea6c1d_0_5"/>
          <p:cNvSpPr txBox="1"/>
          <p:nvPr/>
        </p:nvSpPr>
        <p:spPr>
          <a:xfrm>
            <a:off x="174825" y="887675"/>
            <a:ext cx="4143300" cy="17547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38761D"/>
                </a:solidFill>
              </a:rPr>
              <a:t>Strengths: </a:t>
            </a:r>
            <a:endParaRPr b="1" sz="1700">
              <a:solidFill>
                <a:srgbClr val="38761D"/>
              </a:solidFill>
            </a:endParaRPr>
          </a:p>
          <a:p>
            <a:pPr indent="-336550" lvl="0" marL="457200" rtl="0" algn="l">
              <a:spcBef>
                <a:spcPts val="0"/>
              </a:spcBef>
              <a:spcAft>
                <a:spcPts val="0"/>
              </a:spcAft>
              <a:buClr>
                <a:schemeClr val="dk1"/>
              </a:buClr>
              <a:buSzPts val="1700"/>
              <a:buChar char="●"/>
            </a:pPr>
            <a:r>
              <a:rPr lang="en" sz="1700">
                <a:solidFill>
                  <a:schemeClr val="dk1"/>
                </a:solidFill>
              </a:rPr>
              <a:t>Task was </a:t>
            </a:r>
            <a:r>
              <a:rPr lang="en" sz="1700">
                <a:solidFill>
                  <a:schemeClr val="dk1"/>
                </a:solidFill>
              </a:rPr>
              <a:t>generally</a:t>
            </a:r>
            <a:r>
              <a:rPr lang="en" sz="1700">
                <a:solidFill>
                  <a:schemeClr val="dk1"/>
                </a:solidFill>
              </a:rPr>
              <a:t> </a:t>
            </a:r>
            <a:r>
              <a:rPr lang="en" sz="1700">
                <a:solidFill>
                  <a:schemeClr val="dk1"/>
                </a:solidFill>
              </a:rPr>
              <a:t>understood</a:t>
            </a:r>
            <a:r>
              <a:rPr lang="en" sz="1700">
                <a:solidFill>
                  <a:schemeClr val="dk1"/>
                </a:solidFill>
              </a:rPr>
              <a:t> well </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Range of evidence cited</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Some techniques correctly identified</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A few students with some very good insights.</a:t>
            </a:r>
            <a:endParaRPr sz="1700">
              <a:solidFill>
                <a:schemeClr val="dk1"/>
              </a:solidFill>
            </a:endParaRPr>
          </a:p>
        </p:txBody>
      </p:sp>
      <p:sp>
        <p:nvSpPr>
          <p:cNvPr id="104" name="Google Shape;104;h3d3baae4a9ea6c1d_0_5"/>
          <p:cNvSpPr txBox="1"/>
          <p:nvPr/>
        </p:nvSpPr>
        <p:spPr>
          <a:xfrm>
            <a:off x="4572000" y="887675"/>
            <a:ext cx="4316100" cy="30630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FF0000"/>
                </a:solidFill>
              </a:rPr>
              <a:t>Areas for development: </a:t>
            </a:r>
            <a:endParaRPr b="1" sz="1700">
              <a:solidFill>
                <a:srgbClr val="FF0000"/>
              </a:solidFill>
            </a:endParaRPr>
          </a:p>
          <a:p>
            <a:pPr indent="-336550" lvl="0" marL="457200" rtl="0" algn="l">
              <a:spcBef>
                <a:spcPts val="0"/>
              </a:spcBef>
              <a:spcAft>
                <a:spcPts val="0"/>
              </a:spcAft>
              <a:buClr>
                <a:schemeClr val="dk1"/>
              </a:buClr>
              <a:buSzPts val="1700"/>
              <a:buChar char="●"/>
            </a:pPr>
            <a:r>
              <a:rPr b="1" i="1" lang="en" sz="1700">
                <a:solidFill>
                  <a:schemeClr val="dk1"/>
                </a:solidFill>
              </a:rPr>
              <a:t>A lot </a:t>
            </a:r>
            <a:r>
              <a:rPr lang="en" sz="1700">
                <a:solidFill>
                  <a:schemeClr val="dk1"/>
                </a:solidFill>
              </a:rPr>
              <a:t>of vague phrasing, e.g. “this makes opening C effective,” or “this makes the reader curious and want to read on.”</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Not always “the best” evidence chosen for points. </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Points chosen not always connected to </a:t>
            </a:r>
            <a:r>
              <a:rPr i="1" lang="en" sz="1700">
                <a:solidFill>
                  <a:schemeClr val="dk1"/>
                </a:solidFill>
              </a:rPr>
              <a:t>why </a:t>
            </a:r>
            <a:r>
              <a:rPr lang="en" sz="1700">
                <a:solidFill>
                  <a:schemeClr val="dk1"/>
                </a:solidFill>
              </a:rPr>
              <a:t>they are </a:t>
            </a:r>
            <a:r>
              <a:rPr lang="en" sz="1700">
                <a:solidFill>
                  <a:schemeClr val="dk1"/>
                </a:solidFill>
              </a:rPr>
              <a:t>examples of something that is </a:t>
            </a:r>
            <a:r>
              <a:rPr i="1" lang="en" sz="1700">
                <a:solidFill>
                  <a:schemeClr val="dk1"/>
                </a:solidFill>
              </a:rPr>
              <a:t>enjoyable</a:t>
            </a:r>
            <a:r>
              <a:rPr lang="en" sz="1700">
                <a:solidFill>
                  <a:schemeClr val="dk1"/>
                </a:solidFill>
              </a:rPr>
              <a:t>. </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Paragraph structure!!</a:t>
            </a:r>
            <a:endParaRPr sz="17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599"/>
        </a:solidFill>
      </p:bgPr>
    </p:bg>
    <p:spTree>
      <p:nvGrpSpPr>
        <p:cNvPr id="108" name="Shape 108"/>
        <p:cNvGrpSpPr/>
        <p:nvPr/>
      </p:nvGrpSpPr>
      <p:grpSpPr>
        <a:xfrm>
          <a:off x="0" y="0"/>
          <a:ext cx="0" cy="0"/>
          <a:chOff x="0" y="0"/>
          <a:chExt cx="0" cy="0"/>
        </a:xfrm>
      </p:grpSpPr>
      <p:sp>
        <p:nvSpPr>
          <p:cNvPr id="109" name="Google Shape;109;h3d3baae4a9ea6c1d_0_0"/>
          <p:cNvSpPr/>
          <p:nvPr/>
        </p:nvSpPr>
        <p:spPr>
          <a:xfrm>
            <a:off x="0" y="154175"/>
            <a:ext cx="2712000" cy="469500"/>
          </a:xfrm>
          <a:prstGeom prst="rect">
            <a:avLst/>
          </a:prstGeom>
          <a:solidFill>
            <a:srgbClr val="073763"/>
          </a:solidFill>
          <a:ln cap="flat" cmpd="sng" w="19050">
            <a:solidFill>
              <a:srgbClr val="FFFFFF"/>
            </a:solidFill>
            <a:prstDash val="solid"/>
            <a:miter lim="8000"/>
            <a:headEnd len="sm" w="sm" type="none"/>
            <a:tailEnd len="sm" w="sm" type="none"/>
          </a:ln>
          <a:effectLst>
            <a:outerShdw blurRad="25400" rotWithShape="0" algn="tl" dir="2700000" dist="19050">
              <a:srgbClr val="000000">
                <a:alpha val="6941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4400"/>
              <a:buFont typeface="Calibri"/>
              <a:buNone/>
            </a:pPr>
            <a:r>
              <a:rPr b="0" i="0" lang="en" sz="1900" u="none" cap="none" strike="noStrike">
                <a:solidFill>
                  <a:srgbClr val="FFFFFF"/>
                </a:solidFill>
                <a:latin typeface="Calibri"/>
                <a:ea typeface="Calibri"/>
                <a:cs typeface="Calibri"/>
                <a:sym typeface="Calibri"/>
              </a:rPr>
              <a:t>Mr. Glanz’s Feedback</a:t>
            </a:r>
            <a:endParaRPr b="0" i="0" sz="19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2800"/>
              <a:buFont typeface="Calibri"/>
              <a:buNone/>
            </a:pPr>
            <a:r>
              <a:t/>
            </a:r>
            <a:endParaRPr b="0" i="0" sz="300" u="none" cap="none" strike="noStrike">
              <a:solidFill>
                <a:srgbClr val="000000"/>
              </a:solidFill>
              <a:latin typeface="Kalam Light"/>
              <a:ea typeface="Kalam Light"/>
              <a:cs typeface="Kalam Light"/>
              <a:sym typeface="Kalam Light"/>
            </a:endParaRPr>
          </a:p>
        </p:txBody>
      </p:sp>
      <p:sp>
        <p:nvSpPr>
          <p:cNvPr id="110" name="Google Shape;110;h3d3baae4a9ea6c1d_0_0"/>
          <p:cNvSpPr txBox="1"/>
          <p:nvPr/>
        </p:nvSpPr>
        <p:spPr>
          <a:xfrm>
            <a:off x="108025" y="764475"/>
            <a:ext cx="8816400" cy="40635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 sz="1800">
                <a:solidFill>
                  <a:schemeClr val="dk1"/>
                </a:solidFill>
                <a:latin typeface="Kalam"/>
                <a:ea typeface="Kalam"/>
                <a:cs typeface="Kalam"/>
                <a:sym typeface="Kalam"/>
              </a:rPr>
              <a:t>An observation:</a:t>
            </a:r>
            <a:endParaRPr b="1" sz="1800">
              <a:solidFill>
                <a:schemeClr val="dk1"/>
              </a:solidFill>
              <a:latin typeface="Kalam"/>
              <a:ea typeface="Kalam"/>
              <a:cs typeface="Kalam"/>
              <a:sym typeface="Kalam"/>
            </a:endParaRPr>
          </a:p>
          <a:p>
            <a:pPr indent="0" lvl="0" marL="0" marR="0" rtl="0" algn="l">
              <a:lnSpc>
                <a:spcPct val="100000"/>
              </a:lnSpc>
              <a:spcBef>
                <a:spcPts val="0"/>
              </a:spcBef>
              <a:spcAft>
                <a:spcPts val="0"/>
              </a:spcAft>
              <a:buNone/>
            </a:pPr>
            <a:r>
              <a:t/>
            </a:r>
            <a:endParaRPr sz="1800">
              <a:solidFill>
                <a:schemeClr val="dk1"/>
              </a:solidFill>
              <a:latin typeface="Kalam"/>
              <a:ea typeface="Kalam"/>
              <a:cs typeface="Kalam"/>
              <a:sym typeface="Kalam"/>
            </a:endParaRPr>
          </a:p>
          <a:p>
            <a:pPr indent="0" lvl="0" marL="0" marR="0" rtl="0" algn="l">
              <a:lnSpc>
                <a:spcPct val="100000"/>
              </a:lnSpc>
              <a:spcBef>
                <a:spcPts val="0"/>
              </a:spcBef>
              <a:spcAft>
                <a:spcPts val="0"/>
              </a:spcAft>
              <a:buNone/>
            </a:pPr>
            <a:r>
              <a:rPr lang="en" sz="1800">
                <a:solidFill>
                  <a:schemeClr val="dk1"/>
                </a:solidFill>
                <a:latin typeface="Kalam"/>
                <a:ea typeface="Kalam"/>
                <a:cs typeface="Kalam"/>
                <a:sym typeface="Kalam"/>
              </a:rPr>
              <a:t>Something a little worrying that stuck out was that very few of you seemed to actually engage with the texts, the characters, what they were experiencing, and what was actually going on. </a:t>
            </a:r>
            <a:endParaRPr sz="1800">
              <a:solidFill>
                <a:schemeClr val="dk1"/>
              </a:solidFill>
              <a:latin typeface="Kalam"/>
              <a:ea typeface="Kalam"/>
              <a:cs typeface="Kalam"/>
              <a:sym typeface="Kalam"/>
            </a:endParaRPr>
          </a:p>
          <a:p>
            <a:pPr indent="0" lvl="0" marL="0" marR="0" rtl="0" algn="l">
              <a:lnSpc>
                <a:spcPct val="100000"/>
              </a:lnSpc>
              <a:spcBef>
                <a:spcPts val="0"/>
              </a:spcBef>
              <a:spcAft>
                <a:spcPts val="0"/>
              </a:spcAft>
              <a:buNone/>
            </a:pPr>
            <a:r>
              <a:t/>
            </a:r>
            <a:endParaRPr sz="1800">
              <a:solidFill>
                <a:schemeClr val="dk1"/>
              </a:solidFill>
              <a:latin typeface="Kalam"/>
              <a:ea typeface="Kalam"/>
              <a:cs typeface="Kalam"/>
              <a:sym typeface="Kalam"/>
            </a:endParaRPr>
          </a:p>
          <a:p>
            <a:pPr indent="0" lvl="0" marL="0" marR="0" rtl="0" algn="l">
              <a:lnSpc>
                <a:spcPct val="100000"/>
              </a:lnSpc>
              <a:spcBef>
                <a:spcPts val="0"/>
              </a:spcBef>
              <a:spcAft>
                <a:spcPts val="0"/>
              </a:spcAft>
              <a:buNone/>
            </a:pPr>
            <a:r>
              <a:rPr lang="en" sz="1800">
                <a:solidFill>
                  <a:schemeClr val="dk1"/>
                </a:solidFill>
                <a:latin typeface="Kalam"/>
                <a:ea typeface="Kalam"/>
                <a:cs typeface="Kalam"/>
                <a:sym typeface="Kalam"/>
              </a:rPr>
              <a:t>I feel that there was very little ‘feeling’ in your writing, </a:t>
            </a:r>
            <a:r>
              <a:rPr lang="en" sz="1800">
                <a:solidFill>
                  <a:schemeClr val="dk1"/>
                </a:solidFill>
                <a:latin typeface="Kalam"/>
                <a:ea typeface="Kalam"/>
                <a:cs typeface="Kalam"/>
                <a:sym typeface="Kalam"/>
              </a:rPr>
              <a:t>because</a:t>
            </a:r>
            <a:r>
              <a:rPr lang="en" sz="1800">
                <a:solidFill>
                  <a:schemeClr val="dk1"/>
                </a:solidFill>
                <a:latin typeface="Kalam"/>
                <a:ea typeface="Kalam"/>
                <a:cs typeface="Kalam"/>
                <a:sym typeface="Kalam"/>
              </a:rPr>
              <a:t> perhaps not many of you genuinely felt that </a:t>
            </a:r>
            <a:r>
              <a:rPr b="1" lang="en" sz="1800">
                <a:solidFill>
                  <a:schemeClr val="dk1"/>
                </a:solidFill>
                <a:latin typeface="Kalam"/>
                <a:ea typeface="Kalam"/>
                <a:cs typeface="Kalam"/>
                <a:sym typeface="Kalam"/>
              </a:rPr>
              <a:t>any</a:t>
            </a:r>
            <a:r>
              <a:rPr lang="en" sz="1800">
                <a:solidFill>
                  <a:schemeClr val="dk1"/>
                </a:solidFill>
                <a:latin typeface="Kalam"/>
                <a:ea typeface="Kalam"/>
                <a:cs typeface="Kalam"/>
                <a:sym typeface="Kalam"/>
              </a:rPr>
              <a:t> of the openings were interesting or engaging. </a:t>
            </a:r>
            <a:endParaRPr sz="1800">
              <a:solidFill>
                <a:schemeClr val="dk1"/>
              </a:solidFill>
              <a:latin typeface="Kalam"/>
              <a:ea typeface="Kalam"/>
              <a:cs typeface="Kalam"/>
              <a:sym typeface="Kalam"/>
            </a:endParaRPr>
          </a:p>
          <a:p>
            <a:pPr indent="0" lvl="0" marL="0" marR="0" rtl="0" algn="l">
              <a:lnSpc>
                <a:spcPct val="100000"/>
              </a:lnSpc>
              <a:spcBef>
                <a:spcPts val="0"/>
              </a:spcBef>
              <a:spcAft>
                <a:spcPts val="0"/>
              </a:spcAft>
              <a:buNone/>
            </a:pPr>
            <a:r>
              <a:t/>
            </a:r>
            <a:endParaRPr sz="1800">
              <a:solidFill>
                <a:schemeClr val="dk1"/>
              </a:solidFill>
              <a:latin typeface="Kalam"/>
              <a:ea typeface="Kalam"/>
              <a:cs typeface="Kalam"/>
              <a:sym typeface="Kalam"/>
            </a:endParaRPr>
          </a:p>
          <a:p>
            <a:pPr indent="0" lvl="0" marL="0" marR="0" rtl="0" algn="l">
              <a:lnSpc>
                <a:spcPct val="100000"/>
              </a:lnSpc>
              <a:spcBef>
                <a:spcPts val="0"/>
              </a:spcBef>
              <a:spcAft>
                <a:spcPts val="0"/>
              </a:spcAft>
              <a:buNone/>
            </a:pPr>
            <a:r>
              <a:rPr lang="en" sz="1800">
                <a:solidFill>
                  <a:schemeClr val="dk1"/>
                </a:solidFill>
                <a:latin typeface="Kalam"/>
                <a:ea typeface="Kalam"/>
                <a:cs typeface="Kalam"/>
                <a:sym typeface="Kalam"/>
              </a:rPr>
              <a:t>If this is the case, consider why </a:t>
            </a:r>
            <a:r>
              <a:rPr b="1" lang="en" sz="1800">
                <a:solidFill>
                  <a:schemeClr val="dk1"/>
                </a:solidFill>
                <a:latin typeface="Kalam"/>
                <a:ea typeface="Kalam"/>
                <a:cs typeface="Kalam"/>
                <a:sym typeface="Kalam"/>
              </a:rPr>
              <a:t>someone</a:t>
            </a:r>
            <a:r>
              <a:rPr lang="en" sz="1800">
                <a:solidFill>
                  <a:schemeClr val="dk1"/>
                </a:solidFill>
                <a:latin typeface="Kalam"/>
                <a:ea typeface="Kalam"/>
                <a:cs typeface="Kalam"/>
                <a:sym typeface="Kalam"/>
              </a:rPr>
              <a:t> </a:t>
            </a:r>
            <a:r>
              <a:rPr b="1" lang="en" sz="1800">
                <a:solidFill>
                  <a:schemeClr val="dk1"/>
                </a:solidFill>
                <a:latin typeface="Kalam"/>
                <a:ea typeface="Kalam"/>
                <a:cs typeface="Kalam"/>
                <a:sym typeface="Kalam"/>
              </a:rPr>
              <a:t>else </a:t>
            </a:r>
            <a:r>
              <a:rPr lang="en" sz="1800">
                <a:solidFill>
                  <a:schemeClr val="dk1"/>
                </a:solidFill>
                <a:latin typeface="Kalam"/>
                <a:ea typeface="Kalam"/>
                <a:cs typeface="Kalam"/>
                <a:sym typeface="Kalam"/>
              </a:rPr>
              <a:t>might react to the text and what is happening in it.   </a:t>
            </a:r>
            <a:endParaRPr sz="1800">
              <a:solidFill>
                <a:schemeClr val="dk1"/>
              </a:solidFill>
              <a:latin typeface="Kalam"/>
              <a:ea typeface="Kalam"/>
              <a:cs typeface="Kalam"/>
              <a:sym typeface="Kalam"/>
            </a:endParaRPr>
          </a:p>
          <a:p>
            <a:pPr indent="0" lvl="0" marL="0" marR="0" rtl="0" algn="l">
              <a:lnSpc>
                <a:spcPct val="100000"/>
              </a:lnSpc>
              <a:spcBef>
                <a:spcPts val="0"/>
              </a:spcBef>
              <a:spcAft>
                <a:spcPts val="0"/>
              </a:spcAft>
              <a:buNone/>
            </a:pPr>
            <a:r>
              <a:t/>
            </a:r>
            <a:endParaRPr sz="1800">
              <a:solidFill>
                <a:schemeClr val="dk1"/>
              </a:solidFill>
              <a:latin typeface="Kalam"/>
              <a:ea typeface="Kalam"/>
              <a:cs typeface="Kalam"/>
              <a:sym typeface="Kalam"/>
            </a:endParaRPr>
          </a:p>
          <a:p>
            <a:pPr indent="0" lvl="0" marL="0" marR="0" rtl="0" algn="l">
              <a:lnSpc>
                <a:spcPct val="100000"/>
              </a:lnSpc>
              <a:spcBef>
                <a:spcPts val="0"/>
              </a:spcBef>
              <a:spcAft>
                <a:spcPts val="0"/>
              </a:spcAft>
              <a:buNone/>
            </a:pPr>
            <a:r>
              <a:rPr lang="en" sz="1800">
                <a:solidFill>
                  <a:schemeClr val="dk1"/>
                </a:solidFill>
                <a:latin typeface="Kalam"/>
                <a:ea typeface="Kalam"/>
                <a:cs typeface="Kalam"/>
                <a:sym typeface="Kalam"/>
              </a:rPr>
              <a:t>The only way to </a:t>
            </a:r>
            <a:r>
              <a:rPr lang="en" sz="1800">
                <a:solidFill>
                  <a:schemeClr val="dk1"/>
                </a:solidFill>
                <a:latin typeface="Kalam"/>
                <a:ea typeface="Kalam"/>
                <a:cs typeface="Kalam"/>
                <a:sym typeface="Kalam"/>
              </a:rPr>
              <a:t>improve</a:t>
            </a:r>
            <a:r>
              <a:rPr lang="en" sz="1800">
                <a:solidFill>
                  <a:schemeClr val="dk1"/>
                </a:solidFill>
                <a:latin typeface="Kalam"/>
                <a:ea typeface="Kalam"/>
                <a:cs typeface="Kalam"/>
                <a:sym typeface="Kalam"/>
              </a:rPr>
              <a:t> this ‘organically’ is to read more books, and learn to enjoy reading.</a:t>
            </a:r>
            <a:endParaRPr sz="1800">
              <a:solidFill>
                <a:schemeClr val="dk1"/>
              </a:solidFill>
              <a:latin typeface="Kalam"/>
              <a:ea typeface="Kalam"/>
              <a:cs typeface="Kalam"/>
              <a:sym typeface="Kala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599"/>
        </a:solidFill>
      </p:bgPr>
    </p:bg>
    <p:spTree>
      <p:nvGrpSpPr>
        <p:cNvPr id="114" name="Shape 114"/>
        <p:cNvGrpSpPr/>
        <p:nvPr/>
      </p:nvGrpSpPr>
      <p:grpSpPr>
        <a:xfrm>
          <a:off x="0" y="0"/>
          <a:ext cx="0" cy="0"/>
          <a:chOff x="0" y="0"/>
          <a:chExt cx="0" cy="0"/>
        </a:xfrm>
      </p:grpSpPr>
      <p:sp>
        <p:nvSpPr>
          <p:cNvPr id="115" name="Google Shape;115;p7"/>
          <p:cNvSpPr txBox="1"/>
          <p:nvPr/>
        </p:nvSpPr>
        <p:spPr>
          <a:xfrm>
            <a:off x="1917775" y="194425"/>
            <a:ext cx="5090400" cy="5541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chemeClr val="dk1"/>
                </a:solidFill>
                <a:latin typeface="Merriweather"/>
                <a:ea typeface="Merriweather"/>
                <a:cs typeface="Merriweather"/>
                <a:sym typeface="Merriweather"/>
              </a:rPr>
              <a:t>Response to feedback:</a:t>
            </a:r>
            <a:endParaRPr b="1" i="0" sz="2400" u="none" cap="none" strike="noStrike">
              <a:solidFill>
                <a:schemeClr val="dk1"/>
              </a:solidFill>
              <a:latin typeface="Merriweather"/>
              <a:ea typeface="Merriweather"/>
              <a:cs typeface="Merriweather"/>
              <a:sym typeface="Merriweather"/>
            </a:endParaRPr>
          </a:p>
        </p:txBody>
      </p:sp>
      <p:sp>
        <p:nvSpPr>
          <p:cNvPr id="116" name="Google Shape;116;p7"/>
          <p:cNvSpPr txBox="1"/>
          <p:nvPr/>
        </p:nvSpPr>
        <p:spPr>
          <a:xfrm>
            <a:off x="388825" y="866075"/>
            <a:ext cx="8148300" cy="37710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chemeClr val="dk1"/>
              </a:buClr>
              <a:buSzPts val="1400"/>
              <a:buFont typeface="Merriweather"/>
              <a:buChar char="●"/>
            </a:pPr>
            <a:r>
              <a:rPr b="0" i="0" lang="en" sz="1500" u="none" cap="none" strike="noStrike">
                <a:solidFill>
                  <a:schemeClr val="dk1"/>
                </a:solidFill>
                <a:latin typeface="Merriweather"/>
                <a:ea typeface="Merriweather"/>
                <a:cs typeface="Merriweather"/>
                <a:sym typeface="Merriweather"/>
              </a:rPr>
              <a:t>Using a green pen, go through my annotations, and respond to </a:t>
            </a:r>
            <a:r>
              <a:rPr b="0" i="1" lang="en" sz="1500" u="none" cap="none" strike="noStrike">
                <a:solidFill>
                  <a:schemeClr val="dk1"/>
                </a:solidFill>
                <a:latin typeface="Merriweather"/>
                <a:ea typeface="Merriweather"/>
                <a:cs typeface="Merriweather"/>
                <a:sym typeface="Merriweather"/>
              </a:rPr>
              <a:t>at least two</a:t>
            </a:r>
            <a:r>
              <a:rPr b="0" i="0" lang="en" sz="1500" u="none" cap="none" strike="noStrike">
                <a:solidFill>
                  <a:schemeClr val="dk1"/>
                </a:solidFill>
                <a:latin typeface="Merriweather"/>
                <a:ea typeface="Merriweather"/>
                <a:cs typeface="Merriweather"/>
                <a:sym typeface="Merriweather"/>
              </a:rPr>
              <a:t> (use sticky notes if space is hard to find). </a:t>
            </a:r>
            <a:endParaRPr b="0" i="0" sz="1500" u="none" cap="none" strike="noStrike">
              <a:solidFill>
                <a:schemeClr val="dk1"/>
              </a:solidFill>
              <a:latin typeface="Merriweather"/>
              <a:ea typeface="Merriweather"/>
              <a:cs typeface="Merriweather"/>
              <a:sym typeface="Merriweather"/>
            </a:endParaRPr>
          </a:p>
          <a:p>
            <a:pPr indent="-317500" lvl="0" marL="457200" marR="0" rtl="0" algn="l">
              <a:lnSpc>
                <a:spcPct val="100000"/>
              </a:lnSpc>
              <a:spcBef>
                <a:spcPts val="0"/>
              </a:spcBef>
              <a:spcAft>
                <a:spcPts val="0"/>
              </a:spcAft>
              <a:buClr>
                <a:schemeClr val="dk1"/>
              </a:buClr>
              <a:buSzPts val="1400"/>
              <a:buFont typeface="Merriweather"/>
              <a:buChar char="●"/>
            </a:pPr>
            <a:r>
              <a:rPr b="0" i="0" lang="en" sz="1500" u="none" cap="none" strike="noStrike">
                <a:solidFill>
                  <a:schemeClr val="dk1"/>
                </a:solidFill>
                <a:latin typeface="Merriweather"/>
                <a:ea typeface="Merriweather"/>
                <a:cs typeface="Merriweather"/>
                <a:sym typeface="Merriweather"/>
              </a:rPr>
              <a:t>Please do not just write “okay,” “thanks,” or “noted;” instead, choose from this possible “menu:” </a:t>
            </a:r>
            <a:endParaRPr b="0" i="0" sz="1500" u="none" cap="none" strike="noStrike">
              <a:solidFill>
                <a:schemeClr val="dk1"/>
              </a:solidFill>
              <a:latin typeface="Merriweather"/>
              <a:ea typeface="Merriweather"/>
              <a:cs typeface="Merriweather"/>
              <a:sym typeface="Merriweathe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8761D"/>
              </a:solidFill>
              <a:latin typeface="Kalam"/>
              <a:ea typeface="Kalam"/>
              <a:cs typeface="Kalam"/>
              <a:sym typeface="Kalam"/>
            </a:endParaRPr>
          </a:p>
          <a:p>
            <a:pPr indent="-323850" lvl="0" marL="457200" marR="0" rtl="0" algn="l">
              <a:lnSpc>
                <a:spcPct val="100000"/>
              </a:lnSpc>
              <a:spcBef>
                <a:spcPts val="0"/>
              </a:spcBef>
              <a:spcAft>
                <a:spcPts val="0"/>
              </a:spcAft>
              <a:buClr>
                <a:srgbClr val="38761D"/>
              </a:buClr>
              <a:buSzPts val="1500"/>
              <a:buFont typeface="Arial"/>
              <a:buChar char="-"/>
            </a:pPr>
            <a:r>
              <a:rPr b="1" i="0" lang="en" sz="1500" u="none" cap="none" strike="noStrike">
                <a:solidFill>
                  <a:srgbClr val="38761D"/>
                </a:solidFill>
                <a:latin typeface="Kalam"/>
                <a:ea typeface="Kalam"/>
                <a:cs typeface="Kalam"/>
                <a:sym typeface="Kalam"/>
              </a:rPr>
              <a:t>To improve this, I will…</a:t>
            </a:r>
            <a:r>
              <a:rPr b="0" i="0" lang="en" sz="1500" u="none" cap="none" strike="noStrike">
                <a:solidFill>
                  <a:srgbClr val="38761D"/>
                </a:solidFill>
                <a:latin typeface="Kalam"/>
                <a:ea typeface="Kalam"/>
                <a:cs typeface="Kalam"/>
                <a:sym typeface="Kalam"/>
              </a:rPr>
              <a:t> </a:t>
            </a:r>
            <a:endParaRPr b="0" i="0" sz="1500" u="none" cap="none" strike="noStrike">
              <a:solidFill>
                <a:srgbClr val="38761D"/>
              </a:solidFill>
              <a:latin typeface="Kalam"/>
              <a:ea typeface="Kalam"/>
              <a:cs typeface="Kalam"/>
              <a:sym typeface="Kalam"/>
            </a:endParaRPr>
          </a:p>
          <a:p>
            <a:pPr indent="-323850" lvl="0" marL="457200" marR="0" rtl="0" algn="l">
              <a:lnSpc>
                <a:spcPct val="100000"/>
              </a:lnSpc>
              <a:spcBef>
                <a:spcPts val="0"/>
              </a:spcBef>
              <a:spcAft>
                <a:spcPts val="0"/>
              </a:spcAft>
              <a:buClr>
                <a:srgbClr val="38761D"/>
              </a:buClr>
              <a:buSzPts val="1500"/>
              <a:buFont typeface="Kalam"/>
              <a:buChar char="-"/>
            </a:pPr>
            <a:r>
              <a:rPr b="1" i="0" lang="en" sz="1500" u="none" cap="none" strike="noStrike">
                <a:solidFill>
                  <a:srgbClr val="38761D"/>
                </a:solidFill>
                <a:latin typeface="Kalam"/>
                <a:ea typeface="Kalam"/>
                <a:cs typeface="Kalam"/>
                <a:sym typeface="Kalam"/>
              </a:rPr>
              <a:t>I now realise that…</a:t>
            </a:r>
            <a:endParaRPr b="0" i="0" sz="1500" u="none" cap="none" strike="noStrike">
              <a:solidFill>
                <a:srgbClr val="38761D"/>
              </a:solidFill>
              <a:latin typeface="Kalam"/>
              <a:ea typeface="Kalam"/>
              <a:cs typeface="Kalam"/>
              <a:sym typeface="Kalam"/>
            </a:endParaRPr>
          </a:p>
          <a:p>
            <a:pPr indent="-323850" lvl="0" marL="457200" marR="0" rtl="0" algn="l">
              <a:lnSpc>
                <a:spcPct val="100000"/>
              </a:lnSpc>
              <a:spcBef>
                <a:spcPts val="0"/>
              </a:spcBef>
              <a:spcAft>
                <a:spcPts val="0"/>
              </a:spcAft>
              <a:buClr>
                <a:srgbClr val="38761D"/>
              </a:buClr>
              <a:buSzPts val="1500"/>
              <a:buFont typeface="Kalam"/>
              <a:buChar char="-"/>
            </a:pPr>
            <a:r>
              <a:rPr b="1" i="0" lang="en" sz="1500" u="none" cap="none" strike="noStrike">
                <a:solidFill>
                  <a:srgbClr val="38761D"/>
                </a:solidFill>
                <a:latin typeface="Kalam"/>
                <a:ea typeface="Kalam"/>
                <a:cs typeface="Kalam"/>
                <a:sym typeface="Kalam"/>
              </a:rPr>
              <a:t>An example of this change would be…</a:t>
            </a:r>
            <a:endParaRPr b="0" i="0" sz="1500" u="none" cap="none" strike="noStrike">
              <a:solidFill>
                <a:srgbClr val="38761D"/>
              </a:solidFill>
              <a:latin typeface="Kalam"/>
              <a:ea typeface="Kalam"/>
              <a:cs typeface="Kalam"/>
              <a:sym typeface="Kalam"/>
            </a:endParaRPr>
          </a:p>
          <a:p>
            <a:pPr indent="-323850" lvl="0" marL="457200" marR="0" rtl="0" algn="l">
              <a:lnSpc>
                <a:spcPct val="100000"/>
              </a:lnSpc>
              <a:spcBef>
                <a:spcPts val="0"/>
              </a:spcBef>
              <a:spcAft>
                <a:spcPts val="0"/>
              </a:spcAft>
              <a:buClr>
                <a:srgbClr val="38761D"/>
              </a:buClr>
              <a:buSzPts val="1500"/>
              <a:buFont typeface="Arial"/>
              <a:buChar char="-"/>
            </a:pPr>
            <a:r>
              <a:rPr b="1" i="0" lang="en" sz="1500" u="none" cap="none" strike="noStrike">
                <a:solidFill>
                  <a:srgbClr val="38761D"/>
                </a:solidFill>
                <a:latin typeface="Kalam"/>
                <a:ea typeface="Kalam"/>
                <a:cs typeface="Kalam"/>
                <a:sym typeface="Kalam"/>
              </a:rPr>
              <a:t>I disagree because…</a:t>
            </a:r>
            <a:r>
              <a:rPr b="0" i="0" lang="en" sz="1500" u="none" cap="none" strike="noStrike">
                <a:solidFill>
                  <a:srgbClr val="38761D"/>
                </a:solidFill>
                <a:latin typeface="Kalam"/>
                <a:ea typeface="Kalam"/>
                <a:cs typeface="Kalam"/>
                <a:sym typeface="Kalam"/>
              </a:rPr>
              <a:t> </a:t>
            </a:r>
            <a:endParaRPr b="0" i="0" sz="1500" u="none" cap="none" strike="noStrike">
              <a:solidFill>
                <a:srgbClr val="38761D"/>
              </a:solidFill>
              <a:latin typeface="Kalam"/>
              <a:ea typeface="Kalam"/>
              <a:cs typeface="Kalam"/>
              <a:sym typeface="Kalam"/>
            </a:endParaRPr>
          </a:p>
          <a:p>
            <a:pPr indent="-323850" lvl="0" marL="457200" marR="0" rtl="0" algn="l">
              <a:lnSpc>
                <a:spcPct val="100000"/>
              </a:lnSpc>
              <a:spcBef>
                <a:spcPts val="0"/>
              </a:spcBef>
              <a:spcAft>
                <a:spcPts val="0"/>
              </a:spcAft>
              <a:buClr>
                <a:srgbClr val="38761D"/>
              </a:buClr>
              <a:buSzPts val="1500"/>
              <a:buFont typeface="Arial"/>
              <a:buChar char="-"/>
            </a:pPr>
            <a:r>
              <a:rPr b="1" i="0" lang="en" sz="1500" u="none" cap="none" strike="noStrike">
                <a:solidFill>
                  <a:srgbClr val="38761D"/>
                </a:solidFill>
                <a:latin typeface="Kalam"/>
                <a:ea typeface="Kalam"/>
                <a:cs typeface="Kalam"/>
                <a:sym typeface="Kalam"/>
              </a:rPr>
              <a:t>Next time I write, I will…</a:t>
            </a:r>
            <a:r>
              <a:rPr b="0" i="0" lang="en" sz="1500" u="none" cap="none" strike="noStrike">
                <a:solidFill>
                  <a:srgbClr val="38761D"/>
                </a:solidFill>
                <a:latin typeface="Kalam"/>
                <a:ea typeface="Kalam"/>
                <a:cs typeface="Kalam"/>
                <a:sym typeface="Kalam"/>
              </a:rPr>
              <a:t> </a:t>
            </a:r>
            <a:endParaRPr b="0" i="0" sz="1500" u="none" cap="none" strike="noStrike">
              <a:solidFill>
                <a:srgbClr val="38761D"/>
              </a:solidFill>
              <a:latin typeface="Kalam"/>
              <a:ea typeface="Kalam"/>
              <a:cs typeface="Kalam"/>
              <a:sym typeface="Kalam"/>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Merriweather"/>
              <a:ea typeface="Merriweather"/>
              <a:cs typeface="Merriweather"/>
              <a:sym typeface="Merriweather"/>
            </a:endParaRPr>
          </a:p>
          <a:p>
            <a:pPr indent="-330200" lvl="0" marL="457200" marR="0" rtl="0" algn="l">
              <a:lnSpc>
                <a:spcPct val="100000"/>
              </a:lnSpc>
              <a:spcBef>
                <a:spcPts val="0"/>
              </a:spcBef>
              <a:spcAft>
                <a:spcPts val="0"/>
              </a:spcAft>
              <a:buClr>
                <a:schemeClr val="dk1"/>
              </a:buClr>
              <a:buSzPts val="1600"/>
              <a:buFont typeface="Merriweather"/>
              <a:buChar char="●"/>
            </a:pPr>
            <a:r>
              <a:rPr b="0" i="0" lang="en" sz="1600" u="none" cap="none" strike="noStrike">
                <a:solidFill>
                  <a:schemeClr val="dk1"/>
                </a:solidFill>
                <a:latin typeface="Merriweather"/>
                <a:ea typeface="Merriweather"/>
                <a:cs typeface="Merriweather"/>
                <a:sym typeface="Merriweather"/>
              </a:rPr>
              <a:t>Bonus - write me a specific question at the end underneath my generic comment.   </a:t>
            </a:r>
            <a:endParaRPr b="0" i="0" sz="1600" u="none" cap="none" strike="noStrike">
              <a:solidFill>
                <a:schemeClr val="dk1"/>
              </a:solidFill>
              <a:latin typeface="Merriweather"/>
              <a:ea typeface="Merriweather"/>
              <a:cs typeface="Merriweather"/>
              <a:sym typeface="Merriweather"/>
            </a:endParaRPr>
          </a:p>
          <a:p>
            <a:pPr indent="-330200" lvl="0" marL="457200" marR="0" rtl="0" algn="l">
              <a:lnSpc>
                <a:spcPct val="100000"/>
              </a:lnSpc>
              <a:spcBef>
                <a:spcPts val="0"/>
              </a:spcBef>
              <a:spcAft>
                <a:spcPts val="0"/>
              </a:spcAft>
              <a:buClr>
                <a:schemeClr val="dk1"/>
              </a:buClr>
              <a:buSzPts val="1600"/>
              <a:buFont typeface="Merriweather"/>
              <a:buChar char="●"/>
            </a:pPr>
            <a:r>
              <a:rPr b="0" i="0" lang="en" sz="1600" u="none" cap="none" strike="noStrike">
                <a:solidFill>
                  <a:schemeClr val="dk1"/>
                </a:solidFill>
                <a:latin typeface="Merriweather"/>
                <a:ea typeface="Merriweather"/>
                <a:cs typeface="Merriweather"/>
                <a:sym typeface="Merriweather"/>
              </a:rPr>
              <a:t>If you are finished in under 10 minutes, then feel free to respond to more feedback. </a:t>
            </a:r>
            <a:endParaRPr b="0" i="0" sz="1600" u="none" cap="none" strike="noStrike">
              <a:solidFill>
                <a:schemeClr val="dk1"/>
              </a:solidFill>
              <a:latin typeface="Merriweather"/>
              <a:ea typeface="Merriweather"/>
              <a:cs typeface="Merriweather"/>
              <a:sym typeface="Merriweath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599"/>
        </a:solidFill>
      </p:bgPr>
    </p:bg>
    <p:spTree>
      <p:nvGrpSpPr>
        <p:cNvPr id="120" name="Shape 120"/>
        <p:cNvGrpSpPr/>
        <p:nvPr/>
      </p:nvGrpSpPr>
      <p:grpSpPr>
        <a:xfrm>
          <a:off x="0" y="0"/>
          <a:ext cx="0" cy="0"/>
          <a:chOff x="0" y="0"/>
          <a:chExt cx="0" cy="0"/>
        </a:xfrm>
      </p:grpSpPr>
      <p:sp>
        <p:nvSpPr>
          <p:cNvPr id="121" name="Google Shape;121;p8"/>
          <p:cNvSpPr txBox="1"/>
          <p:nvPr/>
        </p:nvSpPr>
        <p:spPr>
          <a:xfrm>
            <a:off x="158675" y="705313"/>
            <a:ext cx="3634500" cy="3606300"/>
          </a:xfrm>
          <a:prstGeom prst="rect">
            <a:avLst/>
          </a:prstGeom>
          <a:solidFill>
            <a:schemeClr val="lt1"/>
          </a:solidFill>
          <a:ln cap="flat" cmpd="sng" w="9525">
            <a:solidFill>
              <a:srgbClr val="000000"/>
            </a:solidFill>
            <a:prstDash val="solid"/>
            <a:round/>
            <a:headEnd len="sm" w="sm" type="none"/>
            <a:tailEnd len="sm" w="sm" type="none"/>
          </a:ln>
          <a:effectLst>
            <a:outerShdw blurRad="28575" rotWithShape="0" algn="bl" dir="21540000" dist="14288">
              <a:srgbClr val="000000">
                <a:alpha val="49804"/>
              </a:srgbClr>
            </a:outerShdw>
          </a:effectLst>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 sz="1300" u="none" cap="none" strike="noStrike">
                <a:solidFill>
                  <a:schemeClr val="dk1"/>
                </a:solidFill>
                <a:latin typeface="Calibri"/>
                <a:ea typeface="Calibri"/>
                <a:cs typeface="Calibri"/>
                <a:sym typeface="Calibri"/>
              </a:rPr>
              <a:t>The writer of Example A creates an engaging opening by describing a character who is going to be important to the story. We find out that the boatman called William J. Swift is old but strong and has made money over the years by transporting people across the river. But he is the only boatman left because the bridge means that they are not needed anymore. This makes me wonder what the boatman will do to make money in the future because he is getting older but still needs to support himself. We are told by the writer that the boatman is not happy about losing his business, which could mean that he is angry and will do something extreme because he is frustrated about how his life has changed.  </a:t>
            </a:r>
            <a:endParaRPr b="0" i="0" sz="1300" u="none" cap="none" strike="noStrike">
              <a:solidFill>
                <a:schemeClr val="dk1"/>
              </a:solidFill>
              <a:latin typeface="Calibri"/>
              <a:ea typeface="Calibri"/>
              <a:cs typeface="Calibri"/>
              <a:sym typeface="Calibri"/>
            </a:endParaRPr>
          </a:p>
        </p:txBody>
      </p:sp>
      <p:sp>
        <p:nvSpPr>
          <p:cNvPr id="122" name="Google Shape;122;p8"/>
          <p:cNvSpPr/>
          <p:nvPr/>
        </p:nvSpPr>
        <p:spPr>
          <a:xfrm>
            <a:off x="0" y="154175"/>
            <a:ext cx="2620800" cy="390600"/>
          </a:xfrm>
          <a:prstGeom prst="rect">
            <a:avLst/>
          </a:prstGeom>
          <a:solidFill>
            <a:srgbClr val="073763"/>
          </a:solidFill>
          <a:ln cap="flat" cmpd="sng" w="19050">
            <a:solidFill>
              <a:srgbClr val="FFFFFF"/>
            </a:solidFill>
            <a:prstDash val="solid"/>
            <a:miter lim="8000"/>
            <a:headEnd len="sm" w="sm" type="none"/>
            <a:tailEnd len="sm" w="sm" type="none"/>
          </a:ln>
          <a:effectLst>
            <a:outerShdw blurRad="25400" rotWithShape="0" algn="tl" dir="2700000" dist="19050">
              <a:srgbClr val="000000">
                <a:alpha val="6941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4400"/>
              <a:buFont typeface="Calibri"/>
              <a:buNone/>
            </a:pPr>
            <a:r>
              <a:rPr b="0" i="0" lang="en" sz="1900" u="none" cap="none" strike="noStrike">
                <a:solidFill>
                  <a:srgbClr val="FFFFFF"/>
                </a:solidFill>
                <a:latin typeface="Calibri"/>
                <a:ea typeface="Calibri"/>
                <a:cs typeface="Calibri"/>
                <a:sym typeface="Calibri"/>
              </a:rPr>
              <a:t>Model Example</a:t>
            </a:r>
            <a:endParaRPr b="0" i="0" sz="19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2800"/>
              <a:buFont typeface="Calibri"/>
              <a:buNone/>
            </a:pPr>
            <a:r>
              <a:t/>
            </a:r>
            <a:endParaRPr b="0" i="0" sz="300" u="none" cap="none" strike="noStrike">
              <a:solidFill>
                <a:srgbClr val="000000"/>
              </a:solidFill>
              <a:latin typeface="Kalam Light"/>
              <a:ea typeface="Kalam Light"/>
              <a:cs typeface="Kalam Light"/>
              <a:sym typeface="Kalam Light"/>
            </a:endParaRPr>
          </a:p>
        </p:txBody>
      </p:sp>
      <p:sp>
        <p:nvSpPr>
          <p:cNvPr id="123" name="Google Shape;123;p8"/>
          <p:cNvSpPr txBox="1"/>
          <p:nvPr/>
        </p:nvSpPr>
        <p:spPr>
          <a:xfrm>
            <a:off x="3924463" y="68688"/>
            <a:ext cx="5051700" cy="4987200"/>
          </a:xfrm>
          <a:prstGeom prst="rect">
            <a:avLst/>
          </a:prstGeom>
          <a:solidFill>
            <a:schemeClr val="lt1"/>
          </a:solidFill>
          <a:ln cap="flat" cmpd="sng" w="9525">
            <a:solidFill>
              <a:srgbClr val="000000"/>
            </a:solidFill>
            <a:prstDash val="solid"/>
            <a:round/>
            <a:headEnd len="sm" w="sm" type="none"/>
            <a:tailEnd len="sm" w="sm" type="none"/>
          </a:ln>
          <a:effectLst>
            <a:outerShdw blurRad="28575" rotWithShape="0" algn="bl" dir="21540000" dist="14288">
              <a:srgbClr val="000000">
                <a:alpha val="49804"/>
              </a:srgbClr>
            </a:outerShdw>
          </a:effectLst>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 sz="1300" u="none" cap="none" strike="noStrike">
                <a:solidFill>
                  <a:schemeClr val="dk1"/>
                </a:solidFill>
                <a:latin typeface="Calibri"/>
                <a:ea typeface="Calibri"/>
                <a:cs typeface="Calibri"/>
                <a:sym typeface="Calibri"/>
              </a:rPr>
              <a:t>The writer of Example A creates an engaging opening by presenting a character, the boatman William J. Swift, as person with uncertain morals. Through the exposition, we are introduced to Brownsville, a place that has transformed from a small settlement to ‘a town of nearly a thousand people’, where the construction of a bridge means that ‘boatmen soon weren’t needed’. The contrast between the modernisation of the setting and a character ‘in his sixties’ who is the ‘only’ boatman remaining, creates an impression of William as a man forgotten by time because it seems as if he is unable to keep up with the world that is changing around him. The writer employs ‘show, don’t tell’ to suggest that William’s experiences have made him both angry and desperate: he is ‘bitter’ about being forced to work ‘any time of day or night’ to earn a basic living, sometimes even agreeing to conceal individuals who ‘didn’t want to be seen publicly crossing the bridge.’ This is an engaging way to open a narrative because the writer deliberately makes it difficult for us to know how to respond to William, making him an unconventional protagonist. By conveying William’s struggles, we are on one hand encouraged to feel sympathy - he is getting older but running out of options to support himself. On the other hand, we are also shown that William is prepared to exploit people who have secrets, or something to  hide, for his own personal gain.</a:t>
            </a:r>
            <a:endParaRPr b="0" i="0" sz="13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599"/>
        </a:solidFill>
      </p:bgPr>
    </p:bg>
    <p:spTree>
      <p:nvGrpSpPr>
        <p:cNvPr id="127" name="Shape 127"/>
        <p:cNvGrpSpPr/>
        <p:nvPr/>
      </p:nvGrpSpPr>
      <p:grpSpPr>
        <a:xfrm>
          <a:off x="0" y="0"/>
          <a:ext cx="0" cy="0"/>
          <a:chOff x="0" y="0"/>
          <a:chExt cx="0" cy="0"/>
        </a:xfrm>
      </p:grpSpPr>
      <p:sp>
        <p:nvSpPr>
          <p:cNvPr id="128" name="Google Shape;128;p9"/>
          <p:cNvSpPr/>
          <p:nvPr/>
        </p:nvSpPr>
        <p:spPr>
          <a:xfrm>
            <a:off x="0" y="154175"/>
            <a:ext cx="1985100" cy="469500"/>
          </a:xfrm>
          <a:prstGeom prst="rect">
            <a:avLst/>
          </a:prstGeom>
          <a:solidFill>
            <a:srgbClr val="073763"/>
          </a:solidFill>
          <a:ln cap="flat" cmpd="sng" w="19050">
            <a:solidFill>
              <a:srgbClr val="FFFFFF"/>
            </a:solidFill>
            <a:prstDash val="solid"/>
            <a:miter lim="8000"/>
            <a:headEnd len="sm" w="sm" type="none"/>
            <a:tailEnd len="sm" w="sm" type="none"/>
          </a:ln>
          <a:effectLst>
            <a:outerShdw blurRad="25400" rotWithShape="0" algn="tl" dir="2700000" dist="19050">
              <a:srgbClr val="000000">
                <a:alpha val="69412"/>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4400"/>
              <a:buFont typeface="Calibri"/>
              <a:buNone/>
            </a:pPr>
            <a:r>
              <a:rPr b="0" i="0" lang="en" sz="1900" u="none" cap="none" strike="noStrike">
                <a:solidFill>
                  <a:srgbClr val="FFFFFF"/>
                </a:solidFill>
                <a:latin typeface="Calibri"/>
                <a:ea typeface="Calibri"/>
                <a:cs typeface="Calibri"/>
                <a:sym typeface="Calibri"/>
              </a:rPr>
              <a:t>Grade Boundaries</a:t>
            </a:r>
            <a:endParaRPr b="0" i="0" sz="19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2800"/>
              <a:buFont typeface="Calibri"/>
              <a:buNone/>
            </a:pPr>
            <a:r>
              <a:t/>
            </a:r>
            <a:endParaRPr b="0" i="0" sz="300" u="none" cap="none" strike="noStrike">
              <a:solidFill>
                <a:srgbClr val="000000"/>
              </a:solidFill>
              <a:latin typeface="Kalam Light"/>
              <a:ea typeface="Kalam Light"/>
              <a:cs typeface="Kalam Light"/>
              <a:sym typeface="Kalam Light"/>
            </a:endParaRPr>
          </a:p>
        </p:txBody>
      </p:sp>
      <p:graphicFrame>
        <p:nvGraphicFramePr>
          <p:cNvPr id="129" name="Google Shape;129;p9"/>
          <p:cNvGraphicFramePr/>
          <p:nvPr/>
        </p:nvGraphicFramePr>
        <p:xfrm>
          <a:off x="6828463" y="996663"/>
          <a:ext cx="3000000" cy="3000000"/>
        </p:xfrm>
        <a:graphic>
          <a:graphicData uri="http://schemas.openxmlformats.org/drawingml/2006/table">
            <a:tbl>
              <a:tblPr>
                <a:noFill/>
                <a:tableStyleId>{C68FA9AF-B9B2-41F7-862A-7FF6F53703CB}</a:tableStyleId>
              </a:tblPr>
              <a:tblGrid>
                <a:gridCol w="2081650"/>
              </a:tblGrid>
              <a:tr h="450025">
                <a:tc>
                  <a:txBody>
                    <a:bodyPr/>
                    <a:lstStyle/>
                    <a:p>
                      <a:pPr indent="0" lvl="0" marL="0" marR="0" rtl="0" algn="ctr">
                        <a:lnSpc>
                          <a:spcPct val="115000"/>
                        </a:lnSpc>
                        <a:spcBef>
                          <a:spcPts val="0"/>
                        </a:spcBef>
                        <a:spcAft>
                          <a:spcPts val="0"/>
                        </a:spcAft>
                        <a:buClr>
                          <a:srgbClr val="000000"/>
                        </a:buClr>
                        <a:buSzPts val="2300"/>
                        <a:buFont typeface="Arial"/>
                        <a:buNone/>
                      </a:pPr>
                      <a:r>
                        <a:rPr lang="en" sz="2300" u="none" cap="none" strike="noStrike"/>
                        <a:t>A = 12-16</a:t>
                      </a:r>
                      <a:endParaRPr sz="2300" u="none" cap="none" strike="noStrike"/>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50025">
                <a:tc>
                  <a:txBody>
                    <a:bodyPr/>
                    <a:lstStyle/>
                    <a:p>
                      <a:pPr indent="0" lvl="0" marL="0" marR="0" rtl="0" algn="ctr">
                        <a:lnSpc>
                          <a:spcPct val="115000"/>
                        </a:lnSpc>
                        <a:spcBef>
                          <a:spcPts val="0"/>
                        </a:spcBef>
                        <a:spcAft>
                          <a:spcPts val="0"/>
                        </a:spcAft>
                        <a:buClr>
                          <a:srgbClr val="000000"/>
                        </a:buClr>
                        <a:buSzPts val="2300"/>
                        <a:buFont typeface="Arial"/>
                        <a:buNone/>
                      </a:pPr>
                      <a:r>
                        <a:rPr lang="en" sz="2300" u="none" cap="none" strike="noStrike"/>
                        <a:t>B = 10-11</a:t>
                      </a:r>
                      <a:endParaRPr sz="2300" u="none" cap="none" strike="noStrike"/>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50025">
                <a:tc>
                  <a:txBody>
                    <a:bodyPr/>
                    <a:lstStyle/>
                    <a:p>
                      <a:pPr indent="0" lvl="0" marL="0" marR="0" rtl="0" algn="ctr">
                        <a:lnSpc>
                          <a:spcPct val="115000"/>
                        </a:lnSpc>
                        <a:spcBef>
                          <a:spcPts val="0"/>
                        </a:spcBef>
                        <a:spcAft>
                          <a:spcPts val="0"/>
                        </a:spcAft>
                        <a:buClr>
                          <a:srgbClr val="000000"/>
                        </a:buClr>
                        <a:buSzPts val="2300"/>
                        <a:buFont typeface="Arial"/>
                        <a:buNone/>
                      </a:pPr>
                      <a:r>
                        <a:rPr lang="en" sz="2300" u="none" cap="none" strike="noStrike"/>
                        <a:t>C = 8-9</a:t>
                      </a:r>
                      <a:endParaRPr sz="2300" u="none" cap="none" strike="noStrike"/>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50025">
                <a:tc>
                  <a:txBody>
                    <a:bodyPr/>
                    <a:lstStyle/>
                    <a:p>
                      <a:pPr indent="0" lvl="0" marL="0" marR="0" rtl="0" algn="ctr">
                        <a:lnSpc>
                          <a:spcPct val="115000"/>
                        </a:lnSpc>
                        <a:spcBef>
                          <a:spcPts val="0"/>
                        </a:spcBef>
                        <a:spcAft>
                          <a:spcPts val="0"/>
                        </a:spcAft>
                        <a:buClr>
                          <a:srgbClr val="000000"/>
                        </a:buClr>
                        <a:buSzPts val="2300"/>
                        <a:buFont typeface="Arial"/>
                        <a:buNone/>
                      </a:pPr>
                      <a:r>
                        <a:rPr lang="en" sz="2300" u="none" cap="none" strike="noStrike"/>
                        <a:t>D = 6-7</a:t>
                      </a:r>
                      <a:endParaRPr sz="2300" u="none" cap="none" strike="noStrike"/>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50025">
                <a:tc>
                  <a:txBody>
                    <a:bodyPr/>
                    <a:lstStyle/>
                    <a:p>
                      <a:pPr indent="0" lvl="0" marL="0" marR="0" rtl="0" algn="ctr">
                        <a:lnSpc>
                          <a:spcPct val="115000"/>
                        </a:lnSpc>
                        <a:spcBef>
                          <a:spcPts val="0"/>
                        </a:spcBef>
                        <a:spcAft>
                          <a:spcPts val="0"/>
                        </a:spcAft>
                        <a:buClr>
                          <a:srgbClr val="000000"/>
                        </a:buClr>
                        <a:buSzPts val="2300"/>
                        <a:buFont typeface="Arial"/>
                        <a:buNone/>
                      </a:pPr>
                      <a:r>
                        <a:rPr lang="en" sz="2300" u="none" cap="none" strike="noStrike"/>
                        <a:t>E = 4-5</a:t>
                      </a:r>
                      <a:endParaRPr sz="2300" u="none" cap="none" strike="noStrike"/>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50025">
                <a:tc>
                  <a:txBody>
                    <a:bodyPr/>
                    <a:lstStyle/>
                    <a:p>
                      <a:pPr indent="0" lvl="0" marL="0" marR="0" rtl="0" algn="ctr">
                        <a:lnSpc>
                          <a:spcPct val="115000"/>
                        </a:lnSpc>
                        <a:spcBef>
                          <a:spcPts val="0"/>
                        </a:spcBef>
                        <a:spcAft>
                          <a:spcPts val="0"/>
                        </a:spcAft>
                        <a:buClr>
                          <a:srgbClr val="000000"/>
                        </a:buClr>
                        <a:buSzPts val="2300"/>
                        <a:buFont typeface="Arial"/>
                        <a:buNone/>
                      </a:pPr>
                      <a:r>
                        <a:rPr lang="en" sz="2300" u="none" cap="none" strike="noStrike"/>
                        <a:t>F = 2-3</a:t>
                      </a:r>
                      <a:endParaRPr sz="2300" u="none" cap="none" strike="noStrike"/>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50025">
                <a:tc>
                  <a:txBody>
                    <a:bodyPr/>
                    <a:lstStyle/>
                    <a:p>
                      <a:pPr indent="0" lvl="0" marL="0" marR="0" rtl="0" algn="ctr">
                        <a:lnSpc>
                          <a:spcPct val="115000"/>
                        </a:lnSpc>
                        <a:spcBef>
                          <a:spcPts val="0"/>
                        </a:spcBef>
                        <a:spcAft>
                          <a:spcPts val="0"/>
                        </a:spcAft>
                        <a:buClr>
                          <a:srgbClr val="000000"/>
                        </a:buClr>
                        <a:buSzPts val="2300"/>
                        <a:buFont typeface="Arial"/>
                        <a:buNone/>
                      </a:pPr>
                      <a:r>
                        <a:rPr lang="en" sz="2300" u="none" cap="none" strike="noStrike"/>
                        <a:t>G = 1</a:t>
                      </a:r>
                      <a:endParaRPr sz="2300" u="none" cap="none" strike="noStrike"/>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bl>
          </a:graphicData>
        </a:graphic>
      </p:graphicFrame>
      <p:pic>
        <p:nvPicPr>
          <p:cNvPr id="130" name="Google Shape;130;p9"/>
          <p:cNvPicPr preferRelativeResize="0"/>
          <p:nvPr/>
        </p:nvPicPr>
        <p:blipFill rotWithShape="1">
          <a:blip r:embed="rId3">
            <a:alphaModFix/>
          </a:blip>
          <a:srcRect b="1294" l="1228" r="1325" t="10701"/>
          <a:stretch/>
        </p:blipFill>
        <p:spPr>
          <a:xfrm>
            <a:off x="122625" y="1157338"/>
            <a:ext cx="2873776" cy="2595463"/>
          </a:xfrm>
          <a:prstGeom prst="rect">
            <a:avLst/>
          </a:prstGeom>
          <a:noFill/>
          <a:ln>
            <a:noFill/>
          </a:ln>
        </p:spPr>
      </p:pic>
      <p:sp>
        <p:nvSpPr>
          <p:cNvPr id="131" name="Google Shape;131;p9"/>
          <p:cNvSpPr txBox="1"/>
          <p:nvPr/>
        </p:nvSpPr>
        <p:spPr>
          <a:xfrm>
            <a:off x="3103188" y="195900"/>
            <a:ext cx="3603000" cy="4751700"/>
          </a:xfrm>
          <a:prstGeom prst="rect">
            <a:avLst/>
          </a:prstGeom>
          <a:solidFill>
            <a:srgbClr val="D0E0E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sng" cap="none" strike="noStrike">
                <a:solidFill>
                  <a:schemeClr val="dk1"/>
                </a:solidFill>
                <a:latin typeface="Kalam"/>
                <a:ea typeface="Kalam"/>
                <a:cs typeface="Kalam"/>
                <a:sym typeface="Kalam"/>
              </a:rPr>
              <a:t>Remember!</a:t>
            </a:r>
            <a:endParaRPr b="1" i="0" sz="1600" u="sng" cap="none" strike="noStrike">
              <a:solidFill>
                <a:schemeClr val="dk1"/>
              </a:solidFill>
              <a:latin typeface="Kalam"/>
              <a:ea typeface="Kalam"/>
              <a:cs typeface="Kalam"/>
              <a:sym typeface="Kalam"/>
            </a:endParaRPr>
          </a:p>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Kalam"/>
                <a:ea typeface="Kalam"/>
                <a:cs typeface="Kalam"/>
                <a:sym typeface="Kalam"/>
              </a:rPr>
              <a:t>This works represents one snapshot of your learning journey, which is very much underway. The question to ask is </a:t>
            </a:r>
            <a:r>
              <a:rPr b="0" i="0" lang="en" sz="1600" u="sng" cap="none" strike="noStrike">
                <a:solidFill>
                  <a:schemeClr val="dk1"/>
                </a:solidFill>
                <a:latin typeface="Kalam"/>
                <a:ea typeface="Kalam"/>
                <a:cs typeface="Kalam"/>
                <a:sym typeface="Kalam"/>
              </a:rPr>
              <a:t>not</a:t>
            </a:r>
            <a:r>
              <a:rPr b="0" i="0" lang="en" sz="1600" u="none" cap="none" strike="noStrike">
                <a:solidFill>
                  <a:schemeClr val="dk1"/>
                </a:solidFill>
                <a:latin typeface="Kalam"/>
                <a:ea typeface="Kalam"/>
                <a:cs typeface="Kalam"/>
                <a:sym typeface="Kalam"/>
              </a:rPr>
              <a:t> ‘What grade did I get?’. The grade only tells you how you did on that day, and does not tell you what you have done well and how to do even better.</a:t>
            </a:r>
            <a:endParaRPr b="0" i="0" sz="1600" u="none" cap="none" strike="noStrike">
              <a:solidFill>
                <a:schemeClr val="dk1"/>
              </a:solidFill>
              <a:latin typeface="Kalam"/>
              <a:ea typeface="Kalam"/>
              <a:cs typeface="Kalam"/>
              <a:sym typeface="Kalam"/>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Kalam"/>
              <a:ea typeface="Kalam"/>
              <a:cs typeface="Kalam"/>
              <a:sym typeface="Kalam"/>
            </a:endParaRPr>
          </a:p>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Kalam"/>
                <a:ea typeface="Kalam"/>
                <a:cs typeface="Kalam"/>
                <a:sym typeface="Kalam"/>
              </a:rPr>
              <a:t>Instead, ask yourself </a:t>
            </a:r>
            <a:r>
              <a:rPr b="1" i="0" lang="en" sz="1600" u="none" cap="none" strike="noStrike">
                <a:solidFill>
                  <a:schemeClr val="dk1"/>
                </a:solidFill>
                <a:latin typeface="Kalam"/>
                <a:ea typeface="Kalam"/>
                <a:cs typeface="Kalam"/>
                <a:sym typeface="Kalam"/>
              </a:rPr>
              <a:t>‘What do I know now, and what can do now, that I didn’t 7 weeks ago? What will I do differently next time?’ </a:t>
            </a:r>
            <a:endParaRPr b="1" i="0" sz="1600" u="none" cap="none" strike="noStrike">
              <a:solidFill>
                <a:schemeClr val="dk1"/>
              </a:solidFill>
              <a:latin typeface="Kalam"/>
              <a:ea typeface="Kalam"/>
              <a:cs typeface="Kalam"/>
              <a:sym typeface="Kalam"/>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Kalam"/>
              <a:ea typeface="Kalam"/>
              <a:cs typeface="Kalam"/>
              <a:sym typeface="Kalam"/>
            </a:endParaRPr>
          </a:p>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Kalam"/>
                <a:ea typeface="Kalam"/>
                <a:cs typeface="Kalam"/>
                <a:sym typeface="Kalam"/>
              </a:rPr>
              <a:t>It’s by asking these questions that you will ensure you continue to make meaningful progress during your time at St. Joseph’s. </a:t>
            </a:r>
            <a:endParaRPr b="0" i="0" sz="1600" u="none" cap="none" strike="noStrike">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C232"/>
        </a:solidFill>
      </p:bgPr>
    </p:bg>
    <p:spTree>
      <p:nvGrpSpPr>
        <p:cNvPr id="135" name="Shape 135"/>
        <p:cNvGrpSpPr/>
        <p:nvPr/>
      </p:nvGrpSpPr>
      <p:grpSpPr>
        <a:xfrm>
          <a:off x="0" y="0"/>
          <a:ext cx="0" cy="0"/>
          <a:chOff x="0" y="0"/>
          <a:chExt cx="0" cy="0"/>
        </a:xfrm>
      </p:grpSpPr>
      <p:sp>
        <p:nvSpPr>
          <p:cNvPr id="136" name="Google Shape;136;p10"/>
          <p:cNvSpPr txBox="1"/>
          <p:nvPr/>
        </p:nvSpPr>
        <p:spPr>
          <a:xfrm>
            <a:off x="227850" y="194425"/>
            <a:ext cx="8643300" cy="5541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chemeClr val="dk1"/>
                </a:solidFill>
                <a:latin typeface="Merriweather"/>
                <a:ea typeface="Merriweather"/>
                <a:cs typeface="Merriweather"/>
                <a:sym typeface="Merriweather"/>
              </a:rPr>
              <a:t>Have another go!</a:t>
            </a:r>
            <a:endParaRPr b="1" i="1" sz="2400" u="none" cap="none" strike="noStrike">
              <a:solidFill>
                <a:schemeClr val="dk1"/>
              </a:solidFill>
              <a:latin typeface="Merriweather"/>
              <a:ea typeface="Merriweather"/>
              <a:cs typeface="Merriweather"/>
              <a:sym typeface="Merriweather"/>
            </a:endParaRPr>
          </a:p>
        </p:txBody>
      </p:sp>
      <p:sp>
        <p:nvSpPr>
          <p:cNvPr id="137" name="Google Shape;137;p10"/>
          <p:cNvSpPr txBox="1"/>
          <p:nvPr/>
        </p:nvSpPr>
        <p:spPr>
          <a:xfrm>
            <a:off x="250339" y="987299"/>
            <a:ext cx="8643300" cy="24321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Merriweather"/>
                <a:ea typeface="Merriweather"/>
                <a:cs typeface="Merriweather"/>
                <a:sym typeface="Merriweather"/>
              </a:rPr>
              <a:t>If you have any spare space on your paper, choose one out of these two tasks, based on your action targets: </a:t>
            </a:r>
            <a:endParaRPr b="0" i="0" sz="1300" u="none" cap="none" strike="noStrike">
              <a:solidFill>
                <a:schemeClr val="dk1"/>
              </a:solidFill>
              <a:latin typeface="Merriweather"/>
              <a:ea typeface="Merriweather"/>
              <a:cs typeface="Merriweather"/>
              <a:sym typeface="Merriweather"/>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Merriweather"/>
              <a:ea typeface="Merriweather"/>
              <a:cs typeface="Merriweather"/>
              <a:sym typeface="Merriweather"/>
            </a:endParaRPr>
          </a:p>
          <a:p>
            <a:pPr indent="-311150" lvl="0" marL="457200" marR="0" rtl="0" algn="l">
              <a:lnSpc>
                <a:spcPct val="100000"/>
              </a:lnSpc>
              <a:spcBef>
                <a:spcPts val="0"/>
              </a:spcBef>
              <a:spcAft>
                <a:spcPts val="0"/>
              </a:spcAft>
              <a:buClr>
                <a:schemeClr val="dk1"/>
              </a:buClr>
              <a:buSzPts val="1300"/>
              <a:buFont typeface="Merriweather"/>
              <a:buAutoNum type="alphaLcParenR"/>
            </a:pPr>
            <a:r>
              <a:rPr b="0" i="0" lang="en" sz="1300" u="none" cap="none" strike="noStrike">
                <a:solidFill>
                  <a:schemeClr val="dk1"/>
                </a:solidFill>
                <a:latin typeface="Merriweather"/>
                <a:ea typeface="Merriweather"/>
                <a:cs typeface="Merriweather"/>
                <a:sym typeface="Merriweather"/>
              </a:rPr>
              <a:t>Choose a paragraph to </a:t>
            </a:r>
            <a:r>
              <a:rPr b="1" i="0" lang="en" sz="1300" u="none" cap="none" strike="noStrike">
                <a:solidFill>
                  <a:schemeClr val="dk1"/>
                </a:solidFill>
                <a:latin typeface="Merriweather"/>
                <a:ea typeface="Merriweather"/>
                <a:cs typeface="Merriweather"/>
                <a:sym typeface="Merriweather"/>
              </a:rPr>
              <a:t>rewrite</a:t>
            </a:r>
            <a:r>
              <a:rPr b="0" i="0" lang="en" sz="1300" u="none" cap="none" strike="noStrike">
                <a:solidFill>
                  <a:schemeClr val="dk1"/>
                </a:solidFill>
                <a:latin typeface="Merriweather"/>
                <a:ea typeface="Merriweather"/>
                <a:cs typeface="Merriweather"/>
                <a:sym typeface="Merriweather"/>
              </a:rPr>
              <a:t> based on what you’ve learned today.  </a:t>
            </a:r>
            <a:r>
              <a:rPr lang="en" sz="1300">
                <a:solidFill>
                  <a:schemeClr val="dk1"/>
                </a:solidFill>
                <a:latin typeface="Merriweather"/>
                <a:ea typeface="Merriweather"/>
                <a:cs typeface="Merriweather"/>
                <a:sym typeface="Merriweather"/>
              </a:rPr>
              <a:t>  </a:t>
            </a:r>
            <a:endParaRPr sz="1300">
              <a:solidFill>
                <a:schemeClr val="dk1"/>
              </a:solidFill>
              <a:latin typeface="Merriweather"/>
              <a:ea typeface="Merriweather"/>
              <a:cs typeface="Merriweather"/>
              <a:sym typeface="Merriweather"/>
            </a:endParaRPr>
          </a:p>
          <a:p>
            <a:pPr indent="0" lvl="0" marL="457200" marR="0" rtl="0" algn="l">
              <a:lnSpc>
                <a:spcPct val="100000"/>
              </a:lnSpc>
              <a:spcBef>
                <a:spcPts val="0"/>
              </a:spcBef>
              <a:spcAft>
                <a:spcPts val="0"/>
              </a:spcAft>
              <a:buNone/>
            </a:pPr>
            <a:r>
              <a:t/>
            </a:r>
            <a:endParaRPr sz="1300">
              <a:solidFill>
                <a:schemeClr val="dk1"/>
              </a:solidFill>
              <a:latin typeface="Merriweather"/>
              <a:ea typeface="Merriweather"/>
              <a:cs typeface="Merriweather"/>
              <a:sym typeface="Merriweather"/>
            </a:endParaRPr>
          </a:p>
          <a:p>
            <a:pPr indent="-311150" lvl="0" marL="457200" marR="0" rtl="0" algn="l">
              <a:lnSpc>
                <a:spcPct val="100000"/>
              </a:lnSpc>
              <a:spcBef>
                <a:spcPts val="0"/>
              </a:spcBef>
              <a:spcAft>
                <a:spcPts val="0"/>
              </a:spcAft>
              <a:buClr>
                <a:schemeClr val="dk1"/>
              </a:buClr>
              <a:buSzPts val="1300"/>
              <a:buFont typeface="Merriweather"/>
              <a:buAutoNum type="alphaLcParenR"/>
            </a:pPr>
            <a:r>
              <a:rPr b="0" i="0" lang="en" sz="1300" u="none" cap="none" strike="noStrike">
                <a:solidFill>
                  <a:schemeClr val="dk1"/>
                </a:solidFill>
                <a:latin typeface="Merriweather"/>
                <a:ea typeface="Merriweather"/>
                <a:cs typeface="Merriweather"/>
                <a:sym typeface="Merriweather"/>
              </a:rPr>
              <a:t>Add </a:t>
            </a:r>
            <a:r>
              <a:rPr b="1" i="0" lang="en" sz="1300" u="none" cap="none" strike="noStrike">
                <a:solidFill>
                  <a:schemeClr val="dk1"/>
                </a:solidFill>
                <a:latin typeface="Merriweather"/>
                <a:ea typeface="Merriweather"/>
                <a:cs typeface="Merriweather"/>
                <a:sym typeface="Merriweather"/>
              </a:rPr>
              <a:t>another paragraph</a:t>
            </a:r>
            <a:r>
              <a:rPr b="0" i="0" lang="en" sz="1300" u="none" cap="none" strike="noStrike">
                <a:solidFill>
                  <a:schemeClr val="dk1"/>
                </a:solidFill>
                <a:latin typeface="Merriweather"/>
                <a:ea typeface="Merriweather"/>
                <a:cs typeface="Merriweather"/>
                <a:sym typeface="Merriweather"/>
              </a:rPr>
              <a:t> containing something you didn’t address during the CA. </a:t>
            </a:r>
            <a:endParaRPr b="0" i="0" sz="1300" u="none" cap="none" strike="noStrike">
              <a:solidFill>
                <a:schemeClr val="dk1"/>
              </a:solidFill>
              <a:latin typeface="Merriweather"/>
              <a:ea typeface="Merriweather"/>
              <a:cs typeface="Merriweather"/>
              <a:sym typeface="Merriweather"/>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Merriweather"/>
              <a:ea typeface="Merriweather"/>
              <a:cs typeface="Merriweather"/>
              <a:sym typeface="Merriweather"/>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Merriweather"/>
              <a:ea typeface="Merriweather"/>
              <a:cs typeface="Merriweather"/>
              <a:sym typeface="Merriweather"/>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Merriweather"/>
                <a:ea typeface="Merriweather"/>
                <a:cs typeface="Merriweather"/>
                <a:sym typeface="Merriweather"/>
              </a:rPr>
              <a:t>If you don’t have space, please get some lined paper from the top of the filing cabinet. You’ll staple this to your assessment.   </a:t>
            </a:r>
            <a:endParaRPr b="0" i="0" sz="1300" u="none" cap="none" strike="noStrike">
              <a:solidFill>
                <a:schemeClr val="dk1"/>
              </a:solidFill>
              <a:latin typeface="Merriweather"/>
              <a:ea typeface="Merriweather"/>
              <a:cs typeface="Merriweather"/>
              <a:sym typeface="Merriweather"/>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Merriweather"/>
              <a:ea typeface="Merriweather"/>
              <a:cs typeface="Merriweather"/>
              <a:sym typeface="Merriweather"/>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38761D"/>
                </a:solidFill>
                <a:latin typeface="Merriweather"/>
                <a:ea typeface="Merriweather"/>
                <a:cs typeface="Merriweather"/>
                <a:sym typeface="Merriweather"/>
              </a:rPr>
              <a:t>(Green pen) </a:t>
            </a:r>
            <a:endParaRPr b="1" i="0" sz="1600" u="none" cap="none" strike="noStrike">
              <a:solidFill>
                <a:srgbClr val="38761D"/>
              </a:solidFill>
              <a:latin typeface="Merriweather"/>
              <a:ea typeface="Merriweather"/>
              <a:cs typeface="Merriweather"/>
              <a:sym typeface="Merriweathe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