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8"/>
  </p:notes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Lst>
  <p:sldSz cx="9144000" cy="5143500" type="screen16x9"/>
  <p:notesSz cx="6858000" cy="9144000"/>
  <p:embeddedFontLst>
    <p:embeddedFont>
      <p:font typeface="Aladin" panose="02000506000000020004" pitchFamily="2" charset="77"/>
      <p:regular r:id="rId19"/>
    </p:embeddedFont>
    <p:embeddedFont>
      <p:font typeface="Baumans" panose="02000506020000020003" pitchFamily="2" charset="0"/>
      <p:regular r:id="rId20"/>
    </p:embeddedFont>
    <p:embeddedFont>
      <p:font typeface="Delius" panose="02000603000000000000" pitchFamily="2" charset="0"/>
      <p:regular r:id="rId21"/>
    </p:embeddedFont>
    <p:embeddedFont>
      <p:font typeface="Fugaz One" pitchFamily="2" charset="0"/>
      <p:regular r:id="rId22"/>
    </p:embeddedFont>
    <p:embeddedFont>
      <p:font typeface="Luckiest Guy" panose="02000506000000020004" pitchFamily="2" charset="0"/>
      <p:regular r:id="rId23"/>
    </p:embeddedFont>
    <p:embeddedFont>
      <p:font typeface="Patrick Hand" pitchFamily="2" charset="77"/>
      <p:regular r:id="rId24"/>
    </p:embeddedFont>
    <p:embeddedFont>
      <p:font typeface="Poppins" pitchFamily="2" charset="77"/>
      <p:regular r:id="rId25"/>
      <p:bold r:id="rId26"/>
      <p:italic r:id="rId27"/>
      <p:boldItalic r:id="rId28"/>
    </p:embeddedFont>
    <p:embeddedFont>
      <p:font typeface="Titillium Web" pitchFamily="2" charset="77"/>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26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651680ee86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3651680ee86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8a9061316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g38a9061316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2: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3: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51680ee86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51680ee86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https://www.youtube.com/watch?v=HMhjjbBkV9E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651680ee86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651680ee86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51680ee86_0_68: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g3651680ee86_0_68: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5: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http://www.youtube.com/watch?v=MmMX83diwl0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651680ee86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651680ee86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http://www.youtube.com/watch?v=MmMX83diwl0</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651680ee86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651680ee86_0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9: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85c81d3e1e_0_0: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85c81d3e1e_0_0: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48b901dde6_0_0: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https://dashboard.blooket.com/set/68b8d0887ef53e8c73be158f</a:t>
            </a:r>
            <a:endParaRPr/>
          </a:p>
        </p:txBody>
      </p:sp>
      <p:sp>
        <p:nvSpPr>
          <p:cNvPr id="214" name="Google Shape;214;g348b901dde6_0_0: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79387" y="357504"/>
            <a:ext cx="8785200" cy="5310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2100"/>
              <a:buNone/>
              <a:defRPr sz="3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1" name="Google Shape;11;p2"/>
          <p:cNvSpPr txBox="1">
            <a:spLocks noGrp="1"/>
          </p:cNvSpPr>
          <p:nvPr>
            <p:ph type="body" idx="1"/>
          </p:nvPr>
        </p:nvSpPr>
        <p:spPr>
          <a:xfrm>
            <a:off x="179388" y="897731"/>
            <a:ext cx="8785200" cy="2538300"/>
          </a:xfrm>
          <a:prstGeom prst="rect">
            <a:avLst/>
          </a:prstGeom>
          <a:noFill/>
          <a:ln>
            <a:noFill/>
          </a:ln>
        </p:spPr>
        <p:txBody>
          <a:bodyPr spcFirstLastPara="1" wrap="square" lIns="68575" tIns="34275" rIns="68575" bIns="34275" anchor="t" anchorCtr="0">
            <a:noAutofit/>
          </a:bodyPr>
          <a:lstStyle>
            <a:lvl1pPr marL="457200" lvl="0" indent="-228600" algn="l">
              <a:lnSpc>
                <a:spcPct val="115000"/>
              </a:lnSpc>
              <a:spcBef>
                <a:spcPts val="400"/>
              </a:spcBef>
              <a:spcAft>
                <a:spcPts val="0"/>
              </a:spcAft>
              <a:buClr>
                <a:schemeClr val="dk1"/>
              </a:buClr>
              <a:buSzPts val="2100"/>
              <a:buFont typeface="Arial"/>
              <a:buNone/>
              <a:defRPr/>
            </a:lvl1pPr>
            <a:lvl2pPr marL="914400" lvl="1" indent="-317500" algn="l">
              <a:lnSpc>
                <a:spcPct val="115000"/>
              </a:lnSpc>
              <a:spcBef>
                <a:spcPts val="300"/>
              </a:spcBef>
              <a:spcAft>
                <a:spcPts val="0"/>
              </a:spcAft>
              <a:buClr>
                <a:schemeClr val="dk1"/>
              </a:buClr>
              <a:buSzPts val="1400"/>
              <a:buChar char="○"/>
              <a:defRPr/>
            </a:lvl2pPr>
            <a:lvl3pPr marL="1371600" lvl="2" indent="-317500" algn="l">
              <a:lnSpc>
                <a:spcPct val="115000"/>
              </a:lnSpc>
              <a:spcBef>
                <a:spcPts val="300"/>
              </a:spcBef>
              <a:spcAft>
                <a:spcPts val="0"/>
              </a:spcAft>
              <a:buClr>
                <a:schemeClr val="dk1"/>
              </a:buClr>
              <a:buSzPts val="1400"/>
              <a:buChar char="■"/>
              <a:defRPr/>
            </a:lvl3pPr>
            <a:lvl4pPr marL="1828800" lvl="3" indent="-317500" algn="l">
              <a:lnSpc>
                <a:spcPct val="115000"/>
              </a:lnSpc>
              <a:spcBef>
                <a:spcPts val="300"/>
              </a:spcBef>
              <a:spcAft>
                <a:spcPts val="0"/>
              </a:spcAft>
              <a:buClr>
                <a:schemeClr val="dk1"/>
              </a:buClr>
              <a:buSzPts val="1400"/>
              <a:buChar char="●"/>
              <a:defRPr/>
            </a:lvl4pPr>
            <a:lvl5pPr marL="2286000" lvl="4" indent="-317500" algn="l">
              <a:lnSpc>
                <a:spcPct val="115000"/>
              </a:lnSpc>
              <a:spcBef>
                <a:spcPts val="300"/>
              </a:spcBef>
              <a:spcAft>
                <a:spcPts val="0"/>
              </a:spcAft>
              <a:buClr>
                <a:schemeClr val="dk1"/>
              </a:buClr>
              <a:buSzPts val="1400"/>
              <a:buChar char="○"/>
              <a:defRPr/>
            </a:lvl5pPr>
            <a:lvl6pPr marL="2743200" lvl="5" indent="-317500" algn="l">
              <a:lnSpc>
                <a:spcPct val="115000"/>
              </a:lnSpc>
              <a:spcBef>
                <a:spcPts val="300"/>
              </a:spcBef>
              <a:spcAft>
                <a:spcPts val="0"/>
              </a:spcAft>
              <a:buClr>
                <a:schemeClr val="dk1"/>
              </a:buClr>
              <a:buSzPts val="1400"/>
              <a:buChar char="■"/>
              <a:defRPr/>
            </a:lvl6pPr>
            <a:lvl7pPr marL="3200400" lvl="6" indent="-317500" algn="l">
              <a:lnSpc>
                <a:spcPct val="115000"/>
              </a:lnSpc>
              <a:spcBef>
                <a:spcPts val="300"/>
              </a:spcBef>
              <a:spcAft>
                <a:spcPts val="0"/>
              </a:spcAft>
              <a:buClr>
                <a:schemeClr val="dk1"/>
              </a:buClr>
              <a:buSzPts val="1400"/>
              <a:buChar char="●"/>
              <a:defRPr/>
            </a:lvl7pPr>
            <a:lvl8pPr marL="3657600" lvl="7" indent="-317500" algn="l">
              <a:lnSpc>
                <a:spcPct val="115000"/>
              </a:lnSpc>
              <a:spcBef>
                <a:spcPts val="300"/>
              </a:spcBef>
              <a:spcAft>
                <a:spcPts val="0"/>
              </a:spcAft>
              <a:buClr>
                <a:schemeClr val="dk1"/>
              </a:buClr>
              <a:buSzPts val="1400"/>
              <a:buChar char="○"/>
              <a:defRPr/>
            </a:lvl8pPr>
            <a:lvl9pPr marL="4114800" lvl="8" indent="-317500" algn="l">
              <a:lnSpc>
                <a:spcPct val="115000"/>
              </a:lnSpc>
              <a:spcBef>
                <a:spcPts val="3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3"/>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 name="Google Shape;15;p3"/>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 name="Google Shape;16;p3"/>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7" name="Google Shape;17;p3"/>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 name="Google Shape;18;p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9" name="Google Shape;19;p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0" name="Google Shape;20;p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3" name="Google Shape;23;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4" name="Google Shape;24;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7" name="Google Shape;27;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 name="Google Shape;34;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2" name="Google Shape;42;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3" name="Google Shape;43;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6" name="Google Shape;46;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0" name="Google Shape;50;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1" name="Google Shape;51;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5" name="Google Shape;55;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6"/>
        <p:cNvGrpSpPr/>
        <p:nvPr/>
      </p:nvGrpSpPr>
      <p:grpSpPr>
        <a:xfrm>
          <a:off x="0" y="0"/>
          <a:ext cx="0" cy="0"/>
          <a:chOff x="0" y="0"/>
          <a:chExt cx="0" cy="0"/>
        </a:xfrm>
      </p:grpSpPr>
      <p:sp>
        <p:nvSpPr>
          <p:cNvPr id="57" name="Google Shape;57;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8" name="Google Shape;58;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9" name="Google Shape;5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4" name="Google Shape;64;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5" name="Google Shape;6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KB7HzF2O3Kg"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MmMX83diwl0"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hyperlink" Target="https://dashboard.blooket.com/set/68b8d0887ef53e8c73be158f" TargetMode="External"/><Relationship Id="rId4" Type="http://schemas.openxmlformats.org/officeDocument/2006/relationships/image" Target="../media/image24.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p:nvPr/>
        </p:nvSpPr>
        <p:spPr>
          <a:xfrm>
            <a:off x="186450" y="1403775"/>
            <a:ext cx="4858500" cy="2903100"/>
          </a:xfrm>
          <a:prstGeom prst="rect">
            <a:avLst/>
          </a:prstGeom>
          <a:solidFill>
            <a:srgbClr val="FFF2C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None/>
            </a:pPr>
            <a:r>
              <a:rPr lang="en" sz="1900" b="1">
                <a:latin typeface="Poppins"/>
                <a:ea typeface="Poppins"/>
                <a:cs typeface="Poppins"/>
                <a:sym typeface="Poppins"/>
              </a:rPr>
              <a:t>Last Lesson:</a:t>
            </a:r>
            <a:r>
              <a:rPr lang="en" sz="1900">
                <a:latin typeface="Poppins"/>
                <a:ea typeface="Poppins"/>
                <a:cs typeface="Poppins"/>
                <a:sym typeface="Poppins"/>
              </a:rPr>
              <a:t> Name the 4 types of plate boundaries</a:t>
            </a:r>
            <a:endParaRPr sz="1900">
              <a:latin typeface="Poppins"/>
              <a:ea typeface="Poppins"/>
              <a:cs typeface="Poppins"/>
              <a:sym typeface="Poppins"/>
            </a:endParaRPr>
          </a:p>
          <a:p>
            <a:pPr marL="0" marR="0" lvl="0" indent="0" algn="l" rtl="0">
              <a:lnSpc>
                <a:spcPct val="115000"/>
              </a:lnSpc>
              <a:spcBef>
                <a:spcPts val="0"/>
              </a:spcBef>
              <a:spcAft>
                <a:spcPts val="0"/>
              </a:spcAft>
              <a:buNone/>
            </a:pPr>
            <a:r>
              <a:rPr lang="en" sz="1900" b="1">
                <a:latin typeface="Poppins"/>
                <a:ea typeface="Poppins"/>
                <a:cs typeface="Poppins"/>
                <a:sym typeface="Poppins"/>
              </a:rPr>
              <a:t>Last Week:</a:t>
            </a:r>
            <a:r>
              <a:rPr lang="en" sz="1900">
                <a:latin typeface="Poppins"/>
                <a:ea typeface="Poppins"/>
                <a:cs typeface="Poppins"/>
                <a:sym typeface="Poppins"/>
              </a:rPr>
              <a:t> Why do earthquakes often happen near plate boundaries?</a:t>
            </a:r>
            <a:endParaRPr sz="1900">
              <a:latin typeface="Poppins"/>
              <a:ea typeface="Poppins"/>
              <a:cs typeface="Poppins"/>
              <a:sym typeface="Poppins"/>
            </a:endParaRPr>
          </a:p>
          <a:p>
            <a:pPr marL="0" marR="0" lvl="0" indent="0" algn="l" rtl="0">
              <a:lnSpc>
                <a:spcPct val="115000"/>
              </a:lnSpc>
              <a:spcBef>
                <a:spcPts val="0"/>
              </a:spcBef>
              <a:spcAft>
                <a:spcPts val="0"/>
              </a:spcAft>
              <a:buNone/>
            </a:pPr>
            <a:r>
              <a:rPr lang="en" sz="1900" b="1">
                <a:latin typeface="Poppins"/>
                <a:ea typeface="Poppins"/>
                <a:cs typeface="Poppins"/>
                <a:sym typeface="Poppins"/>
              </a:rPr>
              <a:t>Last Week:</a:t>
            </a:r>
            <a:r>
              <a:rPr lang="en" sz="1900">
                <a:latin typeface="Poppins"/>
                <a:ea typeface="Poppins"/>
                <a:cs typeface="Poppins"/>
                <a:sym typeface="Poppins"/>
              </a:rPr>
              <a:t> Why </a:t>
            </a:r>
            <a:r>
              <a:rPr lang="en" sz="1900" b="1">
                <a:latin typeface="Poppins"/>
                <a:ea typeface="Poppins"/>
                <a:cs typeface="Poppins"/>
                <a:sym typeface="Poppins"/>
              </a:rPr>
              <a:t>don’t</a:t>
            </a:r>
            <a:r>
              <a:rPr lang="en" sz="1900">
                <a:latin typeface="Poppins"/>
                <a:ea typeface="Poppins"/>
                <a:cs typeface="Poppins"/>
                <a:sym typeface="Poppins"/>
              </a:rPr>
              <a:t> all volcanoes form at plate boundaries?</a:t>
            </a:r>
            <a:endParaRPr sz="1900">
              <a:latin typeface="Poppins"/>
              <a:ea typeface="Poppins"/>
              <a:cs typeface="Poppins"/>
              <a:sym typeface="Poppins"/>
            </a:endParaRPr>
          </a:p>
        </p:txBody>
      </p:sp>
      <p:pic>
        <p:nvPicPr>
          <p:cNvPr id="71" name="Google Shape;71;p16"/>
          <p:cNvPicPr preferRelativeResize="0"/>
          <p:nvPr/>
        </p:nvPicPr>
        <p:blipFill>
          <a:blip r:embed="rId3">
            <a:alphaModFix/>
          </a:blip>
          <a:stretch>
            <a:fillRect/>
          </a:stretch>
        </p:blipFill>
        <p:spPr>
          <a:xfrm>
            <a:off x="225576" y="1442250"/>
            <a:ext cx="756925" cy="543250"/>
          </a:xfrm>
          <a:prstGeom prst="rect">
            <a:avLst/>
          </a:prstGeom>
          <a:noFill/>
          <a:ln>
            <a:noFill/>
          </a:ln>
        </p:spPr>
      </p:pic>
      <p:sp>
        <p:nvSpPr>
          <p:cNvPr id="72" name="Google Shape;72;p1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pic>
        <p:nvPicPr>
          <p:cNvPr id="73" name="Google Shape;73;p16"/>
          <p:cNvPicPr preferRelativeResize="0"/>
          <p:nvPr/>
        </p:nvPicPr>
        <p:blipFill>
          <a:blip r:embed="rId4">
            <a:alphaModFix/>
          </a:blip>
          <a:stretch>
            <a:fillRect/>
          </a:stretch>
        </p:blipFill>
        <p:spPr>
          <a:xfrm>
            <a:off x="5343900" y="2072000"/>
            <a:ext cx="3693300" cy="2139045"/>
          </a:xfrm>
          <a:prstGeom prst="rect">
            <a:avLst/>
          </a:prstGeom>
          <a:noFill/>
          <a:ln>
            <a:noFill/>
          </a:ln>
        </p:spPr>
      </p:pic>
      <p:sp>
        <p:nvSpPr>
          <p:cNvPr id="74" name="Google Shape;74;p16"/>
          <p:cNvSpPr txBox="1"/>
          <p:nvPr/>
        </p:nvSpPr>
        <p:spPr>
          <a:xfrm>
            <a:off x="153525" y="624775"/>
            <a:ext cx="5505600" cy="6309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Date:</a:t>
            </a:r>
            <a:r>
              <a:rPr lang="en" sz="1600" b="1" i="0" strike="noStrike" cap="none">
                <a:solidFill>
                  <a:srgbClr val="000000"/>
                </a:solidFill>
                <a:latin typeface="Poppins"/>
                <a:ea typeface="Poppins"/>
                <a:cs typeface="Poppins"/>
                <a:sym typeface="Poppins"/>
              </a:rPr>
              <a:t> T</a:t>
            </a:r>
            <a:r>
              <a:rPr lang="en" sz="1600" b="1">
                <a:latin typeface="Poppins"/>
                <a:ea typeface="Poppins"/>
                <a:cs typeface="Poppins"/>
                <a:sym typeface="Poppins"/>
              </a:rPr>
              <a:t>uesday 9th</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September</a:t>
            </a:r>
            <a:r>
              <a:rPr lang="en" sz="1600" b="1" i="0" strike="noStrike" cap="none">
                <a:solidFill>
                  <a:srgbClr val="000000"/>
                </a:solidFill>
                <a:latin typeface="Poppins"/>
                <a:ea typeface="Poppins"/>
                <a:cs typeface="Poppins"/>
                <a:sym typeface="Poppins"/>
              </a:rPr>
              <a:t> 202</a:t>
            </a:r>
            <a:r>
              <a:rPr lang="en" sz="1600" b="1">
                <a:latin typeface="Poppins"/>
                <a:ea typeface="Poppins"/>
                <a:cs typeface="Poppins"/>
                <a:sym typeface="Poppins"/>
              </a:rPr>
              <a:t>5</a:t>
            </a:r>
            <a:endParaRPr sz="1600" b="1" i="0"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Title: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How do we know the plates are moving?</a:t>
            </a:r>
            <a:endParaRPr sz="1600" b="1" i="0" strike="noStrike" cap="none">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p:nvPr/>
        </p:nvSpPr>
        <p:spPr>
          <a:xfrm>
            <a:off x="186450" y="1403775"/>
            <a:ext cx="4858500" cy="3464100"/>
          </a:xfrm>
          <a:prstGeom prst="rect">
            <a:avLst/>
          </a:prstGeom>
          <a:solidFill>
            <a:srgbClr val="FFF2C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None/>
            </a:pPr>
            <a:r>
              <a:rPr lang="en" sz="2300" b="1">
                <a:latin typeface="Poppins"/>
                <a:ea typeface="Poppins"/>
                <a:cs typeface="Poppins"/>
                <a:sym typeface="Poppins"/>
              </a:rPr>
              <a:t>Last Lesson:</a:t>
            </a:r>
            <a:r>
              <a:rPr lang="en" sz="2300">
                <a:latin typeface="Poppins"/>
                <a:ea typeface="Poppins"/>
                <a:cs typeface="Poppins"/>
                <a:sym typeface="Poppins"/>
              </a:rPr>
              <a:t> </a:t>
            </a:r>
            <a:endParaRPr sz="2300">
              <a:latin typeface="Poppins"/>
              <a:ea typeface="Poppins"/>
              <a:cs typeface="Poppins"/>
              <a:sym typeface="Poppins"/>
            </a:endParaRPr>
          </a:p>
          <a:p>
            <a:pPr marL="457200" marR="0" lvl="0" indent="-355600" algn="l" rtl="0">
              <a:lnSpc>
                <a:spcPct val="115000"/>
              </a:lnSpc>
              <a:spcBef>
                <a:spcPts val="0"/>
              </a:spcBef>
              <a:spcAft>
                <a:spcPts val="0"/>
              </a:spcAft>
              <a:buSzPts val="2000"/>
              <a:buFont typeface="Poppins"/>
              <a:buChar char="●"/>
            </a:pPr>
            <a:r>
              <a:rPr lang="en" sz="2000">
                <a:latin typeface="Poppins"/>
                <a:ea typeface="Poppins"/>
                <a:cs typeface="Poppins"/>
                <a:sym typeface="Poppins"/>
              </a:rPr>
              <a:t>Use latitude and longitude to mark the major volcanic eruptions and earthquakes on your map.</a:t>
            </a:r>
            <a:endParaRPr sz="2000">
              <a:latin typeface="Poppins"/>
              <a:ea typeface="Poppins"/>
              <a:cs typeface="Poppins"/>
              <a:sym typeface="Poppins"/>
            </a:endParaRPr>
          </a:p>
          <a:p>
            <a:pPr marL="457200" marR="0" lvl="0" indent="-355600" algn="l" rtl="0">
              <a:lnSpc>
                <a:spcPct val="115000"/>
              </a:lnSpc>
              <a:spcBef>
                <a:spcPts val="0"/>
              </a:spcBef>
              <a:spcAft>
                <a:spcPts val="0"/>
              </a:spcAft>
              <a:buClr>
                <a:schemeClr val="dk1"/>
              </a:buClr>
              <a:buSzPts val="2000"/>
              <a:buFont typeface="Poppins"/>
              <a:buChar char="●"/>
            </a:pPr>
            <a:r>
              <a:rPr lang="en" sz="2000">
                <a:solidFill>
                  <a:schemeClr val="dk1"/>
                </a:solidFill>
                <a:latin typeface="Poppins"/>
                <a:ea typeface="Poppins"/>
                <a:cs typeface="Poppins"/>
                <a:sym typeface="Poppins"/>
              </a:rPr>
              <a:t>Name the 4 types of plate boundaries</a:t>
            </a:r>
            <a:endParaRPr sz="2000">
              <a:solidFill>
                <a:schemeClr val="dk1"/>
              </a:solidFill>
              <a:latin typeface="Poppins"/>
              <a:ea typeface="Poppins"/>
              <a:cs typeface="Poppins"/>
              <a:sym typeface="Poppins"/>
            </a:endParaRPr>
          </a:p>
          <a:p>
            <a:pPr marL="0" marR="0" lvl="0" indent="0" algn="l" rtl="0">
              <a:lnSpc>
                <a:spcPct val="115000"/>
              </a:lnSpc>
              <a:spcBef>
                <a:spcPts val="0"/>
              </a:spcBef>
              <a:spcAft>
                <a:spcPts val="0"/>
              </a:spcAft>
              <a:buNone/>
            </a:pPr>
            <a:endParaRPr sz="2300">
              <a:latin typeface="Poppins"/>
              <a:ea typeface="Poppins"/>
              <a:cs typeface="Poppins"/>
              <a:sym typeface="Poppins"/>
            </a:endParaRPr>
          </a:p>
          <a:p>
            <a:pPr marL="0" marR="0" lvl="0" indent="0" algn="l" rtl="0">
              <a:lnSpc>
                <a:spcPct val="115000"/>
              </a:lnSpc>
              <a:spcBef>
                <a:spcPts val="0"/>
              </a:spcBef>
              <a:spcAft>
                <a:spcPts val="0"/>
              </a:spcAft>
              <a:buNone/>
            </a:pPr>
            <a:endParaRPr sz="1900">
              <a:latin typeface="Poppins"/>
              <a:ea typeface="Poppins"/>
              <a:cs typeface="Poppins"/>
              <a:sym typeface="Poppins"/>
            </a:endParaRPr>
          </a:p>
        </p:txBody>
      </p:sp>
      <p:pic>
        <p:nvPicPr>
          <p:cNvPr id="80" name="Google Shape;80;p17"/>
          <p:cNvPicPr preferRelativeResize="0"/>
          <p:nvPr/>
        </p:nvPicPr>
        <p:blipFill>
          <a:blip r:embed="rId3">
            <a:alphaModFix/>
          </a:blip>
          <a:stretch>
            <a:fillRect/>
          </a:stretch>
        </p:blipFill>
        <p:spPr>
          <a:xfrm>
            <a:off x="225576" y="1442250"/>
            <a:ext cx="756925" cy="543250"/>
          </a:xfrm>
          <a:prstGeom prst="rect">
            <a:avLst/>
          </a:prstGeom>
          <a:noFill/>
          <a:ln>
            <a:noFill/>
          </a:ln>
        </p:spPr>
      </p:pic>
      <p:sp>
        <p:nvSpPr>
          <p:cNvPr id="81" name="Google Shape;81;p1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pic>
        <p:nvPicPr>
          <p:cNvPr id="82" name="Google Shape;82;p17"/>
          <p:cNvPicPr preferRelativeResize="0"/>
          <p:nvPr/>
        </p:nvPicPr>
        <p:blipFill>
          <a:blip r:embed="rId4">
            <a:alphaModFix/>
          </a:blip>
          <a:stretch>
            <a:fillRect/>
          </a:stretch>
        </p:blipFill>
        <p:spPr>
          <a:xfrm>
            <a:off x="5279625" y="1403775"/>
            <a:ext cx="3693300" cy="2139045"/>
          </a:xfrm>
          <a:prstGeom prst="rect">
            <a:avLst/>
          </a:prstGeom>
          <a:noFill/>
          <a:ln>
            <a:noFill/>
          </a:ln>
        </p:spPr>
      </p:pic>
      <p:sp>
        <p:nvSpPr>
          <p:cNvPr id="83" name="Google Shape;83;p17"/>
          <p:cNvSpPr txBox="1"/>
          <p:nvPr/>
        </p:nvSpPr>
        <p:spPr>
          <a:xfrm>
            <a:off x="153525" y="624775"/>
            <a:ext cx="5505600" cy="6309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Date: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Thursday 18th</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September</a:t>
            </a:r>
            <a:r>
              <a:rPr lang="en" sz="1600" b="1" i="0" strike="noStrike" cap="none">
                <a:solidFill>
                  <a:srgbClr val="000000"/>
                </a:solidFill>
                <a:latin typeface="Poppins"/>
                <a:ea typeface="Poppins"/>
                <a:cs typeface="Poppins"/>
                <a:sym typeface="Poppins"/>
              </a:rPr>
              <a:t> 202</a:t>
            </a:r>
            <a:r>
              <a:rPr lang="en" sz="1600" b="1">
                <a:latin typeface="Poppins"/>
                <a:ea typeface="Poppins"/>
                <a:cs typeface="Poppins"/>
                <a:sym typeface="Poppins"/>
              </a:rPr>
              <a:t>5</a:t>
            </a:r>
            <a:endParaRPr sz="1600" b="1" i="0"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Title: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How do we know the plates are moving?</a:t>
            </a:r>
            <a:endParaRPr sz="1600" b="1" i="0"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8" descr="Incredible Map of Pangea With Modern-Day Borders"/>
          <p:cNvPicPr preferRelativeResize="0"/>
          <p:nvPr/>
        </p:nvPicPr>
        <p:blipFill rotWithShape="1">
          <a:blip r:embed="rId3">
            <a:alphaModFix/>
          </a:blip>
          <a:srcRect/>
          <a:stretch/>
        </p:blipFill>
        <p:spPr>
          <a:xfrm>
            <a:off x="106800" y="851925"/>
            <a:ext cx="4156476" cy="4291574"/>
          </a:xfrm>
          <a:prstGeom prst="rect">
            <a:avLst/>
          </a:prstGeom>
          <a:noFill/>
          <a:ln>
            <a:noFill/>
          </a:ln>
        </p:spPr>
      </p:pic>
      <p:pic>
        <p:nvPicPr>
          <p:cNvPr id="89" name="Google Shape;89;p18" descr="GIF continental drift maps - animated GIF on GIFER"/>
          <p:cNvPicPr preferRelativeResize="0"/>
          <p:nvPr/>
        </p:nvPicPr>
        <p:blipFill rotWithShape="1">
          <a:blip r:embed="rId4">
            <a:alphaModFix/>
          </a:blip>
          <a:srcRect/>
          <a:stretch/>
        </p:blipFill>
        <p:spPr>
          <a:xfrm>
            <a:off x="4320974" y="2383600"/>
            <a:ext cx="4722000" cy="2606954"/>
          </a:xfrm>
          <a:prstGeom prst="rect">
            <a:avLst/>
          </a:prstGeom>
          <a:noFill/>
          <a:ln>
            <a:noFill/>
          </a:ln>
        </p:spPr>
      </p:pic>
      <p:sp>
        <p:nvSpPr>
          <p:cNvPr id="90" name="Google Shape;90;p18"/>
          <p:cNvSpPr txBox="1"/>
          <p:nvPr/>
        </p:nvSpPr>
        <p:spPr>
          <a:xfrm>
            <a:off x="4320975" y="756724"/>
            <a:ext cx="45501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b="1" i="0" u="none" strike="noStrike" cap="none">
                <a:solidFill>
                  <a:srgbClr val="000000"/>
                </a:solidFill>
                <a:latin typeface="Delius"/>
                <a:ea typeface="Delius"/>
                <a:cs typeface="Delius"/>
                <a:sym typeface="Delius"/>
              </a:rPr>
              <a:t>Pangaea Supercontinent</a:t>
            </a:r>
            <a:endParaRPr sz="700" b="0" i="0" u="none" strike="noStrike" cap="none">
              <a:solidFill>
                <a:srgbClr val="000000"/>
              </a:solidFill>
              <a:latin typeface="Delius"/>
              <a:ea typeface="Delius"/>
              <a:cs typeface="Delius"/>
              <a:sym typeface="Delius"/>
            </a:endParaRPr>
          </a:p>
        </p:txBody>
      </p:sp>
      <p:sp>
        <p:nvSpPr>
          <p:cNvPr id="91" name="Google Shape;91;p18"/>
          <p:cNvSpPr txBox="1"/>
          <p:nvPr/>
        </p:nvSpPr>
        <p:spPr>
          <a:xfrm>
            <a:off x="4320975" y="1071862"/>
            <a:ext cx="4722000" cy="1177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a:latin typeface="Baumans"/>
                <a:ea typeface="Baumans"/>
                <a:cs typeface="Baumans"/>
                <a:sym typeface="Baumans"/>
              </a:rPr>
              <a:t>Around 300 million years ago, all the land on Earth was joined together in one supercontinent called Pangaea. But what happened next?</a:t>
            </a:r>
            <a:endParaRPr sz="1800" i="0" u="none" strike="noStrike" cap="none">
              <a:solidFill>
                <a:srgbClr val="000000"/>
              </a:solidFill>
              <a:latin typeface="Baumans"/>
              <a:ea typeface="Baumans"/>
              <a:cs typeface="Baumans"/>
              <a:sym typeface="Baumans"/>
            </a:endParaRPr>
          </a:p>
        </p:txBody>
      </p:sp>
      <p:sp>
        <p:nvSpPr>
          <p:cNvPr id="92" name="Google Shape;92;p1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p:nvPr/>
        </p:nvSpPr>
        <p:spPr>
          <a:xfrm>
            <a:off x="138743" y="632870"/>
            <a:ext cx="8866500" cy="623400"/>
          </a:xfrm>
          <a:prstGeom prst="rect">
            <a:avLst/>
          </a:prstGeom>
          <a:solidFill>
            <a:srgbClr val="FFD96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a:ea typeface="Poppins"/>
                <a:cs typeface="Poppins"/>
                <a:sym typeface="Poppins"/>
              </a:rPr>
              <a:t>W</a:t>
            </a:r>
            <a:r>
              <a:rPr lang="en" sz="1800" i="0" u="none" strike="noStrike" cap="none">
                <a:solidFill>
                  <a:srgbClr val="000000"/>
                </a:solidFill>
                <a:latin typeface="Poppins"/>
                <a:ea typeface="Poppins"/>
                <a:cs typeface="Poppins"/>
                <a:sym typeface="Poppins"/>
              </a:rPr>
              <a:t>hich continents do you think look like they could fit together like jigsaw pieces</a:t>
            </a:r>
            <a:endParaRPr sz="1800" i="0" u="none" strike="noStrike" cap="none">
              <a:solidFill>
                <a:srgbClr val="000000"/>
              </a:solidFill>
              <a:latin typeface="Poppins"/>
              <a:ea typeface="Poppins"/>
              <a:cs typeface="Poppins"/>
              <a:sym typeface="Poppins"/>
            </a:endParaRPr>
          </a:p>
        </p:txBody>
      </p:sp>
      <p:pic>
        <p:nvPicPr>
          <p:cNvPr id="98" name="Google Shape;98;p19" descr="Continents Of The World"/>
          <p:cNvPicPr preferRelativeResize="0"/>
          <p:nvPr/>
        </p:nvPicPr>
        <p:blipFill rotWithShape="1">
          <a:blip r:embed="rId3">
            <a:alphaModFix/>
          </a:blip>
          <a:srcRect/>
          <a:stretch/>
        </p:blipFill>
        <p:spPr>
          <a:xfrm>
            <a:off x="975737" y="1329750"/>
            <a:ext cx="7192526" cy="3625300"/>
          </a:xfrm>
          <a:prstGeom prst="rect">
            <a:avLst/>
          </a:prstGeom>
          <a:noFill/>
          <a:ln>
            <a:noFill/>
          </a:ln>
        </p:spPr>
      </p:pic>
      <p:sp>
        <p:nvSpPr>
          <p:cNvPr id="99" name="Google Shape;99;p1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lang="en" sz="2000" i="0" u="none" strike="noStrike" cap="none">
                <a:solidFill>
                  <a:srgbClr val="000000"/>
                </a:solidFill>
                <a:latin typeface="Fugaz One"/>
                <a:ea typeface="Fugaz One"/>
                <a:cs typeface="Fugaz One"/>
                <a:sym typeface="Fugaz One"/>
              </a:rPr>
              <a:t>ow do we know the continents have moved?</a:t>
            </a:r>
            <a:endParaRPr sz="700" i="0" u="none" strike="noStrike" cap="none">
              <a:solidFill>
                <a:srgbClr val="000000"/>
              </a:solidFill>
              <a:latin typeface="Fugaz One"/>
              <a:ea typeface="Fugaz One"/>
              <a:cs typeface="Fugaz One"/>
              <a:sym typeface="Fugaz One"/>
            </a:endParaRPr>
          </a:p>
        </p:txBody>
      </p:sp>
      <p:pic>
        <p:nvPicPr>
          <p:cNvPr id="105" name="Google Shape;105;p20" descr="Alfred Wegener | Biography, Theory, &amp; Facts | Britannica"/>
          <p:cNvPicPr preferRelativeResize="0"/>
          <p:nvPr/>
        </p:nvPicPr>
        <p:blipFill rotWithShape="1">
          <a:blip r:embed="rId3">
            <a:alphaModFix/>
          </a:blip>
          <a:srcRect/>
          <a:stretch/>
        </p:blipFill>
        <p:spPr>
          <a:xfrm>
            <a:off x="125350" y="1000100"/>
            <a:ext cx="2770014" cy="3332352"/>
          </a:xfrm>
          <a:prstGeom prst="rect">
            <a:avLst/>
          </a:prstGeom>
          <a:noFill/>
          <a:ln>
            <a:noFill/>
          </a:ln>
        </p:spPr>
      </p:pic>
      <p:sp>
        <p:nvSpPr>
          <p:cNvPr id="106" name="Google Shape;106;p20"/>
          <p:cNvSpPr txBox="1"/>
          <p:nvPr/>
        </p:nvSpPr>
        <p:spPr>
          <a:xfrm>
            <a:off x="125275" y="4332450"/>
            <a:ext cx="2769900" cy="361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 sz="1900" b="1" i="0" u="none" strike="noStrike" cap="none">
                <a:solidFill>
                  <a:srgbClr val="000000"/>
                </a:solidFill>
                <a:latin typeface="Delius"/>
                <a:ea typeface="Delius"/>
                <a:cs typeface="Delius"/>
                <a:sym typeface="Delius"/>
              </a:rPr>
              <a:t>Alfred Wegener</a:t>
            </a:r>
            <a:endParaRPr sz="900" b="0" i="0" u="none" strike="noStrike" cap="none">
              <a:solidFill>
                <a:srgbClr val="000000"/>
              </a:solidFill>
              <a:latin typeface="Delius"/>
              <a:ea typeface="Delius"/>
              <a:cs typeface="Delius"/>
              <a:sym typeface="Delius"/>
            </a:endParaRPr>
          </a:p>
        </p:txBody>
      </p:sp>
      <p:sp>
        <p:nvSpPr>
          <p:cNvPr id="107" name="Google Shape;107;p20"/>
          <p:cNvSpPr txBox="1"/>
          <p:nvPr/>
        </p:nvSpPr>
        <p:spPr>
          <a:xfrm>
            <a:off x="2895375" y="995700"/>
            <a:ext cx="6063900" cy="1437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800" b="1">
                <a:solidFill>
                  <a:schemeClr val="dk1"/>
                </a:solidFill>
                <a:latin typeface="Baumans"/>
                <a:ea typeface="Baumans"/>
                <a:cs typeface="Baumans"/>
                <a:sym typeface="Baumans"/>
              </a:rPr>
              <a:t>Alfred Wegener</a:t>
            </a:r>
            <a:r>
              <a:rPr lang="en" sz="1800">
                <a:solidFill>
                  <a:schemeClr val="dk1"/>
                </a:solidFill>
                <a:latin typeface="Baumans"/>
                <a:ea typeface="Baumans"/>
                <a:cs typeface="Baumans"/>
                <a:sym typeface="Baumans"/>
              </a:rPr>
              <a:t> was a German scientist in the early 1900s. He first suggested the idea of </a:t>
            </a:r>
            <a:r>
              <a:rPr lang="en" sz="1800" b="1">
                <a:solidFill>
                  <a:schemeClr val="dk1"/>
                </a:solidFill>
                <a:latin typeface="Baumans"/>
                <a:ea typeface="Baumans"/>
                <a:cs typeface="Baumans"/>
                <a:sym typeface="Baumans"/>
              </a:rPr>
              <a:t>continental drift </a:t>
            </a:r>
            <a:r>
              <a:rPr lang="en" sz="1800">
                <a:solidFill>
                  <a:schemeClr val="dk1"/>
                </a:solidFill>
                <a:latin typeface="Baumans"/>
                <a:ea typeface="Baumans"/>
                <a:cs typeface="Baumans"/>
                <a:sym typeface="Baumans"/>
              </a:rPr>
              <a:t>— the process where </a:t>
            </a:r>
            <a:r>
              <a:rPr lang="en" sz="1800" b="1">
                <a:solidFill>
                  <a:schemeClr val="dk1"/>
                </a:solidFill>
                <a:latin typeface="Baumans"/>
                <a:ea typeface="Baumans"/>
                <a:cs typeface="Baumans"/>
                <a:sym typeface="Baumans"/>
              </a:rPr>
              <a:t>tectonic plates</a:t>
            </a:r>
            <a:r>
              <a:rPr lang="en" sz="1800">
                <a:solidFill>
                  <a:schemeClr val="dk1"/>
                </a:solidFill>
                <a:latin typeface="Baumans"/>
                <a:ea typeface="Baumans"/>
                <a:cs typeface="Baumans"/>
                <a:sym typeface="Baumans"/>
              </a:rPr>
              <a:t> move, causing the </a:t>
            </a:r>
            <a:r>
              <a:rPr lang="en" sz="1800" b="1">
                <a:solidFill>
                  <a:schemeClr val="dk1"/>
                </a:solidFill>
                <a:latin typeface="Baumans"/>
                <a:ea typeface="Baumans"/>
                <a:cs typeface="Baumans"/>
                <a:sym typeface="Baumans"/>
              </a:rPr>
              <a:t>continents</a:t>
            </a:r>
            <a:r>
              <a:rPr lang="en" sz="1800">
                <a:solidFill>
                  <a:schemeClr val="dk1"/>
                </a:solidFill>
                <a:latin typeface="Baumans"/>
                <a:ea typeface="Baumans"/>
                <a:cs typeface="Baumans"/>
                <a:sym typeface="Baumans"/>
              </a:rPr>
              <a:t> to spread apart.</a:t>
            </a:r>
            <a:endParaRPr sz="1800" i="0" u="none" strike="noStrike" cap="none">
              <a:solidFill>
                <a:srgbClr val="000000"/>
              </a:solidFill>
              <a:latin typeface="Baumans"/>
              <a:ea typeface="Baumans"/>
              <a:cs typeface="Baumans"/>
              <a:sym typeface="Baumans"/>
            </a:endParaRPr>
          </a:p>
        </p:txBody>
      </p:sp>
      <p:sp>
        <p:nvSpPr>
          <p:cNvPr id="108" name="Google Shape;108;p2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09" name="Google Shape;109;p20"/>
          <p:cNvSpPr txBox="1"/>
          <p:nvPr/>
        </p:nvSpPr>
        <p:spPr>
          <a:xfrm>
            <a:off x="2895375" y="2571750"/>
            <a:ext cx="6141900" cy="173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Wegener noticed that the continents looked like they could fit together, like pieces of a puzzle.</a:t>
            </a: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At first, many scientists did not believe him, but later evidence showed he was right.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p:nvPr/>
        </p:nvSpPr>
        <p:spPr>
          <a:xfrm>
            <a:off x="4574975" y="1316700"/>
            <a:ext cx="4401900" cy="10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000000"/>
                </a:solidFill>
                <a:highlight>
                  <a:srgbClr val="00FF00"/>
                </a:highlight>
                <a:latin typeface="Delius"/>
                <a:ea typeface="Delius"/>
                <a:cs typeface="Delius"/>
                <a:sym typeface="Delius"/>
              </a:rPr>
              <a:t>Activity:</a:t>
            </a:r>
            <a:r>
              <a:rPr lang="en" sz="1600">
                <a:solidFill>
                  <a:srgbClr val="000000"/>
                </a:solidFill>
                <a:latin typeface="Delius"/>
                <a:ea typeface="Delius"/>
                <a:cs typeface="Delius"/>
                <a:sym typeface="Delius"/>
              </a:rPr>
              <a:t> Complete the multiple choice questions whilst watching the video on </a:t>
            </a:r>
            <a:endParaRPr sz="1600">
              <a:latin typeface="Delius"/>
              <a:ea typeface="Delius"/>
              <a:cs typeface="Delius"/>
              <a:sym typeface="Delius"/>
            </a:endParaRPr>
          </a:p>
          <a:p>
            <a:pPr marL="0" lvl="0" indent="0" algn="l" rtl="0">
              <a:spcBef>
                <a:spcPts val="0"/>
              </a:spcBef>
              <a:spcAft>
                <a:spcPts val="0"/>
              </a:spcAft>
              <a:buNone/>
            </a:pPr>
            <a:r>
              <a:rPr lang="en" sz="1600" b="1">
                <a:latin typeface="Delius"/>
                <a:ea typeface="Delius"/>
                <a:cs typeface="Delius"/>
                <a:sym typeface="Delius"/>
              </a:rPr>
              <a:t>Why It Took Scientists So Long To Accept This Very Obvious Idea</a:t>
            </a:r>
            <a:endParaRPr sz="1600" b="1">
              <a:solidFill>
                <a:srgbClr val="000000"/>
              </a:solidFill>
              <a:latin typeface="Delius"/>
              <a:ea typeface="Delius"/>
              <a:cs typeface="Delius"/>
              <a:sym typeface="Delius"/>
            </a:endParaRPr>
          </a:p>
        </p:txBody>
      </p:sp>
      <p:pic>
        <p:nvPicPr>
          <p:cNvPr id="115" name="Google Shape;115;p21" descr="But did thee feel the Earth move?&#10;We’re on PATREON! Support our show: https://www.patreon.com/itsokaytobesmart&#10;↓ More info and sources below ↓&#10;&#10;Why do Africa and South America fit together? Anyone who’s ever looked at a map can see that Earth’s continents are kind of like a jigsaw puzzle. The idea that continents are constantly moving and weren’t always in their current spots is a pretty obvious idea, right? You might be surprised to learn that geologists only accepted that idea recently in the past few decades, and it figuring out how plate tectonics and continental drift work required some pretty strange evidence.&#10;&#10;-----------&#10;LEARN MORE:&#10;Some background on Alfred Wegener: http://www.ucmp.berkeley.edu/geology/techist.html &#10;&#10;Lystrosaurus (ancient mammal relative): https://en.wikipedia.org/wiki/Lystrosaurus &#10;&#10;Glossopteris (ancient fern): https://en.wikipedia.org/wiki/Glossopteris &#10;&#10;The splitting of Africa: http://theconversation.com/splitting-africa-what-happens-when-a-continent-breaks-apart-6248 &#10;&#10;-----------&#10;FOLLOW US:&#10;&#10;Merch: https://store.dftba.com/collections/its-okay-to-be-smart &#10;Facebook: http://www.facebook.com/itsokaytobesmart&#10;Twitter: @okaytobesmart @DrJoeHanson&#10;Tumblr: http://www.itsokaytobesmart.com &#10;Instagram: @DrJoeHanson&#10;Snapchat: YoDrJoe&#10;-----------&#10;&#10;It’s Okay To Be Smart is hosted by Joe Hanson, Ph.D.&#10;Director: Joe Nicolosi&#10;Writer: Shaena Montanari&#10;Producer/editor/animator: Andrew Orsak&#10;Producer: Stephanie Noone and Amanda Fox&#10;&#10;Produced by PBS Digital Studios&#10;Music via APM&#10;Stock images from Shutterstock http://www.shutterstock.com" title="Why It Took Scientists So Long To Accept This Very Obvious Idea">
            <a:hlinkClick r:id="rId3"/>
          </p:cNvPr>
          <p:cNvPicPr preferRelativeResize="0"/>
          <p:nvPr/>
        </p:nvPicPr>
        <p:blipFill>
          <a:blip r:embed="rId4">
            <a:alphaModFix/>
          </a:blip>
          <a:stretch>
            <a:fillRect/>
          </a:stretch>
        </p:blipFill>
        <p:spPr>
          <a:xfrm>
            <a:off x="129425" y="1316700"/>
            <a:ext cx="4401900" cy="2476076"/>
          </a:xfrm>
          <a:prstGeom prst="rect">
            <a:avLst/>
          </a:prstGeom>
          <a:noFill/>
          <a:ln>
            <a:noFill/>
          </a:ln>
        </p:spPr>
      </p:pic>
      <p:sp>
        <p:nvSpPr>
          <p:cNvPr id="116" name="Google Shape;116;p21"/>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lang="en" sz="2000" i="0" u="none" strike="noStrike" cap="none">
                <a:solidFill>
                  <a:srgbClr val="000000"/>
                </a:solidFill>
                <a:latin typeface="Fugaz One"/>
                <a:ea typeface="Fugaz One"/>
                <a:cs typeface="Fugaz One"/>
                <a:sym typeface="Fugaz One"/>
              </a:rPr>
              <a:t>ow do we know the continents have moved?</a:t>
            </a:r>
            <a:endParaRPr sz="700" i="0" u="none" strike="noStrike" cap="none">
              <a:solidFill>
                <a:srgbClr val="000000"/>
              </a:solidFill>
              <a:latin typeface="Fugaz One"/>
              <a:ea typeface="Fugaz One"/>
              <a:cs typeface="Fugaz One"/>
              <a:sym typeface="Fugaz One"/>
            </a:endParaRPr>
          </a:p>
        </p:txBody>
      </p:sp>
      <p:sp>
        <p:nvSpPr>
          <p:cNvPr id="117" name="Google Shape;117;p2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pic>
        <p:nvPicPr>
          <p:cNvPr id="118" name="Google Shape;118;p21" title="Screenshot 2025-09-02 at 2.38.54 PM.png"/>
          <p:cNvPicPr preferRelativeResize="0"/>
          <p:nvPr/>
        </p:nvPicPr>
        <p:blipFill>
          <a:blip r:embed="rId5">
            <a:alphaModFix/>
          </a:blip>
          <a:stretch>
            <a:fillRect/>
          </a:stretch>
        </p:blipFill>
        <p:spPr>
          <a:xfrm>
            <a:off x="5050188" y="2423300"/>
            <a:ext cx="3427054" cy="2615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p:nvPr/>
        </p:nvSpPr>
        <p:spPr>
          <a:xfrm>
            <a:off x="55413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24" name="Google Shape;124;p22"/>
          <p:cNvSpPr txBox="1"/>
          <p:nvPr/>
        </p:nvSpPr>
        <p:spPr>
          <a:xfrm>
            <a:off x="125350" y="1063700"/>
            <a:ext cx="5407200" cy="4044900"/>
          </a:xfrm>
          <a:prstGeom prst="rect">
            <a:avLst/>
          </a:prstGeom>
          <a:noFill/>
          <a:ln>
            <a:noFill/>
          </a:ln>
        </p:spPr>
        <p:txBody>
          <a:bodyPr spcFirstLastPara="1" wrap="square" lIns="91425" tIns="91425" rIns="91425" bIns="91425" anchor="t" anchorCtr="0">
            <a:spAutoFit/>
          </a:bodyPr>
          <a:lstStyle/>
          <a:p>
            <a:pPr marL="762000" lvl="0" indent="-330200" algn="l" rtl="0">
              <a:lnSpc>
                <a:spcPct val="1334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The Earth's crust moves around</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Alfred Wegener</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Fossils found in Africa and Antarctica</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They could not see how continents might move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Thermal convection in the mantle can move the crust</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A magnetic pattern along a seafloor ridge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The crust is spreading apart</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A region with many volcanoes and earthquakes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2.5 centimeters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They often take time to be accepted</a:t>
            </a:r>
            <a:endParaRPr sz="1600" b="1">
              <a:solidFill>
                <a:srgbClr val="38761D"/>
              </a:solidFill>
              <a:latin typeface="Delius"/>
              <a:ea typeface="Delius"/>
              <a:cs typeface="Delius"/>
              <a:sym typeface="Delius"/>
            </a:endParaRPr>
          </a:p>
        </p:txBody>
      </p:sp>
      <p:sp>
        <p:nvSpPr>
          <p:cNvPr id="125" name="Google Shape;125;p22"/>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lang="en" sz="2000" i="0" u="none" strike="noStrike" cap="none">
                <a:solidFill>
                  <a:srgbClr val="000000"/>
                </a:solidFill>
                <a:latin typeface="Fugaz One"/>
                <a:ea typeface="Fugaz One"/>
                <a:cs typeface="Fugaz One"/>
                <a:sym typeface="Fugaz One"/>
              </a:rPr>
              <a:t>ow do we know the continents have moved?</a:t>
            </a:r>
            <a:endParaRPr sz="700" i="0" u="none" strike="noStrike" cap="none">
              <a:solidFill>
                <a:srgbClr val="000000"/>
              </a:solidFill>
              <a:latin typeface="Fugaz One"/>
              <a:ea typeface="Fugaz One"/>
              <a:cs typeface="Fugaz One"/>
              <a:sym typeface="Fugaz One"/>
            </a:endParaRPr>
          </a:p>
        </p:txBody>
      </p:sp>
      <p:sp>
        <p:nvSpPr>
          <p:cNvPr id="126" name="Google Shape;126;p22"/>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pic>
        <p:nvPicPr>
          <p:cNvPr id="127" name="Google Shape;127;p22" title="Screenshot 2025-09-02 at 2.38.54 PM.png"/>
          <p:cNvPicPr preferRelativeResize="0"/>
          <p:nvPr/>
        </p:nvPicPr>
        <p:blipFill>
          <a:blip r:embed="rId3">
            <a:alphaModFix/>
          </a:blip>
          <a:stretch>
            <a:fillRect/>
          </a:stretch>
        </p:blipFill>
        <p:spPr>
          <a:xfrm>
            <a:off x="5561225" y="1897700"/>
            <a:ext cx="3427054" cy="26151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lang="en" sz="2000" i="0" u="none" strike="noStrike" cap="none">
                <a:solidFill>
                  <a:srgbClr val="000000"/>
                </a:solidFill>
                <a:latin typeface="Fugaz One"/>
                <a:ea typeface="Fugaz One"/>
                <a:cs typeface="Fugaz One"/>
                <a:sym typeface="Fugaz One"/>
              </a:rPr>
              <a:t>ow do we know the continents have moved?</a:t>
            </a:r>
            <a:endParaRPr sz="700" i="0" u="none" strike="noStrike" cap="none">
              <a:solidFill>
                <a:srgbClr val="000000"/>
              </a:solidFill>
              <a:latin typeface="Fugaz One"/>
              <a:ea typeface="Fugaz One"/>
              <a:cs typeface="Fugaz One"/>
              <a:sym typeface="Fugaz One"/>
            </a:endParaRPr>
          </a:p>
        </p:txBody>
      </p:sp>
      <p:pic>
        <p:nvPicPr>
          <p:cNvPr id="133" name="Google Shape;133;p23" descr="Alfred Wegener | Biography, Theory, &amp; Facts | Britannica"/>
          <p:cNvPicPr preferRelativeResize="0"/>
          <p:nvPr/>
        </p:nvPicPr>
        <p:blipFill rotWithShape="1">
          <a:blip r:embed="rId3">
            <a:alphaModFix/>
          </a:blip>
          <a:srcRect/>
          <a:stretch/>
        </p:blipFill>
        <p:spPr>
          <a:xfrm>
            <a:off x="125350" y="1000100"/>
            <a:ext cx="1933049" cy="2325476"/>
          </a:xfrm>
          <a:prstGeom prst="rect">
            <a:avLst/>
          </a:prstGeom>
          <a:noFill/>
          <a:ln>
            <a:noFill/>
          </a:ln>
        </p:spPr>
      </p:pic>
      <p:sp>
        <p:nvSpPr>
          <p:cNvPr id="134" name="Google Shape;134;p23"/>
          <p:cNvSpPr txBox="1"/>
          <p:nvPr/>
        </p:nvSpPr>
        <p:spPr>
          <a:xfrm>
            <a:off x="125350" y="3325575"/>
            <a:ext cx="1933200" cy="361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 sz="1900" b="1" i="0" u="none" strike="noStrike" cap="none">
                <a:solidFill>
                  <a:srgbClr val="000000"/>
                </a:solidFill>
                <a:latin typeface="Delius"/>
                <a:ea typeface="Delius"/>
                <a:cs typeface="Delius"/>
                <a:sym typeface="Delius"/>
              </a:rPr>
              <a:t>Alfred Wegener</a:t>
            </a:r>
            <a:endParaRPr sz="900" b="0" i="0" u="none" strike="noStrike" cap="none">
              <a:solidFill>
                <a:srgbClr val="000000"/>
              </a:solidFill>
              <a:latin typeface="Delius"/>
              <a:ea typeface="Delius"/>
              <a:cs typeface="Delius"/>
              <a:sym typeface="Delius"/>
            </a:endParaRPr>
          </a:p>
        </p:txBody>
      </p:sp>
      <p:sp>
        <p:nvSpPr>
          <p:cNvPr id="135" name="Google Shape;135;p23"/>
          <p:cNvSpPr txBox="1"/>
          <p:nvPr/>
        </p:nvSpPr>
        <p:spPr>
          <a:xfrm>
            <a:off x="2202075" y="1000100"/>
            <a:ext cx="6723600" cy="685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B5394"/>
              </a:buClr>
              <a:buSzPts val="1100"/>
              <a:buFont typeface="Arial"/>
              <a:buNone/>
            </a:pPr>
            <a:r>
              <a:rPr lang="en" sz="1800" i="0" u="none" strike="noStrike" cap="none">
                <a:solidFill>
                  <a:schemeClr val="dk1"/>
                </a:solidFill>
                <a:latin typeface="Baumans"/>
                <a:ea typeface="Baumans"/>
                <a:cs typeface="Baumans"/>
                <a:sym typeface="Baumans"/>
              </a:rPr>
              <a:t>Wegener had </a:t>
            </a:r>
            <a:r>
              <a:rPr lang="en" sz="1800" b="1" i="0" u="none" strike="noStrike" cap="none">
                <a:solidFill>
                  <a:schemeClr val="dk1"/>
                </a:solidFill>
                <a:latin typeface="Baumans"/>
                <a:ea typeface="Baumans"/>
                <a:cs typeface="Baumans"/>
                <a:sym typeface="Baumans"/>
              </a:rPr>
              <a:t>four main points</a:t>
            </a:r>
            <a:r>
              <a:rPr lang="en" sz="1800" i="0" u="none" strike="noStrike" cap="none">
                <a:solidFill>
                  <a:schemeClr val="dk1"/>
                </a:solidFill>
                <a:latin typeface="Baumans"/>
                <a:ea typeface="Baumans"/>
                <a:cs typeface="Baumans"/>
                <a:sym typeface="Baumans"/>
              </a:rPr>
              <a:t> to support his theory of continental drift:</a:t>
            </a:r>
            <a:endParaRPr sz="1800" i="0" u="none" strike="noStrike" cap="none">
              <a:solidFill>
                <a:srgbClr val="000000"/>
              </a:solidFill>
              <a:latin typeface="Baumans"/>
              <a:ea typeface="Baumans"/>
              <a:cs typeface="Baumans"/>
              <a:sym typeface="Baumans"/>
            </a:endParaRPr>
          </a:p>
        </p:txBody>
      </p:sp>
      <p:sp>
        <p:nvSpPr>
          <p:cNvPr id="136" name="Google Shape;136;p2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37" name="Google Shape;137;p23"/>
          <p:cNvSpPr txBox="1"/>
          <p:nvPr/>
        </p:nvSpPr>
        <p:spPr>
          <a:xfrm>
            <a:off x="2202075" y="1685900"/>
            <a:ext cx="6835200" cy="33294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AutoNum type="arabicPeriod"/>
            </a:pPr>
            <a:r>
              <a:rPr lang="en" sz="1800" b="1">
                <a:solidFill>
                  <a:schemeClr val="dk1"/>
                </a:solidFill>
                <a:latin typeface="Baumans"/>
                <a:ea typeface="Baumans"/>
                <a:cs typeface="Baumans"/>
                <a:sym typeface="Baumans"/>
              </a:rPr>
              <a:t>Fit of continents:</a:t>
            </a:r>
            <a:r>
              <a:rPr lang="en" sz="1800">
                <a:solidFill>
                  <a:schemeClr val="dk1"/>
                </a:solidFill>
                <a:latin typeface="Baumans"/>
                <a:ea typeface="Baumans"/>
                <a:cs typeface="Baumans"/>
                <a:sym typeface="Baumans"/>
              </a:rPr>
              <a:t> The </a:t>
            </a:r>
            <a:r>
              <a:rPr lang="en" sz="1800" b="1">
                <a:solidFill>
                  <a:schemeClr val="dk1"/>
                </a:solidFill>
                <a:latin typeface="Baumans"/>
                <a:ea typeface="Baumans"/>
                <a:cs typeface="Baumans"/>
                <a:sym typeface="Baumans"/>
              </a:rPr>
              <a:t>coastlines</a:t>
            </a:r>
            <a:r>
              <a:rPr lang="en" sz="1800">
                <a:solidFill>
                  <a:schemeClr val="dk1"/>
                </a:solidFill>
                <a:latin typeface="Baumans"/>
                <a:ea typeface="Baumans"/>
                <a:cs typeface="Baumans"/>
                <a:sym typeface="Baumans"/>
              </a:rPr>
              <a:t> of some </a:t>
            </a:r>
            <a:r>
              <a:rPr lang="en" sz="1800" b="1">
                <a:solidFill>
                  <a:schemeClr val="dk1"/>
                </a:solidFill>
                <a:latin typeface="Baumans"/>
                <a:ea typeface="Baumans"/>
                <a:cs typeface="Baumans"/>
                <a:sym typeface="Baumans"/>
              </a:rPr>
              <a:t>continents</a:t>
            </a:r>
            <a:r>
              <a:rPr lang="en" sz="1800">
                <a:solidFill>
                  <a:schemeClr val="dk1"/>
                </a:solidFill>
                <a:latin typeface="Baumans"/>
                <a:ea typeface="Baumans"/>
                <a:cs typeface="Baumans"/>
                <a:sym typeface="Baumans"/>
              </a:rPr>
              <a:t> look like they fit together, like pieces of a puzzle, in one big land called </a:t>
            </a:r>
            <a:r>
              <a:rPr lang="en" sz="1800" b="1">
                <a:solidFill>
                  <a:schemeClr val="dk1"/>
                </a:solidFill>
                <a:latin typeface="Baumans"/>
                <a:ea typeface="Baumans"/>
                <a:cs typeface="Baumans"/>
                <a:sym typeface="Baumans"/>
              </a:rPr>
              <a:t>Pangaea</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AutoNum type="arabicPeriod"/>
            </a:pPr>
            <a:r>
              <a:rPr lang="en" sz="1800" b="1">
                <a:solidFill>
                  <a:schemeClr val="dk1"/>
                </a:solidFill>
                <a:latin typeface="Baumans"/>
                <a:ea typeface="Baumans"/>
                <a:cs typeface="Baumans"/>
                <a:sym typeface="Baumans"/>
              </a:rPr>
              <a:t>Fossil evidence:</a:t>
            </a:r>
            <a:r>
              <a:rPr lang="en" sz="1800">
                <a:solidFill>
                  <a:schemeClr val="dk1"/>
                </a:solidFill>
                <a:latin typeface="Baumans"/>
                <a:ea typeface="Baumans"/>
                <a:cs typeface="Baumans"/>
                <a:sym typeface="Baumans"/>
              </a:rPr>
              <a:t> The same </a:t>
            </a:r>
            <a:r>
              <a:rPr lang="en" sz="1800" b="1">
                <a:solidFill>
                  <a:schemeClr val="dk1"/>
                </a:solidFill>
                <a:latin typeface="Baumans"/>
                <a:ea typeface="Baumans"/>
                <a:cs typeface="Baumans"/>
                <a:sym typeface="Baumans"/>
              </a:rPr>
              <a:t>fossils</a:t>
            </a:r>
            <a:r>
              <a:rPr lang="en" sz="1800">
                <a:solidFill>
                  <a:schemeClr val="dk1"/>
                </a:solidFill>
                <a:latin typeface="Baumans"/>
                <a:ea typeface="Baumans"/>
                <a:cs typeface="Baumans"/>
                <a:sym typeface="Baumans"/>
              </a:rPr>
              <a:t> have been found on both sides of the </a:t>
            </a:r>
            <a:r>
              <a:rPr lang="en" sz="1800" b="1">
                <a:solidFill>
                  <a:schemeClr val="dk1"/>
                </a:solidFill>
                <a:latin typeface="Baumans"/>
                <a:ea typeface="Baumans"/>
                <a:cs typeface="Baumans"/>
                <a:sym typeface="Baumans"/>
              </a:rPr>
              <a:t>ocean</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AutoNum type="arabicPeriod"/>
            </a:pPr>
            <a:r>
              <a:rPr lang="en" sz="1800" b="1">
                <a:solidFill>
                  <a:schemeClr val="dk1"/>
                </a:solidFill>
                <a:latin typeface="Baumans"/>
                <a:ea typeface="Baumans"/>
                <a:cs typeface="Baumans"/>
                <a:sym typeface="Baumans"/>
              </a:rPr>
              <a:t>Rock and mountain evidence:</a:t>
            </a:r>
            <a:r>
              <a:rPr lang="en" sz="1800">
                <a:solidFill>
                  <a:schemeClr val="dk1"/>
                </a:solidFill>
                <a:latin typeface="Baumans"/>
                <a:ea typeface="Baumans"/>
                <a:cs typeface="Baumans"/>
                <a:sym typeface="Baumans"/>
              </a:rPr>
              <a:t> The same </a:t>
            </a:r>
            <a:r>
              <a:rPr lang="en" sz="1800" b="1">
                <a:solidFill>
                  <a:schemeClr val="dk1"/>
                </a:solidFill>
                <a:latin typeface="Baumans"/>
                <a:ea typeface="Baumans"/>
                <a:cs typeface="Baumans"/>
                <a:sym typeface="Baumans"/>
              </a:rPr>
              <a:t>rocks</a:t>
            </a:r>
            <a:r>
              <a:rPr lang="en" sz="1800">
                <a:solidFill>
                  <a:schemeClr val="dk1"/>
                </a:solidFill>
                <a:latin typeface="Baumans"/>
                <a:ea typeface="Baumans"/>
                <a:cs typeface="Baumans"/>
                <a:sym typeface="Baumans"/>
              </a:rPr>
              <a:t> and </a:t>
            </a:r>
            <a:r>
              <a:rPr lang="en" sz="1800" b="1">
                <a:solidFill>
                  <a:schemeClr val="dk1"/>
                </a:solidFill>
                <a:latin typeface="Baumans"/>
                <a:ea typeface="Baumans"/>
                <a:cs typeface="Baumans"/>
                <a:sym typeface="Baumans"/>
              </a:rPr>
              <a:t>mountains</a:t>
            </a:r>
            <a:r>
              <a:rPr lang="en" sz="1800">
                <a:solidFill>
                  <a:schemeClr val="dk1"/>
                </a:solidFill>
                <a:latin typeface="Baumans"/>
                <a:ea typeface="Baumans"/>
                <a:cs typeface="Baumans"/>
                <a:sym typeface="Baumans"/>
              </a:rPr>
              <a:t> are found on both sides of the </a:t>
            </a:r>
            <a:r>
              <a:rPr lang="en" sz="1800" b="1">
                <a:solidFill>
                  <a:schemeClr val="dk1"/>
                </a:solidFill>
                <a:latin typeface="Baumans"/>
                <a:ea typeface="Baumans"/>
                <a:cs typeface="Baumans"/>
                <a:sym typeface="Baumans"/>
              </a:rPr>
              <a:t>ocean</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AutoNum type="arabicPeriod"/>
            </a:pPr>
            <a:r>
              <a:rPr lang="en" sz="1800" b="1">
                <a:solidFill>
                  <a:schemeClr val="dk1"/>
                </a:solidFill>
                <a:latin typeface="Baumans"/>
                <a:ea typeface="Baumans"/>
                <a:cs typeface="Baumans"/>
                <a:sym typeface="Baumans"/>
              </a:rPr>
              <a:t>Climate evidence:</a:t>
            </a:r>
            <a:r>
              <a:rPr lang="en" sz="1800">
                <a:solidFill>
                  <a:schemeClr val="dk1"/>
                </a:solidFill>
                <a:latin typeface="Baumans"/>
                <a:ea typeface="Baumans"/>
                <a:cs typeface="Baumans"/>
                <a:sym typeface="Baumans"/>
              </a:rPr>
              <a:t> </a:t>
            </a:r>
            <a:r>
              <a:rPr lang="en" sz="1800" b="1">
                <a:solidFill>
                  <a:schemeClr val="dk1"/>
                </a:solidFill>
                <a:latin typeface="Baumans"/>
                <a:ea typeface="Baumans"/>
                <a:cs typeface="Baumans"/>
                <a:sym typeface="Baumans"/>
              </a:rPr>
              <a:t>Coal</a:t>
            </a:r>
            <a:r>
              <a:rPr lang="en" sz="1800">
                <a:solidFill>
                  <a:schemeClr val="dk1"/>
                </a:solidFill>
                <a:latin typeface="Baumans"/>
                <a:ea typeface="Baumans"/>
                <a:cs typeface="Baumans"/>
                <a:sym typeface="Baumans"/>
              </a:rPr>
              <a:t> and </a:t>
            </a:r>
            <a:r>
              <a:rPr lang="en" sz="1800" b="1">
                <a:solidFill>
                  <a:schemeClr val="dk1"/>
                </a:solidFill>
                <a:latin typeface="Baumans"/>
                <a:ea typeface="Baumans"/>
                <a:cs typeface="Baumans"/>
                <a:sym typeface="Baumans"/>
              </a:rPr>
              <a:t>oil</a:t>
            </a:r>
            <a:r>
              <a:rPr lang="en" sz="1800">
                <a:solidFill>
                  <a:schemeClr val="dk1"/>
                </a:solidFill>
                <a:latin typeface="Baumans"/>
                <a:ea typeface="Baumans"/>
                <a:cs typeface="Baumans"/>
                <a:sym typeface="Baumans"/>
              </a:rPr>
              <a:t> have been found in places that are cold today, and signs of </a:t>
            </a:r>
            <a:r>
              <a:rPr lang="en" sz="1800" b="1">
                <a:solidFill>
                  <a:schemeClr val="dk1"/>
                </a:solidFill>
                <a:latin typeface="Baumans"/>
                <a:ea typeface="Baumans"/>
                <a:cs typeface="Baumans"/>
                <a:sym typeface="Baumans"/>
              </a:rPr>
              <a:t>glaciers</a:t>
            </a:r>
            <a:r>
              <a:rPr lang="en" sz="1800">
                <a:solidFill>
                  <a:schemeClr val="dk1"/>
                </a:solidFill>
                <a:latin typeface="Baumans"/>
                <a:ea typeface="Baumans"/>
                <a:cs typeface="Baumans"/>
                <a:sym typeface="Baumans"/>
              </a:rPr>
              <a:t> have been found in places that are hot today.</a:t>
            </a:r>
            <a:endParaRPr sz="1800" b="1">
              <a:solidFill>
                <a:schemeClr val="dk1"/>
              </a:solidFill>
              <a:latin typeface="Baumans"/>
              <a:ea typeface="Baumans"/>
              <a:cs typeface="Baumans"/>
              <a:sym typeface="Baum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1"/>
          <p:cNvSpPr txBox="1"/>
          <p:nvPr/>
        </p:nvSpPr>
        <p:spPr>
          <a:xfrm>
            <a:off x="106800" y="1271313"/>
            <a:ext cx="5460300" cy="3117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In pairs use the fossil evidence to rebuild the Pangaea supercontinent.</a:t>
            </a: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Cut out and label the continents, then use the puzzle pieces to recreate the Pangaea supercontinent.</a:t>
            </a: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The first team to finish the puzzle correctly is the winner!</a:t>
            </a: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Stuck? Look at the map evidence to see which continents match.</a:t>
            </a:r>
            <a:endParaRPr sz="1800">
              <a:latin typeface="Baumans"/>
              <a:ea typeface="Baumans"/>
              <a:cs typeface="Baumans"/>
              <a:sym typeface="Baumans"/>
            </a:endParaRPr>
          </a:p>
        </p:txBody>
      </p:sp>
      <p:pic>
        <p:nvPicPr>
          <p:cNvPr id="226" name="Google Shape;226;p31"/>
          <p:cNvPicPr preferRelativeResize="0"/>
          <p:nvPr/>
        </p:nvPicPr>
        <p:blipFill rotWithShape="1">
          <a:blip r:embed="rId3">
            <a:alphaModFix/>
          </a:blip>
          <a:srcRect/>
          <a:stretch/>
        </p:blipFill>
        <p:spPr>
          <a:xfrm>
            <a:off x="5704452" y="669650"/>
            <a:ext cx="3075925" cy="4320325"/>
          </a:xfrm>
          <a:prstGeom prst="rect">
            <a:avLst/>
          </a:prstGeom>
          <a:noFill/>
          <a:ln>
            <a:noFill/>
          </a:ln>
        </p:spPr>
      </p:pic>
      <p:sp>
        <p:nvSpPr>
          <p:cNvPr id="227" name="Google Shape;227;p31"/>
          <p:cNvSpPr txBox="1"/>
          <p:nvPr/>
        </p:nvSpPr>
        <p:spPr>
          <a:xfrm>
            <a:off x="1107550" y="587388"/>
            <a:ext cx="3882900" cy="51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400" i="0" u="none" strike="noStrike" cap="none">
                <a:solidFill>
                  <a:schemeClr val="dk1"/>
                </a:solidFill>
                <a:latin typeface="Fugaz One"/>
                <a:ea typeface="Fugaz One"/>
                <a:cs typeface="Fugaz One"/>
                <a:sym typeface="Fugaz One"/>
              </a:rPr>
              <a:t>Pangaea puzzle!</a:t>
            </a:r>
            <a:endParaRPr sz="2400" i="0" u="none" strike="noStrike" cap="none">
              <a:solidFill>
                <a:schemeClr val="dk1"/>
              </a:solidFill>
              <a:latin typeface="Fugaz One"/>
              <a:ea typeface="Fugaz One"/>
              <a:cs typeface="Fugaz One"/>
              <a:sym typeface="Fugaz One"/>
            </a:endParaRPr>
          </a:p>
        </p:txBody>
      </p:sp>
      <p:sp>
        <p:nvSpPr>
          <p:cNvPr id="229" name="Google Shape;229;p3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p:nvPr/>
        </p:nvSpPr>
        <p:spPr>
          <a:xfrm>
            <a:off x="106800" y="2776575"/>
            <a:ext cx="5206200" cy="1359900"/>
          </a:xfrm>
          <a:prstGeom prst="rect">
            <a:avLst/>
          </a:prstGeom>
          <a:solidFill>
            <a:srgbClr val="F9CB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3" name="Google Shape;143;p24" descr="continental drift | National Geographic Society"/>
          <p:cNvPicPr preferRelativeResize="0"/>
          <p:nvPr/>
        </p:nvPicPr>
        <p:blipFill rotWithShape="1">
          <a:blip r:embed="rId3">
            <a:alphaModFix/>
          </a:blip>
          <a:srcRect/>
          <a:stretch/>
        </p:blipFill>
        <p:spPr>
          <a:xfrm>
            <a:off x="5354325" y="1000100"/>
            <a:ext cx="3682875" cy="2763351"/>
          </a:xfrm>
          <a:prstGeom prst="rect">
            <a:avLst/>
          </a:prstGeom>
          <a:noFill/>
          <a:ln>
            <a:noFill/>
          </a:ln>
        </p:spPr>
      </p:pic>
      <p:sp>
        <p:nvSpPr>
          <p:cNvPr id="144" name="Google Shape;144;p24"/>
          <p:cNvSpPr txBox="1"/>
          <p:nvPr/>
        </p:nvSpPr>
        <p:spPr>
          <a:xfrm>
            <a:off x="1084209" y="1000100"/>
            <a:ext cx="4270200" cy="900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highlight>
                  <a:srgbClr val="00FF00"/>
                </a:highlight>
                <a:latin typeface="Baumans"/>
                <a:ea typeface="Baumans"/>
                <a:cs typeface="Baumans"/>
                <a:sym typeface="Baumans"/>
              </a:rPr>
              <a:t>Activity</a:t>
            </a:r>
            <a:r>
              <a:rPr lang="en" sz="1800" b="1" i="0" u="none" strike="noStrike" cap="none">
                <a:solidFill>
                  <a:schemeClr val="dk1"/>
                </a:solidFill>
                <a:highlight>
                  <a:srgbClr val="00FF00"/>
                </a:highlight>
                <a:latin typeface="Baumans"/>
                <a:ea typeface="Baumans"/>
                <a:cs typeface="Baumans"/>
                <a:sym typeface="Baumans"/>
              </a:rPr>
              <a:t> 1</a:t>
            </a:r>
            <a:r>
              <a:rPr lang="en" sz="1800" b="1" i="0" u="none" strike="noStrike" cap="none">
                <a:solidFill>
                  <a:schemeClr val="dk1"/>
                </a:solidFill>
                <a:latin typeface="Baumans"/>
                <a:ea typeface="Baumans"/>
                <a:cs typeface="Baumans"/>
                <a:sym typeface="Baumans"/>
              </a:rPr>
              <a:t> - </a:t>
            </a:r>
            <a:r>
              <a:rPr lang="en" sz="1800">
                <a:solidFill>
                  <a:schemeClr val="dk1"/>
                </a:solidFill>
                <a:latin typeface="Baumans"/>
                <a:ea typeface="Baumans"/>
                <a:cs typeface="Baumans"/>
                <a:sym typeface="Baumans"/>
              </a:rPr>
              <a:t>Complete the </a:t>
            </a:r>
            <a:r>
              <a:rPr lang="en" sz="1800" b="1">
                <a:solidFill>
                  <a:srgbClr val="980000"/>
                </a:solidFill>
                <a:latin typeface="Baumans"/>
                <a:ea typeface="Baumans"/>
                <a:cs typeface="Baumans"/>
                <a:sym typeface="Baumans"/>
              </a:rPr>
              <a:t>P</a:t>
            </a:r>
            <a:r>
              <a:rPr lang="en" sz="1800" b="1">
                <a:solidFill>
                  <a:srgbClr val="0000FF"/>
                </a:solidFill>
                <a:latin typeface="Baumans"/>
                <a:ea typeface="Baumans"/>
                <a:cs typeface="Baumans"/>
                <a:sym typeface="Baumans"/>
              </a:rPr>
              <a:t>E</a:t>
            </a:r>
            <a:r>
              <a:rPr lang="en" sz="1800" b="1">
                <a:solidFill>
                  <a:srgbClr val="274E13"/>
                </a:solidFill>
                <a:latin typeface="Baumans"/>
                <a:ea typeface="Baumans"/>
                <a:cs typeface="Baumans"/>
                <a:sym typeface="Baumans"/>
              </a:rPr>
              <a:t>E</a:t>
            </a:r>
            <a:r>
              <a:rPr lang="en" sz="1800" b="1">
                <a:solidFill>
                  <a:srgbClr val="FF6600"/>
                </a:solidFill>
                <a:latin typeface="Baumans"/>
                <a:ea typeface="Baumans"/>
                <a:cs typeface="Baumans"/>
                <a:sym typeface="Baumans"/>
              </a:rPr>
              <a:t>L</a:t>
            </a:r>
            <a:r>
              <a:rPr lang="en" sz="1800">
                <a:solidFill>
                  <a:schemeClr val="dk1"/>
                </a:solidFill>
                <a:latin typeface="Baumans"/>
                <a:ea typeface="Baumans"/>
                <a:cs typeface="Baumans"/>
                <a:sym typeface="Baumans"/>
              </a:rPr>
              <a:t> to</a:t>
            </a:r>
            <a:r>
              <a:rPr lang="en" sz="1800" i="0" u="none" strike="noStrike" cap="none">
                <a:solidFill>
                  <a:schemeClr val="dk1"/>
                </a:solidFill>
                <a:latin typeface="Baumans"/>
                <a:ea typeface="Baumans"/>
                <a:cs typeface="Baumans"/>
                <a:sym typeface="Baumans"/>
              </a:rPr>
              <a:t> explain how the location of fossils tells us the continents have moved.</a:t>
            </a:r>
            <a:endParaRPr sz="1100" i="0" u="none" strike="noStrike" cap="none">
              <a:solidFill>
                <a:schemeClr val="dk1"/>
              </a:solidFill>
              <a:latin typeface="Baumans"/>
              <a:ea typeface="Baumans"/>
              <a:cs typeface="Baumans"/>
              <a:sym typeface="Baumans"/>
            </a:endParaRPr>
          </a:p>
        </p:txBody>
      </p:sp>
      <p:sp>
        <p:nvSpPr>
          <p:cNvPr id="145" name="Google Shape;145;p2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46" name="Google Shape;146;p24"/>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lang="en" sz="2000" i="0" u="none" strike="noStrike" cap="none">
                <a:solidFill>
                  <a:srgbClr val="000000"/>
                </a:solidFill>
                <a:latin typeface="Fugaz One"/>
                <a:ea typeface="Fugaz One"/>
                <a:cs typeface="Fugaz One"/>
                <a:sym typeface="Fugaz One"/>
              </a:rPr>
              <a:t>ow do we know the continents have moved?</a:t>
            </a:r>
            <a:endParaRPr sz="700" i="0" u="none" strike="noStrike" cap="none">
              <a:solidFill>
                <a:srgbClr val="000000"/>
              </a:solidFill>
              <a:latin typeface="Fugaz One"/>
              <a:ea typeface="Fugaz One"/>
              <a:cs typeface="Fugaz One"/>
              <a:sym typeface="Fugaz One"/>
            </a:endParaRPr>
          </a:p>
        </p:txBody>
      </p:sp>
      <p:sp>
        <p:nvSpPr>
          <p:cNvPr id="147" name="Google Shape;147;p24"/>
          <p:cNvSpPr txBox="1"/>
          <p:nvPr/>
        </p:nvSpPr>
        <p:spPr>
          <a:xfrm>
            <a:off x="1084201" y="1900400"/>
            <a:ext cx="42702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2</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 Use the map to find and explain evidence for continental drift.</a:t>
            </a:r>
            <a:endParaRPr sz="1800">
              <a:latin typeface="Baumans"/>
              <a:ea typeface="Baumans"/>
              <a:cs typeface="Baumans"/>
              <a:sym typeface="Baumans"/>
            </a:endParaRPr>
          </a:p>
        </p:txBody>
      </p:sp>
      <p:pic>
        <p:nvPicPr>
          <p:cNvPr id="148" name="Google Shape;148;p24" title="Screenshot 2025-09-03 at 8.39.33 AM.png"/>
          <p:cNvPicPr preferRelativeResize="0"/>
          <p:nvPr/>
        </p:nvPicPr>
        <p:blipFill>
          <a:blip r:embed="rId4">
            <a:alphaModFix/>
          </a:blip>
          <a:stretch>
            <a:fillRect/>
          </a:stretch>
        </p:blipFill>
        <p:spPr>
          <a:xfrm>
            <a:off x="106798" y="1621475"/>
            <a:ext cx="977401" cy="744426"/>
          </a:xfrm>
          <a:prstGeom prst="rect">
            <a:avLst/>
          </a:prstGeom>
          <a:noFill/>
          <a:ln>
            <a:noFill/>
          </a:ln>
        </p:spPr>
      </p:pic>
      <p:sp>
        <p:nvSpPr>
          <p:cNvPr id="149" name="Google Shape;149;p24"/>
          <p:cNvSpPr txBox="1"/>
          <p:nvPr/>
        </p:nvSpPr>
        <p:spPr>
          <a:xfrm>
            <a:off x="116100" y="1145975"/>
            <a:ext cx="9588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a:solidFill>
                  <a:schemeClr val="dk1"/>
                </a:solidFill>
                <a:latin typeface="Aladin"/>
                <a:ea typeface="Aladin"/>
                <a:cs typeface="Aladin"/>
                <a:sym typeface="Aladin"/>
              </a:rPr>
              <a:t>Activities 1 &amp; 2 on sheet</a:t>
            </a:r>
            <a:endParaRPr sz="1200" b="1">
              <a:solidFill>
                <a:schemeClr val="dk1"/>
              </a:solidFill>
              <a:latin typeface="Aladin"/>
              <a:ea typeface="Aladin"/>
              <a:cs typeface="Aladin"/>
              <a:sym typeface="Aladin"/>
            </a:endParaRPr>
          </a:p>
        </p:txBody>
      </p:sp>
      <p:pic>
        <p:nvPicPr>
          <p:cNvPr id="150" name="Google Shape;150;p24"/>
          <p:cNvPicPr preferRelativeResize="0"/>
          <p:nvPr/>
        </p:nvPicPr>
        <p:blipFill>
          <a:blip r:embed="rId5">
            <a:alphaModFix/>
          </a:blip>
          <a:stretch>
            <a:fillRect/>
          </a:stretch>
        </p:blipFill>
        <p:spPr>
          <a:xfrm>
            <a:off x="891223" y="4216200"/>
            <a:ext cx="611727" cy="780300"/>
          </a:xfrm>
          <a:prstGeom prst="rect">
            <a:avLst/>
          </a:prstGeom>
          <a:noFill/>
          <a:ln>
            <a:noFill/>
          </a:ln>
        </p:spPr>
      </p:pic>
      <p:pic>
        <p:nvPicPr>
          <p:cNvPr id="151" name="Google Shape;151;p24"/>
          <p:cNvPicPr preferRelativeResize="0"/>
          <p:nvPr/>
        </p:nvPicPr>
        <p:blipFill>
          <a:blip r:embed="rId6">
            <a:alphaModFix/>
          </a:blip>
          <a:stretch>
            <a:fillRect/>
          </a:stretch>
        </p:blipFill>
        <p:spPr>
          <a:xfrm>
            <a:off x="891225" y="3052274"/>
            <a:ext cx="611725" cy="769802"/>
          </a:xfrm>
          <a:prstGeom prst="rect">
            <a:avLst/>
          </a:prstGeom>
          <a:noFill/>
          <a:ln>
            <a:noFill/>
          </a:ln>
        </p:spPr>
      </p:pic>
      <p:pic>
        <p:nvPicPr>
          <p:cNvPr id="152" name="Google Shape;152;p24" title="Screenshot 2025-07-01 at 9.18.39 AM.png"/>
          <p:cNvPicPr preferRelativeResize="0"/>
          <p:nvPr/>
        </p:nvPicPr>
        <p:blipFill>
          <a:blip r:embed="rId7">
            <a:alphaModFix/>
          </a:blip>
          <a:stretch>
            <a:fillRect/>
          </a:stretch>
        </p:blipFill>
        <p:spPr>
          <a:xfrm>
            <a:off x="118250" y="4204149"/>
            <a:ext cx="789979" cy="780300"/>
          </a:xfrm>
          <a:prstGeom prst="rect">
            <a:avLst/>
          </a:prstGeom>
          <a:noFill/>
          <a:ln>
            <a:noFill/>
          </a:ln>
        </p:spPr>
      </p:pic>
      <p:pic>
        <p:nvPicPr>
          <p:cNvPr id="153" name="Google Shape;153;p24" title="Screenshot 2025-07-01 at 9.18.39 AM.png"/>
          <p:cNvPicPr preferRelativeResize="0"/>
          <p:nvPr/>
        </p:nvPicPr>
        <p:blipFill>
          <a:blip r:embed="rId7">
            <a:alphaModFix/>
          </a:blip>
          <a:stretch>
            <a:fillRect/>
          </a:stretch>
        </p:blipFill>
        <p:spPr>
          <a:xfrm>
            <a:off x="118250" y="3052274"/>
            <a:ext cx="789979" cy="780300"/>
          </a:xfrm>
          <a:prstGeom prst="rect">
            <a:avLst/>
          </a:prstGeom>
          <a:noFill/>
          <a:ln>
            <a:noFill/>
          </a:ln>
        </p:spPr>
      </p:pic>
      <p:sp>
        <p:nvSpPr>
          <p:cNvPr id="154" name="Google Shape;154;p24"/>
          <p:cNvSpPr txBox="1"/>
          <p:nvPr/>
        </p:nvSpPr>
        <p:spPr>
          <a:xfrm>
            <a:off x="1491500" y="2680700"/>
            <a:ext cx="38214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a:latin typeface="Poppins"/>
                <a:ea typeface="Poppins"/>
                <a:cs typeface="Poppins"/>
                <a:sym typeface="Poppins"/>
              </a:rPr>
              <a:t>Which piece of evidence do you think best supports Wegener’ continental drift theory? Give </a:t>
            </a:r>
            <a:r>
              <a:rPr lang="en" sz="1600" b="1">
                <a:latin typeface="Poppins"/>
                <a:ea typeface="Poppins"/>
                <a:cs typeface="Poppins"/>
                <a:sym typeface="Poppins"/>
              </a:rPr>
              <a:t>at least one</a:t>
            </a:r>
            <a:r>
              <a:rPr lang="en" sz="1600">
                <a:latin typeface="Poppins"/>
                <a:ea typeface="Poppins"/>
                <a:cs typeface="Poppins"/>
                <a:sym typeface="Poppins"/>
              </a:rPr>
              <a:t> reason to explain your choice.</a:t>
            </a:r>
            <a:endParaRPr sz="1600">
              <a:latin typeface="Poppins"/>
              <a:ea typeface="Poppins"/>
              <a:cs typeface="Poppins"/>
              <a:sym typeface="Poppins"/>
            </a:endParaRPr>
          </a:p>
        </p:txBody>
      </p:sp>
      <p:sp>
        <p:nvSpPr>
          <p:cNvPr id="155" name="Google Shape;155;p24"/>
          <p:cNvSpPr txBox="1"/>
          <p:nvPr/>
        </p:nvSpPr>
        <p:spPr>
          <a:xfrm>
            <a:off x="1561450" y="4255750"/>
            <a:ext cx="74643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Poppins"/>
                <a:ea typeface="Poppins"/>
                <a:cs typeface="Poppins"/>
                <a:sym typeface="Poppins"/>
              </a:rPr>
              <a:t>Rank the pieces of evidence from Wegener’s theory of continental drift from most to least convincing. Explain why you ranked them this way.</a:t>
            </a:r>
            <a:endParaRPr sz="1600">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p:nvPr/>
        </p:nvSpPr>
        <p:spPr>
          <a:xfrm>
            <a:off x="106800" y="573250"/>
            <a:ext cx="55950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chemeClr val="dk1"/>
                </a:solidFill>
                <a:latin typeface="Fugaz One"/>
                <a:ea typeface="Fugaz One"/>
                <a:cs typeface="Fugaz One"/>
                <a:sym typeface="Fugaz One"/>
              </a:rPr>
              <a:t>So why are the continents moving?</a:t>
            </a:r>
            <a:endParaRPr sz="2000" i="0" u="none" strike="noStrike" cap="none">
              <a:solidFill>
                <a:schemeClr val="dk1"/>
              </a:solidFill>
              <a:latin typeface="Fugaz One"/>
              <a:ea typeface="Fugaz One"/>
              <a:cs typeface="Fugaz One"/>
              <a:sym typeface="Fugaz One"/>
            </a:endParaRPr>
          </a:p>
        </p:txBody>
      </p:sp>
      <p:sp>
        <p:nvSpPr>
          <p:cNvPr id="161" name="Google Shape;161;p2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62" name="Google Shape;162;p25"/>
          <p:cNvSpPr txBox="1"/>
          <p:nvPr/>
        </p:nvSpPr>
        <p:spPr>
          <a:xfrm>
            <a:off x="106800" y="1048750"/>
            <a:ext cx="46758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u="sng">
                <a:solidFill>
                  <a:schemeClr val="dk1"/>
                </a:solidFill>
                <a:latin typeface="Delius"/>
                <a:ea typeface="Delius"/>
                <a:cs typeface="Delius"/>
                <a:sym typeface="Delius"/>
              </a:rPr>
              <a:t>Convection Currents or Slab Pull &amp; Ridge Push</a:t>
            </a:r>
            <a:endParaRPr sz="2100"/>
          </a:p>
        </p:txBody>
      </p:sp>
      <p:pic>
        <p:nvPicPr>
          <p:cNvPr id="163" name="Google Shape;163;p25" descr=" " title="convection currents Planet Earth">
            <a:hlinkClick r:id="rId3"/>
          </p:cNvPr>
          <p:cNvPicPr preferRelativeResize="0"/>
          <p:nvPr/>
        </p:nvPicPr>
        <p:blipFill>
          <a:blip r:embed="rId4">
            <a:alphaModFix/>
          </a:blip>
          <a:stretch>
            <a:fillRect/>
          </a:stretch>
        </p:blipFill>
        <p:spPr>
          <a:xfrm>
            <a:off x="106800" y="1849150"/>
            <a:ext cx="4458900" cy="2508131"/>
          </a:xfrm>
          <a:prstGeom prst="rect">
            <a:avLst/>
          </a:prstGeom>
          <a:noFill/>
          <a:ln>
            <a:noFill/>
          </a:ln>
        </p:spPr>
      </p:pic>
      <p:sp>
        <p:nvSpPr>
          <p:cNvPr id="164" name="Google Shape;164;p25"/>
          <p:cNvSpPr txBox="1"/>
          <p:nvPr/>
        </p:nvSpPr>
        <p:spPr>
          <a:xfrm>
            <a:off x="4782600" y="1179163"/>
            <a:ext cx="4254600" cy="32325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How does hot rock moving in the Earth’s mantle make the continents move?</a:t>
            </a:r>
            <a:br>
              <a:rPr lang="en" sz="1800">
                <a:solidFill>
                  <a:schemeClr val="dk1"/>
                </a:solidFill>
                <a:latin typeface="Baumans"/>
                <a:ea typeface="Baumans"/>
                <a:cs typeface="Baumans"/>
                <a:sym typeface="Baumans"/>
              </a:rPr>
            </a:br>
            <a:endParaRPr sz="1800">
              <a:solidFill>
                <a:schemeClr val="dk1"/>
              </a:solidFill>
              <a:latin typeface="Baumans"/>
              <a:ea typeface="Baumans"/>
              <a:cs typeface="Baumans"/>
              <a:sym typeface="Baumans"/>
            </a:endParaRPr>
          </a:p>
          <a:p>
            <a:pPr marL="457200" lvl="0" indent="-342900" algn="l" rtl="0">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Why should we respect the Earth’s natural cycles, like when carbon dioxide is released in eruptions?</a:t>
            </a:r>
            <a:br>
              <a:rPr lang="en" sz="1800">
                <a:solidFill>
                  <a:schemeClr val="dk1"/>
                </a:solidFill>
                <a:latin typeface="Baumans"/>
                <a:ea typeface="Baumans"/>
                <a:cs typeface="Baumans"/>
                <a:sym typeface="Baumans"/>
              </a:rPr>
            </a:br>
            <a:endParaRPr sz="1800">
              <a:solidFill>
                <a:schemeClr val="dk1"/>
              </a:solidFill>
              <a:latin typeface="Baumans"/>
              <a:ea typeface="Baumans"/>
              <a:cs typeface="Baumans"/>
              <a:sym typeface="Baumans"/>
            </a:endParaRPr>
          </a:p>
          <a:p>
            <a:pPr marL="457200" lvl="0" indent="-342900" algn="l" rtl="0">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Continental drift happens very slowly. Why do scientists need patience to study it? </a:t>
            </a:r>
            <a:endParaRPr sz="1800">
              <a:solidFill>
                <a:schemeClr val="dk1"/>
              </a:solidFill>
              <a:latin typeface="Baumans"/>
              <a:ea typeface="Baumans"/>
              <a:cs typeface="Baumans"/>
              <a:sym typeface="Baum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p:nvPr/>
        </p:nvSpPr>
        <p:spPr>
          <a:xfrm>
            <a:off x="106800" y="573250"/>
            <a:ext cx="55950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chemeClr val="dk1"/>
                </a:solidFill>
                <a:latin typeface="Fugaz One"/>
                <a:ea typeface="Fugaz One"/>
                <a:cs typeface="Fugaz One"/>
                <a:sym typeface="Fugaz One"/>
              </a:rPr>
              <a:t>So why are the continents moving?</a:t>
            </a:r>
            <a:endParaRPr sz="2000" i="0" u="none" strike="noStrike" cap="none">
              <a:solidFill>
                <a:schemeClr val="dk1"/>
              </a:solidFill>
              <a:latin typeface="Fugaz One"/>
              <a:ea typeface="Fugaz One"/>
              <a:cs typeface="Fugaz One"/>
              <a:sym typeface="Fugaz One"/>
            </a:endParaRPr>
          </a:p>
        </p:txBody>
      </p:sp>
      <p:pic>
        <p:nvPicPr>
          <p:cNvPr id="170" name="Google Shape;170;p26" descr="Image result for convection currents explained"/>
          <p:cNvPicPr preferRelativeResize="0"/>
          <p:nvPr/>
        </p:nvPicPr>
        <p:blipFill rotWithShape="1">
          <a:blip r:embed="rId3">
            <a:alphaModFix/>
          </a:blip>
          <a:srcRect l="52094" t="6360" r="2835" b="13242"/>
          <a:stretch/>
        </p:blipFill>
        <p:spPr>
          <a:xfrm>
            <a:off x="106805" y="1764969"/>
            <a:ext cx="3100869" cy="2508056"/>
          </a:xfrm>
          <a:prstGeom prst="rect">
            <a:avLst/>
          </a:prstGeom>
          <a:noFill/>
          <a:ln>
            <a:noFill/>
          </a:ln>
        </p:spPr>
      </p:pic>
      <p:sp>
        <p:nvSpPr>
          <p:cNvPr id="171" name="Google Shape;171;p2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72" name="Google Shape;172;p26"/>
          <p:cNvSpPr txBox="1"/>
          <p:nvPr/>
        </p:nvSpPr>
        <p:spPr>
          <a:xfrm>
            <a:off x="106800" y="1048750"/>
            <a:ext cx="6508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u="sng">
                <a:solidFill>
                  <a:schemeClr val="dk1"/>
                </a:solidFill>
                <a:latin typeface="Delius"/>
                <a:ea typeface="Delius"/>
                <a:cs typeface="Delius"/>
                <a:sym typeface="Delius"/>
              </a:rPr>
              <a:t>Historic Thinking – Convection Currents</a:t>
            </a:r>
            <a:endParaRPr sz="2100"/>
          </a:p>
        </p:txBody>
      </p:sp>
      <p:sp>
        <p:nvSpPr>
          <p:cNvPr id="173" name="Google Shape;173;p26"/>
          <p:cNvSpPr txBox="1"/>
          <p:nvPr/>
        </p:nvSpPr>
        <p:spPr>
          <a:xfrm>
            <a:off x="3276000" y="1541350"/>
            <a:ext cx="57612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Baumans"/>
                <a:ea typeface="Baumans"/>
                <a:cs typeface="Baumans"/>
                <a:sym typeface="Baumans"/>
              </a:rPr>
              <a:t>For many years, scientists thought </a:t>
            </a:r>
            <a:r>
              <a:rPr lang="en" sz="1800" b="1">
                <a:latin typeface="Baumans"/>
                <a:ea typeface="Baumans"/>
                <a:cs typeface="Baumans"/>
                <a:sym typeface="Baumans"/>
              </a:rPr>
              <a:t>convection currents</a:t>
            </a:r>
            <a:r>
              <a:rPr lang="en" sz="1800">
                <a:latin typeface="Baumans"/>
                <a:ea typeface="Baumans"/>
                <a:cs typeface="Baumans"/>
                <a:sym typeface="Baumans"/>
              </a:rPr>
              <a:t> were the main force that moved the plates. Heat from the </a:t>
            </a:r>
            <a:r>
              <a:rPr lang="en" sz="1800" b="1">
                <a:latin typeface="Baumans"/>
                <a:ea typeface="Baumans"/>
                <a:cs typeface="Baumans"/>
                <a:sym typeface="Baumans"/>
              </a:rPr>
              <a:t>Earth’s core</a:t>
            </a:r>
            <a:r>
              <a:rPr lang="en" sz="1800">
                <a:latin typeface="Baumans"/>
                <a:ea typeface="Baumans"/>
                <a:cs typeface="Baumans"/>
                <a:sym typeface="Baumans"/>
              </a:rPr>
              <a:t> makes material in the </a:t>
            </a:r>
            <a:r>
              <a:rPr lang="en" sz="1800" b="1">
                <a:latin typeface="Baumans"/>
                <a:ea typeface="Baumans"/>
                <a:cs typeface="Baumans"/>
                <a:sym typeface="Baumans"/>
              </a:rPr>
              <a:t>mantle</a:t>
            </a:r>
            <a:r>
              <a:rPr lang="en" sz="1800">
                <a:latin typeface="Baumans"/>
                <a:ea typeface="Baumans"/>
                <a:cs typeface="Baumans"/>
                <a:sym typeface="Baumans"/>
              </a:rPr>
              <a:t> rise, then cool and sink. This cycle forms a current that was believed to drag the </a:t>
            </a:r>
            <a:r>
              <a:rPr lang="en" sz="1800" b="1">
                <a:latin typeface="Baumans"/>
                <a:ea typeface="Baumans"/>
                <a:cs typeface="Baumans"/>
                <a:sym typeface="Baumans"/>
              </a:rPr>
              <a:t>tectonic plates</a:t>
            </a:r>
            <a:r>
              <a:rPr lang="en" sz="1800">
                <a:latin typeface="Baumans"/>
                <a:ea typeface="Baumans"/>
                <a:cs typeface="Baumans"/>
                <a:sym typeface="Baumans"/>
              </a:rPr>
              <a:t>.</a:t>
            </a:r>
            <a:endParaRPr sz="1800">
              <a:latin typeface="Baumans"/>
              <a:ea typeface="Baumans"/>
              <a:cs typeface="Baumans"/>
              <a:sym typeface="Baumans"/>
            </a:endParaRPr>
          </a:p>
        </p:txBody>
      </p:sp>
      <p:sp>
        <p:nvSpPr>
          <p:cNvPr id="174" name="Google Shape;174;p26"/>
          <p:cNvSpPr txBox="1"/>
          <p:nvPr/>
        </p:nvSpPr>
        <p:spPr>
          <a:xfrm>
            <a:off x="3276000" y="3111250"/>
            <a:ext cx="57612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Convection currents also seemed to explain how </a:t>
            </a:r>
            <a:r>
              <a:rPr lang="en" sz="1800" b="1">
                <a:solidFill>
                  <a:schemeClr val="dk1"/>
                </a:solidFill>
                <a:latin typeface="Baumans"/>
                <a:ea typeface="Baumans"/>
                <a:cs typeface="Baumans"/>
                <a:sym typeface="Baumans"/>
              </a:rPr>
              <a:t>new crust</a:t>
            </a:r>
            <a:r>
              <a:rPr lang="en" sz="1800">
                <a:solidFill>
                  <a:schemeClr val="dk1"/>
                </a:solidFill>
                <a:latin typeface="Baumans"/>
                <a:ea typeface="Baumans"/>
                <a:cs typeface="Baumans"/>
                <a:sym typeface="Baumans"/>
              </a:rPr>
              <a:t> could be </a:t>
            </a:r>
            <a:r>
              <a:rPr lang="en" sz="1800" b="1">
                <a:solidFill>
                  <a:schemeClr val="dk1"/>
                </a:solidFill>
                <a:latin typeface="Baumans"/>
                <a:ea typeface="Baumans"/>
                <a:cs typeface="Baumans"/>
                <a:sym typeface="Baumans"/>
              </a:rPr>
              <a:t>created</a:t>
            </a:r>
            <a:r>
              <a:rPr lang="en" sz="1800">
                <a:solidFill>
                  <a:schemeClr val="dk1"/>
                </a:solidFill>
                <a:latin typeface="Baumans"/>
                <a:ea typeface="Baumans"/>
                <a:cs typeface="Baumans"/>
                <a:sym typeface="Baumans"/>
              </a:rPr>
              <a:t> at some boundaries and </a:t>
            </a:r>
            <a:r>
              <a:rPr lang="en" sz="1800" b="1">
                <a:solidFill>
                  <a:schemeClr val="dk1"/>
                </a:solidFill>
                <a:latin typeface="Baumans"/>
                <a:ea typeface="Baumans"/>
                <a:cs typeface="Baumans"/>
                <a:sym typeface="Baumans"/>
              </a:rPr>
              <a:t>destroyed</a:t>
            </a:r>
            <a:r>
              <a:rPr lang="en" sz="1800">
                <a:solidFill>
                  <a:schemeClr val="dk1"/>
                </a:solidFill>
                <a:latin typeface="Baumans"/>
                <a:ea typeface="Baumans"/>
                <a:cs typeface="Baumans"/>
                <a:sym typeface="Baumans"/>
              </a:rPr>
              <a:t> at others. This idea was accepted for decades. However, modern research suggests </a:t>
            </a:r>
            <a:r>
              <a:rPr lang="en" sz="1800" b="1">
                <a:solidFill>
                  <a:schemeClr val="dk1"/>
                </a:solidFill>
                <a:latin typeface="Baumans"/>
                <a:ea typeface="Baumans"/>
                <a:cs typeface="Baumans"/>
                <a:sym typeface="Baumans"/>
              </a:rPr>
              <a:t>convection currents may not be strong enough</a:t>
            </a:r>
            <a:r>
              <a:rPr lang="en" sz="1800">
                <a:solidFill>
                  <a:schemeClr val="dk1"/>
                </a:solidFill>
                <a:latin typeface="Baumans"/>
                <a:ea typeface="Baumans"/>
                <a:cs typeface="Baumans"/>
                <a:sym typeface="Baumans"/>
              </a:rPr>
              <a:t> on their own to move entire plates.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p:nvPr/>
        </p:nvSpPr>
        <p:spPr>
          <a:xfrm>
            <a:off x="106800" y="573250"/>
            <a:ext cx="55950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chemeClr val="dk1"/>
                </a:solidFill>
                <a:latin typeface="Fugaz One"/>
                <a:ea typeface="Fugaz One"/>
                <a:cs typeface="Fugaz One"/>
                <a:sym typeface="Fugaz One"/>
              </a:rPr>
              <a:t>So why are the continents moving?</a:t>
            </a:r>
            <a:endParaRPr sz="2000" i="0" u="none" strike="noStrike" cap="none">
              <a:solidFill>
                <a:schemeClr val="dk1"/>
              </a:solidFill>
              <a:latin typeface="Fugaz One"/>
              <a:ea typeface="Fugaz One"/>
              <a:cs typeface="Fugaz One"/>
              <a:sym typeface="Fugaz One"/>
            </a:endParaRPr>
          </a:p>
        </p:txBody>
      </p:sp>
      <p:pic>
        <p:nvPicPr>
          <p:cNvPr id="180" name="Google Shape;180;p27" descr="Image result for convection currents explained"/>
          <p:cNvPicPr preferRelativeResize="0"/>
          <p:nvPr/>
        </p:nvPicPr>
        <p:blipFill rotWithShape="1">
          <a:blip r:embed="rId3">
            <a:alphaModFix/>
          </a:blip>
          <a:srcRect l="52094" t="6360" r="2835" b="13242"/>
          <a:stretch/>
        </p:blipFill>
        <p:spPr>
          <a:xfrm>
            <a:off x="106805" y="1764969"/>
            <a:ext cx="3100869" cy="2508056"/>
          </a:xfrm>
          <a:prstGeom prst="rect">
            <a:avLst/>
          </a:prstGeom>
          <a:noFill/>
          <a:ln>
            <a:noFill/>
          </a:ln>
        </p:spPr>
      </p:pic>
      <p:sp>
        <p:nvSpPr>
          <p:cNvPr id="181" name="Google Shape;181;p2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82" name="Google Shape;182;p27"/>
          <p:cNvSpPr txBox="1"/>
          <p:nvPr/>
        </p:nvSpPr>
        <p:spPr>
          <a:xfrm>
            <a:off x="106800" y="1048750"/>
            <a:ext cx="6508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u="sng">
                <a:solidFill>
                  <a:schemeClr val="dk1"/>
                </a:solidFill>
                <a:latin typeface="Delius"/>
                <a:ea typeface="Delius"/>
                <a:cs typeface="Delius"/>
                <a:sym typeface="Delius"/>
              </a:rPr>
              <a:t>Modern Thinking – Slab Pull &amp; Ridge Push</a:t>
            </a:r>
            <a:endParaRPr sz="2100"/>
          </a:p>
        </p:txBody>
      </p:sp>
      <p:sp>
        <p:nvSpPr>
          <p:cNvPr id="183" name="Google Shape;183;p27"/>
          <p:cNvSpPr txBox="1"/>
          <p:nvPr/>
        </p:nvSpPr>
        <p:spPr>
          <a:xfrm>
            <a:off x="3276000" y="1541350"/>
            <a:ext cx="57612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Today, most scientists believe </a:t>
            </a:r>
            <a:r>
              <a:rPr lang="en" sz="1800" b="1">
                <a:solidFill>
                  <a:schemeClr val="dk1"/>
                </a:solidFill>
                <a:latin typeface="Baumans"/>
                <a:ea typeface="Baumans"/>
                <a:cs typeface="Baumans"/>
                <a:sym typeface="Baumans"/>
              </a:rPr>
              <a:t>slab pull</a:t>
            </a:r>
            <a:r>
              <a:rPr lang="en" sz="1800">
                <a:solidFill>
                  <a:schemeClr val="dk1"/>
                </a:solidFill>
                <a:latin typeface="Baumans"/>
                <a:ea typeface="Baumans"/>
                <a:cs typeface="Baumans"/>
                <a:sym typeface="Baumans"/>
              </a:rPr>
              <a:t> and </a:t>
            </a:r>
            <a:r>
              <a:rPr lang="en" sz="1800" b="1">
                <a:solidFill>
                  <a:schemeClr val="dk1"/>
                </a:solidFill>
                <a:latin typeface="Baumans"/>
                <a:ea typeface="Baumans"/>
                <a:cs typeface="Baumans"/>
                <a:sym typeface="Baumans"/>
              </a:rPr>
              <a:t>ridge push</a:t>
            </a:r>
            <a:r>
              <a:rPr lang="en" sz="1800">
                <a:solidFill>
                  <a:schemeClr val="dk1"/>
                </a:solidFill>
                <a:latin typeface="Baumans"/>
                <a:ea typeface="Baumans"/>
                <a:cs typeface="Baumans"/>
                <a:sym typeface="Baumans"/>
              </a:rPr>
              <a:t> are the key forces. </a:t>
            </a:r>
            <a:r>
              <a:rPr lang="en" sz="1800" b="1">
                <a:solidFill>
                  <a:schemeClr val="dk1"/>
                </a:solidFill>
                <a:latin typeface="Baumans"/>
                <a:ea typeface="Baumans"/>
                <a:cs typeface="Baumans"/>
                <a:sym typeface="Baumans"/>
              </a:rPr>
              <a:t>Slab pull</a:t>
            </a:r>
            <a:r>
              <a:rPr lang="en" sz="1800">
                <a:solidFill>
                  <a:schemeClr val="dk1"/>
                </a:solidFill>
                <a:latin typeface="Baumans"/>
                <a:ea typeface="Baumans"/>
                <a:cs typeface="Baumans"/>
                <a:sym typeface="Baumans"/>
              </a:rPr>
              <a:t> is the stronger force: when a dense </a:t>
            </a:r>
            <a:r>
              <a:rPr lang="en" sz="1800" b="1">
                <a:solidFill>
                  <a:schemeClr val="dk1"/>
                </a:solidFill>
                <a:latin typeface="Baumans"/>
                <a:ea typeface="Baumans"/>
                <a:cs typeface="Baumans"/>
                <a:sym typeface="Baumans"/>
              </a:rPr>
              <a:t>oceanic plate</a:t>
            </a:r>
            <a:r>
              <a:rPr lang="en" sz="1800">
                <a:solidFill>
                  <a:schemeClr val="dk1"/>
                </a:solidFill>
                <a:latin typeface="Baumans"/>
                <a:ea typeface="Baumans"/>
                <a:cs typeface="Baumans"/>
                <a:sym typeface="Baumans"/>
              </a:rPr>
              <a:t> sinks at a </a:t>
            </a:r>
            <a:r>
              <a:rPr lang="en" sz="1800" b="1">
                <a:solidFill>
                  <a:schemeClr val="dk1"/>
                </a:solidFill>
                <a:latin typeface="Baumans"/>
                <a:ea typeface="Baumans"/>
                <a:cs typeface="Baumans"/>
                <a:sym typeface="Baumans"/>
              </a:rPr>
              <a:t>subduction zone</a:t>
            </a:r>
            <a:r>
              <a:rPr lang="en" sz="1800">
                <a:solidFill>
                  <a:schemeClr val="dk1"/>
                </a:solidFill>
                <a:latin typeface="Baumans"/>
                <a:ea typeface="Baumans"/>
                <a:cs typeface="Baumans"/>
                <a:sym typeface="Baumans"/>
              </a:rPr>
              <a:t>, its weight pulls the rest of the plate down, like a coat sliding off a table. </a:t>
            </a:r>
            <a:r>
              <a:rPr lang="en" sz="1800" b="1">
                <a:solidFill>
                  <a:schemeClr val="dk1"/>
                </a:solidFill>
                <a:latin typeface="Baumans"/>
                <a:ea typeface="Baumans"/>
                <a:cs typeface="Baumans"/>
                <a:sym typeface="Baumans"/>
              </a:rPr>
              <a:t>Ridge push</a:t>
            </a:r>
            <a:r>
              <a:rPr lang="en" sz="1800">
                <a:solidFill>
                  <a:schemeClr val="dk1"/>
                </a:solidFill>
                <a:latin typeface="Baumans"/>
                <a:ea typeface="Baumans"/>
                <a:cs typeface="Baumans"/>
                <a:sym typeface="Baumans"/>
              </a:rPr>
              <a:t> is weaker.</a:t>
            </a:r>
            <a:endParaRPr sz="2500">
              <a:latin typeface="Baumans"/>
              <a:ea typeface="Baumans"/>
              <a:cs typeface="Baumans"/>
              <a:sym typeface="Baumans"/>
            </a:endParaRPr>
          </a:p>
        </p:txBody>
      </p:sp>
      <p:sp>
        <p:nvSpPr>
          <p:cNvPr id="184" name="Google Shape;184;p27"/>
          <p:cNvSpPr txBox="1"/>
          <p:nvPr/>
        </p:nvSpPr>
        <p:spPr>
          <a:xfrm>
            <a:off x="3276000" y="3111250"/>
            <a:ext cx="57612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At </a:t>
            </a:r>
            <a:r>
              <a:rPr lang="en" sz="1800" b="1">
                <a:solidFill>
                  <a:schemeClr val="dk1"/>
                </a:solidFill>
                <a:latin typeface="Baumans"/>
                <a:ea typeface="Baumans"/>
                <a:cs typeface="Baumans"/>
                <a:sym typeface="Baumans"/>
              </a:rPr>
              <a:t>mid-ocean ridges</a:t>
            </a:r>
            <a:r>
              <a:rPr lang="en" sz="1800">
                <a:solidFill>
                  <a:schemeClr val="dk1"/>
                </a:solidFill>
                <a:latin typeface="Baumans"/>
                <a:ea typeface="Baumans"/>
                <a:cs typeface="Baumans"/>
                <a:sym typeface="Baumans"/>
              </a:rPr>
              <a:t>, new crust forms, cools, and sinks under gravity, pushing older rock away. These two forces together help explain </a:t>
            </a:r>
            <a:r>
              <a:rPr lang="en" sz="1800" b="1">
                <a:solidFill>
                  <a:schemeClr val="dk1"/>
                </a:solidFill>
                <a:latin typeface="Baumans"/>
                <a:ea typeface="Baumans"/>
                <a:cs typeface="Baumans"/>
                <a:sym typeface="Baumans"/>
              </a:rPr>
              <a:t>plate movement</a:t>
            </a:r>
            <a:r>
              <a:rPr lang="en" sz="1800">
                <a:solidFill>
                  <a:schemeClr val="dk1"/>
                </a:solidFill>
                <a:latin typeface="Baumans"/>
                <a:ea typeface="Baumans"/>
                <a:cs typeface="Baumans"/>
                <a:sym typeface="Baumans"/>
              </a:rPr>
              <a:t>. Yet, even now, scientists do not fully agree, and the details remain debated.</a:t>
            </a:r>
            <a:endParaRPr sz="2100">
              <a:latin typeface="Baumans"/>
              <a:ea typeface="Baumans"/>
              <a:cs typeface="Baumans"/>
              <a:sym typeface="Baumans"/>
            </a:endParaRPr>
          </a:p>
        </p:txBody>
      </p:sp>
      <p:pic>
        <p:nvPicPr>
          <p:cNvPr id="185" name="Google Shape;185;p27"/>
          <p:cNvPicPr preferRelativeResize="0"/>
          <p:nvPr/>
        </p:nvPicPr>
        <p:blipFill>
          <a:blip r:embed="rId4">
            <a:alphaModFix/>
          </a:blip>
          <a:stretch>
            <a:fillRect/>
          </a:stretch>
        </p:blipFill>
        <p:spPr>
          <a:xfrm>
            <a:off x="106800" y="1764975"/>
            <a:ext cx="3100876" cy="2508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p:nvPr/>
        </p:nvSpPr>
        <p:spPr>
          <a:xfrm>
            <a:off x="6204525" y="2921275"/>
            <a:ext cx="2832600" cy="1876200"/>
          </a:xfrm>
          <a:prstGeom prst="rect">
            <a:avLst/>
          </a:prstGeom>
          <a:solidFill>
            <a:srgbClr val="7F6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 name="Google Shape;191;p28"/>
          <p:cNvSpPr txBox="1"/>
          <p:nvPr/>
        </p:nvSpPr>
        <p:spPr>
          <a:xfrm>
            <a:off x="109450" y="1044900"/>
            <a:ext cx="6715800" cy="10221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1900"/>
              <a:buFont typeface="Arial"/>
              <a:buNone/>
            </a:pPr>
            <a:r>
              <a:rPr lang="en" sz="1800" b="1" u="sng">
                <a:solidFill>
                  <a:schemeClr val="dk1"/>
                </a:solidFill>
                <a:highlight>
                  <a:srgbClr val="00FF00"/>
                </a:highlight>
                <a:latin typeface="Baumans"/>
                <a:ea typeface="Baumans"/>
                <a:cs typeface="Baumans"/>
                <a:sym typeface="Baumans"/>
              </a:rPr>
              <a:t>Activity 3</a:t>
            </a:r>
            <a:r>
              <a:rPr lang="en" sz="1800" b="1" i="0" u="sng" strike="noStrike" cap="none">
                <a:solidFill>
                  <a:schemeClr val="dk1"/>
                </a:solidFill>
                <a:highlight>
                  <a:srgbClr val="00FF00"/>
                </a:highlight>
                <a:latin typeface="Baumans"/>
                <a:ea typeface="Baumans"/>
                <a:cs typeface="Baumans"/>
                <a:sym typeface="Baumans"/>
              </a:rPr>
              <a:t>:</a:t>
            </a:r>
            <a:r>
              <a:rPr lang="en" sz="1800">
                <a:solidFill>
                  <a:schemeClr val="dk1"/>
                </a:solidFill>
                <a:latin typeface="Baumans"/>
                <a:ea typeface="Baumans"/>
                <a:cs typeface="Baumans"/>
                <a:sym typeface="Baumans"/>
              </a:rPr>
              <a:t> Use the information sheet to help you explain how </a:t>
            </a:r>
            <a:r>
              <a:rPr lang="en" sz="1800" b="1">
                <a:solidFill>
                  <a:schemeClr val="dk1"/>
                </a:solidFill>
                <a:latin typeface="Baumans"/>
                <a:ea typeface="Baumans"/>
                <a:cs typeface="Baumans"/>
                <a:sym typeface="Baumans"/>
              </a:rPr>
              <a:t>slab pull and ridge push work </a:t>
            </a:r>
            <a:r>
              <a:rPr lang="en" sz="1800">
                <a:solidFill>
                  <a:schemeClr val="dk1"/>
                </a:solidFill>
                <a:latin typeface="Baumans"/>
                <a:ea typeface="Baumans"/>
                <a:cs typeface="Baumans"/>
                <a:sym typeface="Baumans"/>
              </a:rPr>
              <a:t>to move the tectonic plates. </a:t>
            </a:r>
            <a:r>
              <a:rPr lang="en" sz="1600" b="1">
                <a:solidFill>
                  <a:schemeClr val="dk1"/>
                </a:solidFill>
                <a:latin typeface="Patrick Hand"/>
                <a:ea typeface="Patrick Hand"/>
                <a:cs typeface="Patrick Hand"/>
                <a:sym typeface="Patrick Hand"/>
              </a:rPr>
              <a:t>(Make sure to include key terms like mantle, convection currents, slab pull, and ridge push.)</a:t>
            </a:r>
            <a:endParaRPr sz="1600" b="0" i="0" u="none" strike="noStrike" cap="none">
              <a:solidFill>
                <a:schemeClr val="dk1"/>
              </a:solidFill>
              <a:latin typeface="Calibri"/>
              <a:ea typeface="Calibri"/>
              <a:cs typeface="Calibri"/>
              <a:sym typeface="Calibri"/>
            </a:endParaRPr>
          </a:p>
        </p:txBody>
      </p:sp>
      <p:pic>
        <p:nvPicPr>
          <p:cNvPr id="192" name="Google Shape;192;p28"/>
          <p:cNvPicPr preferRelativeResize="0"/>
          <p:nvPr/>
        </p:nvPicPr>
        <p:blipFill rotWithShape="1">
          <a:blip r:embed="rId3">
            <a:alphaModFix/>
          </a:blip>
          <a:srcRect/>
          <a:stretch/>
        </p:blipFill>
        <p:spPr>
          <a:xfrm>
            <a:off x="7906550" y="991450"/>
            <a:ext cx="1130650" cy="1130650"/>
          </a:xfrm>
          <a:prstGeom prst="rect">
            <a:avLst/>
          </a:prstGeom>
          <a:noFill/>
          <a:ln>
            <a:noFill/>
          </a:ln>
        </p:spPr>
      </p:pic>
      <p:sp>
        <p:nvSpPr>
          <p:cNvPr id="193" name="Google Shape;193;p2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sp>
        <p:nvSpPr>
          <p:cNvPr id="194" name="Google Shape;194;p28"/>
          <p:cNvSpPr txBox="1"/>
          <p:nvPr/>
        </p:nvSpPr>
        <p:spPr>
          <a:xfrm>
            <a:off x="106800" y="573250"/>
            <a:ext cx="55950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chemeClr val="dk1"/>
                </a:solidFill>
                <a:latin typeface="Fugaz One"/>
                <a:ea typeface="Fugaz One"/>
                <a:cs typeface="Fugaz One"/>
                <a:sym typeface="Fugaz One"/>
              </a:rPr>
              <a:t>So why are the continents moving?</a:t>
            </a:r>
            <a:endParaRPr sz="2000" i="0" u="none" strike="noStrike" cap="none">
              <a:solidFill>
                <a:schemeClr val="dk1"/>
              </a:solidFill>
              <a:latin typeface="Fugaz One"/>
              <a:ea typeface="Fugaz One"/>
              <a:cs typeface="Fugaz One"/>
              <a:sym typeface="Fugaz One"/>
            </a:endParaRPr>
          </a:p>
        </p:txBody>
      </p:sp>
      <p:pic>
        <p:nvPicPr>
          <p:cNvPr id="195" name="Google Shape;195;p28"/>
          <p:cNvPicPr preferRelativeResize="0"/>
          <p:nvPr/>
        </p:nvPicPr>
        <p:blipFill>
          <a:blip r:embed="rId4">
            <a:alphaModFix/>
          </a:blip>
          <a:stretch>
            <a:fillRect/>
          </a:stretch>
        </p:blipFill>
        <p:spPr>
          <a:xfrm>
            <a:off x="6825250" y="991450"/>
            <a:ext cx="1130650" cy="1130650"/>
          </a:xfrm>
          <a:prstGeom prst="rect">
            <a:avLst/>
          </a:prstGeom>
          <a:noFill/>
          <a:ln>
            <a:noFill/>
          </a:ln>
        </p:spPr>
      </p:pic>
      <p:pic>
        <p:nvPicPr>
          <p:cNvPr id="196" name="Google Shape;196;p28"/>
          <p:cNvPicPr preferRelativeResize="0"/>
          <p:nvPr/>
        </p:nvPicPr>
        <p:blipFill>
          <a:blip r:embed="rId5">
            <a:alphaModFix/>
          </a:blip>
          <a:stretch>
            <a:fillRect/>
          </a:stretch>
        </p:blipFill>
        <p:spPr>
          <a:xfrm>
            <a:off x="7072987" y="2122088"/>
            <a:ext cx="607125" cy="607125"/>
          </a:xfrm>
          <a:prstGeom prst="rect">
            <a:avLst/>
          </a:prstGeom>
          <a:noFill/>
          <a:ln>
            <a:noFill/>
          </a:ln>
        </p:spPr>
      </p:pic>
      <p:sp>
        <p:nvSpPr>
          <p:cNvPr id="197" name="Google Shape;197;p28"/>
          <p:cNvSpPr txBox="1"/>
          <p:nvPr/>
        </p:nvSpPr>
        <p:spPr>
          <a:xfrm>
            <a:off x="7680113" y="2146675"/>
            <a:ext cx="1278600" cy="55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0000FF"/>
                </a:solidFill>
                <a:latin typeface="Poppins"/>
                <a:ea typeface="Poppins"/>
                <a:cs typeface="Poppins"/>
                <a:sym typeface="Poppins"/>
              </a:rPr>
              <a:t>Breakdown Available</a:t>
            </a:r>
            <a:endParaRPr b="1">
              <a:solidFill>
                <a:srgbClr val="0000FF"/>
              </a:solidFill>
              <a:latin typeface="Poppins"/>
              <a:ea typeface="Poppins"/>
              <a:cs typeface="Poppins"/>
              <a:sym typeface="Poppins"/>
            </a:endParaRPr>
          </a:p>
        </p:txBody>
      </p:sp>
      <p:sp>
        <p:nvSpPr>
          <p:cNvPr id="198" name="Google Shape;198;p28"/>
          <p:cNvSpPr txBox="1"/>
          <p:nvPr/>
        </p:nvSpPr>
        <p:spPr>
          <a:xfrm>
            <a:off x="711275" y="2073750"/>
            <a:ext cx="54906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rgbClr val="000000"/>
                </a:solidFill>
                <a:latin typeface="Patrick Hand"/>
                <a:ea typeface="Patrick Hand"/>
                <a:cs typeface="Patrick Hand"/>
                <a:sym typeface="Patrick Hand"/>
              </a:rPr>
              <a:t>Point</a:t>
            </a:r>
            <a:r>
              <a:rPr lang="en" sz="1600">
                <a:solidFill>
                  <a:srgbClr val="000000"/>
                </a:solidFill>
                <a:latin typeface="Patrick Hand"/>
                <a:ea typeface="Patrick Hand"/>
                <a:cs typeface="Patrick Hand"/>
                <a:sym typeface="Patrick Hand"/>
              </a:rPr>
              <a:t> – </a:t>
            </a:r>
            <a:r>
              <a:rPr lang="en" sz="1600" b="1" i="1">
                <a:solidFill>
                  <a:srgbClr val="0000FF"/>
                </a:solidFill>
                <a:latin typeface="Patrick Hand"/>
                <a:ea typeface="Patrick Hand"/>
                <a:cs typeface="Patrick Hand"/>
                <a:sym typeface="Patrick Hand"/>
              </a:rPr>
              <a:t>Tectonic plates move because…</a:t>
            </a:r>
            <a:endParaRPr sz="1600" b="1" i="1">
              <a:solidFill>
                <a:srgbClr val="0000FF"/>
              </a:solidFill>
              <a:latin typeface="Patrick Hand"/>
              <a:ea typeface="Patrick Hand"/>
              <a:cs typeface="Patrick Hand"/>
              <a:sym typeface="Patrick Hand"/>
            </a:endParaRPr>
          </a:p>
          <a:p>
            <a:pPr marL="0" lvl="0" indent="0" algn="l" rtl="0">
              <a:lnSpc>
                <a:spcPct val="115000"/>
              </a:lnSpc>
              <a:spcBef>
                <a:spcPts val="0"/>
              </a:spcBef>
              <a:spcAft>
                <a:spcPts val="0"/>
              </a:spcAft>
              <a:buNone/>
            </a:pPr>
            <a:r>
              <a:rPr lang="en" sz="1600" b="1">
                <a:solidFill>
                  <a:srgbClr val="000000"/>
                </a:solidFill>
                <a:latin typeface="Patrick Hand"/>
                <a:ea typeface="Patrick Hand"/>
                <a:cs typeface="Patrick Hand"/>
                <a:sym typeface="Patrick Hand"/>
              </a:rPr>
              <a:t>Evidence</a:t>
            </a:r>
            <a:r>
              <a:rPr lang="en" sz="1600">
                <a:solidFill>
                  <a:srgbClr val="000000"/>
                </a:solidFill>
                <a:latin typeface="Patrick Hand"/>
                <a:ea typeface="Patrick Hand"/>
                <a:cs typeface="Patrick Hand"/>
                <a:sym typeface="Patrick Hand"/>
              </a:rPr>
              <a:t> – </a:t>
            </a:r>
            <a:r>
              <a:rPr lang="en" sz="1600" b="1" i="1">
                <a:solidFill>
                  <a:srgbClr val="0000FF"/>
                </a:solidFill>
                <a:latin typeface="Patrick Hand"/>
                <a:ea typeface="Patrick Hand"/>
                <a:cs typeface="Patrick Hand"/>
                <a:sym typeface="Patrick Hand"/>
              </a:rPr>
              <a:t>One piece of evidence is that… Another piece of evidence is…</a:t>
            </a:r>
            <a:endParaRPr sz="1600" b="1" i="1">
              <a:solidFill>
                <a:srgbClr val="0000FF"/>
              </a:solidFill>
              <a:latin typeface="Patrick Hand"/>
              <a:ea typeface="Patrick Hand"/>
              <a:cs typeface="Patrick Hand"/>
              <a:sym typeface="Patrick Hand"/>
            </a:endParaRPr>
          </a:p>
          <a:p>
            <a:pPr marL="0" lvl="0" indent="0" algn="l" rtl="0">
              <a:lnSpc>
                <a:spcPct val="115000"/>
              </a:lnSpc>
              <a:spcBef>
                <a:spcPts val="0"/>
              </a:spcBef>
              <a:spcAft>
                <a:spcPts val="0"/>
              </a:spcAft>
              <a:buNone/>
            </a:pPr>
            <a:r>
              <a:rPr lang="en" sz="1600" b="1">
                <a:solidFill>
                  <a:srgbClr val="000000"/>
                </a:solidFill>
                <a:latin typeface="Patrick Hand"/>
                <a:ea typeface="Patrick Hand"/>
                <a:cs typeface="Patrick Hand"/>
                <a:sym typeface="Patrick Hand"/>
              </a:rPr>
              <a:t>Explain</a:t>
            </a:r>
            <a:r>
              <a:rPr lang="en" sz="1600">
                <a:solidFill>
                  <a:srgbClr val="000000"/>
                </a:solidFill>
                <a:latin typeface="Patrick Hand"/>
                <a:ea typeface="Patrick Hand"/>
                <a:cs typeface="Patrick Hand"/>
                <a:sym typeface="Patrick Hand"/>
              </a:rPr>
              <a:t> – </a:t>
            </a:r>
            <a:r>
              <a:rPr lang="en" sz="1600" b="1" i="1">
                <a:solidFill>
                  <a:srgbClr val="0000FF"/>
                </a:solidFill>
                <a:latin typeface="Patrick Hand"/>
                <a:ea typeface="Patrick Hand"/>
                <a:cs typeface="Patrick Hand"/>
                <a:sym typeface="Patrick Hand"/>
              </a:rPr>
              <a:t>This means that the plates are moved because… Another force is … and finally …</a:t>
            </a:r>
            <a:endParaRPr sz="1600" b="1" i="1">
              <a:solidFill>
                <a:srgbClr val="0000FF"/>
              </a:solidFill>
              <a:latin typeface="Patrick Hand"/>
              <a:ea typeface="Patrick Hand"/>
              <a:cs typeface="Patrick Hand"/>
              <a:sym typeface="Patrick Hand"/>
            </a:endParaRPr>
          </a:p>
          <a:p>
            <a:pPr marL="0" lvl="0" indent="0" algn="l" rtl="0">
              <a:lnSpc>
                <a:spcPct val="115000"/>
              </a:lnSpc>
              <a:spcBef>
                <a:spcPts val="0"/>
              </a:spcBef>
              <a:spcAft>
                <a:spcPts val="0"/>
              </a:spcAft>
              <a:buNone/>
            </a:pPr>
            <a:r>
              <a:rPr lang="en" sz="1600" b="1">
                <a:solidFill>
                  <a:srgbClr val="000000"/>
                </a:solidFill>
                <a:latin typeface="Patrick Hand"/>
                <a:ea typeface="Patrick Hand"/>
                <a:cs typeface="Patrick Hand"/>
                <a:sym typeface="Patrick Hand"/>
              </a:rPr>
              <a:t>Link</a:t>
            </a:r>
            <a:r>
              <a:rPr lang="en" sz="1600">
                <a:solidFill>
                  <a:srgbClr val="000000"/>
                </a:solidFill>
                <a:latin typeface="Patrick Hand"/>
                <a:ea typeface="Patrick Hand"/>
                <a:cs typeface="Patrick Hand"/>
                <a:sym typeface="Patrick Hand"/>
              </a:rPr>
              <a:t> – </a:t>
            </a:r>
            <a:r>
              <a:rPr lang="en" sz="1600" b="1" i="1">
                <a:solidFill>
                  <a:srgbClr val="0000FF"/>
                </a:solidFill>
                <a:latin typeface="Patrick Hand"/>
                <a:ea typeface="Patrick Hand"/>
                <a:cs typeface="Patrick Hand"/>
                <a:sym typeface="Patrick Hand"/>
              </a:rPr>
              <a:t>This shows that…</a:t>
            </a:r>
            <a:endParaRPr sz="1600" b="1" i="1">
              <a:solidFill>
                <a:srgbClr val="0000FF"/>
              </a:solidFill>
              <a:latin typeface="Patrick Hand"/>
              <a:ea typeface="Patrick Hand"/>
              <a:cs typeface="Patrick Hand"/>
              <a:sym typeface="Patrick Hand"/>
            </a:endParaRPr>
          </a:p>
        </p:txBody>
      </p:sp>
      <p:pic>
        <p:nvPicPr>
          <p:cNvPr id="199" name="Google Shape;199;p28" title="Screenshot 2025-08-28 at 12.01.03 PM.png"/>
          <p:cNvPicPr preferRelativeResize="0"/>
          <p:nvPr/>
        </p:nvPicPr>
        <p:blipFill>
          <a:blip r:embed="rId6">
            <a:alphaModFix/>
          </a:blip>
          <a:stretch>
            <a:fillRect/>
          </a:stretch>
        </p:blipFill>
        <p:spPr>
          <a:xfrm>
            <a:off x="106800" y="2036100"/>
            <a:ext cx="607125" cy="1639200"/>
          </a:xfrm>
          <a:prstGeom prst="rect">
            <a:avLst/>
          </a:prstGeom>
          <a:noFill/>
          <a:ln>
            <a:noFill/>
          </a:ln>
        </p:spPr>
      </p:pic>
      <p:pic>
        <p:nvPicPr>
          <p:cNvPr id="200" name="Google Shape;200;p28" title="Screenshot 2025-07-01 at 9.18.39 AM.png"/>
          <p:cNvPicPr preferRelativeResize="0"/>
          <p:nvPr/>
        </p:nvPicPr>
        <p:blipFill>
          <a:blip r:embed="rId7">
            <a:alphaModFix/>
          </a:blip>
          <a:stretch>
            <a:fillRect/>
          </a:stretch>
        </p:blipFill>
        <p:spPr>
          <a:xfrm>
            <a:off x="6204525" y="3051474"/>
            <a:ext cx="789978" cy="780300"/>
          </a:xfrm>
          <a:prstGeom prst="rect">
            <a:avLst/>
          </a:prstGeom>
          <a:noFill/>
          <a:ln>
            <a:noFill/>
          </a:ln>
        </p:spPr>
      </p:pic>
      <p:sp>
        <p:nvSpPr>
          <p:cNvPr id="201" name="Google Shape;201;p28"/>
          <p:cNvSpPr txBox="1"/>
          <p:nvPr/>
        </p:nvSpPr>
        <p:spPr>
          <a:xfrm>
            <a:off x="6994500" y="2921100"/>
            <a:ext cx="20427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Poppins"/>
                <a:ea typeface="Poppins"/>
                <a:cs typeface="Poppins"/>
                <a:sym typeface="Poppins"/>
              </a:rPr>
              <a:t>Which explanation for plate movement </a:t>
            </a:r>
            <a:r>
              <a:rPr lang="en">
                <a:solidFill>
                  <a:schemeClr val="lt1"/>
                </a:solidFill>
                <a:latin typeface="Patrick Hand"/>
                <a:ea typeface="Patrick Hand"/>
                <a:cs typeface="Patrick Hand"/>
                <a:sym typeface="Patrick Hand"/>
              </a:rPr>
              <a:t>(convection currents or slab pull and ridge push) </a:t>
            </a:r>
            <a:r>
              <a:rPr lang="en">
                <a:solidFill>
                  <a:schemeClr val="lt1"/>
                </a:solidFill>
                <a:latin typeface="Poppins"/>
                <a:ea typeface="Poppins"/>
                <a:cs typeface="Poppins"/>
                <a:sym typeface="Poppins"/>
              </a:rPr>
              <a:t>best supports Wegener’s theory of continental drift and why?</a:t>
            </a:r>
            <a:endParaRPr>
              <a:solidFill>
                <a:schemeClr val="lt1"/>
              </a:solidFill>
              <a:latin typeface="Poppins"/>
              <a:ea typeface="Poppins"/>
              <a:cs typeface="Poppins"/>
              <a:sym typeface="Poppins"/>
            </a:endParaRPr>
          </a:p>
        </p:txBody>
      </p:sp>
      <p:pic>
        <p:nvPicPr>
          <p:cNvPr id="202" name="Google Shape;202;p28"/>
          <p:cNvPicPr preferRelativeResize="0"/>
          <p:nvPr/>
        </p:nvPicPr>
        <p:blipFill>
          <a:blip r:embed="rId8">
            <a:alphaModFix/>
          </a:blip>
          <a:stretch>
            <a:fillRect/>
          </a:stretch>
        </p:blipFill>
        <p:spPr>
          <a:xfrm>
            <a:off x="6269760" y="3831775"/>
            <a:ext cx="659516" cy="858900"/>
          </a:xfrm>
          <a:prstGeom prst="rect">
            <a:avLst/>
          </a:prstGeom>
          <a:noFill/>
          <a:ln>
            <a:noFill/>
          </a:ln>
        </p:spPr>
      </p:pic>
      <p:sp>
        <p:nvSpPr>
          <p:cNvPr id="203" name="Google Shape;203;p28"/>
          <p:cNvSpPr txBox="1"/>
          <p:nvPr/>
        </p:nvSpPr>
        <p:spPr>
          <a:xfrm>
            <a:off x="112125" y="3675300"/>
            <a:ext cx="6092400" cy="74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4:</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Colour and label the the key parts of the diagram. </a:t>
            </a:r>
            <a:r>
              <a:rPr lang="en" sz="1600" b="1">
                <a:solidFill>
                  <a:schemeClr val="dk1"/>
                </a:solidFill>
                <a:latin typeface="Patrick Hand"/>
                <a:ea typeface="Patrick Hand"/>
                <a:cs typeface="Patrick Hand"/>
                <a:sym typeface="Patrick Hand"/>
              </a:rPr>
              <a:t>(mantle, convection currents, subduction zone, ridge).</a:t>
            </a:r>
            <a:endParaRPr sz="1600">
              <a:latin typeface="Patrick Hand"/>
              <a:ea typeface="Patrick Hand"/>
              <a:cs typeface="Patrick Hand"/>
              <a:sym typeface="Patrick Han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9"/>
          <p:cNvSpPr txBox="1"/>
          <p:nvPr/>
        </p:nvSpPr>
        <p:spPr>
          <a:xfrm>
            <a:off x="175675" y="624875"/>
            <a:ext cx="6649500" cy="4056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1900"/>
              <a:buFont typeface="Arial"/>
              <a:buNone/>
            </a:pPr>
            <a:r>
              <a:rPr lang="en" sz="900" b="1" u="sng">
                <a:solidFill>
                  <a:schemeClr val="dk1"/>
                </a:solidFill>
                <a:highlight>
                  <a:srgbClr val="00FF00"/>
                </a:highlight>
                <a:latin typeface="Baumans"/>
                <a:ea typeface="Baumans"/>
                <a:cs typeface="Baumans"/>
                <a:sym typeface="Baumans"/>
              </a:rPr>
              <a:t>Activity 3</a:t>
            </a:r>
            <a:r>
              <a:rPr lang="en" sz="900" b="1" i="0" u="sng" strike="noStrike" cap="none">
                <a:solidFill>
                  <a:schemeClr val="dk1"/>
                </a:solidFill>
                <a:highlight>
                  <a:srgbClr val="00FF00"/>
                </a:highlight>
                <a:latin typeface="Baumans"/>
                <a:ea typeface="Baumans"/>
                <a:cs typeface="Baumans"/>
                <a:sym typeface="Baumans"/>
              </a:rPr>
              <a:t>:</a:t>
            </a:r>
            <a:r>
              <a:rPr lang="en" sz="900">
                <a:solidFill>
                  <a:schemeClr val="dk1"/>
                </a:solidFill>
                <a:latin typeface="Baumans"/>
                <a:ea typeface="Baumans"/>
                <a:cs typeface="Baumans"/>
                <a:sym typeface="Baumans"/>
              </a:rPr>
              <a:t> Use the information sheet to help you explain how </a:t>
            </a:r>
            <a:r>
              <a:rPr lang="en" sz="900" b="1">
                <a:solidFill>
                  <a:schemeClr val="dk1"/>
                </a:solidFill>
                <a:latin typeface="Baumans"/>
                <a:ea typeface="Baumans"/>
                <a:cs typeface="Baumans"/>
                <a:sym typeface="Baumans"/>
              </a:rPr>
              <a:t>slab pull and ridge push work </a:t>
            </a:r>
            <a:r>
              <a:rPr lang="en" sz="900">
                <a:solidFill>
                  <a:schemeClr val="dk1"/>
                </a:solidFill>
                <a:latin typeface="Baumans"/>
                <a:ea typeface="Baumans"/>
                <a:cs typeface="Baumans"/>
                <a:sym typeface="Baumans"/>
              </a:rPr>
              <a:t>to move the tectonic plates. </a:t>
            </a:r>
            <a:r>
              <a:rPr lang="en" sz="700" b="1">
                <a:solidFill>
                  <a:schemeClr val="dk1"/>
                </a:solidFill>
                <a:latin typeface="Patrick Hand"/>
                <a:ea typeface="Patrick Hand"/>
                <a:cs typeface="Patrick Hand"/>
                <a:sym typeface="Patrick Hand"/>
              </a:rPr>
              <a:t>(Make sure to include key terms like mantle, convection currents, slab pull, and ridge push.)</a:t>
            </a:r>
            <a:endParaRPr sz="700" b="0" i="0" u="none" strike="noStrike" cap="none">
              <a:solidFill>
                <a:schemeClr val="dk1"/>
              </a:solidFill>
              <a:latin typeface="Calibri"/>
              <a:ea typeface="Calibri"/>
              <a:cs typeface="Calibri"/>
              <a:sym typeface="Calibri"/>
            </a:endParaRPr>
          </a:p>
        </p:txBody>
      </p:sp>
      <p:sp>
        <p:nvSpPr>
          <p:cNvPr id="209" name="Google Shape;209;p2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pic>
        <p:nvPicPr>
          <p:cNvPr id="210" name="Google Shape;210;p29" title="Screenshot 2025-08-28 at 12.01.03 PM.png"/>
          <p:cNvPicPr preferRelativeResize="0"/>
          <p:nvPr/>
        </p:nvPicPr>
        <p:blipFill>
          <a:blip r:embed="rId3">
            <a:alphaModFix/>
          </a:blip>
          <a:stretch>
            <a:fillRect/>
          </a:stretch>
        </p:blipFill>
        <p:spPr>
          <a:xfrm>
            <a:off x="223225" y="1183100"/>
            <a:ext cx="607125" cy="1639200"/>
          </a:xfrm>
          <a:prstGeom prst="rect">
            <a:avLst/>
          </a:prstGeom>
          <a:noFill/>
          <a:ln>
            <a:noFill/>
          </a:ln>
        </p:spPr>
      </p:pic>
      <p:sp>
        <p:nvSpPr>
          <p:cNvPr id="211" name="Google Shape;211;p29"/>
          <p:cNvSpPr txBox="1"/>
          <p:nvPr/>
        </p:nvSpPr>
        <p:spPr>
          <a:xfrm>
            <a:off x="966950" y="1095950"/>
            <a:ext cx="7798500" cy="3669300"/>
          </a:xfrm>
          <a:prstGeom prst="rect">
            <a:avLst/>
          </a:prstGeom>
          <a:noFill/>
          <a:ln>
            <a:noFill/>
          </a:ln>
        </p:spPr>
        <p:txBody>
          <a:bodyPr spcFirstLastPara="1" wrap="square" lIns="91425" tIns="91425" rIns="91425" bIns="91425" anchor="t" anchorCtr="0">
            <a:noAutofit/>
          </a:bodyPr>
          <a:lstStyle/>
          <a:p>
            <a:pPr marL="457200" lvl="0" indent="-336550" algn="just" rtl="0">
              <a:spcBef>
                <a:spcPts val="0"/>
              </a:spcBef>
              <a:spcAft>
                <a:spcPts val="0"/>
              </a:spcAft>
              <a:buClr>
                <a:schemeClr val="dk1"/>
              </a:buClr>
              <a:buSzPts val="1700"/>
              <a:buAutoNum type="arabicPeriod"/>
            </a:pPr>
            <a:r>
              <a:rPr lang="en" sz="1700" b="1">
                <a:solidFill>
                  <a:schemeClr val="dk1"/>
                </a:solidFill>
                <a:latin typeface="Titillium Web"/>
                <a:ea typeface="Titillium Web"/>
                <a:cs typeface="Titillium Web"/>
                <a:sym typeface="Titillium Web"/>
              </a:rPr>
              <a:t>Point: </a:t>
            </a:r>
            <a:r>
              <a:rPr lang="en" sz="1700">
                <a:solidFill>
                  <a:schemeClr val="dk1"/>
                </a:solidFill>
                <a:latin typeface="Titillium Web"/>
                <a:ea typeface="Titillium Web"/>
                <a:cs typeface="Titillium Web"/>
                <a:sym typeface="Titillium Web"/>
              </a:rPr>
              <a:t>Tectonic plates move because of convection currents in the mantle, as well as the processes of slab pull and ridge push.</a:t>
            </a:r>
            <a:endParaRPr sz="1700">
              <a:solidFill>
                <a:schemeClr val="dk1"/>
              </a:solidFill>
              <a:latin typeface="Titillium Web"/>
              <a:ea typeface="Titillium Web"/>
              <a:cs typeface="Titillium Web"/>
              <a:sym typeface="Titillium Web"/>
            </a:endParaRPr>
          </a:p>
          <a:p>
            <a:pPr marL="457200" lvl="0" indent="-336550" algn="just" rtl="0">
              <a:spcBef>
                <a:spcPts val="0"/>
              </a:spcBef>
              <a:spcAft>
                <a:spcPts val="0"/>
              </a:spcAft>
              <a:buClr>
                <a:schemeClr val="dk1"/>
              </a:buClr>
              <a:buSzPts val="1700"/>
              <a:buAutoNum type="arabicPeriod"/>
            </a:pPr>
            <a:r>
              <a:rPr lang="en" sz="1700" b="1">
                <a:solidFill>
                  <a:schemeClr val="dk1"/>
                </a:solidFill>
                <a:latin typeface="Titillium Web"/>
                <a:ea typeface="Titillium Web"/>
                <a:cs typeface="Titillium Web"/>
                <a:sym typeface="Titillium Web"/>
              </a:rPr>
              <a:t>Evidence:</a:t>
            </a:r>
            <a:r>
              <a:rPr lang="en" sz="1700">
                <a:solidFill>
                  <a:schemeClr val="dk1"/>
                </a:solidFill>
                <a:latin typeface="Titillium Web"/>
                <a:ea typeface="Titillium Web"/>
                <a:cs typeface="Titillium Web"/>
                <a:sym typeface="Titillium Web"/>
              </a:rPr>
              <a:t> One piece of evidence is that hot magma rises towards the surface at mid-ocean ridges, creating new crust and pushing plates apart — this is known as </a:t>
            </a:r>
            <a:r>
              <a:rPr lang="en" sz="1700" b="1">
                <a:solidFill>
                  <a:schemeClr val="dk1"/>
                </a:solidFill>
                <a:latin typeface="Titillium Web"/>
                <a:ea typeface="Titillium Web"/>
                <a:cs typeface="Titillium Web"/>
                <a:sym typeface="Titillium Web"/>
              </a:rPr>
              <a:t>ridge push. </a:t>
            </a:r>
            <a:r>
              <a:rPr lang="en" sz="1700">
                <a:solidFill>
                  <a:schemeClr val="dk1"/>
                </a:solidFill>
                <a:latin typeface="Titillium Web"/>
                <a:ea typeface="Titillium Web"/>
                <a:cs typeface="Titillium Web"/>
                <a:sym typeface="Titillium Web"/>
              </a:rPr>
              <a:t>Another piece of evidence is that when an oceanic plate sinks back into the mantle at a subduction zone, it pulls the rest of the plate with it — this is called </a:t>
            </a:r>
            <a:r>
              <a:rPr lang="en" sz="1700" b="1">
                <a:solidFill>
                  <a:schemeClr val="dk1"/>
                </a:solidFill>
                <a:latin typeface="Titillium Web"/>
                <a:ea typeface="Titillium Web"/>
                <a:cs typeface="Titillium Web"/>
                <a:sym typeface="Titillium Web"/>
              </a:rPr>
              <a:t>slab pull.</a:t>
            </a:r>
            <a:endParaRPr sz="1700" b="1">
              <a:solidFill>
                <a:schemeClr val="dk1"/>
              </a:solidFill>
              <a:latin typeface="Titillium Web"/>
              <a:ea typeface="Titillium Web"/>
              <a:cs typeface="Titillium Web"/>
              <a:sym typeface="Titillium Web"/>
            </a:endParaRPr>
          </a:p>
          <a:p>
            <a:pPr marL="457200" lvl="0" indent="-336550" algn="just" rtl="0">
              <a:spcBef>
                <a:spcPts val="0"/>
              </a:spcBef>
              <a:spcAft>
                <a:spcPts val="0"/>
              </a:spcAft>
              <a:buClr>
                <a:schemeClr val="dk1"/>
              </a:buClr>
              <a:buSzPts val="1700"/>
              <a:buAutoNum type="arabicPeriod"/>
            </a:pPr>
            <a:r>
              <a:rPr lang="en" sz="1700" b="1">
                <a:solidFill>
                  <a:schemeClr val="dk1"/>
                </a:solidFill>
                <a:latin typeface="Titillium Web"/>
                <a:ea typeface="Titillium Web"/>
                <a:cs typeface="Titillium Web"/>
                <a:sym typeface="Titillium Web"/>
              </a:rPr>
              <a:t>Explain</a:t>
            </a:r>
            <a:r>
              <a:rPr lang="en" sz="1700">
                <a:solidFill>
                  <a:schemeClr val="dk1"/>
                </a:solidFill>
                <a:latin typeface="Titillium Web"/>
                <a:ea typeface="Titillium Web"/>
                <a:cs typeface="Titillium Web"/>
                <a:sym typeface="Titillium Web"/>
              </a:rPr>
              <a:t>: This means that the plates are constantly moving because heat from the Earth’s core causes the mantle to move in </a:t>
            </a:r>
            <a:r>
              <a:rPr lang="en" sz="1700" b="1">
                <a:solidFill>
                  <a:schemeClr val="dk1"/>
                </a:solidFill>
                <a:latin typeface="Titillium Web"/>
                <a:ea typeface="Titillium Web"/>
                <a:cs typeface="Titillium Web"/>
                <a:sym typeface="Titillium Web"/>
              </a:rPr>
              <a:t>circular convection currents. </a:t>
            </a:r>
            <a:r>
              <a:rPr lang="en" sz="1700">
                <a:solidFill>
                  <a:schemeClr val="dk1"/>
                </a:solidFill>
                <a:latin typeface="Titillium Web"/>
                <a:ea typeface="Titillium Web"/>
                <a:cs typeface="Titillium Web"/>
                <a:sym typeface="Titillium Web"/>
              </a:rPr>
              <a:t>These currents drag the plates above them, while </a:t>
            </a:r>
            <a:r>
              <a:rPr lang="en" sz="1700" b="1">
                <a:solidFill>
                  <a:schemeClr val="dk1"/>
                </a:solidFill>
                <a:latin typeface="Titillium Web"/>
                <a:ea typeface="Titillium Web"/>
                <a:cs typeface="Titillium Web"/>
                <a:sym typeface="Titillium Web"/>
              </a:rPr>
              <a:t>slab pull and ridge push</a:t>
            </a:r>
            <a:r>
              <a:rPr lang="en" sz="1700">
                <a:solidFill>
                  <a:schemeClr val="dk1"/>
                </a:solidFill>
                <a:latin typeface="Titillium Web"/>
                <a:ea typeface="Titillium Web"/>
                <a:cs typeface="Titillium Web"/>
                <a:sym typeface="Titillium Web"/>
              </a:rPr>
              <a:t> help drive their motion.</a:t>
            </a:r>
            <a:endParaRPr sz="1700">
              <a:solidFill>
                <a:schemeClr val="dk1"/>
              </a:solidFill>
              <a:latin typeface="Titillium Web"/>
              <a:ea typeface="Titillium Web"/>
              <a:cs typeface="Titillium Web"/>
              <a:sym typeface="Titillium Web"/>
            </a:endParaRPr>
          </a:p>
          <a:p>
            <a:pPr marL="457200" lvl="0" indent="-336550" algn="just" rtl="0">
              <a:spcBef>
                <a:spcPts val="0"/>
              </a:spcBef>
              <a:spcAft>
                <a:spcPts val="0"/>
              </a:spcAft>
              <a:buClr>
                <a:schemeClr val="dk1"/>
              </a:buClr>
              <a:buSzPts val="1700"/>
              <a:buAutoNum type="arabicPeriod"/>
            </a:pPr>
            <a:r>
              <a:rPr lang="en" sz="1700" b="1">
                <a:solidFill>
                  <a:schemeClr val="dk1"/>
                </a:solidFill>
                <a:latin typeface="Titillium Web"/>
                <a:ea typeface="Titillium Web"/>
                <a:cs typeface="Titillium Web"/>
                <a:sym typeface="Titillium Web"/>
              </a:rPr>
              <a:t>Link: </a:t>
            </a:r>
            <a:r>
              <a:rPr lang="en" sz="1700">
                <a:solidFill>
                  <a:schemeClr val="dk1"/>
                </a:solidFill>
                <a:latin typeface="Titillium Web"/>
                <a:ea typeface="Titillium Web"/>
                <a:cs typeface="Titillium Web"/>
                <a:sym typeface="Titillium Web"/>
              </a:rPr>
              <a:t>This shows that the movement of the plates is powered by energy from within the Earth, helping to explain how continents slowly drift and change position over millions of years.</a:t>
            </a:r>
            <a:endParaRPr sz="1700">
              <a:solidFill>
                <a:schemeClr val="dk1"/>
              </a:solidFill>
              <a:latin typeface="Titillium Web"/>
              <a:ea typeface="Titillium Web"/>
              <a:cs typeface="Titillium Web"/>
              <a:sym typeface="Titillium Web"/>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0"/>
          <p:cNvSpPr txBox="1"/>
          <p:nvPr/>
        </p:nvSpPr>
        <p:spPr>
          <a:xfrm>
            <a:off x="106800" y="1271313"/>
            <a:ext cx="5460300" cy="2839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What is one important thing you have learned today about how the Earth’s plates move and why is this important?</a:t>
            </a: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Why is it important to respect Wegener’s work, even though many scientists at first rejected his ideas?</a:t>
            </a: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18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Why is it important for scientists to be honest about the limits of their evidence when studying plate movement?</a:t>
            </a:r>
            <a:endParaRPr sz="1800">
              <a:latin typeface="Baumans"/>
              <a:ea typeface="Baumans"/>
              <a:cs typeface="Baumans"/>
              <a:sym typeface="Baumans"/>
            </a:endParaRPr>
          </a:p>
        </p:txBody>
      </p:sp>
      <p:pic>
        <p:nvPicPr>
          <p:cNvPr id="217" name="Google Shape;217;p30"/>
          <p:cNvPicPr preferRelativeResize="0"/>
          <p:nvPr/>
        </p:nvPicPr>
        <p:blipFill rotWithShape="1">
          <a:blip r:embed="rId3">
            <a:alphaModFix/>
          </a:blip>
          <a:srcRect l="30711" t="5130" r="3174" b="5807"/>
          <a:stretch/>
        </p:blipFill>
        <p:spPr>
          <a:xfrm>
            <a:off x="131950" y="587388"/>
            <a:ext cx="975600" cy="517450"/>
          </a:xfrm>
          <a:prstGeom prst="rect">
            <a:avLst/>
          </a:prstGeom>
          <a:noFill/>
          <a:ln>
            <a:noFill/>
          </a:ln>
        </p:spPr>
      </p:pic>
      <p:sp>
        <p:nvSpPr>
          <p:cNvPr id="218" name="Google Shape;218;p3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Title: How do we know the plates are moving?</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i="0" u="none" strike="noStrike" cap="none">
                <a:solidFill>
                  <a:srgbClr val="980000"/>
                </a:solidFill>
                <a:latin typeface="Delius"/>
                <a:ea typeface="Delius"/>
                <a:cs typeface="Delius"/>
                <a:sym typeface="Delius"/>
              </a:rPr>
              <a:t>LO: Analyse evidence to support the theory of continental drift; Discuss different theories of plate movement</a:t>
            </a:r>
            <a:r>
              <a:rPr lang="en" sz="1200" b="1">
                <a:solidFill>
                  <a:srgbClr val="980000"/>
                </a:solidFill>
                <a:latin typeface="Delius"/>
                <a:ea typeface="Delius"/>
                <a:cs typeface="Delius"/>
                <a:sym typeface="Delius"/>
              </a:rPr>
              <a:t>,</a:t>
            </a:r>
            <a:endParaRPr sz="1200" b="1" i="0" u="none" strike="noStrike" cap="none">
              <a:solidFill>
                <a:srgbClr val="980000"/>
              </a:solidFill>
              <a:latin typeface="Delius"/>
              <a:ea typeface="Delius"/>
              <a:cs typeface="Delius"/>
              <a:sym typeface="Delius"/>
            </a:endParaRPr>
          </a:p>
        </p:txBody>
      </p:sp>
      <p:pic>
        <p:nvPicPr>
          <p:cNvPr id="219" name="Google Shape;219;p30"/>
          <p:cNvPicPr preferRelativeResize="0"/>
          <p:nvPr/>
        </p:nvPicPr>
        <p:blipFill>
          <a:blip r:embed="rId4">
            <a:alphaModFix/>
          </a:blip>
          <a:stretch>
            <a:fillRect/>
          </a:stretch>
        </p:blipFill>
        <p:spPr>
          <a:xfrm>
            <a:off x="5711725" y="1588463"/>
            <a:ext cx="3272101" cy="1966583"/>
          </a:xfrm>
          <a:prstGeom prst="rect">
            <a:avLst/>
          </a:prstGeom>
          <a:noFill/>
          <a:ln>
            <a:noFill/>
          </a:ln>
        </p:spPr>
      </p:pic>
      <p:pic>
        <p:nvPicPr>
          <p:cNvPr id="220" name="Google Shape;220;p30">
            <a:hlinkClick r:id="rId5"/>
          </p:cNvPr>
          <p:cNvPicPr preferRelativeResize="0"/>
          <p:nvPr/>
        </p:nvPicPr>
        <p:blipFill>
          <a:blip r:embed="rId6">
            <a:alphaModFix/>
          </a:blip>
          <a:stretch>
            <a:fillRect/>
          </a:stretch>
        </p:blipFill>
        <p:spPr>
          <a:xfrm>
            <a:off x="6729150" y="4160428"/>
            <a:ext cx="1862049" cy="550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1859</Words>
  <Application>Microsoft Macintosh PowerPoint</Application>
  <PresentationFormat>On-screen Show (16:9)</PresentationFormat>
  <Paragraphs>127</Paragraphs>
  <Slides>16</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Delius</vt:lpstr>
      <vt:lpstr>Luckiest Guy</vt:lpstr>
      <vt:lpstr>Baumans</vt:lpstr>
      <vt:lpstr>Titillium Web</vt:lpstr>
      <vt:lpstr>Poppins</vt:lpstr>
      <vt:lpstr>Arial</vt:lpstr>
      <vt:lpstr>Aladin</vt:lpstr>
      <vt:lpstr>Fugaz One</vt:lpstr>
      <vt:lpstr>Patrick Hand</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1</cp:revision>
  <dcterms:modified xsi:type="dcterms:W3CDTF">2026-09-03T01:02:14Z</dcterms:modified>
</cp:coreProperties>
</file>