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9"/>
  </p:notesMasterIdLst>
  <p:sldIdLst>
    <p:sldId id="256" r:id="rId3"/>
    <p:sldId id="257" r:id="rId4"/>
    <p:sldId id="258" r:id="rId5"/>
    <p:sldId id="259" r:id="rId6"/>
    <p:sldId id="260" r:id="rId7"/>
    <p:sldId id="261" r:id="rId8"/>
  </p:sldIdLst>
  <p:sldSz cx="9144000" cy="6858000" type="screen4x3"/>
  <p:notesSz cx="6858000" cy="9144000"/>
  <p:embeddedFontLst>
    <p:embeddedFont>
      <p:font typeface="Aladin" panose="02000506000000020004" pitchFamily="2" charset="77"/>
      <p:regular r:id="rId10"/>
    </p:embeddedFont>
    <p:embeddedFont>
      <p:font typeface="Edu TAS Beginner" pitchFamily="2" charset="0"/>
      <p:regular r:id="rId11"/>
      <p:bold r:id="rId12"/>
    </p:embeddedFont>
    <p:embeddedFont>
      <p:font typeface="Gloria Hallelujah" panose="02000000000000000000" pitchFamily="2" charset="0"/>
      <p:regular r:id="rId13"/>
    </p:embeddedFont>
    <p:embeddedFont>
      <p:font typeface="Oswald" pitchFamily="2" charset="77"/>
      <p:regular r:id="rId14"/>
      <p:bold r:id="rId15"/>
    </p:embeddedFont>
    <p:embeddedFont>
      <p:font typeface="Patrick Hand" pitchFamily="2" charset="77"/>
      <p:regular r:id="rId16"/>
    </p:embeddedFont>
    <p:embeddedFont>
      <p:font typeface="Poppins" pitchFamily="2" charset="77"/>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94675"/>
  </p:normalViewPr>
  <p:slideViewPr>
    <p:cSldViewPr snapToGrid="0">
      <p:cViewPr varScale="1">
        <p:scale>
          <a:sx n="72" d="100"/>
          <a:sy n="72" d="100"/>
        </p:scale>
        <p:origin x="192" y="12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Master" Target="slideMasters/slideMaster2.xml"/><Relationship Id="rId16" Type="http://schemas.openxmlformats.org/officeDocument/2006/relationships/font" Target="fonts/font7.fntdata"/><Relationship Id="rId2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2.fntdata"/><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font" Target="fonts/font6.fntdata"/><Relationship Id="rId23" Type="http://schemas.openxmlformats.org/officeDocument/2006/relationships/theme" Target="theme/theme1.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2.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7b5509348d_0_0:notes"/>
          <p:cNvSpPr>
            <a:spLocks noGrp="1" noRot="1" noChangeAspect="1"/>
          </p:cNvSpPr>
          <p:nvPr>
            <p:ph type="sldImg" idx="2"/>
          </p:nvPr>
        </p:nvSpPr>
        <p:spPr>
          <a:xfrm>
            <a:off x="11433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7b5509348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452792649a_1_11:notes"/>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452792649a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452792649a_1_77:notes"/>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452792649a_1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452792649a_1_6:notes"/>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452792649a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452792649a_1_72:notes"/>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452792649a_1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452792649a_1_1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452792649a_1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992767"/>
            <a:ext cx="8520600" cy="27369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3778833"/>
            <a:ext cx="8520600" cy="10569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867800"/>
            <a:ext cx="8520600" cy="11223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852800"/>
            <a:ext cx="2808000" cy="42393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600200"/>
            <a:ext cx="6367800" cy="54543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644233"/>
            <a:ext cx="40452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3737433"/>
            <a:ext cx="4045200" cy="16467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965433"/>
            <a:ext cx="3837000" cy="49269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5640767"/>
            <a:ext cx="5998800" cy="8067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474833"/>
            <a:ext cx="8520600" cy="26181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4202967"/>
            <a:ext cx="8520600" cy="17343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992767"/>
            <a:ext cx="8520600" cy="27369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3778833"/>
            <a:ext cx="8520600" cy="10569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867800"/>
            <a:ext cx="8520600" cy="11223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852800"/>
            <a:ext cx="2808000" cy="42393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600200"/>
            <a:ext cx="6367800" cy="54543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67"/>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1"/>
          <p:cNvSpPr txBox="1">
            <a:spLocks noGrp="1"/>
          </p:cNvSpPr>
          <p:nvPr>
            <p:ph type="title"/>
          </p:nvPr>
        </p:nvSpPr>
        <p:spPr>
          <a:xfrm>
            <a:off x="265500" y="1644233"/>
            <a:ext cx="40452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3737433"/>
            <a:ext cx="4045200" cy="16467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965433"/>
            <a:ext cx="3837000" cy="49269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5640767"/>
            <a:ext cx="5998800" cy="8067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474833"/>
            <a:ext cx="8520600" cy="26181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4202967"/>
            <a:ext cx="8520600" cy="17343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EFEFE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52" name="Google Shape;52;p13"/>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53" name="Google Shape;53;p13"/>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sp>
        <p:nvSpPr>
          <p:cNvPr id="99" name="Google Shape;99;p25"/>
          <p:cNvSpPr/>
          <p:nvPr/>
        </p:nvSpPr>
        <p:spPr>
          <a:xfrm>
            <a:off x="87500" y="135150"/>
            <a:ext cx="8938200" cy="6587700"/>
          </a:xfrm>
          <a:prstGeom prst="rect">
            <a:avLst/>
          </a:prstGeom>
          <a:noFill/>
          <a:ln w="9525" cap="flat" cmpd="sng">
            <a:solidFill>
              <a:srgbClr val="000000"/>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0" name="Google Shape;100;p25"/>
          <p:cNvPicPr preferRelativeResize="0"/>
          <p:nvPr/>
        </p:nvPicPr>
        <p:blipFill rotWithShape="1">
          <a:blip r:embed="rId3">
            <a:alphaModFix/>
          </a:blip>
          <a:srcRect t="17179" b="24290"/>
          <a:stretch/>
        </p:blipFill>
        <p:spPr>
          <a:xfrm>
            <a:off x="7820408" y="6521809"/>
            <a:ext cx="1128285" cy="401351"/>
          </a:xfrm>
          <a:prstGeom prst="rect">
            <a:avLst/>
          </a:prstGeom>
          <a:noFill/>
          <a:ln>
            <a:noFill/>
          </a:ln>
        </p:spPr>
      </p:pic>
      <p:sp>
        <p:nvSpPr>
          <p:cNvPr id="101" name="Google Shape;101;p25"/>
          <p:cNvSpPr txBox="1"/>
          <p:nvPr/>
        </p:nvSpPr>
        <p:spPr>
          <a:xfrm>
            <a:off x="1778600" y="227853"/>
            <a:ext cx="5556000" cy="365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u="sng">
                <a:solidFill>
                  <a:schemeClr val="dk1"/>
                </a:solidFill>
                <a:latin typeface="Edu TAS Beginner"/>
                <a:ea typeface="Edu TAS Beginner"/>
                <a:cs typeface="Edu TAS Beginner"/>
                <a:sym typeface="Edu TAS Beginner"/>
              </a:rPr>
              <a:t>How do we know what happened in History?</a:t>
            </a:r>
            <a:endParaRPr b="1" u="sng">
              <a:solidFill>
                <a:schemeClr val="dk1"/>
              </a:solidFill>
              <a:latin typeface="Edu TAS Beginner"/>
              <a:ea typeface="Edu TAS Beginner"/>
              <a:cs typeface="Edu TAS Beginner"/>
              <a:sym typeface="Edu TAS Beginner"/>
            </a:endParaRPr>
          </a:p>
        </p:txBody>
      </p:sp>
      <p:sp>
        <p:nvSpPr>
          <p:cNvPr id="102" name="Google Shape;102;p25"/>
          <p:cNvSpPr txBox="1"/>
          <p:nvPr/>
        </p:nvSpPr>
        <p:spPr>
          <a:xfrm>
            <a:off x="87500" y="627450"/>
            <a:ext cx="4482900" cy="6003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 sz="1000" b="1">
                <a:solidFill>
                  <a:srgbClr val="364152"/>
                </a:solidFill>
                <a:highlight>
                  <a:srgbClr val="FFFFFF"/>
                </a:highlight>
                <a:latin typeface="Poppins"/>
                <a:ea typeface="Poppins"/>
                <a:cs typeface="Poppins"/>
                <a:sym typeface="Poppins"/>
              </a:rPr>
              <a:t>1. Why is history often considered boring according to the speaker?</a:t>
            </a:r>
            <a:endParaRPr sz="1000" b="1">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a. It is too complicated.</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b. It is not relevant to the present.</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c. It is filled with mistakes.</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d. It has no interesting stories.</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endParaRPr sz="1000" b="1">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b="1">
                <a:solidFill>
                  <a:srgbClr val="364152"/>
                </a:solidFill>
                <a:highlight>
                  <a:srgbClr val="FFFFFF"/>
                </a:highlight>
                <a:latin typeface="Poppins"/>
                <a:ea typeface="Poppins"/>
                <a:cs typeface="Poppins"/>
                <a:sym typeface="Poppins"/>
              </a:rPr>
              <a:t>2. What does the speaker suggest history can provide us with?</a:t>
            </a:r>
            <a:endParaRPr sz="1000" b="1">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a. Entertainment.</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b. Solutions to present problems.</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c. A way to memorize dates.</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d. A reason to ignore the past.</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endParaRPr sz="1000" b="1">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b="1">
                <a:solidFill>
                  <a:srgbClr val="364152"/>
                </a:solidFill>
                <a:highlight>
                  <a:srgbClr val="FFFFFF"/>
                </a:highlight>
                <a:latin typeface="Poppins"/>
                <a:ea typeface="Poppins"/>
                <a:cs typeface="Poppins"/>
                <a:sym typeface="Poppins"/>
              </a:rPr>
              <a:t>3. What is one example given to illustrate the importance of historical ideas?</a:t>
            </a:r>
            <a:endParaRPr sz="1000" b="1">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a. The American Revolution.</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b. The War of Spanish Succession.</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c. The history of the Levellers.</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d. The French Revolution.</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endParaRPr sz="1000" b="1">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b="1">
                <a:solidFill>
                  <a:srgbClr val="364152"/>
                </a:solidFill>
                <a:highlight>
                  <a:srgbClr val="FFFFFF"/>
                </a:highlight>
                <a:latin typeface="Poppins"/>
                <a:ea typeface="Poppins"/>
                <a:cs typeface="Poppins"/>
                <a:sym typeface="Poppins"/>
              </a:rPr>
              <a:t>4. According to the speaker, what does history teach us about change?</a:t>
            </a:r>
            <a:endParaRPr sz="1000" b="1">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a. Change is impossible.</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b. Only negative changes occur.</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c. Things can change over time.</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d. Change is always bad.</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endParaRPr sz="1000" b="1">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b="1">
                <a:solidFill>
                  <a:srgbClr val="364152"/>
                </a:solidFill>
                <a:highlight>
                  <a:srgbClr val="FFFFFF"/>
                </a:highlight>
                <a:latin typeface="Poppins"/>
                <a:ea typeface="Poppins"/>
                <a:cs typeface="Poppins"/>
                <a:sym typeface="Poppins"/>
              </a:rPr>
              <a:t>5. What does the saying "Those who don’t know history are doomed to repeat it" imply?</a:t>
            </a:r>
            <a:endParaRPr sz="1000" b="1">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a. History is boring.</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b. Mistakes are the only thing in history.</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c. </a:t>
            </a:r>
            <a:r>
              <a:rPr lang="en" sz="1000">
                <a:solidFill>
                  <a:srgbClr val="364152"/>
                </a:solidFill>
                <a:highlight>
                  <a:schemeClr val="lt1"/>
                </a:highlight>
                <a:latin typeface="Poppins"/>
                <a:ea typeface="Poppins"/>
                <a:cs typeface="Poppins"/>
                <a:sym typeface="Poppins"/>
              </a:rPr>
              <a:t>History is irrelevant to the present.</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Clr>
                <a:schemeClr val="dk1"/>
              </a:buClr>
              <a:buSzPts val="1100"/>
              <a:buFont typeface="Arial"/>
              <a:buNone/>
            </a:pPr>
            <a:r>
              <a:rPr lang="en" sz="1000">
                <a:solidFill>
                  <a:srgbClr val="364152"/>
                </a:solidFill>
                <a:highlight>
                  <a:srgbClr val="FFFFFF"/>
                </a:highlight>
                <a:latin typeface="Poppins"/>
                <a:ea typeface="Poppins"/>
                <a:cs typeface="Poppins"/>
                <a:sym typeface="Poppins"/>
              </a:rPr>
              <a:t>d. </a:t>
            </a:r>
            <a:r>
              <a:rPr lang="en" sz="1000">
                <a:solidFill>
                  <a:srgbClr val="364152"/>
                </a:solidFill>
                <a:highlight>
                  <a:schemeClr val="lt1"/>
                </a:highlight>
                <a:latin typeface="Poppins"/>
                <a:ea typeface="Poppins"/>
                <a:cs typeface="Poppins"/>
                <a:sym typeface="Poppins"/>
              </a:rPr>
              <a:t>Learning from the past is important.</a:t>
            </a:r>
            <a:endParaRPr sz="1000">
              <a:solidFill>
                <a:srgbClr val="364152"/>
              </a:solidFill>
              <a:highlight>
                <a:srgbClr val="FFFFFF"/>
              </a:highlight>
              <a:latin typeface="Poppins"/>
              <a:ea typeface="Poppins"/>
              <a:cs typeface="Poppins"/>
              <a:sym typeface="Poppins"/>
            </a:endParaRPr>
          </a:p>
        </p:txBody>
      </p:sp>
      <p:sp>
        <p:nvSpPr>
          <p:cNvPr id="103" name="Google Shape;103;p25"/>
          <p:cNvSpPr txBox="1"/>
          <p:nvPr/>
        </p:nvSpPr>
        <p:spPr>
          <a:xfrm>
            <a:off x="4572000" y="627450"/>
            <a:ext cx="3522600" cy="1223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b="1">
                <a:solidFill>
                  <a:srgbClr val="364152"/>
                </a:solidFill>
                <a:highlight>
                  <a:srgbClr val="FFFFFF"/>
                </a:highlight>
                <a:latin typeface="Poppins"/>
                <a:ea typeface="Poppins"/>
                <a:cs typeface="Poppins"/>
                <a:sym typeface="Poppins"/>
              </a:rPr>
              <a:t>6. How does history help us appreciate our current situation?</a:t>
            </a:r>
            <a:endParaRPr sz="1000" b="1">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rgbClr val="FFFFFF"/>
                </a:highlight>
                <a:latin typeface="Poppins"/>
                <a:ea typeface="Poppins"/>
                <a:cs typeface="Poppins"/>
                <a:sym typeface="Poppins"/>
              </a:rPr>
              <a:t>a. </a:t>
            </a:r>
            <a:r>
              <a:rPr lang="en" sz="1000">
                <a:solidFill>
                  <a:srgbClr val="364152"/>
                </a:solidFill>
                <a:highlight>
                  <a:schemeClr val="lt1"/>
                </a:highlight>
                <a:latin typeface="Poppins"/>
                <a:ea typeface="Poppins"/>
                <a:cs typeface="Poppins"/>
                <a:sym typeface="Poppins"/>
              </a:rPr>
              <a:t>By showing us how bad things were.</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rgbClr val="FFFFFF"/>
                </a:highlight>
                <a:latin typeface="Poppins"/>
                <a:ea typeface="Poppins"/>
                <a:cs typeface="Poppins"/>
                <a:sym typeface="Poppins"/>
              </a:rPr>
              <a:t>b. </a:t>
            </a:r>
            <a:r>
              <a:rPr lang="en" sz="1000">
                <a:solidFill>
                  <a:srgbClr val="364152"/>
                </a:solidFill>
                <a:highlight>
                  <a:schemeClr val="lt1"/>
                </a:highlight>
                <a:latin typeface="Poppins"/>
                <a:ea typeface="Poppins"/>
                <a:cs typeface="Poppins"/>
                <a:sym typeface="Poppins"/>
              </a:rPr>
              <a:t>By comparing us to ideals. </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rgbClr val="FFFFFF"/>
                </a:highlight>
                <a:latin typeface="Poppins"/>
                <a:ea typeface="Poppins"/>
                <a:cs typeface="Poppins"/>
                <a:sym typeface="Poppins"/>
              </a:rPr>
              <a:t>c. By ignoring past mistakes.</a:t>
            </a:r>
            <a:endParaRPr sz="1000">
              <a:solidFill>
                <a:srgbClr val="364152"/>
              </a:solidFill>
              <a:highlight>
                <a:srgbClr val="FFFFFF"/>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rgbClr val="FFFFFF"/>
                </a:highlight>
                <a:latin typeface="Poppins"/>
                <a:ea typeface="Poppins"/>
                <a:cs typeface="Poppins"/>
                <a:sym typeface="Poppins"/>
              </a:rPr>
              <a:t>d. By making us feel superior.</a:t>
            </a:r>
            <a:endParaRPr sz="1000">
              <a:solidFill>
                <a:srgbClr val="364152"/>
              </a:solidFill>
              <a:highlight>
                <a:srgbClr val="FFFFFF"/>
              </a:highlight>
              <a:latin typeface="Poppins"/>
              <a:ea typeface="Poppins"/>
              <a:cs typeface="Poppins"/>
              <a:sym typeface="Poppins"/>
            </a:endParaRPr>
          </a:p>
        </p:txBody>
      </p:sp>
      <p:sp>
        <p:nvSpPr>
          <p:cNvPr id="104" name="Google Shape;104;p25"/>
          <p:cNvSpPr txBox="1"/>
          <p:nvPr/>
        </p:nvSpPr>
        <p:spPr>
          <a:xfrm>
            <a:off x="4572000" y="1851150"/>
            <a:ext cx="4376700" cy="458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b="1">
                <a:solidFill>
                  <a:srgbClr val="364152"/>
                </a:solidFill>
                <a:highlight>
                  <a:schemeClr val="lt1"/>
                </a:highlight>
                <a:latin typeface="Poppins"/>
                <a:ea typeface="Poppins"/>
                <a:cs typeface="Poppins"/>
                <a:sym typeface="Poppins"/>
              </a:rPr>
              <a:t>7. What metaphor does the speaker use to describe how history should be treated?</a:t>
            </a:r>
            <a:endParaRPr sz="1000" b="1">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a. As a textbook.</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b. Like a doctor treats a medicine cabinet.</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c. As a boring lecture.</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d. Like a piece of art.</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endParaRPr sz="1000" b="1">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b="1">
                <a:solidFill>
                  <a:srgbClr val="364152"/>
                </a:solidFill>
                <a:highlight>
                  <a:schemeClr val="lt1"/>
                </a:highlight>
                <a:latin typeface="Poppins"/>
                <a:ea typeface="Poppins"/>
                <a:cs typeface="Poppins"/>
                <a:sym typeface="Poppins"/>
              </a:rPr>
              <a:t>8. What should historians focus on according to the speaker?</a:t>
            </a:r>
            <a:endParaRPr sz="1000" b="1">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a. Telling stories for entertainment.</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b. Writing about their own experiences.</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c. Memorizing dates and events.</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d. Solving present issues with past knowledge.</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endParaRPr sz="1000" b="1">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b="1">
                <a:solidFill>
                  <a:srgbClr val="364152"/>
                </a:solidFill>
                <a:highlight>
                  <a:schemeClr val="lt1"/>
                </a:highlight>
                <a:latin typeface="Poppins"/>
                <a:ea typeface="Poppins"/>
                <a:cs typeface="Poppins"/>
                <a:sym typeface="Poppins"/>
              </a:rPr>
              <a:t>9. What does the speaker imply about our present challenges?</a:t>
            </a:r>
            <a:endParaRPr sz="1000" b="1">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a. They are less significant than historical challenges.</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b. They are unique to our time. </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c. They are caused by historical events.</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d. They will never change.</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endParaRPr sz="1000" b="1">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b="1">
                <a:solidFill>
                  <a:srgbClr val="364152"/>
                </a:solidFill>
                <a:highlight>
                  <a:schemeClr val="lt1"/>
                </a:highlight>
                <a:latin typeface="Poppins"/>
                <a:ea typeface="Poppins"/>
                <a:cs typeface="Poppins"/>
                <a:sym typeface="Poppins"/>
              </a:rPr>
              <a:t>10. What is the overall message about history that the speaker conveys?</a:t>
            </a:r>
            <a:endParaRPr sz="1000" b="1">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a. History is only about the past.</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b. History should be ignored.</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c. History can provide solutions for today.</a:t>
            </a:r>
            <a:endParaRPr sz="1000">
              <a:solidFill>
                <a:srgbClr val="364152"/>
              </a:solidFill>
              <a:highlight>
                <a:schemeClr val="lt1"/>
              </a:highlight>
              <a:latin typeface="Poppins"/>
              <a:ea typeface="Poppins"/>
              <a:cs typeface="Poppins"/>
              <a:sym typeface="Poppins"/>
            </a:endParaRPr>
          </a:p>
          <a:p>
            <a:pPr marL="0" lvl="0" indent="0" algn="l" rtl="0">
              <a:lnSpc>
                <a:spcPct val="115000"/>
              </a:lnSpc>
              <a:spcBef>
                <a:spcPts val="0"/>
              </a:spcBef>
              <a:spcAft>
                <a:spcPts val="0"/>
              </a:spcAft>
              <a:buNone/>
            </a:pPr>
            <a:r>
              <a:rPr lang="en" sz="1000">
                <a:solidFill>
                  <a:srgbClr val="364152"/>
                </a:solidFill>
                <a:highlight>
                  <a:schemeClr val="lt1"/>
                </a:highlight>
                <a:latin typeface="Poppins"/>
                <a:ea typeface="Poppins"/>
                <a:cs typeface="Poppins"/>
                <a:sym typeface="Poppins"/>
              </a:rPr>
              <a:t>d. History is just a collection of facts.</a:t>
            </a:r>
            <a:endParaRPr sz="1000">
              <a:solidFill>
                <a:srgbClr val="364152"/>
              </a:solidFill>
              <a:highlight>
                <a:schemeClr val="lt1"/>
              </a:highlight>
              <a:latin typeface="Poppins"/>
              <a:ea typeface="Poppins"/>
              <a:cs typeface="Poppins"/>
              <a:sym typeface="Poppins"/>
            </a:endParaRPr>
          </a:p>
        </p:txBody>
      </p:sp>
      <p:pic>
        <p:nvPicPr>
          <p:cNvPr id="105" name="Google Shape;105;p25"/>
          <p:cNvPicPr preferRelativeResize="0"/>
          <p:nvPr/>
        </p:nvPicPr>
        <p:blipFill>
          <a:blip r:embed="rId4">
            <a:alphaModFix/>
          </a:blip>
          <a:stretch>
            <a:fillRect/>
          </a:stretch>
        </p:blipFill>
        <p:spPr>
          <a:xfrm>
            <a:off x="8380700" y="227850"/>
            <a:ext cx="426001" cy="4260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6"/>
          <p:cNvSpPr txBox="1"/>
          <p:nvPr/>
        </p:nvSpPr>
        <p:spPr>
          <a:xfrm>
            <a:off x="123275" y="0"/>
            <a:ext cx="88017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latin typeface="Aladin"/>
                <a:ea typeface="Aladin"/>
                <a:cs typeface="Aladin"/>
                <a:sym typeface="Aladin"/>
              </a:rPr>
              <a:t>Pompeii – Life Before Disaster</a:t>
            </a:r>
            <a:endParaRPr sz="1800">
              <a:latin typeface="Aladin"/>
              <a:ea typeface="Aladin"/>
              <a:cs typeface="Aladin"/>
              <a:sym typeface="Aladin"/>
            </a:endParaRPr>
          </a:p>
        </p:txBody>
      </p:sp>
      <p:sp>
        <p:nvSpPr>
          <p:cNvPr id="111" name="Google Shape;111;p26"/>
          <p:cNvSpPr txBox="1"/>
          <p:nvPr/>
        </p:nvSpPr>
        <p:spPr>
          <a:xfrm>
            <a:off x="123275" y="461700"/>
            <a:ext cx="7367400" cy="431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b="1">
                <a:latin typeface="Oswald"/>
                <a:ea typeface="Oswald"/>
                <a:cs typeface="Oswald"/>
                <a:sym typeface="Oswald"/>
              </a:rPr>
              <a:t>Source A – Letter from Pliny the Younger (Eyewitness, AD 79)</a:t>
            </a:r>
            <a:endParaRPr>
              <a:latin typeface="Aladin"/>
              <a:ea typeface="Aladin"/>
              <a:cs typeface="Aladin"/>
              <a:sym typeface="Aladin"/>
            </a:endParaRPr>
          </a:p>
        </p:txBody>
      </p:sp>
      <p:sp>
        <p:nvSpPr>
          <p:cNvPr id="112" name="Google Shape;112;p26"/>
          <p:cNvSpPr txBox="1"/>
          <p:nvPr/>
        </p:nvSpPr>
        <p:spPr>
          <a:xfrm>
            <a:off x="2720375" y="1052150"/>
            <a:ext cx="6204600" cy="289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latin typeface="Gloria Hallelujah"/>
                <a:ea typeface="Gloria Hallelujah"/>
                <a:cs typeface="Gloria Hallelujah"/>
                <a:sym typeface="Gloria Hallelujah"/>
              </a:rPr>
              <a:t>"On the morning of the 24th of August, my uncle, the commander of the fleet, saw a strange cloud rising from Mount Vesuvius. It was shaped like a pine tree, with a long trunk of smoke and branches of ash spreading high into the sky. Soon, ash began to fall like snow, covering rooftops and streets. The ground shook violently, and people ran through the streets in panic, clutching their children and belongings. Some stayed indoors, hoping the danger would pass, while others prayed to the gods. I fled the city, terrified, and never saw many of my friends or neighbours again.”</a:t>
            </a:r>
            <a:endParaRPr sz="1600">
              <a:latin typeface="Gloria Hallelujah"/>
              <a:ea typeface="Gloria Hallelujah"/>
              <a:cs typeface="Gloria Hallelujah"/>
              <a:sym typeface="Gloria Hallelujah"/>
            </a:endParaRPr>
          </a:p>
        </p:txBody>
      </p:sp>
      <p:sp>
        <p:nvSpPr>
          <p:cNvPr id="113" name="Google Shape;113;p26"/>
          <p:cNvSpPr txBox="1"/>
          <p:nvPr/>
        </p:nvSpPr>
        <p:spPr>
          <a:xfrm>
            <a:off x="123275" y="4002000"/>
            <a:ext cx="8801700" cy="2878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a:solidFill>
                  <a:schemeClr val="dk1"/>
                </a:solidFill>
                <a:latin typeface="Poppins"/>
                <a:ea typeface="Poppins"/>
                <a:cs typeface="Poppins"/>
                <a:sym typeface="Poppins"/>
              </a:rPr>
              <a:t>Pliny the Younger (AD 61 – c. AD 113) was a Roman lawyer, writer, and government official. He is famous for writing letters that give us a detailed picture of life in Ancient Rome. When Mount Vesuvius erupted in AD 79, Pliny was staying across the Bay of Naples. His uncle, Pliny the Elder, was a famous naval commander and naturalist who sailed towards the eruption to help people. Pliny the Younger later described what he saw in two letters to the historian Tacitus.</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Questions to think about:</a:t>
            </a:r>
            <a:endParaRPr>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AutoNum type="arabicPeriod"/>
            </a:pPr>
            <a:r>
              <a:rPr lang="en">
                <a:solidFill>
                  <a:schemeClr val="dk1"/>
                </a:solidFill>
                <a:latin typeface="Poppins"/>
                <a:ea typeface="Poppins"/>
                <a:cs typeface="Poppins"/>
                <a:sym typeface="Poppins"/>
              </a:rPr>
              <a:t>What details in Pliny’s description help you picture the eruption?</a:t>
            </a:r>
            <a:endParaRPr>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AutoNum type="arabicPeriod"/>
            </a:pPr>
            <a:r>
              <a:rPr lang="en">
                <a:solidFill>
                  <a:schemeClr val="dk1"/>
                </a:solidFill>
                <a:latin typeface="Poppins"/>
                <a:ea typeface="Poppins"/>
                <a:cs typeface="Poppins"/>
                <a:sym typeface="Poppins"/>
              </a:rPr>
              <a:t>How might Pliny’s social position influence what he wrote?</a:t>
            </a:r>
            <a:endParaRPr>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AutoNum type="arabicPeriod"/>
            </a:pPr>
            <a:r>
              <a:rPr lang="en">
                <a:solidFill>
                  <a:schemeClr val="dk1"/>
                </a:solidFill>
                <a:latin typeface="Poppins"/>
                <a:ea typeface="Poppins"/>
                <a:cs typeface="Poppins"/>
                <a:sym typeface="Poppins"/>
              </a:rPr>
              <a:t>What parts of this account could be exaggerated or mistaken?</a:t>
            </a:r>
            <a:endParaRPr>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AutoNum type="arabicPeriod"/>
            </a:pPr>
            <a:r>
              <a:rPr lang="en">
                <a:solidFill>
                  <a:schemeClr val="dk1"/>
                </a:solidFill>
                <a:latin typeface="Poppins"/>
                <a:ea typeface="Poppins"/>
                <a:cs typeface="Poppins"/>
                <a:sym typeface="Poppins"/>
              </a:rPr>
              <a:t>How useful is this letter for finding out how people reacted to the disaster?</a:t>
            </a:r>
            <a:endParaRPr>
              <a:solidFill>
                <a:schemeClr val="dk1"/>
              </a:solidFill>
              <a:latin typeface="Poppins"/>
              <a:ea typeface="Poppins"/>
              <a:cs typeface="Poppins"/>
              <a:sym typeface="Poppins"/>
            </a:endParaRPr>
          </a:p>
        </p:txBody>
      </p:sp>
      <p:pic>
        <p:nvPicPr>
          <p:cNvPr id="114" name="Google Shape;114;p26"/>
          <p:cNvPicPr preferRelativeResize="0"/>
          <p:nvPr/>
        </p:nvPicPr>
        <p:blipFill rotWithShape="1">
          <a:blip r:embed="rId3">
            <a:alphaModFix/>
          </a:blip>
          <a:srcRect l="21516" r="22889"/>
          <a:stretch/>
        </p:blipFill>
        <p:spPr>
          <a:xfrm>
            <a:off x="123275" y="1052150"/>
            <a:ext cx="2325203" cy="27897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7"/>
          <p:cNvSpPr txBox="1"/>
          <p:nvPr/>
        </p:nvSpPr>
        <p:spPr>
          <a:xfrm>
            <a:off x="123275" y="0"/>
            <a:ext cx="88017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latin typeface="Aladin"/>
                <a:ea typeface="Aladin"/>
                <a:cs typeface="Aladin"/>
                <a:sym typeface="Aladin"/>
              </a:rPr>
              <a:t>Pompeii – Life Before Disaster</a:t>
            </a:r>
            <a:endParaRPr sz="1800">
              <a:latin typeface="Aladin"/>
              <a:ea typeface="Aladin"/>
              <a:cs typeface="Aladin"/>
              <a:sym typeface="Aladin"/>
            </a:endParaRPr>
          </a:p>
        </p:txBody>
      </p:sp>
      <p:sp>
        <p:nvSpPr>
          <p:cNvPr id="120" name="Google Shape;120;p27"/>
          <p:cNvSpPr txBox="1"/>
          <p:nvPr/>
        </p:nvSpPr>
        <p:spPr>
          <a:xfrm>
            <a:off x="123275" y="461700"/>
            <a:ext cx="7367400" cy="683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b="1">
                <a:latin typeface="Oswald"/>
                <a:ea typeface="Oswald"/>
                <a:cs typeface="Oswald"/>
                <a:sym typeface="Oswald"/>
              </a:rPr>
              <a:t>Source B – Archaeological Field Notes (Excavation Report, 2020)</a:t>
            </a:r>
            <a:endParaRPr sz="1600" b="1">
              <a:latin typeface="Oswald"/>
              <a:ea typeface="Oswald"/>
              <a:cs typeface="Oswald"/>
              <a:sym typeface="Oswald"/>
            </a:endParaRPr>
          </a:p>
          <a:p>
            <a:pPr marL="0" lvl="0" indent="0" algn="l" rtl="0">
              <a:lnSpc>
                <a:spcPct val="115000"/>
              </a:lnSpc>
              <a:spcBef>
                <a:spcPts val="0"/>
              </a:spcBef>
              <a:spcAft>
                <a:spcPts val="0"/>
              </a:spcAft>
              <a:buNone/>
            </a:pPr>
            <a:r>
              <a:rPr lang="en" b="1">
                <a:solidFill>
                  <a:schemeClr val="dk1"/>
                </a:solidFill>
                <a:latin typeface="Aladin"/>
                <a:ea typeface="Aladin"/>
                <a:cs typeface="Aladin"/>
                <a:sym typeface="Aladin"/>
              </a:rPr>
              <a:t>Location:</a:t>
            </a:r>
            <a:r>
              <a:rPr lang="en">
                <a:solidFill>
                  <a:schemeClr val="dk1"/>
                </a:solidFill>
                <a:latin typeface="Aladin"/>
                <a:ea typeface="Aladin"/>
                <a:cs typeface="Aladin"/>
                <a:sym typeface="Aladin"/>
              </a:rPr>
              <a:t> Bakery near the Forum, Pompeii</a:t>
            </a:r>
            <a:endParaRPr sz="1900" b="1">
              <a:latin typeface="Aladin"/>
              <a:ea typeface="Aladin"/>
              <a:cs typeface="Aladin"/>
              <a:sym typeface="Aladin"/>
            </a:endParaRPr>
          </a:p>
        </p:txBody>
      </p:sp>
      <p:sp>
        <p:nvSpPr>
          <p:cNvPr id="121" name="Google Shape;121;p27"/>
          <p:cNvSpPr txBox="1"/>
          <p:nvPr/>
        </p:nvSpPr>
        <p:spPr>
          <a:xfrm>
            <a:off x="212925" y="1145100"/>
            <a:ext cx="4766700" cy="3130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Finds:</a:t>
            </a:r>
            <a:endParaRPr sz="1200" b="1">
              <a:solidFill>
                <a:schemeClr val="dk1"/>
              </a:solidFill>
              <a:latin typeface="Poppins"/>
              <a:ea typeface="Poppins"/>
              <a:cs typeface="Poppins"/>
              <a:sym typeface="Poppins"/>
            </a:endParaRPr>
          </a:p>
          <a:p>
            <a:pPr marL="457200" lvl="0" indent="-304800" algn="l" rtl="0">
              <a:lnSpc>
                <a:spcPct val="115000"/>
              </a:lnSpc>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Several loaves of bread still in the stone ovens, carbonised by the intense heat. The bread retained its shape, suggesting it had been baking at the moment of the eruption.</a:t>
            </a:r>
            <a:endParaRPr sz="1200">
              <a:solidFill>
                <a:schemeClr val="dk1"/>
              </a:solidFill>
              <a:latin typeface="Poppins"/>
              <a:ea typeface="Poppins"/>
              <a:cs typeface="Poppins"/>
              <a:sym typeface="Poppins"/>
            </a:endParaRPr>
          </a:p>
          <a:p>
            <a:pPr marL="457200" lvl="0" indent="-304800" algn="l" rtl="0">
              <a:lnSpc>
                <a:spcPct val="115000"/>
              </a:lnSpc>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Bronze weighing scales and small piles of coins left on the counter, as if a customer had just paid or was about to.</a:t>
            </a:r>
            <a:endParaRPr sz="1200">
              <a:solidFill>
                <a:schemeClr val="dk1"/>
              </a:solidFill>
              <a:latin typeface="Poppins"/>
              <a:ea typeface="Poppins"/>
              <a:cs typeface="Poppins"/>
              <a:sym typeface="Poppins"/>
            </a:endParaRPr>
          </a:p>
          <a:p>
            <a:pPr marL="457200" lvl="0" indent="-304800" algn="l" rtl="0">
              <a:lnSpc>
                <a:spcPct val="115000"/>
              </a:lnSpc>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A wall painting covering almost an entire side of the shop, showing a banquet scene with guests reclining, servants bringing food, and musicians playing lyres and flutes.</a:t>
            </a:r>
            <a:endParaRPr sz="1200">
              <a:solidFill>
                <a:schemeClr val="dk1"/>
              </a:solidFill>
              <a:latin typeface="Poppins"/>
              <a:ea typeface="Poppins"/>
              <a:cs typeface="Poppins"/>
              <a:sym typeface="Poppins"/>
            </a:endParaRPr>
          </a:p>
          <a:p>
            <a:pPr marL="457200" lvl="0" indent="-304800" algn="l" rtl="0">
              <a:lnSpc>
                <a:spcPct val="115000"/>
              </a:lnSpc>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Charred remains of wooden shelves and broken pottery scattered across the floor.</a:t>
            </a:r>
            <a:endParaRPr sz="1200">
              <a:solidFill>
                <a:schemeClr val="dk1"/>
              </a:solidFill>
              <a:latin typeface="Poppins"/>
              <a:ea typeface="Poppins"/>
              <a:cs typeface="Poppins"/>
              <a:sym typeface="Poppins"/>
            </a:endParaRPr>
          </a:p>
        </p:txBody>
      </p:sp>
      <p:pic>
        <p:nvPicPr>
          <p:cNvPr id="122" name="Google Shape;122;p27"/>
          <p:cNvPicPr preferRelativeResize="0"/>
          <p:nvPr/>
        </p:nvPicPr>
        <p:blipFill>
          <a:blip r:embed="rId3">
            <a:alphaModFix/>
          </a:blip>
          <a:stretch>
            <a:fillRect/>
          </a:stretch>
        </p:blipFill>
        <p:spPr>
          <a:xfrm>
            <a:off x="4979650" y="1273275"/>
            <a:ext cx="3945326" cy="2446100"/>
          </a:xfrm>
          <a:prstGeom prst="rect">
            <a:avLst/>
          </a:prstGeom>
          <a:noFill/>
          <a:ln>
            <a:noFill/>
          </a:ln>
        </p:spPr>
      </p:pic>
      <p:sp>
        <p:nvSpPr>
          <p:cNvPr id="123" name="Google Shape;123;p27"/>
          <p:cNvSpPr txBox="1"/>
          <p:nvPr/>
        </p:nvSpPr>
        <p:spPr>
          <a:xfrm>
            <a:off x="212925" y="4275900"/>
            <a:ext cx="4766700" cy="2493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Observations:</a:t>
            </a:r>
            <a:br>
              <a:rPr lang="en" sz="1200" b="1">
                <a:solidFill>
                  <a:schemeClr val="dk1"/>
                </a:solidFill>
                <a:latin typeface="Poppins"/>
                <a:ea typeface="Poppins"/>
                <a:cs typeface="Poppins"/>
                <a:sym typeface="Poppins"/>
              </a:rPr>
            </a:br>
            <a:r>
              <a:rPr lang="en" sz="1200">
                <a:solidFill>
                  <a:schemeClr val="dk1"/>
                </a:solidFill>
                <a:latin typeface="Poppins"/>
                <a:ea typeface="Poppins"/>
                <a:cs typeface="Poppins"/>
                <a:sym typeface="Poppins"/>
              </a:rPr>
              <a:t>The bread and coins suggest that business was being carried out as normal right up to the moment disaster struck, with no time to finish baking or complete transactions. The high-quality wall painting points to the importance of food, drink, and entertainment in Pompeian society, even in a working bakery. The sudden abandonment, with everyday tasks left incomplete, hints at the terrifying speed of the eruption. It also raises questions about how quickly ash and pumice filled the streets, trapping people before they could escape.</a:t>
            </a:r>
            <a:endParaRPr sz="1200">
              <a:latin typeface="Poppins"/>
              <a:ea typeface="Poppins"/>
              <a:cs typeface="Poppins"/>
              <a:sym typeface="Poppins"/>
            </a:endParaRPr>
          </a:p>
        </p:txBody>
      </p:sp>
      <p:sp>
        <p:nvSpPr>
          <p:cNvPr id="124" name="Google Shape;124;p27"/>
          <p:cNvSpPr txBox="1"/>
          <p:nvPr/>
        </p:nvSpPr>
        <p:spPr>
          <a:xfrm>
            <a:off x="4979650" y="3847550"/>
            <a:ext cx="3945300" cy="2630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Questions to think about:</a:t>
            </a:r>
            <a:endParaRPr b="1">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AutoNum type="arabicPeriod"/>
            </a:pPr>
            <a:r>
              <a:rPr lang="en">
                <a:solidFill>
                  <a:schemeClr val="dk1"/>
                </a:solidFill>
                <a:latin typeface="Poppins"/>
                <a:ea typeface="Poppins"/>
                <a:cs typeface="Poppins"/>
                <a:sym typeface="Poppins"/>
              </a:rPr>
              <a:t>What evidence from the report suggests life stopped suddenly in Pompeii?</a:t>
            </a:r>
            <a:endParaRPr>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AutoNum type="arabicPeriod"/>
            </a:pPr>
            <a:r>
              <a:rPr lang="en">
                <a:solidFill>
                  <a:schemeClr val="dk1"/>
                </a:solidFill>
                <a:latin typeface="Poppins"/>
                <a:ea typeface="Poppins"/>
                <a:cs typeface="Poppins"/>
                <a:sym typeface="Poppins"/>
              </a:rPr>
              <a:t>How can archaeologists tell how old objects are?</a:t>
            </a:r>
            <a:endParaRPr>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AutoNum type="arabicPeriod"/>
            </a:pPr>
            <a:r>
              <a:rPr lang="en">
                <a:solidFill>
                  <a:schemeClr val="dk1"/>
                </a:solidFill>
                <a:latin typeface="Poppins"/>
                <a:ea typeface="Poppins"/>
                <a:cs typeface="Poppins"/>
                <a:sym typeface="Poppins"/>
              </a:rPr>
              <a:t>Why might some artefacts be better preserved than others?</a:t>
            </a:r>
            <a:endParaRPr>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AutoNum type="arabicPeriod"/>
            </a:pPr>
            <a:r>
              <a:rPr lang="en">
                <a:solidFill>
                  <a:schemeClr val="dk1"/>
                </a:solidFill>
                <a:latin typeface="Poppins"/>
                <a:ea typeface="Poppins"/>
                <a:cs typeface="Poppins"/>
                <a:sym typeface="Poppins"/>
              </a:rPr>
              <a:t>How reliable is archaeology compared to written sources?</a:t>
            </a:r>
            <a:endParaRPr>
              <a:solidFill>
                <a:schemeClr val="dk1"/>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8"/>
          <p:cNvSpPr txBox="1"/>
          <p:nvPr/>
        </p:nvSpPr>
        <p:spPr>
          <a:xfrm>
            <a:off x="123275" y="0"/>
            <a:ext cx="88017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latin typeface="Aladin"/>
                <a:ea typeface="Aladin"/>
                <a:cs typeface="Aladin"/>
                <a:sym typeface="Aladin"/>
              </a:rPr>
              <a:t>Pompeii – Life Before Disaster</a:t>
            </a:r>
            <a:endParaRPr sz="1800">
              <a:latin typeface="Aladin"/>
              <a:ea typeface="Aladin"/>
              <a:cs typeface="Aladin"/>
              <a:sym typeface="Aladin"/>
            </a:endParaRPr>
          </a:p>
        </p:txBody>
      </p:sp>
      <p:sp>
        <p:nvSpPr>
          <p:cNvPr id="130" name="Google Shape;130;p28"/>
          <p:cNvSpPr txBox="1"/>
          <p:nvPr/>
        </p:nvSpPr>
        <p:spPr>
          <a:xfrm>
            <a:off x="123275" y="461700"/>
            <a:ext cx="7367400" cy="431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b="1">
                <a:latin typeface="Oswald"/>
                <a:ea typeface="Oswald"/>
                <a:cs typeface="Oswald"/>
                <a:sym typeface="Oswald"/>
              </a:rPr>
              <a:t>Source C – Graffiti from a House Wall (Translated from Latin)</a:t>
            </a:r>
            <a:endParaRPr sz="1600" b="1">
              <a:latin typeface="Oswald"/>
              <a:ea typeface="Oswald"/>
              <a:cs typeface="Oswald"/>
              <a:sym typeface="Oswald"/>
            </a:endParaRPr>
          </a:p>
        </p:txBody>
      </p:sp>
      <p:sp>
        <p:nvSpPr>
          <p:cNvPr id="131" name="Google Shape;131;p28"/>
          <p:cNvSpPr txBox="1"/>
          <p:nvPr/>
        </p:nvSpPr>
        <p:spPr>
          <a:xfrm>
            <a:off x="123275" y="1075750"/>
            <a:ext cx="5394900" cy="12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b="1">
                <a:solidFill>
                  <a:schemeClr val="dk1"/>
                </a:solidFill>
                <a:latin typeface="Gloria Hallelujah"/>
                <a:ea typeface="Gloria Hallelujah"/>
                <a:cs typeface="Gloria Hallelujah"/>
                <a:sym typeface="Gloria Hallelujah"/>
              </a:rPr>
              <a:t>"Gaius loves Julia. May they always be together!"</a:t>
            </a:r>
            <a:endParaRPr sz="1600" b="1">
              <a:solidFill>
                <a:schemeClr val="dk1"/>
              </a:solidFill>
              <a:latin typeface="Gloria Hallelujah"/>
              <a:ea typeface="Gloria Hallelujah"/>
              <a:cs typeface="Gloria Hallelujah"/>
              <a:sym typeface="Gloria Hallelujah"/>
            </a:endParaRPr>
          </a:p>
          <a:p>
            <a:pPr marL="0" lvl="0" indent="0" algn="l" rtl="0">
              <a:lnSpc>
                <a:spcPct val="115000"/>
              </a:lnSpc>
              <a:spcBef>
                <a:spcPts val="1000"/>
              </a:spcBef>
              <a:spcAft>
                <a:spcPts val="0"/>
              </a:spcAft>
              <a:buNone/>
            </a:pPr>
            <a:r>
              <a:rPr lang="en" sz="1600" b="1">
                <a:solidFill>
                  <a:schemeClr val="dk1"/>
                </a:solidFill>
                <a:latin typeface="Gloria Hallelujah"/>
                <a:ea typeface="Gloria Hallelujah"/>
                <a:cs typeface="Gloria Hallelujah"/>
                <a:sym typeface="Gloria Hallelujah"/>
              </a:rPr>
              <a:t>"We gladiators salute our fans. Victory tomorrow!"</a:t>
            </a:r>
            <a:endParaRPr sz="1600" b="1">
              <a:solidFill>
                <a:schemeClr val="dk1"/>
              </a:solidFill>
              <a:latin typeface="Gloria Hallelujah"/>
              <a:ea typeface="Gloria Hallelujah"/>
              <a:cs typeface="Gloria Hallelujah"/>
              <a:sym typeface="Gloria Hallelujah"/>
            </a:endParaRPr>
          </a:p>
          <a:p>
            <a:pPr marL="0" lvl="0" indent="0" algn="l" rtl="0">
              <a:lnSpc>
                <a:spcPct val="115000"/>
              </a:lnSpc>
              <a:spcBef>
                <a:spcPts val="1000"/>
              </a:spcBef>
              <a:spcAft>
                <a:spcPts val="1000"/>
              </a:spcAft>
              <a:buNone/>
            </a:pPr>
            <a:r>
              <a:rPr lang="en" sz="1600" b="1">
                <a:solidFill>
                  <a:schemeClr val="dk1"/>
                </a:solidFill>
                <a:latin typeface="Gloria Hallelujah"/>
                <a:ea typeface="Gloria Hallelujah"/>
                <a:cs typeface="Gloria Hallelujah"/>
                <a:sym typeface="Gloria Hallelujah"/>
              </a:rPr>
              <a:t>"The best bread in Pompeii is sold by Marcus."</a:t>
            </a:r>
            <a:endParaRPr>
              <a:latin typeface="Gloria Hallelujah"/>
              <a:ea typeface="Gloria Hallelujah"/>
              <a:cs typeface="Gloria Hallelujah"/>
              <a:sym typeface="Gloria Hallelujah"/>
            </a:endParaRPr>
          </a:p>
        </p:txBody>
      </p:sp>
      <p:sp>
        <p:nvSpPr>
          <p:cNvPr id="132" name="Google Shape;132;p28"/>
          <p:cNvSpPr txBox="1"/>
          <p:nvPr/>
        </p:nvSpPr>
        <p:spPr>
          <a:xfrm>
            <a:off x="123275" y="4564725"/>
            <a:ext cx="8801700" cy="2134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Questions to think about:</a:t>
            </a:r>
            <a:endParaRPr b="1">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AutoNum type="arabicPeriod"/>
            </a:pPr>
            <a:r>
              <a:rPr lang="en">
                <a:solidFill>
                  <a:schemeClr val="dk1"/>
                </a:solidFill>
                <a:latin typeface="Poppins"/>
                <a:ea typeface="Poppins"/>
                <a:cs typeface="Poppins"/>
                <a:sym typeface="Poppins"/>
              </a:rPr>
              <a:t>What can these graffiti messages tell us about the everyday lives and interests of the people in Pompeii?</a:t>
            </a:r>
            <a:endParaRPr>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AutoNum type="arabicPeriod"/>
            </a:pPr>
            <a:r>
              <a:rPr lang="en">
                <a:solidFill>
                  <a:schemeClr val="dk1"/>
                </a:solidFill>
                <a:latin typeface="Poppins"/>
                <a:ea typeface="Poppins"/>
                <a:cs typeface="Poppins"/>
                <a:sym typeface="Poppins"/>
              </a:rPr>
              <a:t>How might the messages about love, gladiators, and bread reflect the culture and values of the city?</a:t>
            </a:r>
            <a:endParaRPr>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AutoNum type="arabicPeriod"/>
            </a:pPr>
            <a:r>
              <a:rPr lang="en">
                <a:solidFill>
                  <a:schemeClr val="dk1"/>
                </a:solidFill>
                <a:latin typeface="Poppins"/>
                <a:ea typeface="Poppins"/>
                <a:cs typeface="Poppins"/>
                <a:sym typeface="Poppins"/>
              </a:rPr>
              <a:t>Why might graffiti be a useful source for learning about the lives of ordinary people in the past?</a:t>
            </a:r>
            <a:endParaRPr>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AutoNum type="arabicPeriod"/>
            </a:pPr>
            <a:r>
              <a:rPr lang="en">
                <a:solidFill>
                  <a:schemeClr val="dk1"/>
                </a:solidFill>
                <a:latin typeface="Poppins"/>
                <a:ea typeface="Poppins"/>
                <a:cs typeface="Poppins"/>
                <a:sym typeface="Poppins"/>
              </a:rPr>
              <a:t>What are some limitations of using graffiti as evidence about life in Pompeii?</a:t>
            </a:r>
            <a:endParaRPr>
              <a:solidFill>
                <a:schemeClr val="dk1"/>
              </a:solidFill>
              <a:latin typeface="Poppins"/>
              <a:ea typeface="Poppins"/>
              <a:cs typeface="Poppins"/>
              <a:sym typeface="Poppins"/>
            </a:endParaRPr>
          </a:p>
        </p:txBody>
      </p:sp>
      <p:pic>
        <p:nvPicPr>
          <p:cNvPr id="133" name="Google Shape;133;p28"/>
          <p:cNvPicPr preferRelativeResize="0"/>
          <p:nvPr/>
        </p:nvPicPr>
        <p:blipFill rotWithShape="1">
          <a:blip r:embed="rId3">
            <a:alphaModFix/>
          </a:blip>
          <a:srcRect t="16798"/>
          <a:stretch/>
        </p:blipFill>
        <p:spPr>
          <a:xfrm>
            <a:off x="6324707" y="892800"/>
            <a:ext cx="2367567" cy="2954749"/>
          </a:xfrm>
          <a:prstGeom prst="rect">
            <a:avLst/>
          </a:prstGeom>
          <a:noFill/>
          <a:ln>
            <a:noFill/>
          </a:ln>
        </p:spPr>
      </p:pic>
      <p:sp>
        <p:nvSpPr>
          <p:cNvPr id="134" name="Google Shape;134;p28"/>
          <p:cNvSpPr txBox="1"/>
          <p:nvPr/>
        </p:nvSpPr>
        <p:spPr>
          <a:xfrm>
            <a:off x="123275" y="2329750"/>
            <a:ext cx="6056100" cy="1908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Poppins"/>
                <a:ea typeface="Poppins"/>
                <a:cs typeface="Poppins"/>
                <a:sym typeface="Poppins"/>
              </a:rPr>
              <a:t>In Pompeii, walls weren’t just for holding up buildings—they were a place where people left messages, jokes, advertisements, and personal notes. Archaeologists have found graffiti all over the city, from love notes to political slogans. This particular wall has three short messages: one about love, one about gladiators, and one advertising bread. They give us little snapshots of what people were talking about and what mattered to them in the days before the eruption of Mount Vesuvius.</a:t>
            </a:r>
            <a:endParaRPr>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9"/>
          <p:cNvSpPr txBox="1"/>
          <p:nvPr/>
        </p:nvSpPr>
        <p:spPr>
          <a:xfrm>
            <a:off x="123275" y="0"/>
            <a:ext cx="88017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latin typeface="Aladin"/>
                <a:ea typeface="Aladin"/>
                <a:cs typeface="Aladin"/>
                <a:sym typeface="Aladin"/>
              </a:rPr>
              <a:t>Pompeii – Life Before Disaster</a:t>
            </a:r>
            <a:endParaRPr sz="1800">
              <a:latin typeface="Aladin"/>
              <a:ea typeface="Aladin"/>
              <a:cs typeface="Aladin"/>
              <a:sym typeface="Aladin"/>
            </a:endParaRPr>
          </a:p>
        </p:txBody>
      </p:sp>
      <p:sp>
        <p:nvSpPr>
          <p:cNvPr id="140" name="Google Shape;140;p29"/>
          <p:cNvSpPr txBox="1"/>
          <p:nvPr/>
        </p:nvSpPr>
        <p:spPr>
          <a:xfrm>
            <a:off x="123275" y="461700"/>
            <a:ext cx="8712000" cy="431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b="1">
                <a:latin typeface="Oswald"/>
                <a:ea typeface="Oswald"/>
                <a:cs typeface="Oswald"/>
                <a:sym typeface="Oswald"/>
              </a:rPr>
              <a:t>Source D – Modern Historian’s View (Dr. Lucia Romano, Roman History Specialist, 2019)</a:t>
            </a:r>
            <a:endParaRPr>
              <a:latin typeface="Aladin"/>
              <a:ea typeface="Aladin"/>
              <a:cs typeface="Aladin"/>
              <a:sym typeface="Aladin"/>
            </a:endParaRPr>
          </a:p>
        </p:txBody>
      </p:sp>
      <p:sp>
        <p:nvSpPr>
          <p:cNvPr id="141" name="Google Shape;141;p29"/>
          <p:cNvSpPr txBox="1"/>
          <p:nvPr/>
        </p:nvSpPr>
        <p:spPr>
          <a:xfrm>
            <a:off x="1961025" y="892800"/>
            <a:ext cx="6874200" cy="212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Patrick Hand"/>
                <a:ea typeface="Patrick Hand"/>
                <a:cs typeface="Patrick Hand"/>
                <a:sym typeface="Patrick Hand"/>
              </a:rPr>
              <a:t>Pompeii is like a giant time capsule from the day Mount Vesuvius erupted in AD 79. The ash didn’t just cover buildings and streets – it also kept the shapes of the people who were there when it happened. Some were found curled up, others holding loved ones, and some still holding their belongings. These casts give us clues about how fast the disaster happened and how people reacted. But we have to remember – what we see now is only a single moment in time, not the full story of what happened that day.</a:t>
            </a:r>
            <a:endParaRPr sz="1800">
              <a:latin typeface="Patrick Hand"/>
              <a:ea typeface="Patrick Hand"/>
              <a:cs typeface="Patrick Hand"/>
              <a:sym typeface="Patrick Hand"/>
            </a:endParaRPr>
          </a:p>
        </p:txBody>
      </p:sp>
      <p:pic>
        <p:nvPicPr>
          <p:cNvPr id="142" name="Google Shape;142;p29"/>
          <p:cNvPicPr preferRelativeResize="0"/>
          <p:nvPr/>
        </p:nvPicPr>
        <p:blipFill>
          <a:blip r:embed="rId3">
            <a:alphaModFix/>
          </a:blip>
          <a:stretch>
            <a:fillRect/>
          </a:stretch>
        </p:blipFill>
        <p:spPr>
          <a:xfrm>
            <a:off x="123275" y="892800"/>
            <a:ext cx="1837750" cy="2205300"/>
          </a:xfrm>
          <a:prstGeom prst="rect">
            <a:avLst/>
          </a:prstGeom>
          <a:noFill/>
          <a:ln>
            <a:noFill/>
          </a:ln>
        </p:spPr>
      </p:pic>
      <p:pic>
        <p:nvPicPr>
          <p:cNvPr id="143" name="Google Shape;143;p29"/>
          <p:cNvPicPr preferRelativeResize="0"/>
          <p:nvPr/>
        </p:nvPicPr>
        <p:blipFill>
          <a:blip r:embed="rId4">
            <a:alphaModFix/>
          </a:blip>
          <a:stretch>
            <a:fillRect/>
          </a:stretch>
        </p:blipFill>
        <p:spPr>
          <a:xfrm>
            <a:off x="5534326" y="3016800"/>
            <a:ext cx="3300900" cy="1856756"/>
          </a:xfrm>
          <a:prstGeom prst="rect">
            <a:avLst/>
          </a:prstGeom>
          <a:noFill/>
          <a:ln>
            <a:noFill/>
          </a:ln>
        </p:spPr>
      </p:pic>
      <p:pic>
        <p:nvPicPr>
          <p:cNvPr id="144" name="Google Shape;144;p29"/>
          <p:cNvPicPr preferRelativeResize="0"/>
          <p:nvPr/>
        </p:nvPicPr>
        <p:blipFill>
          <a:blip r:embed="rId5">
            <a:alphaModFix/>
          </a:blip>
          <a:stretch>
            <a:fillRect/>
          </a:stretch>
        </p:blipFill>
        <p:spPr>
          <a:xfrm>
            <a:off x="2282723" y="3016800"/>
            <a:ext cx="3300900" cy="1856775"/>
          </a:xfrm>
          <a:prstGeom prst="rect">
            <a:avLst/>
          </a:prstGeom>
          <a:noFill/>
          <a:ln>
            <a:noFill/>
          </a:ln>
        </p:spPr>
      </p:pic>
      <p:sp>
        <p:nvSpPr>
          <p:cNvPr id="145" name="Google Shape;145;p29"/>
          <p:cNvSpPr txBox="1"/>
          <p:nvPr/>
        </p:nvSpPr>
        <p:spPr>
          <a:xfrm>
            <a:off x="123275" y="4873550"/>
            <a:ext cx="8801700" cy="1639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Questions to think about:</a:t>
            </a:r>
            <a:endParaRPr b="1">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AutoNum type="arabicPeriod"/>
            </a:pPr>
            <a:r>
              <a:rPr lang="en">
                <a:solidFill>
                  <a:schemeClr val="dk1"/>
                </a:solidFill>
                <a:latin typeface="Poppins"/>
                <a:ea typeface="Poppins"/>
                <a:cs typeface="Poppins"/>
                <a:sym typeface="Poppins"/>
              </a:rPr>
              <a:t>What can the positions of the bodies tell us about how people reacted when Mount Vesuvius erupted?</a:t>
            </a:r>
            <a:endParaRPr>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AutoNum type="arabicPeriod"/>
            </a:pPr>
            <a:r>
              <a:rPr lang="en">
                <a:solidFill>
                  <a:schemeClr val="dk1"/>
                </a:solidFill>
                <a:latin typeface="Poppins"/>
                <a:ea typeface="Poppins"/>
                <a:cs typeface="Poppins"/>
                <a:sym typeface="Poppins"/>
              </a:rPr>
              <a:t>Why might some people have been holding objects or other people when they were found?</a:t>
            </a:r>
            <a:endParaRPr>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AutoNum type="arabicPeriod"/>
            </a:pPr>
            <a:r>
              <a:rPr lang="en">
                <a:solidFill>
                  <a:schemeClr val="dk1"/>
                </a:solidFill>
                <a:latin typeface="Poppins"/>
                <a:ea typeface="Poppins"/>
                <a:cs typeface="Poppins"/>
                <a:sym typeface="Poppins"/>
              </a:rPr>
              <a:t>How reliable do you think these casts are for understanding the events of that day?</a:t>
            </a:r>
            <a:endParaRPr>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AutoNum type="arabicPeriod"/>
            </a:pPr>
            <a:r>
              <a:rPr lang="en">
                <a:solidFill>
                  <a:schemeClr val="dk1"/>
                </a:solidFill>
                <a:latin typeface="Poppins"/>
                <a:ea typeface="Poppins"/>
                <a:cs typeface="Poppins"/>
                <a:sym typeface="Poppins"/>
              </a:rPr>
              <a:t>What are the limits of using this evidence to understand life in Pompeii before the eruption?</a:t>
            </a:r>
            <a:endParaRPr>
              <a:solidFill>
                <a:schemeClr val="dk1"/>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30"/>
          <p:cNvSpPr txBox="1"/>
          <p:nvPr/>
        </p:nvSpPr>
        <p:spPr>
          <a:xfrm>
            <a:off x="123275" y="0"/>
            <a:ext cx="88017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dirty="0">
                <a:latin typeface="Aladin"/>
                <a:ea typeface="Aladin"/>
                <a:cs typeface="Aladin"/>
                <a:sym typeface="Aladin"/>
              </a:rPr>
              <a:t>Based on the evidence explain what life was </a:t>
            </a:r>
            <a:r>
              <a:rPr lang="en" sz="1800">
                <a:latin typeface="Aladin"/>
                <a:ea typeface="Aladin"/>
                <a:cs typeface="Aladin"/>
                <a:sym typeface="Aladin"/>
              </a:rPr>
              <a:t>like in Pompeii </a:t>
            </a:r>
            <a:r>
              <a:rPr lang="en" sz="1800" dirty="0">
                <a:latin typeface="Aladin"/>
                <a:ea typeface="Aladin"/>
                <a:cs typeface="Aladin"/>
                <a:sym typeface="Aladin"/>
              </a:rPr>
              <a:t>– Life Before Disaster</a:t>
            </a:r>
            <a:endParaRPr sz="1800" dirty="0">
              <a:latin typeface="Aladin"/>
              <a:ea typeface="Aladin"/>
              <a:cs typeface="Aladin"/>
              <a:sym typeface="Aladin"/>
            </a:endParaRPr>
          </a:p>
        </p:txBody>
      </p:sp>
      <p:sp>
        <p:nvSpPr>
          <p:cNvPr id="151" name="Google Shape;151;p30"/>
          <p:cNvSpPr/>
          <p:nvPr/>
        </p:nvSpPr>
        <p:spPr>
          <a:xfrm>
            <a:off x="123275" y="615325"/>
            <a:ext cx="4330500" cy="21963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200" b="1">
                <a:latin typeface="Poppins"/>
                <a:ea typeface="Poppins"/>
                <a:cs typeface="Poppins"/>
                <a:sym typeface="Poppins"/>
              </a:rPr>
              <a:t>Case File: Source A – Letter from Pliny the Younger</a:t>
            </a:r>
            <a:endParaRPr sz="1200" b="1">
              <a:latin typeface="Poppins"/>
              <a:ea typeface="Poppins"/>
              <a:cs typeface="Poppins"/>
              <a:sym typeface="Poppins"/>
            </a:endParaRPr>
          </a:p>
          <a:p>
            <a:pPr marL="0" lvl="0" indent="0" algn="ctr" rtl="0">
              <a:lnSpc>
                <a:spcPct val="115000"/>
              </a:lnSpc>
              <a:spcBef>
                <a:spcPts val="0"/>
              </a:spcBef>
              <a:spcAft>
                <a:spcPts val="0"/>
              </a:spcAft>
              <a:buNone/>
            </a:pPr>
            <a:r>
              <a:rPr lang="en" sz="1200">
                <a:latin typeface="Poppins"/>
                <a:ea typeface="Poppins"/>
                <a:cs typeface="Poppins"/>
                <a:sym typeface="Poppins"/>
              </a:rPr>
              <a:t>_________________________________________________________________________________________________________</a:t>
            </a:r>
            <a:r>
              <a:rPr lang="en" sz="1200">
                <a:solidFill>
                  <a:schemeClr val="dk1"/>
                </a:solidFill>
                <a:latin typeface="Poppins"/>
                <a:ea typeface="Poppins"/>
                <a:cs typeface="Poppins"/>
                <a:sym typeface="Poppins"/>
              </a:rPr>
              <a:t>_______________________________________________________________________________________________________________________________________________________________________________</a:t>
            </a:r>
            <a:endParaRPr sz="1200">
              <a:latin typeface="Poppins"/>
              <a:ea typeface="Poppins"/>
              <a:cs typeface="Poppins"/>
              <a:sym typeface="Poppins"/>
            </a:endParaRPr>
          </a:p>
        </p:txBody>
      </p:sp>
      <p:sp>
        <p:nvSpPr>
          <p:cNvPr id="152" name="Google Shape;152;p30"/>
          <p:cNvSpPr/>
          <p:nvPr/>
        </p:nvSpPr>
        <p:spPr>
          <a:xfrm>
            <a:off x="4702000" y="615325"/>
            <a:ext cx="4330500" cy="21963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1200" b="1">
                <a:solidFill>
                  <a:schemeClr val="dk1"/>
                </a:solidFill>
                <a:latin typeface="Poppins"/>
                <a:ea typeface="Poppins"/>
                <a:cs typeface="Poppins"/>
                <a:sym typeface="Poppins"/>
              </a:rPr>
              <a:t>Case File: Source B – Archaeological Field Notes</a:t>
            </a:r>
            <a:endParaRPr sz="1200" b="1">
              <a:solidFill>
                <a:schemeClr val="dk1"/>
              </a:solidFill>
              <a:latin typeface="Poppins"/>
              <a:ea typeface="Poppins"/>
              <a:cs typeface="Poppins"/>
              <a:sym typeface="Poppins"/>
            </a:endParaRPr>
          </a:p>
          <a:p>
            <a:pPr marL="0" lvl="0" indent="0" algn="ctr" rtl="0">
              <a:lnSpc>
                <a:spcPct val="115000"/>
              </a:lnSpc>
              <a:spcBef>
                <a:spcPts val="0"/>
              </a:spcBef>
              <a:spcAft>
                <a:spcPts val="0"/>
              </a:spcAft>
              <a:buClr>
                <a:schemeClr val="dk1"/>
              </a:buClr>
              <a:buSzPts val="1100"/>
              <a:buFont typeface="Arial"/>
              <a:buNone/>
            </a:pPr>
            <a:r>
              <a:rPr lang="en" sz="1200">
                <a:solidFill>
                  <a:schemeClr val="dk1"/>
                </a:solidFill>
                <a:latin typeface="Poppins"/>
                <a:ea typeface="Poppins"/>
                <a:cs typeface="Poppins"/>
                <a:sym typeface="Poppins"/>
              </a:rPr>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endParaRPr sz="1200">
              <a:solidFill>
                <a:schemeClr val="dk1"/>
              </a:solidFill>
              <a:latin typeface="Poppins"/>
              <a:ea typeface="Poppins"/>
              <a:cs typeface="Poppins"/>
              <a:sym typeface="Poppins"/>
            </a:endParaRPr>
          </a:p>
        </p:txBody>
      </p:sp>
      <p:sp>
        <p:nvSpPr>
          <p:cNvPr id="153" name="Google Shape;153;p30"/>
          <p:cNvSpPr/>
          <p:nvPr/>
        </p:nvSpPr>
        <p:spPr>
          <a:xfrm>
            <a:off x="117375" y="2965250"/>
            <a:ext cx="4330500" cy="21963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1200" b="1">
                <a:solidFill>
                  <a:schemeClr val="dk1"/>
                </a:solidFill>
                <a:latin typeface="Poppins"/>
                <a:ea typeface="Poppins"/>
                <a:cs typeface="Poppins"/>
                <a:sym typeface="Poppins"/>
              </a:rPr>
              <a:t>Case File: Source C – Graffiti from a House Wall</a:t>
            </a:r>
            <a:endParaRPr sz="1200" b="1">
              <a:solidFill>
                <a:schemeClr val="dk1"/>
              </a:solidFill>
              <a:latin typeface="Poppins"/>
              <a:ea typeface="Poppins"/>
              <a:cs typeface="Poppins"/>
              <a:sym typeface="Poppins"/>
            </a:endParaRPr>
          </a:p>
          <a:p>
            <a:pPr marL="0" lvl="0" indent="0" algn="ctr" rtl="0">
              <a:lnSpc>
                <a:spcPct val="115000"/>
              </a:lnSpc>
              <a:spcBef>
                <a:spcPts val="0"/>
              </a:spcBef>
              <a:spcAft>
                <a:spcPts val="0"/>
              </a:spcAft>
              <a:buClr>
                <a:schemeClr val="dk1"/>
              </a:buClr>
              <a:buSzPts val="1100"/>
              <a:buFont typeface="Arial"/>
              <a:buNone/>
            </a:pPr>
            <a:r>
              <a:rPr lang="en" sz="1200">
                <a:solidFill>
                  <a:schemeClr val="dk1"/>
                </a:solidFill>
                <a:latin typeface="Poppins"/>
                <a:ea typeface="Poppins"/>
                <a:cs typeface="Poppins"/>
                <a:sym typeface="Poppins"/>
              </a:rPr>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endParaRPr sz="1200">
              <a:solidFill>
                <a:schemeClr val="dk1"/>
              </a:solidFill>
              <a:latin typeface="Poppins"/>
              <a:ea typeface="Poppins"/>
              <a:cs typeface="Poppins"/>
              <a:sym typeface="Poppins"/>
            </a:endParaRPr>
          </a:p>
        </p:txBody>
      </p:sp>
      <p:sp>
        <p:nvSpPr>
          <p:cNvPr id="154" name="Google Shape;154;p30"/>
          <p:cNvSpPr/>
          <p:nvPr/>
        </p:nvSpPr>
        <p:spPr>
          <a:xfrm>
            <a:off x="4696100" y="2965250"/>
            <a:ext cx="4330500" cy="21963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1200" b="1">
                <a:solidFill>
                  <a:schemeClr val="dk1"/>
                </a:solidFill>
                <a:latin typeface="Poppins"/>
                <a:ea typeface="Poppins"/>
                <a:cs typeface="Poppins"/>
                <a:sym typeface="Poppins"/>
              </a:rPr>
              <a:t>Case File: Source D – Modern Historian’s View</a:t>
            </a:r>
            <a:endParaRPr sz="1200" b="1">
              <a:solidFill>
                <a:schemeClr val="dk1"/>
              </a:solidFill>
              <a:latin typeface="Poppins"/>
              <a:ea typeface="Poppins"/>
              <a:cs typeface="Poppins"/>
              <a:sym typeface="Poppins"/>
            </a:endParaRPr>
          </a:p>
          <a:p>
            <a:pPr marL="0" lvl="0" indent="0" algn="ctr" rtl="0">
              <a:lnSpc>
                <a:spcPct val="115000"/>
              </a:lnSpc>
              <a:spcBef>
                <a:spcPts val="0"/>
              </a:spcBef>
              <a:spcAft>
                <a:spcPts val="0"/>
              </a:spcAft>
              <a:buClr>
                <a:schemeClr val="dk1"/>
              </a:buClr>
              <a:buSzPts val="1100"/>
              <a:buFont typeface="Arial"/>
              <a:buNone/>
            </a:pPr>
            <a:r>
              <a:rPr lang="en" sz="1200">
                <a:solidFill>
                  <a:schemeClr val="dk1"/>
                </a:solidFill>
                <a:latin typeface="Poppins"/>
                <a:ea typeface="Poppins"/>
                <a:cs typeface="Poppins"/>
                <a:sym typeface="Poppins"/>
              </a:rPr>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endParaRPr sz="1200">
              <a:solidFill>
                <a:schemeClr val="dk1"/>
              </a:solidFill>
              <a:latin typeface="Poppins"/>
              <a:ea typeface="Poppins"/>
              <a:cs typeface="Poppins"/>
              <a:sym typeface="Poppins"/>
            </a:endParaRPr>
          </a:p>
        </p:txBody>
      </p:sp>
      <p:sp>
        <p:nvSpPr>
          <p:cNvPr id="155" name="Google Shape;155;p30"/>
          <p:cNvSpPr txBox="1"/>
          <p:nvPr/>
        </p:nvSpPr>
        <p:spPr>
          <a:xfrm>
            <a:off x="123275" y="5315175"/>
            <a:ext cx="8909100" cy="1477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b="1">
                <a:latin typeface="Poppins"/>
                <a:ea typeface="Poppins"/>
                <a:cs typeface="Poppins"/>
                <a:sym typeface="Poppins"/>
              </a:rPr>
              <a:t>What was life like in Pompeii in the hours before the eruption?</a:t>
            </a:r>
            <a:r>
              <a:rPr lang="en" sz="1200">
                <a:latin typeface="Poppins"/>
                <a:ea typeface="Poppins"/>
                <a:cs typeface="Poppins"/>
                <a:sym typeface="Poppins"/>
              </a:rPr>
              <a:t> (Use evidence to support your answer) </a:t>
            </a:r>
            <a:endParaRPr sz="1200">
              <a:solidFill>
                <a:schemeClr val="dk1"/>
              </a:solidFill>
              <a:latin typeface="Poppins"/>
              <a:ea typeface="Poppins"/>
              <a:cs typeface="Poppins"/>
              <a:sym typeface="Poppins"/>
            </a:endParaRPr>
          </a:p>
          <a:p>
            <a:pPr marL="0" lvl="0" indent="0" algn="ctr" rtl="0">
              <a:lnSpc>
                <a:spcPct val="150000"/>
              </a:lnSpc>
              <a:spcBef>
                <a:spcPts val="0"/>
              </a:spcBef>
              <a:spcAft>
                <a:spcPts val="0"/>
              </a:spcAft>
              <a:buClr>
                <a:schemeClr val="dk1"/>
              </a:buClr>
              <a:buSzPts val="1100"/>
              <a:buFont typeface="Arial"/>
              <a:buNone/>
            </a:pPr>
            <a:r>
              <a:rPr lang="en" sz="1200">
                <a:solidFill>
                  <a:schemeClr val="dk1"/>
                </a:solidFill>
                <a:latin typeface="Poppins"/>
                <a:ea typeface="Poppins"/>
                <a:cs typeface="Poppins"/>
                <a:sym typeface="Poppins"/>
              </a:rPr>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endParaRPr sz="1200">
              <a:solidFill>
                <a:schemeClr val="dk1"/>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1527</Words>
  <Application>Microsoft Macintosh PowerPoint</Application>
  <PresentationFormat>On-screen Show (4:3)</PresentationFormat>
  <Paragraphs>112</Paragraphs>
  <Slides>6</Slides>
  <Notes>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vt:i4>
      </vt:variant>
    </vt:vector>
  </HeadingPairs>
  <TitlesOfParts>
    <vt:vector size="15" baseType="lpstr">
      <vt:lpstr>Aladin</vt:lpstr>
      <vt:lpstr>Poppins</vt:lpstr>
      <vt:lpstr>Gloria Hallelujah</vt:lpstr>
      <vt:lpstr>Edu TAS Beginner</vt:lpstr>
      <vt:lpstr>Patrick Hand</vt:lpstr>
      <vt:lpstr>Oswald</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Douglas Lawrence</cp:lastModifiedBy>
  <cp:revision>1</cp:revision>
  <dcterms:modified xsi:type="dcterms:W3CDTF">2026-10-02T02:15:00Z</dcterms:modified>
</cp:coreProperties>
</file>