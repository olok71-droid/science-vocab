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atrick Hand"/>
      <p:regular r:id="rId22"/>
    </p:embeddedFont>
    <p:embeddedFont>
      <p:font typeface="Poppins"/>
      <p:regular r:id="rId23"/>
      <p:bold r:id="rId24"/>
      <p:italic r:id="rId25"/>
      <p:boldItalic r:id="rId26"/>
    </p:embeddedFont>
    <p:embeddedFont>
      <p:font typeface="Titillium Web"/>
      <p:regular r:id="rId27"/>
      <p:bold r:id="rId28"/>
      <p:italic r:id="rId29"/>
      <p:boldItalic r:id="rId30"/>
    </p:embeddedFont>
    <p:embeddedFont>
      <p:font typeface="Delius"/>
      <p:regular r:id="rId31"/>
    </p:embeddedFont>
    <p:embeddedFont>
      <p:font typeface="Fugaz One"/>
      <p:regular r:id="rId32"/>
    </p:embeddedFont>
    <p:embeddedFont>
      <p:font typeface="Aladin"/>
      <p:regular r:id="rId33"/>
    </p:embeddedFont>
    <p:embeddedFont>
      <p:font typeface="Baumans"/>
      <p:regular r:id="rId34"/>
    </p:embeddedFont>
    <p:embeddedFont>
      <p:font typeface="Luckiest Guy"/>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atrickHand-regular.fntdata"/><Relationship Id="rId21" Type="http://schemas.openxmlformats.org/officeDocument/2006/relationships/slide" Target="slides/slide16.xml"/><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TitilliumWeb-bold.fntdata"/><Relationship Id="rId27" Type="http://schemas.openxmlformats.org/officeDocument/2006/relationships/font" Target="fonts/TitilliumWeb-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itilliumWeb-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elius-regular.fntdata"/><Relationship Id="rId30" Type="http://schemas.openxmlformats.org/officeDocument/2006/relationships/font" Target="fonts/TitilliumWeb-boldItalic.fntdata"/><Relationship Id="rId11" Type="http://schemas.openxmlformats.org/officeDocument/2006/relationships/slide" Target="slides/slide6.xml"/><Relationship Id="rId33" Type="http://schemas.openxmlformats.org/officeDocument/2006/relationships/font" Target="fonts/Aladin-regular.fntdata"/><Relationship Id="rId10" Type="http://schemas.openxmlformats.org/officeDocument/2006/relationships/slide" Target="slides/slide5.xml"/><Relationship Id="rId32" Type="http://schemas.openxmlformats.org/officeDocument/2006/relationships/font" Target="fonts/FugazOne-regular.fntdata"/><Relationship Id="rId13" Type="http://schemas.openxmlformats.org/officeDocument/2006/relationships/slide" Target="slides/slide8.xml"/><Relationship Id="rId35" Type="http://schemas.openxmlformats.org/officeDocument/2006/relationships/font" Target="fonts/LuckiestGuy-regular.fntdata"/><Relationship Id="rId12" Type="http://schemas.openxmlformats.org/officeDocument/2006/relationships/slide" Target="slides/slide7.xml"/><Relationship Id="rId34" Type="http://schemas.openxmlformats.org/officeDocument/2006/relationships/font" Target="fonts/Baumans-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651680ee8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651680ee86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8a906131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38a9061316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2: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3: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4: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51680ee8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51680ee8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https://www.youtube.com/watch?v=HMhjjbBkV9E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651680ee8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651680ee8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51680ee86_0_68: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3651680ee86_0_68: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5: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http://www.youtube.com/watch?v=MmMX83diwl0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51680ee8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651680ee86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http://www.youtube.com/watch?v=MmMX83diwl0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51680ee86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651680ee86_0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9: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85c81d3e1e_0_0: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85c81d3e1e_0_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48b901dde6_0_0: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https://dashboard.blooket.com/set/68b8d0887ef53e8c73be158f</a:t>
            </a:r>
            <a:endParaRPr/>
          </a:p>
        </p:txBody>
      </p:sp>
      <p:sp>
        <p:nvSpPr>
          <p:cNvPr id="214" name="Google Shape;214;g348b901dde6_0_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txBox="1"/>
          <p:nvPr>
            <p:ph idx="1" type="body"/>
          </p:nvPr>
        </p:nvSpPr>
        <p:spPr>
          <a:xfrm>
            <a:off x="685480" y="4400181"/>
            <a:ext cx="5487000" cy="36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0:notes"/>
          <p:cNvSpPr/>
          <p:nvPr>
            <p:ph idx="2" type="sldImg"/>
          </p:nvPr>
        </p:nvSpPr>
        <p:spPr>
          <a:xfrm>
            <a:off x="426022" y="1143550"/>
            <a:ext cx="6006000" cy="3085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 name="Shape 9"/>
        <p:cNvGrpSpPr/>
        <p:nvPr/>
      </p:nvGrpSpPr>
      <p:grpSpPr>
        <a:xfrm>
          <a:off x="0" y="0"/>
          <a:ext cx="0" cy="0"/>
          <a:chOff x="0" y="0"/>
          <a:chExt cx="0" cy="0"/>
        </a:xfrm>
      </p:grpSpPr>
      <p:sp>
        <p:nvSpPr>
          <p:cNvPr id="10" name="Google Shape;10;p2"/>
          <p:cNvSpPr txBox="1"/>
          <p:nvPr>
            <p:ph type="title"/>
          </p:nvPr>
        </p:nvSpPr>
        <p:spPr>
          <a:xfrm>
            <a:off x="179387" y="357504"/>
            <a:ext cx="8785200" cy="5310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2100"/>
              <a:buNone/>
              <a:defRPr sz="3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11" name="Google Shape;11;p2"/>
          <p:cNvSpPr txBox="1"/>
          <p:nvPr>
            <p:ph idx="1" type="body"/>
          </p:nvPr>
        </p:nvSpPr>
        <p:spPr>
          <a:xfrm>
            <a:off x="179388" y="897731"/>
            <a:ext cx="8785200" cy="25383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400"/>
              </a:spcBef>
              <a:spcAft>
                <a:spcPts val="0"/>
              </a:spcAft>
              <a:buClr>
                <a:schemeClr val="dk1"/>
              </a:buClr>
              <a:buSzPts val="2100"/>
              <a:buFont typeface="Arial"/>
              <a:buNone/>
              <a:defRPr/>
            </a:lvl1pPr>
            <a:lvl2pPr indent="-317500" lvl="1" marL="914400" algn="l">
              <a:lnSpc>
                <a:spcPct val="115000"/>
              </a:lnSpc>
              <a:spcBef>
                <a:spcPts val="300"/>
              </a:spcBef>
              <a:spcAft>
                <a:spcPts val="0"/>
              </a:spcAft>
              <a:buClr>
                <a:schemeClr val="dk1"/>
              </a:buClr>
              <a:buSzPts val="1400"/>
              <a:buChar char="○"/>
              <a:defRPr/>
            </a:lvl2pPr>
            <a:lvl3pPr indent="-317500" lvl="2" marL="1371600" algn="l">
              <a:lnSpc>
                <a:spcPct val="115000"/>
              </a:lnSpc>
              <a:spcBef>
                <a:spcPts val="300"/>
              </a:spcBef>
              <a:spcAft>
                <a:spcPts val="0"/>
              </a:spcAft>
              <a:buClr>
                <a:schemeClr val="dk1"/>
              </a:buClr>
              <a:buSzPts val="1400"/>
              <a:buChar char="■"/>
              <a:defRPr/>
            </a:lvl3pPr>
            <a:lvl4pPr indent="-317500" lvl="3" marL="1828800" algn="l">
              <a:lnSpc>
                <a:spcPct val="115000"/>
              </a:lnSpc>
              <a:spcBef>
                <a:spcPts val="300"/>
              </a:spcBef>
              <a:spcAft>
                <a:spcPts val="0"/>
              </a:spcAft>
              <a:buClr>
                <a:schemeClr val="dk1"/>
              </a:buClr>
              <a:buSzPts val="1400"/>
              <a:buChar char="●"/>
              <a:defRPr/>
            </a:lvl4pPr>
            <a:lvl5pPr indent="-317500" lvl="4" marL="2286000" algn="l">
              <a:lnSpc>
                <a:spcPct val="115000"/>
              </a:lnSpc>
              <a:spcBef>
                <a:spcPts val="300"/>
              </a:spcBef>
              <a:spcAft>
                <a:spcPts val="0"/>
              </a:spcAft>
              <a:buClr>
                <a:schemeClr val="dk1"/>
              </a:buClr>
              <a:buSzPts val="1400"/>
              <a:buChar char="○"/>
              <a:defRPr/>
            </a:lvl5pPr>
            <a:lvl6pPr indent="-317500" lvl="5" marL="2743200" algn="l">
              <a:lnSpc>
                <a:spcPct val="115000"/>
              </a:lnSpc>
              <a:spcBef>
                <a:spcPts val="300"/>
              </a:spcBef>
              <a:spcAft>
                <a:spcPts val="0"/>
              </a:spcAft>
              <a:buClr>
                <a:schemeClr val="dk1"/>
              </a:buClr>
              <a:buSzPts val="1400"/>
              <a:buChar char="■"/>
              <a:defRPr/>
            </a:lvl6pPr>
            <a:lvl7pPr indent="-317500" lvl="6" marL="3200400" algn="l">
              <a:lnSpc>
                <a:spcPct val="115000"/>
              </a:lnSpc>
              <a:spcBef>
                <a:spcPts val="300"/>
              </a:spcBef>
              <a:spcAft>
                <a:spcPts val="0"/>
              </a:spcAft>
              <a:buClr>
                <a:schemeClr val="dk1"/>
              </a:buClr>
              <a:buSzPts val="1400"/>
              <a:buChar char="●"/>
              <a:defRPr/>
            </a:lvl7pPr>
            <a:lvl8pPr indent="-317500" lvl="7" marL="3657600" algn="l">
              <a:lnSpc>
                <a:spcPct val="115000"/>
              </a:lnSpc>
              <a:spcBef>
                <a:spcPts val="300"/>
              </a:spcBef>
              <a:spcAft>
                <a:spcPts val="0"/>
              </a:spcAft>
              <a:buClr>
                <a:schemeClr val="dk1"/>
              </a:buClr>
              <a:buSzPts val="1400"/>
              <a:buChar char="○"/>
              <a:defRPr/>
            </a:lvl8pPr>
            <a:lvl9pPr indent="-317500" lvl="8" marL="4114800" algn="l">
              <a:lnSpc>
                <a:spcPct val="115000"/>
              </a:lnSpc>
              <a:spcBef>
                <a:spcPts val="3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1620">
          <p15:clr>
            <a:srgbClr val="FA7B17"/>
          </p15:clr>
        </p15:guide>
        <p15:guide id="2"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 name="Shape 12"/>
        <p:cNvGrpSpPr/>
        <p:nvPr/>
      </p:nvGrpSpPr>
      <p:grpSpPr>
        <a:xfrm>
          <a:off x="0" y="0"/>
          <a:ext cx="0" cy="0"/>
          <a:chOff x="0" y="0"/>
          <a:chExt cx="0" cy="0"/>
        </a:xfrm>
      </p:grpSpPr>
      <p:sp>
        <p:nvSpPr>
          <p:cNvPr id="13" name="Google Shape;13;p3"/>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3"/>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5" name="Google Shape;15;p3"/>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 name="Google Shape;16;p3"/>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17" name="Google Shape;17;p3"/>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 name="Google Shape;18;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9" name="Google Shape;19;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0" name="Google Shape;20;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3" name="Google Shape;23;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 name="Google Shape;2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1" name="Google Shape;31;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2" name="Shape 32"/>
        <p:cNvGrpSpPr/>
        <p:nvPr/>
      </p:nvGrpSpPr>
      <p:grpSpPr>
        <a:xfrm>
          <a:off x="0" y="0"/>
          <a:ext cx="0" cy="0"/>
          <a:chOff x="0" y="0"/>
          <a:chExt cx="0" cy="0"/>
        </a:xfrm>
      </p:grpSpPr>
      <p:sp>
        <p:nvSpPr>
          <p:cNvPr id="33" name="Google Shape;33;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2" name="Google Shape;42;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3" name="Google Shape;4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 name="Shape 44"/>
        <p:cNvGrpSpPr/>
        <p:nvPr/>
      </p:nvGrpSpPr>
      <p:grpSpPr>
        <a:xfrm>
          <a:off x="0" y="0"/>
          <a:ext cx="0" cy="0"/>
          <a:chOff x="0" y="0"/>
          <a:chExt cx="0" cy="0"/>
        </a:xfrm>
      </p:grpSpPr>
      <p:sp>
        <p:nvSpPr>
          <p:cNvPr id="45" name="Google Shape;45;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6" name="Google Shape;4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7" name="Shape 47"/>
        <p:cNvGrpSpPr/>
        <p:nvPr/>
      </p:nvGrpSpPr>
      <p:grpSpPr>
        <a:xfrm>
          <a:off x="0" y="0"/>
          <a:ext cx="0" cy="0"/>
          <a:chOff x="0" y="0"/>
          <a:chExt cx="0" cy="0"/>
        </a:xfrm>
      </p:grpSpPr>
      <p:sp>
        <p:nvSpPr>
          <p:cNvPr id="48" name="Google Shape;48;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0" name="Google Shape;50;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1" name="Google Shape;51;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5" name="Google Shape;5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8" name="Google Shape;58;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62" name="Shape 62"/>
        <p:cNvGrpSpPr/>
        <p:nvPr/>
      </p:nvGrpSpPr>
      <p:grpSpPr>
        <a:xfrm>
          <a:off x="0" y="0"/>
          <a:ext cx="0" cy="0"/>
          <a:chOff x="0" y="0"/>
          <a:chExt cx="0" cy="0"/>
        </a:xfrm>
      </p:grpSpPr>
      <p:sp>
        <p:nvSpPr>
          <p:cNvPr id="63" name="Google Shape;63;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4" name="Google Shape;64;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4CCC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5.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5.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20.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www.youtube.com/watch?v=KB7HzF2O3Kg" TargetMode="External"/><Relationship Id="rId4" Type="http://schemas.openxmlformats.org/officeDocument/2006/relationships/image" Target="../media/image2.jpg"/><Relationship Id="rId5"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4.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www.youtube.com/watch?v=MmMX83diwl0" TargetMode="Externa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jp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26.png"/><Relationship Id="rId8"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2.gif"/><Relationship Id="rId5" Type="http://schemas.openxmlformats.org/officeDocument/2006/relationships/hyperlink" Target="https://dashboard.blooket.com/set/68b8d0887ef53e8c73be158f" TargetMode="External"/><Relationship Id="rId6"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nvSpPr>
        <p:spPr>
          <a:xfrm>
            <a:off x="186450" y="1403775"/>
            <a:ext cx="4858500" cy="290310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None/>
            </a:pPr>
            <a:r>
              <a:rPr b="1" lang="en" sz="1900">
                <a:latin typeface="Poppins"/>
                <a:ea typeface="Poppins"/>
                <a:cs typeface="Poppins"/>
                <a:sym typeface="Poppins"/>
              </a:rPr>
              <a:t>Last Lesson:</a:t>
            </a:r>
            <a:r>
              <a:rPr lang="en" sz="1900">
                <a:latin typeface="Poppins"/>
                <a:ea typeface="Poppins"/>
                <a:cs typeface="Poppins"/>
                <a:sym typeface="Poppins"/>
              </a:rPr>
              <a:t> Name the 4 types of plate boundaries</a:t>
            </a:r>
            <a:endParaRPr sz="1900">
              <a:latin typeface="Poppins"/>
              <a:ea typeface="Poppins"/>
              <a:cs typeface="Poppins"/>
              <a:sym typeface="Poppins"/>
            </a:endParaRPr>
          </a:p>
          <a:p>
            <a:pPr indent="0" lvl="0" marL="0" marR="0" rtl="0" algn="l">
              <a:lnSpc>
                <a:spcPct val="115000"/>
              </a:lnSpc>
              <a:spcBef>
                <a:spcPts val="0"/>
              </a:spcBef>
              <a:spcAft>
                <a:spcPts val="0"/>
              </a:spcAft>
              <a:buNone/>
            </a:pPr>
            <a:r>
              <a:rPr b="1" lang="en" sz="1900">
                <a:latin typeface="Poppins"/>
                <a:ea typeface="Poppins"/>
                <a:cs typeface="Poppins"/>
                <a:sym typeface="Poppins"/>
              </a:rPr>
              <a:t>Last Week:</a:t>
            </a:r>
            <a:r>
              <a:rPr lang="en" sz="1900">
                <a:latin typeface="Poppins"/>
                <a:ea typeface="Poppins"/>
                <a:cs typeface="Poppins"/>
                <a:sym typeface="Poppins"/>
              </a:rPr>
              <a:t> Why do earthquakes often happen near plate boundaries?</a:t>
            </a:r>
            <a:endParaRPr sz="1900">
              <a:latin typeface="Poppins"/>
              <a:ea typeface="Poppins"/>
              <a:cs typeface="Poppins"/>
              <a:sym typeface="Poppins"/>
            </a:endParaRPr>
          </a:p>
          <a:p>
            <a:pPr indent="0" lvl="0" marL="0" marR="0" rtl="0" algn="l">
              <a:lnSpc>
                <a:spcPct val="115000"/>
              </a:lnSpc>
              <a:spcBef>
                <a:spcPts val="0"/>
              </a:spcBef>
              <a:spcAft>
                <a:spcPts val="0"/>
              </a:spcAft>
              <a:buNone/>
            </a:pPr>
            <a:r>
              <a:rPr b="1" lang="en" sz="1900">
                <a:latin typeface="Poppins"/>
                <a:ea typeface="Poppins"/>
                <a:cs typeface="Poppins"/>
                <a:sym typeface="Poppins"/>
              </a:rPr>
              <a:t>Last Week:</a:t>
            </a:r>
            <a:r>
              <a:rPr lang="en" sz="1900">
                <a:latin typeface="Poppins"/>
                <a:ea typeface="Poppins"/>
                <a:cs typeface="Poppins"/>
                <a:sym typeface="Poppins"/>
              </a:rPr>
              <a:t> Why </a:t>
            </a:r>
            <a:r>
              <a:rPr b="1" lang="en" sz="1900">
                <a:latin typeface="Poppins"/>
                <a:ea typeface="Poppins"/>
                <a:cs typeface="Poppins"/>
                <a:sym typeface="Poppins"/>
              </a:rPr>
              <a:t>don’t</a:t>
            </a:r>
            <a:r>
              <a:rPr lang="en" sz="1900">
                <a:latin typeface="Poppins"/>
                <a:ea typeface="Poppins"/>
                <a:cs typeface="Poppins"/>
                <a:sym typeface="Poppins"/>
              </a:rPr>
              <a:t> all volcanoes form at plate boundaries?</a:t>
            </a:r>
            <a:endParaRPr sz="1900">
              <a:latin typeface="Poppins"/>
              <a:ea typeface="Poppins"/>
              <a:cs typeface="Poppins"/>
              <a:sym typeface="Poppins"/>
            </a:endParaRPr>
          </a:p>
        </p:txBody>
      </p:sp>
      <p:pic>
        <p:nvPicPr>
          <p:cNvPr id="71" name="Google Shape;71;p16"/>
          <p:cNvPicPr preferRelativeResize="0"/>
          <p:nvPr/>
        </p:nvPicPr>
        <p:blipFill>
          <a:blip r:embed="rId3">
            <a:alphaModFix/>
          </a:blip>
          <a:stretch>
            <a:fillRect/>
          </a:stretch>
        </p:blipFill>
        <p:spPr>
          <a:xfrm>
            <a:off x="225576" y="1442250"/>
            <a:ext cx="756925" cy="543250"/>
          </a:xfrm>
          <a:prstGeom prst="rect">
            <a:avLst/>
          </a:prstGeom>
          <a:noFill/>
          <a:ln>
            <a:noFill/>
          </a:ln>
        </p:spPr>
      </p:pic>
      <p:sp>
        <p:nvSpPr>
          <p:cNvPr id="72" name="Google Shape;72;p16"/>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pic>
        <p:nvPicPr>
          <p:cNvPr id="73" name="Google Shape;73;p16"/>
          <p:cNvPicPr preferRelativeResize="0"/>
          <p:nvPr/>
        </p:nvPicPr>
        <p:blipFill>
          <a:blip r:embed="rId4">
            <a:alphaModFix/>
          </a:blip>
          <a:stretch>
            <a:fillRect/>
          </a:stretch>
        </p:blipFill>
        <p:spPr>
          <a:xfrm>
            <a:off x="5343900" y="2072000"/>
            <a:ext cx="3693300" cy="2139045"/>
          </a:xfrm>
          <a:prstGeom prst="rect">
            <a:avLst/>
          </a:prstGeom>
          <a:noFill/>
          <a:ln>
            <a:noFill/>
          </a:ln>
        </p:spPr>
      </p:pic>
      <p:sp>
        <p:nvSpPr>
          <p:cNvPr id="74" name="Google Shape;74;p16"/>
          <p:cNvSpPr txBox="1"/>
          <p:nvPr/>
        </p:nvSpPr>
        <p:spPr>
          <a:xfrm>
            <a:off x="153525" y="624775"/>
            <a:ext cx="5505600" cy="630900"/>
          </a:xfrm>
          <a:prstGeom prst="rect">
            <a:avLst/>
          </a:prstGeom>
          <a:solidFill>
            <a:srgbClr val="CFE2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600" u="sng" cap="none" strike="noStrike">
                <a:solidFill>
                  <a:srgbClr val="000000"/>
                </a:solidFill>
                <a:latin typeface="Poppins"/>
                <a:ea typeface="Poppins"/>
                <a:cs typeface="Poppins"/>
                <a:sym typeface="Poppins"/>
              </a:rPr>
              <a:t>Date:</a:t>
            </a:r>
            <a:r>
              <a:rPr b="1" i="0" lang="en" sz="1600" cap="none" strike="noStrike">
                <a:solidFill>
                  <a:srgbClr val="000000"/>
                </a:solidFill>
                <a:latin typeface="Poppins"/>
                <a:ea typeface="Poppins"/>
                <a:cs typeface="Poppins"/>
                <a:sym typeface="Poppins"/>
              </a:rPr>
              <a:t> T</a:t>
            </a:r>
            <a:r>
              <a:rPr b="1" lang="en" sz="1600">
                <a:latin typeface="Poppins"/>
                <a:ea typeface="Poppins"/>
                <a:cs typeface="Poppins"/>
                <a:sym typeface="Poppins"/>
              </a:rPr>
              <a:t>uesday 9</a:t>
            </a:r>
            <a:r>
              <a:rPr b="1" lang="en" sz="1600">
                <a:latin typeface="Poppins"/>
                <a:ea typeface="Poppins"/>
                <a:cs typeface="Poppins"/>
                <a:sym typeface="Poppins"/>
              </a:rPr>
              <a:t>th</a:t>
            </a:r>
            <a:r>
              <a:rPr b="1" i="0" lang="en" sz="1600" cap="none" strike="noStrike">
                <a:solidFill>
                  <a:srgbClr val="000000"/>
                </a:solidFill>
                <a:latin typeface="Poppins"/>
                <a:ea typeface="Poppins"/>
                <a:cs typeface="Poppins"/>
                <a:sym typeface="Poppins"/>
              </a:rPr>
              <a:t> </a:t>
            </a:r>
            <a:r>
              <a:rPr b="1" lang="en" sz="1600">
                <a:latin typeface="Poppins"/>
                <a:ea typeface="Poppins"/>
                <a:cs typeface="Poppins"/>
                <a:sym typeface="Poppins"/>
              </a:rPr>
              <a:t>September</a:t>
            </a:r>
            <a:r>
              <a:rPr b="1" i="0" lang="en" sz="1600" cap="none" strike="noStrike">
                <a:solidFill>
                  <a:srgbClr val="000000"/>
                </a:solidFill>
                <a:latin typeface="Poppins"/>
                <a:ea typeface="Poppins"/>
                <a:cs typeface="Poppins"/>
                <a:sym typeface="Poppins"/>
              </a:rPr>
              <a:t> 202</a:t>
            </a:r>
            <a:r>
              <a:rPr b="1" lang="en" sz="1600">
                <a:latin typeface="Poppins"/>
                <a:ea typeface="Poppins"/>
                <a:cs typeface="Poppins"/>
                <a:sym typeface="Poppins"/>
              </a:rPr>
              <a:t>5</a:t>
            </a:r>
            <a:endParaRPr b="1" i="0" sz="1600"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 sz="1600" u="sng" cap="none" strike="noStrike">
                <a:solidFill>
                  <a:srgbClr val="000000"/>
                </a:solidFill>
                <a:latin typeface="Poppins"/>
                <a:ea typeface="Poppins"/>
                <a:cs typeface="Poppins"/>
                <a:sym typeface="Poppins"/>
              </a:rPr>
              <a:t>Title:</a:t>
            </a:r>
            <a:r>
              <a:rPr b="1" i="0" lang="en" sz="1600" cap="none" strike="noStrike">
                <a:solidFill>
                  <a:srgbClr val="000000"/>
                </a:solidFill>
                <a:latin typeface="Poppins"/>
                <a:ea typeface="Poppins"/>
                <a:cs typeface="Poppins"/>
                <a:sym typeface="Poppins"/>
              </a:rPr>
              <a:t> </a:t>
            </a:r>
            <a:r>
              <a:rPr b="1" lang="en" sz="1600">
                <a:latin typeface="Poppins"/>
                <a:ea typeface="Poppins"/>
                <a:cs typeface="Poppins"/>
                <a:sym typeface="Poppins"/>
              </a:rPr>
              <a:t>How do we know the plates are moving?</a:t>
            </a:r>
            <a:endParaRPr b="1" i="0" sz="1600" cap="none" strike="noStrike">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nvSpPr>
        <p:spPr>
          <a:xfrm>
            <a:off x="186450" y="1403775"/>
            <a:ext cx="4858500" cy="346410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000000"/>
              </a:solidFill>
              <a:latin typeface="Calibri"/>
              <a:ea typeface="Calibri"/>
              <a:cs typeface="Calibri"/>
              <a:sym typeface="Calibri"/>
            </a:endParaRPr>
          </a:p>
          <a:p>
            <a:pPr indent="0" lvl="0" marL="0" marR="0" rtl="0" algn="l">
              <a:lnSpc>
                <a:spcPct val="115000"/>
              </a:lnSpc>
              <a:spcBef>
                <a:spcPts val="0"/>
              </a:spcBef>
              <a:spcAft>
                <a:spcPts val="0"/>
              </a:spcAft>
              <a:buNone/>
            </a:pPr>
            <a:r>
              <a:rPr b="1" lang="en" sz="2300">
                <a:latin typeface="Poppins"/>
                <a:ea typeface="Poppins"/>
                <a:cs typeface="Poppins"/>
                <a:sym typeface="Poppins"/>
              </a:rPr>
              <a:t>Last Lesson:</a:t>
            </a:r>
            <a:r>
              <a:rPr lang="en" sz="2300">
                <a:latin typeface="Poppins"/>
                <a:ea typeface="Poppins"/>
                <a:cs typeface="Poppins"/>
                <a:sym typeface="Poppins"/>
              </a:rPr>
              <a:t> </a:t>
            </a:r>
            <a:endParaRPr sz="2300">
              <a:latin typeface="Poppins"/>
              <a:ea typeface="Poppins"/>
              <a:cs typeface="Poppins"/>
              <a:sym typeface="Poppins"/>
            </a:endParaRPr>
          </a:p>
          <a:p>
            <a:pPr indent="-355600" lvl="0" marL="457200" marR="0" rtl="0" algn="l">
              <a:lnSpc>
                <a:spcPct val="115000"/>
              </a:lnSpc>
              <a:spcBef>
                <a:spcPts val="0"/>
              </a:spcBef>
              <a:spcAft>
                <a:spcPts val="0"/>
              </a:spcAft>
              <a:buSzPts val="2000"/>
              <a:buFont typeface="Poppins"/>
              <a:buChar char="●"/>
            </a:pPr>
            <a:r>
              <a:rPr lang="en" sz="2000">
                <a:latin typeface="Poppins"/>
                <a:ea typeface="Poppins"/>
                <a:cs typeface="Poppins"/>
                <a:sym typeface="Poppins"/>
              </a:rPr>
              <a:t>Use latitude and longitude to mark the major volcanic eruptions and earthquakes on your map.</a:t>
            </a:r>
            <a:endParaRPr sz="2000">
              <a:latin typeface="Poppins"/>
              <a:ea typeface="Poppins"/>
              <a:cs typeface="Poppins"/>
              <a:sym typeface="Poppins"/>
            </a:endParaRPr>
          </a:p>
          <a:p>
            <a:pPr indent="-355600" lvl="0" marL="457200" marR="0" rtl="0" algn="l">
              <a:lnSpc>
                <a:spcPct val="115000"/>
              </a:lnSpc>
              <a:spcBef>
                <a:spcPts val="0"/>
              </a:spcBef>
              <a:spcAft>
                <a:spcPts val="0"/>
              </a:spcAft>
              <a:buClr>
                <a:schemeClr val="dk1"/>
              </a:buClr>
              <a:buSzPts val="2000"/>
              <a:buFont typeface="Poppins"/>
              <a:buChar char="●"/>
            </a:pPr>
            <a:r>
              <a:rPr lang="en" sz="2000">
                <a:solidFill>
                  <a:schemeClr val="dk1"/>
                </a:solidFill>
                <a:latin typeface="Poppins"/>
                <a:ea typeface="Poppins"/>
                <a:cs typeface="Poppins"/>
                <a:sym typeface="Poppins"/>
              </a:rPr>
              <a:t>Name the 4 types of plate boundaries</a:t>
            </a:r>
            <a:endParaRPr sz="2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300">
              <a:latin typeface="Poppins"/>
              <a:ea typeface="Poppins"/>
              <a:cs typeface="Poppins"/>
              <a:sym typeface="Poppins"/>
            </a:endParaRPr>
          </a:p>
          <a:p>
            <a:pPr indent="0" lvl="0" marL="0" marR="0" rtl="0" algn="l">
              <a:lnSpc>
                <a:spcPct val="115000"/>
              </a:lnSpc>
              <a:spcBef>
                <a:spcPts val="0"/>
              </a:spcBef>
              <a:spcAft>
                <a:spcPts val="0"/>
              </a:spcAft>
              <a:buNone/>
            </a:pPr>
            <a:r>
              <a:t/>
            </a:r>
            <a:endParaRPr sz="1900">
              <a:latin typeface="Poppins"/>
              <a:ea typeface="Poppins"/>
              <a:cs typeface="Poppins"/>
              <a:sym typeface="Poppins"/>
            </a:endParaRPr>
          </a:p>
        </p:txBody>
      </p:sp>
      <p:pic>
        <p:nvPicPr>
          <p:cNvPr id="80" name="Google Shape;80;p17"/>
          <p:cNvPicPr preferRelativeResize="0"/>
          <p:nvPr/>
        </p:nvPicPr>
        <p:blipFill>
          <a:blip r:embed="rId3">
            <a:alphaModFix/>
          </a:blip>
          <a:stretch>
            <a:fillRect/>
          </a:stretch>
        </p:blipFill>
        <p:spPr>
          <a:xfrm>
            <a:off x="225576" y="1442250"/>
            <a:ext cx="756925" cy="543250"/>
          </a:xfrm>
          <a:prstGeom prst="rect">
            <a:avLst/>
          </a:prstGeom>
          <a:noFill/>
          <a:ln>
            <a:noFill/>
          </a:ln>
        </p:spPr>
      </p:pic>
      <p:sp>
        <p:nvSpPr>
          <p:cNvPr id="81" name="Google Shape;81;p17"/>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pic>
        <p:nvPicPr>
          <p:cNvPr id="82" name="Google Shape;82;p17"/>
          <p:cNvPicPr preferRelativeResize="0"/>
          <p:nvPr/>
        </p:nvPicPr>
        <p:blipFill>
          <a:blip r:embed="rId4">
            <a:alphaModFix/>
          </a:blip>
          <a:stretch>
            <a:fillRect/>
          </a:stretch>
        </p:blipFill>
        <p:spPr>
          <a:xfrm>
            <a:off x="5279625" y="1403775"/>
            <a:ext cx="3693300" cy="2139045"/>
          </a:xfrm>
          <a:prstGeom prst="rect">
            <a:avLst/>
          </a:prstGeom>
          <a:noFill/>
          <a:ln>
            <a:noFill/>
          </a:ln>
        </p:spPr>
      </p:pic>
      <p:sp>
        <p:nvSpPr>
          <p:cNvPr id="83" name="Google Shape;83;p17"/>
          <p:cNvSpPr txBox="1"/>
          <p:nvPr/>
        </p:nvSpPr>
        <p:spPr>
          <a:xfrm>
            <a:off x="153525" y="624775"/>
            <a:ext cx="5505600" cy="630900"/>
          </a:xfrm>
          <a:prstGeom prst="rect">
            <a:avLst/>
          </a:prstGeom>
          <a:solidFill>
            <a:srgbClr val="CFE2F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600" u="sng" cap="none" strike="noStrike">
                <a:solidFill>
                  <a:srgbClr val="000000"/>
                </a:solidFill>
                <a:latin typeface="Poppins"/>
                <a:ea typeface="Poppins"/>
                <a:cs typeface="Poppins"/>
                <a:sym typeface="Poppins"/>
              </a:rPr>
              <a:t>Date:</a:t>
            </a:r>
            <a:r>
              <a:rPr b="1" i="0" lang="en" sz="1600" cap="none" strike="noStrike">
                <a:solidFill>
                  <a:srgbClr val="000000"/>
                </a:solidFill>
                <a:latin typeface="Poppins"/>
                <a:ea typeface="Poppins"/>
                <a:cs typeface="Poppins"/>
                <a:sym typeface="Poppins"/>
              </a:rPr>
              <a:t> </a:t>
            </a:r>
            <a:r>
              <a:rPr b="1" lang="en" sz="1600">
                <a:latin typeface="Poppins"/>
                <a:ea typeface="Poppins"/>
                <a:cs typeface="Poppins"/>
                <a:sym typeface="Poppins"/>
              </a:rPr>
              <a:t>Thursday</a:t>
            </a:r>
            <a:r>
              <a:rPr b="1" lang="en" sz="1600">
                <a:latin typeface="Poppins"/>
                <a:ea typeface="Poppins"/>
                <a:cs typeface="Poppins"/>
                <a:sym typeface="Poppins"/>
              </a:rPr>
              <a:t> 18th</a:t>
            </a:r>
            <a:r>
              <a:rPr b="1" i="0" lang="en" sz="1600" cap="none" strike="noStrike">
                <a:solidFill>
                  <a:srgbClr val="000000"/>
                </a:solidFill>
                <a:latin typeface="Poppins"/>
                <a:ea typeface="Poppins"/>
                <a:cs typeface="Poppins"/>
                <a:sym typeface="Poppins"/>
              </a:rPr>
              <a:t> </a:t>
            </a:r>
            <a:r>
              <a:rPr b="1" lang="en" sz="1600">
                <a:latin typeface="Poppins"/>
                <a:ea typeface="Poppins"/>
                <a:cs typeface="Poppins"/>
                <a:sym typeface="Poppins"/>
              </a:rPr>
              <a:t>September</a:t>
            </a:r>
            <a:r>
              <a:rPr b="1" i="0" lang="en" sz="1600" cap="none" strike="noStrike">
                <a:solidFill>
                  <a:srgbClr val="000000"/>
                </a:solidFill>
                <a:latin typeface="Poppins"/>
                <a:ea typeface="Poppins"/>
                <a:cs typeface="Poppins"/>
                <a:sym typeface="Poppins"/>
              </a:rPr>
              <a:t> 202</a:t>
            </a:r>
            <a:r>
              <a:rPr b="1" lang="en" sz="1600">
                <a:latin typeface="Poppins"/>
                <a:ea typeface="Poppins"/>
                <a:cs typeface="Poppins"/>
                <a:sym typeface="Poppins"/>
              </a:rPr>
              <a:t>5</a:t>
            </a:r>
            <a:endParaRPr b="1" i="0" sz="1600" cap="none" strike="noStrike">
              <a:solidFill>
                <a:srgbClr val="000000"/>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800"/>
              <a:buFont typeface="Arial"/>
              <a:buNone/>
            </a:pPr>
            <a:r>
              <a:rPr b="1" i="0" lang="en" sz="1600" u="sng" cap="none" strike="noStrike">
                <a:solidFill>
                  <a:srgbClr val="000000"/>
                </a:solidFill>
                <a:latin typeface="Poppins"/>
                <a:ea typeface="Poppins"/>
                <a:cs typeface="Poppins"/>
                <a:sym typeface="Poppins"/>
              </a:rPr>
              <a:t>Title:</a:t>
            </a:r>
            <a:r>
              <a:rPr b="1" i="0" lang="en" sz="1600" cap="none" strike="noStrike">
                <a:solidFill>
                  <a:srgbClr val="000000"/>
                </a:solidFill>
                <a:latin typeface="Poppins"/>
                <a:ea typeface="Poppins"/>
                <a:cs typeface="Poppins"/>
                <a:sym typeface="Poppins"/>
              </a:rPr>
              <a:t> </a:t>
            </a:r>
            <a:r>
              <a:rPr b="1" lang="en" sz="1600">
                <a:latin typeface="Poppins"/>
                <a:ea typeface="Poppins"/>
                <a:cs typeface="Poppins"/>
                <a:sym typeface="Poppins"/>
              </a:rPr>
              <a:t>How do we know the plates are moving?</a:t>
            </a:r>
            <a:endParaRPr b="1" i="0" sz="1600"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Incredible Map of Pangea With Modern-Day Borders" id="88" name="Google Shape;88;p18"/>
          <p:cNvPicPr preferRelativeResize="0"/>
          <p:nvPr/>
        </p:nvPicPr>
        <p:blipFill rotWithShape="1">
          <a:blip r:embed="rId3">
            <a:alphaModFix/>
          </a:blip>
          <a:srcRect b="0" l="0" r="0" t="0"/>
          <a:stretch/>
        </p:blipFill>
        <p:spPr>
          <a:xfrm>
            <a:off x="106800" y="851925"/>
            <a:ext cx="4156476" cy="4291574"/>
          </a:xfrm>
          <a:prstGeom prst="rect">
            <a:avLst/>
          </a:prstGeom>
          <a:noFill/>
          <a:ln>
            <a:noFill/>
          </a:ln>
        </p:spPr>
      </p:pic>
      <p:pic>
        <p:nvPicPr>
          <p:cNvPr descr="GIF continental drift maps - animated GIF on GIFER" id="89" name="Google Shape;89;p18"/>
          <p:cNvPicPr preferRelativeResize="0"/>
          <p:nvPr/>
        </p:nvPicPr>
        <p:blipFill rotWithShape="1">
          <a:blip r:embed="rId4">
            <a:alphaModFix/>
          </a:blip>
          <a:srcRect b="0" l="0" r="0" t="0"/>
          <a:stretch/>
        </p:blipFill>
        <p:spPr>
          <a:xfrm>
            <a:off x="4320974" y="2383600"/>
            <a:ext cx="4722000" cy="2606954"/>
          </a:xfrm>
          <a:prstGeom prst="rect">
            <a:avLst/>
          </a:prstGeom>
          <a:noFill/>
          <a:ln>
            <a:noFill/>
          </a:ln>
        </p:spPr>
      </p:pic>
      <p:sp>
        <p:nvSpPr>
          <p:cNvPr id="90" name="Google Shape;90;p18"/>
          <p:cNvSpPr txBox="1"/>
          <p:nvPr/>
        </p:nvSpPr>
        <p:spPr>
          <a:xfrm>
            <a:off x="4320975" y="756724"/>
            <a:ext cx="45501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b="1" i="0" lang="en" sz="2000" u="none" cap="none" strike="noStrike">
                <a:solidFill>
                  <a:srgbClr val="000000"/>
                </a:solidFill>
                <a:latin typeface="Delius"/>
                <a:ea typeface="Delius"/>
                <a:cs typeface="Delius"/>
                <a:sym typeface="Delius"/>
              </a:rPr>
              <a:t>Pangaea Supercontinent</a:t>
            </a:r>
            <a:endParaRPr b="0" i="0" sz="700" u="none" cap="none" strike="noStrike">
              <a:solidFill>
                <a:srgbClr val="000000"/>
              </a:solidFill>
              <a:latin typeface="Delius"/>
              <a:ea typeface="Delius"/>
              <a:cs typeface="Delius"/>
              <a:sym typeface="Delius"/>
            </a:endParaRPr>
          </a:p>
        </p:txBody>
      </p:sp>
      <p:sp>
        <p:nvSpPr>
          <p:cNvPr id="91" name="Google Shape;91;p18"/>
          <p:cNvSpPr txBox="1"/>
          <p:nvPr/>
        </p:nvSpPr>
        <p:spPr>
          <a:xfrm>
            <a:off x="4320975" y="1071862"/>
            <a:ext cx="4722000" cy="11775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lang="en" sz="1800">
                <a:latin typeface="Baumans"/>
                <a:ea typeface="Baumans"/>
                <a:cs typeface="Baumans"/>
                <a:sym typeface="Baumans"/>
              </a:rPr>
              <a:t>Around 300 million years ago, all the land on Earth was joined together in one supercontinent called Pangaea. But what happened next?</a:t>
            </a:r>
            <a:endParaRPr i="0" sz="1800" u="none" cap="none" strike="noStrike">
              <a:solidFill>
                <a:srgbClr val="000000"/>
              </a:solidFill>
              <a:latin typeface="Baumans"/>
              <a:ea typeface="Baumans"/>
              <a:cs typeface="Baumans"/>
              <a:sym typeface="Baumans"/>
            </a:endParaRPr>
          </a:p>
        </p:txBody>
      </p:sp>
      <p:sp>
        <p:nvSpPr>
          <p:cNvPr id="92" name="Google Shape;92;p18"/>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nvSpPr>
        <p:spPr>
          <a:xfrm>
            <a:off x="138743" y="632870"/>
            <a:ext cx="8866500" cy="623400"/>
          </a:xfrm>
          <a:prstGeom prst="rect">
            <a:avLst/>
          </a:prstGeom>
          <a:solidFill>
            <a:srgbClr val="FFD966"/>
          </a:solid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800"/>
              <a:buFont typeface="Arial"/>
              <a:buNone/>
            </a:pPr>
            <a:r>
              <a:rPr lang="en" sz="1800">
                <a:latin typeface="Poppins"/>
                <a:ea typeface="Poppins"/>
                <a:cs typeface="Poppins"/>
                <a:sym typeface="Poppins"/>
              </a:rPr>
              <a:t>W</a:t>
            </a:r>
            <a:r>
              <a:rPr i="0" lang="en" sz="1800" u="none" cap="none" strike="noStrike">
                <a:solidFill>
                  <a:srgbClr val="000000"/>
                </a:solidFill>
                <a:latin typeface="Poppins"/>
                <a:ea typeface="Poppins"/>
                <a:cs typeface="Poppins"/>
                <a:sym typeface="Poppins"/>
              </a:rPr>
              <a:t>hich continents do you think look like they could fit together like jigsaw pieces</a:t>
            </a:r>
            <a:endParaRPr i="0" sz="1800" u="none" cap="none" strike="noStrike">
              <a:solidFill>
                <a:srgbClr val="000000"/>
              </a:solidFill>
              <a:latin typeface="Poppins"/>
              <a:ea typeface="Poppins"/>
              <a:cs typeface="Poppins"/>
              <a:sym typeface="Poppins"/>
            </a:endParaRPr>
          </a:p>
        </p:txBody>
      </p:sp>
      <p:pic>
        <p:nvPicPr>
          <p:cNvPr descr="Continents Of The World" id="98" name="Google Shape;98;p19"/>
          <p:cNvPicPr preferRelativeResize="0"/>
          <p:nvPr/>
        </p:nvPicPr>
        <p:blipFill rotWithShape="1">
          <a:blip r:embed="rId3">
            <a:alphaModFix/>
          </a:blip>
          <a:srcRect b="0" l="0" r="0" t="0"/>
          <a:stretch/>
        </p:blipFill>
        <p:spPr>
          <a:xfrm>
            <a:off x="975737" y="1329750"/>
            <a:ext cx="7192526" cy="3625300"/>
          </a:xfrm>
          <a:prstGeom prst="rect">
            <a:avLst/>
          </a:prstGeom>
          <a:noFill/>
          <a:ln>
            <a:noFill/>
          </a:ln>
        </p:spPr>
      </p:pic>
      <p:sp>
        <p:nvSpPr>
          <p:cNvPr id="99" name="Google Shape;99;p19"/>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nvSpPr>
        <p:spPr>
          <a:xfrm>
            <a:off x="125348" y="623000"/>
            <a:ext cx="86043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i="0" lang="en" sz="2000" u="none" cap="none" strike="noStrike">
                <a:solidFill>
                  <a:srgbClr val="000000"/>
                </a:solidFill>
                <a:latin typeface="Fugaz One"/>
                <a:ea typeface="Fugaz One"/>
                <a:cs typeface="Fugaz One"/>
                <a:sym typeface="Fugaz One"/>
              </a:rPr>
              <a:t>ow do we know the continents have moved?</a:t>
            </a:r>
            <a:endParaRPr i="0" sz="700" u="none" cap="none" strike="noStrike">
              <a:solidFill>
                <a:srgbClr val="000000"/>
              </a:solidFill>
              <a:latin typeface="Fugaz One"/>
              <a:ea typeface="Fugaz One"/>
              <a:cs typeface="Fugaz One"/>
              <a:sym typeface="Fugaz One"/>
            </a:endParaRPr>
          </a:p>
        </p:txBody>
      </p:sp>
      <p:pic>
        <p:nvPicPr>
          <p:cNvPr descr="Alfred Wegener | Biography, Theory, &amp; Facts | Britannica" id="105" name="Google Shape;105;p20"/>
          <p:cNvPicPr preferRelativeResize="0"/>
          <p:nvPr/>
        </p:nvPicPr>
        <p:blipFill rotWithShape="1">
          <a:blip r:embed="rId3">
            <a:alphaModFix/>
          </a:blip>
          <a:srcRect b="0" l="0" r="0" t="0"/>
          <a:stretch/>
        </p:blipFill>
        <p:spPr>
          <a:xfrm>
            <a:off x="125350" y="1000100"/>
            <a:ext cx="2770014" cy="3332352"/>
          </a:xfrm>
          <a:prstGeom prst="rect">
            <a:avLst/>
          </a:prstGeom>
          <a:noFill/>
          <a:ln>
            <a:noFill/>
          </a:ln>
        </p:spPr>
      </p:pic>
      <p:sp>
        <p:nvSpPr>
          <p:cNvPr id="106" name="Google Shape;106;p20"/>
          <p:cNvSpPr txBox="1"/>
          <p:nvPr/>
        </p:nvSpPr>
        <p:spPr>
          <a:xfrm>
            <a:off x="125275" y="4332450"/>
            <a:ext cx="2769900" cy="3618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rgbClr val="000000"/>
                </a:solidFill>
                <a:latin typeface="Delius"/>
                <a:ea typeface="Delius"/>
                <a:cs typeface="Delius"/>
                <a:sym typeface="Delius"/>
              </a:rPr>
              <a:t>Alfred Wegener</a:t>
            </a:r>
            <a:endParaRPr b="0" i="0" sz="900" u="none" cap="none" strike="noStrike">
              <a:solidFill>
                <a:srgbClr val="000000"/>
              </a:solidFill>
              <a:latin typeface="Delius"/>
              <a:ea typeface="Delius"/>
              <a:cs typeface="Delius"/>
              <a:sym typeface="Delius"/>
            </a:endParaRPr>
          </a:p>
        </p:txBody>
      </p:sp>
      <p:sp>
        <p:nvSpPr>
          <p:cNvPr id="107" name="Google Shape;107;p20"/>
          <p:cNvSpPr txBox="1"/>
          <p:nvPr/>
        </p:nvSpPr>
        <p:spPr>
          <a:xfrm>
            <a:off x="2895375" y="995700"/>
            <a:ext cx="6063900" cy="143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800">
                <a:solidFill>
                  <a:schemeClr val="dk1"/>
                </a:solidFill>
                <a:latin typeface="Baumans"/>
                <a:ea typeface="Baumans"/>
                <a:cs typeface="Baumans"/>
                <a:sym typeface="Baumans"/>
              </a:rPr>
              <a:t>Alfred Wegener</a:t>
            </a:r>
            <a:r>
              <a:rPr lang="en" sz="1800">
                <a:solidFill>
                  <a:schemeClr val="dk1"/>
                </a:solidFill>
                <a:latin typeface="Baumans"/>
                <a:ea typeface="Baumans"/>
                <a:cs typeface="Baumans"/>
                <a:sym typeface="Baumans"/>
              </a:rPr>
              <a:t> was a German scientist in the early 1900s. He first suggested the idea of </a:t>
            </a:r>
            <a:r>
              <a:rPr b="1" lang="en" sz="1800">
                <a:solidFill>
                  <a:schemeClr val="dk1"/>
                </a:solidFill>
                <a:latin typeface="Baumans"/>
                <a:ea typeface="Baumans"/>
                <a:cs typeface="Baumans"/>
                <a:sym typeface="Baumans"/>
              </a:rPr>
              <a:t>continental drift </a:t>
            </a:r>
            <a:r>
              <a:rPr lang="en" sz="1800">
                <a:solidFill>
                  <a:schemeClr val="dk1"/>
                </a:solidFill>
                <a:latin typeface="Baumans"/>
                <a:ea typeface="Baumans"/>
                <a:cs typeface="Baumans"/>
                <a:sym typeface="Baumans"/>
              </a:rPr>
              <a:t>— the process where </a:t>
            </a:r>
            <a:r>
              <a:rPr b="1" lang="en" sz="1800">
                <a:solidFill>
                  <a:schemeClr val="dk1"/>
                </a:solidFill>
                <a:latin typeface="Baumans"/>
                <a:ea typeface="Baumans"/>
                <a:cs typeface="Baumans"/>
                <a:sym typeface="Baumans"/>
              </a:rPr>
              <a:t>tectonic plates</a:t>
            </a:r>
            <a:r>
              <a:rPr lang="en" sz="1800">
                <a:solidFill>
                  <a:schemeClr val="dk1"/>
                </a:solidFill>
                <a:latin typeface="Baumans"/>
                <a:ea typeface="Baumans"/>
                <a:cs typeface="Baumans"/>
                <a:sym typeface="Baumans"/>
              </a:rPr>
              <a:t> move, causing the </a:t>
            </a:r>
            <a:r>
              <a:rPr b="1" lang="en" sz="1800">
                <a:solidFill>
                  <a:schemeClr val="dk1"/>
                </a:solidFill>
                <a:latin typeface="Baumans"/>
                <a:ea typeface="Baumans"/>
                <a:cs typeface="Baumans"/>
                <a:sym typeface="Baumans"/>
              </a:rPr>
              <a:t>continents</a:t>
            </a:r>
            <a:r>
              <a:rPr lang="en" sz="1800">
                <a:solidFill>
                  <a:schemeClr val="dk1"/>
                </a:solidFill>
                <a:latin typeface="Baumans"/>
                <a:ea typeface="Baumans"/>
                <a:cs typeface="Baumans"/>
                <a:sym typeface="Baumans"/>
              </a:rPr>
              <a:t> to spread apart.</a:t>
            </a:r>
            <a:endParaRPr i="0" sz="1800" u="none" cap="none" strike="noStrike">
              <a:solidFill>
                <a:srgbClr val="000000"/>
              </a:solidFill>
              <a:latin typeface="Baumans"/>
              <a:ea typeface="Baumans"/>
              <a:cs typeface="Baumans"/>
              <a:sym typeface="Baumans"/>
            </a:endParaRPr>
          </a:p>
        </p:txBody>
      </p:sp>
      <p:sp>
        <p:nvSpPr>
          <p:cNvPr id="108" name="Google Shape;108;p20"/>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09" name="Google Shape;109;p20"/>
          <p:cNvSpPr txBox="1"/>
          <p:nvPr/>
        </p:nvSpPr>
        <p:spPr>
          <a:xfrm>
            <a:off x="2895375" y="2571750"/>
            <a:ext cx="6141900" cy="173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1"/>
                </a:solidFill>
                <a:latin typeface="Baumans"/>
                <a:ea typeface="Baumans"/>
                <a:cs typeface="Baumans"/>
                <a:sym typeface="Baumans"/>
              </a:rPr>
              <a:t>Wegener noticed that the continents looked like they could fit together, like pieces of a puzzle.</a:t>
            </a:r>
            <a:endParaRPr sz="1800">
              <a:solidFill>
                <a:schemeClr val="dk1"/>
              </a:solidFill>
              <a:latin typeface="Baumans"/>
              <a:ea typeface="Baumans"/>
              <a:cs typeface="Baumans"/>
              <a:sym typeface="Baumans"/>
            </a:endParaRPr>
          </a:p>
          <a:p>
            <a:pPr indent="0" lvl="0" marL="0" rtl="0" algn="l">
              <a:lnSpc>
                <a:spcPct val="115000"/>
              </a:lnSpc>
              <a:spcBef>
                <a:spcPts val="0"/>
              </a:spcBef>
              <a:spcAft>
                <a:spcPts val="0"/>
              </a:spcAft>
              <a:buNone/>
            </a:pPr>
            <a:r>
              <a:t/>
            </a:r>
            <a:endParaRPr sz="1800">
              <a:solidFill>
                <a:schemeClr val="dk1"/>
              </a:solidFill>
              <a:latin typeface="Baumans"/>
              <a:ea typeface="Baumans"/>
              <a:cs typeface="Baumans"/>
              <a:sym typeface="Baumans"/>
            </a:endParaRPr>
          </a:p>
          <a:p>
            <a:pPr indent="0" lvl="0" marL="0" rtl="0" algn="l">
              <a:lnSpc>
                <a:spcPct val="115000"/>
              </a:lnSpc>
              <a:spcBef>
                <a:spcPts val="0"/>
              </a:spcBef>
              <a:spcAft>
                <a:spcPts val="0"/>
              </a:spcAft>
              <a:buNone/>
            </a:pPr>
            <a:r>
              <a:rPr lang="en" sz="1800">
                <a:solidFill>
                  <a:schemeClr val="dk1"/>
                </a:solidFill>
                <a:latin typeface="Baumans"/>
                <a:ea typeface="Baumans"/>
                <a:cs typeface="Baumans"/>
                <a:sym typeface="Baumans"/>
              </a:rPr>
              <a:t>At first, many scientists did not believe him, but later evidence showed he was right.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nvSpPr>
        <p:spPr>
          <a:xfrm>
            <a:off x="4574975" y="1316700"/>
            <a:ext cx="4401900" cy="10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00000"/>
                </a:solidFill>
                <a:highlight>
                  <a:srgbClr val="00FF00"/>
                </a:highlight>
                <a:latin typeface="Delius"/>
                <a:ea typeface="Delius"/>
                <a:cs typeface="Delius"/>
                <a:sym typeface="Delius"/>
              </a:rPr>
              <a:t>Activity:</a:t>
            </a:r>
            <a:r>
              <a:rPr lang="en" sz="1600">
                <a:solidFill>
                  <a:srgbClr val="000000"/>
                </a:solidFill>
                <a:latin typeface="Delius"/>
                <a:ea typeface="Delius"/>
                <a:cs typeface="Delius"/>
                <a:sym typeface="Delius"/>
              </a:rPr>
              <a:t> Complete the multiple choice questions whilst watching the video on </a:t>
            </a:r>
            <a:endParaRPr sz="1600">
              <a:latin typeface="Delius"/>
              <a:ea typeface="Delius"/>
              <a:cs typeface="Delius"/>
              <a:sym typeface="Delius"/>
            </a:endParaRPr>
          </a:p>
          <a:p>
            <a:pPr indent="0" lvl="0" marL="0" rtl="0" algn="l">
              <a:spcBef>
                <a:spcPts val="0"/>
              </a:spcBef>
              <a:spcAft>
                <a:spcPts val="0"/>
              </a:spcAft>
              <a:buNone/>
            </a:pPr>
            <a:r>
              <a:rPr b="1" lang="en" sz="1600">
                <a:latin typeface="Delius"/>
                <a:ea typeface="Delius"/>
                <a:cs typeface="Delius"/>
                <a:sym typeface="Delius"/>
              </a:rPr>
              <a:t>Why It Took Scientists So Long To Accept This Very Obvious Idea</a:t>
            </a:r>
            <a:endParaRPr b="1" sz="1600">
              <a:solidFill>
                <a:srgbClr val="000000"/>
              </a:solidFill>
              <a:latin typeface="Delius"/>
              <a:ea typeface="Delius"/>
              <a:cs typeface="Delius"/>
              <a:sym typeface="Delius"/>
            </a:endParaRPr>
          </a:p>
        </p:txBody>
      </p:sp>
      <p:pic>
        <p:nvPicPr>
          <p:cNvPr descr="But did thee feel the Earth move?&#10;We’re on PATREON! Support our show: https://www.patreon.com/itsokaytobesmart&#10;↓ More info and sources below ↓&#10;&#10;Why do Africa and South America fit together? Anyone who’s ever looked at a map can see that Earth’s continents are kind of like a jigsaw puzzle. The idea that continents are constantly moving and weren’t always in their current spots is a pretty obvious idea, right? You might be surprised to learn that geologists only accepted that idea recently in the past few decades, and it figuring out how plate tectonics and continental drift work required some pretty strange evidence.&#10;&#10;-----------&#10;LEARN MORE:&#10;Some background on Alfred Wegener: http://www.ucmp.berkeley.edu/geology/techist.html &#10;&#10;Lystrosaurus (ancient mammal relative): https://en.wikipedia.org/wiki/Lystrosaurus &#10;&#10;Glossopteris (ancient fern): https://en.wikipedia.org/wiki/Glossopteris &#10;&#10;The splitting of Africa: http://theconversation.com/splitting-africa-what-happens-when-a-continent-breaks-apart-6248 &#10;&#10;-----------&#10;FOLLOW US:&#10;&#10;Merch: https://store.dftba.com/collections/its-okay-to-be-smart &#10;Facebook: http://www.facebook.com/itsokaytobesmart&#10;Twitter: @okaytobesmart @DrJoeHanson&#10;Tumblr: http://www.itsokaytobesmart.com &#10;Instagram: @DrJoeHanson&#10;Snapchat: YoDrJoe&#10;-----------&#10;&#10;It’s Okay To Be Smart is hosted by Joe Hanson, Ph.D.&#10;Director: Joe Nicolosi&#10;Writer: Shaena Montanari&#10;Producer/editor/animator: Andrew Orsak&#10;Producer: Stephanie Noone and Amanda Fox&#10;&#10;Produced by PBS Digital Studios&#10;Music via APM&#10;Stock images from Shutterstock http://www.shutterstock.com" id="115" name="Google Shape;115;p21" title="Why It Took Scientists So Long To Accept This Very Obvious Idea">
            <a:hlinkClick r:id="rId3"/>
          </p:cNvPr>
          <p:cNvPicPr preferRelativeResize="0"/>
          <p:nvPr/>
        </p:nvPicPr>
        <p:blipFill>
          <a:blip r:embed="rId4">
            <a:alphaModFix/>
          </a:blip>
          <a:stretch>
            <a:fillRect/>
          </a:stretch>
        </p:blipFill>
        <p:spPr>
          <a:xfrm>
            <a:off x="129425" y="1316700"/>
            <a:ext cx="4401900" cy="2476076"/>
          </a:xfrm>
          <a:prstGeom prst="rect">
            <a:avLst/>
          </a:prstGeom>
          <a:noFill/>
          <a:ln>
            <a:noFill/>
          </a:ln>
        </p:spPr>
      </p:pic>
      <p:sp>
        <p:nvSpPr>
          <p:cNvPr id="116" name="Google Shape;116;p21"/>
          <p:cNvSpPr txBox="1"/>
          <p:nvPr/>
        </p:nvSpPr>
        <p:spPr>
          <a:xfrm>
            <a:off x="125348" y="623000"/>
            <a:ext cx="86043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i="0" lang="en" sz="2000" u="none" cap="none" strike="noStrike">
                <a:solidFill>
                  <a:srgbClr val="000000"/>
                </a:solidFill>
                <a:latin typeface="Fugaz One"/>
                <a:ea typeface="Fugaz One"/>
                <a:cs typeface="Fugaz One"/>
                <a:sym typeface="Fugaz One"/>
              </a:rPr>
              <a:t>ow do we know the continents have moved?</a:t>
            </a:r>
            <a:endParaRPr i="0" sz="700" u="none" cap="none" strike="noStrike">
              <a:solidFill>
                <a:srgbClr val="000000"/>
              </a:solidFill>
              <a:latin typeface="Fugaz One"/>
              <a:ea typeface="Fugaz One"/>
              <a:cs typeface="Fugaz One"/>
              <a:sym typeface="Fugaz One"/>
            </a:endParaRPr>
          </a:p>
        </p:txBody>
      </p:sp>
      <p:sp>
        <p:nvSpPr>
          <p:cNvPr id="117" name="Google Shape;117;p21"/>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pic>
        <p:nvPicPr>
          <p:cNvPr id="118" name="Google Shape;118;p21" title="Screenshot 2025-09-02 at 2.38.54 PM.png"/>
          <p:cNvPicPr preferRelativeResize="0"/>
          <p:nvPr/>
        </p:nvPicPr>
        <p:blipFill>
          <a:blip r:embed="rId5">
            <a:alphaModFix/>
          </a:blip>
          <a:stretch>
            <a:fillRect/>
          </a:stretch>
        </p:blipFill>
        <p:spPr>
          <a:xfrm>
            <a:off x="5050188" y="2423300"/>
            <a:ext cx="3427054" cy="2615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nvSpPr>
        <p:spPr>
          <a:xfrm>
            <a:off x="5541300" y="1316700"/>
            <a:ext cx="3495900" cy="46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24" name="Google Shape;124;p22"/>
          <p:cNvSpPr txBox="1"/>
          <p:nvPr/>
        </p:nvSpPr>
        <p:spPr>
          <a:xfrm>
            <a:off x="125350" y="1063700"/>
            <a:ext cx="5407200" cy="4044900"/>
          </a:xfrm>
          <a:prstGeom prst="rect">
            <a:avLst/>
          </a:prstGeom>
          <a:noFill/>
          <a:ln>
            <a:noFill/>
          </a:ln>
        </p:spPr>
        <p:txBody>
          <a:bodyPr anchorCtr="0" anchor="t" bIns="91425" lIns="91425" spcFirstLastPara="1" rIns="91425" wrap="square" tIns="91425">
            <a:spAutoFit/>
          </a:bodyPr>
          <a:lstStyle/>
          <a:p>
            <a:pPr indent="-330200" lvl="0" marL="762000" rtl="0" algn="l">
              <a:lnSpc>
                <a:spcPct val="133400"/>
              </a:lnSpc>
              <a:spcBef>
                <a:spcPts val="90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a. The Earth's crust moves around</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c. Alfred Wegener</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d. Fossils found in Africa and Antarctica</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b. They could not see how continents might move</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c. Thermal convection in the mantle can move the crust</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a. A magnetic pattern along a seafloor ridge</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d. The crust is spreading apart</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c. A region with many volcanoes and earthquakes</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b. 2.5 centimeters</a:t>
            </a:r>
            <a:endParaRPr b="1" sz="1600">
              <a:solidFill>
                <a:srgbClr val="38761D"/>
              </a:solidFill>
              <a:latin typeface="Delius"/>
              <a:ea typeface="Delius"/>
              <a:cs typeface="Delius"/>
              <a:sym typeface="Delius"/>
            </a:endParaRPr>
          </a:p>
          <a:p>
            <a:pPr indent="-330200" lvl="0" marL="762000" rtl="0" algn="l">
              <a:lnSpc>
                <a:spcPct val="133400"/>
              </a:lnSpc>
              <a:spcBef>
                <a:spcPts val="0"/>
              </a:spcBef>
              <a:spcAft>
                <a:spcPts val="0"/>
              </a:spcAft>
              <a:buClr>
                <a:srgbClr val="38761D"/>
              </a:buClr>
              <a:buSzPts val="1600"/>
              <a:buFont typeface="Delius"/>
              <a:buAutoNum type="arabicPeriod"/>
            </a:pPr>
            <a:r>
              <a:rPr b="1" lang="en" sz="1600">
                <a:solidFill>
                  <a:srgbClr val="38761D"/>
                </a:solidFill>
                <a:latin typeface="Delius"/>
                <a:ea typeface="Delius"/>
                <a:cs typeface="Delius"/>
                <a:sym typeface="Delius"/>
              </a:rPr>
              <a:t>b. They often take time to be accepted</a:t>
            </a:r>
            <a:endParaRPr b="1" sz="1600">
              <a:solidFill>
                <a:srgbClr val="38761D"/>
              </a:solidFill>
              <a:latin typeface="Delius"/>
              <a:ea typeface="Delius"/>
              <a:cs typeface="Delius"/>
              <a:sym typeface="Delius"/>
            </a:endParaRPr>
          </a:p>
        </p:txBody>
      </p:sp>
      <p:sp>
        <p:nvSpPr>
          <p:cNvPr id="125" name="Google Shape;125;p22"/>
          <p:cNvSpPr txBox="1"/>
          <p:nvPr/>
        </p:nvSpPr>
        <p:spPr>
          <a:xfrm>
            <a:off x="125348" y="623000"/>
            <a:ext cx="86043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i="0" lang="en" sz="2000" u="none" cap="none" strike="noStrike">
                <a:solidFill>
                  <a:srgbClr val="000000"/>
                </a:solidFill>
                <a:latin typeface="Fugaz One"/>
                <a:ea typeface="Fugaz One"/>
                <a:cs typeface="Fugaz One"/>
                <a:sym typeface="Fugaz One"/>
              </a:rPr>
              <a:t>ow do we know the continents have moved?</a:t>
            </a:r>
            <a:endParaRPr i="0" sz="700" u="none" cap="none" strike="noStrike">
              <a:solidFill>
                <a:srgbClr val="000000"/>
              </a:solidFill>
              <a:latin typeface="Fugaz One"/>
              <a:ea typeface="Fugaz One"/>
              <a:cs typeface="Fugaz One"/>
              <a:sym typeface="Fugaz One"/>
            </a:endParaRPr>
          </a:p>
        </p:txBody>
      </p:sp>
      <p:sp>
        <p:nvSpPr>
          <p:cNvPr id="126" name="Google Shape;126;p22"/>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pic>
        <p:nvPicPr>
          <p:cNvPr id="127" name="Google Shape;127;p22" title="Screenshot 2025-09-02 at 2.38.54 PM.png"/>
          <p:cNvPicPr preferRelativeResize="0"/>
          <p:nvPr/>
        </p:nvPicPr>
        <p:blipFill>
          <a:blip r:embed="rId3">
            <a:alphaModFix/>
          </a:blip>
          <a:stretch>
            <a:fillRect/>
          </a:stretch>
        </p:blipFill>
        <p:spPr>
          <a:xfrm>
            <a:off x="5561225" y="1897700"/>
            <a:ext cx="3427054" cy="26151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nvSpPr>
        <p:spPr>
          <a:xfrm>
            <a:off x="125348" y="623000"/>
            <a:ext cx="86043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i="0" lang="en" sz="2000" u="none" cap="none" strike="noStrike">
                <a:solidFill>
                  <a:srgbClr val="000000"/>
                </a:solidFill>
                <a:latin typeface="Fugaz One"/>
                <a:ea typeface="Fugaz One"/>
                <a:cs typeface="Fugaz One"/>
                <a:sym typeface="Fugaz One"/>
              </a:rPr>
              <a:t>ow do we know the continents have moved?</a:t>
            </a:r>
            <a:endParaRPr i="0" sz="700" u="none" cap="none" strike="noStrike">
              <a:solidFill>
                <a:srgbClr val="000000"/>
              </a:solidFill>
              <a:latin typeface="Fugaz One"/>
              <a:ea typeface="Fugaz One"/>
              <a:cs typeface="Fugaz One"/>
              <a:sym typeface="Fugaz One"/>
            </a:endParaRPr>
          </a:p>
        </p:txBody>
      </p:sp>
      <p:pic>
        <p:nvPicPr>
          <p:cNvPr descr="Alfred Wegener | Biography, Theory, &amp; Facts | Britannica" id="133" name="Google Shape;133;p23"/>
          <p:cNvPicPr preferRelativeResize="0"/>
          <p:nvPr/>
        </p:nvPicPr>
        <p:blipFill rotWithShape="1">
          <a:blip r:embed="rId3">
            <a:alphaModFix/>
          </a:blip>
          <a:srcRect b="0" l="0" r="0" t="0"/>
          <a:stretch/>
        </p:blipFill>
        <p:spPr>
          <a:xfrm>
            <a:off x="125350" y="1000100"/>
            <a:ext cx="1933049" cy="2325476"/>
          </a:xfrm>
          <a:prstGeom prst="rect">
            <a:avLst/>
          </a:prstGeom>
          <a:noFill/>
          <a:ln>
            <a:noFill/>
          </a:ln>
        </p:spPr>
      </p:pic>
      <p:sp>
        <p:nvSpPr>
          <p:cNvPr id="134" name="Google Shape;134;p23"/>
          <p:cNvSpPr txBox="1"/>
          <p:nvPr/>
        </p:nvSpPr>
        <p:spPr>
          <a:xfrm>
            <a:off x="125350" y="3325575"/>
            <a:ext cx="1933200" cy="3618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2100"/>
              <a:buFont typeface="Arial"/>
              <a:buNone/>
            </a:pPr>
            <a:r>
              <a:rPr b="1" i="0" lang="en" sz="1900" u="none" cap="none" strike="noStrike">
                <a:solidFill>
                  <a:srgbClr val="000000"/>
                </a:solidFill>
                <a:latin typeface="Delius"/>
                <a:ea typeface="Delius"/>
                <a:cs typeface="Delius"/>
                <a:sym typeface="Delius"/>
              </a:rPr>
              <a:t>Alfred Wegener</a:t>
            </a:r>
            <a:endParaRPr b="0" i="0" sz="900" u="none" cap="none" strike="noStrike">
              <a:solidFill>
                <a:srgbClr val="000000"/>
              </a:solidFill>
              <a:latin typeface="Delius"/>
              <a:ea typeface="Delius"/>
              <a:cs typeface="Delius"/>
              <a:sym typeface="Delius"/>
            </a:endParaRPr>
          </a:p>
        </p:txBody>
      </p:sp>
      <p:sp>
        <p:nvSpPr>
          <p:cNvPr id="135" name="Google Shape;135;p23"/>
          <p:cNvSpPr txBox="1"/>
          <p:nvPr/>
        </p:nvSpPr>
        <p:spPr>
          <a:xfrm>
            <a:off x="2202075" y="1000100"/>
            <a:ext cx="67236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B5394"/>
              </a:buClr>
              <a:buSzPts val="1100"/>
              <a:buFont typeface="Arial"/>
              <a:buNone/>
            </a:pPr>
            <a:r>
              <a:rPr i="0" lang="en" sz="1800" u="none" cap="none" strike="noStrike">
                <a:solidFill>
                  <a:schemeClr val="dk1"/>
                </a:solidFill>
                <a:latin typeface="Baumans"/>
                <a:ea typeface="Baumans"/>
                <a:cs typeface="Baumans"/>
                <a:sym typeface="Baumans"/>
              </a:rPr>
              <a:t>Wegener had </a:t>
            </a:r>
            <a:r>
              <a:rPr b="1" i="0" lang="en" sz="1800" u="none" cap="none" strike="noStrike">
                <a:solidFill>
                  <a:schemeClr val="dk1"/>
                </a:solidFill>
                <a:latin typeface="Baumans"/>
                <a:ea typeface="Baumans"/>
                <a:cs typeface="Baumans"/>
                <a:sym typeface="Baumans"/>
              </a:rPr>
              <a:t>four main points</a:t>
            </a:r>
            <a:r>
              <a:rPr i="0" lang="en" sz="1800" u="none" cap="none" strike="noStrike">
                <a:solidFill>
                  <a:schemeClr val="dk1"/>
                </a:solidFill>
                <a:latin typeface="Baumans"/>
                <a:ea typeface="Baumans"/>
                <a:cs typeface="Baumans"/>
                <a:sym typeface="Baumans"/>
              </a:rPr>
              <a:t> to support his theory of continental drift:</a:t>
            </a:r>
            <a:endParaRPr i="0" sz="1800" u="none" cap="none" strike="noStrike">
              <a:solidFill>
                <a:srgbClr val="000000"/>
              </a:solidFill>
              <a:latin typeface="Baumans"/>
              <a:ea typeface="Baumans"/>
              <a:cs typeface="Baumans"/>
              <a:sym typeface="Baumans"/>
            </a:endParaRPr>
          </a:p>
        </p:txBody>
      </p:sp>
      <p:sp>
        <p:nvSpPr>
          <p:cNvPr id="136" name="Google Shape;136;p23"/>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37" name="Google Shape;137;p23"/>
          <p:cNvSpPr txBox="1"/>
          <p:nvPr/>
        </p:nvSpPr>
        <p:spPr>
          <a:xfrm>
            <a:off x="2202075" y="1685900"/>
            <a:ext cx="6835200" cy="3329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AutoNum type="arabicPeriod"/>
            </a:pPr>
            <a:r>
              <a:rPr b="1" lang="en" sz="1800">
                <a:solidFill>
                  <a:schemeClr val="dk1"/>
                </a:solidFill>
                <a:latin typeface="Baumans"/>
                <a:ea typeface="Baumans"/>
                <a:cs typeface="Baumans"/>
                <a:sym typeface="Baumans"/>
              </a:rPr>
              <a:t>Fit of continents:</a:t>
            </a:r>
            <a:r>
              <a:rPr lang="en" sz="1800">
                <a:solidFill>
                  <a:schemeClr val="dk1"/>
                </a:solidFill>
                <a:latin typeface="Baumans"/>
                <a:ea typeface="Baumans"/>
                <a:cs typeface="Baumans"/>
                <a:sym typeface="Baumans"/>
              </a:rPr>
              <a:t> The </a:t>
            </a:r>
            <a:r>
              <a:rPr b="1" lang="en" sz="1800">
                <a:solidFill>
                  <a:schemeClr val="dk1"/>
                </a:solidFill>
                <a:latin typeface="Baumans"/>
                <a:ea typeface="Baumans"/>
                <a:cs typeface="Baumans"/>
                <a:sym typeface="Baumans"/>
              </a:rPr>
              <a:t>coastlines</a:t>
            </a:r>
            <a:r>
              <a:rPr lang="en" sz="1800">
                <a:solidFill>
                  <a:schemeClr val="dk1"/>
                </a:solidFill>
                <a:latin typeface="Baumans"/>
                <a:ea typeface="Baumans"/>
                <a:cs typeface="Baumans"/>
                <a:sym typeface="Baumans"/>
              </a:rPr>
              <a:t> of some </a:t>
            </a:r>
            <a:r>
              <a:rPr b="1" lang="en" sz="1800">
                <a:solidFill>
                  <a:schemeClr val="dk1"/>
                </a:solidFill>
                <a:latin typeface="Baumans"/>
                <a:ea typeface="Baumans"/>
                <a:cs typeface="Baumans"/>
                <a:sym typeface="Baumans"/>
              </a:rPr>
              <a:t>continents</a:t>
            </a:r>
            <a:r>
              <a:rPr lang="en" sz="1800">
                <a:solidFill>
                  <a:schemeClr val="dk1"/>
                </a:solidFill>
                <a:latin typeface="Baumans"/>
                <a:ea typeface="Baumans"/>
                <a:cs typeface="Baumans"/>
                <a:sym typeface="Baumans"/>
              </a:rPr>
              <a:t> look like they fit together, like pieces of a puzzle, in one big land called </a:t>
            </a:r>
            <a:r>
              <a:rPr b="1" lang="en" sz="1800">
                <a:solidFill>
                  <a:schemeClr val="dk1"/>
                </a:solidFill>
                <a:latin typeface="Baumans"/>
                <a:ea typeface="Baumans"/>
                <a:cs typeface="Baumans"/>
                <a:sym typeface="Baumans"/>
              </a:rPr>
              <a:t>Pangaea</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indent="-342900" lvl="0" marL="457200" rtl="0" algn="l">
              <a:lnSpc>
                <a:spcPct val="115000"/>
              </a:lnSpc>
              <a:spcBef>
                <a:spcPts val="0"/>
              </a:spcBef>
              <a:spcAft>
                <a:spcPts val="0"/>
              </a:spcAft>
              <a:buClr>
                <a:schemeClr val="dk1"/>
              </a:buClr>
              <a:buSzPts val="1800"/>
              <a:buAutoNum type="arabicPeriod"/>
            </a:pPr>
            <a:r>
              <a:rPr b="1" lang="en" sz="1800">
                <a:solidFill>
                  <a:schemeClr val="dk1"/>
                </a:solidFill>
                <a:latin typeface="Baumans"/>
                <a:ea typeface="Baumans"/>
                <a:cs typeface="Baumans"/>
                <a:sym typeface="Baumans"/>
              </a:rPr>
              <a:t>Fossil evidence:</a:t>
            </a:r>
            <a:r>
              <a:rPr lang="en" sz="1800">
                <a:solidFill>
                  <a:schemeClr val="dk1"/>
                </a:solidFill>
                <a:latin typeface="Baumans"/>
                <a:ea typeface="Baumans"/>
                <a:cs typeface="Baumans"/>
                <a:sym typeface="Baumans"/>
              </a:rPr>
              <a:t> The same </a:t>
            </a:r>
            <a:r>
              <a:rPr b="1" lang="en" sz="1800">
                <a:solidFill>
                  <a:schemeClr val="dk1"/>
                </a:solidFill>
                <a:latin typeface="Baumans"/>
                <a:ea typeface="Baumans"/>
                <a:cs typeface="Baumans"/>
                <a:sym typeface="Baumans"/>
              </a:rPr>
              <a:t>fossils</a:t>
            </a:r>
            <a:r>
              <a:rPr lang="en" sz="1800">
                <a:solidFill>
                  <a:schemeClr val="dk1"/>
                </a:solidFill>
                <a:latin typeface="Baumans"/>
                <a:ea typeface="Baumans"/>
                <a:cs typeface="Baumans"/>
                <a:sym typeface="Baumans"/>
              </a:rPr>
              <a:t> have been found on both sides of the </a:t>
            </a:r>
            <a:r>
              <a:rPr b="1" lang="en" sz="1800">
                <a:solidFill>
                  <a:schemeClr val="dk1"/>
                </a:solidFill>
                <a:latin typeface="Baumans"/>
                <a:ea typeface="Baumans"/>
                <a:cs typeface="Baumans"/>
                <a:sym typeface="Baumans"/>
              </a:rPr>
              <a:t>ocean</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indent="-342900" lvl="0" marL="457200" rtl="0" algn="l">
              <a:lnSpc>
                <a:spcPct val="115000"/>
              </a:lnSpc>
              <a:spcBef>
                <a:spcPts val="0"/>
              </a:spcBef>
              <a:spcAft>
                <a:spcPts val="0"/>
              </a:spcAft>
              <a:buClr>
                <a:schemeClr val="dk1"/>
              </a:buClr>
              <a:buSzPts val="1800"/>
              <a:buAutoNum type="arabicPeriod"/>
            </a:pPr>
            <a:r>
              <a:rPr b="1" lang="en" sz="1800">
                <a:solidFill>
                  <a:schemeClr val="dk1"/>
                </a:solidFill>
                <a:latin typeface="Baumans"/>
                <a:ea typeface="Baumans"/>
                <a:cs typeface="Baumans"/>
                <a:sym typeface="Baumans"/>
              </a:rPr>
              <a:t>Rock and mountain evidence:</a:t>
            </a:r>
            <a:r>
              <a:rPr lang="en" sz="1800">
                <a:solidFill>
                  <a:schemeClr val="dk1"/>
                </a:solidFill>
                <a:latin typeface="Baumans"/>
                <a:ea typeface="Baumans"/>
                <a:cs typeface="Baumans"/>
                <a:sym typeface="Baumans"/>
              </a:rPr>
              <a:t> The same </a:t>
            </a:r>
            <a:r>
              <a:rPr b="1" lang="en" sz="1800">
                <a:solidFill>
                  <a:schemeClr val="dk1"/>
                </a:solidFill>
                <a:latin typeface="Baumans"/>
                <a:ea typeface="Baumans"/>
                <a:cs typeface="Baumans"/>
                <a:sym typeface="Baumans"/>
              </a:rPr>
              <a:t>rocks</a:t>
            </a:r>
            <a:r>
              <a:rPr lang="en" sz="1800">
                <a:solidFill>
                  <a:schemeClr val="dk1"/>
                </a:solidFill>
                <a:latin typeface="Baumans"/>
                <a:ea typeface="Baumans"/>
                <a:cs typeface="Baumans"/>
                <a:sym typeface="Baumans"/>
              </a:rPr>
              <a:t> and </a:t>
            </a:r>
            <a:r>
              <a:rPr b="1" lang="en" sz="1800">
                <a:solidFill>
                  <a:schemeClr val="dk1"/>
                </a:solidFill>
                <a:latin typeface="Baumans"/>
                <a:ea typeface="Baumans"/>
                <a:cs typeface="Baumans"/>
                <a:sym typeface="Baumans"/>
              </a:rPr>
              <a:t>mountains</a:t>
            </a:r>
            <a:r>
              <a:rPr lang="en" sz="1800">
                <a:solidFill>
                  <a:schemeClr val="dk1"/>
                </a:solidFill>
                <a:latin typeface="Baumans"/>
                <a:ea typeface="Baumans"/>
                <a:cs typeface="Baumans"/>
                <a:sym typeface="Baumans"/>
              </a:rPr>
              <a:t> are found on both sides of the </a:t>
            </a:r>
            <a:r>
              <a:rPr b="1" lang="en" sz="1800">
                <a:solidFill>
                  <a:schemeClr val="dk1"/>
                </a:solidFill>
                <a:latin typeface="Baumans"/>
                <a:ea typeface="Baumans"/>
                <a:cs typeface="Baumans"/>
                <a:sym typeface="Baumans"/>
              </a:rPr>
              <a:t>ocean</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a:p>
            <a:pPr indent="-342900" lvl="0" marL="457200" rtl="0" algn="l">
              <a:lnSpc>
                <a:spcPct val="115000"/>
              </a:lnSpc>
              <a:spcBef>
                <a:spcPts val="0"/>
              </a:spcBef>
              <a:spcAft>
                <a:spcPts val="0"/>
              </a:spcAft>
              <a:buClr>
                <a:schemeClr val="dk1"/>
              </a:buClr>
              <a:buSzPts val="1800"/>
              <a:buAutoNum type="arabicPeriod"/>
            </a:pPr>
            <a:r>
              <a:rPr b="1" lang="en" sz="1800">
                <a:solidFill>
                  <a:schemeClr val="dk1"/>
                </a:solidFill>
                <a:latin typeface="Baumans"/>
                <a:ea typeface="Baumans"/>
                <a:cs typeface="Baumans"/>
                <a:sym typeface="Baumans"/>
              </a:rPr>
              <a:t>Climate evidence:</a:t>
            </a:r>
            <a:r>
              <a:rPr lang="en" sz="1800">
                <a:solidFill>
                  <a:schemeClr val="dk1"/>
                </a:solidFill>
                <a:latin typeface="Baumans"/>
                <a:ea typeface="Baumans"/>
                <a:cs typeface="Baumans"/>
                <a:sym typeface="Baumans"/>
              </a:rPr>
              <a:t> </a:t>
            </a:r>
            <a:r>
              <a:rPr b="1" lang="en" sz="1800">
                <a:solidFill>
                  <a:schemeClr val="dk1"/>
                </a:solidFill>
                <a:latin typeface="Baumans"/>
                <a:ea typeface="Baumans"/>
                <a:cs typeface="Baumans"/>
                <a:sym typeface="Baumans"/>
              </a:rPr>
              <a:t>Coal</a:t>
            </a:r>
            <a:r>
              <a:rPr lang="en" sz="1800">
                <a:solidFill>
                  <a:schemeClr val="dk1"/>
                </a:solidFill>
                <a:latin typeface="Baumans"/>
                <a:ea typeface="Baumans"/>
                <a:cs typeface="Baumans"/>
                <a:sym typeface="Baumans"/>
              </a:rPr>
              <a:t> and </a:t>
            </a:r>
            <a:r>
              <a:rPr b="1" lang="en" sz="1800">
                <a:solidFill>
                  <a:schemeClr val="dk1"/>
                </a:solidFill>
                <a:latin typeface="Baumans"/>
                <a:ea typeface="Baumans"/>
                <a:cs typeface="Baumans"/>
                <a:sym typeface="Baumans"/>
              </a:rPr>
              <a:t>oil</a:t>
            </a:r>
            <a:r>
              <a:rPr lang="en" sz="1800">
                <a:solidFill>
                  <a:schemeClr val="dk1"/>
                </a:solidFill>
                <a:latin typeface="Baumans"/>
                <a:ea typeface="Baumans"/>
                <a:cs typeface="Baumans"/>
                <a:sym typeface="Baumans"/>
              </a:rPr>
              <a:t> have been found in places that are cold today, and signs of </a:t>
            </a:r>
            <a:r>
              <a:rPr b="1" lang="en" sz="1800">
                <a:solidFill>
                  <a:schemeClr val="dk1"/>
                </a:solidFill>
                <a:latin typeface="Baumans"/>
                <a:ea typeface="Baumans"/>
                <a:cs typeface="Baumans"/>
                <a:sym typeface="Baumans"/>
              </a:rPr>
              <a:t>glaciers</a:t>
            </a:r>
            <a:r>
              <a:rPr lang="en" sz="1800">
                <a:solidFill>
                  <a:schemeClr val="dk1"/>
                </a:solidFill>
                <a:latin typeface="Baumans"/>
                <a:ea typeface="Baumans"/>
                <a:cs typeface="Baumans"/>
                <a:sym typeface="Baumans"/>
              </a:rPr>
              <a:t> have been found in places that are hot today.</a:t>
            </a:r>
            <a:endParaRPr b="1" sz="1800">
              <a:solidFill>
                <a:schemeClr val="dk1"/>
              </a:solidFill>
              <a:latin typeface="Baumans"/>
              <a:ea typeface="Baumans"/>
              <a:cs typeface="Baumans"/>
              <a:sym typeface="Baum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p:nvPr/>
        </p:nvSpPr>
        <p:spPr>
          <a:xfrm>
            <a:off x="106800" y="2776575"/>
            <a:ext cx="5206200" cy="1359900"/>
          </a:xfrm>
          <a:prstGeom prst="rect">
            <a:avLst/>
          </a:prstGeom>
          <a:solidFill>
            <a:srgbClr val="F9CB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continental drift | National Geographic Society" id="143" name="Google Shape;143;p24"/>
          <p:cNvPicPr preferRelativeResize="0"/>
          <p:nvPr/>
        </p:nvPicPr>
        <p:blipFill rotWithShape="1">
          <a:blip r:embed="rId3">
            <a:alphaModFix/>
          </a:blip>
          <a:srcRect b="0" l="0" r="0" t="0"/>
          <a:stretch/>
        </p:blipFill>
        <p:spPr>
          <a:xfrm>
            <a:off x="5354325" y="1000100"/>
            <a:ext cx="3682875" cy="2763351"/>
          </a:xfrm>
          <a:prstGeom prst="rect">
            <a:avLst/>
          </a:prstGeom>
          <a:noFill/>
          <a:ln>
            <a:noFill/>
          </a:ln>
        </p:spPr>
      </p:pic>
      <p:sp>
        <p:nvSpPr>
          <p:cNvPr id="144" name="Google Shape;144;p24"/>
          <p:cNvSpPr txBox="1"/>
          <p:nvPr/>
        </p:nvSpPr>
        <p:spPr>
          <a:xfrm>
            <a:off x="1084209" y="1000100"/>
            <a:ext cx="4270200" cy="900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1"/>
                </a:solidFill>
                <a:highlight>
                  <a:srgbClr val="00FF00"/>
                </a:highlight>
                <a:latin typeface="Baumans"/>
                <a:ea typeface="Baumans"/>
                <a:cs typeface="Baumans"/>
                <a:sym typeface="Baumans"/>
              </a:rPr>
              <a:t>Activity</a:t>
            </a:r>
            <a:r>
              <a:rPr b="1" i="0" lang="en" sz="1800" u="none" cap="none" strike="noStrike">
                <a:solidFill>
                  <a:schemeClr val="dk1"/>
                </a:solidFill>
                <a:highlight>
                  <a:srgbClr val="00FF00"/>
                </a:highlight>
                <a:latin typeface="Baumans"/>
                <a:ea typeface="Baumans"/>
                <a:cs typeface="Baumans"/>
                <a:sym typeface="Baumans"/>
              </a:rPr>
              <a:t> 1</a:t>
            </a:r>
            <a:r>
              <a:rPr b="1" i="0" lang="en" sz="1800" u="none" cap="none" strike="noStrike">
                <a:solidFill>
                  <a:schemeClr val="dk1"/>
                </a:solidFill>
                <a:latin typeface="Baumans"/>
                <a:ea typeface="Baumans"/>
                <a:cs typeface="Baumans"/>
                <a:sym typeface="Baumans"/>
              </a:rPr>
              <a:t> - </a:t>
            </a:r>
            <a:r>
              <a:rPr lang="en" sz="1800">
                <a:solidFill>
                  <a:schemeClr val="dk1"/>
                </a:solidFill>
                <a:latin typeface="Baumans"/>
                <a:ea typeface="Baumans"/>
                <a:cs typeface="Baumans"/>
                <a:sym typeface="Baumans"/>
              </a:rPr>
              <a:t>Complete the </a:t>
            </a:r>
            <a:r>
              <a:rPr b="1" lang="en" sz="1800">
                <a:solidFill>
                  <a:srgbClr val="980000"/>
                </a:solidFill>
                <a:latin typeface="Baumans"/>
                <a:ea typeface="Baumans"/>
                <a:cs typeface="Baumans"/>
                <a:sym typeface="Baumans"/>
              </a:rPr>
              <a:t>P</a:t>
            </a:r>
            <a:r>
              <a:rPr b="1" lang="en" sz="1800">
                <a:solidFill>
                  <a:srgbClr val="0000FF"/>
                </a:solidFill>
                <a:latin typeface="Baumans"/>
                <a:ea typeface="Baumans"/>
                <a:cs typeface="Baumans"/>
                <a:sym typeface="Baumans"/>
              </a:rPr>
              <a:t>E</a:t>
            </a:r>
            <a:r>
              <a:rPr b="1" lang="en" sz="1800">
                <a:solidFill>
                  <a:srgbClr val="274E13"/>
                </a:solidFill>
                <a:latin typeface="Baumans"/>
                <a:ea typeface="Baumans"/>
                <a:cs typeface="Baumans"/>
                <a:sym typeface="Baumans"/>
              </a:rPr>
              <a:t>E</a:t>
            </a:r>
            <a:r>
              <a:rPr b="1" lang="en" sz="1800">
                <a:solidFill>
                  <a:srgbClr val="FF6600"/>
                </a:solidFill>
                <a:latin typeface="Baumans"/>
                <a:ea typeface="Baumans"/>
                <a:cs typeface="Baumans"/>
                <a:sym typeface="Baumans"/>
              </a:rPr>
              <a:t>L</a:t>
            </a:r>
            <a:r>
              <a:rPr lang="en" sz="1800">
                <a:solidFill>
                  <a:schemeClr val="dk1"/>
                </a:solidFill>
                <a:latin typeface="Baumans"/>
                <a:ea typeface="Baumans"/>
                <a:cs typeface="Baumans"/>
                <a:sym typeface="Baumans"/>
              </a:rPr>
              <a:t> to</a:t>
            </a:r>
            <a:r>
              <a:rPr i="0" lang="en" sz="1800" u="none" cap="none" strike="noStrike">
                <a:solidFill>
                  <a:schemeClr val="dk1"/>
                </a:solidFill>
                <a:latin typeface="Baumans"/>
                <a:ea typeface="Baumans"/>
                <a:cs typeface="Baumans"/>
                <a:sym typeface="Baumans"/>
              </a:rPr>
              <a:t> explain how the location of fossils tells us the continents have moved.</a:t>
            </a:r>
            <a:endParaRPr i="0" sz="1100" u="none" cap="none" strike="noStrike">
              <a:solidFill>
                <a:schemeClr val="dk1"/>
              </a:solidFill>
              <a:latin typeface="Baumans"/>
              <a:ea typeface="Baumans"/>
              <a:cs typeface="Baumans"/>
              <a:sym typeface="Baumans"/>
            </a:endParaRPr>
          </a:p>
        </p:txBody>
      </p:sp>
      <p:sp>
        <p:nvSpPr>
          <p:cNvPr id="145" name="Google Shape;145;p24"/>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46" name="Google Shape;146;p24"/>
          <p:cNvSpPr txBox="1"/>
          <p:nvPr/>
        </p:nvSpPr>
        <p:spPr>
          <a:xfrm>
            <a:off x="125348" y="623000"/>
            <a:ext cx="8604300" cy="377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H</a:t>
            </a:r>
            <a:r>
              <a:rPr i="0" lang="en" sz="2000" u="none" cap="none" strike="noStrike">
                <a:solidFill>
                  <a:srgbClr val="000000"/>
                </a:solidFill>
                <a:latin typeface="Fugaz One"/>
                <a:ea typeface="Fugaz One"/>
                <a:cs typeface="Fugaz One"/>
                <a:sym typeface="Fugaz One"/>
              </a:rPr>
              <a:t>ow do we know the continents have moved?</a:t>
            </a:r>
            <a:endParaRPr i="0" sz="700" u="none" cap="none" strike="noStrike">
              <a:solidFill>
                <a:srgbClr val="000000"/>
              </a:solidFill>
              <a:latin typeface="Fugaz One"/>
              <a:ea typeface="Fugaz One"/>
              <a:cs typeface="Fugaz One"/>
              <a:sym typeface="Fugaz One"/>
            </a:endParaRPr>
          </a:p>
        </p:txBody>
      </p:sp>
      <p:sp>
        <p:nvSpPr>
          <p:cNvPr id="147" name="Google Shape;147;p24"/>
          <p:cNvSpPr txBox="1"/>
          <p:nvPr/>
        </p:nvSpPr>
        <p:spPr>
          <a:xfrm>
            <a:off x="1084201" y="1900400"/>
            <a:ext cx="42702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highlight>
                  <a:srgbClr val="00FF00"/>
                </a:highlight>
                <a:latin typeface="Baumans"/>
                <a:ea typeface="Baumans"/>
                <a:cs typeface="Baumans"/>
                <a:sym typeface="Baumans"/>
              </a:rPr>
              <a:t>Activity 2</a:t>
            </a:r>
            <a:r>
              <a:rPr b="1" lang="en" sz="1800">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 Use the map to find and explain evidence for continental drift.</a:t>
            </a:r>
            <a:endParaRPr sz="1800">
              <a:latin typeface="Baumans"/>
              <a:ea typeface="Baumans"/>
              <a:cs typeface="Baumans"/>
              <a:sym typeface="Baumans"/>
            </a:endParaRPr>
          </a:p>
        </p:txBody>
      </p:sp>
      <p:pic>
        <p:nvPicPr>
          <p:cNvPr id="148" name="Google Shape;148;p24" title="Screenshot 2025-09-03 at 8.39.33 AM.png"/>
          <p:cNvPicPr preferRelativeResize="0"/>
          <p:nvPr/>
        </p:nvPicPr>
        <p:blipFill>
          <a:blip r:embed="rId4">
            <a:alphaModFix/>
          </a:blip>
          <a:stretch>
            <a:fillRect/>
          </a:stretch>
        </p:blipFill>
        <p:spPr>
          <a:xfrm>
            <a:off x="106798" y="1621475"/>
            <a:ext cx="977401" cy="744426"/>
          </a:xfrm>
          <a:prstGeom prst="rect">
            <a:avLst/>
          </a:prstGeom>
          <a:noFill/>
          <a:ln>
            <a:noFill/>
          </a:ln>
        </p:spPr>
      </p:pic>
      <p:sp>
        <p:nvSpPr>
          <p:cNvPr id="149" name="Google Shape;149;p24"/>
          <p:cNvSpPr txBox="1"/>
          <p:nvPr/>
        </p:nvSpPr>
        <p:spPr>
          <a:xfrm>
            <a:off x="116100" y="1145975"/>
            <a:ext cx="958800" cy="47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Aladin"/>
                <a:ea typeface="Aladin"/>
                <a:cs typeface="Aladin"/>
                <a:sym typeface="Aladin"/>
              </a:rPr>
              <a:t>Activities 1 &amp; 2 on sheet</a:t>
            </a:r>
            <a:endParaRPr b="1" sz="1200">
              <a:solidFill>
                <a:schemeClr val="dk1"/>
              </a:solidFill>
              <a:latin typeface="Aladin"/>
              <a:ea typeface="Aladin"/>
              <a:cs typeface="Aladin"/>
              <a:sym typeface="Aladin"/>
            </a:endParaRPr>
          </a:p>
        </p:txBody>
      </p:sp>
      <p:pic>
        <p:nvPicPr>
          <p:cNvPr id="150" name="Google Shape;150;p24"/>
          <p:cNvPicPr preferRelativeResize="0"/>
          <p:nvPr/>
        </p:nvPicPr>
        <p:blipFill>
          <a:blip r:embed="rId5">
            <a:alphaModFix/>
          </a:blip>
          <a:stretch>
            <a:fillRect/>
          </a:stretch>
        </p:blipFill>
        <p:spPr>
          <a:xfrm>
            <a:off x="891223" y="4216200"/>
            <a:ext cx="611727" cy="780300"/>
          </a:xfrm>
          <a:prstGeom prst="rect">
            <a:avLst/>
          </a:prstGeom>
          <a:noFill/>
          <a:ln>
            <a:noFill/>
          </a:ln>
        </p:spPr>
      </p:pic>
      <p:pic>
        <p:nvPicPr>
          <p:cNvPr id="151" name="Google Shape;151;p24"/>
          <p:cNvPicPr preferRelativeResize="0"/>
          <p:nvPr/>
        </p:nvPicPr>
        <p:blipFill>
          <a:blip r:embed="rId6">
            <a:alphaModFix/>
          </a:blip>
          <a:stretch>
            <a:fillRect/>
          </a:stretch>
        </p:blipFill>
        <p:spPr>
          <a:xfrm>
            <a:off x="891225" y="3052274"/>
            <a:ext cx="611725" cy="769802"/>
          </a:xfrm>
          <a:prstGeom prst="rect">
            <a:avLst/>
          </a:prstGeom>
          <a:noFill/>
          <a:ln>
            <a:noFill/>
          </a:ln>
        </p:spPr>
      </p:pic>
      <p:pic>
        <p:nvPicPr>
          <p:cNvPr id="152" name="Google Shape;152;p24" title="Screenshot 2025-07-01 at 9.18.39 AM.png"/>
          <p:cNvPicPr preferRelativeResize="0"/>
          <p:nvPr/>
        </p:nvPicPr>
        <p:blipFill>
          <a:blip r:embed="rId7">
            <a:alphaModFix/>
          </a:blip>
          <a:stretch>
            <a:fillRect/>
          </a:stretch>
        </p:blipFill>
        <p:spPr>
          <a:xfrm>
            <a:off x="118250" y="4204149"/>
            <a:ext cx="789979" cy="780300"/>
          </a:xfrm>
          <a:prstGeom prst="rect">
            <a:avLst/>
          </a:prstGeom>
          <a:noFill/>
          <a:ln>
            <a:noFill/>
          </a:ln>
        </p:spPr>
      </p:pic>
      <p:pic>
        <p:nvPicPr>
          <p:cNvPr id="153" name="Google Shape;153;p24" title="Screenshot 2025-07-01 at 9.18.39 AM.png"/>
          <p:cNvPicPr preferRelativeResize="0"/>
          <p:nvPr/>
        </p:nvPicPr>
        <p:blipFill>
          <a:blip r:embed="rId7">
            <a:alphaModFix/>
          </a:blip>
          <a:stretch>
            <a:fillRect/>
          </a:stretch>
        </p:blipFill>
        <p:spPr>
          <a:xfrm>
            <a:off x="118250" y="3052274"/>
            <a:ext cx="789979" cy="780300"/>
          </a:xfrm>
          <a:prstGeom prst="rect">
            <a:avLst/>
          </a:prstGeom>
          <a:noFill/>
          <a:ln>
            <a:noFill/>
          </a:ln>
        </p:spPr>
      </p:pic>
      <p:sp>
        <p:nvSpPr>
          <p:cNvPr id="154" name="Google Shape;154;p24"/>
          <p:cNvSpPr txBox="1"/>
          <p:nvPr/>
        </p:nvSpPr>
        <p:spPr>
          <a:xfrm>
            <a:off x="1491500" y="2680700"/>
            <a:ext cx="38214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latin typeface="Poppins"/>
                <a:ea typeface="Poppins"/>
                <a:cs typeface="Poppins"/>
                <a:sym typeface="Poppins"/>
              </a:rPr>
              <a:t>Which piece of evidence do you think best supports Wegener’ continental drift theory? Give </a:t>
            </a:r>
            <a:r>
              <a:rPr b="1" lang="en" sz="1600">
                <a:latin typeface="Poppins"/>
                <a:ea typeface="Poppins"/>
                <a:cs typeface="Poppins"/>
                <a:sym typeface="Poppins"/>
              </a:rPr>
              <a:t>at </a:t>
            </a:r>
            <a:r>
              <a:rPr b="1" lang="en" sz="1600">
                <a:latin typeface="Poppins"/>
                <a:ea typeface="Poppins"/>
                <a:cs typeface="Poppins"/>
                <a:sym typeface="Poppins"/>
              </a:rPr>
              <a:t>least</a:t>
            </a:r>
            <a:r>
              <a:rPr b="1" lang="en" sz="1600">
                <a:latin typeface="Poppins"/>
                <a:ea typeface="Poppins"/>
                <a:cs typeface="Poppins"/>
                <a:sym typeface="Poppins"/>
              </a:rPr>
              <a:t> one</a:t>
            </a:r>
            <a:r>
              <a:rPr lang="en" sz="1600">
                <a:latin typeface="Poppins"/>
                <a:ea typeface="Poppins"/>
                <a:cs typeface="Poppins"/>
                <a:sym typeface="Poppins"/>
              </a:rPr>
              <a:t> reason to explain your choice.</a:t>
            </a:r>
            <a:endParaRPr sz="1600">
              <a:latin typeface="Poppins"/>
              <a:ea typeface="Poppins"/>
              <a:cs typeface="Poppins"/>
              <a:sym typeface="Poppins"/>
            </a:endParaRPr>
          </a:p>
        </p:txBody>
      </p:sp>
      <p:sp>
        <p:nvSpPr>
          <p:cNvPr id="155" name="Google Shape;155;p24"/>
          <p:cNvSpPr txBox="1"/>
          <p:nvPr/>
        </p:nvSpPr>
        <p:spPr>
          <a:xfrm>
            <a:off x="1561450" y="4255750"/>
            <a:ext cx="7464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Poppins"/>
                <a:ea typeface="Poppins"/>
                <a:cs typeface="Poppins"/>
                <a:sym typeface="Poppins"/>
              </a:rPr>
              <a:t>Rank the pieces of evidence from Wegener’s theory of continental drift from most to least convincing. </a:t>
            </a:r>
            <a:r>
              <a:rPr lang="en" sz="1600">
                <a:latin typeface="Poppins"/>
                <a:ea typeface="Poppins"/>
                <a:cs typeface="Poppins"/>
                <a:sym typeface="Poppins"/>
              </a:rPr>
              <a:t>Explain why you ranked them this way.</a:t>
            </a:r>
            <a:endParaRPr sz="160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nvSpPr>
        <p:spPr>
          <a:xfrm>
            <a:off x="106800" y="573250"/>
            <a:ext cx="55950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chemeClr val="dk1"/>
                </a:solidFill>
                <a:latin typeface="Fugaz One"/>
                <a:ea typeface="Fugaz One"/>
                <a:cs typeface="Fugaz One"/>
                <a:sym typeface="Fugaz One"/>
              </a:rPr>
              <a:t>So why are the continents moving?</a:t>
            </a:r>
            <a:endParaRPr i="0" sz="2000" u="none" cap="none" strike="noStrike">
              <a:solidFill>
                <a:schemeClr val="dk1"/>
              </a:solidFill>
              <a:latin typeface="Fugaz One"/>
              <a:ea typeface="Fugaz One"/>
              <a:cs typeface="Fugaz One"/>
              <a:sym typeface="Fugaz One"/>
            </a:endParaRPr>
          </a:p>
        </p:txBody>
      </p:sp>
      <p:sp>
        <p:nvSpPr>
          <p:cNvPr id="161" name="Google Shape;161;p25"/>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62" name="Google Shape;162;p25"/>
          <p:cNvSpPr txBox="1"/>
          <p:nvPr/>
        </p:nvSpPr>
        <p:spPr>
          <a:xfrm>
            <a:off x="106800" y="1048750"/>
            <a:ext cx="4675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u="sng">
                <a:solidFill>
                  <a:schemeClr val="dk1"/>
                </a:solidFill>
                <a:latin typeface="Delius"/>
                <a:ea typeface="Delius"/>
                <a:cs typeface="Delius"/>
                <a:sym typeface="Delius"/>
              </a:rPr>
              <a:t>Convection Currents or </a:t>
            </a:r>
            <a:r>
              <a:rPr b="1" lang="en" sz="2000" u="sng">
                <a:solidFill>
                  <a:schemeClr val="dk1"/>
                </a:solidFill>
                <a:latin typeface="Delius"/>
                <a:ea typeface="Delius"/>
                <a:cs typeface="Delius"/>
                <a:sym typeface="Delius"/>
              </a:rPr>
              <a:t>Slab Pull &amp; Ridge Push</a:t>
            </a:r>
            <a:endParaRPr sz="2100"/>
          </a:p>
        </p:txBody>
      </p:sp>
      <p:pic>
        <p:nvPicPr>
          <p:cNvPr descr=" " id="163" name="Google Shape;163;p25" title="convection currents Planet Earth">
            <a:hlinkClick r:id="rId3"/>
          </p:cNvPr>
          <p:cNvPicPr preferRelativeResize="0"/>
          <p:nvPr/>
        </p:nvPicPr>
        <p:blipFill>
          <a:blip r:embed="rId4">
            <a:alphaModFix/>
          </a:blip>
          <a:stretch>
            <a:fillRect/>
          </a:stretch>
        </p:blipFill>
        <p:spPr>
          <a:xfrm>
            <a:off x="106800" y="1849150"/>
            <a:ext cx="4458900" cy="2508131"/>
          </a:xfrm>
          <a:prstGeom prst="rect">
            <a:avLst/>
          </a:prstGeom>
          <a:noFill/>
          <a:ln>
            <a:noFill/>
          </a:ln>
        </p:spPr>
      </p:pic>
      <p:sp>
        <p:nvSpPr>
          <p:cNvPr id="164" name="Google Shape;164;p25"/>
          <p:cNvSpPr txBox="1"/>
          <p:nvPr/>
        </p:nvSpPr>
        <p:spPr>
          <a:xfrm>
            <a:off x="4782600" y="1179163"/>
            <a:ext cx="4254600" cy="3232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How does hot rock moving in the Earth’s mantle make the continents move?</a:t>
            </a:r>
            <a:br>
              <a:rPr lang="en" sz="1800">
                <a:solidFill>
                  <a:schemeClr val="dk1"/>
                </a:solidFill>
                <a:latin typeface="Baumans"/>
                <a:ea typeface="Baumans"/>
                <a:cs typeface="Baumans"/>
                <a:sym typeface="Baumans"/>
              </a:rPr>
            </a:br>
            <a:endParaRPr sz="1800">
              <a:solidFill>
                <a:schemeClr val="dk1"/>
              </a:solidFill>
              <a:latin typeface="Baumans"/>
              <a:ea typeface="Baumans"/>
              <a:cs typeface="Baumans"/>
              <a:sym typeface="Baumans"/>
            </a:endParaRPr>
          </a:p>
          <a:p>
            <a:pPr indent="-342900" lvl="0" marL="457200" rtl="0" algn="l">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Why should we respect the Earth’s natural cycles, like when carbon dioxide is released in eruptions?</a:t>
            </a:r>
            <a:br>
              <a:rPr lang="en" sz="1800">
                <a:solidFill>
                  <a:schemeClr val="dk1"/>
                </a:solidFill>
                <a:latin typeface="Baumans"/>
                <a:ea typeface="Baumans"/>
                <a:cs typeface="Baumans"/>
                <a:sym typeface="Baumans"/>
              </a:rPr>
            </a:br>
            <a:endParaRPr sz="1800">
              <a:solidFill>
                <a:schemeClr val="dk1"/>
              </a:solidFill>
              <a:latin typeface="Baumans"/>
              <a:ea typeface="Baumans"/>
              <a:cs typeface="Baumans"/>
              <a:sym typeface="Baumans"/>
            </a:endParaRPr>
          </a:p>
          <a:p>
            <a:pPr indent="-342900" lvl="0" marL="457200" rtl="0" algn="l">
              <a:spcBef>
                <a:spcPts val="0"/>
              </a:spcBef>
              <a:spcAft>
                <a:spcPts val="0"/>
              </a:spcAft>
              <a:buClr>
                <a:schemeClr val="dk1"/>
              </a:buClr>
              <a:buSzPts val="1800"/>
              <a:buFont typeface="Baumans"/>
              <a:buAutoNum type="arabicPeriod"/>
            </a:pPr>
            <a:r>
              <a:rPr lang="en" sz="1800">
                <a:solidFill>
                  <a:schemeClr val="dk1"/>
                </a:solidFill>
                <a:latin typeface="Baumans"/>
                <a:ea typeface="Baumans"/>
                <a:cs typeface="Baumans"/>
                <a:sym typeface="Baumans"/>
              </a:rPr>
              <a:t>Continental drift happens very slowly. Why do scientists need patience to study it? </a:t>
            </a:r>
            <a:endParaRPr sz="1800">
              <a:solidFill>
                <a:schemeClr val="dk1"/>
              </a:solidFill>
              <a:latin typeface="Baumans"/>
              <a:ea typeface="Baumans"/>
              <a:cs typeface="Baumans"/>
              <a:sym typeface="Baum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nvSpPr>
        <p:spPr>
          <a:xfrm>
            <a:off x="106800" y="573250"/>
            <a:ext cx="55950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chemeClr val="dk1"/>
                </a:solidFill>
                <a:latin typeface="Fugaz One"/>
                <a:ea typeface="Fugaz One"/>
                <a:cs typeface="Fugaz One"/>
                <a:sym typeface="Fugaz One"/>
              </a:rPr>
              <a:t>So why are the continents moving?</a:t>
            </a:r>
            <a:endParaRPr i="0" sz="2000" u="none" cap="none" strike="noStrike">
              <a:solidFill>
                <a:schemeClr val="dk1"/>
              </a:solidFill>
              <a:latin typeface="Fugaz One"/>
              <a:ea typeface="Fugaz One"/>
              <a:cs typeface="Fugaz One"/>
              <a:sym typeface="Fugaz One"/>
            </a:endParaRPr>
          </a:p>
        </p:txBody>
      </p:sp>
      <p:pic>
        <p:nvPicPr>
          <p:cNvPr descr="Image result for convection currents explained" id="170" name="Google Shape;170;p26"/>
          <p:cNvPicPr preferRelativeResize="0"/>
          <p:nvPr/>
        </p:nvPicPr>
        <p:blipFill rotWithShape="1">
          <a:blip r:embed="rId3">
            <a:alphaModFix/>
          </a:blip>
          <a:srcRect b="13242" l="52094" r="2835" t="6360"/>
          <a:stretch/>
        </p:blipFill>
        <p:spPr>
          <a:xfrm>
            <a:off x="106805" y="1764969"/>
            <a:ext cx="3100869" cy="2508056"/>
          </a:xfrm>
          <a:prstGeom prst="rect">
            <a:avLst/>
          </a:prstGeom>
          <a:noFill/>
          <a:ln>
            <a:noFill/>
          </a:ln>
        </p:spPr>
      </p:pic>
      <p:sp>
        <p:nvSpPr>
          <p:cNvPr id="171" name="Google Shape;171;p26"/>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72" name="Google Shape;172;p26"/>
          <p:cNvSpPr txBox="1"/>
          <p:nvPr/>
        </p:nvSpPr>
        <p:spPr>
          <a:xfrm>
            <a:off x="106800" y="1048750"/>
            <a:ext cx="6508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u="sng">
                <a:solidFill>
                  <a:schemeClr val="dk1"/>
                </a:solidFill>
                <a:latin typeface="Delius"/>
                <a:ea typeface="Delius"/>
                <a:cs typeface="Delius"/>
                <a:sym typeface="Delius"/>
              </a:rPr>
              <a:t>Historic Thinking – Convection Currents</a:t>
            </a:r>
            <a:endParaRPr sz="2100"/>
          </a:p>
        </p:txBody>
      </p:sp>
      <p:sp>
        <p:nvSpPr>
          <p:cNvPr id="173" name="Google Shape;173;p26"/>
          <p:cNvSpPr txBox="1"/>
          <p:nvPr/>
        </p:nvSpPr>
        <p:spPr>
          <a:xfrm>
            <a:off x="3276000" y="1541350"/>
            <a:ext cx="5761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Baumans"/>
                <a:ea typeface="Baumans"/>
                <a:cs typeface="Baumans"/>
                <a:sym typeface="Baumans"/>
              </a:rPr>
              <a:t>For many years, scientists thought </a:t>
            </a:r>
            <a:r>
              <a:rPr b="1" lang="en" sz="1800">
                <a:latin typeface="Baumans"/>
                <a:ea typeface="Baumans"/>
                <a:cs typeface="Baumans"/>
                <a:sym typeface="Baumans"/>
              </a:rPr>
              <a:t>convection currents</a:t>
            </a:r>
            <a:r>
              <a:rPr lang="en" sz="1800">
                <a:latin typeface="Baumans"/>
                <a:ea typeface="Baumans"/>
                <a:cs typeface="Baumans"/>
                <a:sym typeface="Baumans"/>
              </a:rPr>
              <a:t> were the main force that moved the plates. Heat from the </a:t>
            </a:r>
            <a:r>
              <a:rPr b="1" lang="en" sz="1800">
                <a:latin typeface="Baumans"/>
                <a:ea typeface="Baumans"/>
                <a:cs typeface="Baumans"/>
                <a:sym typeface="Baumans"/>
              </a:rPr>
              <a:t>Earth’s core</a:t>
            </a:r>
            <a:r>
              <a:rPr lang="en" sz="1800">
                <a:latin typeface="Baumans"/>
                <a:ea typeface="Baumans"/>
                <a:cs typeface="Baumans"/>
                <a:sym typeface="Baumans"/>
              </a:rPr>
              <a:t> makes material in the </a:t>
            </a:r>
            <a:r>
              <a:rPr b="1" lang="en" sz="1800">
                <a:latin typeface="Baumans"/>
                <a:ea typeface="Baumans"/>
                <a:cs typeface="Baumans"/>
                <a:sym typeface="Baumans"/>
              </a:rPr>
              <a:t>mantle</a:t>
            </a:r>
            <a:r>
              <a:rPr lang="en" sz="1800">
                <a:latin typeface="Baumans"/>
                <a:ea typeface="Baumans"/>
                <a:cs typeface="Baumans"/>
                <a:sym typeface="Baumans"/>
              </a:rPr>
              <a:t> rise, then cool and sink. This cycle forms a current that was believed to drag the </a:t>
            </a:r>
            <a:r>
              <a:rPr b="1" lang="en" sz="1800">
                <a:latin typeface="Baumans"/>
                <a:ea typeface="Baumans"/>
                <a:cs typeface="Baumans"/>
                <a:sym typeface="Baumans"/>
              </a:rPr>
              <a:t>tectonic plates</a:t>
            </a:r>
            <a:r>
              <a:rPr lang="en" sz="1800">
                <a:latin typeface="Baumans"/>
                <a:ea typeface="Baumans"/>
                <a:cs typeface="Baumans"/>
                <a:sym typeface="Baumans"/>
              </a:rPr>
              <a:t>.</a:t>
            </a:r>
            <a:endParaRPr sz="1800">
              <a:latin typeface="Baumans"/>
              <a:ea typeface="Baumans"/>
              <a:cs typeface="Baumans"/>
              <a:sym typeface="Baumans"/>
            </a:endParaRPr>
          </a:p>
        </p:txBody>
      </p:sp>
      <p:sp>
        <p:nvSpPr>
          <p:cNvPr id="174" name="Google Shape;174;p26"/>
          <p:cNvSpPr txBox="1"/>
          <p:nvPr/>
        </p:nvSpPr>
        <p:spPr>
          <a:xfrm>
            <a:off x="3276000" y="3111250"/>
            <a:ext cx="5761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umans"/>
                <a:ea typeface="Baumans"/>
                <a:cs typeface="Baumans"/>
                <a:sym typeface="Baumans"/>
              </a:rPr>
              <a:t>Convection currents also seemed to explain how </a:t>
            </a:r>
            <a:r>
              <a:rPr b="1" lang="en" sz="1800">
                <a:solidFill>
                  <a:schemeClr val="dk1"/>
                </a:solidFill>
                <a:latin typeface="Baumans"/>
                <a:ea typeface="Baumans"/>
                <a:cs typeface="Baumans"/>
                <a:sym typeface="Baumans"/>
              </a:rPr>
              <a:t>new crust</a:t>
            </a:r>
            <a:r>
              <a:rPr lang="en" sz="1800">
                <a:solidFill>
                  <a:schemeClr val="dk1"/>
                </a:solidFill>
                <a:latin typeface="Baumans"/>
                <a:ea typeface="Baumans"/>
                <a:cs typeface="Baumans"/>
                <a:sym typeface="Baumans"/>
              </a:rPr>
              <a:t> could be </a:t>
            </a:r>
            <a:r>
              <a:rPr b="1" lang="en" sz="1800">
                <a:solidFill>
                  <a:schemeClr val="dk1"/>
                </a:solidFill>
                <a:latin typeface="Baumans"/>
                <a:ea typeface="Baumans"/>
                <a:cs typeface="Baumans"/>
                <a:sym typeface="Baumans"/>
              </a:rPr>
              <a:t>created</a:t>
            </a:r>
            <a:r>
              <a:rPr lang="en" sz="1800">
                <a:solidFill>
                  <a:schemeClr val="dk1"/>
                </a:solidFill>
                <a:latin typeface="Baumans"/>
                <a:ea typeface="Baumans"/>
                <a:cs typeface="Baumans"/>
                <a:sym typeface="Baumans"/>
              </a:rPr>
              <a:t> at some boundaries and </a:t>
            </a:r>
            <a:r>
              <a:rPr b="1" lang="en" sz="1800">
                <a:solidFill>
                  <a:schemeClr val="dk1"/>
                </a:solidFill>
                <a:latin typeface="Baumans"/>
                <a:ea typeface="Baumans"/>
                <a:cs typeface="Baumans"/>
                <a:sym typeface="Baumans"/>
              </a:rPr>
              <a:t>destroyed</a:t>
            </a:r>
            <a:r>
              <a:rPr lang="en" sz="1800">
                <a:solidFill>
                  <a:schemeClr val="dk1"/>
                </a:solidFill>
                <a:latin typeface="Baumans"/>
                <a:ea typeface="Baumans"/>
                <a:cs typeface="Baumans"/>
                <a:sym typeface="Baumans"/>
              </a:rPr>
              <a:t> at others. This idea was accepted for decades. However, modern research suggests </a:t>
            </a:r>
            <a:r>
              <a:rPr b="1" lang="en" sz="1800">
                <a:solidFill>
                  <a:schemeClr val="dk1"/>
                </a:solidFill>
                <a:latin typeface="Baumans"/>
                <a:ea typeface="Baumans"/>
                <a:cs typeface="Baumans"/>
                <a:sym typeface="Baumans"/>
              </a:rPr>
              <a:t>convection currents may not be strong enough</a:t>
            </a:r>
            <a:r>
              <a:rPr lang="en" sz="1800">
                <a:solidFill>
                  <a:schemeClr val="dk1"/>
                </a:solidFill>
                <a:latin typeface="Baumans"/>
                <a:ea typeface="Baumans"/>
                <a:cs typeface="Baumans"/>
                <a:sym typeface="Baumans"/>
              </a:rPr>
              <a:t> on their own to move entire plates.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nvSpPr>
        <p:spPr>
          <a:xfrm>
            <a:off x="106800" y="573250"/>
            <a:ext cx="55950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chemeClr val="dk1"/>
                </a:solidFill>
                <a:latin typeface="Fugaz One"/>
                <a:ea typeface="Fugaz One"/>
                <a:cs typeface="Fugaz One"/>
                <a:sym typeface="Fugaz One"/>
              </a:rPr>
              <a:t>So why are the continents moving?</a:t>
            </a:r>
            <a:endParaRPr i="0" sz="2000" u="none" cap="none" strike="noStrike">
              <a:solidFill>
                <a:schemeClr val="dk1"/>
              </a:solidFill>
              <a:latin typeface="Fugaz One"/>
              <a:ea typeface="Fugaz One"/>
              <a:cs typeface="Fugaz One"/>
              <a:sym typeface="Fugaz One"/>
            </a:endParaRPr>
          </a:p>
        </p:txBody>
      </p:sp>
      <p:pic>
        <p:nvPicPr>
          <p:cNvPr descr="Image result for convection currents explained" id="180" name="Google Shape;180;p27"/>
          <p:cNvPicPr preferRelativeResize="0"/>
          <p:nvPr/>
        </p:nvPicPr>
        <p:blipFill rotWithShape="1">
          <a:blip r:embed="rId3">
            <a:alphaModFix/>
          </a:blip>
          <a:srcRect b="13242" l="52094" r="2835" t="6360"/>
          <a:stretch/>
        </p:blipFill>
        <p:spPr>
          <a:xfrm>
            <a:off x="106805" y="1764969"/>
            <a:ext cx="3100869" cy="2508056"/>
          </a:xfrm>
          <a:prstGeom prst="rect">
            <a:avLst/>
          </a:prstGeom>
          <a:noFill/>
          <a:ln>
            <a:noFill/>
          </a:ln>
        </p:spPr>
      </p:pic>
      <p:sp>
        <p:nvSpPr>
          <p:cNvPr id="181" name="Google Shape;181;p27"/>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82" name="Google Shape;182;p27"/>
          <p:cNvSpPr txBox="1"/>
          <p:nvPr/>
        </p:nvSpPr>
        <p:spPr>
          <a:xfrm>
            <a:off x="106800" y="1048750"/>
            <a:ext cx="6508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u="sng">
                <a:solidFill>
                  <a:schemeClr val="dk1"/>
                </a:solidFill>
                <a:latin typeface="Delius"/>
                <a:ea typeface="Delius"/>
                <a:cs typeface="Delius"/>
                <a:sym typeface="Delius"/>
              </a:rPr>
              <a:t>Modern Thinking – Slab Pull &amp; Ridge Push</a:t>
            </a:r>
            <a:endParaRPr sz="2100"/>
          </a:p>
        </p:txBody>
      </p:sp>
      <p:sp>
        <p:nvSpPr>
          <p:cNvPr id="183" name="Google Shape;183;p27"/>
          <p:cNvSpPr txBox="1"/>
          <p:nvPr/>
        </p:nvSpPr>
        <p:spPr>
          <a:xfrm>
            <a:off x="3276000" y="1541350"/>
            <a:ext cx="5761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umans"/>
                <a:ea typeface="Baumans"/>
                <a:cs typeface="Baumans"/>
                <a:sym typeface="Baumans"/>
              </a:rPr>
              <a:t>Today, most scientists believe </a:t>
            </a:r>
            <a:r>
              <a:rPr b="1" lang="en" sz="1800">
                <a:solidFill>
                  <a:schemeClr val="dk1"/>
                </a:solidFill>
                <a:latin typeface="Baumans"/>
                <a:ea typeface="Baumans"/>
                <a:cs typeface="Baumans"/>
                <a:sym typeface="Baumans"/>
              </a:rPr>
              <a:t>slab pull</a:t>
            </a:r>
            <a:r>
              <a:rPr lang="en" sz="1800">
                <a:solidFill>
                  <a:schemeClr val="dk1"/>
                </a:solidFill>
                <a:latin typeface="Baumans"/>
                <a:ea typeface="Baumans"/>
                <a:cs typeface="Baumans"/>
                <a:sym typeface="Baumans"/>
              </a:rPr>
              <a:t> and </a:t>
            </a:r>
            <a:r>
              <a:rPr b="1" lang="en" sz="1800">
                <a:solidFill>
                  <a:schemeClr val="dk1"/>
                </a:solidFill>
                <a:latin typeface="Baumans"/>
                <a:ea typeface="Baumans"/>
                <a:cs typeface="Baumans"/>
                <a:sym typeface="Baumans"/>
              </a:rPr>
              <a:t>ridge push</a:t>
            </a:r>
            <a:r>
              <a:rPr lang="en" sz="1800">
                <a:solidFill>
                  <a:schemeClr val="dk1"/>
                </a:solidFill>
                <a:latin typeface="Baumans"/>
                <a:ea typeface="Baumans"/>
                <a:cs typeface="Baumans"/>
                <a:sym typeface="Baumans"/>
              </a:rPr>
              <a:t> are the key forces. </a:t>
            </a:r>
            <a:r>
              <a:rPr b="1" lang="en" sz="1800">
                <a:solidFill>
                  <a:schemeClr val="dk1"/>
                </a:solidFill>
                <a:latin typeface="Baumans"/>
                <a:ea typeface="Baumans"/>
                <a:cs typeface="Baumans"/>
                <a:sym typeface="Baumans"/>
              </a:rPr>
              <a:t>Slab pull</a:t>
            </a:r>
            <a:r>
              <a:rPr lang="en" sz="1800">
                <a:solidFill>
                  <a:schemeClr val="dk1"/>
                </a:solidFill>
                <a:latin typeface="Baumans"/>
                <a:ea typeface="Baumans"/>
                <a:cs typeface="Baumans"/>
                <a:sym typeface="Baumans"/>
              </a:rPr>
              <a:t> is the stronger force: when a dense </a:t>
            </a:r>
            <a:r>
              <a:rPr b="1" lang="en" sz="1800">
                <a:solidFill>
                  <a:schemeClr val="dk1"/>
                </a:solidFill>
                <a:latin typeface="Baumans"/>
                <a:ea typeface="Baumans"/>
                <a:cs typeface="Baumans"/>
                <a:sym typeface="Baumans"/>
              </a:rPr>
              <a:t>oceanic plate</a:t>
            </a:r>
            <a:r>
              <a:rPr lang="en" sz="1800">
                <a:solidFill>
                  <a:schemeClr val="dk1"/>
                </a:solidFill>
                <a:latin typeface="Baumans"/>
                <a:ea typeface="Baumans"/>
                <a:cs typeface="Baumans"/>
                <a:sym typeface="Baumans"/>
              </a:rPr>
              <a:t> sinks at a </a:t>
            </a:r>
            <a:r>
              <a:rPr b="1" lang="en" sz="1800">
                <a:solidFill>
                  <a:schemeClr val="dk1"/>
                </a:solidFill>
                <a:latin typeface="Baumans"/>
                <a:ea typeface="Baumans"/>
                <a:cs typeface="Baumans"/>
                <a:sym typeface="Baumans"/>
              </a:rPr>
              <a:t>subduction zone</a:t>
            </a:r>
            <a:r>
              <a:rPr lang="en" sz="1800">
                <a:solidFill>
                  <a:schemeClr val="dk1"/>
                </a:solidFill>
                <a:latin typeface="Baumans"/>
                <a:ea typeface="Baumans"/>
                <a:cs typeface="Baumans"/>
                <a:sym typeface="Baumans"/>
              </a:rPr>
              <a:t>, its weight pulls the rest of the plate down, like a coat sliding off a table. </a:t>
            </a:r>
            <a:r>
              <a:rPr b="1" lang="en" sz="1800">
                <a:solidFill>
                  <a:schemeClr val="dk1"/>
                </a:solidFill>
                <a:latin typeface="Baumans"/>
                <a:ea typeface="Baumans"/>
                <a:cs typeface="Baumans"/>
                <a:sym typeface="Baumans"/>
              </a:rPr>
              <a:t>Ridge push</a:t>
            </a:r>
            <a:r>
              <a:rPr lang="en" sz="1800">
                <a:solidFill>
                  <a:schemeClr val="dk1"/>
                </a:solidFill>
                <a:latin typeface="Baumans"/>
                <a:ea typeface="Baumans"/>
                <a:cs typeface="Baumans"/>
                <a:sym typeface="Baumans"/>
              </a:rPr>
              <a:t> is weaker.</a:t>
            </a:r>
            <a:endParaRPr sz="2500">
              <a:latin typeface="Baumans"/>
              <a:ea typeface="Baumans"/>
              <a:cs typeface="Baumans"/>
              <a:sym typeface="Baumans"/>
            </a:endParaRPr>
          </a:p>
        </p:txBody>
      </p:sp>
      <p:sp>
        <p:nvSpPr>
          <p:cNvPr id="184" name="Google Shape;184;p27"/>
          <p:cNvSpPr txBox="1"/>
          <p:nvPr/>
        </p:nvSpPr>
        <p:spPr>
          <a:xfrm>
            <a:off x="3276000" y="3111250"/>
            <a:ext cx="5761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Baumans"/>
                <a:ea typeface="Baumans"/>
                <a:cs typeface="Baumans"/>
                <a:sym typeface="Baumans"/>
              </a:rPr>
              <a:t>At </a:t>
            </a:r>
            <a:r>
              <a:rPr b="1" lang="en" sz="1800">
                <a:solidFill>
                  <a:schemeClr val="dk1"/>
                </a:solidFill>
                <a:latin typeface="Baumans"/>
                <a:ea typeface="Baumans"/>
                <a:cs typeface="Baumans"/>
                <a:sym typeface="Baumans"/>
              </a:rPr>
              <a:t>mid-ocean ridges</a:t>
            </a:r>
            <a:r>
              <a:rPr lang="en" sz="1800">
                <a:solidFill>
                  <a:schemeClr val="dk1"/>
                </a:solidFill>
                <a:latin typeface="Baumans"/>
                <a:ea typeface="Baumans"/>
                <a:cs typeface="Baumans"/>
                <a:sym typeface="Baumans"/>
              </a:rPr>
              <a:t>, new crust forms, cools, and sinks under gravity, pushing older rock away. These two forces together help explain </a:t>
            </a:r>
            <a:r>
              <a:rPr b="1" lang="en" sz="1800">
                <a:solidFill>
                  <a:schemeClr val="dk1"/>
                </a:solidFill>
                <a:latin typeface="Baumans"/>
                <a:ea typeface="Baumans"/>
                <a:cs typeface="Baumans"/>
                <a:sym typeface="Baumans"/>
              </a:rPr>
              <a:t>plate movement</a:t>
            </a:r>
            <a:r>
              <a:rPr lang="en" sz="1800">
                <a:solidFill>
                  <a:schemeClr val="dk1"/>
                </a:solidFill>
                <a:latin typeface="Baumans"/>
                <a:ea typeface="Baumans"/>
                <a:cs typeface="Baumans"/>
                <a:sym typeface="Baumans"/>
              </a:rPr>
              <a:t>. Yet, even now, scientists do not fully agree, and the details remain debated.</a:t>
            </a:r>
            <a:endParaRPr sz="2100">
              <a:latin typeface="Baumans"/>
              <a:ea typeface="Baumans"/>
              <a:cs typeface="Baumans"/>
              <a:sym typeface="Baumans"/>
            </a:endParaRPr>
          </a:p>
        </p:txBody>
      </p:sp>
      <p:pic>
        <p:nvPicPr>
          <p:cNvPr id="185" name="Google Shape;185;p27"/>
          <p:cNvPicPr preferRelativeResize="0"/>
          <p:nvPr/>
        </p:nvPicPr>
        <p:blipFill>
          <a:blip r:embed="rId4">
            <a:alphaModFix/>
          </a:blip>
          <a:stretch>
            <a:fillRect/>
          </a:stretch>
        </p:blipFill>
        <p:spPr>
          <a:xfrm>
            <a:off x="106800" y="1764975"/>
            <a:ext cx="3100876" cy="2508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p:nvPr/>
        </p:nvSpPr>
        <p:spPr>
          <a:xfrm>
            <a:off x="6204525" y="2921275"/>
            <a:ext cx="2832600" cy="1876200"/>
          </a:xfrm>
          <a:prstGeom prst="rect">
            <a:avLst/>
          </a:prstGeom>
          <a:solidFill>
            <a:srgbClr val="7F6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8"/>
          <p:cNvSpPr txBox="1"/>
          <p:nvPr/>
        </p:nvSpPr>
        <p:spPr>
          <a:xfrm>
            <a:off x="109450" y="1044900"/>
            <a:ext cx="6715800" cy="10221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Clr>
                <a:srgbClr val="000000"/>
              </a:buClr>
              <a:buSzPts val="1900"/>
              <a:buFont typeface="Arial"/>
              <a:buNone/>
            </a:pPr>
            <a:r>
              <a:rPr b="1" lang="en" sz="1800" u="sng">
                <a:solidFill>
                  <a:schemeClr val="dk1"/>
                </a:solidFill>
                <a:highlight>
                  <a:srgbClr val="00FF00"/>
                </a:highlight>
                <a:latin typeface="Baumans"/>
                <a:ea typeface="Baumans"/>
                <a:cs typeface="Baumans"/>
                <a:sym typeface="Baumans"/>
              </a:rPr>
              <a:t>Activity 3</a:t>
            </a:r>
            <a:r>
              <a:rPr b="1" i="0" lang="en" sz="1800" u="sng" cap="none" strike="noStrike">
                <a:solidFill>
                  <a:schemeClr val="dk1"/>
                </a:solidFill>
                <a:highlight>
                  <a:srgbClr val="00FF00"/>
                </a:highlight>
                <a:latin typeface="Baumans"/>
                <a:ea typeface="Baumans"/>
                <a:cs typeface="Baumans"/>
                <a:sym typeface="Baumans"/>
              </a:rPr>
              <a:t>:</a:t>
            </a:r>
            <a:r>
              <a:rPr lang="en" sz="1800">
                <a:solidFill>
                  <a:schemeClr val="dk1"/>
                </a:solidFill>
                <a:latin typeface="Baumans"/>
                <a:ea typeface="Baumans"/>
                <a:cs typeface="Baumans"/>
                <a:sym typeface="Baumans"/>
              </a:rPr>
              <a:t> Use the information sheet to help you explain how </a:t>
            </a:r>
            <a:r>
              <a:rPr b="1" lang="en" sz="1800">
                <a:solidFill>
                  <a:schemeClr val="dk1"/>
                </a:solidFill>
                <a:latin typeface="Baumans"/>
                <a:ea typeface="Baumans"/>
                <a:cs typeface="Baumans"/>
                <a:sym typeface="Baumans"/>
              </a:rPr>
              <a:t>slab pull and ridge push work </a:t>
            </a:r>
            <a:r>
              <a:rPr lang="en" sz="1800">
                <a:solidFill>
                  <a:schemeClr val="dk1"/>
                </a:solidFill>
                <a:latin typeface="Baumans"/>
                <a:ea typeface="Baumans"/>
                <a:cs typeface="Baumans"/>
                <a:sym typeface="Baumans"/>
              </a:rPr>
              <a:t>to move the tectonic plates. </a:t>
            </a:r>
            <a:r>
              <a:rPr b="1" lang="en" sz="1600">
                <a:solidFill>
                  <a:schemeClr val="dk1"/>
                </a:solidFill>
                <a:latin typeface="Patrick Hand"/>
                <a:ea typeface="Patrick Hand"/>
                <a:cs typeface="Patrick Hand"/>
                <a:sym typeface="Patrick Hand"/>
              </a:rPr>
              <a:t>(Make sure to include key terms like mantle, convection currents, slab pull, and ridge push.)</a:t>
            </a:r>
            <a:endParaRPr b="0" i="0" sz="1600" u="none" cap="none" strike="noStrike">
              <a:solidFill>
                <a:schemeClr val="dk1"/>
              </a:solidFill>
              <a:latin typeface="Calibri"/>
              <a:ea typeface="Calibri"/>
              <a:cs typeface="Calibri"/>
              <a:sym typeface="Calibri"/>
            </a:endParaRPr>
          </a:p>
        </p:txBody>
      </p:sp>
      <p:pic>
        <p:nvPicPr>
          <p:cNvPr id="192" name="Google Shape;192;p28"/>
          <p:cNvPicPr preferRelativeResize="0"/>
          <p:nvPr/>
        </p:nvPicPr>
        <p:blipFill rotWithShape="1">
          <a:blip r:embed="rId3">
            <a:alphaModFix/>
          </a:blip>
          <a:srcRect b="0" l="0" r="0" t="0"/>
          <a:stretch/>
        </p:blipFill>
        <p:spPr>
          <a:xfrm>
            <a:off x="7906550" y="991450"/>
            <a:ext cx="1130650" cy="1130650"/>
          </a:xfrm>
          <a:prstGeom prst="rect">
            <a:avLst/>
          </a:prstGeom>
          <a:noFill/>
          <a:ln>
            <a:noFill/>
          </a:ln>
        </p:spPr>
      </p:pic>
      <p:sp>
        <p:nvSpPr>
          <p:cNvPr id="193" name="Google Shape;193;p28"/>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
        <p:nvSpPr>
          <p:cNvPr id="194" name="Google Shape;194;p28"/>
          <p:cNvSpPr txBox="1"/>
          <p:nvPr/>
        </p:nvSpPr>
        <p:spPr>
          <a:xfrm>
            <a:off x="106800" y="573250"/>
            <a:ext cx="55950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chemeClr val="dk1"/>
                </a:solidFill>
                <a:latin typeface="Fugaz One"/>
                <a:ea typeface="Fugaz One"/>
                <a:cs typeface="Fugaz One"/>
                <a:sym typeface="Fugaz One"/>
              </a:rPr>
              <a:t>So why are the continents moving?</a:t>
            </a:r>
            <a:endParaRPr i="0" sz="2000" u="none" cap="none" strike="noStrike">
              <a:solidFill>
                <a:schemeClr val="dk1"/>
              </a:solidFill>
              <a:latin typeface="Fugaz One"/>
              <a:ea typeface="Fugaz One"/>
              <a:cs typeface="Fugaz One"/>
              <a:sym typeface="Fugaz One"/>
            </a:endParaRPr>
          </a:p>
        </p:txBody>
      </p:sp>
      <p:pic>
        <p:nvPicPr>
          <p:cNvPr id="195" name="Google Shape;195;p28"/>
          <p:cNvPicPr preferRelativeResize="0"/>
          <p:nvPr/>
        </p:nvPicPr>
        <p:blipFill>
          <a:blip r:embed="rId4">
            <a:alphaModFix/>
          </a:blip>
          <a:stretch>
            <a:fillRect/>
          </a:stretch>
        </p:blipFill>
        <p:spPr>
          <a:xfrm>
            <a:off x="6825250" y="991450"/>
            <a:ext cx="1130650" cy="1130650"/>
          </a:xfrm>
          <a:prstGeom prst="rect">
            <a:avLst/>
          </a:prstGeom>
          <a:noFill/>
          <a:ln>
            <a:noFill/>
          </a:ln>
        </p:spPr>
      </p:pic>
      <p:pic>
        <p:nvPicPr>
          <p:cNvPr id="196" name="Google Shape;196;p28"/>
          <p:cNvPicPr preferRelativeResize="0"/>
          <p:nvPr/>
        </p:nvPicPr>
        <p:blipFill>
          <a:blip r:embed="rId5">
            <a:alphaModFix/>
          </a:blip>
          <a:stretch>
            <a:fillRect/>
          </a:stretch>
        </p:blipFill>
        <p:spPr>
          <a:xfrm>
            <a:off x="7072987" y="2122088"/>
            <a:ext cx="607125" cy="607125"/>
          </a:xfrm>
          <a:prstGeom prst="rect">
            <a:avLst/>
          </a:prstGeom>
          <a:noFill/>
          <a:ln>
            <a:noFill/>
          </a:ln>
        </p:spPr>
      </p:pic>
      <p:sp>
        <p:nvSpPr>
          <p:cNvPr id="197" name="Google Shape;197;p28"/>
          <p:cNvSpPr txBox="1"/>
          <p:nvPr/>
        </p:nvSpPr>
        <p:spPr>
          <a:xfrm>
            <a:off x="7680113" y="2146675"/>
            <a:ext cx="1278600" cy="55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0000FF"/>
                </a:solidFill>
                <a:latin typeface="Poppins"/>
                <a:ea typeface="Poppins"/>
                <a:cs typeface="Poppins"/>
                <a:sym typeface="Poppins"/>
              </a:rPr>
              <a:t>Breakdown Available</a:t>
            </a:r>
            <a:endParaRPr b="1">
              <a:solidFill>
                <a:srgbClr val="0000FF"/>
              </a:solidFill>
              <a:latin typeface="Poppins"/>
              <a:ea typeface="Poppins"/>
              <a:cs typeface="Poppins"/>
              <a:sym typeface="Poppins"/>
            </a:endParaRPr>
          </a:p>
        </p:txBody>
      </p:sp>
      <p:sp>
        <p:nvSpPr>
          <p:cNvPr id="198" name="Google Shape;198;p28"/>
          <p:cNvSpPr txBox="1"/>
          <p:nvPr/>
        </p:nvSpPr>
        <p:spPr>
          <a:xfrm>
            <a:off x="711275" y="2073750"/>
            <a:ext cx="5490600" cy="156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rgbClr val="000000"/>
                </a:solidFill>
                <a:latin typeface="Patrick Hand"/>
                <a:ea typeface="Patrick Hand"/>
                <a:cs typeface="Patrick Hand"/>
                <a:sym typeface="Patrick Hand"/>
              </a:rPr>
              <a:t>Point</a:t>
            </a:r>
            <a:r>
              <a:rPr lang="en" sz="1600">
                <a:solidFill>
                  <a:srgbClr val="000000"/>
                </a:solidFill>
                <a:latin typeface="Patrick Hand"/>
                <a:ea typeface="Patrick Hand"/>
                <a:cs typeface="Patrick Hand"/>
                <a:sym typeface="Patrick Hand"/>
              </a:rPr>
              <a:t> – </a:t>
            </a:r>
            <a:r>
              <a:rPr b="1" i="1" lang="en" sz="1600">
                <a:solidFill>
                  <a:srgbClr val="0000FF"/>
                </a:solidFill>
                <a:latin typeface="Patrick Hand"/>
                <a:ea typeface="Patrick Hand"/>
                <a:cs typeface="Patrick Hand"/>
                <a:sym typeface="Patrick Hand"/>
              </a:rPr>
              <a:t>Tectonic plates move because…</a:t>
            </a:r>
            <a:endParaRPr b="1" i="1" sz="1600">
              <a:solidFill>
                <a:srgbClr val="0000FF"/>
              </a:solidFill>
              <a:latin typeface="Patrick Hand"/>
              <a:ea typeface="Patrick Hand"/>
              <a:cs typeface="Patrick Hand"/>
              <a:sym typeface="Patrick Hand"/>
            </a:endParaRPr>
          </a:p>
          <a:p>
            <a:pPr indent="0" lvl="0" marL="0" rtl="0" algn="l">
              <a:lnSpc>
                <a:spcPct val="115000"/>
              </a:lnSpc>
              <a:spcBef>
                <a:spcPts val="0"/>
              </a:spcBef>
              <a:spcAft>
                <a:spcPts val="0"/>
              </a:spcAft>
              <a:buNone/>
            </a:pPr>
            <a:r>
              <a:rPr b="1" lang="en" sz="1600">
                <a:solidFill>
                  <a:srgbClr val="000000"/>
                </a:solidFill>
                <a:latin typeface="Patrick Hand"/>
                <a:ea typeface="Patrick Hand"/>
                <a:cs typeface="Patrick Hand"/>
                <a:sym typeface="Patrick Hand"/>
              </a:rPr>
              <a:t>Evidence</a:t>
            </a:r>
            <a:r>
              <a:rPr lang="en" sz="1600">
                <a:solidFill>
                  <a:srgbClr val="000000"/>
                </a:solidFill>
                <a:latin typeface="Patrick Hand"/>
                <a:ea typeface="Patrick Hand"/>
                <a:cs typeface="Patrick Hand"/>
                <a:sym typeface="Patrick Hand"/>
              </a:rPr>
              <a:t> – </a:t>
            </a:r>
            <a:r>
              <a:rPr b="1" i="1" lang="en" sz="1600">
                <a:solidFill>
                  <a:srgbClr val="0000FF"/>
                </a:solidFill>
                <a:latin typeface="Patrick Hand"/>
                <a:ea typeface="Patrick Hand"/>
                <a:cs typeface="Patrick Hand"/>
                <a:sym typeface="Patrick Hand"/>
              </a:rPr>
              <a:t>One piece of evidence is that… Another piece of evidence is…</a:t>
            </a:r>
            <a:endParaRPr b="1" i="1" sz="1600">
              <a:solidFill>
                <a:srgbClr val="0000FF"/>
              </a:solidFill>
              <a:latin typeface="Patrick Hand"/>
              <a:ea typeface="Patrick Hand"/>
              <a:cs typeface="Patrick Hand"/>
              <a:sym typeface="Patrick Hand"/>
            </a:endParaRPr>
          </a:p>
          <a:p>
            <a:pPr indent="0" lvl="0" marL="0" rtl="0" algn="l">
              <a:lnSpc>
                <a:spcPct val="115000"/>
              </a:lnSpc>
              <a:spcBef>
                <a:spcPts val="0"/>
              </a:spcBef>
              <a:spcAft>
                <a:spcPts val="0"/>
              </a:spcAft>
              <a:buNone/>
            </a:pPr>
            <a:r>
              <a:rPr b="1" lang="en" sz="1600">
                <a:solidFill>
                  <a:srgbClr val="000000"/>
                </a:solidFill>
                <a:latin typeface="Patrick Hand"/>
                <a:ea typeface="Patrick Hand"/>
                <a:cs typeface="Patrick Hand"/>
                <a:sym typeface="Patrick Hand"/>
              </a:rPr>
              <a:t>Explain</a:t>
            </a:r>
            <a:r>
              <a:rPr lang="en" sz="1600">
                <a:solidFill>
                  <a:srgbClr val="000000"/>
                </a:solidFill>
                <a:latin typeface="Patrick Hand"/>
                <a:ea typeface="Patrick Hand"/>
                <a:cs typeface="Patrick Hand"/>
                <a:sym typeface="Patrick Hand"/>
              </a:rPr>
              <a:t> – </a:t>
            </a:r>
            <a:r>
              <a:rPr b="1" i="1" lang="en" sz="1600">
                <a:solidFill>
                  <a:srgbClr val="0000FF"/>
                </a:solidFill>
                <a:latin typeface="Patrick Hand"/>
                <a:ea typeface="Patrick Hand"/>
                <a:cs typeface="Patrick Hand"/>
                <a:sym typeface="Patrick Hand"/>
              </a:rPr>
              <a:t>This means that the plates are moved because… Another force is … and finally …</a:t>
            </a:r>
            <a:endParaRPr b="1" i="1" sz="1600">
              <a:solidFill>
                <a:srgbClr val="0000FF"/>
              </a:solidFill>
              <a:latin typeface="Patrick Hand"/>
              <a:ea typeface="Patrick Hand"/>
              <a:cs typeface="Patrick Hand"/>
              <a:sym typeface="Patrick Hand"/>
            </a:endParaRPr>
          </a:p>
          <a:p>
            <a:pPr indent="0" lvl="0" marL="0" rtl="0" algn="l">
              <a:lnSpc>
                <a:spcPct val="115000"/>
              </a:lnSpc>
              <a:spcBef>
                <a:spcPts val="0"/>
              </a:spcBef>
              <a:spcAft>
                <a:spcPts val="0"/>
              </a:spcAft>
              <a:buNone/>
            </a:pPr>
            <a:r>
              <a:rPr b="1" lang="en" sz="1600">
                <a:solidFill>
                  <a:srgbClr val="000000"/>
                </a:solidFill>
                <a:latin typeface="Patrick Hand"/>
                <a:ea typeface="Patrick Hand"/>
                <a:cs typeface="Patrick Hand"/>
                <a:sym typeface="Patrick Hand"/>
              </a:rPr>
              <a:t>Link</a:t>
            </a:r>
            <a:r>
              <a:rPr lang="en" sz="1600">
                <a:solidFill>
                  <a:srgbClr val="000000"/>
                </a:solidFill>
                <a:latin typeface="Patrick Hand"/>
                <a:ea typeface="Patrick Hand"/>
                <a:cs typeface="Patrick Hand"/>
                <a:sym typeface="Patrick Hand"/>
              </a:rPr>
              <a:t> – </a:t>
            </a:r>
            <a:r>
              <a:rPr b="1" i="1" lang="en" sz="1600">
                <a:solidFill>
                  <a:srgbClr val="0000FF"/>
                </a:solidFill>
                <a:latin typeface="Patrick Hand"/>
                <a:ea typeface="Patrick Hand"/>
                <a:cs typeface="Patrick Hand"/>
                <a:sym typeface="Patrick Hand"/>
              </a:rPr>
              <a:t>This shows that…</a:t>
            </a:r>
            <a:endParaRPr b="1" i="1" sz="1600">
              <a:solidFill>
                <a:srgbClr val="0000FF"/>
              </a:solidFill>
              <a:latin typeface="Patrick Hand"/>
              <a:ea typeface="Patrick Hand"/>
              <a:cs typeface="Patrick Hand"/>
              <a:sym typeface="Patrick Hand"/>
            </a:endParaRPr>
          </a:p>
        </p:txBody>
      </p:sp>
      <p:pic>
        <p:nvPicPr>
          <p:cNvPr id="199" name="Google Shape;199;p28" title="Screenshot 2025-08-28 at 12.01.03 PM.png"/>
          <p:cNvPicPr preferRelativeResize="0"/>
          <p:nvPr/>
        </p:nvPicPr>
        <p:blipFill>
          <a:blip r:embed="rId6">
            <a:alphaModFix/>
          </a:blip>
          <a:stretch>
            <a:fillRect/>
          </a:stretch>
        </p:blipFill>
        <p:spPr>
          <a:xfrm>
            <a:off x="106800" y="2036100"/>
            <a:ext cx="607125" cy="1639200"/>
          </a:xfrm>
          <a:prstGeom prst="rect">
            <a:avLst/>
          </a:prstGeom>
          <a:noFill/>
          <a:ln>
            <a:noFill/>
          </a:ln>
        </p:spPr>
      </p:pic>
      <p:pic>
        <p:nvPicPr>
          <p:cNvPr id="200" name="Google Shape;200;p28" title="Screenshot 2025-07-01 at 9.18.39 AM.png"/>
          <p:cNvPicPr preferRelativeResize="0"/>
          <p:nvPr/>
        </p:nvPicPr>
        <p:blipFill>
          <a:blip r:embed="rId7">
            <a:alphaModFix/>
          </a:blip>
          <a:stretch>
            <a:fillRect/>
          </a:stretch>
        </p:blipFill>
        <p:spPr>
          <a:xfrm>
            <a:off x="6204525" y="3051474"/>
            <a:ext cx="789978" cy="780300"/>
          </a:xfrm>
          <a:prstGeom prst="rect">
            <a:avLst/>
          </a:prstGeom>
          <a:noFill/>
          <a:ln>
            <a:noFill/>
          </a:ln>
        </p:spPr>
      </p:pic>
      <p:sp>
        <p:nvSpPr>
          <p:cNvPr id="201" name="Google Shape;201;p28"/>
          <p:cNvSpPr txBox="1"/>
          <p:nvPr/>
        </p:nvSpPr>
        <p:spPr>
          <a:xfrm>
            <a:off x="6994500" y="2921100"/>
            <a:ext cx="20427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oppins"/>
                <a:ea typeface="Poppins"/>
                <a:cs typeface="Poppins"/>
                <a:sym typeface="Poppins"/>
              </a:rPr>
              <a:t>Which explanation for plate movement </a:t>
            </a:r>
            <a:r>
              <a:rPr lang="en">
                <a:solidFill>
                  <a:schemeClr val="lt1"/>
                </a:solidFill>
                <a:latin typeface="Patrick Hand"/>
                <a:ea typeface="Patrick Hand"/>
                <a:cs typeface="Patrick Hand"/>
                <a:sym typeface="Patrick Hand"/>
              </a:rPr>
              <a:t>(convection currents or slab pull and ridge push) </a:t>
            </a:r>
            <a:r>
              <a:rPr lang="en">
                <a:solidFill>
                  <a:schemeClr val="lt1"/>
                </a:solidFill>
                <a:latin typeface="Poppins"/>
                <a:ea typeface="Poppins"/>
                <a:cs typeface="Poppins"/>
                <a:sym typeface="Poppins"/>
              </a:rPr>
              <a:t>best supports Wegener’s theory of continental drift and why?</a:t>
            </a:r>
            <a:endParaRPr>
              <a:solidFill>
                <a:schemeClr val="lt1"/>
              </a:solidFill>
              <a:latin typeface="Poppins"/>
              <a:ea typeface="Poppins"/>
              <a:cs typeface="Poppins"/>
              <a:sym typeface="Poppins"/>
            </a:endParaRPr>
          </a:p>
        </p:txBody>
      </p:sp>
      <p:pic>
        <p:nvPicPr>
          <p:cNvPr id="202" name="Google Shape;202;p28"/>
          <p:cNvPicPr preferRelativeResize="0"/>
          <p:nvPr/>
        </p:nvPicPr>
        <p:blipFill>
          <a:blip r:embed="rId8">
            <a:alphaModFix/>
          </a:blip>
          <a:stretch>
            <a:fillRect/>
          </a:stretch>
        </p:blipFill>
        <p:spPr>
          <a:xfrm>
            <a:off x="6269760" y="3831775"/>
            <a:ext cx="659516" cy="858900"/>
          </a:xfrm>
          <a:prstGeom prst="rect">
            <a:avLst/>
          </a:prstGeom>
          <a:noFill/>
          <a:ln>
            <a:noFill/>
          </a:ln>
        </p:spPr>
      </p:pic>
      <p:sp>
        <p:nvSpPr>
          <p:cNvPr id="203" name="Google Shape;203;p28"/>
          <p:cNvSpPr txBox="1"/>
          <p:nvPr/>
        </p:nvSpPr>
        <p:spPr>
          <a:xfrm>
            <a:off x="112125" y="3675300"/>
            <a:ext cx="6092400" cy="7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1"/>
                </a:solidFill>
                <a:highlight>
                  <a:srgbClr val="00FF00"/>
                </a:highlight>
                <a:latin typeface="Baumans"/>
                <a:ea typeface="Baumans"/>
                <a:cs typeface="Baumans"/>
                <a:sym typeface="Baumans"/>
              </a:rPr>
              <a:t>Activity 4:</a:t>
            </a:r>
            <a:r>
              <a:rPr b="1" lang="en" sz="1800">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Colour and label the the key parts of the diagram. </a:t>
            </a:r>
            <a:r>
              <a:rPr b="1" lang="en" sz="1600">
                <a:solidFill>
                  <a:schemeClr val="dk1"/>
                </a:solidFill>
                <a:latin typeface="Patrick Hand"/>
                <a:ea typeface="Patrick Hand"/>
                <a:cs typeface="Patrick Hand"/>
                <a:sym typeface="Patrick Hand"/>
              </a:rPr>
              <a:t>(mantle, convection currents, subduction zone, ridge).</a:t>
            </a:r>
            <a:endParaRPr sz="1600">
              <a:latin typeface="Patrick Hand"/>
              <a:ea typeface="Patrick Hand"/>
              <a:cs typeface="Patrick Hand"/>
              <a:sym typeface="Patrick H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nvSpPr>
        <p:spPr>
          <a:xfrm>
            <a:off x="175675" y="624875"/>
            <a:ext cx="6649500" cy="4056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Clr>
                <a:srgbClr val="000000"/>
              </a:buClr>
              <a:buSzPts val="1900"/>
              <a:buFont typeface="Arial"/>
              <a:buNone/>
            </a:pPr>
            <a:r>
              <a:rPr b="1" lang="en" sz="900" u="sng">
                <a:solidFill>
                  <a:schemeClr val="dk1"/>
                </a:solidFill>
                <a:highlight>
                  <a:srgbClr val="00FF00"/>
                </a:highlight>
                <a:latin typeface="Baumans"/>
                <a:ea typeface="Baumans"/>
                <a:cs typeface="Baumans"/>
                <a:sym typeface="Baumans"/>
              </a:rPr>
              <a:t>Activity 3</a:t>
            </a:r>
            <a:r>
              <a:rPr b="1" i="0" lang="en" sz="900" u="sng" cap="none" strike="noStrike">
                <a:solidFill>
                  <a:schemeClr val="dk1"/>
                </a:solidFill>
                <a:highlight>
                  <a:srgbClr val="00FF00"/>
                </a:highlight>
                <a:latin typeface="Baumans"/>
                <a:ea typeface="Baumans"/>
                <a:cs typeface="Baumans"/>
                <a:sym typeface="Baumans"/>
              </a:rPr>
              <a:t>:</a:t>
            </a:r>
            <a:r>
              <a:rPr lang="en" sz="900">
                <a:solidFill>
                  <a:schemeClr val="dk1"/>
                </a:solidFill>
                <a:latin typeface="Baumans"/>
                <a:ea typeface="Baumans"/>
                <a:cs typeface="Baumans"/>
                <a:sym typeface="Baumans"/>
              </a:rPr>
              <a:t> Use the information sheet to help you explain how </a:t>
            </a:r>
            <a:r>
              <a:rPr b="1" lang="en" sz="900">
                <a:solidFill>
                  <a:schemeClr val="dk1"/>
                </a:solidFill>
                <a:latin typeface="Baumans"/>
                <a:ea typeface="Baumans"/>
                <a:cs typeface="Baumans"/>
                <a:sym typeface="Baumans"/>
              </a:rPr>
              <a:t>slab pull and ridge push work </a:t>
            </a:r>
            <a:r>
              <a:rPr lang="en" sz="900">
                <a:solidFill>
                  <a:schemeClr val="dk1"/>
                </a:solidFill>
                <a:latin typeface="Baumans"/>
                <a:ea typeface="Baumans"/>
                <a:cs typeface="Baumans"/>
                <a:sym typeface="Baumans"/>
              </a:rPr>
              <a:t>to move the tectonic plates. </a:t>
            </a:r>
            <a:r>
              <a:rPr b="1" lang="en" sz="700">
                <a:solidFill>
                  <a:schemeClr val="dk1"/>
                </a:solidFill>
                <a:latin typeface="Patrick Hand"/>
                <a:ea typeface="Patrick Hand"/>
                <a:cs typeface="Patrick Hand"/>
                <a:sym typeface="Patrick Hand"/>
              </a:rPr>
              <a:t>(Make sure to include key terms like mantle, convection currents, slab pull, and ridge push.)</a:t>
            </a:r>
            <a:endParaRPr b="0" i="0" sz="700" u="none" cap="none" strike="noStrike">
              <a:solidFill>
                <a:schemeClr val="dk1"/>
              </a:solidFill>
              <a:latin typeface="Calibri"/>
              <a:ea typeface="Calibri"/>
              <a:cs typeface="Calibri"/>
              <a:sym typeface="Calibri"/>
            </a:endParaRPr>
          </a:p>
        </p:txBody>
      </p:sp>
      <p:sp>
        <p:nvSpPr>
          <p:cNvPr id="209" name="Google Shape;209;p29"/>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pic>
        <p:nvPicPr>
          <p:cNvPr id="210" name="Google Shape;210;p29" title="Screenshot 2025-08-28 at 12.01.03 PM.png"/>
          <p:cNvPicPr preferRelativeResize="0"/>
          <p:nvPr/>
        </p:nvPicPr>
        <p:blipFill>
          <a:blip r:embed="rId3">
            <a:alphaModFix/>
          </a:blip>
          <a:stretch>
            <a:fillRect/>
          </a:stretch>
        </p:blipFill>
        <p:spPr>
          <a:xfrm>
            <a:off x="223225" y="1183100"/>
            <a:ext cx="607125" cy="1639200"/>
          </a:xfrm>
          <a:prstGeom prst="rect">
            <a:avLst/>
          </a:prstGeom>
          <a:noFill/>
          <a:ln>
            <a:noFill/>
          </a:ln>
        </p:spPr>
      </p:pic>
      <p:sp>
        <p:nvSpPr>
          <p:cNvPr id="211" name="Google Shape;211;p29"/>
          <p:cNvSpPr txBox="1"/>
          <p:nvPr/>
        </p:nvSpPr>
        <p:spPr>
          <a:xfrm>
            <a:off x="966950" y="1095950"/>
            <a:ext cx="7798500" cy="3669300"/>
          </a:xfrm>
          <a:prstGeom prst="rect">
            <a:avLst/>
          </a:prstGeom>
          <a:noFill/>
          <a:ln>
            <a:noFill/>
          </a:ln>
        </p:spPr>
        <p:txBody>
          <a:bodyPr anchorCtr="0" anchor="t" bIns="91425" lIns="91425" spcFirstLastPara="1" rIns="91425" wrap="square" tIns="91425">
            <a:noAutofit/>
          </a:bodyPr>
          <a:lstStyle/>
          <a:p>
            <a:pPr indent="-336550" lvl="0" marL="457200" rtl="0" algn="just">
              <a:spcBef>
                <a:spcPts val="0"/>
              </a:spcBef>
              <a:spcAft>
                <a:spcPts val="0"/>
              </a:spcAft>
              <a:buClr>
                <a:schemeClr val="dk1"/>
              </a:buClr>
              <a:buSzPts val="1700"/>
              <a:buAutoNum type="arabicPeriod"/>
            </a:pPr>
            <a:r>
              <a:rPr b="1" lang="en" sz="1700">
                <a:solidFill>
                  <a:schemeClr val="dk1"/>
                </a:solidFill>
                <a:latin typeface="Titillium Web"/>
                <a:ea typeface="Titillium Web"/>
                <a:cs typeface="Titillium Web"/>
                <a:sym typeface="Titillium Web"/>
              </a:rPr>
              <a:t>Point: </a:t>
            </a:r>
            <a:r>
              <a:rPr lang="en" sz="1700">
                <a:solidFill>
                  <a:schemeClr val="dk1"/>
                </a:solidFill>
                <a:latin typeface="Titillium Web"/>
                <a:ea typeface="Titillium Web"/>
                <a:cs typeface="Titillium Web"/>
                <a:sym typeface="Titillium Web"/>
              </a:rPr>
              <a:t>Tectonic plates move because of convection currents in the mantle, as well as the processes of slab pull and ridge push.</a:t>
            </a:r>
            <a:endParaRPr sz="1700">
              <a:solidFill>
                <a:schemeClr val="dk1"/>
              </a:solidFill>
              <a:latin typeface="Titillium Web"/>
              <a:ea typeface="Titillium Web"/>
              <a:cs typeface="Titillium Web"/>
              <a:sym typeface="Titillium Web"/>
            </a:endParaRPr>
          </a:p>
          <a:p>
            <a:pPr indent="-336550" lvl="0" marL="457200" rtl="0" algn="just">
              <a:spcBef>
                <a:spcPts val="0"/>
              </a:spcBef>
              <a:spcAft>
                <a:spcPts val="0"/>
              </a:spcAft>
              <a:buClr>
                <a:schemeClr val="dk1"/>
              </a:buClr>
              <a:buSzPts val="1700"/>
              <a:buAutoNum type="arabicPeriod"/>
            </a:pPr>
            <a:r>
              <a:rPr b="1" lang="en" sz="1700">
                <a:solidFill>
                  <a:schemeClr val="dk1"/>
                </a:solidFill>
                <a:latin typeface="Titillium Web"/>
                <a:ea typeface="Titillium Web"/>
                <a:cs typeface="Titillium Web"/>
                <a:sym typeface="Titillium Web"/>
              </a:rPr>
              <a:t>Evidence:</a:t>
            </a:r>
            <a:r>
              <a:rPr lang="en" sz="1700">
                <a:solidFill>
                  <a:schemeClr val="dk1"/>
                </a:solidFill>
                <a:latin typeface="Titillium Web"/>
                <a:ea typeface="Titillium Web"/>
                <a:cs typeface="Titillium Web"/>
                <a:sym typeface="Titillium Web"/>
              </a:rPr>
              <a:t> One piece of evidence is that hot magma rises towards the surface at mid-ocean ridges, creating new crust and pushing plates apart — this is known as </a:t>
            </a:r>
            <a:r>
              <a:rPr b="1" lang="en" sz="1700">
                <a:solidFill>
                  <a:schemeClr val="dk1"/>
                </a:solidFill>
                <a:latin typeface="Titillium Web"/>
                <a:ea typeface="Titillium Web"/>
                <a:cs typeface="Titillium Web"/>
                <a:sym typeface="Titillium Web"/>
              </a:rPr>
              <a:t>ridge push. </a:t>
            </a:r>
            <a:r>
              <a:rPr lang="en" sz="1700">
                <a:solidFill>
                  <a:schemeClr val="dk1"/>
                </a:solidFill>
                <a:latin typeface="Titillium Web"/>
                <a:ea typeface="Titillium Web"/>
                <a:cs typeface="Titillium Web"/>
                <a:sym typeface="Titillium Web"/>
              </a:rPr>
              <a:t>Another piece of evidence is that when an oceanic plate sinks back into the mantle at a subduction zone, it pulls the rest of the plate with it — this is called </a:t>
            </a:r>
            <a:r>
              <a:rPr b="1" lang="en" sz="1700">
                <a:solidFill>
                  <a:schemeClr val="dk1"/>
                </a:solidFill>
                <a:latin typeface="Titillium Web"/>
                <a:ea typeface="Titillium Web"/>
                <a:cs typeface="Titillium Web"/>
                <a:sym typeface="Titillium Web"/>
              </a:rPr>
              <a:t>slab pull.</a:t>
            </a:r>
            <a:endParaRPr b="1" sz="1700">
              <a:solidFill>
                <a:schemeClr val="dk1"/>
              </a:solidFill>
              <a:latin typeface="Titillium Web"/>
              <a:ea typeface="Titillium Web"/>
              <a:cs typeface="Titillium Web"/>
              <a:sym typeface="Titillium Web"/>
            </a:endParaRPr>
          </a:p>
          <a:p>
            <a:pPr indent="-336550" lvl="0" marL="457200" rtl="0" algn="just">
              <a:spcBef>
                <a:spcPts val="0"/>
              </a:spcBef>
              <a:spcAft>
                <a:spcPts val="0"/>
              </a:spcAft>
              <a:buClr>
                <a:schemeClr val="dk1"/>
              </a:buClr>
              <a:buSzPts val="1700"/>
              <a:buAutoNum type="arabicPeriod"/>
            </a:pPr>
            <a:r>
              <a:rPr b="1" lang="en" sz="1700">
                <a:solidFill>
                  <a:schemeClr val="dk1"/>
                </a:solidFill>
                <a:latin typeface="Titillium Web"/>
                <a:ea typeface="Titillium Web"/>
                <a:cs typeface="Titillium Web"/>
                <a:sym typeface="Titillium Web"/>
              </a:rPr>
              <a:t>Explain</a:t>
            </a:r>
            <a:r>
              <a:rPr lang="en" sz="1700">
                <a:solidFill>
                  <a:schemeClr val="dk1"/>
                </a:solidFill>
                <a:latin typeface="Titillium Web"/>
                <a:ea typeface="Titillium Web"/>
                <a:cs typeface="Titillium Web"/>
                <a:sym typeface="Titillium Web"/>
              </a:rPr>
              <a:t>: This means that the plates are constantly moving because heat from the Earth’s core causes the mantle to move in </a:t>
            </a:r>
            <a:r>
              <a:rPr b="1" lang="en" sz="1700">
                <a:solidFill>
                  <a:schemeClr val="dk1"/>
                </a:solidFill>
                <a:latin typeface="Titillium Web"/>
                <a:ea typeface="Titillium Web"/>
                <a:cs typeface="Titillium Web"/>
                <a:sym typeface="Titillium Web"/>
              </a:rPr>
              <a:t>circular convection currents. </a:t>
            </a:r>
            <a:r>
              <a:rPr lang="en" sz="1700">
                <a:solidFill>
                  <a:schemeClr val="dk1"/>
                </a:solidFill>
                <a:latin typeface="Titillium Web"/>
                <a:ea typeface="Titillium Web"/>
                <a:cs typeface="Titillium Web"/>
                <a:sym typeface="Titillium Web"/>
              </a:rPr>
              <a:t>These currents drag the plates above them, while </a:t>
            </a:r>
            <a:r>
              <a:rPr b="1" lang="en" sz="1700">
                <a:solidFill>
                  <a:schemeClr val="dk1"/>
                </a:solidFill>
                <a:latin typeface="Titillium Web"/>
                <a:ea typeface="Titillium Web"/>
                <a:cs typeface="Titillium Web"/>
                <a:sym typeface="Titillium Web"/>
              </a:rPr>
              <a:t>slab pull and ridge push</a:t>
            </a:r>
            <a:r>
              <a:rPr lang="en" sz="1700">
                <a:solidFill>
                  <a:schemeClr val="dk1"/>
                </a:solidFill>
                <a:latin typeface="Titillium Web"/>
                <a:ea typeface="Titillium Web"/>
                <a:cs typeface="Titillium Web"/>
                <a:sym typeface="Titillium Web"/>
              </a:rPr>
              <a:t> help drive their motion.</a:t>
            </a:r>
            <a:endParaRPr sz="1700">
              <a:solidFill>
                <a:schemeClr val="dk1"/>
              </a:solidFill>
              <a:latin typeface="Titillium Web"/>
              <a:ea typeface="Titillium Web"/>
              <a:cs typeface="Titillium Web"/>
              <a:sym typeface="Titillium Web"/>
            </a:endParaRPr>
          </a:p>
          <a:p>
            <a:pPr indent="-336550" lvl="0" marL="457200" rtl="0" algn="just">
              <a:spcBef>
                <a:spcPts val="0"/>
              </a:spcBef>
              <a:spcAft>
                <a:spcPts val="0"/>
              </a:spcAft>
              <a:buClr>
                <a:schemeClr val="dk1"/>
              </a:buClr>
              <a:buSzPts val="1700"/>
              <a:buAutoNum type="arabicPeriod"/>
            </a:pPr>
            <a:r>
              <a:rPr b="1" lang="en" sz="1700">
                <a:solidFill>
                  <a:schemeClr val="dk1"/>
                </a:solidFill>
                <a:latin typeface="Titillium Web"/>
                <a:ea typeface="Titillium Web"/>
                <a:cs typeface="Titillium Web"/>
                <a:sym typeface="Titillium Web"/>
              </a:rPr>
              <a:t>Link: </a:t>
            </a:r>
            <a:r>
              <a:rPr lang="en" sz="1700">
                <a:solidFill>
                  <a:schemeClr val="dk1"/>
                </a:solidFill>
                <a:latin typeface="Titillium Web"/>
                <a:ea typeface="Titillium Web"/>
                <a:cs typeface="Titillium Web"/>
                <a:sym typeface="Titillium Web"/>
              </a:rPr>
              <a:t>This shows that the movement of the plates is powered by energy from within the Earth, helping to explain how continents slowly drift and change position over millions of years.</a:t>
            </a:r>
            <a:endParaRPr sz="1700">
              <a:solidFill>
                <a:schemeClr val="dk1"/>
              </a:solidFill>
              <a:latin typeface="Titillium Web"/>
              <a:ea typeface="Titillium Web"/>
              <a:cs typeface="Titillium Web"/>
              <a:sym typeface="Titillium Web"/>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0"/>
          <p:cNvSpPr txBox="1"/>
          <p:nvPr/>
        </p:nvSpPr>
        <p:spPr>
          <a:xfrm>
            <a:off x="106800" y="1271313"/>
            <a:ext cx="5460300" cy="2839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What is one important thing you have learned today about how the Earth’s plates move and why is this important?</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Why is it important to respect Wegener’s work, even though many scientists at first rejected his ideas?</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Why is it important for scientists to be honest about the limits of their evidence when studying plate movement?</a:t>
            </a:r>
            <a:endParaRPr sz="1800">
              <a:latin typeface="Baumans"/>
              <a:ea typeface="Baumans"/>
              <a:cs typeface="Baumans"/>
              <a:sym typeface="Baumans"/>
            </a:endParaRPr>
          </a:p>
        </p:txBody>
      </p:sp>
      <p:pic>
        <p:nvPicPr>
          <p:cNvPr id="217" name="Google Shape;217;p30"/>
          <p:cNvPicPr preferRelativeResize="0"/>
          <p:nvPr/>
        </p:nvPicPr>
        <p:blipFill rotWithShape="1">
          <a:blip r:embed="rId3">
            <a:alphaModFix/>
          </a:blip>
          <a:srcRect b="5807" l="30711" r="3174" t="5130"/>
          <a:stretch/>
        </p:blipFill>
        <p:spPr>
          <a:xfrm>
            <a:off x="131950" y="587388"/>
            <a:ext cx="975600" cy="517450"/>
          </a:xfrm>
          <a:prstGeom prst="rect">
            <a:avLst/>
          </a:prstGeom>
          <a:noFill/>
          <a:ln>
            <a:noFill/>
          </a:ln>
        </p:spPr>
      </p:pic>
      <p:sp>
        <p:nvSpPr>
          <p:cNvPr id="218" name="Google Shape;218;p30"/>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pic>
        <p:nvPicPr>
          <p:cNvPr id="219" name="Google Shape;219;p30"/>
          <p:cNvPicPr preferRelativeResize="0"/>
          <p:nvPr/>
        </p:nvPicPr>
        <p:blipFill>
          <a:blip r:embed="rId4">
            <a:alphaModFix/>
          </a:blip>
          <a:stretch>
            <a:fillRect/>
          </a:stretch>
        </p:blipFill>
        <p:spPr>
          <a:xfrm>
            <a:off x="5711725" y="1588463"/>
            <a:ext cx="3272101" cy="1966583"/>
          </a:xfrm>
          <a:prstGeom prst="rect">
            <a:avLst/>
          </a:prstGeom>
          <a:noFill/>
          <a:ln>
            <a:noFill/>
          </a:ln>
        </p:spPr>
      </p:pic>
      <p:pic>
        <p:nvPicPr>
          <p:cNvPr id="220" name="Google Shape;220;p30">
            <a:hlinkClick r:id="rId5"/>
          </p:cNvPr>
          <p:cNvPicPr preferRelativeResize="0"/>
          <p:nvPr/>
        </p:nvPicPr>
        <p:blipFill>
          <a:blip r:embed="rId6">
            <a:alphaModFix/>
          </a:blip>
          <a:stretch>
            <a:fillRect/>
          </a:stretch>
        </p:blipFill>
        <p:spPr>
          <a:xfrm>
            <a:off x="6729150" y="4160428"/>
            <a:ext cx="1862049" cy="550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nvSpPr>
        <p:spPr>
          <a:xfrm>
            <a:off x="106800" y="1271313"/>
            <a:ext cx="5460300" cy="31170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In pairs use the fossil evidence to rebuild the Pangaea supercontinent.</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Cut out and label the continents, then use the puzzle pieces to recreate the Pangaea </a:t>
            </a:r>
            <a:r>
              <a:rPr lang="en" sz="1800">
                <a:latin typeface="Baumans"/>
                <a:ea typeface="Baumans"/>
                <a:cs typeface="Baumans"/>
                <a:sym typeface="Baumans"/>
              </a:rPr>
              <a:t>supercontinent</a:t>
            </a:r>
            <a:r>
              <a:rPr lang="en" sz="1800">
                <a:latin typeface="Baumans"/>
                <a:ea typeface="Baumans"/>
                <a:cs typeface="Baumans"/>
                <a:sym typeface="Baumans"/>
              </a:rPr>
              <a:t>.</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The first team to finish the puzzle correctly is the winner!</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t/>
            </a:r>
            <a:endParaRPr sz="1800">
              <a:latin typeface="Baumans"/>
              <a:ea typeface="Baumans"/>
              <a:cs typeface="Baumans"/>
              <a:sym typeface="Baumans"/>
            </a:endParaRPr>
          </a:p>
          <a:p>
            <a:pPr indent="0" lvl="0" marL="0" marR="0" rtl="0" algn="l">
              <a:lnSpc>
                <a:spcPct val="100000"/>
              </a:lnSpc>
              <a:spcBef>
                <a:spcPts val="0"/>
              </a:spcBef>
              <a:spcAft>
                <a:spcPts val="0"/>
              </a:spcAft>
              <a:buClr>
                <a:srgbClr val="000000"/>
              </a:buClr>
              <a:buSzPts val="2100"/>
              <a:buFont typeface="Arial"/>
              <a:buNone/>
            </a:pPr>
            <a:r>
              <a:rPr lang="en" sz="1800">
                <a:latin typeface="Baumans"/>
                <a:ea typeface="Baumans"/>
                <a:cs typeface="Baumans"/>
                <a:sym typeface="Baumans"/>
              </a:rPr>
              <a:t>Stuck? Look at the map evidence to see which continents match.</a:t>
            </a:r>
            <a:endParaRPr sz="1800">
              <a:latin typeface="Baumans"/>
              <a:ea typeface="Baumans"/>
              <a:cs typeface="Baumans"/>
              <a:sym typeface="Baumans"/>
            </a:endParaRPr>
          </a:p>
        </p:txBody>
      </p:sp>
      <p:pic>
        <p:nvPicPr>
          <p:cNvPr id="226" name="Google Shape;226;p31"/>
          <p:cNvPicPr preferRelativeResize="0"/>
          <p:nvPr/>
        </p:nvPicPr>
        <p:blipFill rotWithShape="1">
          <a:blip r:embed="rId3">
            <a:alphaModFix/>
          </a:blip>
          <a:srcRect b="0" l="0" r="0" t="0"/>
          <a:stretch/>
        </p:blipFill>
        <p:spPr>
          <a:xfrm>
            <a:off x="5704452" y="669650"/>
            <a:ext cx="3075925" cy="4320325"/>
          </a:xfrm>
          <a:prstGeom prst="rect">
            <a:avLst/>
          </a:prstGeom>
          <a:noFill/>
          <a:ln>
            <a:noFill/>
          </a:ln>
        </p:spPr>
      </p:pic>
      <p:sp>
        <p:nvSpPr>
          <p:cNvPr id="227" name="Google Shape;227;p31"/>
          <p:cNvSpPr txBox="1"/>
          <p:nvPr/>
        </p:nvSpPr>
        <p:spPr>
          <a:xfrm>
            <a:off x="1107550" y="587388"/>
            <a:ext cx="3882900" cy="51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i="0" lang="en" sz="2400" u="none" cap="none" strike="noStrike">
                <a:solidFill>
                  <a:schemeClr val="dk1"/>
                </a:solidFill>
                <a:latin typeface="Fugaz One"/>
                <a:ea typeface="Fugaz One"/>
                <a:cs typeface="Fugaz One"/>
                <a:sym typeface="Fugaz One"/>
              </a:rPr>
              <a:t>Pangaea puzzle!</a:t>
            </a:r>
            <a:endParaRPr i="0" sz="2400" u="none" cap="none" strike="noStrike">
              <a:solidFill>
                <a:schemeClr val="dk1"/>
              </a:solidFill>
              <a:latin typeface="Fugaz One"/>
              <a:ea typeface="Fugaz One"/>
              <a:cs typeface="Fugaz One"/>
              <a:sym typeface="Fugaz One"/>
            </a:endParaRPr>
          </a:p>
        </p:txBody>
      </p:sp>
      <p:pic>
        <p:nvPicPr>
          <p:cNvPr id="228" name="Google Shape;228;p31"/>
          <p:cNvPicPr preferRelativeResize="0"/>
          <p:nvPr/>
        </p:nvPicPr>
        <p:blipFill rotWithShape="1">
          <a:blip r:embed="rId4">
            <a:alphaModFix/>
          </a:blip>
          <a:srcRect b="5807" l="30711" r="3174" t="5130"/>
          <a:stretch/>
        </p:blipFill>
        <p:spPr>
          <a:xfrm>
            <a:off x="131950" y="587388"/>
            <a:ext cx="975600" cy="517450"/>
          </a:xfrm>
          <a:prstGeom prst="rect">
            <a:avLst/>
          </a:prstGeom>
          <a:noFill/>
          <a:ln>
            <a:noFill/>
          </a:ln>
        </p:spPr>
      </p:pic>
      <p:sp>
        <p:nvSpPr>
          <p:cNvPr id="229" name="Google Shape;229;p31"/>
          <p:cNvSpPr txBox="1"/>
          <p:nvPr/>
        </p:nvSpPr>
        <p:spPr>
          <a:xfrm>
            <a:off x="106800" y="83900"/>
            <a:ext cx="89304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Title: How do we know the plates are moving?</a:t>
            </a:r>
            <a:endParaRPr b="1" sz="1200">
              <a:solidFill>
                <a:srgbClr val="980000"/>
              </a:solidFill>
              <a:latin typeface="Delius"/>
              <a:ea typeface="Delius"/>
              <a:cs typeface="Delius"/>
              <a:sym typeface="Delius"/>
            </a:endParaRPr>
          </a:p>
          <a:p>
            <a:pPr indent="0" lvl="0" marL="0" marR="0" rtl="0" algn="l">
              <a:lnSpc>
                <a:spcPct val="100000"/>
              </a:lnSpc>
              <a:spcBef>
                <a:spcPts val="0"/>
              </a:spcBef>
              <a:spcAft>
                <a:spcPts val="0"/>
              </a:spcAft>
              <a:buClr>
                <a:srgbClr val="000000"/>
              </a:buClr>
              <a:buSzPts val="1100"/>
              <a:buFont typeface="Arial"/>
              <a:buNone/>
            </a:pPr>
            <a:r>
              <a:rPr b="1" i="0" lang="en" sz="1200" u="none" cap="none" strike="noStrike">
                <a:solidFill>
                  <a:srgbClr val="980000"/>
                </a:solidFill>
                <a:latin typeface="Delius"/>
                <a:ea typeface="Delius"/>
                <a:cs typeface="Delius"/>
                <a:sym typeface="Delius"/>
              </a:rPr>
              <a:t>LO: Analyse evidence to support the theory of continental drift; Discuss different theories of plate movement</a:t>
            </a:r>
            <a:r>
              <a:rPr b="1" lang="en" sz="1200">
                <a:solidFill>
                  <a:srgbClr val="980000"/>
                </a:solidFill>
                <a:latin typeface="Delius"/>
                <a:ea typeface="Delius"/>
                <a:cs typeface="Delius"/>
                <a:sym typeface="Delius"/>
              </a:rPr>
              <a:t>,</a:t>
            </a:r>
            <a:endParaRPr b="1" i="0" sz="1200" u="none" cap="none" strike="noStrike">
              <a:solidFill>
                <a:srgbClr val="980000"/>
              </a:solidFill>
              <a:latin typeface="Delius"/>
              <a:ea typeface="Delius"/>
              <a:cs typeface="Delius"/>
              <a:sym typeface="Deliu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