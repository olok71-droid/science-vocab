
<file path=[Content_Types].xml><?xml version="1.0" encoding="utf-8"?>
<Types xmlns="http://schemas.openxmlformats.org/package/2006/content-types">
  <Default Extension="emf" ContentType="image/x-emf"/>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 id="273" r:id="rId21"/>
  </p:sldIdLst>
  <p:sldSz cx="9144000" cy="5143500" type="screen16x9"/>
  <p:notesSz cx="6858000" cy="9144000"/>
  <p:embeddedFontLst>
    <p:embeddedFont>
      <p:font typeface="Aladin" panose="02000506000000020004" pitchFamily="2" charset="77"/>
      <p:regular r:id="rId23"/>
    </p:embeddedFont>
    <p:embeddedFont>
      <p:font typeface="Baumans" panose="02000506020000020003" pitchFamily="2" charset="0"/>
      <p:regular r:id="rId24"/>
    </p:embeddedFont>
    <p:embeddedFont>
      <p:font typeface="Delius" panose="02000603000000000000" pitchFamily="2" charset="0"/>
      <p:regular r:id="rId25"/>
    </p:embeddedFont>
    <p:embeddedFont>
      <p:font typeface="Edu TAS Beginner" pitchFamily="2" charset="0"/>
      <p:regular r:id="rId26"/>
      <p:bold r:id="rId27"/>
    </p:embeddedFont>
    <p:embeddedFont>
      <p:font typeface="Finger Paint" panose="020B0506040000020004" pitchFamily="34" charset="0"/>
      <p:regular r:id="rId28"/>
    </p:embeddedFont>
    <p:embeddedFont>
      <p:font typeface="Fugaz One" pitchFamily="2" charset="0"/>
      <p:regular r:id="rId29"/>
    </p:embeddedFont>
    <p:embeddedFont>
      <p:font typeface="Luckiest Guy" panose="02000506000000020004" pitchFamily="2" charset="0"/>
      <p:regular r:id="rId30"/>
    </p:embeddedFont>
    <p:embeddedFont>
      <p:font typeface="Patrick Hand" pitchFamily="2" charset="77"/>
      <p:regular r:id="rId31"/>
    </p:embeddedFont>
    <p:embeddedFont>
      <p:font typeface="Poppins" pitchFamily="2" charset="77"/>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9E4693C-F83B-4BF2-A814-EF8C136934E9}">
  <a:tblStyle styleId="{19E4693C-F83B-4BF2-A814-EF8C136934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30"/>
    <p:restoredTop sz="94688"/>
  </p:normalViewPr>
  <p:slideViewPr>
    <p:cSldViewPr snapToGrid="0">
      <p:cViewPr varScale="1">
        <p:scale>
          <a:sx n="141" d="100"/>
          <a:sy n="141" d="100"/>
        </p:scale>
        <p:origin x="208" y="5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ayground.com/admin/quiz/68f0851ff3cd7371bc1edb0a/edit?at=68f0857376c361d2f8f590ae"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88483fdb9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88483fdb9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9ddf16c50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g3f9ddf16c50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88483fdb9a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88483fdb9a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88483fdb9a_1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88483fdb9a_1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www.youtube.com</a:t>
            </a:r>
            <a:r>
              <a:rPr lang="en" dirty="0"/>
              <a:t>/</a:t>
            </a:r>
            <a:r>
              <a:rPr lang="en" dirty="0" err="1"/>
              <a:t>watch?v</a:t>
            </a:r>
            <a:r>
              <a:rPr lang="en" dirty="0"/>
              <a:t>=</a:t>
            </a:r>
            <a:r>
              <a:rPr lang="en" dirty="0" err="1"/>
              <a:t>VNGUdObDoLk</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88483fdb9a_1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88483fdb9a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dirty="0">
                <a:solidFill>
                  <a:schemeClr val="hlink"/>
                </a:solidFill>
                <a:hlinkClick r:id="rId3"/>
              </a:rPr>
              <a:t>https://wayground.com/admin/quiz/68f0851ff3cd7371bc1edb0a/edit?at=68f0857376c361d2f8f590ae</a:t>
            </a:r>
            <a:endParaRPr dirty="0"/>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f9f842324a_0_5: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400"/>
              <a:buNone/>
            </a:pPr>
            <a:r>
              <a:rPr lang="en" dirty="0">
                <a:solidFill>
                  <a:schemeClr val="dk1"/>
                </a:solidFill>
              </a:rPr>
              <a:t>https://</a:t>
            </a:r>
            <a:r>
              <a:rPr lang="en" dirty="0" err="1">
                <a:solidFill>
                  <a:schemeClr val="dk1"/>
                </a:solidFill>
              </a:rPr>
              <a:t>www.youtube.com</a:t>
            </a:r>
            <a:r>
              <a:rPr lang="en" dirty="0">
                <a:solidFill>
                  <a:schemeClr val="dk1"/>
                </a:solidFill>
              </a:rPr>
              <a:t>/</a:t>
            </a:r>
            <a:r>
              <a:rPr lang="en" dirty="0" err="1">
                <a:solidFill>
                  <a:schemeClr val="dk1"/>
                </a:solidFill>
              </a:rPr>
              <a:t>watch?v</a:t>
            </a:r>
            <a:r>
              <a:rPr lang="en" dirty="0">
                <a:solidFill>
                  <a:schemeClr val="dk1"/>
                </a:solidFill>
              </a:rPr>
              <a:t>=</a:t>
            </a:r>
            <a:r>
              <a:rPr lang="en" dirty="0" err="1">
                <a:solidFill>
                  <a:schemeClr val="dk1"/>
                </a:solidFill>
              </a:rPr>
              <a:t>dOrJkgVMCqc</a:t>
            </a:r>
            <a:endParaRPr dirty="0"/>
          </a:p>
        </p:txBody>
      </p:sp>
      <p:sp>
        <p:nvSpPr>
          <p:cNvPr id="119" name="Google Shape;119;g3f9f842324a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7cedb9e64b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7cedb9e64b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dashboard.blooket.com</a:t>
            </a:r>
            <a:r>
              <a:rPr lang="en" dirty="0"/>
              <a:t>/set/68b116266e3af35fc52bd327</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cedb9e64b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7cedb9e64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7cedb9e64b_0_1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7cedb9e64b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https://dashboard.blooket.com/set/68b116266e3af35fc52bd327</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cedb9e64b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7cedb9e64b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9ddf16c50_1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f9ddf16c50_1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https://dashboard.blooket.com/set/68c0c9d693edbe01bde4a622</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f9ddf16c50_1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g3f9ddf16c50_1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fb1c360c6f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fb1c360c6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fb1c360c6f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fb1c360c6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https://www.youtube.com/watch?v=R_pDKyg5YKY&amp;t=248s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88483fdb9a_1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88483fdb9a_1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https://www.youtube.com/watch?v=f71PnWYU10w</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f9ddf16c50_1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f9ddf16c50_1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fb251eeec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fb251eeec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https://www.youtube.com/watch?v=f71PnWYU10w</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f9ddf16c50_1_1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
                <a:solidFill>
                  <a:schemeClr val="dk1"/>
                </a:solidFill>
              </a:rPr>
              <a:t>https://dashboard.blooket.com/set/68b8d0887ef53e8c73be158f</a:t>
            </a:r>
            <a:endParaRPr/>
          </a:p>
        </p:txBody>
      </p:sp>
      <p:sp>
        <p:nvSpPr>
          <p:cNvPr id="263" name="Google Shape;263;g3f9ddf16c50_1_1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29842" y="273845"/>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1200"/>
              </a:spcBef>
              <a:spcAft>
                <a:spcPts val="0"/>
              </a:spcAft>
              <a:buClr>
                <a:schemeClr val="dk1"/>
              </a:buClr>
              <a:buSzPts val="1500"/>
              <a:buNone/>
              <a:defRPr sz="1500" b="1"/>
            </a:lvl2pPr>
            <a:lvl3pPr marL="1371600" lvl="2" indent="-228600" algn="l">
              <a:lnSpc>
                <a:spcPct val="90000"/>
              </a:lnSpc>
              <a:spcBef>
                <a:spcPts val="1200"/>
              </a:spcBef>
              <a:spcAft>
                <a:spcPts val="0"/>
              </a:spcAft>
              <a:buClr>
                <a:schemeClr val="dk1"/>
              </a:buClr>
              <a:buSzPts val="1400"/>
              <a:buNone/>
              <a:defRPr sz="1400" b="1"/>
            </a:lvl3pPr>
            <a:lvl4pPr marL="1828800" lvl="3" indent="-228600" algn="l">
              <a:lnSpc>
                <a:spcPct val="90000"/>
              </a:lnSpc>
              <a:spcBef>
                <a:spcPts val="1200"/>
              </a:spcBef>
              <a:spcAft>
                <a:spcPts val="0"/>
              </a:spcAft>
              <a:buClr>
                <a:schemeClr val="dk1"/>
              </a:buClr>
              <a:buSzPts val="1200"/>
              <a:buNone/>
              <a:defRPr sz="1200" b="1"/>
            </a:lvl4pPr>
            <a:lvl5pPr marL="2286000" lvl="4" indent="-228600" algn="l">
              <a:lnSpc>
                <a:spcPct val="9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a:endParaRPr/>
          </a:p>
        </p:txBody>
      </p:sp>
      <p:sp>
        <p:nvSpPr>
          <p:cNvPr id="16" name="Google Shape;16;p3"/>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17" name="Google Shape;17;p3"/>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1200"/>
              </a:spcBef>
              <a:spcAft>
                <a:spcPts val="0"/>
              </a:spcAft>
              <a:buClr>
                <a:schemeClr val="dk1"/>
              </a:buClr>
              <a:buSzPts val="1500"/>
              <a:buNone/>
              <a:defRPr sz="1500" b="1"/>
            </a:lvl2pPr>
            <a:lvl3pPr marL="1371600" lvl="2" indent="-228600" algn="l">
              <a:lnSpc>
                <a:spcPct val="90000"/>
              </a:lnSpc>
              <a:spcBef>
                <a:spcPts val="1200"/>
              </a:spcBef>
              <a:spcAft>
                <a:spcPts val="0"/>
              </a:spcAft>
              <a:buClr>
                <a:schemeClr val="dk1"/>
              </a:buClr>
              <a:buSzPts val="1400"/>
              <a:buNone/>
              <a:defRPr sz="1400" b="1"/>
            </a:lvl3pPr>
            <a:lvl4pPr marL="1828800" lvl="3" indent="-228600" algn="l">
              <a:lnSpc>
                <a:spcPct val="90000"/>
              </a:lnSpc>
              <a:spcBef>
                <a:spcPts val="1200"/>
              </a:spcBef>
              <a:spcAft>
                <a:spcPts val="0"/>
              </a:spcAft>
              <a:buClr>
                <a:schemeClr val="dk1"/>
              </a:buClr>
              <a:buSzPts val="1200"/>
              <a:buNone/>
              <a:defRPr sz="1200" b="1"/>
            </a:lvl4pPr>
            <a:lvl5pPr marL="2286000" lvl="4" indent="-228600" algn="l">
              <a:lnSpc>
                <a:spcPct val="9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a:endParaRPr/>
          </a:p>
        </p:txBody>
      </p:sp>
      <p:sp>
        <p:nvSpPr>
          <p:cNvPr id="18" name="Google Shape;18;p3"/>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19" name="Google Shape;19;p3"/>
          <p:cNvSpPr txBox="1">
            <a:spLocks noGrp="1"/>
          </p:cNvSpPr>
          <p:nvPr>
            <p:ph type="dt" idx="10"/>
          </p:nvPr>
        </p:nvSpPr>
        <p:spPr>
          <a:xfrm>
            <a:off x="628651" y="4767264"/>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0" name="Google Shape;20;p3"/>
          <p:cNvSpPr txBox="1">
            <a:spLocks noGrp="1"/>
          </p:cNvSpPr>
          <p:nvPr>
            <p:ph type="ftr" idx="11"/>
          </p:nvPr>
        </p:nvSpPr>
        <p:spPr>
          <a:xfrm>
            <a:off x="3028951" y="4767264"/>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1" name="Google Shape;21;p3"/>
          <p:cNvSpPr txBox="1">
            <a:spLocks noGrp="1"/>
          </p:cNvSpPr>
          <p:nvPr>
            <p:ph type="sldNum" idx="12"/>
          </p:nvPr>
        </p:nvSpPr>
        <p:spPr>
          <a:xfrm>
            <a:off x="6457951" y="4767264"/>
            <a:ext cx="2057400" cy="273900"/>
          </a:xfrm>
          <a:prstGeom prst="rect">
            <a:avLst/>
          </a:prstGeom>
          <a:noFill/>
          <a:ln>
            <a:noFill/>
          </a:ln>
        </p:spPr>
        <p:txBody>
          <a:bodyPr spcFirstLastPara="1" wrap="square" lIns="68575" tIns="34275" rIns="68575" bIns="3427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
        <p:nvSpPr>
          <p:cNvPr id="23" name="Google Shape;23;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p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5" name="Google Shape;45;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1" name="Google Shape;51;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4" name="Google Shape;54;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8" name="Google Shape;5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1" name="Google Shape;61;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63"/>
        <p:cNvGrpSpPr/>
        <p:nvPr/>
      </p:nvGrpSpPr>
      <p:grpSpPr>
        <a:xfrm>
          <a:off x="0" y="0"/>
          <a:ext cx="0" cy="0"/>
          <a:chOff x="0" y="0"/>
          <a:chExt cx="0" cy="0"/>
        </a:xfrm>
      </p:grpSpPr>
      <p:sp>
        <p:nvSpPr>
          <p:cNvPr id="64" name="Google Shape;64;p15"/>
          <p:cNvSpPr txBox="1">
            <a:spLocks noGrp="1"/>
          </p:cNvSpPr>
          <p:nvPr>
            <p:ph type="ctrTitle"/>
          </p:nvPr>
        </p:nvSpPr>
        <p:spPr>
          <a:xfrm>
            <a:off x="311708" y="744575"/>
            <a:ext cx="8520600" cy="2052600"/>
          </a:xfrm>
          <a:prstGeom prst="rect">
            <a:avLst/>
          </a:prstGeom>
          <a:noFill/>
          <a:ln>
            <a:noFill/>
          </a:ln>
        </p:spPr>
        <p:txBody>
          <a:bodyPr spcFirstLastPara="1" wrap="square" lIns="45700" tIns="45700" rIns="45700" bIns="45700"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65" name="Google Shape;65;p15"/>
          <p:cNvSpPr txBox="1">
            <a:spLocks noGrp="1"/>
          </p:cNvSpPr>
          <p:nvPr>
            <p:ph type="subTitle" idx="1"/>
          </p:nvPr>
        </p:nvSpPr>
        <p:spPr>
          <a:xfrm>
            <a:off x="311700" y="2834125"/>
            <a:ext cx="8520600" cy="792600"/>
          </a:xfrm>
          <a:prstGeom prst="rect">
            <a:avLst/>
          </a:prstGeom>
          <a:noFill/>
          <a:ln>
            <a:noFill/>
          </a:ln>
        </p:spPr>
        <p:txBody>
          <a:bodyPr spcFirstLastPara="1" wrap="square" lIns="45700" tIns="45700" rIns="45700" bIns="45700" anchor="t" anchorCtr="0">
            <a:noAutofit/>
          </a:bodyPr>
          <a:lstStyle>
            <a:lvl1pPr lvl="0" algn="ctr">
              <a:lnSpc>
                <a:spcPct val="100000"/>
              </a:lnSpc>
              <a:spcBef>
                <a:spcPts val="700"/>
              </a:spcBef>
              <a:spcAft>
                <a:spcPts val="0"/>
              </a:spcAft>
              <a:buSzPts val="2800"/>
              <a:buNone/>
              <a:defRPr sz="2800"/>
            </a:lvl1pPr>
            <a:lvl2pPr lvl="1" algn="ctr">
              <a:lnSpc>
                <a:spcPct val="100000"/>
              </a:lnSpc>
              <a:spcBef>
                <a:spcPts val="700"/>
              </a:spcBef>
              <a:spcAft>
                <a:spcPts val="0"/>
              </a:spcAft>
              <a:buSzPts val="2800"/>
              <a:buNone/>
              <a:defRPr sz="2800"/>
            </a:lvl2pPr>
            <a:lvl3pPr lvl="2" algn="ctr">
              <a:lnSpc>
                <a:spcPct val="100000"/>
              </a:lnSpc>
              <a:spcBef>
                <a:spcPts val="700"/>
              </a:spcBef>
              <a:spcAft>
                <a:spcPts val="0"/>
              </a:spcAft>
              <a:buSzPts val="2800"/>
              <a:buNone/>
              <a:defRPr sz="2800"/>
            </a:lvl3pPr>
            <a:lvl4pPr lvl="3" algn="ctr">
              <a:lnSpc>
                <a:spcPct val="100000"/>
              </a:lnSpc>
              <a:spcBef>
                <a:spcPts val="700"/>
              </a:spcBef>
              <a:spcAft>
                <a:spcPts val="0"/>
              </a:spcAft>
              <a:buSzPts val="2800"/>
              <a:buNone/>
              <a:defRPr sz="2800"/>
            </a:lvl4pPr>
            <a:lvl5pPr lvl="4" algn="ctr">
              <a:lnSpc>
                <a:spcPct val="100000"/>
              </a:lnSpc>
              <a:spcBef>
                <a:spcPts val="700"/>
              </a:spcBef>
              <a:spcAft>
                <a:spcPts val="0"/>
              </a:spcAft>
              <a:buSzPts val="2800"/>
              <a:buNone/>
              <a:defRPr sz="2800"/>
            </a:lvl5pPr>
            <a:lvl6pPr lvl="5" algn="ctr">
              <a:lnSpc>
                <a:spcPct val="100000"/>
              </a:lnSpc>
              <a:spcBef>
                <a:spcPts val="700"/>
              </a:spcBef>
              <a:spcAft>
                <a:spcPts val="0"/>
              </a:spcAft>
              <a:buSzPts val="2800"/>
              <a:buNone/>
              <a:defRPr sz="2800"/>
            </a:lvl6pPr>
            <a:lvl7pPr lvl="6" algn="ctr">
              <a:lnSpc>
                <a:spcPct val="100000"/>
              </a:lnSpc>
              <a:spcBef>
                <a:spcPts val="700"/>
              </a:spcBef>
              <a:spcAft>
                <a:spcPts val="0"/>
              </a:spcAft>
              <a:buSzPts val="2800"/>
              <a:buNone/>
              <a:defRPr sz="2800"/>
            </a:lvl7pPr>
            <a:lvl8pPr lvl="7" algn="ctr">
              <a:lnSpc>
                <a:spcPct val="100000"/>
              </a:lnSpc>
              <a:spcBef>
                <a:spcPts val="700"/>
              </a:spcBef>
              <a:spcAft>
                <a:spcPts val="0"/>
              </a:spcAft>
              <a:buSzPts val="2800"/>
              <a:buNone/>
              <a:defRPr sz="2800"/>
            </a:lvl8pPr>
            <a:lvl9pPr lvl="8" algn="ctr">
              <a:lnSpc>
                <a:spcPct val="100000"/>
              </a:lnSpc>
              <a:spcBef>
                <a:spcPts val="700"/>
              </a:spcBef>
              <a:spcAft>
                <a:spcPts val="0"/>
              </a:spcAft>
              <a:buSzPts val="2800"/>
              <a:buNone/>
              <a:defRPr sz="2800"/>
            </a:lvl9pPr>
          </a:lstStyle>
          <a:p>
            <a:endParaRPr/>
          </a:p>
        </p:txBody>
      </p:sp>
      <p:sp>
        <p:nvSpPr>
          <p:cNvPr id="66" name="Google Shape;66;p15"/>
          <p:cNvSpPr txBox="1">
            <a:spLocks noGrp="1"/>
          </p:cNvSpPr>
          <p:nvPr>
            <p:ph type="sldNum" idx="12"/>
          </p:nvPr>
        </p:nvSpPr>
        <p:spPr>
          <a:xfrm>
            <a:off x="8472458" y="4663217"/>
            <a:ext cx="548700" cy="393600"/>
          </a:xfrm>
          <a:prstGeom prst="rect">
            <a:avLst/>
          </a:prstGeom>
          <a:noFill/>
          <a:ln>
            <a:noFill/>
          </a:ln>
        </p:spPr>
        <p:txBody>
          <a:bodyPr spcFirstLastPara="1" wrap="square" lIns="45700" tIns="45700" rIns="45700"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179387" y="357504"/>
            <a:ext cx="8785200" cy="5310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2100"/>
              <a:buNone/>
              <a:defRPr sz="3000"/>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a:endParaRPr/>
          </a:p>
        </p:txBody>
      </p:sp>
      <p:sp>
        <p:nvSpPr>
          <p:cNvPr id="69" name="Google Shape;69;p16"/>
          <p:cNvSpPr txBox="1">
            <a:spLocks noGrp="1"/>
          </p:cNvSpPr>
          <p:nvPr>
            <p:ph type="body" idx="1"/>
          </p:nvPr>
        </p:nvSpPr>
        <p:spPr>
          <a:xfrm>
            <a:off x="179388" y="897731"/>
            <a:ext cx="8785200" cy="2538300"/>
          </a:xfrm>
          <a:prstGeom prst="rect">
            <a:avLst/>
          </a:prstGeom>
          <a:noFill/>
          <a:ln>
            <a:noFill/>
          </a:ln>
        </p:spPr>
        <p:txBody>
          <a:bodyPr spcFirstLastPara="1" wrap="square" lIns="68575" tIns="34275" rIns="68575" bIns="34275" anchor="t" anchorCtr="0">
            <a:noAutofit/>
          </a:bodyPr>
          <a:lstStyle>
            <a:lvl1pPr marL="457200" lvl="0" indent="-228600" algn="l">
              <a:lnSpc>
                <a:spcPct val="115000"/>
              </a:lnSpc>
              <a:spcBef>
                <a:spcPts val="400"/>
              </a:spcBef>
              <a:spcAft>
                <a:spcPts val="0"/>
              </a:spcAft>
              <a:buClr>
                <a:schemeClr val="dk1"/>
              </a:buClr>
              <a:buSzPts val="2100"/>
              <a:buFont typeface="Arial"/>
              <a:buNone/>
              <a:defRPr/>
            </a:lvl1pPr>
            <a:lvl2pPr marL="914400" lvl="1" indent="-317500" algn="l">
              <a:lnSpc>
                <a:spcPct val="115000"/>
              </a:lnSpc>
              <a:spcBef>
                <a:spcPts val="300"/>
              </a:spcBef>
              <a:spcAft>
                <a:spcPts val="0"/>
              </a:spcAft>
              <a:buClr>
                <a:schemeClr val="dk1"/>
              </a:buClr>
              <a:buSzPts val="1400"/>
              <a:buChar char="○"/>
              <a:defRPr/>
            </a:lvl2pPr>
            <a:lvl3pPr marL="1371600" lvl="2" indent="-317500" algn="l">
              <a:lnSpc>
                <a:spcPct val="115000"/>
              </a:lnSpc>
              <a:spcBef>
                <a:spcPts val="300"/>
              </a:spcBef>
              <a:spcAft>
                <a:spcPts val="0"/>
              </a:spcAft>
              <a:buClr>
                <a:schemeClr val="dk1"/>
              </a:buClr>
              <a:buSzPts val="1400"/>
              <a:buChar char="■"/>
              <a:defRPr/>
            </a:lvl3pPr>
            <a:lvl4pPr marL="1828800" lvl="3" indent="-317500" algn="l">
              <a:lnSpc>
                <a:spcPct val="115000"/>
              </a:lnSpc>
              <a:spcBef>
                <a:spcPts val="300"/>
              </a:spcBef>
              <a:spcAft>
                <a:spcPts val="0"/>
              </a:spcAft>
              <a:buClr>
                <a:schemeClr val="dk1"/>
              </a:buClr>
              <a:buSzPts val="1400"/>
              <a:buChar char="●"/>
              <a:defRPr/>
            </a:lvl4pPr>
            <a:lvl5pPr marL="2286000" lvl="4" indent="-317500" algn="l">
              <a:lnSpc>
                <a:spcPct val="115000"/>
              </a:lnSpc>
              <a:spcBef>
                <a:spcPts val="300"/>
              </a:spcBef>
              <a:spcAft>
                <a:spcPts val="0"/>
              </a:spcAft>
              <a:buClr>
                <a:schemeClr val="dk1"/>
              </a:buClr>
              <a:buSzPts val="1400"/>
              <a:buChar char="○"/>
              <a:defRPr/>
            </a:lvl5pPr>
            <a:lvl6pPr marL="2743200" lvl="5" indent="-317500" algn="l">
              <a:lnSpc>
                <a:spcPct val="115000"/>
              </a:lnSpc>
              <a:spcBef>
                <a:spcPts val="300"/>
              </a:spcBef>
              <a:spcAft>
                <a:spcPts val="0"/>
              </a:spcAft>
              <a:buClr>
                <a:schemeClr val="dk1"/>
              </a:buClr>
              <a:buSzPts val="1400"/>
              <a:buChar char="■"/>
              <a:defRPr/>
            </a:lvl6pPr>
            <a:lvl7pPr marL="3200400" lvl="6" indent="-317500" algn="l">
              <a:lnSpc>
                <a:spcPct val="115000"/>
              </a:lnSpc>
              <a:spcBef>
                <a:spcPts val="300"/>
              </a:spcBef>
              <a:spcAft>
                <a:spcPts val="0"/>
              </a:spcAft>
              <a:buClr>
                <a:schemeClr val="dk1"/>
              </a:buClr>
              <a:buSzPts val="1400"/>
              <a:buChar char="●"/>
              <a:defRPr/>
            </a:lvl7pPr>
            <a:lvl8pPr marL="3657600" lvl="7" indent="-317500" algn="l">
              <a:lnSpc>
                <a:spcPct val="115000"/>
              </a:lnSpc>
              <a:spcBef>
                <a:spcPts val="300"/>
              </a:spcBef>
              <a:spcAft>
                <a:spcPts val="0"/>
              </a:spcAft>
              <a:buClr>
                <a:schemeClr val="dk1"/>
              </a:buClr>
              <a:buSzPts val="1400"/>
              <a:buChar char="○"/>
              <a:defRPr/>
            </a:lvl8pPr>
            <a:lvl9pPr marL="4114800" lvl="8" indent="-317500" algn="l">
              <a:lnSpc>
                <a:spcPct val="115000"/>
              </a:lnSpc>
              <a:spcBef>
                <a:spcPts val="300"/>
              </a:spcBef>
              <a:spcAft>
                <a:spcPts val="0"/>
              </a:spcAft>
              <a:buClr>
                <a:schemeClr val="dk1"/>
              </a:buClr>
              <a:buSzPts val="1400"/>
              <a:buChar char="■"/>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VNGUdObDoLk"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3.gif"/><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4.jpg"/><Relationship Id="rId4" Type="http://schemas.openxmlformats.org/officeDocument/2006/relationships/image" Target="../media/image9.png"/><Relationship Id="rId9" Type="http://schemas.openxmlformats.org/officeDocument/2006/relationships/hyperlink" Target="http://www.youtube.com/watch?v=dOrJkgVMCqc"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dashboard.blooket.com/set/68c0c9d693edbe01bde4a622"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hyperlink" Target="http://www.youtube.com/watch?v=R_pDKyg5YKY" TargetMode="External"/><Relationship Id="rId3" Type="http://schemas.openxmlformats.org/officeDocument/2006/relationships/image" Target="../media/image17.png"/><Relationship Id="rId7"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hyperlink" Target="http://www.youtube.com/watch?v=kwfNGatxUJI" TargetMode="External"/><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1.jp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13.gif"/></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2.png"/><Relationship Id="rId7" Type="http://schemas.openxmlformats.org/officeDocument/2006/relationships/image" Target="../media/image29.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www.youtube.com/watch?v=f71PnWYU10w" TargetMode="External"/><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7"/>
          <p:cNvSpPr txBox="1"/>
          <p:nvPr/>
        </p:nvSpPr>
        <p:spPr>
          <a:xfrm>
            <a:off x="153525" y="624775"/>
            <a:ext cx="4891500" cy="5958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500" b="1" i="0" u="sng" strike="noStrike" cap="none">
                <a:solidFill>
                  <a:srgbClr val="000000"/>
                </a:solidFill>
                <a:latin typeface="Poppins"/>
                <a:ea typeface="Poppins"/>
                <a:cs typeface="Poppins"/>
                <a:sym typeface="Poppins"/>
              </a:rPr>
              <a:t>Date:</a:t>
            </a:r>
            <a:r>
              <a:rPr lang="en" sz="1500" b="1" i="0" strike="noStrike" cap="none">
                <a:solidFill>
                  <a:srgbClr val="000000"/>
                </a:solidFill>
                <a:latin typeface="Poppins"/>
                <a:ea typeface="Poppins"/>
                <a:cs typeface="Poppins"/>
                <a:sym typeface="Poppins"/>
              </a:rPr>
              <a:t> </a:t>
            </a:r>
            <a:r>
              <a:rPr lang="en" sz="1500" b="1">
                <a:latin typeface="Poppins"/>
                <a:ea typeface="Poppins"/>
                <a:cs typeface="Poppins"/>
                <a:sym typeface="Poppins"/>
              </a:rPr>
              <a:t>Thursday 3rd September</a:t>
            </a:r>
            <a:r>
              <a:rPr lang="en" sz="1500" b="1" i="0" strike="noStrike" cap="none">
                <a:solidFill>
                  <a:srgbClr val="000000"/>
                </a:solidFill>
                <a:latin typeface="Poppins"/>
                <a:ea typeface="Poppins"/>
                <a:cs typeface="Poppins"/>
                <a:sym typeface="Poppins"/>
              </a:rPr>
              <a:t> 202</a:t>
            </a:r>
            <a:r>
              <a:rPr lang="en" sz="1500" b="1">
                <a:latin typeface="Poppins"/>
                <a:ea typeface="Poppins"/>
                <a:cs typeface="Poppins"/>
                <a:sym typeface="Poppins"/>
              </a:rPr>
              <a:t>6</a:t>
            </a:r>
            <a:endParaRPr sz="1500" b="1" i="0"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r>
              <a:rPr lang="en" sz="1500" b="1" i="0" u="sng" strike="noStrike" cap="none">
                <a:solidFill>
                  <a:srgbClr val="000000"/>
                </a:solidFill>
                <a:latin typeface="Poppins"/>
                <a:ea typeface="Poppins"/>
                <a:cs typeface="Poppins"/>
                <a:sym typeface="Poppins"/>
              </a:rPr>
              <a:t>Title:</a:t>
            </a:r>
            <a:r>
              <a:rPr lang="en" sz="1500" b="1" i="0" strike="noStrike" cap="none">
                <a:solidFill>
                  <a:srgbClr val="000000"/>
                </a:solidFill>
                <a:latin typeface="Poppins"/>
                <a:ea typeface="Poppins"/>
                <a:cs typeface="Poppins"/>
                <a:sym typeface="Poppins"/>
              </a:rPr>
              <a:t> </a:t>
            </a:r>
            <a:r>
              <a:rPr lang="en" sz="1500" b="1">
                <a:latin typeface="Poppins"/>
                <a:ea typeface="Poppins"/>
                <a:cs typeface="Poppins"/>
                <a:sym typeface="Poppins"/>
              </a:rPr>
              <a:t>What makes volcanoes hazardous?</a:t>
            </a:r>
            <a:endParaRPr sz="1500" b="1" i="0" strike="noStrike" cap="none">
              <a:solidFill>
                <a:srgbClr val="000000"/>
              </a:solidFill>
              <a:latin typeface="Poppins"/>
              <a:ea typeface="Poppins"/>
              <a:cs typeface="Poppins"/>
              <a:sym typeface="Poppins"/>
            </a:endParaRPr>
          </a:p>
        </p:txBody>
      </p:sp>
      <p:sp>
        <p:nvSpPr>
          <p:cNvPr id="75" name="Google Shape;75;p17"/>
          <p:cNvSpPr txBox="1"/>
          <p:nvPr/>
        </p:nvSpPr>
        <p:spPr>
          <a:xfrm>
            <a:off x="106800" y="1285950"/>
            <a:ext cx="4938300" cy="3235500"/>
          </a:xfrm>
          <a:prstGeom prst="rect">
            <a:avLst/>
          </a:prstGeom>
          <a:solidFill>
            <a:srgbClr val="FFF2C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None/>
            </a:pPr>
            <a:r>
              <a:rPr lang="en" sz="1600" b="1">
                <a:latin typeface="Poppins"/>
                <a:ea typeface="Poppins"/>
                <a:cs typeface="Poppins"/>
                <a:sym typeface="Poppins"/>
              </a:rPr>
              <a:t>Last Lesson: </a:t>
            </a:r>
            <a:r>
              <a:rPr lang="en" sz="1600">
                <a:latin typeface="Poppins"/>
                <a:ea typeface="Poppins"/>
                <a:cs typeface="Poppins"/>
                <a:sym typeface="Poppins"/>
              </a:rPr>
              <a:t>What 4 pieces of evidence did Wegener use to support his idea of continental drift?</a:t>
            </a:r>
            <a:endParaRPr sz="1600" b="1">
              <a:latin typeface="Poppins"/>
              <a:ea typeface="Poppins"/>
              <a:cs typeface="Poppins"/>
              <a:sym typeface="Poppins"/>
            </a:endParaRPr>
          </a:p>
          <a:p>
            <a:pPr marL="0" marR="0" lvl="0" indent="0" algn="l" rtl="0">
              <a:lnSpc>
                <a:spcPct val="115000"/>
              </a:lnSpc>
              <a:spcBef>
                <a:spcPts val="0"/>
              </a:spcBef>
              <a:spcAft>
                <a:spcPts val="0"/>
              </a:spcAft>
              <a:buNone/>
            </a:pPr>
            <a:endParaRPr sz="600" b="1">
              <a:latin typeface="Poppins"/>
              <a:ea typeface="Poppins"/>
              <a:cs typeface="Poppins"/>
              <a:sym typeface="Poppins"/>
            </a:endParaRPr>
          </a:p>
          <a:p>
            <a:pPr marL="0" marR="0" lvl="0" indent="0" algn="l" rtl="0">
              <a:lnSpc>
                <a:spcPct val="115000"/>
              </a:lnSpc>
              <a:spcBef>
                <a:spcPts val="0"/>
              </a:spcBef>
              <a:spcAft>
                <a:spcPts val="0"/>
              </a:spcAft>
              <a:buNone/>
            </a:pPr>
            <a:r>
              <a:rPr lang="en" sz="1600" b="1">
                <a:latin typeface="Poppins"/>
                <a:ea typeface="Poppins"/>
                <a:cs typeface="Poppins"/>
                <a:sym typeface="Poppins"/>
              </a:rPr>
              <a:t>Last Lesson: </a:t>
            </a:r>
            <a:r>
              <a:rPr lang="en" sz="1600">
                <a:latin typeface="Poppins"/>
                <a:ea typeface="Poppins"/>
                <a:cs typeface="Poppins"/>
                <a:sym typeface="Poppins"/>
              </a:rPr>
              <a:t>How do convection currents cause tectonic plates to move?</a:t>
            </a:r>
            <a:endParaRPr sz="1600" b="1">
              <a:latin typeface="Poppins"/>
              <a:ea typeface="Poppins"/>
              <a:cs typeface="Poppins"/>
              <a:sym typeface="Poppins"/>
            </a:endParaRPr>
          </a:p>
          <a:p>
            <a:pPr marL="0" marR="0" lvl="0" indent="0" algn="l" rtl="0">
              <a:lnSpc>
                <a:spcPct val="115000"/>
              </a:lnSpc>
              <a:spcBef>
                <a:spcPts val="0"/>
              </a:spcBef>
              <a:spcAft>
                <a:spcPts val="0"/>
              </a:spcAft>
              <a:buNone/>
            </a:pPr>
            <a:endParaRPr sz="600" b="1">
              <a:latin typeface="Poppins"/>
              <a:ea typeface="Poppins"/>
              <a:cs typeface="Poppins"/>
              <a:sym typeface="Poppins"/>
            </a:endParaRPr>
          </a:p>
          <a:p>
            <a:pPr marL="0" marR="0" lvl="0" indent="0" algn="l" rtl="0">
              <a:lnSpc>
                <a:spcPct val="115000"/>
              </a:lnSpc>
              <a:spcBef>
                <a:spcPts val="0"/>
              </a:spcBef>
              <a:spcAft>
                <a:spcPts val="0"/>
              </a:spcAft>
              <a:buNone/>
            </a:pPr>
            <a:r>
              <a:rPr lang="en" sz="1600" b="1">
                <a:latin typeface="Poppins"/>
                <a:ea typeface="Poppins"/>
                <a:cs typeface="Poppins"/>
                <a:sym typeface="Poppins"/>
              </a:rPr>
              <a:t>Two Weeks: </a:t>
            </a:r>
            <a:r>
              <a:rPr lang="en" sz="1600">
                <a:latin typeface="Poppins"/>
                <a:ea typeface="Poppins"/>
                <a:cs typeface="Poppins"/>
                <a:sym typeface="Poppins"/>
              </a:rPr>
              <a:t>What is the difference between a destructive plate boundary and a collision plate boundary?</a:t>
            </a:r>
            <a:endParaRPr sz="1600">
              <a:latin typeface="Poppins"/>
              <a:ea typeface="Poppins"/>
              <a:cs typeface="Poppins"/>
              <a:sym typeface="Poppins"/>
            </a:endParaRPr>
          </a:p>
        </p:txBody>
      </p:sp>
      <p:pic>
        <p:nvPicPr>
          <p:cNvPr id="76" name="Google Shape;76;p17"/>
          <p:cNvPicPr preferRelativeResize="0"/>
          <p:nvPr/>
        </p:nvPicPr>
        <p:blipFill>
          <a:blip r:embed="rId3">
            <a:alphaModFix/>
          </a:blip>
          <a:stretch>
            <a:fillRect/>
          </a:stretch>
        </p:blipFill>
        <p:spPr>
          <a:xfrm>
            <a:off x="225576" y="1442250"/>
            <a:ext cx="756925" cy="543250"/>
          </a:xfrm>
          <a:prstGeom prst="rect">
            <a:avLst/>
          </a:prstGeom>
          <a:noFill/>
          <a:ln>
            <a:noFill/>
          </a:ln>
        </p:spPr>
      </p:pic>
      <p:sp>
        <p:nvSpPr>
          <p:cNvPr id="77" name="Google Shape;77;p17"/>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
        <p:nvSpPr>
          <p:cNvPr id="78" name="Google Shape;78;p17"/>
          <p:cNvSpPr txBox="1"/>
          <p:nvPr/>
        </p:nvSpPr>
        <p:spPr>
          <a:xfrm>
            <a:off x="5163901" y="845875"/>
            <a:ext cx="3884100" cy="1098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Key Enquiry Question:</a:t>
            </a:r>
            <a:endParaRPr sz="1800" b="1">
              <a:highlight>
                <a:schemeClr val="lt1"/>
              </a:highlight>
              <a:latin typeface="Edu TAS Beginner"/>
              <a:ea typeface="Edu TAS Beginner"/>
              <a:cs typeface="Edu TAS Beginner"/>
              <a:sym typeface="Edu TAS Beginner"/>
            </a:endParaRPr>
          </a:p>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“What makes some volcanoes more dangerous than others?"</a:t>
            </a:r>
            <a:endParaRPr sz="1800" b="1">
              <a:highlight>
                <a:schemeClr val="lt1"/>
              </a:highlight>
              <a:latin typeface="Edu TAS Beginner"/>
              <a:ea typeface="Edu TAS Beginner"/>
              <a:cs typeface="Edu TAS Beginner"/>
              <a:sym typeface="Edu TAS Beginner"/>
            </a:endParaRPr>
          </a:p>
        </p:txBody>
      </p:sp>
      <p:pic>
        <p:nvPicPr>
          <p:cNvPr id="79" name="Google Shape;79;p17"/>
          <p:cNvPicPr preferRelativeResize="0"/>
          <p:nvPr/>
        </p:nvPicPr>
        <p:blipFill rotWithShape="1">
          <a:blip r:embed="rId4">
            <a:alphaModFix/>
          </a:blip>
          <a:srcRect/>
          <a:stretch/>
        </p:blipFill>
        <p:spPr>
          <a:xfrm>
            <a:off x="5432600" y="2175538"/>
            <a:ext cx="3346675" cy="25188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p:nvPr/>
        </p:nvSpPr>
        <p:spPr>
          <a:xfrm>
            <a:off x="5163901" y="845875"/>
            <a:ext cx="3884100" cy="1098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Key Enquiry Question:</a:t>
            </a:r>
            <a:endParaRPr sz="1800" b="1">
              <a:highlight>
                <a:schemeClr val="lt1"/>
              </a:highlight>
              <a:latin typeface="Edu TAS Beginner"/>
              <a:ea typeface="Edu TAS Beginner"/>
              <a:cs typeface="Edu TAS Beginner"/>
              <a:sym typeface="Edu TAS Beginner"/>
            </a:endParaRPr>
          </a:p>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“What makes some volcanoes more dangerous than others?"</a:t>
            </a:r>
            <a:endParaRPr sz="1800" b="1">
              <a:highlight>
                <a:schemeClr val="lt1"/>
              </a:highlight>
              <a:latin typeface="Edu TAS Beginner"/>
              <a:ea typeface="Edu TAS Beginner"/>
              <a:cs typeface="Edu TAS Beginner"/>
              <a:sym typeface="Edu TAS Beginner"/>
            </a:endParaRPr>
          </a:p>
        </p:txBody>
      </p:sp>
      <p:sp>
        <p:nvSpPr>
          <p:cNvPr id="85" name="Google Shape;85;p18"/>
          <p:cNvSpPr txBox="1"/>
          <p:nvPr/>
        </p:nvSpPr>
        <p:spPr>
          <a:xfrm>
            <a:off x="96000" y="845875"/>
            <a:ext cx="5067900" cy="4008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identify and describe different volcanic hazards</a:t>
            </a:r>
            <a:r>
              <a:rPr lang="en" sz="1600">
                <a:solidFill>
                  <a:schemeClr val="dk1"/>
                </a:solidFill>
                <a:latin typeface="Baumans"/>
                <a:ea typeface="Baumans"/>
                <a:cs typeface="Baumans"/>
                <a:sym typeface="Baumans"/>
              </a:rPr>
              <a:t>, including their </a:t>
            </a:r>
            <a:r>
              <a:rPr lang="en" sz="1600" b="1">
                <a:solidFill>
                  <a:schemeClr val="dk1"/>
                </a:solidFill>
                <a:latin typeface="Baumans"/>
                <a:ea typeface="Baumans"/>
                <a:cs typeface="Baumans"/>
                <a:sym typeface="Baumans"/>
              </a:rPr>
              <a:t>causes and impacts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explain how different volcanic hazards affect people and places</a:t>
            </a:r>
            <a:r>
              <a:rPr lang="en" sz="1600">
                <a:solidFill>
                  <a:schemeClr val="dk1"/>
                </a:solidFill>
                <a:latin typeface="Baumans"/>
                <a:ea typeface="Baumans"/>
                <a:cs typeface="Baumans"/>
                <a:sym typeface="Baumans"/>
              </a:rPr>
              <a:t>, using relevant </a:t>
            </a:r>
            <a:r>
              <a:rPr lang="en" sz="1600" b="1">
                <a:solidFill>
                  <a:schemeClr val="dk1"/>
                </a:solidFill>
                <a:latin typeface="Baumans"/>
                <a:ea typeface="Baumans"/>
                <a:cs typeface="Baumans"/>
                <a:sym typeface="Baumans"/>
              </a:rPr>
              <a:t>examples and evidence</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None/>
            </a:pPr>
            <a:r>
              <a:rPr lang="en" sz="1600" b="1">
                <a:solidFill>
                  <a:schemeClr val="dk1"/>
                </a:solidFill>
                <a:latin typeface="Baumans"/>
                <a:ea typeface="Baumans"/>
                <a:cs typeface="Baumans"/>
                <a:sym typeface="Baumans"/>
              </a:rPr>
              <a:t>🧠 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analyse and evaluate different volcanic hazards</a:t>
            </a:r>
            <a:r>
              <a:rPr lang="en" sz="1600">
                <a:solidFill>
                  <a:schemeClr val="dk1"/>
                </a:solidFill>
                <a:latin typeface="Baumans"/>
                <a:ea typeface="Baumans"/>
                <a:cs typeface="Baumans"/>
                <a:sym typeface="Baumans"/>
              </a:rPr>
              <a:t>, using evidence to </a:t>
            </a:r>
            <a:r>
              <a:rPr lang="en" sz="1600" b="1">
                <a:solidFill>
                  <a:schemeClr val="dk1"/>
                </a:solidFill>
                <a:latin typeface="Baumans"/>
                <a:ea typeface="Baumans"/>
                <a:cs typeface="Baumans"/>
                <a:sym typeface="Baumans"/>
              </a:rPr>
              <a:t>assess which is most dangerous and explain why</a:t>
            </a:r>
            <a:r>
              <a:rPr lang="en" sz="1600">
                <a:solidFill>
                  <a:schemeClr val="dk1"/>
                </a:solidFill>
                <a:latin typeface="Baumans"/>
                <a:ea typeface="Baumans"/>
                <a:cs typeface="Baumans"/>
                <a:sym typeface="Baumans"/>
              </a:rPr>
              <a:t>.</a:t>
            </a:r>
            <a:endParaRPr sz="1600" b="1">
              <a:solidFill>
                <a:schemeClr val="dk1"/>
              </a:solidFill>
              <a:latin typeface="Baumans"/>
              <a:ea typeface="Baumans"/>
              <a:cs typeface="Baumans"/>
              <a:sym typeface="Baumans"/>
            </a:endParaRPr>
          </a:p>
        </p:txBody>
      </p:sp>
      <p:pic>
        <p:nvPicPr>
          <p:cNvPr id="86" name="Google Shape;86;p18"/>
          <p:cNvPicPr preferRelativeResize="0"/>
          <p:nvPr/>
        </p:nvPicPr>
        <p:blipFill rotWithShape="1">
          <a:blip r:embed="rId3">
            <a:alphaModFix/>
          </a:blip>
          <a:srcRect/>
          <a:stretch/>
        </p:blipFill>
        <p:spPr>
          <a:xfrm>
            <a:off x="5432600" y="2175538"/>
            <a:ext cx="3346675" cy="2518813"/>
          </a:xfrm>
          <a:prstGeom prst="rect">
            <a:avLst/>
          </a:prstGeom>
          <a:noFill/>
          <a:ln>
            <a:noFill/>
          </a:ln>
        </p:spPr>
      </p:pic>
      <p:sp>
        <p:nvSpPr>
          <p:cNvPr id="87" name="Google Shape;87;p18"/>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graphicFrame>
        <p:nvGraphicFramePr>
          <p:cNvPr id="92" name="Google Shape;92;p19"/>
          <p:cNvGraphicFramePr/>
          <p:nvPr/>
        </p:nvGraphicFramePr>
        <p:xfrm>
          <a:off x="156250" y="1354175"/>
          <a:ext cx="8831475" cy="3295217"/>
        </p:xfrm>
        <a:graphic>
          <a:graphicData uri="http://schemas.openxmlformats.org/drawingml/2006/table">
            <a:tbl>
              <a:tblPr>
                <a:noFill/>
                <a:tableStyleId>{19E4693C-F83B-4BF2-A814-EF8C136934E9}</a:tableStyleId>
              </a:tblPr>
              <a:tblGrid>
                <a:gridCol w="1441875">
                  <a:extLst>
                    <a:ext uri="{9D8B030D-6E8A-4147-A177-3AD203B41FA5}">
                      <a16:colId xmlns:a16="http://schemas.microsoft.com/office/drawing/2014/main" val="20000"/>
                    </a:ext>
                  </a:extLst>
                </a:gridCol>
                <a:gridCol w="1131450">
                  <a:extLst>
                    <a:ext uri="{9D8B030D-6E8A-4147-A177-3AD203B41FA5}">
                      <a16:colId xmlns:a16="http://schemas.microsoft.com/office/drawing/2014/main" val="20001"/>
                    </a:ext>
                  </a:extLst>
                </a:gridCol>
                <a:gridCol w="6258150">
                  <a:extLst>
                    <a:ext uri="{9D8B030D-6E8A-4147-A177-3AD203B41FA5}">
                      <a16:colId xmlns:a16="http://schemas.microsoft.com/office/drawing/2014/main" val="20002"/>
                    </a:ext>
                  </a:extLst>
                </a:gridCol>
              </a:tblGrid>
              <a:tr h="1088125">
                <a:tc>
                  <a:txBody>
                    <a:bodyPr/>
                    <a:lstStyle/>
                    <a:p>
                      <a:pPr marL="0" lvl="0" indent="0" algn="l" rtl="0">
                        <a:lnSpc>
                          <a:spcPct val="115000"/>
                        </a:lnSpc>
                        <a:spcBef>
                          <a:spcPts val="0"/>
                        </a:spcBef>
                        <a:spcAft>
                          <a:spcPts val="0"/>
                        </a:spcAft>
                        <a:buClr>
                          <a:schemeClr val="dk1"/>
                        </a:buClr>
                        <a:buSzPts val="2200"/>
                        <a:buFont typeface="Arial"/>
                        <a:buNone/>
                      </a:pPr>
                      <a:r>
                        <a:rPr lang="en" sz="1800" b="1">
                          <a:solidFill>
                            <a:schemeClr val="dk1"/>
                          </a:solidFill>
                          <a:latin typeface="Poppins"/>
                          <a:ea typeface="Poppins"/>
                          <a:cs typeface="Poppins"/>
                          <a:sym typeface="Poppins"/>
                        </a:rPr>
                        <a:t>Active volcanoes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These are volcanoes that have erupted recently and are likely to erupt again. There are more than 700 active volcanoes around the world.</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8125">
                <a:tc>
                  <a:txBody>
                    <a:bodyPr/>
                    <a:lstStyle/>
                    <a:p>
                      <a:pPr marL="0" lvl="0" indent="0" algn="l" rtl="0">
                        <a:lnSpc>
                          <a:spcPct val="115000"/>
                        </a:lnSpc>
                        <a:spcBef>
                          <a:spcPts val="0"/>
                        </a:spcBef>
                        <a:spcAft>
                          <a:spcPts val="0"/>
                        </a:spcAft>
                        <a:buClr>
                          <a:schemeClr val="dk1"/>
                        </a:buClr>
                        <a:buSzPts val="1100"/>
                        <a:buFont typeface="Arial"/>
                        <a:buNone/>
                      </a:pPr>
                      <a:r>
                        <a:rPr lang="en" sz="1800" b="1">
                          <a:solidFill>
                            <a:schemeClr val="dk1"/>
                          </a:solidFill>
                          <a:latin typeface="Poppins"/>
                          <a:ea typeface="Poppins"/>
                          <a:cs typeface="Poppins"/>
                          <a:sym typeface="Poppins"/>
                        </a:rPr>
                        <a:t>Dormant volcanoes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a:solidFill>
                            <a:schemeClr val="dk1"/>
                          </a:solidFill>
                          <a:latin typeface="Poppins"/>
                          <a:ea typeface="Poppins"/>
                          <a:cs typeface="Poppins"/>
                          <a:sym typeface="Poppins"/>
                        </a:rPr>
                        <a:t>These have not erupted for a long time but could erupt again in the future.</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88125">
                <a:tc>
                  <a:txBody>
                    <a:bodyPr/>
                    <a:lstStyle/>
                    <a:p>
                      <a:pPr marL="0" lvl="0" indent="0" algn="l" rtl="0">
                        <a:lnSpc>
                          <a:spcPct val="115000"/>
                        </a:lnSpc>
                        <a:spcBef>
                          <a:spcPts val="0"/>
                        </a:spcBef>
                        <a:spcAft>
                          <a:spcPts val="0"/>
                        </a:spcAft>
                        <a:buClr>
                          <a:schemeClr val="dk1"/>
                        </a:buClr>
                        <a:buSzPts val="1100"/>
                        <a:buFont typeface="Arial"/>
                        <a:buNone/>
                      </a:pPr>
                      <a:r>
                        <a:rPr lang="en" sz="1800" b="1">
                          <a:solidFill>
                            <a:schemeClr val="dk1"/>
                          </a:solidFill>
                          <a:latin typeface="Poppins"/>
                          <a:ea typeface="Poppins"/>
                          <a:cs typeface="Poppins"/>
                          <a:sym typeface="Poppins"/>
                        </a:rPr>
                        <a:t>Extinct volcanoes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These have not erupted for thousands of years and are not expected to erupt again.</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93" name="Google Shape;93;p19"/>
          <p:cNvPicPr preferRelativeResize="0"/>
          <p:nvPr/>
        </p:nvPicPr>
        <p:blipFill>
          <a:blip r:embed="rId3">
            <a:alphaModFix/>
          </a:blip>
          <a:stretch>
            <a:fillRect/>
          </a:stretch>
        </p:blipFill>
        <p:spPr>
          <a:xfrm>
            <a:off x="1748988" y="1495162"/>
            <a:ext cx="770749" cy="770749"/>
          </a:xfrm>
          <a:prstGeom prst="rect">
            <a:avLst/>
          </a:prstGeom>
          <a:noFill/>
          <a:ln>
            <a:noFill/>
          </a:ln>
        </p:spPr>
      </p:pic>
      <p:pic>
        <p:nvPicPr>
          <p:cNvPr id="94" name="Google Shape;94;p19"/>
          <p:cNvPicPr preferRelativeResize="0"/>
          <p:nvPr/>
        </p:nvPicPr>
        <p:blipFill>
          <a:blip r:embed="rId4">
            <a:alphaModFix/>
          </a:blip>
          <a:stretch>
            <a:fillRect/>
          </a:stretch>
        </p:blipFill>
        <p:spPr>
          <a:xfrm>
            <a:off x="1748988" y="2524063"/>
            <a:ext cx="770749" cy="770749"/>
          </a:xfrm>
          <a:prstGeom prst="rect">
            <a:avLst/>
          </a:prstGeom>
          <a:noFill/>
          <a:ln>
            <a:noFill/>
          </a:ln>
        </p:spPr>
      </p:pic>
      <p:pic>
        <p:nvPicPr>
          <p:cNvPr id="95" name="Google Shape;95;p19"/>
          <p:cNvPicPr preferRelativeResize="0"/>
          <p:nvPr/>
        </p:nvPicPr>
        <p:blipFill>
          <a:blip r:embed="rId5">
            <a:alphaModFix/>
          </a:blip>
          <a:stretch>
            <a:fillRect/>
          </a:stretch>
        </p:blipFill>
        <p:spPr>
          <a:xfrm>
            <a:off x="1748988" y="3706813"/>
            <a:ext cx="770749" cy="770749"/>
          </a:xfrm>
          <a:prstGeom prst="rect">
            <a:avLst/>
          </a:prstGeom>
          <a:noFill/>
          <a:ln>
            <a:noFill/>
          </a:ln>
        </p:spPr>
      </p:pic>
      <p:sp>
        <p:nvSpPr>
          <p:cNvPr id="96" name="Google Shape;96;p19"/>
          <p:cNvSpPr txBox="1"/>
          <p:nvPr/>
        </p:nvSpPr>
        <p:spPr>
          <a:xfrm>
            <a:off x="156250" y="662000"/>
            <a:ext cx="4467600" cy="67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 sz="3000">
                <a:latin typeface="Fugaz One"/>
                <a:ea typeface="Fugaz One"/>
                <a:cs typeface="Fugaz One"/>
                <a:sym typeface="Fugaz One"/>
              </a:rPr>
              <a:t>K</a:t>
            </a:r>
            <a:r>
              <a:rPr lang="en" sz="3000" i="0" u="none" strike="noStrike" cap="none">
                <a:latin typeface="Fugaz One"/>
                <a:ea typeface="Fugaz One"/>
                <a:cs typeface="Fugaz One"/>
                <a:sym typeface="Fugaz One"/>
              </a:rPr>
              <a:t>eywords:</a:t>
            </a:r>
            <a:endParaRPr sz="3000" i="0" u="none" strike="noStrike" cap="none">
              <a:latin typeface="Fugaz One"/>
              <a:ea typeface="Fugaz One"/>
              <a:cs typeface="Fugaz One"/>
              <a:sym typeface="Fugaz One"/>
            </a:endParaRPr>
          </a:p>
        </p:txBody>
      </p:sp>
      <p:sp>
        <p:nvSpPr>
          <p:cNvPr id="97" name="Google Shape;97;p19"/>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
        <p:nvSpPr>
          <p:cNvPr id="98" name="Google Shape;98;p19"/>
          <p:cNvSpPr txBox="1"/>
          <p:nvPr/>
        </p:nvSpPr>
        <p:spPr>
          <a:xfrm>
            <a:off x="2729575" y="559400"/>
            <a:ext cx="6318300" cy="780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Key Enquiry Question:</a:t>
            </a:r>
            <a:endParaRPr sz="1800" b="1">
              <a:highlight>
                <a:schemeClr val="lt1"/>
              </a:highlight>
              <a:latin typeface="Edu TAS Beginner"/>
              <a:ea typeface="Edu TAS Beginner"/>
              <a:cs typeface="Edu TAS Beginner"/>
              <a:sym typeface="Edu TAS Beginner"/>
            </a:endParaRPr>
          </a:p>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“What makes some volcanoes more dangerous than others?"</a:t>
            </a:r>
            <a:endParaRPr sz="1800" b="1">
              <a:highlight>
                <a:schemeClr val="lt1"/>
              </a:highlight>
              <a:latin typeface="Edu TAS Beginner"/>
              <a:ea typeface="Edu TAS Beginner"/>
              <a:cs typeface="Edu TAS Beginner"/>
              <a:sym typeface="Edu TAS Beginn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p:nvPr/>
        </p:nvSpPr>
        <p:spPr>
          <a:xfrm>
            <a:off x="4574975" y="1316700"/>
            <a:ext cx="4401900" cy="86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a:solidFill>
                  <a:schemeClr val="dk1"/>
                </a:solidFill>
                <a:latin typeface="Baumans"/>
                <a:ea typeface="Baumans"/>
                <a:cs typeface="Baumans"/>
                <a:sym typeface="Baumans"/>
              </a:rPr>
              <a:t> Complete the multiple choice questions whilst watching the video: </a:t>
            </a:r>
            <a:endParaRPr sz="1800">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Volcanoes 101</a:t>
            </a:r>
            <a:endParaRPr sz="1800" b="1">
              <a:solidFill>
                <a:schemeClr val="dk1"/>
              </a:solidFill>
              <a:latin typeface="Baumans"/>
              <a:ea typeface="Baumans"/>
              <a:cs typeface="Baumans"/>
              <a:sym typeface="Baumans"/>
            </a:endParaRPr>
          </a:p>
        </p:txBody>
      </p:sp>
      <p:sp>
        <p:nvSpPr>
          <p:cNvPr id="104" name="Google Shape;104;p20"/>
          <p:cNvSpPr txBox="1"/>
          <p:nvPr/>
        </p:nvSpPr>
        <p:spPr>
          <a:xfrm>
            <a:off x="106798" y="7097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Volcanoes 101</a:t>
            </a:r>
            <a:endParaRPr sz="700" i="0" u="none" strike="noStrike" cap="none">
              <a:solidFill>
                <a:srgbClr val="000000"/>
              </a:solidFill>
              <a:latin typeface="Fugaz One"/>
              <a:ea typeface="Fugaz One"/>
              <a:cs typeface="Fugaz One"/>
              <a:sym typeface="Fugaz One"/>
            </a:endParaRPr>
          </a:p>
        </p:txBody>
      </p:sp>
      <p:pic>
        <p:nvPicPr>
          <p:cNvPr id="105" name="Google Shape;105;p20" descr="About 1,500 active volcanoes can be found around the world. Learn about the major types of volcanoes, the geological process behind eruptions, and where the most destructive volcanic eruption ever witnessed occurred.&#10;➡ Subscribe: http://bit.ly/NatGeoSubscribe&#10;&#10;#NationalGeographic #Volcanoes #Educational&#10;&#10;About National Geographic:&#10;National Geographic is the world's premium destination for science, exploration, and adventure. Through their world-class scientists, photographers, journalists, and filmmakers, Nat Geo gets you closer to the stories that matter and past the edge of what's possible.&#10;&#10;Get More National Geographic:&#10;Official Site: http://bit.ly/NatGeoOfficialSite&#10;Facebook: http://bit.ly/FBNatGeo&#10;Twitter: http://bit.ly/NatGeoTwitter&#10;Instagram: http://bit.ly/NatGeoInsta&#10;&#10;Read more in &quot;Volcanoes, explained&quot;&#10;https://on.natgeo.com/2FqAH5m&#10;&#10;Learn more about the Taal Volcano eruption: https://on.natgeo.com/2QTAw97&#10;&#10;Volcanoes 101 | National Geographic &#10;https://youtu.be/VNGUdObDoLk&#10;&#10;National Geographic&#10;https://www.youtube.com/natgeo" title="Volcanoes 101 | National Geographic">
            <a:hlinkClick r:id="rId3"/>
          </p:cNvPr>
          <p:cNvPicPr preferRelativeResize="0"/>
          <p:nvPr/>
        </p:nvPicPr>
        <p:blipFill>
          <a:blip r:embed="rId4">
            <a:alphaModFix/>
          </a:blip>
          <a:stretch>
            <a:fillRect/>
          </a:stretch>
        </p:blipFill>
        <p:spPr>
          <a:xfrm>
            <a:off x="129425" y="1316700"/>
            <a:ext cx="4401900" cy="2476069"/>
          </a:xfrm>
          <a:prstGeom prst="rect">
            <a:avLst/>
          </a:prstGeom>
          <a:noFill/>
          <a:ln>
            <a:noFill/>
          </a:ln>
        </p:spPr>
      </p:pic>
      <p:pic>
        <p:nvPicPr>
          <p:cNvPr id="106" name="Google Shape;106;p20" title="Screenshot 2025-09-05 at 12.18.44 PM.png"/>
          <p:cNvPicPr preferRelativeResize="0"/>
          <p:nvPr/>
        </p:nvPicPr>
        <p:blipFill>
          <a:blip r:embed="rId5">
            <a:alphaModFix/>
          </a:blip>
          <a:stretch>
            <a:fillRect/>
          </a:stretch>
        </p:blipFill>
        <p:spPr>
          <a:xfrm>
            <a:off x="5062398" y="2339575"/>
            <a:ext cx="3427049" cy="2611325"/>
          </a:xfrm>
          <a:prstGeom prst="rect">
            <a:avLst/>
          </a:prstGeom>
          <a:noFill/>
          <a:ln>
            <a:noFill/>
          </a:ln>
        </p:spPr>
      </p:pic>
      <p:sp>
        <p:nvSpPr>
          <p:cNvPr id="107" name="Google Shape;107;p20"/>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p:nvPr/>
        </p:nvSpPr>
        <p:spPr>
          <a:xfrm>
            <a:off x="5541300" y="1316700"/>
            <a:ext cx="3495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13" name="Google Shape;113;p21"/>
          <p:cNvSpPr txBox="1"/>
          <p:nvPr/>
        </p:nvSpPr>
        <p:spPr>
          <a:xfrm>
            <a:off x="125350" y="1063700"/>
            <a:ext cx="5407200" cy="3387900"/>
          </a:xfrm>
          <a:prstGeom prst="rect">
            <a:avLst/>
          </a:prstGeom>
          <a:noFill/>
          <a:ln>
            <a:noFill/>
          </a:ln>
        </p:spPr>
        <p:txBody>
          <a:bodyPr spcFirstLastPara="1" wrap="square" lIns="91425" tIns="91425" rIns="91425" bIns="91425" anchor="t" anchorCtr="0">
            <a:spAutoFit/>
          </a:bodyPr>
          <a:lstStyle/>
          <a:p>
            <a:pPr marL="762000" lvl="0" indent="-330200" algn="l" rtl="0">
              <a:lnSpc>
                <a:spcPct val="133400"/>
              </a:lnSpc>
              <a:spcBef>
                <a:spcPts val="90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Ancient rock</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On tectonic plate boundaries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A path tracing tectonic plate boundaries</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Shield volcano</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Lava</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Hot gas and ash</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Volcanic Explosivity Index (VEI)</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Unlimited</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It had a VEI measurement of 7</a:t>
            </a:r>
            <a:endParaRPr sz="1600" b="1">
              <a:solidFill>
                <a:srgbClr val="38761D"/>
              </a:solidFill>
              <a:latin typeface="Delius"/>
              <a:ea typeface="Delius"/>
              <a:cs typeface="Delius"/>
              <a:sym typeface="Delius"/>
            </a:endParaRPr>
          </a:p>
          <a:p>
            <a:pPr marL="762000" lvl="0" indent="-330200" algn="l" rtl="0">
              <a:lnSpc>
                <a:spcPct val="1334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By providing nutrients to soil</a:t>
            </a:r>
            <a:endParaRPr sz="1600" b="1">
              <a:solidFill>
                <a:srgbClr val="38761D"/>
              </a:solidFill>
              <a:latin typeface="Delius"/>
              <a:ea typeface="Delius"/>
              <a:cs typeface="Delius"/>
              <a:sym typeface="Delius"/>
            </a:endParaRPr>
          </a:p>
        </p:txBody>
      </p:sp>
      <p:pic>
        <p:nvPicPr>
          <p:cNvPr id="114" name="Google Shape;114;p21" title="Screenshot 2025-09-05 at 12.18.44 PM.png"/>
          <p:cNvPicPr preferRelativeResize="0"/>
          <p:nvPr/>
        </p:nvPicPr>
        <p:blipFill>
          <a:blip r:embed="rId3">
            <a:alphaModFix/>
          </a:blip>
          <a:stretch>
            <a:fillRect/>
          </a:stretch>
        </p:blipFill>
        <p:spPr>
          <a:xfrm>
            <a:off x="5561223" y="1899600"/>
            <a:ext cx="3427049" cy="2611325"/>
          </a:xfrm>
          <a:prstGeom prst="rect">
            <a:avLst/>
          </a:prstGeom>
          <a:noFill/>
          <a:ln>
            <a:noFill/>
          </a:ln>
        </p:spPr>
      </p:pic>
      <p:sp>
        <p:nvSpPr>
          <p:cNvPr id="115" name="Google Shape;115;p21"/>
          <p:cNvSpPr txBox="1"/>
          <p:nvPr/>
        </p:nvSpPr>
        <p:spPr>
          <a:xfrm>
            <a:off x="106798" y="709700"/>
            <a:ext cx="86043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000">
                <a:latin typeface="Fugaz One"/>
                <a:ea typeface="Fugaz One"/>
                <a:cs typeface="Fugaz One"/>
                <a:sym typeface="Fugaz One"/>
              </a:rPr>
              <a:t>Volcanoes 101</a:t>
            </a:r>
            <a:endParaRPr sz="700" i="0" u="none" strike="noStrike" cap="none">
              <a:solidFill>
                <a:srgbClr val="000000"/>
              </a:solidFill>
              <a:latin typeface="Fugaz One"/>
              <a:ea typeface="Fugaz One"/>
              <a:cs typeface="Fugaz One"/>
              <a:sym typeface="Fugaz One"/>
            </a:endParaRPr>
          </a:p>
        </p:txBody>
      </p:sp>
      <p:sp>
        <p:nvSpPr>
          <p:cNvPr id="116" name="Google Shape;116;p21"/>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p:nvPr/>
        </p:nvSpPr>
        <p:spPr>
          <a:xfrm>
            <a:off x="1084198" y="1000100"/>
            <a:ext cx="5120400" cy="623217"/>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dirty="0">
                <a:solidFill>
                  <a:schemeClr val="dk1"/>
                </a:solidFill>
                <a:highlight>
                  <a:srgbClr val="00FF00"/>
                </a:highlight>
                <a:latin typeface="Baumans"/>
                <a:ea typeface="Baumans"/>
                <a:cs typeface="Baumans"/>
                <a:sym typeface="Baumans"/>
              </a:rPr>
              <a:t>Activity</a:t>
            </a:r>
            <a:r>
              <a:rPr lang="en" sz="1800" b="1" i="0" u="none" strike="noStrike" cap="none" dirty="0">
                <a:solidFill>
                  <a:schemeClr val="dk1"/>
                </a:solidFill>
                <a:highlight>
                  <a:srgbClr val="00FF00"/>
                </a:highlight>
                <a:latin typeface="Baumans"/>
                <a:ea typeface="Baumans"/>
                <a:cs typeface="Baumans"/>
                <a:sym typeface="Baumans"/>
              </a:rPr>
              <a:t> </a:t>
            </a:r>
            <a:r>
              <a:rPr lang="en" sz="1800" b="1" dirty="0">
                <a:solidFill>
                  <a:schemeClr val="dk1"/>
                </a:solidFill>
                <a:highlight>
                  <a:srgbClr val="00FF00"/>
                </a:highlight>
                <a:latin typeface="Baumans"/>
                <a:ea typeface="Baumans"/>
                <a:cs typeface="Baumans"/>
                <a:sym typeface="Baumans"/>
              </a:rPr>
              <a:t>1</a:t>
            </a:r>
            <a:r>
              <a:rPr lang="en" sz="1800" b="1" i="0" u="none" strike="noStrike" cap="none" dirty="0">
                <a:solidFill>
                  <a:schemeClr val="dk1"/>
                </a:solidFill>
                <a:latin typeface="Baumans"/>
                <a:ea typeface="Baumans"/>
                <a:cs typeface="Baumans"/>
                <a:sym typeface="Baumans"/>
              </a:rPr>
              <a:t> - </a:t>
            </a:r>
            <a:r>
              <a:rPr lang="en" sz="1800" dirty="0">
                <a:solidFill>
                  <a:schemeClr val="dk1"/>
                </a:solidFill>
                <a:latin typeface="Baumans"/>
                <a:ea typeface="Baumans"/>
                <a:cs typeface="Baumans"/>
                <a:sym typeface="Baumans"/>
              </a:rPr>
              <a:t>Complete the </a:t>
            </a:r>
            <a:r>
              <a:rPr lang="en" sz="1800" b="1" dirty="0">
                <a:solidFill>
                  <a:srgbClr val="FC50AE"/>
                </a:solidFill>
                <a:highlight>
                  <a:schemeClr val="lt1"/>
                </a:highlight>
                <a:latin typeface="Baumans"/>
                <a:ea typeface="Baumans"/>
                <a:cs typeface="Baumans"/>
                <a:sym typeface="Baumans"/>
              </a:rPr>
              <a:t>P</a:t>
            </a:r>
            <a:r>
              <a:rPr lang="en" sz="1800" b="1" dirty="0">
                <a:solidFill>
                  <a:srgbClr val="914BFA"/>
                </a:solidFill>
                <a:highlight>
                  <a:schemeClr val="lt1"/>
                </a:highlight>
                <a:latin typeface="Baumans"/>
                <a:ea typeface="Baumans"/>
                <a:cs typeface="Baumans"/>
                <a:sym typeface="Baumans"/>
              </a:rPr>
              <a:t>E</a:t>
            </a:r>
            <a:r>
              <a:rPr lang="en" sz="1800" b="1" dirty="0">
                <a:solidFill>
                  <a:srgbClr val="FC9B29"/>
                </a:solidFill>
                <a:highlight>
                  <a:schemeClr val="lt1"/>
                </a:highlight>
                <a:latin typeface="Baumans"/>
                <a:ea typeface="Baumans"/>
                <a:cs typeface="Baumans"/>
                <a:sym typeface="Baumans"/>
              </a:rPr>
              <a:t>E</a:t>
            </a:r>
            <a:r>
              <a:rPr lang="en" sz="1800" b="1" dirty="0">
                <a:solidFill>
                  <a:srgbClr val="50B3FD"/>
                </a:solidFill>
                <a:highlight>
                  <a:schemeClr val="lt1"/>
                </a:highlight>
                <a:latin typeface="Baumans"/>
                <a:ea typeface="Baumans"/>
                <a:cs typeface="Baumans"/>
                <a:sym typeface="Baumans"/>
              </a:rPr>
              <a:t>L</a:t>
            </a:r>
            <a:r>
              <a:rPr lang="en" sz="1800" dirty="0">
                <a:solidFill>
                  <a:schemeClr val="dk1"/>
                </a:solidFill>
                <a:latin typeface="Baumans"/>
                <a:ea typeface="Baumans"/>
                <a:cs typeface="Baumans"/>
                <a:sym typeface="Baumans"/>
              </a:rPr>
              <a:t> explaining why some volcanic eruptions more dangerous than others.</a:t>
            </a:r>
            <a:endParaRPr sz="1100" i="0" u="none" strike="noStrike" cap="none" dirty="0">
              <a:solidFill>
                <a:schemeClr val="dk1"/>
              </a:solidFill>
              <a:latin typeface="Baumans"/>
              <a:ea typeface="Baumans"/>
              <a:cs typeface="Baumans"/>
              <a:sym typeface="Baumans"/>
            </a:endParaRPr>
          </a:p>
        </p:txBody>
      </p:sp>
      <p:sp>
        <p:nvSpPr>
          <p:cNvPr id="122" name="Google Shape;122;p22"/>
          <p:cNvSpPr txBox="1"/>
          <p:nvPr/>
        </p:nvSpPr>
        <p:spPr>
          <a:xfrm>
            <a:off x="1084200" y="1761950"/>
            <a:ext cx="51204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dirty="0">
                <a:solidFill>
                  <a:schemeClr val="dk1"/>
                </a:solidFill>
                <a:highlight>
                  <a:srgbClr val="00FF00"/>
                </a:highlight>
                <a:latin typeface="Baumans"/>
                <a:ea typeface="Baumans"/>
                <a:cs typeface="Baumans"/>
                <a:sym typeface="Baumans"/>
              </a:rPr>
              <a:t>Activity 2</a:t>
            </a:r>
            <a:r>
              <a:rPr lang="en" sz="1800" b="1" dirty="0">
                <a:solidFill>
                  <a:schemeClr val="dk1"/>
                </a:solidFill>
                <a:latin typeface="Baumans"/>
                <a:ea typeface="Baumans"/>
                <a:cs typeface="Baumans"/>
                <a:sym typeface="Baumans"/>
              </a:rPr>
              <a:t> </a:t>
            </a:r>
            <a:r>
              <a:rPr lang="en" sz="1800" dirty="0">
                <a:solidFill>
                  <a:schemeClr val="dk1"/>
                </a:solidFill>
                <a:latin typeface="Baumans"/>
                <a:ea typeface="Baumans"/>
                <a:cs typeface="Baumans"/>
                <a:sym typeface="Baumans"/>
              </a:rPr>
              <a:t>- Add the numbers to the correct place on the diagram.</a:t>
            </a:r>
            <a:endParaRPr sz="1800" dirty="0">
              <a:latin typeface="Baumans"/>
              <a:ea typeface="Baumans"/>
              <a:cs typeface="Baumans"/>
              <a:sym typeface="Baumans"/>
            </a:endParaRPr>
          </a:p>
        </p:txBody>
      </p:sp>
      <p:sp>
        <p:nvSpPr>
          <p:cNvPr id="123" name="Google Shape;123;p22"/>
          <p:cNvSpPr txBox="1"/>
          <p:nvPr/>
        </p:nvSpPr>
        <p:spPr>
          <a:xfrm>
            <a:off x="116100" y="1145975"/>
            <a:ext cx="958800" cy="4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a:solidFill>
                  <a:schemeClr val="dk1"/>
                </a:solidFill>
                <a:latin typeface="Aladin"/>
                <a:ea typeface="Aladin"/>
                <a:cs typeface="Aladin"/>
                <a:sym typeface="Aladin"/>
              </a:rPr>
              <a:t>Activities on sheet</a:t>
            </a:r>
            <a:endParaRPr sz="1200" b="1">
              <a:solidFill>
                <a:schemeClr val="dk1"/>
              </a:solidFill>
              <a:latin typeface="Aladin"/>
              <a:ea typeface="Aladin"/>
              <a:cs typeface="Aladin"/>
              <a:sym typeface="Aladin"/>
            </a:endParaRPr>
          </a:p>
        </p:txBody>
      </p:sp>
      <p:pic>
        <p:nvPicPr>
          <p:cNvPr id="124" name="Google Shape;124;p22"/>
          <p:cNvPicPr preferRelativeResize="0"/>
          <p:nvPr/>
        </p:nvPicPr>
        <p:blipFill>
          <a:blip r:embed="rId3">
            <a:alphaModFix/>
          </a:blip>
          <a:stretch>
            <a:fillRect/>
          </a:stretch>
        </p:blipFill>
        <p:spPr>
          <a:xfrm>
            <a:off x="891223" y="4216200"/>
            <a:ext cx="611727" cy="780300"/>
          </a:xfrm>
          <a:prstGeom prst="rect">
            <a:avLst/>
          </a:prstGeom>
          <a:noFill/>
          <a:ln>
            <a:noFill/>
          </a:ln>
        </p:spPr>
      </p:pic>
      <p:pic>
        <p:nvPicPr>
          <p:cNvPr id="125" name="Google Shape;125;p22" title="Screenshot 2025-07-01 at 9.18.39 AM.png"/>
          <p:cNvPicPr preferRelativeResize="0"/>
          <p:nvPr/>
        </p:nvPicPr>
        <p:blipFill>
          <a:blip r:embed="rId4">
            <a:alphaModFix/>
          </a:blip>
          <a:stretch>
            <a:fillRect/>
          </a:stretch>
        </p:blipFill>
        <p:spPr>
          <a:xfrm>
            <a:off x="118250" y="4204149"/>
            <a:ext cx="789979" cy="780300"/>
          </a:xfrm>
          <a:prstGeom prst="rect">
            <a:avLst/>
          </a:prstGeom>
          <a:noFill/>
          <a:ln>
            <a:noFill/>
          </a:ln>
        </p:spPr>
      </p:pic>
      <p:sp>
        <p:nvSpPr>
          <p:cNvPr id="126" name="Google Shape;126;p22"/>
          <p:cNvSpPr txBox="1"/>
          <p:nvPr/>
        </p:nvSpPr>
        <p:spPr>
          <a:xfrm>
            <a:off x="1572900" y="4190700"/>
            <a:ext cx="7464300" cy="831300"/>
          </a:xfrm>
          <a:prstGeom prst="rect">
            <a:avLst/>
          </a:prstGeom>
          <a:solidFill>
            <a:srgbClr val="CE0924"/>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lt1"/>
                </a:solidFill>
                <a:latin typeface="Poppins"/>
                <a:ea typeface="Poppins"/>
                <a:cs typeface="Poppins"/>
                <a:sym typeface="Poppins"/>
              </a:rPr>
              <a:t>Compare a volcano with </a:t>
            </a:r>
            <a:r>
              <a:rPr lang="en" b="1">
                <a:solidFill>
                  <a:srgbClr val="FFFF00"/>
                </a:solidFill>
                <a:latin typeface="Poppins"/>
                <a:ea typeface="Poppins"/>
                <a:cs typeface="Poppins"/>
                <a:sym typeface="Poppins"/>
              </a:rPr>
              <a:t>runny magma and low gas</a:t>
            </a:r>
            <a:r>
              <a:rPr lang="en" b="1">
                <a:solidFill>
                  <a:schemeClr val="lt1"/>
                </a:solidFill>
                <a:latin typeface="Poppins"/>
                <a:ea typeface="Poppins"/>
                <a:cs typeface="Poppins"/>
                <a:sym typeface="Poppins"/>
              </a:rPr>
              <a:t> to one with </a:t>
            </a:r>
            <a:r>
              <a:rPr lang="en" b="1">
                <a:solidFill>
                  <a:srgbClr val="FFFF00"/>
                </a:solidFill>
                <a:latin typeface="Poppins"/>
                <a:ea typeface="Poppins"/>
                <a:cs typeface="Poppins"/>
                <a:sym typeface="Poppins"/>
              </a:rPr>
              <a:t>thick magma and trapped gas</a:t>
            </a:r>
            <a:r>
              <a:rPr lang="en" b="1">
                <a:solidFill>
                  <a:schemeClr val="lt1"/>
                </a:solidFill>
                <a:latin typeface="Poppins"/>
                <a:ea typeface="Poppins"/>
                <a:cs typeface="Poppins"/>
                <a:sym typeface="Poppins"/>
              </a:rPr>
              <a:t>. Predict how their eruptions would </a:t>
            </a:r>
            <a:r>
              <a:rPr lang="en" b="1">
                <a:solidFill>
                  <a:srgbClr val="FFFF00"/>
                </a:solidFill>
                <a:latin typeface="Poppins"/>
                <a:ea typeface="Poppins"/>
                <a:cs typeface="Poppins"/>
                <a:sym typeface="Poppins"/>
              </a:rPr>
              <a:t>differ in strength, danger and the hazards for people nearby</a:t>
            </a:r>
            <a:r>
              <a:rPr lang="en" b="1">
                <a:solidFill>
                  <a:schemeClr val="lt1"/>
                </a:solidFill>
                <a:latin typeface="Poppins"/>
                <a:ea typeface="Poppins"/>
                <a:cs typeface="Poppins"/>
                <a:sym typeface="Poppins"/>
              </a:rPr>
              <a:t>.</a:t>
            </a:r>
            <a:endParaRPr b="1">
              <a:solidFill>
                <a:schemeClr val="lt1"/>
              </a:solidFill>
              <a:latin typeface="Poppins"/>
              <a:ea typeface="Poppins"/>
              <a:cs typeface="Poppins"/>
              <a:sym typeface="Poppins"/>
            </a:endParaRPr>
          </a:p>
        </p:txBody>
      </p:sp>
      <p:sp>
        <p:nvSpPr>
          <p:cNvPr id="127" name="Google Shape;127;p22"/>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Volcanoes 101</a:t>
            </a:r>
            <a:endParaRPr sz="700" i="0" u="none" strike="noStrike" cap="none">
              <a:solidFill>
                <a:srgbClr val="000000"/>
              </a:solidFill>
              <a:latin typeface="Fugaz One"/>
              <a:ea typeface="Fugaz One"/>
              <a:cs typeface="Fugaz One"/>
              <a:sym typeface="Fugaz One"/>
            </a:endParaRPr>
          </a:p>
        </p:txBody>
      </p:sp>
      <p:sp>
        <p:nvSpPr>
          <p:cNvPr id="128" name="Google Shape;128;p22"/>
          <p:cNvSpPr txBox="1"/>
          <p:nvPr/>
        </p:nvSpPr>
        <p:spPr>
          <a:xfrm>
            <a:off x="6307775" y="959188"/>
            <a:ext cx="25725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chemeClr val="dk1"/>
                </a:solidFill>
                <a:latin typeface="Poppins"/>
                <a:ea typeface="Poppins"/>
                <a:cs typeface="Poppins"/>
                <a:sym typeface="Poppins"/>
              </a:rPr>
              <a:t>Plate Boundaries</a:t>
            </a:r>
            <a:endParaRPr sz="1600" b="1">
              <a:latin typeface="Poppins"/>
              <a:ea typeface="Poppins"/>
              <a:cs typeface="Poppins"/>
              <a:sym typeface="Poppins"/>
            </a:endParaRPr>
          </a:p>
        </p:txBody>
      </p:sp>
      <p:pic>
        <p:nvPicPr>
          <p:cNvPr id="129" name="Google Shape;129;p22"/>
          <p:cNvPicPr preferRelativeResize="0"/>
          <p:nvPr/>
        </p:nvPicPr>
        <p:blipFill rotWithShape="1">
          <a:blip r:embed="rId5">
            <a:alphaModFix/>
          </a:blip>
          <a:srcRect l="9645" r="17891" b="6015"/>
          <a:stretch/>
        </p:blipFill>
        <p:spPr>
          <a:xfrm>
            <a:off x="6307775" y="1392088"/>
            <a:ext cx="2572500" cy="1376529"/>
          </a:xfrm>
          <a:prstGeom prst="rect">
            <a:avLst/>
          </a:prstGeom>
          <a:noFill/>
          <a:ln>
            <a:noFill/>
          </a:ln>
        </p:spPr>
      </p:pic>
      <p:pic>
        <p:nvPicPr>
          <p:cNvPr id="130" name="Google Shape;130;p22"/>
          <p:cNvPicPr preferRelativeResize="0"/>
          <p:nvPr/>
        </p:nvPicPr>
        <p:blipFill rotWithShape="1">
          <a:blip r:embed="rId6">
            <a:alphaModFix/>
          </a:blip>
          <a:srcRect l="9511" r="17719" b="5616"/>
          <a:stretch/>
        </p:blipFill>
        <p:spPr>
          <a:xfrm>
            <a:off x="6307776" y="2824413"/>
            <a:ext cx="2541424" cy="1359900"/>
          </a:xfrm>
          <a:prstGeom prst="rect">
            <a:avLst/>
          </a:prstGeom>
          <a:noFill/>
          <a:ln>
            <a:noFill/>
          </a:ln>
        </p:spPr>
      </p:pic>
      <p:sp>
        <p:nvSpPr>
          <p:cNvPr id="131" name="Google Shape;131;p22"/>
          <p:cNvSpPr txBox="1"/>
          <p:nvPr/>
        </p:nvSpPr>
        <p:spPr>
          <a:xfrm>
            <a:off x="125350" y="2680700"/>
            <a:ext cx="6079200" cy="141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dirty="0">
                <a:solidFill>
                  <a:schemeClr val="dk1"/>
                </a:solidFill>
                <a:highlight>
                  <a:srgbClr val="00FF00"/>
                </a:highlight>
                <a:latin typeface="Baumans"/>
                <a:ea typeface="Baumans"/>
                <a:cs typeface="Baumans"/>
                <a:sym typeface="Baumans"/>
              </a:rPr>
              <a:t>Activity 3</a:t>
            </a:r>
            <a:r>
              <a:rPr lang="en" sz="1800" b="1" dirty="0">
                <a:solidFill>
                  <a:schemeClr val="dk1"/>
                </a:solidFill>
                <a:latin typeface="Baumans"/>
                <a:ea typeface="Baumans"/>
                <a:cs typeface="Baumans"/>
                <a:sym typeface="Baumans"/>
              </a:rPr>
              <a:t> </a:t>
            </a:r>
            <a:r>
              <a:rPr lang="en" sz="1800" dirty="0">
                <a:solidFill>
                  <a:schemeClr val="dk1"/>
                </a:solidFill>
                <a:latin typeface="Baumans"/>
                <a:ea typeface="Baumans"/>
                <a:cs typeface="Baumans"/>
                <a:sym typeface="Baumans"/>
              </a:rPr>
              <a:t>- Explain how the volcanic process can lead to a gentle or violent eruption </a:t>
            </a:r>
            <a:r>
              <a:rPr lang="en" b="1" dirty="0">
                <a:solidFill>
                  <a:schemeClr val="dk1"/>
                </a:solidFill>
                <a:latin typeface="Patrick Hand"/>
                <a:ea typeface="Patrick Hand"/>
                <a:cs typeface="Patrick Hand"/>
                <a:sym typeface="Patrick Hand"/>
              </a:rPr>
              <a:t>(plate boundaries, magma type, gas and pressure, eruption type, eruption materials, and pyroclastic flow)</a:t>
            </a:r>
            <a:r>
              <a:rPr lang="en" sz="1800" dirty="0">
                <a:solidFill>
                  <a:schemeClr val="dk1"/>
                </a:solidFill>
                <a:latin typeface="Baumans"/>
                <a:ea typeface="Baumans"/>
                <a:cs typeface="Baumans"/>
                <a:sym typeface="Baumans"/>
              </a:rPr>
              <a:t>, and why this makes some volcanoes more dangerous than others.</a:t>
            </a:r>
            <a:endParaRPr sz="1800" dirty="0">
              <a:latin typeface="Baumans"/>
              <a:ea typeface="Baumans"/>
              <a:cs typeface="Baumans"/>
              <a:sym typeface="Baumans"/>
            </a:endParaRPr>
          </a:p>
        </p:txBody>
      </p:sp>
      <p:pic>
        <p:nvPicPr>
          <p:cNvPr id="132" name="Google Shape;132;p22" title="Screenshot 2025-09-11 at 1.22.22 PM.png"/>
          <p:cNvPicPr preferRelativeResize="0"/>
          <p:nvPr/>
        </p:nvPicPr>
        <p:blipFill>
          <a:blip r:embed="rId7">
            <a:alphaModFix/>
          </a:blip>
          <a:stretch>
            <a:fillRect/>
          </a:stretch>
        </p:blipFill>
        <p:spPr>
          <a:xfrm>
            <a:off x="86500" y="1623500"/>
            <a:ext cx="977398" cy="749162"/>
          </a:xfrm>
          <a:prstGeom prst="rect">
            <a:avLst/>
          </a:prstGeom>
          <a:noFill/>
          <a:ln>
            <a:noFill/>
          </a:ln>
        </p:spPr>
      </p:pic>
      <p:pic>
        <p:nvPicPr>
          <p:cNvPr id="133" name="Google Shape;133;p22" descr="a cartoon drawing of a fire with a flame coming out of it (Provided by Tenor)"/>
          <p:cNvPicPr preferRelativeResize="0"/>
          <p:nvPr/>
        </p:nvPicPr>
        <p:blipFill>
          <a:blip r:embed="rId8">
            <a:alphaModFix/>
          </a:blip>
          <a:stretch>
            <a:fillRect/>
          </a:stretch>
        </p:blipFill>
        <p:spPr>
          <a:xfrm>
            <a:off x="850175" y="4264800"/>
            <a:ext cx="234025" cy="234025"/>
          </a:xfrm>
          <a:prstGeom prst="rect">
            <a:avLst/>
          </a:prstGeom>
          <a:noFill/>
          <a:ln>
            <a:noFill/>
          </a:ln>
        </p:spPr>
      </p:pic>
      <p:sp>
        <p:nvSpPr>
          <p:cNvPr id="134" name="Google Shape;134;p22"/>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pic>
        <p:nvPicPr>
          <p:cNvPr id="135" name="Google Shape;135;p22" descr="Meet your new favorite study buddy — an adorable axolotl ready to keep you company during this 15-minute chill countdown timer. 🐟✨ Set to relaxing lofi music, this timer is perfect for study sessions, classroom use, meditation, or just taking a mindful break.&#10;Whether you’re focusing, unwinding, or looking for a cute visual to brighten your day, this axolotl timer will bring cozy vibes and help you stay on track. 🌸🎶&#10;👉 Don’t forget to like, subscribe, and follow for more cute and relaxing countdown timers every week!&#10;&#10;Easter egg: If you saw the word ‘you…’, comment you matter 💕&#10;&#10;👀 Don’t scroll away—your next favorite timer is right here.&#10; https://youtube.com/playlist?list=PL9dICJCsquRxZBjz86Do6y7c_ZzfULlJb&amp;si=cOsplLuyJPCaK7MS&#10;&#10;Copyright Notice:&#10;All content on this channel, including music and visuals, is exclusively created and licensed for use by Chill Countdown Timers. Reuse, remixing, or redistribution of any kind — even with credit — is strictly prohibited. Unauthorized use may result in takedown notices." title=" 15 Minute Axolotl Chill Countdown Timer with Lofi Vibes | Your New Favorite Study Buddy">
            <a:hlinkClick r:id="rId9"/>
          </p:cNvPr>
          <p:cNvPicPr preferRelativeResize="0"/>
          <p:nvPr/>
        </p:nvPicPr>
        <p:blipFill>
          <a:blip r:embed="rId10">
            <a:alphaModFix/>
          </a:blip>
          <a:stretch>
            <a:fillRect/>
          </a:stretch>
        </p:blipFill>
        <p:spPr>
          <a:xfrm>
            <a:off x="7403750" y="83900"/>
            <a:ext cx="1476525" cy="83054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3"/>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141" name="Google Shape;141;p23"/>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a:pPr>
            <a:r>
              <a:rPr lang="en" sz="1800" b="1">
                <a:solidFill>
                  <a:schemeClr val="dk1"/>
                </a:solidFill>
                <a:latin typeface="Poppins"/>
                <a:ea typeface="Poppins"/>
                <a:cs typeface="Poppins"/>
                <a:sym typeface="Poppins"/>
              </a:rPr>
              <a:t>What is one main reason shield volcanoes are usually less dangerous than composite volcanoes?</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Their lava is runny and flows gently away</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They explode violently with lots of gas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trap sticky lava and ash inside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always form very tall cone shapes</a:t>
            </a:r>
            <a:endParaRPr sz="1800">
              <a:solidFill>
                <a:schemeClr val="dk1"/>
              </a:solidFill>
              <a:latin typeface="Poppins"/>
              <a:ea typeface="Poppins"/>
              <a:cs typeface="Poppins"/>
              <a:sym typeface="Poppins"/>
            </a:endParaRPr>
          </a:p>
        </p:txBody>
      </p:sp>
      <p:sp>
        <p:nvSpPr>
          <p:cNvPr id="142" name="Google Shape;142;p23"/>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143" name="Google Shape;143;p23"/>
          <p:cNvSpPr/>
          <p:nvPr/>
        </p:nvSpPr>
        <p:spPr>
          <a:xfrm>
            <a:off x="134675" y="2375400"/>
            <a:ext cx="88014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 name="Google Shape;144;p23"/>
          <p:cNvSpPr txBox="1"/>
          <p:nvPr/>
        </p:nvSpPr>
        <p:spPr>
          <a:xfrm>
            <a:off x="151950"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value do people show when they prepare for eruptions, even if the volcano is usually gentle?</a:t>
            </a:r>
            <a:endParaRPr sz="2300" b="1">
              <a:solidFill>
                <a:srgbClr val="980000"/>
              </a:solidFill>
              <a:latin typeface="Baumans"/>
              <a:ea typeface="Baumans"/>
              <a:cs typeface="Baumans"/>
              <a:sym typeface="Baumans"/>
            </a:endParaRPr>
          </a:p>
        </p:txBody>
      </p:sp>
      <p:sp>
        <p:nvSpPr>
          <p:cNvPr id="145" name="Google Shape;145;p23"/>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24"/>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151" name="Google Shape;151;p24"/>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2"/>
            </a:pPr>
            <a:r>
              <a:rPr lang="en" sz="1800" b="1">
                <a:solidFill>
                  <a:schemeClr val="dk1"/>
                </a:solidFill>
                <a:latin typeface="Poppins"/>
                <a:ea typeface="Poppins"/>
                <a:cs typeface="Poppins"/>
                <a:sym typeface="Poppins"/>
              </a:rPr>
              <a:t>What is one main reason composite volcanoes can cause more destruction?</a:t>
            </a:r>
            <a:endParaRPr sz="1800" b="1">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They have gentle slopes and thin lava</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Their sticky lava traps gas, causing violent eruptions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only produce harmless steam and smoke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never release ash or volcanic bombs</a:t>
            </a:r>
            <a:endParaRPr sz="1800">
              <a:solidFill>
                <a:schemeClr val="dk1"/>
              </a:solidFill>
              <a:latin typeface="Poppins"/>
              <a:ea typeface="Poppins"/>
              <a:cs typeface="Poppins"/>
              <a:sym typeface="Poppins"/>
            </a:endParaRPr>
          </a:p>
        </p:txBody>
      </p:sp>
      <p:sp>
        <p:nvSpPr>
          <p:cNvPr id="152" name="Google Shape;152;p24"/>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153" name="Google Shape;153;p24"/>
          <p:cNvSpPr/>
          <p:nvPr/>
        </p:nvSpPr>
        <p:spPr>
          <a:xfrm>
            <a:off x="115350" y="2787725"/>
            <a:ext cx="66510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 name="Google Shape;154;p24"/>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value is important for scientists studying dangerous volcanoes so they can protect others?</a:t>
            </a:r>
            <a:endParaRPr sz="2300" b="1">
              <a:solidFill>
                <a:srgbClr val="980000"/>
              </a:solidFill>
              <a:latin typeface="Baumans"/>
              <a:ea typeface="Baumans"/>
              <a:cs typeface="Baumans"/>
              <a:sym typeface="Baumans"/>
            </a:endParaRPr>
          </a:p>
        </p:txBody>
      </p:sp>
      <p:sp>
        <p:nvSpPr>
          <p:cNvPr id="155" name="Google Shape;155;p24"/>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25"/>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161" name="Google Shape;161;p25"/>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3"/>
            </a:pPr>
            <a:r>
              <a:rPr lang="en" sz="1800" b="1">
                <a:solidFill>
                  <a:schemeClr val="dk1"/>
                </a:solidFill>
                <a:latin typeface="Poppins"/>
                <a:ea typeface="Poppins"/>
                <a:cs typeface="Poppins"/>
                <a:sym typeface="Poppins"/>
              </a:rPr>
              <a:t>What happens when lots of gas and pressure build up inside a volcano?</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A slow, gentle lava flow moves safely away</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 volcano stays quiet and inactive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An explosive eruption blasts out ash and rocks</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 magma cools before reaching the surface</a:t>
            </a:r>
            <a:endParaRPr sz="1800">
              <a:solidFill>
                <a:schemeClr val="dk1"/>
              </a:solidFill>
              <a:latin typeface="Poppins"/>
              <a:ea typeface="Poppins"/>
              <a:cs typeface="Poppins"/>
              <a:sym typeface="Poppins"/>
            </a:endParaRPr>
          </a:p>
        </p:txBody>
      </p:sp>
      <p:sp>
        <p:nvSpPr>
          <p:cNvPr id="162" name="Google Shape;162;p25"/>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163" name="Google Shape;163;p25"/>
          <p:cNvSpPr/>
          <p:nvPr/>
        </p:nvSpPr>
        <p:spPr>
          <a:xfrm>
            <a:off x="116975" y="3222900"/>
            <a:ext cx="5835300" cy="3927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 name="Google Shape;164;p25"/>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value do communities need when they have to evacuate quickly and follow safety rules?</a:t>
            </a:r>
            <a:endParaRPr sz="2300" b="1">
              <a:solidFill>
                <a:srgbClr val="980000"/>
              </a:solidFill>
              <a:latin typeface="Baumans"/>
              <a:ea typeface="Baumans"/>
              <a:cs typeface="Baumans"/>
              <a:sym typeface="Baumans"/>
            </a:endParaRPr>
          </a:p>
        </p:txBody>
      </p:sp>
      <p:sp>
        <p:nvSpPr>
          <p:cNvPr id="165" name="Google Shape;165;p25"/>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26"/>
          <p:cNvPicPr preferRelativeResize="0"/>
          <p:nvPr/>
        </p:nvPicPr>
        <p:blipFill rotWithShape="1">
          <a:blip r:embed="rId3">
            <a:alphaModFix/>
          </a:blip>
          <a:srcRect l="30711" t="5130" r="3174" b="5807"/>
          <a:stretch/>
        </p:blipFill>
        <p:spPr>
          <a:xfrm>
            <a:off x="115349" y="782519"/>
            <a:ext cx="1246475" cy="661131"/>
          </a:xfrm>
          <a:prstGeom prst="rect">
            <a:avLst/>
          </a:prstGeom>
          <a:noFill/>
          <a:ln>
            <a:noFill/>
          </a:ln>
        </p:spPr>
      </p:pic>
      <p:sp>
        <p:nvSpPr>
          <p:cNvPr id="171" name="Google Shape;171;p26"/>
          <p:cNvSpPr txBox="1"/>
          <p:nvPr/>
        </p:nvSpPr>
        <p:spPr>
          <a:xfrm>
            <a:off x="115335" y="1532275"/>
            <a:ext cx="8840100" cy="25398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Clr>
                <a:schemeClr val="dk1"/>
              </a:buClr>
              <a:buSzPts val="1800"/>
              <a:buFont typeface="Poppins"/>
              <a:buAutoNum type="arabicPeriod" startAt="4"/>
            </a:pPr>
            <a:r>
              <a:rPr lang="en" sz="1800" b="1">
                <a:solidFill>
                  <a:schemeClr val="dk1"/>
                </a:solidFill>
                <a:latin typeface="Poppins"/>
                <a:ea typeface="Poppins"/>
                <a:cs typeface="Poppins"/>
                <a:sym typeface="Poppins"/>
              </a:rPr>
              <a:t>What is one main reason pyroclastic flows are so deadly?</a:t>
            </a:r>
            <a:endParaRPr b="1">
              <a:solidFill>
                <a:srgbClr val="980000"/>
              </a:solidFill>
              <a:latin typeface="Patrick Hand"/>
              <a:ea typeface="Patrick Hand"/>
              <a:cs typeface="Patrick Hand"/>
              <a:sym typeface="Patrick Hand"/>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A) They move slowly so people can escape</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B) They are made of harmless steam</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C) They are fast, hot clouds of gas and ash that burn everything in their path</a:t>
            </a:r>
            <a:endParaRPr sz="18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r>
              <a:rPr lang="en" sz="1800">
                <a:solidFill>
                  <a:schemeClr val="dk1"/>
                </a:solidFill>
                <a:latin typeface="Poppins"/>
                <a:ea typeface="Poppins"/>
                <a:cs typeface="Poppins"/>
                <a:sym typeface="Poppins"/>
              </a:rPr>
              <a:t>D) They only happen far away from towns and cities</a:t>
            </a:r>
            <a:endParaRPr sz="1800">
              <a:solidFill>
                <a:schemeClr val="dk1"/>
              </a:solidFill>
              <a:latin typeface="Poppins"/>
              <a:ea typeface="Poppins"/>
              <a:cs typeface="Poppins"/>
              <a:sym typeface="Poppins"/>
            </a:endParaRPr>
          </a:p>
        </p:txBody>
      </p:sp>
      <p:sp>
        <p:nvSpPr>
          <p:cNvPr id="172" name="Google Shape;172;p26"/>
          <p:cNvSpPr txBox="1"/>
          <p:nvPr/>
        </p:nvSpPr>
        <p:spPr>
          <a:xfrm>
            <a:off x="1361825" y="882225"/>
            <a:ext cx="30000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 sz="1800" b="1">
                <a:solidFill>
                  <a:schemeClr val="dk1"/>
                </a:solidFill>
                <a:latin typeface="Baumans"/>
                <a:ea typeface="Baumans"/>
                <a:cs typeface="Baumans"/>
                <a:sym typeface="Baumans"/>
              </a:rPr>
              <a:t>Odd One Out</a:t>
            </a:r>
            <a:endParaRPr sz="1800">
              <a:latin typeface="Baumans"/>
              <a:ea typeface="Baumans"/>
              <a:cs typeface="Baumans"/>
              <a:sym typeface="Baumans"/>
            </a:endParaRPr>
          </a:p>
        </p:txBody>
      </p:sp>
      <p:sp>
        <p:nvSpPr>
          <p:cNvPr id="173" name="Google Shape;173;p26"/>
          <p:cNvSpPr/>
          <p:nvPr/>
        </p:nvSpPr>
        <p:spPr>
          <a:xfrm>
            <a:off x="115350" y="2861550"/>
            <a:ext cx="8353500" cy="7476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 name="Google Shape;174;p26"/>
          <p:cNvSpPr txBox="1"/>
          <p:nvPr/>
        </p:nvSpPr>
        <p:spPr>
          <a:xfrm>
            <a:off x="115325" y="4071550"/>
            <a:ext cx="8840100" cy="850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300" b="1">
                <a:solidFill>
                  <a:srgbClr val="980000"/>
                </a:solidFill>
                <a:latin typeface="Baumans"/>
                <a:ea typeface="Baumans"/>
                <a:cs typeface="Baumans"/>
                <a:sym typeface="Baumans"/>
              </a:rPr>
              <a:t>What value do rescuers show when they risk their lives to help people after an eruption?</a:t>
            </a:r>
            <a:endParaRPr sz="2300" b="1">
              <a:solidFill>
                <a:srgbClr val="980000"/>
              </a:solidFill>
              <a:latin typeface="Baumans"/>
              <a:ea typeface="Baumans"/>
              <a:cs typeface="Baumans"/>
              <a:sym typeface="Baumans"/>
            </a:endParaRPr>
          </a:p>
        </p:txBody>
      </p:sp>
      <p:sp>
        <p:nvSpPr>
          <p:cNvPr id="175" name="Google Shape;175;p2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27">
            <a:hlinkClick r:id="rId3"/>
          </p:cNvPr>
          <p:cNvPicPr preferRelativeResize="0"/>
          <p:nvPr/>
        </p:nvPicPr>
        <p:blipFill>
          <a:blip r:embed="rId4">
            <a:alphaModFix/>
          </a:blip>
          <a:stretch>
            <a:fillRect/>
          </a:stretch>
        </p:blipFill>
        <p:spPr>
          <a:xfrm>
            <a:off x="575515" y="1390222"/>
            <a:ext cx="7992976" cy="2363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8"/>
          <p:cNvSpPr txBox="1"/>
          <p:nvPr/>
        </p:nvSpPr>
        <p:spPr>
          <a:xfrm>
            <a:off x="5163901" y="845875"/>
            <a:ext cx="3884100" cy="1098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Key Enquiry Question:</a:t>
            </a:r>
            <a:endParaRPr sz="1800" b="1">
              <a:highlight>
                <a:schemeClr val="lt1"/>
              </a:highlight>
              <a:latin typeface="Edu TAS Beginner"/>
              <a:ea typeface="Edu TAS Beginner"/>
              <a:cs typeface="Edu TAS Beginner"/>
              <a:sym typeface="Edu TAS Beginner"/>
            </a:endParaRPr>
          </a:p>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“What makes some volcanoes more dangerous than others?"</a:t>
            </a:r>
            <a:endParaRPr sz="1800" b="1">
              <a:highlight>
                <a:schemeClr val="lt1"/>
              </a:highlight>
              <a:latin typeface="Edu TAS Beginner"/>
              <a:ea typeface="Edu TAS Beginner"/>
              <a:cs typeface="Edu TAS Beginner"/>
              <a:sym typeface="Edu TAS Beginner"/>
            </a:endParaRPr>
          </a:p>
        </p:txBody>
      </p:sp>
      <p:sp>
        <p:nvSpPr>
          <p:cNvPr id="186" name="Google Shape;186;p28"/>
          <p:cNvSpPr txBox="1"/>
          <p:nvPr/>
        </p:nvSpPr>
        <p:spPr>
          <a:xfrm>
            <a:off x="96000" y="845875"/>
            <a:ext cx="5067900" cy="4008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None/>
            </a:pPr>
            <a:r>
              <a:rPr lang="en" sz="1600" b="1">
                <a:solidFill>
                  <a:schemeClr val="dk1"/>
                </a:solidFill>
                <a:latin typeface="Baumans"/>
                <a:ea typeface="Baumans"/>
                <a:cs typeface="Baumans"/>
                <a:sym typeface="Baumans"/>
              </a:rPr>
              <a:t>🔍 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identify and describe different volcanic hazards</a:t>
            </a:r>
            <a:r>
              <a:rPr lang="en" sz="1600">
                <a:solidFill>
                  <a:schemeClr val="dk1"/>
                </a:solidFill>
                <a:latin typeface="Baumans"/>
                <a:ea typeface="Baumans"/>
                <a:cs typeface="Baumans"/>
                <a:sym typeface="Baumans"/>
              </a:rPr>
              <a:t>, including their </a:t>
            </a:r>
            <a:r>
              <a:rPr lang="en" sz="1600" b="1">
                <a:solidFill>
                  <a:schemeClr val="dk1"/>
                </a:solidFill>
                <a:latin typeface="Baumans"/>
                <a:ea typeface="Baumans"/>
                <a:cs typeface="Baumans"/>
                <a:sym typeface="Baumans"/>
              </a:rPr>
              <a:t>causes and impacts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None/>
            </a:pPr>
            <a:r>
              <a:rPr lang="en" sz="1600" b="1">
                <a:solidFill>
                  <a:schemeClr val="dk1"/>
                </a:solidFill>
                <a:latin typeface="Baumans"/>
                <a:ea typeface="Baumans"/>
                <a:cs typeface="Baumans"/>
                <a:sym typeface="Baumans"/>
              </a:rPr>
              <a:t>🔗 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explain how different volcanic hazards affect people and places</a:t>
            </a:r>
            <a:r>
              <a:rPr lang="en" sz="1600">
                <a:solidFill>
                  <a:schemeClr val="dk1"/>
                </a:solidFill>
                <a:latin typeface="Baumans"/>
                <a:ea typeface="Baumans"/>
                <a:cs typeface="Baumans"/>
                <a:sym typeface="Baumans"/>
              </a:rPr>
              <a:t>, using relevant </a:t>
            </a:r>
            <a:r>
              <a:rPr lang="en" sz="1600" b="1">
                <a:solidFill>
                  <a:schemeClr val="dk1"/>
                </a:solidFill>
                <a:latin typeface="Baumans"/>
                <a:ea typeface="Baumans"/>
                <a:cs typeface="Baumans"/>
                <a:sym typeface="Baumans"/>
              </a:rPr>
              <a:t>examples and evidence</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None/>
            </a:pPr>
            <a:r>
              <a:rPr lang="en" sz="1600" b="1">
                <a:solidFill>
                  <a:schemeClr val="dk1"/>
                </a:solidFill>
                <a:latin typeface="Baumans"/>
                <a:ea typeface="Baumans"/>
                <a:cs typeface="Baumans"/>
                <a:sym typeface="Baumans"/>
              </a:rPr>
              <a:t>🧠 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analyse and evaluate different volcanic hazards</a:t>
            </a:r>
            <a:r>
              <a:rPr lang="en" sz="1600">
                <a:solidFill>
                  <a:schemeClr val="dk1"/>
                </a:solidFill>
                <a:latin typeface="Baumans"/>
                <a:ea typeface="Baumans"/>
                <a:cs typeface="Baumans"/>
                <a:sym typeface="Baumans"/>
              </a:rPr>
              <a:t>, using evidence to </a:t>
            </a:r>
            <a:r>
              <a:rPr lang="en" sz="1600" b="1">
                <a:solidFill>
                  <a:schemeClr val="dk1"/>
                </a:solidFill>
                <a:latin typeface="Baumans"/>
                <a:ea typeface="Baumans"/>
                <a:cs typeface="Baumans"/>
                <a:sym typeface="Baumans"/>
              </a:rPr>
              <a:t>assess which is most dangerous and explain why</a:t>
            </a:r>
            <a:r>
              <a:rPr lang="en" sz="1600">
                <a:solidFill>
                  <a:schemeClr val="dk1"/>
                </a:solidFill>
                <a:latin typeface="Baumans"/>
                <a:ea typeface="Baumans"/>
                <a:cs typeface="Baumans"/>
                <a:sym typeface="Baumans"/>
              </a:rPr>
              <a:t>.</a:t>
            </a:r>
            <a:endParaRPr sz="1600" b="1">
              <a:solidFill>
                <a:schemeClr val="dk1"/>
              </a:solidFill>
              <a:latin typeface="Baumans"/>
              <a:ea typeface="Baumans"/>
              <a:cs typeface="Baumans"/>
              <a:sym typeface="Baumans"/>
            </a:endParaRPr>
          </a:p>
        </p:txBody>
      </p:sp>
      <p:pic>
        <p:nvPicPr>
          <p:cNvPr id="187" name="Google Shape;187;p28"/>
          <p:cNvPicPr preferRelativeResize="0"/>
          <p:nvPr/>
        </p:nvPicPr>
        <p:blipFill rotWithShape="1">
          <a:blip r:embed="rId3">
            <a:alphaModFix/>
          </a:blip>
          <a:srcRect/>
          <a:stretch/>
        </p:blipFill>
        <p:spPr>
          <a:xfrm>
            <a:off x="5432600" y="2175538"/>
            <a:ext cx="3346675" cy="2518813"/>
          </a:xfrm>
          <a:prstGeom prst="rect">
            <a:avLst/>
          </a:prstGeom>
          <a:noFill/>
          <a:ln>
            <a:noFill/>
          </a:ln>
        </p:spPr>
      </p:pic>
      <p:sp>
        <p:nvSpPr>
          <p:cNvPr id="188" name="Google Shape;188;p28"/>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graphicFrame>
        <p:nvGraphicFramePr>
          <p:cNvPr id="193" name="Google Shape;193;p29"/>
          <p:cNvGraphicFramePr/>
          <p:nvPr/>
        </p:nvGraphicFramePr>
        <p:xfrm>
          <a:off x="156250" y="1354175"/>
          <a:ext cx="8831475" cy="3295217"/>
        </p:xfrm>
        <a:graphic>
          <a:graphicData uri="http://schemas.openxmlformats.org/drawingml/2006/table">
            <a:tbl>
              <a:tblPr>
                <a:noFill/>
                <a:tableStyleId>{19E4693C-F83B-4BF2-A814-EF8C136934E9}</a:tableStyleId>
              </a:tblPr>
              <a:tblGrid>
                <a:gridCol w="1441875">
                  <a:extLst>
                    <a:ext uri="{9D8B030D-6E8A-4147-A177-3AD203B41FA5}">
                      <a16:colId xmlns:a16="http://schemas.microsoft.com/office/drawing/2014/main" val="20000"/>
                    </a:ext>
                  </a:extLst>
                </a:gridCol>
                <a:gridCol w="1131450">
                  <a:extLst>
                    <a:ext uri="{9D8B030D-6E8A-4147-A177-3AD203B41FA5}">
                      <a16:colId xmlns:a16="http://schemas.microsoft.com/office/drawing/2014/main" val="20001"/>
                    </a:ext>
                  </a:extLst>
                </a:gridCol>
                <a:gridCol w="6258150">
                  <a:extLst>
                    <a:ext uri="{9D8B030D-6E8A-4147-A177-3AD203B41FA5}">
                      <a16:colId xmlns:a16="http://schemas.microsoft.com/office/drawing/2014/main" val="20002"/>
                    </a:ext>
                  </a:extLst>
                </a:gridCol>
              </a:tblGrid>
              <a:tr h="1088125">
                <a:tc>
                  <a:txBody>
                    <a:bodyPr/>
                    <a:lstStyle/>
                    <a:p>
                      <a:pPr marL="0" lvl="0" indent="0" algn="l" rtl="0">
                        <a:lnSpc>
                          <a:spcPct val="115000"/>
                        </a:lnSpc>
                        <a:spcBef>
                          <a:spcPts val="0"/>
                        </a:spcBef>
                        <a:spcAft>
                          <a:spcPts val="0"/>
                        </a:spcAft>
                        <a:buClr>
                          <a:schemeClr val="dk1"/>
                        </a:buClr>
                        <a:buSzPts val="2200"/>
                        <a:buFont typeface="Arial"/>
                        <a:buNone/>
                      </a:pPr>
                      <a:r>
                        <a:rPr lang="en" sz="1800" b="1">
                          <a:solidFill>
                            <a:schemeClr val="dk1"/>
                          </a:solidFill>
                          <a:latin typeface="Poppins"/>
                          <a:ea typeface="Poppins"/>
                          <a:cs typeface="Poppins"/>
                          <a:sym typeface="Poppins"/>
                        </a:rPr>
                        <a:t>Active volcanoes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These are volcanoes that have erupted recently and are likely to erupt again. There are more than 700 active volcanoes around the world.</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8125">
                <a:tc>
                  <a:txBody>
                    <a:bodyPr/>
                    <a:lstStyle/>
                    <a:p>
                      <a:pPr marL="0" lvl="0" indent="0" algn="l" rtl="0">
                        <a:lnSpc>
                          <a:spcPct val="115000"/>
                        </a:lnSpc>
                        <a:spcBef>
                          <a:spcPts val="0"/>
                        </a:spcBef>
                        <a:spcAft>
                          <a:spcPts val="0"/>
                        </a:spcAft>
                        <a:buClr>
                          <a:schemeClr val="dk1"/>
                        </a:buClr>
                        <a:buSzPts val="1100"/>
                        <a:buFont typeface="Arial"/>
                        <a:buNone/>
                      </a:pPr>
                      <a:r>
                        <a:rPr lang="en" sz="1800" b="1">
                          <a:solidFill>
                            <a:schemeClr val="dk1"/>
                          </a:solidFill>
                          <a:latin typeface="Poppins"/>
                          <a:ea typeface="Poppins"/>
                          <a:cs typeface="Poppins"/>
                          <a:sym typeface="Poppins"/>
                        </a:rPr>
                        <a:t>Dormant volcanoes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a:solidFill>
                            <a:schemeClr val="dk1"/>
                          </a:solidFill>
                          <a:latin typeface="Poppins"/>
                          <a:ea typeface="Poppins"/>
                          <a:cs typeface="Poppins"/>
                          <a:sym typeface="Poppins"/>
                        </a:rPr>
                        <a:t>These have not erupted for a long time but could erupt again in the future.</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88125">
                <a:tc>
                  <a:txBody>
                    <a:bodyPr/>
                    <a:lstStyle/>
                    <a:p>
                      <a:pPr marL="0" lvl="0" indent="0" algn="l" rtl="0">
                        <a:lnSpc>
                          <a:spcPct val="115000"/>
                        </a:lnSpc>
                        <a:spcBef>
                          <a:spcPts val="0"/>
                        </a:spcBef>
                        <a:spcAft>
                          <a:spcPts val="0"/>
                        </a:spcAft>
                        <a:buClr>
                          <a:schemeClr val="dk1"/>
                        </a:buClr>
                        <a:buSzPts val="1100"/>
                        <a:buFont typeface="Arial"/>
                        <a:buNone/>
                      </a:pPr>
                      <a:r>
                        <a:rPr lang="en" sz="1800" b="1">
                          <a:solidFill>
                            <a:schemeClr val="dk1"/>
                          </a:solidFill>
                          <a:latin typeface="Poppins"/>
                          <a:ea typeface="Poppins"/>
                          <a:cs typeface="Poppins"/>
                          <a:sym typeface="Poppins"/>
                        </a:rPr>
                        <a:t>Extinct volcanoes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These have not erupted for thousands of years and are not expected to erupt again.</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94" name="Google Shape;194;p29"/>
          <p:cNvPicPr preferRelativeResize="0"/>
          <p:nvPr/>
        </p:nvPicPr>
        <p:blipFill>
          <a:blip r:embed="rId3">
            <a:alphaModFix/>
          </a:blip>
          <a:stretch>
            <a:fillRect/>
          </a:stretch>
        </p:blipFill>
        <p:spPr>
          <a:xfrm>
            <a:off x="1748988" y="1495162"/>
            <a:ext cx="770749" cy="770749"/>
          </a:xfrm>
          <a:prstGeom prst="rect">
            <a:avLst/>
          </a:prstGeom>
          <a:noFill/>
          <a:ln>
            <a:noFill/>
          </a:ln>
        </p:spPr>
      </p:pic>
      <p:pic>
        <p:nvPicPr>
          <p:cNvPr id="195" name="Google Shape;195;p29"/>
          <p:cNvPicPr preferRelativeResize="0"/>
          <p:nvPr/>
        </p:nvPicPr>
        <p:blipFill>
          <a:blip r:embed="rId4">
            <a:alphaModFix/>
          </a:blip>
          <a:stretch>
            <a:fillRect/>
          </a:stretch>
        </p:blipFill>
        <p:spPr>
          <a:xfrm>
            <a:off x="1748988" y="2524063"/>
            <a:ext cx="770749" cy="770749"/>
          </a:xfrm>
          <a:prstGeom prst="rect">
            <a:avLst/>
          </a:prstGeom>
          <a:noFill/>
          <a:ln>
            <a:noFill/>
          </a:ln>
        </p:spPr>
      </p:pic>
      <p:pic>
        <p:nvPicPr>
          <p:cNvPr id="196" name="Google Shape;196;p29"/>
          <p:cNvPicPr preferRelativeResize="0"/>
          <p:nvPr/>
        </p:nvPicPr>
        <p:blipFill>
          <a:blip r:embed="rId5">
            <a:alphaModFix/>
          </a:blip>
          <a:stretch>
            <a:fillRect/>
          </a:stretch>
        </p:blipFill>
        <p:spPr>
          <a:xfrm>
            <a:off x="1748988" y="3706813"/>
            <a:ext cx="770749" cy="770749"/>
          </a:xfrm>
          <a:prstGeom prst="rect">
            <a:avLst/>
          </a:prstGeom>
          <a:noFill/>
          <a:ln>
            <a:noFill/>
          </a:ln>
        </p:spPr>
      </p:pic>
      <p:sp>
        <p:nvSpPr>
          <p:cNvPr id="197" name="Google Shape;197;p29"/>
          <p:cNvSpPr txBox="1"/>
          <p:nvPr/>
        </p:nvSpPr>
        <p:spPr>
          <a:xfrm>
            <a:off x="156250" y="662000"/>
            <a:ext cx="4467600" cy="67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 sz="3000">
                <a:latin typeface="Fugaz One"/>
                <a:ea typeface="Fugaz One"/>
                <a:cs typeface="Fugaz One"/>
                <a:sym typeface="Fugaz One"/>
              </a:rPr>
              <a:t>K</a:t>
            </a:r>
            <a:r>
              <a:rPr lang="en" sz="3000" i="0" u="none" strike="noStrike" cap="none">
                <a:latin typeface="Fugaz One"/>
                <a:ea typeface="Fugaz One"/>
                <a:cs typeface="Fugaz One"/>
                <a:sym typeface="Fugaz One"/>
              </a:rPr>
              <a:t>eywords:</a:t>
            </a:r>
            <a:endParaRPr sz="3000" i="0" u="none" strike="noStrike" cap="none">
              <a:latin typeface="Fugaz One"/>
              <a:ea typeface="Fugaz One"/>
              <a:cs typeface="Fugaz One"/>
              <a:sym typeface="Fugaz One"/>
            </a:endParaRPr>
          </a:p>
        </p:txBody>
      </p:sp>
      <p:sp>
        <p:nvSpPr>
          <p:cNvPr id="198" name="Google Shape;198;p29"/>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
        <p:nvSpPr>
          <p:cNvPr id="199" name="Google Shape;199;p29"/>
          <p:cNvSpPr txBox="1"/>
          <p:nvPr/>
        </p:nvSpPr>
        <p:spPr>
          <a:xfrm>
            <a:off x="2729575" y="559400"/>
            <a:ext cx="6318300" cy="780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Key Enquiry Question:</a:t>
            </a:r>
            <a:endParaRPr sz="1800" b="1">
              <a:highlight>
                <a:schemeClr val="lt1"/>
              </a:highlight>
              <a:latin typeface="Edu TAS Beginner"/>
              <a:ea typeface="Edu TAS Beginner"/>
              <a:cs typeface="Edu TAS Beginner"/>
              <a:sym typeface="Edu TAS Beginner"/>
            </a:endParaRPr>
          </a:p>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“What makes some volcanoes more dangerous than others?"</a:t>
            </a:r>
            <a:endParaRPr sz="1800" b="1">
              <a:highlight>
                <a:schemeClr val="lt1"/>
              </a:highlight>
              <a:latin typeface="Edu TAS Beginner"/>
              <a:ea typeface="Edu TAS Beginner"/>
              <a:cs typeface="Edu TAS Beginner"/>
              <a:sym typeface="Edu TAS Beginn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96000" y="3596400"/>
            <a:ext cx="4080000" cy="9234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SzPts val="1600"/>
              <a:buFont typeface="Baumans"/>
              <a:buAutoNum type="arabicPeriod" startAt="5"/>
            </a:pPr>
            <a:r>
              <a:rPr lang="en" sz="1600" b="1">
                <a:latin typeface="Baumans"/>
                <a:ea typeface="Baumans"/>
                <a:cs typeface="Baumans"/>
                <a:sym typeface="Baumans"/>
              </a:rPr>
              <a:t>Composite volcanoes are also known as stratovolcanoes because they are made from layers of lava and ash.</a:t>
            </a:r>
            <a:endParaRPr sz="1600" b="1">
              <a:latin typeface="Baumans"/>
              <a:ea typeface="Baumans"/>
              <a:cs typeface="Baumans"/>
              <a:sym typeface="Baumans"/>
            </a:endParaRPr>
          </a:p>
        </p:txBody>
      </p:sp>
      <p:pic>
        <p:nvPicPr>
          <p:cNvPr id="205" name="Google Shape;205;p30"/>
          <p:cNvPicPr preferRelativeResize="0"/>
          <p:nvPr/>
        </p:nvPicPr>
        <p:blipFill>
          <a:blip r:embed="rId3">
            <a:alphaModFix/>
          </a:blip>
          <a:stretch>
            <a:fillRect/>
          </a:stretch>
        </p:blipFill>
        <p:spPr>
          <a:xfrm>
            <a:off x="4757700" y="655086"/>
            <a:ext cx="784591" cy="784591"/>
          </a:xfrm>
          <a:prstGeom prst="rect">
            <a:avLst/>
          </a:prstGeom>
          <a:noFill/>
          <a:ln>
            <a:noFill/>
          </a:ln>
        </p:spPr>
      </p:pic>
      <p:sp>
        <p:nvSpPr>
          <p:cNvPr id="206" name="Google Shape;206;p30"/>
          <p:cNvSpPr txBox="1"/>
          <p:nvPr/>
        </p:nvSpPr>
        <p:spPr>
          <a:xfrm>
            <a:off x="5619300" y="768075"/>
            <a:ext cx="3428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rgbClr val="82D362"/>
                </a:solidFill>
                <a:highlight>
                  <a:schemeClr val="lt1"/>
                </a:highlight>
                <a:latin typeface="Finger Paint"/>
                <a:ea typeface="Finger Paint"/>
                <a:cs typeface="Finger Paint"/>
                <a:sym typeface="Finger Paint"/>
              </a:rPr>
              <a:t>True</a:t>
            </a:r>
            <a:r>
              <a:rPr lang="en" sz="2400" b="1">
                <a:solidFill>
                  <a:schemeClr val="dk1"/>
                </a:solidFill>
                <a:highlight>
                  <a:schemeClr val="lt1"/>
                </a:highlight>
                <a:latin typeface="Finger Paint"/>
                <a:ea typeface="Finger Paint"/>
                <a:cs typeface="Finger Paint"/>
                <a:sym typeface="Finger Paint"/>
              </a:rPr>
              <a:t> Or </a:t>
            </a:r>
            <a:r>
              <a:rPr lang="en" sz="2400" b="1">
                <a:solidFill>
                  <a:srgbClr val="F63741"/>
                </a:solidFill>
                <a:highlight>
                  <a:schemeClr val="lt1"/>
                </a:highlight>
                <a:latin typeface="Finger Paint"/>
                <a:ea typeface="Finger Paint"/>
                <a:cs typeface="Finger Paint"/>
                <a:sym typeface="Finger Paint"/>
              </a:rPr>
              <a:t>False</a:t>
            </a:r>
            <a:endParaRPr sz="2000">
              <a:solidFill>
                <a:srgbClr val="F63741"/>
              </a:solidFill>
              <a:highlight>
                <a:schemeClr val="lt1"/>
              </a:highlight>
            </a:endParaRPr>
          </a:p>
        </p:txBody>
      </p:sp>
      <p:sp>
        <p:nvSpPr>
          <p:cNvPr id="207" name="Google Shape;207;p30"/>
          <p:cNvSpPr txBox="1"/>
          <p:nvPr/>
        </p:nvSpPr>
        <p:spPr>
          <a:xfrm>
            <a:off x="4223750" y="1439675"/>
            <a:ext cx="4824300" cy="35463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SzPts val="1600"/>
              <a:buFont typeface="Baumans"/>
              <a:buAutoNum type="arabicPeriod"/>
            </a:pPr>
            <a:r>
              <a:rPr lang="en" sz="1600" b="1">
                <a:latin typeface="Baumans"/>
                <a:ea typeface="Baumans"/>
                <a:cs typeface="Baumans"/>
                <a:sym typeface="Baumans"/>
              </a:rPr>
              <a:t>Composite volcanoes are commonly found at destructive plate margins.</a:t>
            </a:r>
            <a:endParaRPr sz="1600" b="1">
              <a:latin typeface="Baumans"/>
              <a:ea typeface="Baumans"/>
              <a:cs typeface="Baumans"/>
              <a:sym typeface="Baumans"/>
            </a:endParaRPr>
          </a:p>
          <a:p>
            <a:pPr marL="0" lvl="0" indent="0" algn="l" rtl="0">
              <a:lnSpc>
                <a:spcPct val="115000"/>
              </a:lnSpc>
              <a:spcBef>
                <a:spcPts val="0"/>
              </a:spcBef>
              <a:spcAft>
                <a:spcPts val="0"/>
              </a:spcAft>
              <a:buNone/>
            </a:pPr>
            <a:endParaRPr sz="1600" b="1">
              <a:latin typeface="Baumans"/>
              <a:ea typeface="Baumans"/>
              <a:cs typeface="Baumans"/>
              <a:sym typeface="Baumans"/>
            </a:endParaRPr>
          </a:p>
          <a:p>
            <a:pPr marL="457200" lvl="0" indent="-330200" algn="l" rtl="0">
              <a:lnSpc>
                <a:spcPct val="115000"/>
              </a:lnSpc>
              <a:spcBef>
                <a:spcPts val="0"/>
              </a:spcBef>
              <a:spcAft>
                <a:spcPts val="0"/>
              </a:spcAft>
              <a:buSzPts val="1600"/>
              <a:buFont typeface="Baumans"/>
              <a:buAutoNum type="arabicPeriod"/>
            </a:pPr>
            <a:r>
              <a:rPr lang="en" sz="1600" b="1">
                <a:latin typeface="Baumans"/>
                <a:ea typeface="Baumans"/>
                <a:cs typeface="Baumans"/>
                <a:sym typeface="Baumans"/>
              </a:rPr>
              <a:t>A composite volcano's magma chamber is located at the top of the volcano.</a:t>
            </a:r>
            <a:endParaRPr sz="1600" b="1">
              <a:latin typeface="Baumans"/>
              <a:ea typeface="Baumans"/>
              <a:cs typeface="Baumans"/>
              <a:sym typeface="Baumans"/>
            </a:endParaRPr>
          </a:p>
          <a:p>
            <a:pPr marL="0" lvl="0" indent="0" algn="l" rtl="0">
              <a:lnSpc>
                <a:spcPct val="115000"/>
              </a:lnSpc>
              <a:spcBef>
                <a:spcPts val="0"/>
              </a:spcBef>
              <a:spcAft>
                <a:spcPts val="0"/>
              </a:spcAft>
              <a:buNone/>
            </a:pPr>
            <a:endParaRPr sz="1600" b="1">
              <a:latin typeface="Baumans"/>
              <a:ea typeface="Baumans"/>
              <a:cs typeface="Baumans"/>
              <a:sym typeface="Baumans"/>
            </a:endParaRPr>
          </a:p>
          <a:p>
            <a:pPr marL="457200" lvl="0" indent="-330200" algn="l" rtl="0">
              <a:lnSpc>
                <a:spcPct val="115000"/>
              </a:lnSpc>
              <a:spcBef>
                <a:spcPts val="0"/>
              </a:spcBef>
              <a:spcAft>
                <a:spcPts val="0"/>
              </a:spcAft>
              <a:buSzPts val="1600"/>
              <a:buFont typeface="Baumans"/>
              <a:buAutoNum type="arabicPeriod"/>
            </a:pPr>
            <a:r>
              <a:rPr lang="en" sz="1600" b="1">
                <a:latin typeface="Baumans"/>
                <a:ea typeface="Baumans"/>
                <a:cs typeface="Baumans"/>
                <a:sym typeface="Baumans"/>
              </a:rPr>
              <a:t>Lava is the name given to magma after it reaches Earth's surface.</a:t>
            </a:r>
            <a:endParaRPr sz="1600" b="1">
              <a:latin typeface="Baumans"/>
              <a:ea typeface="Baumans"/>
              <a:cs typeface="Baumans"/>
              <a:sym typeface="Baumans"/>
            </a:endParaRPr>
          </a:p>
          <a:p>
            <a:pPr marL="0" lvl="0" indent="0" algn="l" rtl="0">
              <a:lnSpc>
                <a:spcPct val="115000"/>
              </a:lnSpc>
              <a:spcBef>
                <a:spcPts val="0"/>
              </a:spcBef>
              <a:spcAft>
                <a:spcPts val="0"/>
              </a:spcAft>
              <a:buNone/>
            </a:pPr>
            <a:endParaRPr sz="1600" b="1">
              <a:latin typeface="Baumans"/>
              <a:ea typeface="Baumans"/>
              <a:cs typeface="Baumans"/>
              <a:sym typeface="Baumans"/>
            </a:endParaRPr>
          </a:p>
          <a:p>
            <a:pPr marL="457200" lvl="0" indent="-330200" algn="l" rtl="0">
              <a:lnSpc>
                <a:spcPct val="115000"/>
              </a:lnSpc>
              <a:spcBef>
                <a:spcPts val="0"/>
              </a:spcBef>
              <a:spcAft>
                <a:spcPts val="0"/>
              </a:spcAft>
              <a:buSzPts val="1600"/>
              <a:buFont typeface="Baumans"/>
              <a:buAutoNum type="arabicPeriod"/>
            </a:pPr>
            <a:r>
              <a:rPr lang="en" sz="1600" b="1">
                <a:latin typeface="Baumans"/>
                <a:ea typeface="Baumans"/>
                <a:cs typeface="Baumans"/>
                <a:sym typeface="Baumans"/>
              </a:rPr>
              <a:t>Shield volcanoes have steep sides because their lava cools quickly and travels only a short distance.</a:t>
            </a:r>
            <a:endParaRPr sz="1600" b="1">
              <a:latin typeface="Baumans"/>
              <a:ea typeface="Baumans"/>
              <a:cs typeface="Baumans"/>
              <a:sym typeface="Baumans"/>
            </a:endParaRPr>
          </a:p>
        </p:txBody>
      </p:sp>
      <p:pic>
        <p:nvPicPr>
          <p:cNvPr id="208" name="Google Shape;208;p30"/>
          <p:cNvPicPr preferRelativeResize="0"/>
          <p:nvPr/>
        </p:nvPicPr>
        <p:blipFill rotWithShape="1">
          <a:blip r:embed="rId4">
            <a:alphaModFix/>
          </a:blip>
          <a:srcRect l="25716" t="15310" r="25672" b="17805"/>
          <a:stretch/>
        </p:blipFill>
        <p:spPr>
          <a:xfrm>
            <a:off x="4265675" y="1532106"/>
            <a:ext cx="497449" cy="456300"/>
          </a:xfrm>
          <a:prstGeom prst="rect">
            <a:avLst/>
          </a:prstGeom>
          <a:noFill/>
          <a:ln>
            <a:noFill/>
          </a:ln>
        </p:spPr>
      </p:pic>
      <p:pic>
        <p:nvPicPr>
          <p:cNvPr id="209" name="Google Shape;209;p30"/>
          <p:cNvPicPr preferRelativeResize="0"/>
          <p:nvPr/>
        </p:nvPicPr>
        <p:blipFill rotWithShape="1">
          <a:blip r:embed="rId5">
            <a:alphaModFix/>
          </a:blip>
          <a:srcRect l="26264" t="15218" r="24368" b="18067"/>
          <a:stretch/>
        </p:blipFill>
        <p:spPr>
          <a:xfrm>
            <a:off x="4265675" y="4039713"/>
            <a:ext cx="497449" cy="448146"/>
          </a:xfrm>
          <a:prstGeom prst="rect">
            <a:avLst/>
          </a:prstGeom>
          <a:noFill/>
          <a:ln>
            <a:noFill/>
          </a:ln>
        </p:spPr>
      </p:pic>
      <p:pic>
        <p:nvPicPr>
          <p:cNvPr id="210" name="Google Shape;210;p30"/>
          <p:cNvPicPr preferRelativeResize="0"/>
          <p:nvPr/>
        </p:nvPicPr>
        <p:blipFill rotWithShape="1">
          <a:blip r:embed="rId5">
            <a:alphaModFix/>
          </a:blip>
          <a:srcRect l="26264" t="15218" r="24368" b="18067"/>
          <a:stretch/>
        </p:blipFill>
        <p:spPr>
          <a:xfrm>
            <a:off x="4265675" y="2366685"/>
            <a:ext cx="497449" cy="448146"/>
          </a:xfrm>
          <a:prstGeom prst="rect">
            <a:avLst/>
          </a:prstGeom>
          <a:noFill/>
          <a:ln>
            <a:noFill/>
          </a:ln>
        </p:spPr>
      </p:pic>
      <p:pic>
        <p:nvPicPr>
          <p:cNvPr id="211" name="Google Shape;211;p30"/>
          <p:cNvPicPr preferRelativeResize="0"/>
          <p:nvPr/>
        </p:nvPicPr>
        <p:blipFill rotWithShape="1">
          <a:blip r:embed="rId4">
            <a:alphaModFix/>
          </a:blip>
          <a:srcRect l="25716" t="15310" r="25672" b="17805"/>
          <a:stretch/>
        </p:blipFill>
        <p:spPr>
          <a:xfrm>
            <a:off x="96000" y="3725753"/>
            <a:ext cx="497449" cy="456300"/>
          </a:xfrm>
          <a:prstGeom prst="rect">
            <a:avLst/>
          </a:prstGeom>
          <a:noFill/>
          <a:ln>
            <a:noFill/>
          </a:ln>
        </p:spPr>
      </p:pic>
      <p:pic>
        <p:nvPicPr>
          <p:cNvPr id="212" name="Google Shape;212;p30"/>
          <p:cNvPicPr preferRelativeResize="0"/>
          <p:nvPr/>
        </p:nvPicPr>
        <p:blipFill rotWithShape="1">
          <a:blip r:embed="rId4">
            <a:alphaModFix/>
          </a:blip>
          <a:srcRect l="25716" t="15310" r="25672" b="17805"/>
          <a:stretch/>
        </p:blipFill>
        <p:spPr>
          <a:xfrm>
            <a:off x="4265675" y="3199119"/>
            <a:ext cx="497449" cy="456300"/>
          </a:xfrm>
          <a:prstGeom prst="rect">
            <a:avLst/>
          </a:prstGeom>
          <a:noFill/>
          <a:ln>
            <a:noFill/>
          </a:ln>
        </p:spPr>
      </p:pic>
      <p:sp>
        <p:nvSpPr>
          <p:cNvPr id="213" name="Google Shape;213;p30"/>
          <p:cNvSpPr txBox="1"/>
          <p:nvPr/>
        </p:nvSpPr>
        <p:spPr>
          <a:xfrm>
            <a:off x="96000" y="655070"/>
            <a:ext cx="8836800" cy="44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400"/>
              <a:buFont typeface="Arial"/>
              <a:buNone/>
            </a:pPr>
            <a:r>
              <a:rPr lang="en" sz="2000">
                <a:solidFill>
                  <a:schemeClr val="dk1"/>
                </a:solidFill>
                <a:highlight>
                  <a:schemeClr val="lt1"/>
                </a:highlight>
                <a:latin typeface="Fugaz One"/>
                <a:ea typeface="Fugaz One"/>
                <a:cs typeface="Fugaz One"/>
                <a:sym typeface="Fugaz One"/>
              </a:rPr>
              <a:t>Types of Volcanoes</a:t>
            </a:r>
            <a:endParaRPr sz="1800" b="1">
              <a:solidFill>
                <a:schemeClr val="dk1"/>
              </a:solidFill>
              <a:highlight>
                <a:schemeClr val="lt1"/>
              </a:highlight>
              <a:latin typeface="Patrick Hand"/>
              <a:ea typeface="Patrick Hand"/>
              <a:cs typeface="Patrick Hand"/>
              <a:sym typeface="Patrick Hand"/>
            </a:endParaRPr>
          </a:p>
        </p:txBody>
      </p:sp>
      <p:pic>
        <p:nvPicPr>
          <p:cNvPr id="214" name="Google Shape;214;p30" descr="How do plate tectonics REALLY work?&#10;&#10;Please support us on Patreon at: http://www.patreon.com/minuteearth&#10;&#10;And subscribe! - http://www.youtube.com/user/minuteearth?sub_confirmation=1&#10;&#10;Thanks to our Patreon patrons:&#10;   - @AntoineCoeur&#10;   - salar tel&#10;   - @TodayIFoundOut1&#10;   - @82abhilash&#10;&#10;________________________&#10;Created by Henry Reich&#10;Production and Writing Team: Alex Reich, Peter Reich, Emily Elert, Ever Salazar, Kate Yoshida, and Henry Reich&#10;Music by Nathaniel Schroeder: http://www.soundcloud.com/drschroeder&#10;&#10;________________________&#10;Free iTunes podcasts of MinuteEarth! - https://goo.gl/sfwS6n&#10;Facebook - http://facebook.com/minuteearth&#10;Twitter - http://twitter.com/MinuteEarth&#10;&#10;MinuteEarth provides an energetic and entertaining view of trends in earth's environment -- in just a few minutes!&#10;&#10;________________________&#10;References&#10;&#10;Anderson, D. L. (2001). Top-down tectonics?. Science, 293(5537), 2016-2018. http://www.sciencemag.org/content/293/5537/2016.short&#10;&#10;Conrad, C. P., &amp; Lithgow-Bertelloni, C. (2002). How mantle slabs drive plate tectonics. Science, 298(5591), 207-209. ftp://128.171.151.230/engels/Stanley/Textbook_update/Science_298/Conrad-02.pdf&#10;&#10;Conrad, C.P., 2014. Personal Communication&#10;&#10;Dietz, R. S. (1961). Continent and ocean basin evolution by spreading of the sea floor. Nature, 190(4779), 854-857. http://eps.mcgill.ca/~courses/c350/lecturestuff/jan28/Dietz_1961.pdf&#10;&#10;Forsyth, D., &amp; Uyeda, S. (1975). On the relative importance of the driving forces of plate motion. Geophysical Journal International, 43(1), 163-200. http://gji.oxfordjournals.org/content/43/1/163.short&#10;&#10;Hecht, J. 2014, Aug 29. Earth's tectonic plates have doubled their speed. New Scientist. http://www.newscientist.com/article/mg22329843.000-earths-tectonic-plates-have-doubled-their-speed.html#.VBDAJ7ywJ_Q&#10;&#10;Smil, V. 2007. Energy in Nature and Society: General Energetics of Complex Systems. MIT Press. http://mitpress.mit.edu/books/energy-nature-and-society&#10;&#10;Driving forces of plate tectonics (website):&#10;http://www.columbia.edu/~vjd1/driving_forces_basic.htm" title="Plate Tectonics Explained">
            <a:hlinkClick r:id="rId6"/>
          </p:cNvPr>
          <p:cNvPicPr preferRelativeResize="0"/>
          <p:nvPr/>
        </p:nvPicPr>
        <p:blipFill>
          <a:blip r:embed="rId7">
            <a:alphaModFix/>
          </a:blip>
          <a:stretch>
            <a:fillRect/>
          </a:stretch>
        </p:blipFill>
        <p:spPr>
          <a:xfrm>
            <a:off x="96000" y="1196550"/>
            <a:ext cx="4080000" cy="2295000"/>
          </a:xfrm>
          <a:prstGeom prst="rect">
            <a:avLst/>
          </a:prstGeom>
          <a:noFill/>
          <a:ln>
            <a:noFill/>
          </a:ln>
        </p:spPr>
      </p:pic>
      <p:pic>
        <p:nvPicPr>
          <p:cNvPr id="215" name="Google Shape;215;p30" descr="Access lesson resources for this video + more high school geography videos for free on ClickView ✅ https://clickv.ie/w/HaAw&#10;#volcanoformation #geology #naturaldisasters #teachingvolacnoes #ClickView&#10;&#10;What are volcanoes and how are they formed? In the first installment of a two-part series on volcanoes, this video will teach students about the characteristics of these geological features and where they are found. The video also explains the different types of volcanoes – composite and shield – and how they are formed at different plate boundaries.&#10; &#10;ClickView is home to high-quality, standards-aligned, ad-free videos for every subject, topic and grade. &#10; &#10;😎 Sign up for free access: https://clickv.ie/w/VEDw&#10; &#10;👀Explore our website: https://clickv.ie/w/WEDw&#10;&#10;📽 Explore videos on other subjects: https://clickv.ie/w/XEDw" title="What Are Volcanoes and How Are They Formed?">
            <a:hlinkClick r:id="rId8"/>
          </p:cNvPr>
          <p:cNvPicPr preferRelativeResize="0"/>
          <p:nvPr/>
        </p:nvPicPr>
        <p:blipFill>
          <a:blip r:embed="rId9">
            <a:alphaModFix/>
          </a:blip>
          <a:stretch>
            <a:fillRect/>
          </a:stretch>
        </p:blipFill>
        <p:spPr>
          <a:xfrm>
            <a:off x="106800" y="1196550"/>
            <a:ext cx="4079994" cy="2295000"/>
          </a:xfrm>
          <a:prstGeom prst="rect">
            <a:avLst/>
          </a:prstGeom>
          <a:noFill/>
          <a:ln>
            <a:noFill/>
          </a:ln>
        </p:spPr>
      </p:pic>
      <p:sp>
        <p:nvSpPr>
          <p:cNvPr id="216" name="Google Shape;216;p30"/>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1"/>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Types of Volcanoes</a:t>
            </a:r>
            <a:endParaRPr sz="700" i="0" u="none" strike="noStrike" cap="none">
              <a:solidFill>
                <a:srgbClr val="000000"/>
              </a:solidFill>
              <a:latin typeface="Fugaz One"/>
              <a:ea typeface="Fugaz One"/>
              <a:cs typeface="Fugaz One"/>
              <a:sym typeface="Fugaz One"/>
            </a:endParaRPr>
          </a:p>
        </p:txBody>
      </p:sp>
      <p:sp>
        <p:nvSpPr>
          <p:cNvPr id="222" name="Google Shape;222;p31"/>
          <p:cNvSpPr txBox="1"/>
          <p:nvPr/>
        </p:nvSpPr>
        <p:spPr>
          <a:xfrm>
            <a:off x="125349" y="1063700"/>
            <a:ext cx="2924100" cy="1177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highlight>
                  <a:srgbClr val="00FF00"/>
                </a:highlight>
                <a:latin typeface="Baumans"/>
                <a:ea typeface="Baumans"/>
                <a:cs typeface="Baumans"/>
                <a:sym typeface="Baumans"/>
              </a:rPr>
              <a:t>Activity 1:</a:t>
            </a:r>
            <a:r>
              <a:rPr lang="en" sz="1800" i="0" u="none" strike="noStrike" cap="none">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Annotate the diagrams to show the key features of the composite and shield volcanoes.</a:t>
            </a:r>
            <a:endParaRPr sz="1800" i="0" u="none" strike="noStrike" cap="none">
              <a:solidFill>
                <a:schemeClr val="dk1"/>
              </a:solidFill>
              <a:latin typeface="Baumans"/>
              <a:ea typeface="Baumans"/>
              <a:cs typeface="Baumans"/>
              <a:sym typeface="Baumans"/>
            </a:endParaRPr>
          </a:p>
        </p:txBody>
      </p:sp>
      <p:pic>
        <p:nvPicPr>
          <p:cNvPr id="223" name="Google Shape;223;p31"/>
          <p:cNvPicPr preferRelativeResize="0"/>
          <p:nvPr/>
        </p:nvPicPr>
        <p:blipFill>
          <a:blip r:embed="rId3">
            <a:alphaModFix/>
          </a:blip>
          <a:stretch>
            <a:fillRect/>
          </a:stretch>
        </p:blipFill>
        <p:spPr>
          <a:xfrm>
            <a:off x="6162500" y="1003862"/>
            <a:ext cx="2874700" cy="1297182"/>
          </a:xfrm>
          <a:prstGeom prst="rect">
            <a:avLst/>
          </a:prstGeom>
          <a:noFill/>
          <a:ln>
            <a:noFill/>
          </a:ln>
        </p:spPr>
      </p:pic>
      <p:sp>
        <p:nvSpPr>
          <p:cNvPr id="224" name="Google Shape;224;p31"/>
          <p:cNvSpPr txBox="1"/>
          <p:nvPr/>
        </p:nvSpPr>
        <p:spPr>
          <a:xfrm>
            <a:off x="6162550" y="1812200"/>
            <a:ext cx="2874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highlight>
                  <a:schemeClr val="lt1"/>
                </a:highlight>
                <a:latin typeface="Patrick Hand"/>
                <a:ea typeface="Patrick Hand"/>
                <a:cs typeface="Patrick Hand"/>
                <a:sym typeface="Patrick Hand"/>
              </a:rPr>
              <a:t>Shield - Mauna loa, </a:t>
            </a:r>
            <a:r>
              <a:rPr lang="en" sz="2000" b="1">
                <a:solidFill>
                  <a:schemeClr val="dk1"/>
                </a:solidFill>
                <a:highlight>
                  <a:schemeClr val="lt1"/>
                </a:highlight>
                <a:latin typeface="Patrick Hand"/>
                <a:ea typeface="Patrick Hand"/>
                <a:cs typeface="Patrick Hand"/>
                <a:sym typeface="Patrick Hand"/>
              </a:rPr>
              <a:t>Hawaii</a:t>
            </a:r>
            <a:endParaRPr sz="2000" b="1">
              <a:highlight>
                <a:schemeClr val="lt1"/>
              </a:highlight>
              <a:latin typeface="Patrick Hand"/>
              <a:ea typeface="Patrick Hand"/>
              <a:cs typeface="Patrick Hand"/>
              <a:sym typeface="Patrick Hand"/>
            </a:endParaRPr>
          </a:p>
        </p:txBody>
      </p:sp>
      <p:pic>
        <p:nvPicPr>
          <p:cNvPr id="225" name="Google Shape;225;p31"/>
          <p:cNvPicPr preferRelativeResize="0"/>
          <p:nvPr/>
        </p:nvPicPr>
        <p:blipFill>
          <a:blip r:embed="rId4">
            <a:alphaModFix/>
          </a:blip>
          <a:stretch>
            <a:fillRect/>
          </a:stretch>
        </p:blipFill>
        <p:spPr>
          <a:xfrm>
            <a:off x="3407700" y="658125"/>
            <a:ext cx="2551009" cy="1706499"/>
          </a:xfrm>
          <a:prstGeom prst="rect">
            <a:avLst/>
          </a:prstGeom>
          <a:noFill/>
          <a:ln>
            <a:noFill/>
          </a:ln>
        </p:spPr>
      </p:pic>
      <p:sp>
        <p:nvSpPr>
          <p:cNvPr id="226" name="Google Shape;226;p31"/>
          <p:cNvSpPr txBox="1"/>
          <p:nvPr/>
        </p:nvSpPr>
        <p:spPr>
          <a:xfrm>
            <a:off x="3286100" y="1872025"/>
            <a:ext cx="27942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highlight>
                  <a:schemeClr val="lt1"/>
                </a:highlight>
                <a:latin typeface="Patrick Hand"/>
                <a:ea typeface="Patrick Hand"/>
                <a:cs typeface="Patrick Hand"/>
                <a:sym typeface="Patrick Hand"/>
              </a:rPr>
              <a:t>Composite - Mt Fuji, Japan</a:t>
            </a:r>
            <a:endParaRPr sz="2000" b="1">
              <a:highlight>
                <a:schemeClr val="lt1"/>
              </a:highlight>
              <a:latin typeface="Patrick Hand"/>
              <a:ea typeface="Patrick Hand"/>
              <a:cs typeface="Patrick Hand"/>
              <a:sym typeface="Patrick Hand"/>
            </a:endParaRPr>
          </a:p>
        </p:txBody>
      </p:sp>
      <p:sp>
        <p:nvSpPr>
          <p:cNvPr id="227" name="Google Shape;227;p31"/>
          <p:cNvSpPr txBox="1"/>
          <p:nvPr/>
        </p:nvSpPr>
        <p:spPr>
          <a:xfrm>
            <a:off x="125350" y="2304800"/>
            <a:ext cx="3160800" cy="26304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Key Feature Annotations:</a:t>
            </a:r>
            <a:endParaRPr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Slopes</a:t>
            </a:r>
            <a:r>
              <a:rPr lang="en">
                <a:solidFill>
                  <a:schemeClr val="dk1"/>
                </a:solidFill>
                <a:latin typeface="Poppins"/>
                <a:ea typeface="Poppins"/>
                <a:cs typeface="Poppins"/>
                <a:sym typeface="Poppins"/>
              </a:rPr>
              <a:t> – Gentle / Steep</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Base width</a:t>
            </a:r>
            <a:r>
              <a:rPr lang="en">
                <a:solidFill>
                  <a:schemeClr val="dk1"/>
                </a:solidFill>
                <a:latin typeface="Poppins"/>
                <a:ea typeface="Poppins"/>
                <a:cs typeface="Poppins"/>
                <a:sym typeface="Poppins"/>
              </a:rPr>
              <a:t> – Wide / Narrow</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Lava type</a:t>
            </a:r>
            <a:r>
              <a:rPr lang="en">
                <a:solidFill>
                  <a:schemeClr val="dk1"/>
                </a:solidFill>
                <a:latin typeface="Poppins"/>
                <a:ea typeface="Poppins"/>
                <a:cs typeface="Poppins"/>
                <a:sym typeface="Poppins"/>
              </a:rPr>
              <a:t> – Thin/runny / Thick/sticky</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Lava flow speed</a:t>
            </a:r>
            <a:r>
              <a:rPr lang="en">
                <a:solidFill>
                  <a:schemeClr val="dk1"/>
                </a:solidFill>
                <a:latin typeface="Poppins"/>
                <a:ea typeface="Poppins"/>
                <a:cs typeface="Poppins"/>
                <a:sym typeface="Poppins"/>
              </a:rPr>
              <a:t> – Fast / Slow</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Eruption style</a:t>
            </a:r>
            <a:r>
              <a:rPr lang="en">
                <a:solidFill>
                  <a:schemeClr val="dk1"/>
                </a:solidFill>
                <a:latin typeface="Poppins"/>
                <a:ea typeface="Poppins"/>
                <a:cs typeface="Poppins"/>
                <a:sym typeface="Poppins"/>
              </a:rPr>
              <a:t> – Gentle / Violent</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Crater</a:t>
            </a:r>
            <a:r>
              <a:rPr lang="en">
                <a:solidFill>
                  <a:schemeClr val="dk1"/>
                </a:solidFill>
                <a:latin typeface="Poppins"/>
                <a:ea typeface="Poppins"/>
                <a:cs typeface="Poppins"/>
                <a:sym typeface="Poppins"/>
              </a:rPr>
              <a:t> – Large / Small</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Volcanic bombs</a:t>
            </a:r>
            <a:r>
              <a:rPr lang="en">
                <a:solidFill>
                  <a:schemeClr val="dk1"/>
                </a:solidFill>
                <a:latin typeface="Poppins"/>
                <a:ea typeface="Poppins"/>
                <a:cs typeface="Poppins"/>
                <a:sym typeface="Poppins"/>
              </a:rPr>
              <a:t> – None / Often</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Number of vents</a:t>
            </a:r>
            <a:r>
              <a:rPr lang="en">
                <a:solidFill>
                  <a:schemeClr val="dk1"/>
                </a:solidFill>
                <a:latin typeface="Poppins"/>
                <a:ea typeface="Poppins"/>
                <a:cs typeface="Poppins"/>
                <a:sym typeface="Poppins"/>
              </a:rPr>
              <a:t> – One / Several</a:t>
            </a:r>
            <a:endParaRPr>
              <a:solidFill>
                <a:schemeClr val="dk1"/>
              </a:solidFill>
              <a:latin typeface="Poppins"/>
              <a:ea typeface="Poppins"/>
              <a:cs typeface="Poppins"/>
              <a:sym typeface="Poppins"/>
            </a:endParaRPr>
          </a:p>
        </p:txBody>
      </p:sp>
      <p:sp>
        <p:nvSpPr>
          <p:cNvPr id="228" name="Google Shape;228;p31"/>
          <p:cNvSpPr txBox="1"/>
          <p:nvPr/>
        </p:nvSpPr>
        <p:spPr>
          <a:xfrm>
            <a:off x="4086400" y="2364625"/>
            <a:ext cx="4950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highlight>
                  <a:srgbClr val="00FF00"/>
                </a:highlight>
                <a:latin typeface="Baumans"/>
                <a:ea typeface="Baumans"/>
                <a:cs typeface="Baumans"/>
                <a:sym typeface="Baumans"/>
              </a:rPr>
              <a:t>Activity 2:</a:t>
            </a:r>
            <a:r>
              <a:rPr lang="en" sz="1600">
                <a:solidFill>
                  <a:schemeClr val="dk1"/>
                </a:solidFill>
                <a:latin typeface="Baumans"/>
                <a:ea typeface="Baumans"/>
                <a:cs typeface="Baumans"/>
                <a:sym typeface="Baumans"/>
              </a:rPr>
              <a:t> - </a:t>
            </a:r>
            <a:r>
              <a:rPr lang="en" sz="1600" b="1">
                <a:solidFill>
                  <a:schemeClr val="dk1"/>
                </a:solidFill>
                <a:latin typeface="Baumans"/>
                <a:ea typeface="Baumans"/>
                <a:cs typeface="Baumans"/>
                <a:sym typeface="Baumans"/>
              </a:rPr>
              <a:t>Compare</a:t>
            </a:r>
            <a:r>
              <a:rPr lang="en" sz="1600">
                <a:solidFill>
                  <a:schemeClr val="dk1"/>
                </a:solidFill>
                <a:latin typeface="Baumans"/>
                <a:ea typeface="Baumans"/>
                <a:cs typeface="Baumans"/>
                <a:sym typeface="Baumans"/>
              </a:rPr>
              <a:t> the main features of Mount Fuji and Mauna Loa. </a:t>
            </a:r>
            <a:r>
              <a:rPr lang="en" sz="1600" b="1">
                <a:solidFill>
                  <a:schemeClr val="dk1"/>
                </a:solidFill>
                <a:latin typeface="Baumans"/>
                <a:ea typeface="Baumans"/>
                <a:cs typeface="Baumans"/>
                <a:sym typeface="Baumans"/>
              </a:rPr>
              <a:t>Explain why one volcano may pose a greater danger to people living nearby.</a:t>
            </a:r>
            <a:endParaRPr sz="1600" b="1">
              <a:solidFill>
                <a:srgbClr val="980000"/>
              </a:solidFill>
              <a:latin typeface="Baumans"/>
              <a:ea typeface="Baumans"/>
              <a:cs typeface="Baumans"/>
              <a:sym typeface="Baumans"/>
            </a:endParaRPr>
          </a:p>
        </p:txBody>
      </p:sp>
      <p:sp>
        <p:nvSpPr>
          <p:cNvPr id="229" name="Google Shape;229;p31"/>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
        <p:nvSpPr>
          <p:cNvPr id="230" name="Google Shape;230;p31"/>
          <p:cNvSpPr txBox="1"/>
          <p:nvPr/>
        </p:nvSpPr>
        <p:spPr>
          <a:xfrm>
            <a:off x="3407700" y="3362125"/>
            <a:ext cx="5629500" cy="153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Write your answer as </a:t>
            </a:r>
            <a:r>
              <a:rPr lang="en" sz="1600" b="1">
                <a:solidFill>
                  <a:schemeClr val="dk1"/>
                </a:solidFill>
                <a:latin typeface="Baumans"/>
                <a:ea typeface="Baumans"/>
                <a:cs typeface="Baumans"/>
                <a:sym typeface="Baumans"/>
              </a:rPr>
              <a:t>one</a:t>
            </a:r>
            <a:r>
              <a:rPr lang="en" sz="1600">
                <a:solidFill>
                  <a:schemeClr val="dk1"/>
                </a:solidFill>
                <a:latin typeface="Baumans"/>
                <a:ea typeface="Baumans"/>
                <a:cs typeface="Baumans"/>
                <a:sym typeface="Baumans"/>
              </a:rPr>
              <a:t> </a:t>
            </a:r>
            <a:r>
              <a:rPr lang="en" sz="1600" b="1">
                <a:solidFill>
                  <a:schemeClr val="lt1"/>
                </a:solidFill>
                <a:highlight>
                  <a:srgbClr val="FC50AE"/>
                </a:highlight>
                <a:latin typeface="Baumans"/>
                <a:ea typeface="Baumans"/>
                <a:cs typeface="Baumans"/>
                <a:sym typeface="Baumans"/>
              </a:rPr>
              <a:t>P</a:t>
            </a:r>
            <a:r>
              <a:rPr lang="en" sz="1600" b="1">
                <a:solidFill>
                  <a:schemeClr val="lt1"/>
                </a:solidFill>
                <a:highlight>
                  <a:srgbClr val="914BFA"/>
                </a:highlight>
                <a:latin typeface="Baumans"/>
                <a:ea typeface="Baumans"/>
                <a:cs typeface="Baumans"/>
                <a:sym typeface="Baumans"/>
              </a:rPr>
              <a:t>E</a:t>
            </a:r>
            <a:r>
              <a:rPr lang="en" sz="1600" b="1">
                <a:solidFill>
                  <a:schemeClr val="lt1"/>
                </a:solidFill>
                <a:highlight>
                  <a:srgbClr val="FC9B29"/>
                </a:highlight>
                <a:latin typeface="Baumans"/>
                <a:ea typeface="Baumans"/>
                <a:cs typeface="Baumans"/>
                <a:sym typeface="Baumans"/>
              </a:rPr>
              <a:t>E</a:t>
            </a:r>
            <a:r>
              <a:rPr lang="en" sz="1600" b="1">
                <a:solidFill>
                  <a:schemeClr val="lt1"/>
                </a:solidFill>
                <a:highlight>
                  <a:srgbClr val="50B3FD"/>
                </a:highlight>
                <a:latin typeface="Baumans"/>
                <a:ea typeface="Baumans"/>
                <a:cs typeface="Baumans"/>
                <a:sym typeface="Baumans"/>
              </a:rPr>
              <a:t>L</a:t>
            </a:r>
            <a:r>
              <a:rPr lang="en" sz="1600">
                <a:solidFill>
                  <a:schemeClr val="dk1"/>
                </a:solidFill>
                <a:latin typeface="Baumans"/>
                <a:ea typeface="Baumans"/>
                <a:cs typeface="Baumans"/>
                <a:sym typeface="Baumans"/>
              </a:rPr>
              <a:t>. Focus on </a:t>
            </a:r>
            <a:r>
              <a:rPr lang="en" sz="1600" b="1">
                <a:solidFill>
                  <a:schemeClr val="dk1"/>
                </a:solidFill>
                <a:latin typeface="Baumans"/>
                <a:ea typeface="Baumans"/>
                <a:cs typeface="Baumans"/>
                <a:sym typeface="Baumans"/>
              </a:rPr>
              <a:t>one</a:t>
            </a:r>
            <a:r>
              <a:rPr lang="en" sz="1600">
                <a:solidFill>
                  <a:schemeClr val="dk1"/>
                </a:solidFill>
                <a:latin typeface="Baumans"/>
                <a:ea typeface="Baumans"/>
                <a:cs typeface="Baumans"/>
                <a:sym typeface="Baumans"/>
              </a:rPr>
              <a:t> key volcanic feature and compare Mount Fuji and Mauna Loa. Explain </a:t>
            </a:r>
            <a:r>
              <a:rPr lang="en" sz="1600" b="1">
                <a:solidFill>
                  <a:schemeClr val="dk1"/>
                </a:solidFill>
                <a:latin typeface="Baumans"/>
                <a:ea typeface="Baumans"/>
                <a:cs typeface="Baumans"/>
                <a:sym typeface="Baumans"/>
              </a:rPr>
              <a:t>how </a:t>
            </a:r>
            <a:r>
              <a:rPr lang="en" sz="1600">
                <a:solidFill>
                  <a:schemeClr val="dk1"/>
                </a:solidFill>
                <a:latin typeface="Baumans"/>
                <a:ea typeface="Baumans"/>
                <a:cs typeface="Baumans"/>
                <a:sym typeface="Baumans"/>
              </a:rPr>
              <a:t>the difference between them </a:t>
            </a:r>
            <a:r>
              <a:rPr lang="en" sz="1600" b="1">
                <a:solidFill>
                  <a:schemeClr val="dk1"/>
                </a:solidFill>
                <a:latin typeface="Baumans"/>
                <a:ea typeface="Baumans"/>
                <a:cs typeface="Baumans"/>
                <a:sym typeface="Baumans"/>
              </a:rPr>
              <a:t>affects the level of danger</a:t>
            </a:r>
            <a:r>
              <a:rPr lang="en" sz="1600">
                <a:solidFill>
                  <a:schemeClr val="dk1"/>
                </a:solidFill>
                <a:latin typeface="Baumans"/>
                <a:ea typeface="Baumans"/>
                <a:cs typeface="Baumans"/>
                <a:sym typeface="Baumans"/>
              </a:rPr>
              <a:t> for people living nearby.</a:t>
            </a:r>
            <a:endParaRPr sz="18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b="1">
                <a:solidFill>
                  <a:srgbClr val="980000"/>
                </a:solidFill>
                <a:latin typeface="Patrick Hand"/>
                <a:ea typeface="Patrick Hand"/>
                <a:cs typeface="Patrick Hand"/>
                <a:sym typeface="Patrick Hand"/>
              </a:rPr>
              <a:t>Hazards: lava type, lava flow speed, eruption style, crater, volcanic bombs &amp; vents.</a:t>
            </a:r>
            <a:endParaRPr/>
          </a:p>
        </p:txBody>
      </p:sp>
      <p:pic>
        <p:nvPicPr>
          <p:cNvPr id="231" name="Google Shape;231;p31"/>
          <p:cNvPicPr preferRelativeResize="0"/>
          <p:nvPr/>
        </p:nvPicPr>
        <p:blipFill>
          <a:blip r:embed="rId5">
            <a:alphaModFix/>
          </a:blip>
          <a:stretch>
            <a:fillRect/>
          </a:stretch>
        </p:blipFill>
        <p:spPr>
          <a:xfrm>
            <a:off x="3286150" y="2497712"/>
            <a:ext cx="800251" cy="731333"/>
          </a:xfrm>
          <a:prstGeom prst="rect">
            <a:avLst/>
          </a:prstGeom>
          <a:noFill/>
          <a:ln>
            <a:noFill/>
          </a:ln>
        </p:spPr>
      </p:pic>
      <p:pic>
        <p:nvPicPr>
          <p:cNvPr id="2" name="Google Shape;85;p15">
            <a:extLst>
              <a:ext uri="{FF2B5EF4-FFF2-40B4-BE49-F238E27FC236}">
                <a16:creationId xmlns:a16="http://schemas.microsoft.com/office/drawing/2014/main" id="{3EDB9491-AE53-0EFD-59AC-C51CF2DB5BB8}"/>
              </a:ext>
            </a:extLst>
          </p:cNvPr>
          <p:cNvPicPr preferRelativeResize="0"/>
          <p:nvPr/>
        </p:nvPicPr>
        <p:blipFill rotWithShape="1">
          <a:blip r:embed="rId6">
            <a:alphaModFix/>
          </a:blip>
          <a:srcRect/>
          <a:stretch/>
        </p:blipFill>
        <p:spPr>
          <a:xfrm>
            <a:off x="6865952" y="287907"/>
            <a:ext cx="1467796" cy="615895"/>
          </a:xfrm>
          <a:prstGeom prst="rect">
            <a:avLst/>
          </a:prstGeom>
          <a:noFill/>
          <a:ln>
            <a:noFill/>
          </a:ln>
        </p:spPr>
      </p:pic>
      <p:pic>
        <p:nvPicPr>
          <p:cNvPr id="3" name="Google Shape;87;p15">
            <a:extLst>
              <a:ext uri="{FF2B5EF4-FFF2-40B4-BE49-F238E27FC236}">
                <a16:creationId xmlns:a16="http://schemas.microsoft.com/office/drawing/2014/main" id="{BCA621D9-19C9-213C-5E60-DD9DB40E3495}"/>
              </a:ext>
            </a:extLst>
          </p:cNvPr>
          <p:cNvPicPr preferRelativeResize="0"/>
          <p:nvPr/>
        </p:nvPicPr>
        <p:blipFill rotWithShape="1">
          <a:blip r:embed="rId7">
            <a:alphaModFix/>
          </a:blip>
          <a:srcRect/>
          <a:stretch/>
        </p:blipFill>
        <p:spPr>
          <a:xfrm>
            <a:off x="5333642" y="593374"/>
            <a:ext cx="1136410" cy="732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2"/>
          <p:cNvSpPr txBox="1"/>
          <p:nvPr/>
        </p:nvSpPr>
        <p:spPr>
          <a:xfrm>
            <a:off x="55650" y="142500"/>
            <a:ext cx="5328600" cy="48939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Poppins"/>
                <a:ea typeface="Poppins"/>
                <a:cs typeface="Poppins"/>
                <a:sym typeface="Poppins"/>
              </a:rPr>
              <a:t>🌋 PEEL Structure: Mount Fuji vs Mauna Loa</a:t>
            </a:r>
            <a:endParaRPr sz="1600"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400" b="1">
              <a:solidFill>
                <a:schemeClr val="lt1"/>
              </a:solidFill>
              <a:highlight>
                <a:srgbClr val="FC50AE"/>
              </a:highlight>
              <a:latin typeface="Poppins"/>
              <a:ea typeface="Poppins"/>
              <a:cs typeface="Poppins"/>
              <a:sym typeface="Poppins"/>
            </a:endParaRPr>
          </a:p>
          <a:p>
            <a:pPr marL="0" lvl="0" indent="0" algn="l" rtl="0">
              <a:lnSpc>
                <a:spcPct val="115000"/>
              </a:lnSpc>
              <a:spcBef>
                <a:spcPts val="0"/>
              </a:spcBef>
              <a:spcAft>
                <a:spcPts val="0"/>
              </a:spcAft>
              <a:buNone/>
            </a:pPr>
            <a:r>
              <a:rPr lang="en" sz="1600" b="1">
                <a:solidFill>
                  <a:schemeClr val="lt1"/>
                </a:solidFill>
                <a:highlight>
                  <a:srgbClr val="FC50AE"/>
                </a:highlight>
                <a:latin typeface="Poppins"/>
                <a:ea typeface="Poppins"/>
                <a:cs typeface="Poppins"/>
                <a:sym typeface="Poppins"/>
              </a:rPr>
              <a:t>Point</a:t>
            </a:r>
            <a:endParaRPr sz="1600" b="1">
              <a:solidFill>
                <a:schemeClr val="lt1"/>
              </a:solidFill>
              <a:highlight>
                <a:srgbClr val="FC50AE"/>
              </a:highlight>
              <a:latin typeface="Poppins"/>
              <a:ea typeface="Poppins"/>
              <a:cs typeface="Poppins"/>
              <a:sym typeface="Poppins"/>
            </a:endParaRPr>
          </a:p>
          <a:p>
            <a:pPr marL="457200" lvl="0" indent="-317500" algn="l" rtl="0">
              <a:lnSpc>
                <a:spcPct val="115000"/>
              </a:lnSpc>
              <a:spcBef>
                <a:spcPts val="0"/>
              </a:spcBef>
              <a:spcAft>
                <a:spcPts val="0"/>
              </a:spcAft>
              <a:buClr>
                <a:srgbClr val="0000FF"/>
              </a:buClr>
              <a:buSzPts val="1400"/>
              <a:buFont typeface="Patrick Hand"/>
              <a:buChar char="●"/>
            </a:pPr>
            <a:r>
              <a:rPr lang="en" b="1">
                <a:solidFill>
                  <a:srgbClr val="0000FF"/>
                </a:solidFill>
                <a:latin typeface="Patrick Hand"/>
                <a:ea typeface="Patrick Hand"/>
                <a:cs typeface="Patrick Hand"/>
                <a:sym typeface="Patrick Hand"/>
              </a:rPr>
              <a:t>One important difference between Mount Fuji and Mauna Loa is their…</a:t>
            </a:r>
            <a:endParaRPr b="1">
              <a:solidFill>
                <a:srgbClr val="0000FF"/>
              </a:solidFill>
              <a:latin typeface="Patrick Hand"/>
              <a:ea typeface="Patrick Hand"/>
              <a:cs typeface="Patrick Hand"/>
              <a:sym typeface="Patrick Hand"/>
            </a:endParaRPr>
          </a:p>
          <a:p>
            <a:pPr marL="457200" lvl="0" indent="-317500" algn="l" rtl="0">
              <a:lnSpc>
                <a:spcPct val="115000"/>
              </a:lnSpc>
              <a:spcBef>
                <a:spcPts val="0"/>
              </a:spcBef>
              <a:spcAft>
                <a:spcPts val="0"/>
              </a:spcAft>
              <a:buClr>
                <a:srgbClr val="0000FF"/>
              </a:buClr>
              <a:buSzPts val="1400"/>
              <a:buFont typeface="Patrick Hand"/>
              <a:buChar char="●"/>
            </a:pPr>
            <a:r>
              <a:rPr lang="en" b="1">
                <a:solidFill>
                  <a:srgbClr val="0000FF"/>
                </a:solidFill>
                <a:latin typeface="Patrick Hand"/>
                <a:ea typeface="Patrick Hand"/>
                <a:cs typeface="Patrick Hand"/>
                <a:sym typeface="Patrick Hand"/>
              </a:rPr>
              <a:t>This makes Mount Fuji/Mauna Loa more dangerous because…</a:t>
            </a:r>
            <a:endParaRPr b="1">
              <a:solidFill>
                <a:srgbClr val="0000FF"/>
              </a:solidFill>
              <a:latin typeface="Patrick Hand"/>
              <a:ea typeface="Patrick Hand"/>
              <a:cs typeface="Patrick Hand"/>
              <a:sym typeface="Patrick Hand"/>
            </a:endParaRPr>
          </a:p>
          <a:p>
            <a:pPr marL="0" lvl="0" indent="0" algn="l" rtl="0">
              <a:lnSpc>
                <a:spcPct val="115000"/>
              </a:lnSpc>
              <a:spcBef>
                <a:spcPts val="0"/>
              </a:spcBef>
              <a:spcAft>
                <a:spcPts val="0"/>
              </a:spcAft>
              <a:buNone/>
            </a:pPr>
            <a:endParaRPr sz="400" b="1">
              <a:solidFill>
                <a:schemeClr val="lt1"/>
              </a:solidFill>
              <a:highlight>
                <a:srgbClr val="914BFA"/>
              </a:highlight>
              <a:latin typeface="Poppins"/>
              <a:ea typeface="Poppins"/>
              <a:cs typeface="Poppins"/>
              <a:sym typeface="Poppins"/>
            </a:endParaRPr>
          </a:p>
          <a:p>
            <a:pPr marL="0" lvl="0" indent="0" algn="l" rtl="0">
              <a:lnSpc>
                <a:spcPct val="115000"/>
              </a:lnSpc>
              <a:spcBef>
                <a:spcPts val="0"/>
              </a:spcBef>
              <a:spcAft>
                <a:spcPts val="0"/>
              </a:spcAft>
              <a:buNone/>
            </a:pPr>
            <a:r>
              <a:rPr lang="en" sz="1600" b="1">
                <a:solidFill>
                  <a:schemeClr val="lt1"/>
                </a:solidFill>
                <a:highlight>
                  <a:srgbClr val="914BFA"/>
                </a:highlight>
                <a:latin typeface="Poppins"/>
                <a:ea typeface="Poppins"/>
                <a:cs typeface="Poppins"/>
                <a:sym typeface="Poppins"/>
              </a:rPr>
              <a:t>Explain</a:t>
            </a:r>
            <a:endParaRPr sz="1600" b="1">
              <a:solidFill>
                <a:schemeClr val="lt1"/>
              </a:solidFill>
              <a:highlight>
                <a:srgbClr val="914BFA"/>
              </a:highlight>
              <a:latin typeface="Poppins"/>
              <a:ea typeface="Poppins"/>
              <a:cs typeface="Poppins"/>
              <a:sym typeface="Poppins"/>
            </a:endParaRPr>
          </a:p>
          <a:p>
            <a:pPr marL="457200" lvl="0" indent="-317500" algn="l" rtl="0">
              <a:lnSpc>
                <a:spcPct val="115000"/>
              </a:lnSpc>
              <a:spcBef>
                <a:spcPts val="0"/>
              </a:spcBef>
              <a:spcAft>
                <a:spcPts val="0"/>
              </a:spcAft>
              <a:buClr>
                <a:srgbClr val="0000FF"/>
              </a:buClr>
              <a:buSzPts val="1400"/>
              <a:buFont typeface="Patrick Hand"/>
              <a:buChar char="●"/>
            </a:pPr>
            <a:r>
              <a:rPr lang="en" b="1">
                <a:solidFill>
                  <a:srgbClr val="0000FF"/>
                </a:solidFill>
                <a:latin typeface="Patrick Hand"/>
                <a:ea typeface="Patrick Hand"/>
                <a:cs typeface="Patrick Hand"/>
                <a:sym typeface="Patrick Hand"/>
              </a:rPr>
              <a:t>Mount Fuji has…, whereas Mauna Loa has…</a:t>
            </a:r>
            <a:endParaRPr b="1">
              <a:solidFill>
                <a:srgbClr val="0000FF"/>
              </a:solidFill>
              <a:latin typeface="Patrick Hand"/>
              <a:ea typeface="Patrick Hand"/>
              <a:cs typeface="Patrick Hand"/>
              <a:sym typeface="Patrick Hand"/>
            </a:endParaRPr>
          </a:p>
          <a:p>
            <a:pPr marL="457200" lvl="0" indent="-317500" algn="l" rtl="0">
              <a:lnSpc>
                <a:spcPct val="115000"/>
              </a:lnSpc>
              <a:spcBef>
                <a:spcPts val="0"/>
              </a:spcBef>
              <a:spcAft>
                <a:spcPts val="0"/>
              </a:spcAft>
              <a:buClr>
                <a:srgbClr val="0000FF"/>
              </a:buClr>
              <a:buSzPts val="1400"/>
              <a:buFont typeface="Patrick Hand"/>
              <a:buChar char="●"/>
            </a:pPr>
            <a:r>
              <a:rPr lang="en" b="1">
                <a:solidFill>
                  <a:srgbClr val="0000FF"/>
                </a:solidFill>
                <a:latin typeface="Patrick Hand"/>
                <a:ea typeface="Patrick Hand"/>
                <a:cs typeface="Patrick Hand"/>
                <a:sym typeface="Patrick Hand"/>
              </a:rPr>
              <a:t>This means that…</a:t>
            </a:r>
            <a:endParaRPr b="1">
              <a:solidFill>
                <a:srgbClr val="0000FF"/>
              </a:solidFill>
              <a:latin typeface="Patrick Hand"/>
              <a:ea typeface="Patrick Hand"/>
              <a:cs typeface="Patrick Hand"/>
              <a:sym typeface="Patrick Hand"/>
            </a:endParaRPr>
          </a:p>
          <a:p>
            <a:pPr marL="457200" lvl="0" indent="-317500" algn="l" rtl="0">
              <a:lnSpc>
                <a:spcPct val="115000"/>
              </a:lnSpc>
              <a:spcBef>
                <a:spcPts val="0"/>
              </a:spcBef>
              <a:spcAft>
                <a:spcPts val="0"/>
              </a:spcAft>
              <a:buClr>
                <a:srgbClr val="0000FF"/>
              </a:buClr>
              <a:buSzPts val="1400"/>
              <a:buFont typeface="Patrick Hand"/>
              <a:buChar char="●"/>
            </a:pPr>
            <a:r>
              <a:rPr lang="en" b="1">
                <a:solidFill>
                  <a:srgbClr val="0000FF"/>
                </a:solidFill>
                <a:latin typeface="Patrick Hand"/>
                <a:ea typeface="Patrick Hand"/>
                <a:cs typeface="Patrick Hand"/>
                <a:sym typeface="Patrick Hand"/>
              </a:rPr>
              <a:t>As a result, people living nearby may…</a:t>
            </a:r>
            <a:endParaRPr b="1">
              <a:solidFill>
                <a:srgbClr val="0000FF"/>
              </a:solidFill>
              <a:latin typeface="Patrick Hand"/>
              <a:ea typeface="Patrick Hand"/>
              <a:cs typeface="Patrick Hand"/>
              <a:sym typeface="Patrick Hand"/>
            </a:endParaRPr>
          </a:p>
          <a:p>
            <a:pPr marL="0" lvl="0" indent="0" algn="l" rtl="0">
              <a:lnSpc>
                <a:spcPct val="115000"/>
              </a:lnSpc>
              <a:spcBef>
                <a:spcPts val="0"/>
              </a:spcBef>
              <a:spcAft>
                <a:spcPts val="0"/>
              </a:spcAft>
              <a:buNone/>
            </a:pPr>
            <a:endParaRPr sz="400" b="1">
              <a:solidFill>
                <a:schemeClr val="lt1"/>
              </a:solidFill>
              <a:highlight>
                <a:srgbClr val="FC9B29"/>
              </a:highlight>
              <a:latin typeface="Poppins"/>
              <a:ea typeface="Poppins"/>
              <a:cs typeface="Poppins"/>
              <a:sym typeface="Poppins"/>
            </a:endParaRPr>
          </a:p>
          <a:p>
            <a:pPr marL="0" lvl="0" indent="0" algn="l" rtl="0">
              <a:lnSpc>
                <a:spcPct val="115000"/>
              </a:lnSpc>
              <a:spcBef>
                <a:spcPts val="0"/>
              </a:spcBef>
              <a:spcAft>
                <a:spcPts val="0"/>
              </a:spcAft>
              <a:buNone/>
            </a:pPr>
            <a:r>
              <a:rPr lang="en" sz="1600" b="1">
                <a:solidFill>
                  <a:schemeClr val="lt1"/>
                </a:solidFill>
                <a:highlight>
                  <a:srgbClr val="FC9B29"/>
                </a:highlight>
                <a:latin typeface="Poppins"/>
                <a:ea typeface="Poppins"/>
                <a:cs typeface="Poppins"/>
                <a:sym typeface="Poppins"/>
              </a:rPr>
              <a:t>Evidence</a:t>
            </a:r>
            <a:endParaRPr sz="1600" b="1">
              <a:solidFill>
                <a:schemeClr val="lt1"/>
              </a:solidFill>
              <a:highlight>
                <a:srgbClr val="FC9B29"/>
              </a:highlight>
              <a:latin typeface="Poppins"/>
              <a:ea typeface="Poppins"/>
              <a:cs typeface="Poppins"/>
              <a:sym typeface="Poppins"/>
            </a:endParaRPr>
          </a:p>
          <a:p>
            <a:pPr marL="457200" lvl="0" indent="-317500" algn="l" rtl="0">
              <a:lnSpc>
                <a:spcPct val="115000"/>
              </a:lnSpc>
              <a:spcBef>
                <a:spcPts val="0"/>
              </a:spcBef>
              <a:spcAft>
                <a:spcPts val="0"/>
              </a:spcAft>
              <a:buClr>
                <a:srgbClr val="0000FF"/>
              </a:buClr>
              <a:buSzPts val="1400"/>
              <a:buFont typeface="Patrick Hand"/>
              <a:buChar char="●"/>
            </a:pPr>
            <a:r>
              <a:rPr lang="en" b="1">
                <a:solidFill>
                  <a:srgbClr val="0000FF"/>
                </a:solidFill>
                <a:latin typeface="Patrick Hand"/>
                <a:ea typeface="Patrick Hand"/>
                <a:cs typeface="Patrick Hand"/>
                <a:sym typeface="Patrick Hand"/>
              </a:rPr>
              <a:t>For example, Mount Fuji…</a:t>
            </a:r>
            <a:endParaRPr b="1">
              <a:solidFill>
                <a:srgbClr val="0000FF"/>
              </a:solidFill>
              <a:latin typeface="Patrick Hand"/>
              <a:ea typeface="Patrick Hand"/>
              <a:cs typeface="Patrick Hand"/>
              <a:sym typeface="Patrick Hand"/>
            </a:endParaRPr>
          </a:p>
          <a:p>
            <a:pPr marL="457200" lvl="0" indent="-317500" algn="l" rtl="0">
              <a:lnSpc>
                <a:spcPct val="115000"/>
              </a:lnSpc>
              <a:spcBef>
                <a:spcPts val="0"/>
              </a:spcBef>
              <a:spcAft>
                <a:spcPts val="0"/>
              </a:spcAft>
              <a:buClr>
                <a:srgbClr val="0000FF"/>
              </a:buClr>
              <a:buSzPts val="1400"/>
              <a:buFont typeface="Patrick Hand"/>
              <a:buChar char="●"/>
            </a:pPr>
            <a:r>
              <a:rPr lang="en" b="1">
                <a:solidFill>
                  <a:srgbClr val="0000FF"/>
                </a:solidFill>
                <a:latin typeface="Patrick Hand"/>
                <a:ea typeface="Patrick Hand"/>
                <a:cs typeface="Patrick Hand"/>
                <a:sym typeface="Patrick Hand"/>
              </a:rPr>
              <a:t>In contrast, Mauna Loa…</a:t>
            </a:r>
            <a:endParaRPr b="1">
              <a:solidFill>
                <a:srgbClr val="0000FF"/>
              </a:solidFill>
              <a:latin typeface="Patrick Hand"/>
              <a:ea typeface="Patrick Hand"/>
              <a:cs typeface="Patrick Hand"/>
              <a:sym typeface="Patrick Hand"/>
            </a:endParaRPr>
          </a:p>
          <a:p>
            <a:pPr marL="457200" lvl="0" indent="-317500" algn="l" rtl="0">
              <a:lnSpc>
                <a:spcPct val="115000"/>
              </a:lnSpc>
              <a:spcBef>
                <a:spcPts val="0"/>
              </a:spcBef>
              <a:spcAft>
                <a:spcPts val="0"/>
              </a:spcAft>
              <a:buClr>
                <a:srgbClr val="0000FF"/>
              </a:buClr>
              <a:buSzPts val="1400"/>
              <a:buFont typeface="Patrick Hand"/>
              <a:buChar char="●"/>
            </a:pPr>
            <a:r>
              <a:rPr lang="en" b="1">
                <a:solidFill>
                  <a:srgbClr val="0000FF"/>
                </a:solidFill>
                <a:latin typeface="Patrick Hand"/>
                <a:ea typeface="Patrick Hand"/>
                <a:cs typeface="Patrick Hand"/>
                <a:sym typeface="Patrick Hand"/>
              </a:rPr>
              <a:t>This is significant because…</a:t>
            </a:r>
            <a:endParaRPr b="1">
              <a:solidFill>
                <a:srgbClr val="0000FF"/>
              </a:solidFill>
              <a:latin typeface="Patrick Hand"/>
              <a:ea typeface="Patrick Hand"/>
              <a:cs typeface="Patrick Hand"/>
              <a:sym typeface="Patrick Hand"/>
            </a:endParaRPr>
          </a:p>
          <a:p>
            <a:pPr marL="0" lvl="0" indent="0" algn="l" rtl="0">
              <a:lnSpc>
                <a:spcPct val="115000"/>
              </a:lnSpc>
              <a:spcBef>
                <a:spcPts val="0"/>
              </a:spcBef>
              <a:spcAft>
                <a:spcPts val="0"/>
              </a:spcAft>
              <a:buNone/>
            </a:pPr>
            <a:endParaRPr sz="400" b="1">
              <a:solidFill>
                <a:schemeClr val="lt1"/>
              </a:solidFill>
              <a:highlight>
                <a:srgbClr val="50B3FD"/>
              </a:highlight>
              <a:latin typeface="Poppins"/>
              <a:ea typeface="Poppins"/>
              <a:cs typeface="Poppins"/>
              <a:sym typeface="Poppins"/>
            </a:endParaRPr>
          </a:p>
          <a:p>
            <a:pPr marL="0" lvl="0" indent="0" algn="l" rtl="0">
              <a:lnSpc>
                <a:spcPct val="115000"/>
              </a:lnSpc>
              <a:spcBef>
                <a:spcPts val="0"/>
              </a:spcBef>
              <a:spcAft>
                <a:spcPts val="0"/>
              </a:spcAft>
              <a:buNone/>
            </a:pPr>
            <a:r>
              <a:rPr lang="en" sz="1600" b="1">
                <a:solidFill>
                  <a:schemeClr val="lt1"/>
                </a:solidFill>
                <a:highlight>
                  <a:srgbClr val="50B3FD"/>
                </a:highlight>
                <a:latin typeface="Poppins"/>
                <a:ea typeface="Poppins"/>
                <a:cs typeface="Poppins"/>
                <a:sym typeface="Poppins"/>
              </a:rPr>
              <a:t>Link</a:t>
            </a:r>
            <a:endParaRPr sz="1600" b="1">
              <a:solidFill>
                <a:schemeClr val="lt1"/>
              </a:solidFill>
              <a:highlight>
                <a:srgbClr val="50B3FD"/>
              </a:highlight>
              <a:latin typeface="Poppins"/>
              <a:ea typeface="Poppins"/>
              <a:cs typeface="Poppins"/>
              <a:sym typeface="Poppins"/>
            </a:endParaRPr>
          </a:p>
          <a:p>
            <a:pPr marL="457200" lvl="0" indent="-323850" algn="l" rtl="0">
              <a:lnSpc>
                <a:spcPct val="115000"/>
              </a:lnSpc>
              <a:spcBef>
                <a:spcPts val="0"/>
              </a:spcBef>
              <a:spcAft>
                <a:spcPts val="0"/>
              </a:spcAft>
              <a:buClr>
                <a:srgbClr val="0000FF"/>
              </a:buClr>
              <a:buSzPts val="1500"/>
              <a:buChar char="●"/>
            </a:pPr>
            <a:r>
              <a:rPr lang="en" sz="1500" b="1">
                <a:solidFill>
                  <a:srgbClr val="0000FF"/>
                </a:solidFill>
                <a:latin typeface="Patrick Hand"/>
                <a:ea typeface="Patrick Hand"/>
                <a:cs typeface="Patrick Hand"/>
                <a:sym typeface="Patrick Hand"/>
              </a:rPr>
              <a:t>Therefore, this makes Mount Fuji/Mauna Loa more dangerous because…</a:t>
            </a:r>
            <a:endParaRPr sz="1500" b="1">
              <a:solidFill>
                <a:srgbClr val="0000FF"/>
              </a:solidFill>
              <a:latin typeface="Patrick Hand"/>
              <a:ea typeface="Patrick Hand"/>
              <a:cs typeface="Patrick Hand"/>
              <a:sym typeface="Patrick Hand"/>
            </a:endParaRPr>
          </a:p>
          <a:p>
            <a:pPr marL="457200" lvl="0" indent="-323850" algn="l" rtl="0">
              <a:lnSpc>
                <a:spcPct val="115000"/>
              </a:lnSpc>
              <a:spcBef>
                <a:spcPts val="0"/>
              </a:spcBef>
              <a:spcAft>
                <a:spcPts val="0"/>
              </a:spcAft>
              <a:buClr>
                <a:srgbClr val="0000FF"/>
              </a:buClr>
              <a:buSzPts val="1500"/>
              <a:buChar char="●"/>
            </a:pPr>
            <a:r>
              <a:rPr lang="en" sz="1500" b="1">
                <a:solidFill>
                  <a:srgbClr val="0000FF"/>
                </a:solidFill>
                <a:latin typeface="Patrick Hand"/>
                <a:ea typeface="Patrick Hand"/>
                <a:cs typeface="Patrick Hand"/>
                <a:sym typeface="Patrick Hand"/>
              </a:rPr>
              <a:t>Overall, this difference means that people living near… are more likely to…</a:t>
            </a:r>
            <a:endParaRPr sz="1500" b="1">
              <a:solidFill>
                <a:srgbClr val="0000FF"/>
              </a:solidFill>
              <a:latin typeface="Patrick Hand"/>
              <a:ea typeface="Patrick Hand"/>
              <a:cs typeface="Patrick Hand"/>
              <a:sym typeface="Patrick Hand"/>
            </a:endParaRPr>
          </a:p>
        </p:txBody>
      </p:sp>
      <p:sp>
        <p:nvSpPr>
          <p:cNvPr id="237" name="Google Shape;237;p32"/>
          <p:cNvSpPr txBox="1"/>
          <p:nvPr/>
        </p:nvSpPr>
        <p:spPr>
          <a:xfrm>
            <a:off x="6493400" y="3077775"/>
            <a:ext cx="2552400" cy="1847100"/>
          </a:xfrm>
          <a:prstGeom prst="rect">
            <a:avLst/>
          </a:prstGeom>
          <a:solidFill>
            <a:srgbClr val="47230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chemeClr val="lt1"/>
                </a:solidFill>
                <a:latin typeface="Baumans"/>
                <a:ea typeface="Baumans"/>
                <a:cs typeface="Baumans"/>
                <a:sym typeface="Baumans"/>
              </a:rPr>
              <a:t>Make your paragraph </a:t>
            </a:r>
            <a:r>
              <a:rPr lang="en" sz="1600" b="1">
                <a:solidFill>
                  <a:srgbClr val="FFFF00"/>
                </a:solidFill>
                <a:latin typeface="Finger Paint"/>
                <a:ea typeface="Finger Paint"/>
                <a:cs typeface="Finger Paint"/>
                <a:sym typeface="Finger Paint"/>
              </a:rPr>
              <a:t>Extra Hot</a:t>
            </a:r>
            <a:r>
              <a:rPr lang="en" sz="1600" b="1">
                <a:solidFill>
                  <a:schemeClr val="lt1"/>
                </a:solidFill>
                <a:latin typeface="Baumans"/>
                <a:ea typeface="Baumans"/>
                <a:cs typeface="Baumans"/>
                <a:sym typeface="Baumans"/>
              </a:rPr>
              <a:t> by adding in the values people living near Mount Fuji or Mauna Loa might need to show.</a:t>
            </a:r>
            <a:endParaRPr sz="1800" b="1">
              <a:solidFill>
                <a:schemeClr val="lt1"/>
              </a:solidFill>
              <a:latin typeface="Baumans"/>
              <a:ea typeface="Baumans"/>
              <a:cs typeface="Baumans"/>
              <a:sym typeface="Baumans"/>
            </a:endParaRPr>
          </a:p>
          <a:p>
            <a:pPr marL="0" lvl="0" indent="0" algn="l" rtl="0">
              <a:spcBef>
                <a:spcPts val="0"/>
              </a:spcBef>
              <a:spcAft>
                <a:spcPts val="0"/>
              </a:spcAft>
              <a:buNone/>
            </a:pPr>
            <a:r>
              <a:rPr lang="en" b="1">
                <a:solidFill>
                  <a:srgbClr val="FFFF00"/>
                </a:solidFill>
                <a:latin typeface="Patrick Hand"/>
                <a:ea typeface="Patrick Hand"/>
                <a:cs typeface="Patrick Hand"/>
                <a:sym typeface="Patrick Hand"/>
              </a:rPr>
              <a:t>(E.g. Resilience, preparedness, or responsibility).</a:t>
            </a:r>
            <a:endParaRPr sz="1000" b="1">
              <a:solidFill>
                <a:srgbClr val="FFFF00"/>
              </a:solidFill>
              <a:latin typeface="Patrick Hand"/>
              <a:ea typeface="Patrick Hand"/>
              <a:cs typeface="Patrick Hand"/>
              <a:sym typeface="Patrick Hand"/>
            </a:endParaRPr>
          </a:p>
        </p:txBody>
      </p:sp>
      <p:pic>
        <p:nvPicPr>
          <p:cNvPr id="238" name="Google Shape;238;p32"/>
          <p:cNvPicPr preferRelativeResize="0"/>
          <p:nvPr/>
        </p:nvPicPr>
        <p:blipFill>
          <a:blip r:embed="rId3">
            <a:alphaModFix/>
          </a:blip>
          <a:stretch>
            <a:fillRect/>
          </a:stretch>
        </p:blipFill>
        <p:spPr>
          <a:xfrm>
            <a:off x="5565500" y="3593050"/>
            <a:ext cx="866775" cy="1016000"/>
          </a:xfrm>
          <a:prstGeom prst="rect">
            <a:avLst/>
          </a:prstGeom>
          <a:noFill/>
          <a:ln>
            <a:noFill/>
          </a:ln>
        </p:spPr>
      </p:pic>
      <p:sp>
        <p:nvSpPr>
          <p:cNvPr id="239" name="Google Shape;239;p32"/>
          <p:cNvSpPr txBox="1"/>
          <p:nvPr/>
        </p:nvSpPr>
        <p:spPr>
          <a:xfrm>
            <a:off x="6542600" y="278075"/>
            <a:ext cx="2503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Poppins"/>
                <a:ea typeface="Poppins"/>
                <a:cs typeface="Poppins"/>
                <a:sym typeface="Poppins"/>
              </a:rPr>
              <a:t>Make a clear statement about </a:t>
            </a:r>
            <a:r>
              <a:rPr lang="en" sz="1000" b="1">
                <a:solidFill>
                  <a:srgbClr val="980000"/>
                </a:solidFill>
                <a:latin typeface="Poppins"/>
                <a:ea typeface="Poppins"/>
                <a:cs typeface="Poppins"/>
                <a:sym typeface="Poppins"/>
              </a:rPr>
              <a:t>which volcano is more dangerous</a:t>
            </a:r>
            <a:r>
              <a:rPr lang="en" sz="1000" b="1">
                <a:solidFill>
                  <a:schemeClr val="dk1"/>
                </a:solidFill>
                <a:latin typeface="Poppins"/>
                <a:ea typeface="Poppins"/>
                <a:cs typeface="Poppins"/>
                <a:sym typeface="Poppins"/>
              </a:rPr>
              <a:t> — Mount Fuji or Mauna Loa.</a:t>
            </a:r>
            <a:endParaRPr sz="1000" b="1">
              <a:solidFill>
                <a:schemeClr val="dk1"/>
              </a:solidFill>
              <a:latin typeface="Poppins"/>
              <a:ea typeface="Poppins"/>
              <a:cs typeface="Poppins"/>
              <a:sym typeface="Poppins"/>
            </a:endParaRPr>
          </a:p>
        </p:txBody>
      </p:sp>
      <p:sp>
        <p:nvSpPr>
          <p:cNvPr id="240" name="Google Shape;240;p32"/>
          <p:cNvSpPr txBox="1"/>
          <p:nvPr/>
        </p:nvSpPr>
        <p:spPr>
          <a:xfrm>
            <a:off x="6542600" y="2171550"/>
            <a:ext cx="2503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Poppins"/>
                <a:ea typeface="Poppins"/>
                <a:cs typeface="Poppins"/>
                <a:sym typeface="Poppins"/>
              </a:rPr>
              <a:t>Link back to the question by making a clear judgement about </a:t>
            </a:r>
            <a:r>
              <a:rPr lang="en" sz="1000" b="1">
                <a:solidFill>
                  <a:srgbClr val="980000"/>
                </a:solidFill>
                <a:latin typeface="Poppins"/>
                <a:ea typeface="Poppins"/>
                <a:cs typeface="Poppins"/>
                <a:sym typeface="Poppins"/>
              </a:rPr>
              <a:t>which volcano is more dangerous and why</a:t>
            </a:r>
            <a:r>
              <a:rPr lang="en" sz="1000" b="1">
                <a:solidFill>
                  <a:schemeClr val="dk1"/>
                </a:solidFill>
                <a:latin typeface="Poppins"/>
                <a:ea typeface="Poppins"/>
                <a:cs typeface="Poppins"/>
                <a:sym typeface="Poppins"/>
              </a:rPr>
              <a:t>.</a:t>
            </a:r>
            <a:endParaRPr sz="1000" b="1">
              <a:latin typeface="Poppins"/>
              <a:ea typeface="Poppins"/>
              <a:cs typeface="Poppins"/>
              <a:sym typeface="Poppins"/>
            </a:endParaRPr>
          </a:p>
        </p:txBody>
      </p:sp>
      <p:sp>
        <p:nvSpPr>
          <p:cNvPr id="241" name="Google Shape;241;p32"/>
          <p:cNvSpPr txBox="1"/>
          <p:nvPr/>
        </p:nvSpPr>
        <p:spPr>
          <a:xfrm>
            <a:off x="6542600" y="924575"/>
            <a:ext cx="2503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Poppins"/>
                <a:ea typeface="Poppins"/>
                <a:cs typeface="Poppins"/>
                <a:sym typeface="Poppins"/>
              </a:rPr>
              <a:t>Use </a:t>
            </a:r>
            <a:r>
              <a:rPr lang="en" sz="1000" b="1">
                <a:solidFill>
                  <a:srgbClr val="980000"/>
                </a:solidFill>
                <a:latin typeface="Poppins"/>
                <a:ea typeface="Poppins"/>
                <a:cs typeface="Poppins"/>
                <a:sym typeface="Poppins"/>
              </a:rPr>
              <a:t>two of the key features </a:t>
            </a:r>
            <a:r>
              <a:rPr lang="en" sz="1000" b="1">
                <a:solidFill>
                  <a:schemeClr val="dk1"/>
                </a:solidFill>
                <a:latin typeface="Poppins"/>
                <a:ea typeface="Poppins"/>
                <a:cs typeface="Poppins"/>
                <a:sym typeface="Poppins"/>
              </a:rPr>
              <a:t>compare Mount Fuji and Mauna Loa.</a:t>
            </a:r>
            <a:endParaRPr sz="1000" b="1">
              <a:latin typeface="Poppins"/>
              <a:ea typeface="Poppins"/>
              <a:cs typeface="Poppins"/>
              <a:sym typeface="Poppins"/>
            </a:endParaRPr>
          </a:p>
        </p:txBody>
      </p:sp>
      <p:sp>
        <p:nvSpPr>
          <p:cNvPr id="242" name="Google Shape;242;p32"/>
          <p:cNvSpPr txBox="1"/>
          <p:nvPr/>
        </p:nvSpPr>
        <p:spPr>
          <a:xfrm>
            <a:off x="6542600" y="1571075"/>
            <a:ext cx="25032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chemeClr val="dk1"/>
                </a:solidFill>
                <a:latin typeface="Poppins"/>
                <a:ea typeface="Poppins"/>
                <a:cs typeface="Poppins"/>
                <a:sym typeface="Poppins"/>
              </a:rPr>
              <a:t>Explain </a:t>
            </a:r>
            <a:r>
              <a:rPr lang="en" sz="1000" b="1">
                <a:solidFill>
                  <a:srgbClr val="980000"/>
                </a:solidFill>
                <a:latin typeface="Poppins"/>
                <a:ea typeface="Poppins"/>
                <a:cs typeface="Poppins"/>
                <a:sym typeface="Poppins"/>
              </a:rPr>
              <a:t>why these differences make one volcano more dangerous </a:t>
            </a:r>
            <a:r>
              <a:rPr lang="en" sz="1000" b="1">
                <a:solidFill>
                  <a:schemeClr val="dk1"/>
                </a:solidFill>
                <a:latin typeface="Poppins"/>
                <a:ea typeface="Poppins"/>
                <a:cs typeface="Poppins"/>
                <a:sym typeface="Poppins"/>
              </a:rPr>
              <a:t>for people or buildings.</a:t>
            </a:r>
            <a:endParaRPr sz="1000" b="1">
              <a:latin typeface="Poppins"/>
              <a:ea typeface="Poppins"/>
              <a:cs typeface="Poppins"/>
              <a:sym typeface="Poppins"/>
            </a:endParaRPr>
          </a:p>
        </p:txBody>
      </p:sp>
      <p:pic>
        <p:nvPicPr>
          <p:cNvPr id="243" name="Google Shape;243;p32" descr="a cartoon drawing of a fire with a flame coming out of it (Provided by Tenor)"/>
          <p:cNvPicPr preferRelativeResize="0"/>
          <p:nvPr/>
        </p:nvPicPr>
        <p:blipFill>
          <a:blip r:embed="rId4">
            <a:alphaModFix/>
          </a:blip>
          <a:stretch>
            <a:fillRect/>
          </a:stretch>
        </p:blipFill>
        <p:spPr>
          <a:xfrm>
            <a:off x="5871875" y="3152550"/>
            <a:ext cx="440225" cy="440225"/>
          </a:xfrm>
          <a:prstGeom prst="rect">
            <a:avLst/>
          </a:prstGeom>
          <a:noFill/>
          <a:ln>
            <a:noFill/>
          </a:ln>
        </p:spPr>
      </p:pic>
      <p:pic>
        <p:nvPicPr>
          <p:cNvPr id="244" name="Google Shape;244;p32" title="Screenshot 2026-08-21 at 8.30.28 AM.png"/>
          <p:cNvPicPr preferRelativeResize="0"/>
          <p:nvPr/>
        </p:nvPicPr>
        <p:blipFill>
          <a:blip r:embed="rId5">
            <a:alphaModFix/>
          </a:blip>
          <a:stretch>
            <a:fillRect/>
          </a:stretch>
        </p:blipFill>
        <p:spPr>
          <a:xfrm>
            <a:off x="5446212" y="278075"/>
            <a:ext cx="1096387" cy="25001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3"/>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Types of Volcanoes</a:t>
            </a:r>
            <a:endParaRPr sz="700" i="0" u="none" strike="noStrike" cap="none">
              <a:solidFill>
                <a:srgbClr val="000000"/>
              </a:solidFill>
              <a:latin typeface="Fugaz One"/>
              <a:ea typeface="Fugaz One"/>
              <a:cs typeface="Fugaz One"/>
              <a:sym typeface="Fugaz One"/>
            </a:endParaRPr>
          </a:p>
        </p:txBody>
      </p:sp>
      <p:sp>
        <p:nvSpPr>
          <p:cNvPr id="250" name="Google Shape;250;p33"/>
          <p:cNvSpPr txBox="1"/>
          <p:nvPr/>
        </p:nvSpPr>
        <p:spPr>
          <a:xfrm>
            <a:off x="125349" y="1063700"/>
            <a:ext cx="2924100" cy="11775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a:solidFill>
                  <a:schemeClr val="dk1"/>
                </a:solidFill>
                <a:highlight>
                  <a:srgbClr val="00FF00"/>
                </a:highlight>
                <a:latin typeface="Baumans"/>
                <a:ea typeface="Baumans"/>
                <a:cs typeface="Baumans"/>
                <a:sym typeface="Baumans"/>
              </a:rPr>
              <a:t>Activity 1:</a:t>
            </a:r>
            <a:r>
              <a:rPr lang="en" sz="1800" i="0" u="none" strike="noStrike" cap="none">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Annotate the diagrams to show the key features of the composite and shield volcanoes.</a:t>
            </a:r>
            <a:endParaRPr sz="1800" i="0" u="none" strike="noStrike" cap="none">
              <a:solidFill>
                <a:schemeClr val="dk1"/>
              </a:solidFill>
              <a:latin typeface="Baumans"/>
              <a:ea typeface="Baumans"/>
              <a:cs typeface="Baumans"/>
              <a:sym typeface="Baumans"/>
            </a:endParaRPr>
          </a:p>
        </p:txBody>
      </p:sp>
      <p:pic>
        <p:nvPicPr>
          <p:cNvPr id="251" name="Google Shape;251;p33"/>
          <p:cNvPicPr preferRelativeResize="0"/>
          <p:nvPr/>
        </p:nvPicPr>
        <p:blipFill>
          <a:blip r:embed="rId3">
            <a:alphaModFix/>
          </a:blip>
          <a:stretch>
            <a:fillRect/>
          </a:stretch>
        </p:blipFill>
        <p:spPr>
          <a:xfrm>
            <a:off x="6162500" y="1003862"/>
            <a:ext cx="2874700" cy="1297182"/>
          </a:xfrm>
          <a:prstGeom prst="rect">
            <a:avLst/>
          </a:prstGeom>
          <a:noFill/>
          <a:ln>
            <a:noFill/>
          </a:ln>
        </p:spPr>
      </p:pic>
      <p:sp>
        <p:nvSpPr>
          <p:cNvPr id="252" name="Google Shape;252;p33"/>
          <p:cNvSpPr txBox="1"/>
          <p:nvPr/>
        </p:nvSpPr>
        <p:spPr>
          <a:xfrm>
            <a:off x="6162550" y="1812200"/>
            <a:ext cx="2874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highlight>
                  <a:schemeClr val="lt1"/>
                </a:highlight>
                <a:latin typeface="Patrick Hand"/>
                <a:ea typeface="Patrick Hand"/>
                <a:cs typeface="Patrick Hand"/>
                <a:sym typeface="Patrick Hand"/>
              </a:rPr>
              <a:t>Shield - Mauna loa, </a:t>
            </a:r>
            <a:r>
              <a:rPr lang="en" sz="2000" b="1">
                <a:solidFill>
                  <a:schemeClr val="dk1"/>
                </a:solidFill>
                <a:highlight>
                  <a:schemeClr val="lt1"/>
                </a:highlight>
                <a:latin typeface="Patrick Hand"/>
                <a:ea typeface="Patrick Hand"/>
                <a:cs typeface="Patrick Hand"/>
                <a:sym typeface="Patrick Hand"/>
              </a:rPr>
              <a:t>Hawaii</a:t>
            </a:r>
            <a:endParaRPr sz="2000" b="1">
              <a:highlight>
                <a:schemeClr val="lt1"/>
              </a:highlight>
              <a:latin typeface="Patrick Hand"/>
              <a:ea typeface="Patrick Hand"/>
              <a:cs typeface="Patrick Hand"/>
              <a:sym typeface="Patrick Hand"/>
            </a:endParaRPr>
          </a:p>
        </p:txBody>
      </p:sp>
      <p:pic>
        <p:nvPicPr>
          <p:cNvPr id="253" name="Google Shape;253;p33"/>
          <p:cNvPicPr preferRelativeResize="0"/>
          <p:nvPr/>
        </p:nvPicPr>
        <p:blipFill>
          <a:blip r:embed="rId4">
            <a:alphaModFix/>
          </a:blip>
          <a:stretch>
            <a:fillRect/>
          </a:stretch>
        </p:blipFill>
        <p:spPr>
          <a:xfrm>
            <a:off x="3407700" y="658125"/>
            <a:ext cx="2551009" cy="1706499"/>
          </a:xfrm>
          <a:prstGeom prst="rect">
            <a:avLst/>
          </a:prstGeom>
          <a:noFill/>
          <a:ln>
            <a:noFill/>
          </a:ln>
        </p:spPr>
      </p:pic>
      <p:sp>
        <p:nvSpPr>
          <p:cNvPr id="254" name="Google Shape;254;p33"/>
          <p:cNvSpPr txBox="1"/>
          <p:nvPr/>
        </p:nvSpPr>
        <p:spPr>
          <a:xfrm>
            <a:off x="3286100" y="1872025"/>
            <a:ext cx="27942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highlight>
                  <a:schemeClr val="lt1"/>
                </a:highlight>
                <a:latin typeface="Patrick Hand"/>
                <a:ea typeface="Patrick Hand"/>
                <a:cs typeface="Patrick Hand"/>
                <a:sym typeface="Patrick Hand"/>
              </a:rPr>
              <a:t>Composite - Mt Fuji, Japan</a:t>
            </a:r>
            <a:endParaRPr sz="2000" b="1">
              <a:highlight>
                <a:schemeClr val="lt1"/>
              </a:highlight>
              <a:latin typeface="Patrick Hand"/>
              <a:ea typeface="Patrick Hand"/>
              <a:cs typeface="Patrick Hand"/>
              <a:sym typeface="Patrick Hand"/>
            </a:endParaRPr>
          </a:p>
        </p:txBody>
      </p:sp>
      <p:sp>
        <p:nvSpPr>
          <p:cNvPr id="255" name="Google Shape;255;p33"/>
          <p:cNvSpPr txBox="1"/>
          <p:nvPr/>
        </p:nvSpPr>
        <p:spPr>
          <a:xfrm>
            <a:off x="125350" y="2304800"/>
            <a:ext cx="3160800" cy="26304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Key Feature Annotations:</a:t>
            </a:r>
            <a:endParaRPr b="1">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Slopes</a:t>
            </a:r>
            <a:r>
              <a:rPr lang="en">
                <a:solidFill>
                  <a:schemeClr val="dk1"/>
                </a:solidFill>
                <a:latin typeface="Poppins"/>
                <a:ea typeface="Poppins"/>
                <a:cs typeface="Poppins"/>
                <a:sym typeface="Poppins"/>
              </a:rPr>
              <a:t> – Gentle / Steep</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Base width</a:t>
            </a:r>
            <a:r>
              <a:rPr lang="en">
                <a:solidFill>
                  <a:schemeClr val="dk1"/>
                </a:solidFill>
                <a:latin typeface="Poppins"/>
                <a:ea typeface="Poppins"/>
                <a:cs typeface="Poppins"/>
                <a:sym typeface="Poppins"/>
              </a:rPr>
              <a:t> – Wide / Narrow</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Lava type</a:t>
            </a:r>
            <a:r>
              <a:rPr lang="en">
                <a:solidFill>
                  <a:schemeClr val="dk1"/>
                </a:solidFill>
                <a:latin typeface="Poppins"/>
                <a:ea typeface="Poppins"/>
                <a:cs typeface="Poppins"/>
                <a:sym typeface="Poppins"/>
              </a:rPr>
              <a:t> – Thin/runny / Thick/sticky</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Lava flow speed</a:t>
            </a:r>
            <a:r>
              <a:rPr lang="en">
                <a:solidFill>
                  <a:schemeClr val="dk1"/>
                </a:solidFill>
                <a:latin typeface="Poppins"/>
                <a:ea typeface="Poppins"/>
                <a:cs typeface="Poppins"/>
                <a:sym typeface="Poppins"/>
              </a:rPr>
              <a:t> – Fast / Slow</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Eruption style</a:t>
            </a:r>
            <a:r>
              <a:rPr lang="en">
                <a:solidFill>
                  <a:schemeClr val="dk1"/>
                </a:solidFill>
                <a:latin typeface="Poppins"/>
                <a:ea typeface="Poppins"/>
                <a:cs typeface="Poppins"/>
                <a:sym typeface="Poppins"/>
              </a:rPr>
              <a:t> – Gentle / Violent</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Crater</a:t>
            </a:r>
            <a:r>
              <a:rPr lang="en">
                <a:solidFill>
                  <a:schemeClr val="dk1"/>
                </a:solidFill>
                <a:latin typeface="Poppins"/>
                <a:ea typeface="Poppins"/>
                <a:cs typeface="Poppins"/>
                <a:sym typeface="Poppins"/>
              </a:rPr>
              <a:t> – Large / Small</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Volcanic bombs</a:t>
            </a:r>
            <a:r>
              <a:rPr lang="en">
                <a:solidFill>
                  <a:schemeClr val="dk1"/>
                </a:solidFill>
                <a:latin typeface="Poppins"/>
                <a:ea typeface="Poppins"/>
                <a:cs typeface="Poppins"/>
                <a:sym typeface="Poppins"/>
              </a:rPr>
              <a:t> – None / Often</a:t>
            </a:r>
            <a:endParaRPr>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b="1">
                <a:solidFill>
                  <a:schemeClr val="dk1"/>
                </a:solidFill>
                <a:latin typeface="Poppins"/>
                <a:ea typeface="Poppins"/>
                <a:cs typeface="Poppins"/>
                <a:sym typeface="Poppins"/>
              </a:rPr>
              <a:t>Number of vents</a:t>
            </a:r>
            <a:r>
              <a:rPr lang="en">
                <a:solidFill>
                  <a:schemeClr val="dk1"/>
                </a:solidFill>
                <a:latin typeface="Poppins"/>
                <a:ea typeface="Poppins"/>
                <a:cs typeface="Poppins"/>
                <a:sym typeface="Poppins"/>
              </a:rPr>
              <a:t> – One / Several</a:t>
            </a:r>
            <a:endParaRPr>
              <a:solidFill>
                <a:schemeClr val="dk1"/>
              </a:solidFill>
              <a:latin typeface="Poppins"/>
              <a:ea typeface="Poppins"/>
              <a:cs typeface="Poppins"/>
              <a:sym typeface="Poppins"/>
            </a:endParaRPr>
          </a:p>
        </p:txBody>
      </p:sp>
      <p:sp>
        <p:nvSpPr>
          <p:cNvPr id="256" name="Google Shape;256;p33"/>
          <p:cNvSpPr txBox="1"/>
          <p:nvPr/>
        </p:nvSpPr>
        <p:spPr>
          <a:xfrm>
            <a:off x="4086400" y="2364625"/>
            <a:ext cx="49509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highlight>
                  <a:srgbClr val="00FF00"/>
                </a:highlight>
                <a:latin typeface="Baumans"/>
                <a:ea typeface="Baumans"/>
                <a:cs typeface="Baumans"/>
                <a:sym typeface="Baumans"/>
              </a:rPr>
              <a:t>Activity 2:</a:t>
            </a:r>
            <a:r>
              <a:rPr lang="en" sz="1600">
                <a:solidFill>
                  <a:schemeClr val="dk1"/>
                </a:solidFill>
                <a:latin typeface="Baumans"/>
                <a:ea typeface="Baumans"/>
                <a:cs typeface="Baumans"/>
                <a:sym typeface="Baumans"/>
              </a:rPr>
              <a:t> - </a:t>
            </a:r>
            <a:r>
              <a:rPr lang="en" sz="1600" b="1">
                <a:solidFill>
                  <a:schemeClr val="dk1"/>
                </a:solidFill>
                <a:latin typeface="Baumans"/>
                <a:ea typeface="Baumans"/>
                <a:cs typeface="Baumans"/>
                <a:sym typeface="Baumans"/>
              </a:rPr>
              <a:t>Compare</a:t>
            </a:r>
            <a:r>
              <a:rPr lang="en" sz="1600">
                <a:solidFill>
                  <a:schemeClr val="dk1"/>
                </a:solidFill>
                <a:latin typeface="Baumans"/>
                <a:ea typeface="Baumans"/>
                <a:cs typeface="Baumans"/>
                <a:sym typeface="Baumans"/>
              </a:rPr>
              <a:t> the main features of Mount Fuji and Mauna Loa. </a:t>
            </a:r>
            <a:r>
              <a:rPr lang="en" sz="1600" b="1">
                <a:solidFill>
                  <a:schemeClr val="dk1"/>
                </a:solidFill>
                <a:latin typeface="Baumans"/>
                <a:ea typeface="Baumans"/>
                <a:cs typeface="Baumans"/>
                <a:sym typeface="Baumans"/>
              </a:rPr>
              <a:t>Explain why one volcano may pose a greater danger to people living nearby.</a:t>
            </a:r>
            <a:endParaRPr sz="1600" b="1">
              <a:solidFill>
                <a:srgbClr val="980000"/>
              </a:solidFill>
              <a:latin typeface="Baumans"/>
              <a:ea typeface="Baumans"/>
              <a:cs typeface="Baumans"/>
              <a:sym typeface="Baumans"/>
            </a:endParaRPr>
          </a:p>
        </p:txBody>
      </p:sp>
      <p:sp>
        <p:nvSpPr>
          <p:cNvPr id="257" name="Google Shape;257;p33"/>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sp>
        <p:nvSpPr>
          <p:cNvPr id="258" name="Google Shape;258;p33"/>
          <p:cNvSpPr txBox="1"/>
          <p:nvPr/>
        </p:nvSpPr>
        <p:spPr>
          <a:xfrm>
            <a:off x="3407700" y="3362125"/>
            <a:ext cx="5629500" cy="1533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Write your answer as </a:t>
            </a:r>
            <a:r>
              <a:rPr lang="en" sz="1600" b="1">
                <a:solidFill>
                  <a:schemeClr val="dk1"/>
                </a:solidFill>
                <a:latin typeface="Baumans"/>
                <a:ea typeface="Baumans"/>
                <a:cs typeface="Baumans"/>
                <a:sym typeface="Baumans"/>
              </a:rPr>
              <a:t>one</a:t>
            </a:r>
            <a:r>
              <a:rPr lang="en" sz="1600">
                <a:solidFill>
                  <a:schemeClr val="dk1"/>
                </a:solidFill>
                <a:latin typeface="Baumans"/>
                <a:ea typeface="Baumans"/>
                <a:cs typeface="Baumans"/>
                <a:sym typeface="Baumans"/>
              </a:rPr>
              <a:t> </a:t>
            </a:r>
            <a:r>
              <a:rPr lang="en" sz="1600" b="1">
                <a:solidFill>
                  <a:schemeClr val="lt1"/>
                </a:solidFill>
                <a:highlight>
                  <a:srgbClr val="FC50AE"/>
                </a:highlight>
                <a:latin typeface="Baumans"/>
                <a:ea typeface="Baumans"/>
                <a:cs typeface="Baumans"/>
                <a:sym typeface="Baumans"/>
              </a:rPr>
              <a:t>P</a:t>
            </a:r>
            <a:r>
              <a:rPr lang="en" sz="1600" b="1">
                <a:solidFill>
                  <a:schemeClr val="lt1"/>
                </a:solidFill>
                <a:highlight>
                  <a:srgbClr val="914BFA"/>
                </a:highlight>
                <a:latin typeface="Baumans"/>
                <a:ea typeface="Baumans"/>
                <a:cs typeface="Baumans"/>
                <a:sym typeface="Baumans"/>
              </a:rPr>
              <a:t>E</a:t>
            </a:r>
            <a:r>
              <a:rPr lang="en" sz="1600" b="1">
                <a:solidFill>
                  <a:schemeClr val="lt1"/>
                </a:solidFill>
                <a:highlight>
                  <a:srgbClr val="FC9B29"/>
                </a:highlight>
                <a:latin typeface="Baumans"/>
                <a:ea typeface="Baumans"/>
                <a:cs typeface="Baumans"/>
                <a:sym typeface="Baumans"/>
              </a:rPr>
              <a:t>E</a:t>
            </a:r>
            <a:r>
              <a:rPr lang="en" sz="1600" b="1">
                <a:solidFill>
                  <a:schemeClr val="lt1"/>
                </a:solidFill>
                <a:highlight>
                  <a:srgbClr val="50B3FD"/>
                </a:highlight>
                <a:latin typeface="Baumans"/>
                <a:ea typeface="Baumans"/>
                <a:cs typeface="Baumans"/>
                <a:sym typeface="Baumans"/>
              </a:rPr>
              <a:t>L</a:t>
            </a:r>
            <a:r>
              <a:rPr lang="en" sz="1600">
                <a:solidFill>
                  <a:schemeClr val="dk1"/>
                </a:solidFill>
                <a:latin typeface="Baumans"/>
                <a:ea typeface="Baumans"/>
                <a:cs typeface="Baumans"/>
                <a:sym typeface="Baumans"/>
              </a:rPr>
              <a:t>. Focus on </a:t>
            </a:r>
            <a:r>
              <a:rPr lang="en" sz="1600" b="1">
                <a:solidFill>
                  <a:schemeClr val="dk1"/>
                </a:solidFill>
                <a:latin typeface="Baumans"/>
                <a:ea typeface="Baumans"/>
                <a:cs typeface="Baumans"/>
                <a:sym typeface="Baumans"/>
              </a:rPr>
              <a:t>one</a:t>
            </a:r>
            <a:r>
              <a:rPr lang="en" sz="1600">
                <a:solidFill>
                  <a:schemeClr val="dk1"/>
                </a:solidFill>
                <a:latin typeface="Baumans"/>
                <a:ea typeface="Baumans"/>
                <a:cs typeface="Baumans"/>
                <a:sym typeface="Baumans"/>
              </a:rPr>
              <a:t> key volcanic feature and compare Mount Fuji and Mauna Loa. Explain </a:t>
            </a:r>
            <a:r>
              <a:rPr lang="en" sz="1600" b="1">
                <a:solidFill>
                  <a:schemeClr val="dk1"/>
                </a:solidFill>
                <a:latin typeface="Baumans"/>
                <a:ea typeface="Baumans"/>
                <a:cs typeface="Baumans"/>
                <a:sym typeface="Baumans"/>
              </a:rPr>
              <a:t>how </a:t>
            </a:r>
            <a:r>
              <a:rPr lang="en" sz="1600">
                <a:solidFill>
                  <a:schemeClr val="dk1"/>
                </a:solidFill>
                <a:latin typeface="Baumans"/>
                <a:ea typeface="Baumans"/>
                <a:cs typeface="Baumans"/>
                <a:sym typeface="Baumans"/>
              </a:rPr>
              <a:t>the difference between them </a:t>
            </a:r>
            <a:r>
              <a:rPr lang="en" sz="1600" b="1">
                <a:solidFill>
                  <a:schemeClr val="dk1"/>
                </a:solidFill>
                <a:latin typeface="Baumans"/>
                <a:ea typeface="Baumans"/>
                <a:cs typeface="Baumans"/>
                <a:sym typeface="Baumans"/>
              </a:rPr>
              <a:t>affects the level of danger</a:t>
            </a:r>
            <a:r>
              <a:rPr lang="en" sz="1600">
                <a:solidFill>
                  <a:schemeClr val="dk1"/>
                </a:solidFill>
                <a:latin typeface="Baumans"/>
                <a:ea typeface="Baumans"/>
                <a:cs typeface="Baumans"/>
                <a:sym typeface="Baumans"/>
              </a:rPr>
              <a:t> for people living nearby.</a:t>
            </a:r>
            <a:endParaRPr sz="18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b="1">
                <a:solidFill>
                  <a:srgbClr val="980000"/>
                </a:solidFill>
                <a:latin typeface="Patrick Hand"/>
                <a:ea typeface="Patrick Hand"/>
                <a:cs typeface="Patrick Hand"/>
                <a:sym typeface="Patrick Hand"/>
              </a:rPr>
              <a:t>Hazards: lava type, lava flow speed, eruption style, crater, volcanic bombs &amp; vents.</a:t>
            </a:r>
            <a:endParaRPr/>
          </a:p>
        </p:txBody>
      </p:sp>
      <p:pic>
        <p:nvPicPr>
          <p:cNvPr id="259" name="Google Shape;259;p33"/>
          <p:cNvPicPr preferRelativeResize="0"/>
          <p:nvPr/>
        </p:nvPicPr>
        <p:blipFill>
          <a:blip r:embed="rId5">
            <a:alphaModFix/>
          </a:blip>
          <a:stretch>
            <a:fillRect/>
          </a:stretch>
        </p:blipFill>
        <p:spPr>
          <a:xfrm>
            <a:off x="3286150" y="2497712"/>
            <a:ext cx="800251" cy="731333"/>
          </a:xfrm>
          <a:prstGeom prst="rect">
            <a:avLst/>
          </a:prstGeom>
          <a:noFill/>
          <a:ln>
            <a:noFill/>
          </a:ln>
        </p:spPr>
      </p:pic>
      <p:pic>
        <p:nvPicPr>
          <p:cNvPr id="260" name="Google Shape;260;p33" descr="🌈 More Cute Study Timer : https://www.youtube.com/playlist?list=PLdt33jp7CzM4S2iJKuFdKhUFY1Ys_VyUC&#10;💌 FREE Cozy Wallpaper : https://millistudioart.com/collection/freebies&#10;🖥️ Cozy Winter Organizer Wallpaper : https://millistudioart.com/b/organizer-wallpaper1&#10;&#10;☕ Perfect for Pomodoro &amp; Focus Sessions&#10;⏱  Study timer for deep focus&#10;📚 Suitable for classroom, homework, and independent study&#10;🎧 Soft background sound (no lyrics, no distractions)&#10;&#10;🌸 Subscribe for more timers and cozy study vibes.&#10;&#10;🌟 Thank you for being part of our cozy focus community&#10;LIKE 👍 COMMENT 💬 &amp; SUBSCRIBE 🔔&#10;╔═╦╗╔╦╗╔═╦═╦╦╦╦╗╔═╗&#10;║╚╣║║║╚╣╚╣╔╣╔╣║╚╣═╣&#10;╠╗║╚╝║║╠╗║╚╣║║║║║═╣&#10;╚═╩══╩═╩═╩═╩╝╚╩═╩═╝&#10;Thank you for studying and working here 💜&#10;&#10;🐱 Study Timer | Classroom Timer&#10;📚 Focus &amp; Pomodoro Sessions&#10;🎧 Soft background sound (no distractions)&#10;&#10;#classroomtimer #studytimer #focustimer #countdown #cutetimers #timer" title="30 Minute Timer with music for classroom 🎵 Focus Timer Study Lofi pomodoro">
            <a:hlinkClick r:id="rId6"/>
          </p:cNvPr>
          <p:cNvPicPr preferRelativeResize="0"/>
          <p:nvPr/>
        </p:nvPicPr>
        <p:blipFill>
          <a:blip r:embed="rId7">
            <a:alphaModFix/>
          </a:blip>
          <a:stretch>
            <a:fillRect/>
          </a:stretch>
        </p:blipFill>
        <p:spPr>
          <a:xfrm>
            <a:off x="7909450" y="120550"/>
            <a:ext cx="1127700" cy="634325"/>
          </a:xfrm>
          <a:prstGeom prst="rect">
            <a:avLst/>
          </a:prstGeom>
          <a:noFill/>
          <a:ln>
            <a:noFill/>
          </a:ln>
        </p:spPr>
      </p:pic>
      <p:pic>
        <p:nvPicPr>
          <p:cNvPr id="2" name="Google Shape;84;p15">
            <a:extLst>
              <a:ext uri="{FF2B5EF4-FFF2-40B4-BE49-F238E27FC236}">
                <a16:creationId xmlns:a16="http://schemas.microsoft.com/office/drawing/2014/main" id="{E8154A53-C951-5F25-1CEC-C6D85230ECBE}"/>
              </a:ext>
            </a:extLst>
          </p:cNvPr>
          <p:cNvPicPr preferRelativeResize="0"/>
          <p:nvPr/>
        </p:nvPicPr>
        <p:blipFill rotWithShape="1">
          <a:blip r:embed="rId8">
            <a:alphaModFix/>
          </a:blip>
          <a:srcRect l="9659" t="53805" r="7215" b="18037"/>
          <a:stretch/>
        </p:blipFill>
        <p:spPr>
          <a:xfrm>
            <a:off x="6561850" y="489916"/>
            <a:ext cx="2358020" cy="657080"/>
          </a:xfrm>
          <a:prstGeom prst="rect">
            <a:avLst/>
          </a:prstGeom>
          <a:noFill/>
          <a:ln>
            <a:noFill/>
          </a:ln>
        </p:spPr>
      </p:pic>
      <p:pic>
        <p:nvPicPr>
          <p:cNvPr id="5" name="Google Shape;91;p15">
            <a:extLst>
              <a:ext uri="{FF2B5EF4-FFF2-40B4-BE49-F238E27FC236}">
                <a16:creationId xmlns:a16="http://schemas.microsoft.com/office/drawing/2014/main" id="{C53E2F30-554E-519A-54D4-42E88521EA36}"/>
              </a:ext>
            </a:extLst>
          </p:cNvPr>
          <p:cNvPicPr preferRelativeResize="0"/>
          <p:nvPr/>
        </p:nvPicPr>
        <p:blipFill>
          <a:blip r:embed="rId9">
            <a:alphaModFix/>
          </a:blip>
          <a:stretch>
            <a:fillRect/>
          </a:stretch>
        </p:blipFill>
        <p:spPr>
          <a:xfrm>
            <a:off x="3192240" y="525045"/>
            <a:ext cx="582692" cy="75205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8BAE1E9-F2EA-C5B7-03C1-7B076638DD68}"/>
              </a:ext>
            </a:extLst>
          </p:cNvPr>
          <p:cNvPicPr>
            <a:picLocks noChangeAspect="1"/>
          </p:cNvPicPr>
          <p:nvPr/>
        </p:nvPicPr>
        <p:blipFill>
          <a:blip r:embed="rId2"/>
          <a:srcRect b="5253"/>
          <a:stretch>
            <a:fillRect/>
          </a:stretch>
        </p:blipFill>
        <p:spPr>
          <a:xfrm>
            <a:off x="700120" y="0"/>
            <a:ext cx="7743760" cy="5184709"/>
          </a:xfrm>
          <a:prstGeom prst="rect">
            <a:avLst/>
          </a:prstGeom>
        </p:spPr>
      </p:pic>
    </p:spTree>
    <p:extLst>
      <p:ext uri="{BB962C8B-B14F-4D97-AF65-F5344CB8AC3E}">
        <p14:creationId xmlns:p14="http://schemas.microsoft.com/office/powerpoint/2010/main" val="61534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DED78E-30F4-CAAD-D6F4-EA4ACF561AB5}"/>
              </a:ext>
            </a:extLst>
          </p:cNvPr>
          <p:cNvPicPr>
            <a:picLocks noChangeAspect="1"/>
          </p:cNvPicPr>
          <p:nvPr/>
        </p:nvPicPr>
        <p:blipFill>
          <a:blip r:embed="rId2"/>
          <a:srcRect t="15758" b="5252"/>
          <a:stretch>
            <a:fillRect/>
          </a:stretch>
        </p:blipFill>
        <p:spPr>
          <a:xfrm>
            <a:off x="215677" y="79931"/>
            <a:ext cx="8928323" cy="4983637"/>
          </a:xfrm>
          <a:prstGeom prst="rect">
            <a:avLst/>
          </a:prstGeom>
        </p:spPr>
      </p:pic>
    </p:spTree>
    <p:extLst>
      <p:ext uri="{BB962C8B-B14F-4D97-AF65-F5344CB8AC3E}">
        <p14:creationId xmlns:p14="http://schemas.microsoft.com/office/powerpoint/2010/main" val="3007376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65" name="Google Shape;265;p34"/>
          <p:cNvPicPr preferRelativeResize="0"/>
          <p:nvPr/>
        </p:nvPicPr>
        <p:blipFill rotWithShape="1">
          <a:blip r:embed="rId3">
            <a:alphaModFix/>
          </a:blip>
          <a:srcRect/>
          <a:stretch/>
        </p:blipFill>
        <p:spPr>
          <a:xfrm>
            <a:off x="1281200" y="587411"/>
            <a:ext cx="784591" cy="784591"/>
          </a:xfrm>
          <a:prstGeom prst="rect">
            <a:avLst/>
          </a:prstGeom>
          <a:noFill/>
          <a:ln>
            <a:noFill/>
          </a:ln>
        </p:spPr>
      </p:pic>
      <p:sp>
        <p:nvSpPr>
          <p:cNvPr id="266" name="Google Shape;266;p34"/>
          <p:cNvSpPr txBox="1"/>
          <p:nvPr/>
        </p:nvSpPr>
        <p:spPr>
          <a:xfrm>
            <a:off x="2264600" y="702650"/>
            <a:ext cx="3428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82D362"/>
                </a:solidFill>
                <a:highlight>
                  <a:srgbClr val="FFFFFF"/>
                </a:highlight>
                <a:latin typeface="Finger Paint"/>
                <a:ea typeface="Finger Paint"/>
                <a:cs typeface="Finger Paint"/>
                <a:sym typeface="Finger Paint"/>
              </a:rPr>
              <a:t>True</a:t>
            </a:r>
            <a:r>
              <a:rPr lang="en" sz="2400" b="1" i="0" u="none" strike="noStrike" cap="none">
                <a:solidFill>
                  <a:srgbClr val="000000"/>
                </a:solidFill>
                <a:highlight>
                  <a:srgbClr val="FFFFFF"/>
                </a:highlight>
                <a:latin typeface="Finger Paint"/>
                <a:ea typeface="Finger Paint"/>
                <a:cs typeface="Finger Paint"/>
                <a:sym typeface="Finger Paint"/>
              </a:rPr>
              <a:t> Or </a:t>
            </a:r>
            <a:r>
              <a:rPr lang="en" sz="2400" b="1" i="0" u="none" strike="noStrike" cap="none">
                <a:solidFill>
                  <a:srgbClr val="F63741"/>
                </a:solidFill>
                <a:highlight>
                  <a:srgbClr val="FFFFFF"/>
                </a:highlight>
                <a:latin typeface="Finger Paint"/>
                <a:ea typeface="Finger Paint"/>
                <a:cs typeface="Finger Paint"/>
                <a:sym typeface="Finger Paint"/>
              </a:rPr>
              <a:t>False</a:t>
            </a:r>
            <a:endParaRPr sz="2000" b="0" i="0" u="none" strike="noStrike" cap="none">
              <a:solidFill>
                <a:srgbClr val="F63741"/>
              </a:solidFill>
              <a:highlight>
                <a:srgbClr val="FFFFFF"/>
              </a:highlight>
              <a:latin typeface="Arial"/>
              <a:ea typeface="Arial"/>
              <a:cs typeface="Arial"/>
              <a:sym typeface="Arial"/>
            </a:endParaRPr>
          </a:p>
        </p:txBody>
      </p:sp>
      <p:sp>
        <p:nvSpPr>
          <p:cNvPr id="267" name="Google Shape;267;p34"/>
          <p:cNvSpPr/>
          <p:nvPr/>
        </p:nvSpPr>
        <p:spPr>
          <a:xfrm>
            <a:off x="291225" y="1523075"/>
            <a:ext cx="23004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1. Shield volcanoes are made mainly of thin, runny lava that spreads over long distances.</a:t>
            </a:r>
            <a:endParaRPr sz="1600">
              <a:latin typeface="Baumans"/>
              <a:ea typeface="Baumans"/>
              <a:cs typeface="Baumans"/>
              <a:sym typeface="Baumans"/>
            </a:endParaRPr>
          </a:p>
        </p:txBody>
      </p:sp>
      <p:sp>
        <p:nvSpPr>
          <p:cNvPr id="268" name="Google Shape;268;p34"/>
          <p:cNvSpPr/>
          <p:nvPr/>
        </p:nvSpPr>
        <p:spPr>
          <a:xfrm>
            <a:off x="3421738" y="1523075"/>
            <a:ext cx="23004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2. Shield volcanoes have gentle slopes because their lava moves slowly and cools quickly.</a:t>
            </a:r>
            <a:endParaRPr sz="1600">
              <a:latin typeface="Baumans"/>
              <a:ea typeface="Baumans"/>
              <a:cs typeface="Baumans"/>
              <a:sym typeface="Baumans"/>
            </a:endParaRPr>
          </a:p>
        </p:txBody>
      </p:sp>
      <p:sp>
        <p:nvSpPr>
          <p:cNvPr id="269" name="Google Shape;269;p34"/>
          <p:cNvSpPr/>
          <p:nvPr/>
        </p:nvSpPr>
        <p:spPr>
          <a:xfrm>
            <a:off x="291225" y="3249222"/>
            <a:ext cx="23004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4. Composite volcanoes have sticky lava, gas can become trapped and pressure can build up.</a:t>
            </a:r>
            <a:endParaRPr sz="1600">
              <a:latin typeface="Baumans"/>
              <a:ea typeface="Baumans"/>
              <a:cs typeface="Baumans"/>
              <a:sym typeface="Baumans"/>
            </a:endParaRPr>
          </a:p>
        </p:txBody>
      </p:sp>
      <p:sp>
        <p:nvSpPr>
          <p:cNvPr id="270" name="Google Shape;270;p34"/>
          <p:cNvSpPr/>
          <p:nvPr/>
        </p:nvSpPr>
        <p:spPr>
          <a:xfrm>
            <a:off x="3421738" y="3249222"/>
            <a:ext cx="23004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5. Mauna Loa is a composite volcano, while Mount Fuji is a shield volcano.</a:t>
            </a:r>
            <a:endParaRPr sz="1600">
              <a:latin typeface="Baumans"/>
              <a:ea typeface="Baumans"/>
              <a:cs typeface="Baumans"/>
              <a:sym typeface="Baumans"/>
            </a:endParaRPr>
          </a:p>
        </p:txBody>
      </p:sp>
      <p:sp>
        <p:nvSpPr>
          <p:cNvPr id="271" name="Google Shape;271;p34"/>
          <p:cNvSpPr/>
          <p:nvPr/>
        </p:nvSpPr>
        <p:spPr>
          <a:xfrm>
            <a:off x="6552250" y="1523075"/>
            <a:ext cx="23004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3. Composite volcanoes are usually found at constructive plate boundaries.</a:t>
            </a:r>
            <a:endParaRPr sz="1600">
              <a:latin typeface="Baumans"/>
              <a:ea typeface="Baumans"/>
              <a:cs typeface="Baumans"/>
              <a:sym typeface="Baumans"/>
            </a:endParaRPr>
          </a:p>
        </p:txBody>
      </p:sp>
      <p:sp>
        <p:nvSpPr>
          <p:cNvPr id="272" name="Google Shape;272;p34"/>
          <p:cNvSpPr/>
          <p:nvPr/>
        </p:nvSpPr>
        <p:spPr>
          <a:xfrm>
            <a:off x="6552250" y="3249222"/>
            <a:ext cx="2300400" cy="1543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600" b="1">
                <a:solidFill>
                  <a:schemeClr val="dk1"/>
                </a:solidFill>
                <a:latin typeface="Baumans"/>
                <a:ea typeface="Baumans"/>
                <a:cs typeface="Baumans"/>
                <a:sym typeface="Baumans"/>
              </a:rPr>
              <a:t>6. Lahars can occur when rain mixes with volcanic ash, creating a dangerous mudflow.</a:t>
            </a:r>
            <a:endParaRPr sz="1600">
              <a:latin typeface="Baumans"/>
              <a:ea typeface="Baumans"/>
              <a:cs typeface="Baumans"/>
              <a:sym typeface="Baumans"/>
            </a:endParaRPr>
          </a:p>
        </p:txBody>
      </p:sp>
      <p:pic>
        <p:nvPicPr>
          <p:cNvPr id="273" name="Google Shape;273;p34"/>
          <p:cNvPicPr preferRelativeResize="0"/>
          <p:nvPr/>
        </p:nvPicPr>
        <p:blipFill rotWithShape="1">
          <a:blip r:embed="rId4">
            <a:alphaModFix/>
          </a:blip>
          <a:srcRect l="25716" t="15310" r="25672" b="17805"/>
          <a:stretch/>
        </p:blipFill>
        <p:spPr>
          <a:xfrm>
            <a:off x="2127662" y="2640700"/>
            <a:ext cx="463960" cy="425585"/>
          </a:xfrm>
          <a:prstGeom prst="rect">
            <a:avLst/>
          </a:prstGeom>
          <a:noFill/>
          <a:ln>
            <a:noFill/>
          </a:ln>
        </p:spPr>
      </p:pic>
      <p:pic>
        <p:nvPicPr>
          <p:cNvPr id="274" name="Google Shape;274;p34"/>
          <p:cNvPicPr preferRelativeResize="0"/>
          <p:nvPr/>
        </p:nvPicPr>
        <p:blipFill rotWithShape="1">
          <a:blip r:embed="rId5">
            <a:alphaModFix/>
          </a:blip>
          <a:srcRect l="26264" t="15218" r="24368" b="18067"/>
          <a:stretch/>
        </p:blipFill>
        <p:spPr>
          <a:xfrm>
            <a:off x="5258159" y="2644498"/>
            <a:ext cx="463960" cy="417981"/>
          </a:xfrm>
          <a:prstGeom prst="rect">
            <a:avLst/>
          </a:prstGeom>
          <a:noFill/>
          <a:ln>
            <a:noFill/>
          </a:ln>
        </p:spPr>
      </p:pic>
      <p:pic>
        <p:nvPicPr>
          <p:cNvPr id="275" name="Google Shape;275;p34"/>
          <p:cNvPicPr preferRelativeResize="0"/>
          <p:nvPr/>
        </p:nvPicPr>
        <p:blipFill rotWithShape="1">
          <a:blip r:embed="rId4">
            <a:alphaModFix/>
          </a:blip>
          <a:srcRect l="25716" t="15310" r="25672" b="17805"/>
          <a:stretch/>
        </p:blipFill>
        <p:spPr>
          <a:xfrm>
            <a:off x="2127662" y="4366850"/>
            <a:ext cx="463960" cy="425585"/>
          </a:xfrm>
          <a:prstGeom prst="rect">
            <a:avLst/>
          </a:prstGeom>
          <a:noFill/>
          <a:ln>
            <a:noFill/>
          </a:ln>
        </p:spPr>
      </p:pic>
      <p:pic>
        <p:nvPicPr>
          <p:cNvPr id="276" name="Google Shape;276;p34"/>
          <p:cNvPicPr preferRelativeResize="0"/>
          <p:nvPr/>
        </p:nvPicPr>
        <p:blipFill rotWithShape="1">
          <a:blip r:embed="rId5">
            <a:alphaModFix/>
          </a:blip>
          <a:srcRect l="26264" t="15218" r="24368" b="18067"/>
          <a:stretch/>
        </p:blipFill>
        <p:spPr>
          <a:xfrm>
            <a:off x="5258152" y="4370645"/>
            <a:ext cx="463960" cy="417981"/>
          </a:xfrm>
          <a:prstGeom prst="rect">
            <a:avLst/>
          </a:prstGeom>
          <a:noFill/>
          <a:ln>
            <a:noFill/>
          </a:ln>
        </p:spPr>
      </p:pic>
      <p:pic>
        <p:nvPicPr>
          <p:cNvPr id="277" name="Google Shape;277;p34"/>
          <p:cNvPicPr preferRelativeResize="0"/>
          <p:nvPr/>
        </p:nvPicPr>
        <p:blipFill rotWithShape="1">
          <a:blip r:embed="rId6">
            <a:alphaModFix/>
          </a:blip>
          <a:srcRect l="30711" t="5130" r="3174" b="5807"/>
          <a:stretch/>
        </p:blipFill>
        <p:spPr>
          <a:xfrm>
            <a:off x="106800" y="720975"/>
            <a:ext cx="975600" cy="517450"/>
          </a:xfrm>
          <a:prstGeom prst="rect">
            <a:avLst/>
          </a:prstGeom>
          <a:noFill/>
          <a:ln>
            <a:noFill/>
          </a:ln>
        </p:spPr>
      </p:pic>
      <p:pic>
        <p:nvPicPr>
          <p:cNvPr id="278" name="Google Shape;278;p34"/>
          <p:cNvPicPr preferRelativeResize="0"/>
          <p:nvPr/>
        </p:nvPicPr>
        <p:blipFill rotWithShape="1">
          <a:blip r:embed="rId4">
            <a:alphaModFix/>
          </a:blip>
          <a:srcRect l="25716" t="15310" r="25672" b="17805"/>
          <a:stretch/>
        </p:blipFill>
        <p:spPr>
          <a:xfrm>
            <a:off x="8388837" y="4366850"/>
            <a:ext cx="463960" cy="425585"/>
          </a:xfrm>
          <a:prstGeom prst="rect">
            <a:avLst/>
          </a:prstGeom>
          <a:noFill/>
          <a:ln>
            <a:noFill/>
          </a:ln>
        </p:spPr>
      </p:pic>
      <p:sp>
        <p:nvSpPr>
          <p:cNvPr id="279" name="Google Shape;279;p34"/>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What makes volcanoes hazardous? </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Analyse different volcanic types in order to assess which is most dangerous</a:t>
            </a:r>
            <a:endParaRPr sz="1200" b="1" i="0" u="none" strike="noStrike" cap="none">
              <a:solidFill>
                <a:srgbClr val="980000"/>
              </a:solidFill>
              <a:latin typeface="Delius"/>
              <a:ea typeface="Delius"/>
              <a:cs typeface="Delius"/>
              <a:sym typeface="Delius"/>
            </a:endParaRPr>
          </a:p>
        </p:txBody>
      </p:sp>
      <p:pic>
        <p:nvPicPr>
          <p:cNvPr id="280" name="Google Shape;280;p34"/>
          <p:cNvPicPr preferRelativeResize="0"/>
          <p:nvPr/>
        </p:nvPicPr>
        <p:blipFill rotWithShape="1">
          <a:blip r:embed="rId5">
            <a:alphaModFix/>
          </a:blip>
          <a:srcRect l="26264" t="15218" r="24368" b="18067"/>
          <a:stretch/>
        </p:blipFill>
        <p:spPr>
          <a:xfrm>
            <a:off x="8388827" y="2644495"/>
            <a:ext cx="463960" cy="41798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TotalTime>
  <Words>2092</Words>
  <Application>Microsoft Macintosh PowerPoint</Application>
  <PresentationFormat>On-screen Show (16:9)</PresentationFormat>
  <Paragraphs>208</Paragraphs>
  <Slides>20</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20</vt:i4>
      </vt:variant>
    </vt:vector>
  </HeadingPairs>
  <TitlesOfParts>
    <vt:vector size="32" baseType="lpstr">
      <vt:lpstr>Aladin</vt:lpstr>
      <vt:lpstr>Arial</vt:lpstr>
      <vt:lpstr>Luckiest Guy</vt:lpstr>
      <vt:lpstr>Patrick Hand</vt:lpstr>
      <vt:lpstr>Calibri</vt:lpstr>
      <vt:lpstr>Baumans</vt:lpstr>
      <vt:lpstr>Poppins</vt:lpstr>
      <vt:lpstr>Edu TAS Beginner</vt:lpstr>
      <vt:lpstr>Fugaz One</vt:lpstr>
      <vt:lpstr>Finger Paint</vt:lpstr>
      <vt:lpstr>Delius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6</cp:revision>
  <dcterms:modified xsi:type="dcterms:W3CDTF">2026-09-09T01:03:12Z</dcterms:modified>
</cp:coreProperties>
</file>