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kvp0iR5cGVGt2k0DBLa/lkYQ/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C8681A-2CED-43F6-B6CD-4D8888A242F4}">
  <a:tblStyle styleId="{E7C8681A-2CED-43F6-B6CD-4D8888A242F4}" styleName="Table_0">
    <a:wholeTbl>
      <a:tcTxStyle b="off" i="off"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3E9"/>
          </a:solidFill>
        </a:fill>
      </a:tcStyle>
    </a:wholeTbl>
    <a:band1H>
      <a:tcTxStyle b="off" i="off"/>
      <a:tcStyle>
        <a:fill>
          <a:solidFill>
            <a:srgbClr val="DEE7D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EE7D0"/>
          </a:solidFill>
        </a:fill>
      </a:tcStyle>
    </a:band1V>
    <a:band2V>
      <a:tcTxStyle b="off" i="off"/>
    </a:band2V>
    <a:la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5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588e1f9104622126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588e1f91046221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588e1f910462212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3" name="Google Shape;2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1603" y="496960"/>
            <a:ext cx="4051597" cy="303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26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1" name="Google Shape;41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27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4" name="Google Shape;4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5" name="Google Shape;4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9" name="Google Shape;4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" type="body"/>
          </p:nvPr>
        </p:nvSpPr>
        <p:spPr>
          <a:xfrm rot="5400000">
            <a:off x="2453427" y="-396027"/>
            <a:ext cx="4610057" cy="8602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3" name="Google Shape;7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4" name="Google Shape;7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3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0" type="dt"/>
          </p:nvPr>
        </p:nvSpPr>
        <p:spPr>
          <a:xfrm>
            <a:off x="395536" y="6377280"/>
            <a:ext cx="425881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79" name="Google Shape;7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0" name="Google Shape;8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b="0" i="0" sz="4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23"/>
          <p:cNvSpPr/>
          <p:nvPr/>
        </p:nvSpPr>
        <p:spPr>
          <a:xfrm>
            <a:off x="-322" y="0"/>
            <a:ext cx="323528" cy="6858000"/>
          </a:xfrm>
          <a:prstGeom prst="rect">
            <a:avLst/>
          </a:prstGeom>
          <a:solidFill>
            <a:srgbClr val="57B07F"/>
          </a:solidFill>
          <a:ln cap="flat" cmpd="sng" w="9525">
            <a:solidFill>
              <a:srgbClr val="57B0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" name="Google Shape;13;p23"/>
          <p:cNvSpPr txBox="1"/>
          <p:nvPr/>
        </p:nvSpPr>
        <p:spPr>
          <a:xfrm>
            <a:off x="6186810" y="6469477"/>
            <a:ext cx="28729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www.computerscienceuk.com</a:t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4" name="Google Shape;14;p23"/>
          <p:cNvGrpSpPr/>
          <p:nvPr/>
        </p:nvGrpSpPr>
        <p:grpSpPr>
          <a:xfrm>
            <a:off x="457034" y="6342862"/>
            <a:ext cx="2685559" cy="413372"/>
            <a:chOff x="467544" y="6363882"/>
            <a:chExt cx="2685559" cy="413372"/>
          </a:xfrm>
        </p:grpSpPr>
        <p:pic>
          <p:nvPicPr>
            <p:cNvPr id="15" name="Google Shape;15;p23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467544" y="6363882"/>
              <a:ext cx="551959" cy="4133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6;p23"/>
            <p:cNvSpPr txBox="1"/>
            <p:nvPr/>
          </p:nvSpPr>
          <p:spPr>
            <a:xfrm>
              <a:off x="1019503" y="6500255"/>
              <a:ext cx="213360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Computer Science UK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der.computerscienceuk.com/coder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685800" y="3978111"/>
            <a:ext cx="7772400" cy="89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1" i="0" lang="en-GB" sz="4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Scratch to Python</a:t>
            </a:r>
            <a:endParaRPr b="1" i="0" sz="4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What is this?</a:t>
            </a:r>
            <a:endParaRPr/>
          </a:p>
        </p:txBody>
      </p:sp>
      <p:pic>
        <p:nvPicPr>
          <p:cNvPr descr="http://www.zwodnik.com/media/cache/65/1e/651e453c7e74b73d68c0173bd06b8772.png"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 rot="-1058753">
            <a:off x="707262" y="1436470"/>
            <a:ext cx="1872208" cy="1872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Scripter - Z:\PYTHON\Hello World.py" id="92" name="Google Shape;92;p2"/>
          <p:cNvPicPr preferRelativeResize="0"/>
          <p:nvPr/>
        </p:nvPicPr>
        <p:blipFill rotWithShape="1">
          <a:blip r:embed="rId4">
            <a:alphaModFix/>
          </a:blip>
          <a:srcRect b="27950" l="22296" r="11215" t="35300"/>
          <a:stretch/>
        </p:blipFill>
        <p:spPr>
          <a:xfrm rot="568088">
            <a:off x="3156187" y="1857619"/>
            <a:ext cx="5716693" cy="238195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622685" y="4108758"/>
            <a:ext cx="5112568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do you notice?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questions do you have?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you link it to anything you have done before in Computer Science lessons?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do you think it is? (hypothesis)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67544" y="260648"/>
            <a:ext cx="8592168" cy="864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Lesson Objectives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268760"/>
            <a:ext cx="8602512" cy="31683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None/>
            </a:pPr>
            <a:r>
              <a:rPr b="1" lang="en-GB"/>
              <a:t>Lesson Objectives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Understand what Python  is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Understand how to program outputs in python,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Understand how to program inputs in python,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Understand the need to store inputs in python,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Understand how to store inputs into variables in python,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None/>
            </a:pPr>
            <a:r>
              <a:rPr b="1" lang="en-GB"/>
              <a:t>Lesson Outcomes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42857"/>
              <a:buChar char="•"/>
            </a:pPr>
            <a:r>
              <a:rPr lang="en-GB"/>
              <a:t>Carrying out a number of programming tasks.</a:t>
            </a:r>
            <a:endParaRPr/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539552" y="46531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{E7C8681A-2CED-43F6-B6CD-4D8888A242F4}</a:tableStyleId>
              </a:tblPr>
              <a:tblGrid>
                <a:gridCol w="1656175"/>
                <a:gridCol w="66967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cap="none" strike="noStrike"/>
                        <a:t>Literacy – Key Words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Input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Values which get sent from the user into the computer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Variable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The place where inputs get stored by the program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  <a:tr h="327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Output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600" u="none" cap="none" strike="noStrike"/>
                        <a:t>The values which get sent from the computer to the user</a:t>
                      </a:r>
                      <a:endParaRPr sz="16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588e1f9104622126_0_0"/>
          <p:cNvSpPr txBox="1"/>
          <p:nvPr>
            <p:ph type="title"/>
          </p:nvPr>
        </p:nvSpPr>
        <p:spPr>
          <a:xfrm>
            <a:off x="467544" y="260648"/>
            <a:ext cx="85923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588e1f9104622126_0_0"/>
          <p:cNvSpPr txBox="1"/>
          <p:nvPr>
            <p:ph idx="1" type="body"/>
          </p:nvPr>
        </p:nvSpPr>
        <p:spPr>
          <a:xfrm>
            <a:off x="457200" y="1600200"/>
            <a:ext cx="8602500" cy="461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GB"/>
              <a:t>How can we use Python programming to solve simple real-world problems and automate everyday tasks?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What is Python?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124744"/>
            <a:ext cx="8229600" cy="5151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027"/>
              <a:buChar char="•"/>
            </a:pPr>
            <a:r>
              <a:rPr lang="en-GB" sz="2800"/>
              <a:t>Python is a very powerful programming language used by many huge and important companies.</a:t>
            </a:r>
            <a:endParaRPr sz="28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95"/>
              <a:buChar char="–"/>
            </a:pPr>
            <a:r>
              <a:rPr lang="en-GB" sz="2400"/>
              <a:t>Google uses python for parts of some its apps and also python is used for some of the internal scripts for its search engine</a:t>
            </a:r>
            <a:endParaRPr sz="24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95"/>
              <a:buChar char="–"/>
            </a:pPr>
            <a:r>
              <a:rPr lang="en-GB" sz="2400"/>
              <a:t>NASA has used Python in a number of its application systems</a:t>
            </a:r>
            <a:endParaRPr sz="24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95"/>
              <a:buChar char="–"/>
            </a:pPr>
            <a:r>
              <a:rPr lang="en-GB" sz="2400"/>
              <a:t>Yahoo! Groups uses Python when it comes to maintaining its discussion groups</a:t>
            </a:r>
            <a:endParaRPr sz="2400"/>
          </a:p>
          <a:p>
            <a:pPr indent="-40640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95"/>
              <a:buChar char="–"/>
            </a:pPr>
            <a:r>
              <a:rPr lang="en-GB" sz="2400"/>
              <a:t>YouTube uses Python for some of its features too!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Learning to program like the professionals!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457200" y="1844824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/>
              <a:t>Programming in Python is just like programming in Scratch…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GB"/>
              <a:t>    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GB"/>
              <a:t>	...its just that you have to write the code yourself instead of using the coloured ‘building blocks’.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Hands up if you can tell me the following…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85524" y="2420888"/>
            <a:ext cx="8602512" cy="122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GB">
                <a:solidFill>
                  <a:srgbClr val="FF0000"/>
                </a:solidFill>
              </a:rPr>
              <a:t>“The Scratch Block needed to display some words on the screen”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Programming Outputs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467544" y="1568088"/>
            <a:ext cx="1144801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scratch:</a:t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9809" y="2589476"/>
            <a:ext cx="3667637" cy="160995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" name="Google Shape;133;p7"/>
          <p:cNvSpPr txBox="1"/>
          <p:nvPr/>
        </p:nvSpPr>
        <p:spPr>
          <a:xfrm>
            <a:off x="1791608" y="4705165"/>
            <a:ext cx="5944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Scratch, the ‘Say’ block would allow us to get our sprite to output a message onto the screen.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932808" y="3986074"/>
            <a:ext cx="250628" cy="719091"/>
          </a:xfrm>
          <a:custGeom>
            <a:rect b="b" l="l" r="r" t="t"/>
            <a:pathLst>
              <a:path extrusionOk="0" h="1429305" w="605735">
                <a:moveTo>
                  <a:pt x="328473" y="1429305"/>
                </a:moveTo>
                <a:cubicBezTo>
                  <a:pt x="489011" y="1211062"/>
                  <a:pt x="649549" y="992819"/>
                  <a:pt x="594804" y="754602"/>
                </a:cubicBezTo>
                <a:cubicBezTo>
                  <a:pt x="540059" y="516385"/>
                  <a:pt x="270029" y="258192"/>
                  <a:pt x="0" y="0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538249" y="1954771"/>
            <a:ext cx="801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5797118" y="2308194"/>
            <a:ext cx="284086" cy="13316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Hands up if you can tell me the following…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485524" y="2420888"/>
            <a:ext cx="8602512" cy="122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GB">
                <a:solidFill>
                  <a:srgbClr val="FF0000"/>
                </a:solidFill>
              </a:rPr>
              <a:t>“The Python Code needed to display some words on the screen”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…in Python we use </a:t>
            </a:r>
            <a:r>
              <a:rPr b="1" lang="en-GB">
                <a:solidFill>
                  <a:srgbClr val="FF0000"/>
                </a:solidFill>
              </a:rPr>
              <a:t>print()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755576" y="1729343"/>
            <a:ext cx="1148071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python:</a:t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8181" y="2547127"/>
            <a:ext cx="3667637" cy="100026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 txBox="1"/>
          <p:nvPr/>
        </p:nvSpPr>
        <p:spPr>
          <a:xfrm>
            <a:off x="1655245" y="4252404"/>
            <a:ext cx="621676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print() statement will output the contents of its brackets.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we wish it to print some text, the text must be surrounded by quotes!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3773010" y="2814221"/>
            <a:ext cx="605735" cy="1429305"/>
          </a:xfrm>
          <a:custGeom>
            <a:rect b="b" l="l" r="r" t="t"/>
            <a:pathLst>
              <a:path extrusionOk="0" h="1429305" w="605735">
                <a:moveTo>
                  <a:pt x="328473" y="1429305"/>
                </a:moveTo>
                <a:cubicBezTo>
                  <a:pt x="489011" y="1211062"/>
                  <a:pt x="649549" y="992819"/>
                  <a:pt x="594804" y="754602"/>
                </a:cubicBezTo>
                <a:cubicBezTo>
                  <a:pt x="540059" y="516385"/>
                  <a:pt x="270029" y="258192"/>
                  <a:pt x="0" y="0"/>
                </a:cubicBez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5538249" y="1954771"/>
            <a:ext cx="801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797118" y="2308194"/>
            <a:ext cx="284086" cy="13316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Lets Practice</a:t>
            </a:r>
            <a:endParaRPr/>
          </a:p>
        </p:txBody>
      </p:sp>
      <p:sp>
        <p:nvSpPr>
          <p:cNvPr id="159" name="Google Shape;159;p10"/>
          <p:cNvSpPr txBox="1"/>
          <p:nvPr>
            <p:ph idx="1" type="body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/>
              <a:t>On your whiteboard…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870024" y="3095164"/>
            <a:ext cx="77768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code to display your name on the screen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Lets Practice</a:t>
            </a:r>
            <a:endParaRPr/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457200" y="1600200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/>
              <a:t>On your whiteboard…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870024" y="3013501"/>
            <a:ext cx="77768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the code to display a message of your choice on the screen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467544" y="260648"/>
            <a:ext cx="8592168" cy="497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Quick Class Task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1021911" y="4302084"/>
            <a:ext cx="7748245" cy="1619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b="1" lang="en-GB" sz="2600"/>
              <a:t>TIPS: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600"/>
              <a:t>You will need to use the print() statement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600"/>
              <a:t>To run the program, click the rocket icon!</a:t>
            </a:r>
            <a:endParaRPr sz="2600"/>
          </a:p>
        </p:txBody>
      </p:sp>
      <p:sp>
        <p:nvSpPr>
          <p:cNvPr id="174" name="Google Shape;174;p12"/>
          <p:cNvSpPr/>
          <p:nvPr/>
        </p:nvSpPr>
        <p:spPr>
          <a:xfrm>
            <a:off x="594804" y="1006484"/>
            <a:ext cx="8175352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AutoNum type="arabicPeriod"/>
            </a:pPr>
            <a:r>
              <a:rPr b="0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Visit </a:t>
            </a:r>
            <a:r>
              <a:rPr b="0" i="0" lang="en-GB" sz="24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coder.computerscienceuk.com/coder/</a:t>
            </a:r>
            <a:endParaRPr b="0" i="0" sz="2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AutoNum type="arabicPeriod"/>
            </a:pPr>
            <a:r>
              <a:rPr b="0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the first program ever made…get your program to display the text </a:t>
            </a:r>
            <a:r>
              <a:rPr b="1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HELLO WORLD,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when the program is run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entury Gothic"/>
              <a:buAutoNum type="arabicPeriod"/>
            </a:pPr>
            <a:r>
              <a:rPr b="0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you get this working, make it display a message of your choice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Can you tell me the following…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467544" y="2060848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entury Gothic"/>
              <a:buAutoNum type="arabicPeriod"/>
            </a:pPr>
            <a:r>
              <a:rPr lang="en-GB"/>
              <a:t>The python code needed to display a word on the screen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entury Gothic"/>
              <a:buAutoNum type="arabicPeriod"/>
            </a:pPr>
            <a:r>
              <a:rPr lang="en-GB"/>
              <a:t>The python code needed to ask the user for an input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Century Gothic"/>
              <a:buAutoNum type="arabicPeriod"/>
            </a:pPr>
            <a:r>
              <a:rPr lang="en-GB"/>
              <a:t>The way python can store user inputs</a:t>
            </a:r>
            <a:endParaRPr/>
          </a:p>
        </p:txBody>
      </p:sp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8122" y="2279565"/>
            <a:ext cx="336672" cy="33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884" y="3270767"/>
            <a:ext cx="318910" cy="352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7003" y="4312253"/>
            <a:ext cx="318910" cy="3525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 txBox="1"/>
          <p:nvPr/>
        </p:nvSpPr>
        <p:spPr>
          <a:xfrm>
            <a:off x="3046541" y="5601809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…lets look at inputs and storage then!!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>
            <p:ph type="title"/>
          </p:nvPr>
        </p:nvSpPr>
        <p:spPr>
          <a:xfrm>
            <a:off x="467544" y="388260"/>
            <a:ext cx="8592168" cy="699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sz="3600"/>
              <a:t>Programming Inputs &amp; Storing Inputs in SCRATCH</a:t>
            </a:r>
            <a:endParaRPr sz="3600"/>
          </a:p>
        </p:txBody>
      </p:sp>
      <p:sp>
        <p:nvSpPr>
          <p:cNvPr id="190" name="Google Shape;190;p14"/>
          <p:cNvSpPr txBox="1"/>
          <p:nvPr/>
        </p:nvSpPr>
        <p:spPr>
          <a:xfrm>
            <a:off x="395536" y="1268760"/>
            <a:ext cx="1144801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scratch:</a:t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1" name="Google Shape;1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865" y="1712145"/>
            <a:ext cx="6782747" cy="225774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297" y="4124133"/>
            <a:ext cx="4239217" cy="193384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14"/>
          <p:cNvSpPr/>
          <p:nvPr/>
        </p:nvSpPr>
        <p:spPr>
          <a:xfrm rot="2151247">
            <a:off x="4798439" y="3717857"/>
            <a:ext cx="504056" cy="50405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761022" y="4088607"/>
            <a:ext cx="381097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Scratch, the ‘Ask’ block would allow our sprite to ask the user to enter an input.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‘answer’ variable would store the input.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we could use the answer variable with a ‘Say’ block to output the inputted value.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 txBox="1"/>
          <p:nvPr/>
        </p:nvSpPr>
        <p:spPr>
          <a:xfrm>
            <a:off x="502050" y="1541369"/>
            <a:ext cx="49327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python, instead of ‘ask’, we use the input statement: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3856969" y="2060848"/>
            <a:ext cx="181331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input()</a:t>
            </a:r>
            <a:endParaRPr b="1" i="0" sz="4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1076085" y="3071991"/>
            <a:ext cx="70727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input(</a:t>
            </a:r>
            <a:r>
              <a:rPr b="1" i="0" lang="en-GB" sz="4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b="1" i="0" lang="en-GB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your name?</a:t>
            </a:r>
            <a:r>
              <a:rPr b="1" i="0" lang="en-GB" sz="4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r>
              <a:rPr b="1" i="0" lang="en-GB" sz="4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="1" i="0" sz="4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755576" y="4149080"/>
            <a:ext cx="7920880" cy="738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But we also need to store what the user types in, otherwise the input will be lost.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Scratch, what did we use to store an input?</a:t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3" name="Google Shape;203;p15"/>
          <p:cNvCxnSpPr/>
          <p:nvPr/>
        </p:nvCxnSpPr>
        <p:spPr>
          <a:xfrm>
            <a:off x="4917245" y="5002722"/>
            <a:ext cx="1439977" cy="70562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</p:cxnSp>
      <p:pic>
        <p:nvPicPr>
          <p:cNvPr id="204" name="Google Shape;204;p15"/>
          <p:cNvPicPr preferRelativeResize="0"/>
          <p:nvPr/>
        </p:nvPicPr>
        <p:blipFill rotWithShape="1">
          <a:blip r:embed="rId3">
            <a:alphaModFix/>
          </a:blip>
          <a:srcRect b="18419" l="927" r="69425" t="14082"/>
          <a:stretch/>
        </p:blipFill>
        <p:spPr>
          <a:xfrm>
            <a:off x="6507332" y="4869786"/>
            <a:ext cx="2019014" cy="153904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5"/>
          <p:cNvSpPr txBox="1"/>
          <p:nvPr/>
        </p:nvSpPr>
        <p:spPr>
          <a:xfrm>
            <a:off x="467544" y="388260"/>
            <a:ext cx="8592168" cy="699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Programming Inputs &amp; Storing Inputs in SCRATCH</a:t>
            </a:r>
            <a:endParaRPr b="0" i="0" sz="3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/>
          <p:nvPr>
            <p:ph type="title"/>
          </p:nvPr>
        </p:nvSpPr>
        <p:spPr>
          <a:xfrm>
            <a:off x="366956" y="327238"/>
            <a:ext cx="8602512" cy="800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sz="3600"/>
              <a:t>How does a computer store inputs?</a:t>
            </a:r>
            <a:endParaRPr sz="3600"/>
          </a:p>
        </p:txBody>
      </p:sp>
      <p:sp>
        <p:nvSpPr>
          <p:cNvPr id="211" name="Google Shape;211;p16"/>
          <p:cNvSpPr txBox="1"/>
          <p:nvPr>
            <p:ph idx="1" type="body"/>
          </p:nvPr>
        </p:nvSpPr>
        <p:spPr>
          <a:xfrm>
            <a:off x="439444" y="1342747"/>
            <a:ext cx="8602512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800"/>
              <a:t>In programming, inputs and data are stored in something called a variable.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800"/>
              <a:t>It can simply be thought of as a storage box.</a:t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800"/>
              <a:t>The box may be given a name, and it may hold various different things.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16"/>
          <p:cNvSpPr txBox="1"/>
          <p:nvPr/>
        </p:nvSpPr>
        <p:spPr>
          <a:xfrm>
            <a:off x="1528776" y="5083263"/>
            <a:ext cx="24304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Variable called ‘ANSWER’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16"/>
          <p:cNvSpPr txBox="1"/>
          <p:nvPr/>
        </p:nvSpPr>
        <p:spPr>
          <a:xfrm>
            <a:off x="5344270" y="5029846"/>
            <a:ext cx="2895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is anything we type in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4" name="Google Shape;2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2281" y="4365324"/>
            <a:ext cx="2999492" cy="1329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467544" y="260648"/>
            <a:ext cx="8592168" cy="750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000"/>
              <a:t>Storing Inputs in PYTHON</a:t>
            </a:r>
            <a:endParaRPr sz="4000"/>
          </a:p>
        </p:txBody>
      </p:sp>
      <p:sp>
        <p:nvSpPr>
          <p:cNvPr id="220" name="Google Shape;220;p17"/>
          <p:cNvSpPr txBox="1"/>
          <p:nvPr/>
        </p:nvSpPr>
        <p:spPr>
          <a:xfrm>
            <a:off x="1520174" y="1403648"/>
            <a:ext cx="643317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input(</a:t>
            </a: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your name?</a:t>
            </a: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="1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488607" y="2206603"/>
            <a:ext cx="8531537" cy="118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with the above is that whatever the user types in, it doesn’t actually go anywhere</a:t>
            </a:r>
            <a:endParaRPr b="0" i="0" sz="11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need to STORE IT…</a:t>
            </a: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577231" y="3429000"/>
            <a:ext cx="85667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answer</a:t>
            </a: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= input(</a:t>
            </a: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your name?</a:t>
            </a:r>
            <a:r>
              <a:rPr b="1" i="0" lang="en-GB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</a:t>
            </a:r>
            <a:r>
              <a:rPr b="1" i="0" lang="en-GB" sz="3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="1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488607" y="5596764"/>
            <a:ext cx="8531537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Now, whatever’s typed in is now stored in a variable called answer.</a:t>
            </a:r>
            <a:endParaRPr b="0" i="0" sz="11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3358817" y="4582477"/>
            <a:ext cx="4594528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the user types in (e.g. their name)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25" name="Google Shape;225;p17"/>
          <p:cNvGrpSpPr/>
          <p:nvPr/>
        </p:nvGrpSpPr>
        <p:grpSpPr>
          <a:xfrm>
            <a:off x="1679232" y="4287950"/>
            <a:ext cx="1505504" cy="1096195"/>
            <a:chOff x="1679232" y="4287950"/>
            <a:chExt cx="1505504" cy="1096195"/>
          </a:xfrm>
        </p:grpSpPr>
        <p:pic>
          <p:nvPicPr>
            <p:cNvPr id="226" name="Google Shape;226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79232" y="4287950"/>
              <a:ext cx="1505504" cy="10961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7"/>
            <p:cNvSpPr txBox="1"/>
            <p:nvPr/>
          </p:nvSpPr>
          <p:spPr>
            <a:xfrm>
              <a:off x="1965162" y="4781885"/>
              <a:ext cx="1127232" cy="30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ANSWER</a:t>
              </a:r>
              <a:endParaRPr b="0" i="0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28" name="Google Shape;228;p17"/>
          <p:cNvSpPr/>
          <p:nvPr/>
        </p:nvSpPr>
        <p:spPr>
          <a:xfrm flipH="1">
            <a:off x="2212079" y="4151908"/>
            <a:ext cx="1401831" cy="853163"/>
          </a:xfrm>
          <a:custGeom>
            <a:rect b="b" l="l" r="r" t="t"/>
            <a:pathLst>
              <a:path extrusionOk="0" h="120000" w="120000">
                <a:moveTo>
                  <a:pt x="9138" y="60000"/>
                </a:moveTo>
                <a:cubicBezTo>
                  <a:pt x="9138" y="42731"/>
                  <a:pt x="20315" y="26987"/>
                  <a:pt x="37900" y="19483"/>
                </a:cubicBezTo>
                <a:cubicBezTo>
                  <a:pt x="55485" y="11979"/>
                  <a:pt x="76374" y="14042"/>
                  <a:pt x="91656" y="24790"/>
                </a:cubicBezTo>
                <a:lnTo>
                  <a:pt x="99204" y="21048"/>
                </a:lnTo>
                <a:lnTo>
                  <a:pt x="101948" y="39207"/>
                </a:lnTo>
                <a:lnTo>
                  <a:pt x="77332" y="31890"/>
                </a:lnTo>
                <a:lnTo>
                  <a:pt x="84634" y="28271"/>
                </a:lnTo>
                <a:lnTo>
                  <a:pt x="84634" y="28271"/>
                </a:lnTo>
                <a:cubicBezTo>
                  <a:pt x="70368" y="21012"/>
                  <a:pt x="52358" y="20602"/>
                  <a:pt x="37610" y="27199"/>
                </a:cubicBezTo>
                <a:cubicBezTo>
                  <a:pt x="22863" y="33796"/>
                  <a:pt x="13708" y="46360"/>
                  <a:pt x="13708" y="60000"/>
                </a:cubicBez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Programming Inputs &amp; Storing Inputs in PYTHON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502050" y="1541369"/>
            <a:ext cx="1148071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python:</a:t>
            </a:r>
            <a:endParaRPr b="1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5" name="Google Shape;2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5876" y="2943340"/>
            <a:ext cx="3284518" cy="125584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6" name="Google Shape;2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4601" y="4584614"/>
            <a:ext cx="4191585" cy="762106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6224" y="1849105"/>
            <a:ext cx="4201111" cy="724001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2015" y="2526555"/>
            <a:ext cx="487722" cy="46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1405" y="4090875"/>
            <a:ext cx="487722" cy="46333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 txBox="1"/>
          <p:nvPr/>
        </p:nvSpPr>
        <p:spPr>
          <a:xfrm>
            <a:off x="559152" y="4241843"/>
            <a:ext cx="401284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Python, the ‘input’ statement would allow our program to ask the user to enter an input.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‘answer’ variable would store the input.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we could use the answer variable with a ‘print’ statement to output the inputted value.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7704400" y="3994717"/>
            <a:ext cx="80182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7963269" y="4348140"/>
            <a:ext cx="284086" cy="13316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467544" y="260648"/>
            <a:ext cx="8592168" cy="73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sz="3600"/>
              <a:t>Programming Inputs &amp; Storing Inputs</a:t>
            </a:r>
            <a:endParaRPr sz="3600"/>
          </a:p>
        </p:txBody>
      </p:sp>
      <p:sp>
        <p:nvSpPr>
          <p:cNvPr id="248" name="Google Shape;248;p19"/>
          <p:cNvSpPr txBox="1"/>
          <p:nvPr/>
        </p:nvSpPr>
        <p:spPr>
          <a:xfrm>
            <a:off x="560388" y="3749972"/>
            <a:ext cx="8499324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sng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Summary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Answer is the variable (storage box) where the user’s input will be stored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Input(“What is your name?”) displays the “what is your name?” message onto the screen and waits for the users input.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Once the user has typed in their name the input is stored in “Answer”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print(answer) simply displays the contents of variable “Answer” onto the screen</a:t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421" y="1368677"/>
            <a:ext cx="4201111" cy="724001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0" name="Google Shape;2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8099" y="1916504"/>
            <a:ext cx="3284518" cy="125584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1" name="Google Shape;2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0377" y="1861010"/>
            <a:ext cx="487722" cy="46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3628" y="3137251"/>
            <a:ext cx="4191585" cy="762106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3" name="Google Shape;2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1913" y="2782746"/>
            <a:ext cx="487722" cy="46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/>
          </a:blip>
          <a:srcRect b="60773" l="0" r="0" t="0"/>
          <a:stretch/>
        </p:blipFill>
        <p:spPr>
          <a:xfrm>
            <a:off x="5220072" y="1834898"/>
            <a:ext cx="3667637" cy="39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>
            <p:ph type="title"/>
          </p:nvPr>
        </p:nvSpPr>
        <p:spPr>
          <a:xfrm>
            <a:off x="467544" y="260648"/>
            <a:ext cx="859216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GB" sz="3600"/>
              <a:t>Can you tell me the following now?</a:t>
            </a:r>
            <a:endParaRPr sz="3600"/>
          </a:p>
        </p:txBody>
      </p:sp>
      <p:sp>
        <p:nvSpPr>
          <p:cNvPr id="260" name="Google Shape;260;p20"/>
          <p:cNvSpPr txBox="1"/>
          <p:nvPr>
            <p:ph idx="1" type="body"/>
          </p:nvPr>
        </p:nvSpPr>
        <p:spPr>
          <a:xfrm>
            <a:off x="467544" y="1522778"/>
            <a:ext cx="4673461" cy="461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24"/>
              <a:buFont typeface="Century Gothic"/>
              <a:buAutoNum type="arabicPeriod"/>
            </a:pPr>
            <a:r>
              <a:rPr lang="en-GB" sz="2400"/>
              <a:t>The python code needed to display a word on the screen?</a:t>
            </a:r>
            <a:endParaRPr/>
          </a:p>
          <a:p>
            <a:pPr indent="-335056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24"/>
              <a:buFont typeface="Century Gothic"/>
              <a:buNone/>
            </a:pPr>
            <a:r>
              <a:t/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24"/>
              <a:buFont typeface="Century Gothic"/>
              <a:buAutoNum type="arabicPeriod"/>
            </a:pPr>
            <a:r>
              <a:rPr lang="en-GB" sz="2400"/>
              <a:t>The python code needed to ask the user for an input?</a:t>
            </a:r>
            <a:endParaRPr/>
          </a:p>
          <a:p>
            <a:pPr indent="-335056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24"/>
              <a:buFont typeface="Century Gothic"/>
              <a:buNone/>
            </a:pPr>
            <a:r>
              <a:t/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24"/>
              <a:buFont typeface="Century Gothic"/>
              <a:buAutoNum type="arabicPeriod"/>
            </a:pPr>
            <a:r>
              <a:rPr lang="en-GB" sz="2400"/>
              <a:t>The way python can store user inputs?</a:t>
            </a:r>
            <a:endParaRPr sz="2400"/>
          </a:p>
        </p:txBody>
      </p:sp>
      <p:sp>
        <p:nvSpPr>
          <p:cNvPr id="261" name="Google Shape;261;p20"/>
          <p:cNvSpPr/>
          <p:nvPr/>
        </p:nvSpPr>
        <p:spPr>
          <a:xfrm>
            <a:off x="5141005" y="1734585"/>
            <a:ext cx="1484672" cy="492686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220072" y="5341941"/>
            <a:ext cx="1080120" cy="7200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0"/>
          <p:cNvPicPr preferRelativeResize="0"/>
          <p:nvPr/>
        </p:nvPicPr>
        <p:blipFill rotWithShape="1">
          <a:blip r:embed="rId4">
            <a:alphaModFix/>
          </a:blip>
          <a:srcRect b="65818" l="19773" r="30520" t="2154"/>
          <a:stretch/>
        </p:blipFill>
        <p:spPr>
          <a:xfrm>
            <a:off x="5824114" y="3604176"/>
            <a:ext cx="2653157" cy="29460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4" name="Google Shape;264;p20"/>
          <p:cNvSpPr/>
          <p:nvPr/>
        </p:nvSpPr>
        <p:spPr>
          <a:xfrm>
            <a:off x="5624249" y="3544083"/>
            <a:ext cx="861802" cy="41479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20"/>
          <p:cNvPicPr preferRelativeResize="0"/>
          <p:nvPr/>
        </p:nvPicPr>
        <p:blipFill rotWithShape="1">
          <a:blip r:embed="rId4">
            <a:alphaModFix/>
          </a:blip>
          <a:srcRect b="65818" l="4394" r="30520" t="2154"/>
          <a:stretch/>
        </p:blipFill>
        <p:spPr>
          <a:xfrm>
            <a:off x="5413677" y="5194638"/>
            <a:ext cx="3474032" cy="29460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6" name="Google Shape;266;p20"/>
          <p:cNvSpPr/>
          <p:nvPr/>
        </p:nvSpPr>
        <p:spPr>
          <a:xfrm>
            <a:off x="5329231" y="5128383"/>
            <a:ext cx="861802" cy="414790"/>
          </a:xfrm>
          <a:prstGeom prst="ellipse">
            <a:avLst/>
          </a:prstGeom>
          <a:noFill/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7602" y="2475842"/>
            <a:ext cx="336672" cy="33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7602" y="4137337"/>
            <a:ext cx="336672" cy="334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4219" y="5701981"/>
            <a:ext cx="336672" cy="334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type="title"/>
          </p:nvPr>
        </p:nvSpPr>
        <p:spPr>
          <a:xfrm>
            <a:off x="467544" y="260648"/>
            <a:ext cx="8592168" cy="748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2800"/>
              <a:t>What is the Major Difference between a print and an input statement?</a:t>
            </a:r>
            <a:endParaRPr sz="2800"/>
          </a:p>
        </p:txBody>
      </p:sp>
      <p:sp>
        <p:nvSpPr>
          <p:cNvPr id="275" name="Google Shape;275;p21"/>
          <p:cNvSpPr txBox="1"/>
          <p:nvPr/>
        </p:nvSpPr>
        <p:spPr>
          <a:xfrm>
            <a:off x="5279984" y="1469729"/>
            <a:ext cx="3425095" cy="954067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</a:t>
            </a:r>
            <a:r>
              <a:rPr b="1" i="0" lang="en-GB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Just displays a message!</a:t>
            </a:r>
            <a:endParaRPr b="1" i="0" sz="2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356840" y="2994503"/>
            <a:ext cx="3558917" cy="138499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r>
              <a:rPr b="1" i="0" lang="en-GB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Displays a message and waits for a user input!</a:t>
            </a:r>
            <a:endParaRPr b="1" i="0" sz="2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613121" y="4810429"/>
            <a:ext cx="3046358" cy="73862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So, it needs to be assigned to a variable if we want to store what the user types in… </a:t>
            </a:r>
            <a:endParaRPr b="1" i="0" sz="1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6946506" y="4441913"/>
            <a:ext cx="379587" cy="30610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 b="60773" l="0" r="0" t="0"/>
          <a:stretch/>
        </p:blipFill>
        <p:spPr>
          <a:xfrm>
            <a:off x="1206204" y="1789975"/>
            <a:ext cx="3667637" cy="39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 rotWithShape="1">
          <a:blip r:embed="rId4">
            <a:alphaModFix/>
          </a:blip>
          <a:srcRect b="65818" l="19773" r="30520" t="2154"/>
          <a:stretch/>
        </p:blipFill>
        <p:spPr>
          <a:xfrm>
            <a:off x="1779144" y="3675423"/>
            <a:ext cx="2653157" cy="294605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1" name="Google Shape;2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931" y="4810429"/>
            <a:ext cx="4191585" cy="762106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82" name="Google Shape;282;p21"/>
          <p:cNvCxnSpPr/>
          <p:nvPr/>
        </p:nvCxnSpPr>
        <p:spPr>
          <a:xfrm>
            <a:off x="855407" y="2725445"/>
            <a:ext cx="8036868" cy="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lg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/>
          <p:nvPr>
            <p:ph type="title"/>
          </p:nvPr>
        </p:nvSpPr>
        <p:spPr>
          <a:xfrm>
            <a:off x="467544" y="260648"/>
            <a:ext cx="8592168" cy="884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/>
              <a:t>Lesson Activity</a:t>
            </a:r>
            <a:endParaRPr/>
          </a:p>
        </p:txBody>
      </p:sp>
      <p:sp>
        <p:nvSpPr>
          <p:cNvPr id="288" name="Google Shape;288;p22"/>
          <p:cNvSpPr txBox="1"/>
          <p:nvPr>
            <p:ph idx="1" type="body"/>
          </p:nvPr>
        </p:nvSpPr>
        <p:spPr>
          <a:xfrm>
            <a:off x="457200" y="1420427"/>
            <a:ext cx="8602512" cy="4789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400"/>
              <a:t>Read the information in the lesson’s workbook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2400"/>
          </a:p>
          <a:p>
            <a:pPr indent="-4318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GB" sz="2400"/>
              <a:t>Complete the PRIMM tasks provided.</a:t>
            </a:r>
            <a:endParaRPr/>
          </a:p>
        </p:txBody>
      </p:sp>
      <p:pic>
        <p:nvPicPr>
          <p:cNvPr id="289" name="Google Shape;2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39564">
            <a:off x="6123373" y="3497802"/>
            <a:ext cx="2014186" cy="2014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