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6858000" cy="9144000" type="screen4x3"/>
  <p:notesSz cx="6858000" cy="9144000"/>
  <p:embeddedFontLst>
    <p:embeddedFont>
      <p:font typeface="Poppins" pitchFamily="2" charset="77"/>
      <p:regular r:id="rId7"/>
      <p:bold r:id="rId8"/>
      <p:italic r:id="rId9"/>
      <p:boldItalic r:id="rId10"/>
    </p:embeddedFont>
    <p:embeddedFont>
      <p:font typeface="Ultra" panose="02060505000000020004" pitchFamily="18" charset="0"/>
      <p:regular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747775"/>
          </p15:clr>
        </p15:guide>
        <p15:guide id="2" pos="21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51"/>
    <p:restoredTop sz="94675"/>
  </p:normalViewPr>
  <p:slideViewPr>
    <p:cSldViewPr snapToGrid="0">
      <p:cViewPr varScale="1">
        <p:scale>
          <a:sx n="89" d="100"/>
          <a:sy n="89" d="100"/>
        </p:scale>
        <p:origin x="1200" y="17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43447" y="685800"/>
            <a:ext cx="2571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447" y="685800"/>
            <a:ext cx="2571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2b0e108e8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447" y="685800"/>
            <a:ext cx="2571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2b0e108e8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33781" y="1323689"/>
            <a:ext cx="6390300" cy="36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33775" y="5038444"/>
            <a:ext cx="6390300" cy="14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33775" y="3823733"/>
            <a:ext cx="6390300" cy="14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33775" y="2048844"/>
            <a:ext cx="6390300" cy="60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33775" y="2048844"/>
            <a:ext cx="3000000" cy="60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624300" y="2048844"/>
            <a:ext cx="3000000" cy="60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33775" y="987733"/>
            <a:ext cx="2106000" cy="13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33775" y="2470400"/>
            <a:ext cx="2106000" cy="56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367688" y="800267"/>
            <a:ext cx="4776000" cy="727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429000" y="-222"/>
            <a:ext cx="3429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99125" y="2192311"/>
            <a:ext cx="3033900" cy="26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99125" y="4983244"/>
            <a:ext cx="3033900" cy="21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3704625" y="1287244"/>
            <a:ext cx="2877900" cy="656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33775" y="7521022"/>
            <a:ext cx="4499100" cy="10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33775" y="1966444"/>
            <a:ext cx="6390300" cy="34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33775" y="5603956"/>
            <a:ext cx="6390300" cy="23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33775" y="2048844"/>
            <a:ext cx="6390300" cy="60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0400" y="0"/>
            <a:ext cx="665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Guided Reading - The Importance of European Empires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90400" y="400200"/>
            <a:ext cx="5490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Before World War I, European countries thought it was very important to build big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empires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Leaders believed that to be seen as powerful, a country needed to control land overseas.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Empires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showed national pride, but they were also useful for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trade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money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 bigger an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empire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was, the more respect a country gained.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0400" y="482850"/>
            <a:ext cx="1160100" cy="116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250500" y="1725600"/>
            <a:ext cx="5490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By the 1800s, Britain and France already had huge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empires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Britain’s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empire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was the largest, covering about a quarter of the world. It included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Canada, India, South Africa, Egypt, Australia, and New Zealand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Some of these places were directly ruled by Britain, while others were strongly influenced by it.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0" y="1755000"/>
            <a:ext cx="1160100" cy="5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00" y="2335050"/>
            <a:ext cx="1160100" cy="5800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90400" y="2944500"/>
            <a:ext cx="5490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Italy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Germany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became united countries in the 1870s, they also wanted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empires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But by then, most valuable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territory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had already been taken, especially by Britain. Still, Germany and Italy tried to grow their power, leading to competition for the remaining land, especially in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Africa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which had many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natural resources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0400" y="2944500"/>
            <a:ext cx="1160100" cy="5800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1250500" y="4163400"/>
            <a:ext cx="54900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race for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empire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led to an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arms race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as countries built bigger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armies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navies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protect their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colonies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Between 1870 and 1914, European countries spent much more money on their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militaries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For example, Germany took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colonies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Africa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like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Namibia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These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colonies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were not very valuable, but they showed that Germany could challenge Britain and France.</a:t>
            </a:r>
            <a:endParaRPr/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400" y="4267275"/>
            <a:ext cx="1160100" cy="60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400" y="4876725"/>
            <a:ext cx="1160100" cy="609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13"/>
          <p:cNvGrpSpPr/>
          <p:nvPr/>
        </p:nvGrpSpPr>
        <p:grpSpPr>
          <a:xfrm>
            <a:off x="5580400" y="3524575"/>
            <a:ext cx="1160076" cy="580063"/>
            <a:chOff x="152400" y="5747400"/>
            <a:chExt cx="2628769" cy="3244200"/>
          </a:xfrm>
        </p:grpSpPr>
        <p:pic>
          <p:nvPicPr>
            <p:cNvPr id="66" name="Google Shape;66;p13" title="Screenshot 2025-08-25 at 3.16.03 PM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52400" y="5747400"/>
              <a:ext cx="2628769" cy="324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3" title="Screenshot 2025-08-25 at 3.16.58 PM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44797" y="6808909"/>
              <a:ext cx="388625" cy="6433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13"/>
            <p:cNvSpPr txBox="1"/>
            <p:nvPr/>
          </p:nvSpPr>
          <p:spPr>
            <a:xfrm>
              <a:off x="1133422" y="6813982"/>
              <a:ext cx="1223400" cy="74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9500" tIns="29500" rIns="29500" bIns="295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Ultra"/>
                  <a:ea typeface="Ultra"/>
                  <a:cs typeface="Ultra"/>
                  <a:sym typeface="Ultra"/>
                </a:rPr>
                <a:t>Germany</a:t>
              </a:r>
              <a:endParaRPr sz="600">
                <a:solidFill>
                  <a:schemeClr val="dk1"/>
                </a:solidFill>
                <a:latin typeface="Ultra"/>
                <a:ea typeface="Ultra"/>
                <a:cs typeface="Ultra"/>
                <a:sym typeface="Ultra"/>
              </a:endParaRPr>
            </a:p>
          </p:txBody>
        </p:sp>
      </p:grpSp>
      <p:sp>
        <p:nvSpPr>
          <p:cNvPr id="69" name="Google Shape;69;p13"/>
          <p:cNvSpPr txBox="1"/>
          <p:nvPr/>
        </p:nvSpPr>
        <p:spPr>
          <a:xfrm>
            <a:off x="90400" y="5595000"/>
            <a:ext cx="54900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Competition for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colonies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also caused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arguments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between countries. For example, Germany and France clashed over control of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Morocco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1906 and 1911. These disputes did not cause war, but they created anger and distrust, making future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conflict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more likely.</a:t>
            </a:r>
            <a:endParaRPr/>
          </a:p>
        </p:txBody>
      </p:sp>
      <p:pic>
        <p:nvPicPr>
          <p:cNvPr id="70" name="Google Shape;70;p13" title="Screenshot 2025-08-25 at 3.21.49 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80400" y="5595000"/>
            <a:ext cx="1160073" cy="47897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90400" y="6710325"/>
            <a:ext cx="6650100" cy="18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📘 Glossary</a:t>
            </a:r>
            <a:endParaRPr sz="12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Empire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A group of countries or areas ruled by one powerful country.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Colony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A land controlled or settled by another country.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Territory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Land that belongs to or is controlled by a country.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Arms race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When countries compete to build the biggest armies and navies.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Military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The armed forces of a country (army, navy, etc.).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Natural resources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Useful materials from the earth, like coal, oil, or gold.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Conflict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A serious disagreement or fight between countries.</a:t>
            </a:r>
            <a:endParaRPr/>
          </a:p>
        </p:txBody>
      </p:sp>
      <p:pic>
        <p:nvPicPr>
          <p:cNvPr id="72" name="Google Shape;72;p13" title="Screenshot 2025-08-25 at 3.23.01 PM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580403" y="6122525"/>
            <a:ext cx="1160073" cy="47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78826" cy="883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EA10EA-DBE1-D686-C458-78C27CEBF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62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8E3B75-7893-E509-8763-803481635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50872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Macintosh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Ultra</vt:lpstr>
      <vt:lpstr>Poppins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Douglas Lawrence</cp:lastModifiedBy>
  <cp:revision>1</cp:revision>
  <dcterms:modified xsi:type="dcterms:W3CDTF">2026-10-19T22:54:39Z</dcterms:modified>
</cp:coreProperties>
</file>