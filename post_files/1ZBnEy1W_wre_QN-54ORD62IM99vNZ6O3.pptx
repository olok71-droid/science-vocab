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Lst>
  <p:sldSz cx="9144000" cy="5143500" type="screen16x9"/>
  <p:notesSz cx="6858000" cy="9144000"/>
  <p:embeddedFontLst>
    <p:embeddedFont>
      <p:font typeface="Baumans" panose="02000506020000020003" pitchFamily="2" charset="0"/>
      <p:regular r:id="rId23"/>
    </p:embeddedFont>
    <p:embeddedFont>
      <p:font typeface="Caveat" pitchFamily="2" charset="0"/>
      <p:regular r:id="rId24"/>
      <p:bold r:id="rId25"/>
    </p:embeddedFont>
    <p:embeddedFont>
      <p:font typeface="Delius" panose="02000603000000000000" pitchFamily="2" charset="0"/>
      <p:regular r:id="rId26"/>
    </p:embeddedFont>
    <p:embeddedFont>
      <p:font typeface="Edu TAS Beginner" pitchFamily="2" charset="0"/>
      <p:regular r:id="rId27"/>
      <p:bold r:id="rId28"/>
    </p:embeddedFont>
    <p:embeddedFont>
      <p:font typeface="Finger Paint" panose="020B0506040000020004" pitchFamily="34" charset="0"/>
      <p:regular r:id="rId29"/>
    </p:embeddedFont>
    <p:embeddedFont>
      <p:font typeface="Luckiest Guy" panose="02000506000000020004" pitchFamily="2" charset="0"/>
      <p:regular r:id="rId30"/>
    </p:embeddedFont>
    <p:embeddedFont>
      <p:font typeface="Patrick Hand" pitchFamily="2" charset="77"/>
      <p:regular r:id="rId31"/>
    </p:embeddedFont>
    <p:embeddedFont>
      <p:font typeface="Patrick Hand SC" pitchFamily="2" charset="77"/>
      <p:regular r:id="rId32"/>
    </p:embeddedFont>
    <p:embeddedFont>
      <p:font typeface="Poppins" pitchFamily="2" charset="77"/>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B33A70A-25A6-4CE5-8009-8C2CF07643E9}">
  <a:tblStyle styleId="{4B33A70A-25A6-4CE5-8009-8C2CF07643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DBBC923-42E3-4A34-AFD6-70A1F5DBAA3B}"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7098"/>
    <p:restoredTop sz="91563"/>
  </p:normalViewPr>
  <p:slideViewPr>
    <p:cSldViewPr snapToGrid="0">
      <p:cViewPr>
        <p:scale>
          <a:sx n="93" d="100"/>
          <a:sy n="93" d="100"/>
        </p:scale>
        <p:origin x="336" y="1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h37985611de093ae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h37985611de093ae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h37985611de093ae9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h37985611de093ae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h37985611de093ae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h37985611de093ae9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h37985611de093ae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h37985611de093ae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37985611de093ae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h37985611de093ae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h37985611de093ae9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h37985611de093ae9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https://www.youtube.com/watch?v=yx2YXPvh3VY&amp;t=112s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h37985611de093ae9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h37985611de093ae9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h37985611de093ae9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h37985611de093ae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h37985611de093ae9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h37985611de093ae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h37985611de093ae9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h37985611de093ae9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h37985611de093ae9_0_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
                <a:solidFill>
                  <a:schemeClr val="dk1"/>
                </a:solidFill>
              </a:rPr>
              <a:t>https://dashboard.blooket.com/set/68b8d0887ef53e8c73be158f</a:t>
            </a:r>
            <a:endParaRPr/>
          </a:p>
        </p:txBody>
      </p:sp>
      <p:sp>
        <p:nvSpPr>
          <p:cNvPr id="178" name="Google Shape;178;h37985611de093ae9_0_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h37985611de093ae9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h37985611de093ae9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h37985611de093ae9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h37985611de093ae9_0_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h37985611de093ae9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h37985611de093ae9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https://www.youtube.com/watch?v=lHa2hSgEfLA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h37985611de093ae9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h37985611de093ae9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h37985611de093ae9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h37985611de093ae9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h37985611de093ae9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h37985611de093ae9_0_1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latin typeface="Calibri"/>
                <a:ea typeface="Calibri"/>
                <a:cs typeface="Calibri"/>
                <a:sym typeface="Calibri"/>
              </a:rPr>
              <a:t>Information Cards – cut up and put in an envelope, one per table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h37985611de093ae9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h37985611de093ae9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https://www.youtube.com/watch?v=e0KZP7MLGUI</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h37985611de093ae9_0_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h37985611de093ae9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https://www.youtube.com/watch?v=Q0dQFhZm_PY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37985611de093ae9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h37985611de093ae9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457200" y="205978"/>
            <a:ext cx="8229600" cy="857400"/>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8" name="Google Shape;58;p14"/>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_1">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685800" y="1597819"/>
            <a:ext cx="7772400" cy="1102500"/>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61" name="Google Shape;61;p15"/>
          <p:cNvSpPr txBox="1">
            <a:spLocks noGrp="1"/>
          </p:cNvSpPr>
          <p:nvPr>
            <p:ph type="body" idx="1"/>
          </p:nvPr>
        </p:nvSpPr>
        <p:spPr>
          <a:xfrm>
            <a:off x="1371600" y="2914650"/>
            <a:ext cx="6400800" cy="13146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700"/>
              </a:spcBef>
              <a:spcAft>
                <a:spcPts val="0"/>
              </a:spcAft>
              <a:buClr>
                <a:srgbClr val="888888"/>
              </a:buClr>
              <a:buSzPts val="3200"/>
              <a:buFont typeface="Calibri"/>
              <a:buNone/>
              <a:defRPr>
                <a:solidFill>
                  <a:srgbClr val="888888"/>
                </a:solidFill>
              </a:defRPr>
            </a:lvl1pPr>
            <a:lvl2pPr marL="914400" lvl="1" indent="-228600" algn="ctr">
              <a:lnSpc>
                <a:spcPct val="100000"/>
              </a:lnSpc>
              <a:spcBef>
                <a:spcPts val="700"/>
              </a:spcBef>
              <a:spcAft>
                <a:spcPts val="0"/>
              </a:spcAft>
              <a:buClr>
                <a:srgbClr val="888888"/>
              </a:buClr>
              <a:buSzPts val="3200"/>
              <a:buFont typeface="Calibri"/>
              <a:buNone/>
              <a:defRPr>
                <a:solidFill>
                  <a:srgbClr val="888888"/>
                </a:solidFill>
              </a:defRPr>
            </a:lvl2pPr>
            <a:lvl3pPr marL="1371600" lvl="2" indent="-228600" algn="ctr">
              <a:lnSpc>
                <a:spcPct val="100000"/>
              </a:lnSpc>
              <a:spcBef>
                <a:spcPts val="700"/>
              </a:spcBef>
              <a:spcAft>
                <a:spcPts val="0"/>
              </a:spcAft>
              <a:buClr>
                <a:srgbClr val="888888"/>
              </a:buClr>
              <a:buSzPts val="3200"/>
              <a:buFont typeface="Calibri"/>
              <a:buNone/>
              <a:defRPr>
                <a:solidFill>
                  <a:srgbClr val="888888"/>
                </a:solidFill>
              </a:defRPr>
            </a:lvl3pPr>
            <a:lvl4pPr marL="1828800" lvl="3" indent="-228600" algn="ctr">
              <a:lnSpc>
                <a:spcPct val="100000"/>
              </a:lnSpc>
              <a:spcBef>
                <a:spcPts val="700"/>
              </a:spcBef>
              <a:spcAft>
                <a:spcPts val="0"/>
              </a:spcAft>
              <a:buClr>
                <a:srgbClr val="888888"/>
              </a:buClr>
              <a:buSzPts val="3200"/>
              <a:buFont typeface="Calibri"/>
              <a:buNone/>
              <a:defRPr>
                <a:solidFill>
                  <a:srgbClr val="888888"/>
                </a:solidFill>
              </a:defRPr>
            </a:lvl4pPr>
            <a:lvl5pPr marL="2286000" lvl="4" indent="-228600" algn="ctr">
              <a:lnSpc>
                <a:spcPct val="100000"/>
              </a:lnSpc>
              <a:spcBef>
                <a:spcPts val="700"/>
              </a:spcBef>
              <a:spcAft>
                <a:spcPts val="0"/>
              </a:spcAft>
              <a:buClr>
                <a:srgbClr val="888888"/>
              </a:buClr>
              <a:buSzPts val="3200"/>
              <a:buFont typeface="Calibri"/>
              <a:buNone/>
              <a:defRPr>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62" name="Google Shape;62;p15"/>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63"/>
        <p:cNvGrpSpPr/>
        <p:nvPr/>
      </p:nvGrpSpPr>
      <p:grpSpPr>
        <a:xfrm>
          <a:off x="0" y="0"/>
          <a:ext cx="0" cy="0"/>
          <a:chOff x="0" y="0"/>
          <a:chExt cx="0" cy="0"/>
        </a:xfrm>
      </p:grpSpPr>
      <p:sp>
        <p:nvSpPr>
          <p:cNvPr id="64" name="Google Shape;64;p16"/>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65"/>
        <p:cNvGrpSpPr/>
        <p:nvPr/>
      </p:nvGrpSpPr>
      <p:grpSpPr>
        <a:xfrm>
          <a:off x="0" y="0"/>
          <a:ext cx="0" cy="0"/>
          <a:chOff x="0" y="0"/>
          <a:chExt cx="0" cy="0"/>
        </a:xfrm>
      </p:grpSpPr>
      <p:sp>
        <p:nvSpPr>
          <p:cNvPr id="66" name="Google Shape;66;p17"/>
          <p:cNvSpPr txBox="1">
            <a:spLocks noGrp="1"/>
          </p:cNvSpPr>
          <p:nvPr>
            <p:ph type="body" idx="1"/>
          </p:nvPr>
        </p:nvSpPr>
        <p:spPr>
          <a:xfrm>
            <a:off x="457200" y="205978"/>
            <a:ext cx="8229600" cy="4388700"/>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67" name="Google Shape;67;p17"/>
          <p:cNvSpPr txBox="1">
            <a:spLocks noGrp="1"/>
          </p:cNvSpPr>
          <p:nvPr>
            <p:ph type="sldNum" idx="12"/>
          </p:nvPr>
        </p:nvSpPr>
        <p:spPr>
          <a:xfrm>
            <a:off x="8422818" y="4803219"/>
            <a:ext cx="264000" cy="201900"/>
          </a:xfrm>
          <a:prstGeom prst="rect">
            <a:avLst/>
          </a:prstGeom>
          <a:noFill/>
          <a:ln>
            <a:noFill/>
          </a:ln>
        </p:spPr>
        <p:txBody>
          <a:bodyPr spcFirstLastPara="1" wrap="square" lIns="45700" tIns="45700" rIns="45700" bIns="45700" anchor="ctr" anchorCtr="0">
            <a:normAutofit fontScale="70000" lnSpcReduction="20000"/>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_1_1">
  <p:cSld name="TITLE_1_1">
    <p:spTree>
      <p:nvGrpSpPr>
        <p:cNvPr id="1" name="Shape 68"/>
        <p:cNvGrpSpPr/>
        <p:nvPr/>
      </p:nvGrpSpPr>
      <p:grpSpPr>
        <a:xfrm>
          <a:off x="0" y="0"/>
          <a:ext cx="0" cy="0"/>
          <a:chOff x="0" y="0"/>
          <a:chExt cx="0" cy="0"/>
        </a:xfrm>
      </p:grpSpPr>
      <p:sp>
        <p:nvSpPr>
          <p:cNvPr id="69" name="Google Shape;69;p1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70" name="Google Shape;70;p1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71" name="Google Shape;7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EFEFE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yx2YXPvh3VY" TargetMode="External"/><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5.gif"/><Relationship Id="rId3" Type="http://schemas.openxmlformats.org/officeDocument/2006/relationships/hyperlink" Target="http://www.youtube.com/watch?v=u_BcMXgws6Y" TargetMode="External"/><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gif"/><Relationship Id="rId5" Type="http://schemas.openxmlformats.org/officeDocument/2006/relationships/image" Target="../media/image2.png"/><Relationship Id="rId4" Type="http://schemas.openxmlformats.org/officeDocument/2006/relationships/image" Target="../media/image16.jp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hyperlink" Target="https://dashboard.blooket.com/set/68b116266e3af35fc52bd327"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www.youtube.com/watch?v=lHa2hSgEfLA" TargetMode="External"/><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4.png"/><Relationship Id="rId4" Type="http://schemas.openxmlformats.org/officeDocument/2006/relationships/image" Target="../media/image23.jpg"/></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8.png"/><Relationship Id="rId10" Type="http://schemas.openxmlformats.org/officeDocument/2006/relationships/image" Target="../media/image31.jpg"/><Relationship Id="rId4" Type="http://schemas.openxmlformats.org/officeDocument/2006/relationships/image" Target="../media/image27.png"/><Relationship Id="rId9" Type="http://schemas.openxmlformats.org/officeDocument/2006/relationships/hyperlink" Target="http://www.youtube.com/watch?v=e0KZP7MLGUI"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5.gif"/></Relationships>
</file>

<file path=ppt/slides/_rels/slide19.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4.png"/><Relationship Id="rId7" Type="http://schemas.openxmlformats.org/officeDocument/2006/relationships/hyperlink" Target="http://www.youtube.com/watch?v=Q0dQFhZm_PY"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gif"/><Relationship Id="rId5" Type="http://schemas.openxmlformats.org/officeDocument/2006/relationships/image" Target="../media/image32.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hyperlink" Target="https://dashboard.blooket.com/set/68b116266e3af35fc52bd3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9"/>
          <p:cNvSpPr txBox="1"/>
          <p:nvPr/>
        </p:nvSpPr>
        <p:spPr>
          <a:xfrm>
            <a:off x="4168950" y="782525"/>
            <a:ext cx="4859700" cy="6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77" name="Google Shape;77;p19"/>
          <p:cNvSpPr txBox="1"/>
          <p:nvPr/>
        </p:nvSpPr>
        <p:spPr>
          <a:xfrm>
            <a:off x="76900" y="782375"/>
            <a:ext cx="4002600" cy="7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1"/>
                </a:solidFill>
                <a:latin typeface="Delius"/>
                <a:ea typeface="Delius"/>
                <a:cs typeface="Delius"/>
                <a:sym typeface="Delius"/>
              </a:rPr>
              <a:t>Title: The Long Fuse - Europe in 1914</a:t>
            </a:r>
            <a:endParaRPr sz="1800" b="1" u="sng" dirty="0">
              <a:solidFill>
                <a:schemeClr val="dk1"/>
              </a:solidFill>
              <a:latin typeface="Delius"/>
              <a:ea typeface="Delius"/>
              <a:cs typeface="Delius"/>
              <a:sym typeface="Delius"/>
            </a:endParaRPr>
          </a:p>
        </p:txBody>
      </p:sp>
      <p:sp>
        <p:nvSpPr>
          <p:cNvPr id="78" name="Google Shape;78;p19"/>
          <p:cNvSpPr txBox="1"/>
          <p:nvPr/>
        </p:nvSpPr>
        <p:spPr>
          <a:xfrm>
            <a:off x="1379526" y="2089075"/>
            <a:ext cx="5140800" cy="24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latin typeface="Baumans"/>
                <a:ea typeface="Baumans"/>
                <a:cs typeface="Baumans"/>
                <a:sym typeface="Baumans"/>
              </a:rPr>
              <a:t>What choices in WW1 showed the courage and responsibility of soldiers and leaders?</a:t>
            </a:r>
            <a:endParaRPr sz="1800">
              <a:solidFill>
                <a:schemeClr val="dk1"/>
              </a:solidFill>
              <a:latin typeface="Baumans"/>
              <a:ea typeface="Baumans"/>
              <a:cs typeface="Baumans"/>
              <a:sym typeface="Baumans"/>
            </a:endParaRPr>
          </a:p>
          <a:p>
            <a:pPr marL="0" lvl="0" indent="0" algn="l" rtl="0">
              <a:spcBef>
                <a:spcPts val="0"/>
              </a:spcBef>
              <a:spcAft>
                <a:spcPts val="0"/>
              </a:spcAft>
              <a:buNone/>
            </a:pP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a:solidFill>
                  <a:schemeClr val="dk1"/>
                </a:solidFill>
                <a:latin typeface="Baumans"/>
                <a:ea typeface="Baumans"/>
                <a:cs typeface="Baumans"/>
                <a:sym typeface="Baumans"/>
              </a:rPr>
              <a:t>How did ordinary people show service, compassion, and teamwork in WW1?</a:t>
            </a:r>
            <a:endParaRPr sz="1800">
              <a:solidFill>
                <a:schemeClr val="dk1"/>
              </a:solidFill>
              <a:latin typeface="Baumans"/>
              <a:ea typeface="Baumans"/>
              <a:cs typeface="Baumans"/>
              <a:sym typeface="Baumans"/>
            </a:endParaRPr>
          </a:p>
          <a:p>
            <a:pPr marL="0" lvl="0" indent="0" algn="l" rtl="0">
              <a:spcBef>
                <a:spcPts val="0"/>
              </a:spcBef>
              <a:spcAft>
                <a:spcPts val="0"/>
              </a:spcAft>
              <a:buNone/>
            </a:pP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a:solidFill>
                  <a:schemeClr val="dk1"/>
                </a:solidFill>
                <a:latin typeface="Baumans"/>
                <a:ea typeface="Baumans"/>
                <a:cs typeface="Baumans"/>
                <a:sym typeface="Baumans"/>
              </a:rPr>
              <a:t>Why is WW1 remembered today, and how does this show respect and gratitude?</a:t>
            </a:r>
            <a:endParaRPr sz="1800">
              <a:solidFill>
                <a:schemeClr val="dk1"/>
              </a:solidFill>
              <a:latin typeface="Baumans"/>
              <a:ea typeface="Baumans"/>
              <a:cs typeface="Baumans"/>
              <a:sym typeface="Baumans"/>
            </a:endParaRPr>
          </a:p>
        </p:txBody>
      </p:sp>
      <p:pic>
        <p:nvPicPr>
          <p:cNvPr id="79" name="Google Shape;79;p19"/>
          <p:cNvPicPr preferRelativeResize="0"/>
          <p:nvPr/>
        </p:nvPicPr>
        <p:blipFill>
          <a:blip r:embed="rId3">
            <a:alphaModFix/>
          </a:blip>
          <a:stretch>
            <a:fillRect/>
          </a:stretch>
        </p:blipFill>
        <p:spPr>
          <a:xfrm>
            <a:off x="115350" y="1580675"/>
            <a:ext cx="764550" cy="548725"/>
          </a:xfrm>
          <a:prstGeom prst="rect">
            <a:avLst/>
          </a:prstGeom>
          <a:noFill/>
          <a:ln>
            <a:noFill/>
          </a:ln>
        </p:spPr>
      </p:pic>
      <p:sp>
        <p:nvSpPr>
          <p:cNvPr id="80" name="Google Shape;80;p19"/>
          <p:cNvSpPr txBox="1"/>
          <p:nvPr/>
        </p:nvSpPr>
        <p:spPr>
          <a:xfrm>
            <a:off x="7045400" y="3022025"/>
            <a:ext cx="19833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i="1">
                <a:solidFill>
                  <a:schemeClr val="dk1"/>
                </a:solidFill>
                <a:latin typeface="Baumans"/>
                <a:ea typeface="Baumans"/>
                <a:cs typeface="Baumans"/>
                <a:sym typeface="Baumans"/>
              </a:rPr>
              <a:t>What questions do you already have about WW1 that could help us learn more?</a:t>
            </a:r>
            <a:endParaRPr/>
          </a:p>
        </p:txBody>
      </p:sp>
      <p:grpSp>
        <p:nvGrpSpPr>
          <p:cNvPr id="81" name="Google Shape;81;p19"/>
          <p:cNvGrpSpPr/>
          <p:nvPr/>
        </p:nvGrpSpPr>
        <p:grpSpPr>
          <a:xfrm>
            <a:off x="242002" y="2713512"/>
            <a:ext cx="1010855" cy="1152324"/>
            <a:chOff x="5313625" y="1569463"/>
            <a:chExt cx="1136175" cy="1330475"/>
          </a:xfrm>
        </p:grpSpPr>
        <p:pic>
          <p:nvPicPr>
            <p:cNvPr id="82" name="Google Shape;82;p19"/>
            <p:cNvPicPr preferRelativeResize="0"/>
            <p:nvPr/>
          </p:nvPicPr>
          <p:blipFill>
            <a:blip r:embed="rId4">
              <a:alphaModFix/>
            </a:blip>
            <a:stretch>
              <a:fillRect/>
            </a:stretch>
          </p:blipFill>
          <p:spPr>
            <a:xfrm>
              <a:off x="5392550" y="1569463"/>
              <a:ext cx="1057250" cy="1330475"/>
            </a:xfrm>
            <a:prstGeom prst="rect">
              <a:avLst/>
            </a:prstGeom>
            <a:noFill/>
            <a:ln>
              <a:noFill/>
            </a:ln>
          </p:spPr>
        </p:pic>
        <p:pic>
          <p:nvPicPr>
            <p:cNvPr id="83" name="Google Shape;83;p19" descr="smoke is coming out of a hole in the ground on a white background . (Provided by Tenor)"/>
            <p:cNvPicPr preferRelativeResize="0"/>
            <p:nvPr/>
          </p:nvPicPr>
          <p:blipFill rotWithShape="1">
            <a:blip r:embed="rId5">
              <a:alphaModFix/>
            </a:blip>
            <a:srcRect l="42413" t="17925"/>
            <a:stretch/>
          </p:blipFill>
          <p:spPr>
            <a:xfrm>
              <a:off x="5313625" y="1650525"/>
              <a:ext cx="418000" cy="604725"/>
            </a:xfrm>
            <a:prstGeom prst="rect">
              <a:avLst/>
            </a:prstGeom>
            <a:noFill/>
            <a:ln>
              <a:noFill/>
            </a:ln>
          </p:spPr>
        </p:pic>
      </p:grpSp>
      <p:grpSp>
        <p:nvGrpSpPr>
          <p:cNvPr id="84" name="Google Shape;84;p19"/>
          <p:cNvGrpSpPr/>
          <p:nvPr/>
        </p:nvGrpSpPr>
        <p:grpSpPr>
          <a:xfrm>
            <a:off x="7531612" y="1800013"/>
            <a:ext cx="1010880" cy="1152356"/>
            <a:chOff x="5426175" y="139294"/>
            <a:chExt cx="946695" cy="1152356"/>
          </a:xfrm>
        </p:grpSpPr>
        <p:pic>
          <p:nvPicPr>
            <p:cNvPr id="85" name="Google Shape;85;p19"/>
            <p:cNvPicPr preferRelativeResize="0"/>
            <p:nvPr/>
          </p:nvPicPr>
          <p:blipFill>
            <a:blip r:embed="rId6">
              <a:alphaModFix/>
            </a:blip>
            <a:stretch>
              <a:fillRect/>
            </a:stretch>
          </p:blipFill>
          <p:spPr>
            <a:xfrm>
              <a:off x="5469469" y="139300"/>
              <a:ext cx="903401" cy="1152350"/>
            </a:xfrm>
            <a:prstGeom prst="rect">
              <a:avLst/>
            </a:prstGeom>
            <a:noFill/>
            <a:ln>
              <a:noFill/>
            </a:ln>
          </p:spPr>
        </p:pic>
        <p:pic>
          <p:nvPicPr>
            <p:cNvPr id="86" name="Google Shape;86;p19" descr="a cartoon drawing of a fire with a flame coming out of it (Provided by Tenor)"/>
            <p:cNvPicPr preferRelativeResize="0"/>
            <p:nvPr/>
          </p:nvPicPr>
          <p:blipFill>
            <a:blip r:embed="rId7">
              <a:alphaModFix/>
            </a:blip>
            <a:stretch>
              <a:fillRect/>
            </a:stretch>
          </p:blipFill>
          <p:spPr>
            <a:xfrm>
              <a:off x="5426175" y="139294"/>
              <a:ext cx="341075" cy="391706"/>
            </a:xfrm>
            <a:prstGeom prst="rect">
              <a:avLst/>
            </a:prstGeom>
            <a:noFill/>
            <a:ln>
              <a:noFill/>
            </a:ln>
          </p:spPr>
        </p:pic>
      </p:grpSp>
      <p:sp>
        <p:nvSpPr>
          <p:cNvPr id="87" name="Google Shape;87;p19"/>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20"/>
          <p:cNvPicPr preferRelativeResize="0"/>
          <p:nvPr/>
        </p:nvPicPr>
        <p:blipFill>
          <a:blip r:embed="rId3">
            <a:alphaModFix/>
          </a:blip>
          <a:stretch>
            <a:fillRect/>
          </a:stretch>
        </p:blipFill>
        <p:spPr>
          <a:xfrm>
            <a:off x="115225" y="1458721"/>
            <a:ext cx="4654401" cy="1518375"/>
          </a:xfrm>
          <a:prstGeom prst="rect">
            <a:avLst/>
          </a:prstGeom>
          <a:noFill/>
          <a:ln>
            <a:noFill/>
          </a:ln>
        </p:spPr>
      </p:pic>
      <p:pic>
        <p:nvPicPr>
          <p:cNvPr id="93" name="Google Shape;93;p20"/>
          <p:cNvPicPr preferRelativeResize="0"/>
          <p:nvPr/>
        </p:nvPicPr>
        <p:blipFill>
          <a:blip r:embed="rId4">
            <a:alphaModFix/>
          </a:blip>
          <a:stretch>
            <a:fillRect/>
          </a:stretch>
        </p:blipFill>
        <p:spPr>
          <a:xfrm>
            <a:off x="115350" y="3129200"/>
            <a:ext cx="4997950" cy="1361225"/>
          </a:xfrm>
          <a:prstGeom prst="rect">
            <a:avLst/>
          </a:prstGeom>
          <a:noFill/>
          <a:ln>
            <a:noFill/>
          </a:ln>
        </p:spPr>
      </p:pic>
      <p:sp>
        <p:nvSpPr>
          <p:cNvPr id="94" name="Google Shape;94;p20"/>
          <p:cNvSpPr txBox="1"/>
          <p:nvPr/>
        </p:nvSpPr>
        <p:spPr>
          <a:xfrm>
            <a:off x="5289750" y="1458725"/>
            <a:ext cx="3738900" cy="3374100"/>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Delius"/>
                <a:ea typeface="Delius"/>
                <a:cs typeface="Delius"/>
                <a:sym typeface="Delius"/>
              </a:rPr>
              <a:t>Key Questions</a:t>
            </a:r>
            <a:endParaRPr b="1">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Why do wars happen?</a:t>
            </a:r>
            <a:endParaRPr>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Are there any positive effects of wars? </a:t>
            </a:r>
            <a:endParaRPr>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How can we prevent wars from happening?</a:t>
            </a:r>
            <a:endParaRPr>
              <a:solidFill>
                <a:schemeClr val="dk1"/>
              </a:solidFill>
              <a:latin typeface="Delius"/>
              <a:ea typeface="Delius"/>
              <a:cs typeface="Delius"/>
              <a:sym typeface="Delius"/>
            </a:endParaRPr>
          </a:p>
          <a:p>
            <a:pPr marL="457200" lvl="0" indent="-317500" algn="l" rtl="0">
              <a:lnSpc>
                <a:spcPct val="115000"/>
              </a:lnSpc>
              <a:spcBef>
                <a:spcPts val="0"/>
              </a:spcBef>
              <a:spcAft>
                <a:spcPts val="0"/>
              </a:spcAft>
              <a:buClr>
                <a:schemeClr val="dk1"/>
              </a:buClr>
              <a:buSzPts val="1400"/>
              <a:buFont typeface="Delius"/>
              <a:buChar char="●"/>
            </a:pPr>
            <a:r>
              <a:rPr lang="en">
                <a:solidFill>
                  <a:schemeClr val="dk1"/>
                </a:solidFill>
                <a:latin typeface="Delius"/>
                <a:ea typeface="Delius"/>
                <a:cs typeface="Delius"/>
                <a:sym typeface="Delius"/>
              </a:rPr>
              <a:t>In what circumstances (if any) would you be prepared to fight in a war? </a:t>
            </a:r>
            <a:endParaRPr>
              <a:solidFill>
                <a:schemeClr val="dk1"/>
              </a:solidFill>
              <a:latin typeface="Delius"/>
              <a:ea typeface="Delius"/>
              <a:cs typeface="Delius"/>
              <a:sym typeface="Delius"/>
            </a:endParaRPr>
          </a:p>
          <a:p>
            <a:pPr marL="0" lvl="0" indent="0" algn="l" rtl="0">
              <a:lnSpc>
                <a:spcPct val="115000"/>
              </a:lnSpc>
              <a:spcBef>
                <a:spcPts val="0"/>
              </a:spcBef>
              <a:spcAft>
                <a:spcPts val="0"/>
              </a:spcAft>
              <a:buNone/>
            </a:pPr>
            <a:endParaRPr>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a:solidFill>
                  <a:schemeClr val="dk1"/>
                </a:solidFill>
                <a:latin typeface="Delius"/>
                <a:ea typeface="Delius"/>
                <a:cs typeface="Delius"/>
                <a:sym typeface="Delius"/>
              </a:rPr>
              <a:t>These questions are of fundamental importance to us in the 21st Century. To attempt to answer them, we’ll be investigating a case study of the </a:t>
            </a:r>
            <a:r>
              <a:rPr lang="en" b="1">
                <a:solidFill>
                  <a:schemeClr val="dk1"/>
                </a:solidFill>
                <a:latin typeface="Delius"/>
                <a:ea typeface="Delius"/>
                <a:cs typeface="Delius"/>
                <a:sym typeface="Delius"/>
              </a:rPr>
              <a:t>‘Great War’ of 1914-18.</a:t>
            </a:r>
            <a:endParaRPr b="1">
              <a:solidFill>
                <a:schemeClr val="dk1"/>
              </a:solidFill>
              <a:latin typeface="Delius"/>
              <a:ea typeface="Delius"/>
              <a:cs typeface="Delius"/>
              <a:sym typeface="Delius"/>
            </a:endParaRPr>
          </a:p>
        </p:txBody>
      </p:sp>
      <p:sp>
        <p:nvSpPr>
          <p:cNvPr id="95" name="Google Shape;95;p20"/>
          <p:cNvSpPr txBox="1"/>
          <p:nvPr/>
        </p:nvSpPr>
        <p:spPr>
          <a:xfrm>
            <a:off x="4168950" y="782525"/>
            <a:ext cx="4859700" cy="67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1600" b="1">
              <a:solidFill>
                <a:schemeClr val="dk1"/>
              </a:solidFill>
              <a:highlight>
                <a:srgbClr val="FFFF00"/>
              </a:highlight>
              <a:latin typeface="Caveat"/>
              <a:ea typeface="Caveat"/>
              <a:cs typeface="Caveat"/>
              <a:sym typeface="Caveat"/>
            </a:endParaRPr>
          </a:p>
        </p:txBody>
      </p:sp>
      <p:sp>
        <p:nvSpPr>
          <p:cNvPr id="96" name="Google Shape;96;p20"/>
          <p:cNvSpPr txBox="1"/>
          <p:nvPr/>
        </p:nvSpPr>
        <p:spPr>
          <a:xfrm>
            <a:off x="115225" y="782525"/>
            <a:ext cx="2701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solidFill>
                  <a:srgbClr val="000000"/>
                </a:solidFill>
                <a:latin typeface="Patrick Hand"/>
                <a:ea typeface="Patrick Hand"/>
                <a:cs typeface="Patrick Hand"/>
                <a:sym typeface="Patrick Hand"/>
              </a:rPr>
              <a:t>Why </a:t>
            </a:r>
            <a:r>
              <a:rPr lang="en" sz="2400" b="1" u="sng">
                <a:latin typeface="Patrick Hand"/>
                <a:ea typeface="Patrick Hand"/>
                <a:cs typeface="Patrick Hand"/>
                <a:sym typeface="Patrick Hand"/>
              </a:rPr>
              <a:t>do we study WW1?</a:t>
            </a:r>
            <a:endParaRPr sz="2400" b="1" u="sng">
              <a:solidFill>
                <a:srgbClr val="000000"/>
              </a:solidFill>
              <a:latin typeface="Patrick Hand SC"/>
              <a:ea typeface="Patrick Hand SC"/>
              <a:cs typeface="Patrick Hand SC"/>
              <a:sym typeface="Patrick Hand SC"/>
            </a:endParaRPr>
          </a:p>
        </p:txBody>
      </p:sp>
      <p:sp>
        <p:nvSpPr>
          <p:cNvPr id="97" name="Google Shape;97;p20"/>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p:nvPr/>
        </p:nvSpPr>
        <p:spPr>
          <a:xfrm>
            <a:off x="132250" y="1418150"/>
            <a:ext cx="5290800" cy="3441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identify </a:t>
            </a:r>
            <a:r>
              <a:rPr lang="en" sz="1600" b="1">
                <a:solidFill>
                  <a:schemeClr val="dk1"/>
                </a:solidFill>
                <a:latin typeface="Baumans"/>
                <a:ea typeface="Baumans"/>
                <a:cs typeface="Baumans"/>
                <a:sym typeface="Baumans"/>
              </a:rPr>
              <a:t>key political and social features of Europe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explain </a:t>
            </a:r>
            <a:r>
              <a:rPr lang="en" sz="1600" b="1">
                <a:solidFill>
                  <a:schemeClr val="dk1"/>
                </a:solidFill>
                <a:latin typeface="Baumans"/>
                <a:ea typeface="Baumans"/>
                <a:cs typeface="Baumans"/>
                <a:sym typeface="Baumans"/>
              </a:rPr>
              <a:t>how competing national interests created tension between European countries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analyse </a:t>
            </a:r>
            <a:r>
              <a:rPr lang="en" sz="1600" b="1">
                <a:solidFill>
                  <a:schemeClr val="dk1"/>
                </a:solidFill>
                <a:latin typeface="Baumans"/>
                <a:ea typeface="Baumans"/>
                <a:cs typeface="Baumans"/>
                <a:sym typeface="Baumans"/>
              </a:rPr>
              <a:t>how political and social tensions in Europe created the conditions for conflict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p:txBody>
      </p:sp>
      <p:sp>
        <p:nvSpPr>
          <p:cNvPr id="103" name="Google Shape;103;p21"/>
          <p:cNvSpPr txBox="1"/>
          <p:nvPr/>
        </p:nvSpPr>
        <p:spPr>
          <a:xfrm>
            <a:off x="5870750" y="820775"/>
            <a:ext cx="3000000"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2000" b="1">
              <a:highlight>
                <a:schemeClr val="lt1"/>
              </a:highlight>
              <a:latin typeface="Edu TAS Beginner"/>
              <a:ea typeface="Edu TAS Beginner"/>
              <a:cs typeface="Edu TAS Beginner"/>
              <a:sym typeface="Edu TAS Beginner"/>
            </a:endParaRPr>
          </a:p>
        </p:txBody>
      </p:sp>
      <p:sp>
        <p:nvSpPr>
          <p:cNvPr id="104" name="Google Shape;104;p21"/>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05" name="Google Shape;105;p21"/>
          <p:cNvPicPr preferRelativeResize="0"/>
          <p:nvPr/>
        </p:nvPicPr>
        <p:blipFill>
          <a:blip r:embed="rId3">
            <a:alphaModFix/>
          </a:blip>
          <a:stretch>
            <a:fillRect/>
          </a:stretch>
        </p:blipFill>
        <p:spPr>
          <a:xfrm>
            <a:off x="5575454" y="2304451"/>
            <a:ext cx="3416151" cy="1922618"/>
          </a:xfrm>
          <a:prstGeom prst="rect">
            <a:avLst/>
          </a:prstGeom>
          <a:noFill/>
          <a:ln>
            <a:noFill/>
          </a:ln>
        </p:spPr>
      </p:pic>
      <p:sp>
        <p:nvSpPr>
          <p:cNvPr id="106" name="Google Shape;106;p21"/>
          <p:cNvSpPr txBox="1"/>
          <p:nvPr/>
        </p:nvSpPr>
        <p:spPr>
          <a:xfrm>
            <a:off x="76900" y="630125"/>
            <a:ext cx="4002600" cy="7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1"/>
                </a:solidFill>
                <a:latin typeface="Delius"/>
                <a:ea typeface="Delius"/>
                <a:cs typeface="Delius"/>
                <a:sym typeface="Delius"/>
              </a:rPr>
              <a:t>Title: The Long Fuse - Europe in 1914</a:t>
            </a:r>
            <a:endParaRPr sz="1800" b="1" u="sng" dirty="0">
              <a:solidFill>
                <a:schemeClr val="dk1"/>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graphicFrame>
        <p:nvGraphicFramePr>
          <p:cNvPr id="111" name="Google Shape;111;p22"/>
          <p:cNvGraphicFramePr/>
          <p:nvPr>
            <p:extLst>
              <p:ext uri="{D42A27DB-BD31-4B8C-83A1-F6EECF244321}">
                <p14:modId xmlns:p14="http://schemas.microsoft.com/office/powerpoint/2010/main" val="1263383866"/>
              </p:ext>
            </p:extLst>
          </p:nvPr>
        </p:nvGraphicFramePr>
        <p:xfrm>
          <a:off x="74121" y="1003106"/>
          <a:ext cx="8760275" cy="4109205"/>
        </p:xfrm>
        <a:graphic>
          <a:graphicData uri="http://schemas.openxmlformats.org/drawingml/2006/table">
            <a:tbl>
              <a:tblPr>
                <a:noFill/>
                <a:tableStyleId>{4B33A70A-25A6-4CE5-8009-8C2CF07643E9}</a:tableStyleId>
              </a:tblPr>
              <a:tblGrid>
                <a:gridCol w="1583075">
                  <a:extLst>
                    <a:ext uri="{9D8B030D-6E8A-4147-A177-3AD203B41FA5}">
                      <a16:colId xmlns:a16="http://schemas.microsoft.com/office/drawing/2014/main" val="20000"/>
                    </a:ext>
                  </a:extLst>
                </a:gridCol>
                <a:gridCol w="1118600">
                  <a:extLst>
                    <a:ext uri="{9D8B030D-6E8A-4147-A177-3AD203B41FA5}">
                      <a16:colId xmlns:a16="http://schemas.microsoft.com/office/drawing/2014/main" val="20001"/>
                    </a:ext>
                  </a:extLst>
                </a:gridCol>
                <a:gridCol w="6058600">
                  <a:extLst>
                    <a:ext uri="{9D8B030D-6E8A-4147-A177-3AD203B41FA5}">
                      <a16:colId xmlns:a16="http://schemas.microsoft.com/office/drawing/2014/main" val="20002"/>
                    </a:ext>
                  </a:extLst>
                </a:gridCol>
              </a:tblGrid>
              <a:tr h="451725">
                <a:tc>
                  <a:txBody>
                    <a:bodyPr/>
                    <a:lstStyle/>
                    <a:p>
                      <a:pPr marL="0" lvl="0" indent="0" algn="l" rtl="0">
                        <a:spcBef>
                          <a:spcPts val="0"/>
                        </a:spcBef>
                        <a:spcAft>
                          <a:spcPts val="0"/>
                        </a:spcAft>
                        <a:buNone/>
                      </a:pPr>
                      <a:r>
                        <a:rPr lang="en" sz="1600" b="1" dirty="0">
                          <a:latin typeface="Poppins"/>
                          <a:ea typeface="Poppins"/>
                          <a:cs typeface="Poppins"/>
                          <a:sym typeface="Poppins"/>
                        </a:rPr>
                        <a:t>Key Word</a:t>
                      </a:r>
                      <a:endParaRPr sz="1600" b="1"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b="1">
                          <a:latin typeface="Poppins"/>
                          <a:ea typeface="Poppins"/>
                          <a:cs typeface="Poppins"/>
                          <a:sym typeface="Poppins"/>
                        </a:rPr>
                        <a:t>Definition</a:t>
                      </a:r>
                      <a:endParaRPr sz="16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Empire </a:t>
                      </a:r>
                      <a:r>
                        <a:rPr lang="ja-JP" altLang="en-US" sz="1600">
                          <a:latin typeface="Poppins"/>
                          <a:ea typeface="Poppins"/>
                          <a:cs typeface="Poppins"/>
                          <a:sym typeface="Poppins"/>
                        </a:rPr>
                        <a:t>帝国时期</a:t>
                      </a:r>
                      <a:r>
                        <a:rPr lang="en" sz="1600" dirty="0">
                          <a:latin typeface="Poppins"/>
                          <a:ea typeface="Poppins"/>
                          <a:cs typeface="Poppins"/>
                          <a:sym typeface="Poppins"/>
                        </a:rPr>
                        <a:t> </a:t>
                      </a:r>
                    </a:p>
                    <a:p>
                      <a:pPr marL="0" lvl="0" indent="0" algn="l" rtl="0">
                        <a:spcBef>
                          <a:spcPts val="0"/>
                        </a:spcBef>
                        <a:spcAft>
                          <a:spcPts val="0"/>
                        </a:spcAft>
                        <a:buNone/>
                      </a:pPr>
                      <a:r>
                        <a:rPr lang="ko-KR" altLang="en-US" sz="1600" dirty="0">
                          <a:latin typeface="Poppins"/>
                          <a:ea typeface="Poppins"/>
                          <a:cs typeface="Poppins"/>
                          <a:sym typeface="Poppins"/>
                        </a:rPr>
                        <a:t>제국</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Poppins"/>
                          <a:ea typeface="Poppins"/>
                          <a:cs typeface="Poppins"/>
                          <a:sym typeface="Poppins"/>
                        </a:rPr>
                        <a:t>A group of countries or areas ruled by one powerful country.</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Colonies</a:t>
                      </a:r>
                      <a:r>
                        <a:rPr lang="ja-JP" altLang="en-US" sz="1600">
                          <a:latin typeface="Poppins"/>
                          <a:ea typeface="Poppins"/>
                          <a:cs typeface="Poppins"/>
                          <a:sym typeface="Poppins"/>
                        </a:rPr>
                        <a:t>殖民地</a:t>
                      </a:r>
                      <a:r>
                        <a:rPr lang="en" sz="1600" dirty="0">
                          <a:latin typeface="Poppins"/>
                          <a:ea typeface="Poppins"/>
                          <a:cs typeface="Poppins"/>
                          <a:sym typeface="Poppins"/>
                        </a:rPr>
                        <a:t> </a:t>
                      </a:r>
                    </a:p>
                    <a:p>
                      <a:pPr marL="0" lvl="0" indent="0" algn="l" rtl="0">
                        <a:spcBef>
                          <a:spcPts val="0"/>
                        </a:spcBef>
                        <a:spcAft>
                          <a:spcPts val="0"/>
                        </a:spcAft>
                        <a:buNone/>
                      </a:pPr>
                      <a:r>
                        <a:rPr lang="ko-KR" altLang="en-US" sz="1600" dirty="0">
                          <a:latin typeface="Poppins"/>
                          <a:ea typeface="Poppins"/>
                          <a:cs typeface="Poppins"/>
                          <a:sym typeface="Poppins"/>
                        </a:rPr>
                        <a:t>식민지</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dirty="0">
                          <a:latin typeface="Poppins"/>
                          <a:ea typeface="Poppins"/>
                          <a:cs typeface="Poppins"/>
                          <a:sym typeface="Poppins"/>
                        </a:rPr>
                        <a:t>Places controlled and settled by another country.</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Territory</a:t>
                      </a:r>
                    </a:p>
                    <a:p>
                      <a:pPr marL="0" lvl="0" indent="0" algn="l" rtl="0">
                        <a:spcBef>
                          <a:spcPts val="0"/>
                        </a:spcBef>
                        <a:spcAft>
                          <a:spcPts val="0"/>
                        </a:spcAft>
                        <a:buNone/>
                      </a:pPr>
                      <a:r>
                        <a:rPr lang="ja-JP" altLang="en-US" sz="1600">
                          <a:latin typeface="Poppins"/>
                          <a:ea typeface="Poppins"/>
                          <a:cs typeface="Poppins"/>
                          <a:sym typeface="Poppins"/>
                        </a:rPr>
                        <a:t>领土</a:t>
                      </a:r>
                      <a:endParaRPr lang="en-US" altLang="ja-JP" sz="1600" dirty="0">
                        <a:latin typeface="Poppins"/>
                        <a:ea typeface="Poppins"/>
                        <a:cs typeface="Poppins"/>
                        <a:sym typeface="Poppins"/>
                      </a:endParaRPr>
                    </a:p>
                    <a:p>
                      <a:pPr marL="0" lvl="0" indent="0" algn="l" rtl="0">
                        <a:spcBef>
                          <a:spcPts val="0"/>
                        </a:spcBef>
                        <a:spcAft>
                          <a:spcPts val="0"/>
                        </a:spcAft>
                        <a:buNone/>
                      </a:pPr>
                      <a:r>
                        <a:rPr lang="ko-KR" altLang="en-US" sz="1600" dirty="0">
                          <a:latin typeface="Poppins"/>
                          <a:ea typeface="Poppins"/>
                          <a:cs typeface="Poppins"/>
                          <a:sym typeface="Poppins"/>
                        </a:rPr>
                        <a:t>영토</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dirty="0">
                          <a:latin typeface="Poppins"/>
                          <a:ea typeface="Poppins"/>
                          <a:cs typeface="Poppins"/>
                          <a:sym typeface="Poppins"/>
                        </a:rPr>
                        <a:t>Land that belongs to or is controlled by a country.</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70550">
                <a:tc>
                  <a:txBody>
                    <a:bodyPr/>
                    <a:lstStyle/>
                    <a:p>
                      <a:pPr marL="0" lvl="0" indent="0" algn="l" rtl="0">
                        <a:spcBef>
                          <a:spcPts val="0"/>
                        </a:spcBef>
                        <a:spcAft>
                          <a:spcPts val="0"/>
                        </a:spcAft>
                        <a:buNone/>
                      </a:pPr>
                      <a:r>
                        <a:rPr lang="en" sz="1600" dirty="0">
                          <a:latin typeface="Poppins"/>
                          <a:ea typeface="Poppins"/>
                          <a:cs typeface="Poppins"/>
                          <a:sym typeface="Poppins"/>
                        </a:rPr>
                        <a:t>Imperialism</a:t>
                      </a:r>
                    </a:p>
                    <a:p>
                      <a:pPr marL="0" lvl="0" indent="0" algn="l" rtl="0">
                        <a:spcBef>
                          <a:spcPts val="0"/>
                        </a:spcBef>
                        <a:spcAft>
                          <a:spcPts val="0"/>
                        </a:spcAft>
                        <a:buNone/>
                      </a:pPr>
                      <a:r>
                        <a:rPr lang="ja-JP" altLang="en-US" sz="1600">
                          <a:latin typeface="Poppins"/>
                          <a:ea typeface="Poppins"/>
                          <a:cs typeface="Poppins"/>
                          <a:sym typeface="Poppins"/>
                        </a:rPr>
                        <a:t>帝国主义</a:t>
                      </a:r>
                      <a:r>
                        <a:rPr lang="ko-KR" altLang="en-US" sz="1600">
                          <a:latin typeface="Poppins"/>
                          <a:ea typeface="Poppins"/>
                          <a:cs typeface="Poppins"/>
                          <a:sym typeface="Poppins"/>
                        </a:rPr>
                        <a:t>제국주의</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dirty="0">
                          <a:latin typeface="Poppins"/>
                          <a:ea typeface="Poppins"/>
                          <a:cs typeface="Poppins"/>
                          <a:sym typeface="Poppins"/>
                        </a:rPr>
                        <a:t>When a powerful country takes control of weaker countries to build an empire.</a:t>
                      </a:r>
                      <a:endParaRPr sz="1600" dirty="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12" name="Google Shape;112;p22"/>
          <p:cNvSpPr txBox="1"/>
          <p:nvPr/>
        </p:nvSpPr>
        <p:spPr>
          <a:xfrm>
            <a:off x="115350" y="512421"/>
            <a:ext cx="27018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dirty="0">
                <a:latin typeface="Patrick Hand"/>
                <a:ea typeface="Patrick Hand"/>
                <a:cs typeface="Patrick Hand"/>
                <a:sym typeface="Patrick Hand"/>
              </a:rPr>
              <a:t>Key Terms:</a:t>
            </a:r>
            <a:endParaRPr sz="2400" b="1" u="sng" dirty="0">
              <a:solidFill>
                <a:srgbClr val="000000"/>
              </a:solidFill>
              <a:latin typeface="Patrick Hand SC"/>
              <a:ea typeface="Patrick Hand SC"/>
              <a:cs typeface="Patrick Hand SC"/>
              <a:sym typeface="Patrick Hand SC"/>
            </a:endParaRPr>
          </a:p>
        </p:txBody>
      </p:sp>
      <p:pic>
        <p:nvPicPr>
          <p:cNvPr id="113" name="Google Shape;113;p22"/>
          <p:cNvPicPr preferRelativeResize="0"/>
          <p:nvPr/>
        </p:nvPicPr>
        <p:blipFill>
          <a:blip r:embed="rId3">
            <a:alphaModFix/>
          </a:blip>
          <a:stretch>
            <a:fillRect/>
          </a:stretch>
        </p:blipFill>
        <p:spPr>
          <a:xfrm>
            <a:off x="1886798" y="1555386"/>
            <a:ext cx="579625" cy="579625"/>
          </a:xfrm>
          <a:prstGeom prst="rect">
            <a:avLst/>
          </a:prstGeom>
          <a:noFill/>
          <a:ln>
            <a:noFill/>
          </a:ln>
        </p:spPr>
      </p:pic>
      <p:pic>
        <p:nvPicPr>
          <p:cNvPr id="114" name="Google Shape;114;p22"/>
          <p:cNvPicPr preferRelativeResize="0"/>
          <p:nvPr/>
        </p:nvPicPr>
        <p:blipFill>
          <a:blip r:embed="rId4">
            <a:alphaModFix/>
          </a:blip>
          <a:stretch>
            <a:fillRect/>
          </a:stretch>
        </p:blipFill>
        <p:spPr>
          <a:xfrm>
            <a:off x="1886798" y="2567488"/>
            <a:ext cx="649676" cy="649676"/>
          </a:xfrm>
          <a:prstGeom prst="rect">
            <a:avLst/>
          </a:prstGeom>
          <a:noFill/>
          <a:ln>
            <a:noFill/>
          </a:ln>
        </p:spPr>
      </p:pic>
      <p:pic>
        <p:nvPicPr>
          <p:cNvPr id="115" name="Google Shape;115;p22"/>
          <p:cNvPicPr preferRelativeResize="0"/>
          <p:nvPr/>
        </p:nvPicPr>
        <p:blipFill>
          <a:blip r:embed="rId5">
            <a:alphaModFix/>
          </a:blip>
          <a:stretch>
            <a:fillRect/>
          </a:stretch>
        </p:blipFill>
        <p:spPr>
          <a:xfrm>
            <a:off x="1922737" y="3403654"/>
            <a:ext cx="649676" cy="649676"/>
          </a:xfrm>
          <a:prstGeom prst="rect">
            <a:avLst/>
          </a:prstGeom>
          <a:noFill/>
          <a:ln>
            <a:noFill/>
          </a:ln>
        </p:spPr>
      </p:pic>
      <p:pic>
        <p:nvPicPr>
          <p:cNvPr id="116" name="Google Shape;116;p22"/>
          <p:cNvPicPr preferRelativeResize="0"/>
          <p:nvPr/>
        </p:nvPicPr>
        <p:blipFill>
          <a:blip r:embed="rId6">
            <a:alphaModFix/>
          </a:blip>
          <a:stretch>
            <a:fillRect/>
          </a:stretch>
        </p:blipFill>
        <p:spPr>
          <a:xfrm>
            <a:off x="1936374" y="4239820"/>
            <a:ext cx="649676" cy="649676"/>
          </a:xfrm>
          <a:prstGeom prst="rect">
            <a:avLst/>
          </a:prstGeom>
          <a:noFill/>
          <a:ln>
            <a:noFill/>
          </a:ln>
        </p:spPr>
      </p:pic>
      <p:sp>
        <p:nvSpPr>
          <p:cNvPr id="117" name="Google Shape;117;p22"/>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p:nvPr/>
        </p:nvSpPr>
        <p:spPr>
          <a:xfrm>
            <a:off x="333158" y="364638"/>
            <a:ext cx="5901900" cy="4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200">
              <a:solidFill>
                <a:schemeClr val="dk1"/>
              </a:solidFill>
              <a:latin typeface="Luckiest Guy"/>
              <a:ea typeface="Luckiest Guy"/>
              <a:cs typeface="Luckiest Guy"/>
              <a:sym typeface="Luckiest Guy"/>
            </a:endParaRPr>
          </a:p>
        </p:txBody>
      </p:sp>
      <p:sp>
        <p:nvSpPr>
          <p:cNvPr id="123" name="Google Shape;123;p23"/>
          <p:cNvSpPr txBox="1"/>
          <p:nvPr/>
        </p:nvSpPr>
        <p:spPr>
          <a:xfrm>
            <a:off x="115350" y="1306625"/>
            <a:ext cx="5124300" cy="3631733"/>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latin typeface="Baumans"/>
                <a:ea typeface="Baumans"/>
                <a:cs typeface="Baumans"/>
                <a:sym typeface="Baumans"/>
              </a:rPr>
              <a:t>Remember the acronym </a:t>
            </a:r>
            <a:r>
              <a:rPr lang="en" sz="1600" b="1" dirty="0">
                <a:solidFill>
                  <a:srgbClr val="980000"/>
                </a:solidFill>
                <a:latin typeface="Baumans"/>
                <a:ea typeface="Baumans"/>
                <a:cs typeface="Baumans"/>
                <a:sym typeface="Baumans"/>
              </a:rPr>
              <a:t>MAINS</a:t>
            </a:r>
            <a:r>
              <a:rPr lang="en" sz="1600" dirty="0">
                <a:latin typeface="Baumans"/>
                <a:ea typeface="Baumans"/>
                <a:cs typeface="Baumans"/>
                <a:sym typeface="Baumans"/>
              </a:rPr>
              <a:t>: </a:t>
            </a:r>
            <a:endParaRPr sz="1600" dirty="0">
              <a:latin typeface="Baumans"/>
              <a:ea typeface="Baumans"/>
              <a:cs typeface="Baumans"/>
              <a:sym typeface="Baumans"/>
            </a:endParaRPr>
          </a:p>
          <a:p>
            <a:pPr marL="0" lvl="0" indent="0" algn="l" rtl="0">
              <a:spcBef>
                <a:spcPts val="0"/>
              </a:spcBef>
              <a:spcAft>
                <a:spcPts val="0"/>
              </a:spcAft>
              <a:buNone/>
            </a:pP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M is for Militarism </a:t>
            </a:r>
            <a:r>
              <a:rPr lang="en" sz="1600" dirty="0">
                <a:latin typeface="Baumans"/>
                <a:ea typeface="Baumans"/>
                <a:cs typeface="Baumans"/>
                <a:sym typeface="Baumans"/>
              </a:rPr>
              <a:t>- </a:t>
            </a:r>
            <a:r>
              <a:rPr lang="en-GB" sz="1600" dirty="0"/>
              <a:t>The belief that a country should have strong armed forces and be ready to use them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A is for the Alliance System </a:t>
            </a:r>
            <a:r>
              <a:rPr lang="en" sz="1600" dirty="0">
                <a:latin typeface="Baumans"/>
                <a:ea typeface="Baumans"/>
                <a:cs typeface="Baumans"/>
                <a:sym typeface="Baumans"/>
              </a:rPr>
              <a:t>- </a:t>
            </a:r>
            <a:r>
              <a:rPr lang="en-GB" sz="1600" dirty="0"/>
              <a:t>Agreements between countries to support or protect each other</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I is for Imperialism </a:t>
            </a:r>
            <a:r>
              <a:rPr lang="en" sz="1600" dirty="0">
                <a:latin typeface="Baumans"/>
                <a:ea typeface="Baumans"/>
                <a:cs typeface="Baumans"/>
                <a:sym typeface="Baumans"/>
              </a:rPr>
              <a:t>- </a:t>
            </a:r>
            <a:r>
              <a:rPr lang="en-GB" sz="1600" dirty="0"/>
              <a:t>When a country takes control of other countries to build an empire</a:t>
            </a:r>
            <a:r>
              <a:rPr lang="en" sz="1600" dirty="0">
                <a:latin typeface="Baumans"/>
                <a:ea typeface="Baumans"/>
                <a:cs typeface="Baumans"/>
                <a:sym typeface="Baumans"/>
              </a:rPr>
              <a:t>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N is for Nationalism </a:t>
            </a:r>
            <a:r>
              <a:rPr lang="en" sz="1600" dirty="0">
                <a:latin typeface="Baumans"/>
                <a:ea typeface="Baumans"/>
                <a:cs typeface="Baumans"/>
                <a:sym typeface="Baumans"/>
              </a:rPr>
              <a:t>- </a:t>
            </a:r>
            <a:r>
              <a:rPr lang="en-GB" sz="1600" dirty="0"/>
              <a:t>Strong pride / loyalty to a nation; it can also mean wanting people with a shared identity to form or rule their own country </a:t>
            </a:r>
            <a:endParaRPr sz="1600" dirty="0">
              <a:latin typeface="Baumans"/>
              <a:ea typeface="Baumans"/>
              <a:cs typeface="Baumans"/>
              <a:sym typeface="Baumans"/>
            </a:endParaRPr>
          </a:p>
          <a:p>
            <a:pPr lvl="0"/>
            <a:r>
              <a:rPr lang="en" sz="1600" dirty="0">
                <a:solidFill>
                  <a:srgbClr val="C00000"/>
                </a:solidFill>
                <a:latin typeface="Baumans"/>
                <a:ea typeface="Baumans"/>
                <a:cs typeface="Baumans"/>
                <a:sym typeface="Baumans"/>
              </a:rPr>
              <a:t>S is for Significant Individuals </a:t>
            </a:r>
            <a:r>
              <a:rPr lang="en" sz="1600" dirty="0">
                <a:latin typeface="Baumans"/>
                <a:ea typeface="Baumans"/>
                <a:cs typeface="Baumans"/>
                <a:sym typeface="Baumans"/>
              </a:rPr>
              <a:t>- I</a:t>
            </a:r>
            <a:r>
              <a:rPr lang="en-GB" sz="1600" dirty="0" err="1"/>
              <a:t>mportant</a:t>
            </a:r>
            <a:r>
              <a:rPr lang="en-GB" sz="1600" dirty="0"/>
              <a:t> people whose choices or actions helped shape events leading to the First World War </a:t>
            </a:r>
            <a:endParaRPr sz="1600" dirty="0">
              <a:latin typeface="Baumans"/>
              <a:ea typeface="Baumans"/>
              <a:cs typeface="Baumans"/>
              <a:sym typeface="Baumans"/>
            </a:endParaRPr>
          </a:p>
        </p:txBody>
      </p:sp>
      <p:sp>
        <p:nvSpPr>
          <p:cNvPr id="125" name="Google Shape;125;p23"/>
          <p:cNvSpPr txBox="1"/>
          <p:nvPr/>
        </p:nvSpPr>
        <p:spPr>
          <a:xfrm>
            <a:off x="115225" y="782525"/>
            <a:ext cx="5447400" cy="52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2400" b="1" u="sng">
                <a:latin typeface="Patrick Hand"/>
                <a:ea typeface="Patrick Hand"/>
                <a:cs typeface="Patrick Hand"/>
                <a:sym typeface="Patrick Hand"/>
              </a:rPr>
              <a:t>What were the main causes of WW1?</a:t>
            </a:r>
            <a:endParaRPr sz="2400" b="1" u="sng">
              <a:solidFill>
                <a:srgbClr val="000000"/>
              </a:solidFill>
              <a:latin typeface="Patrick Hand SC"/>
              <a:ea typeface="Patrick Hand SC"/>
              <a:cs typeface="Patrick Hand SC"/>
              <a:sym typeface="Patrick Hand SC"/>
            </a:endParaRPr>
          </a:p>
        </p:txBody>
      </p:sp>
      <p:sp>
        <p:nvSpPr>
          <p:cNvPr id="127" name="Google Shape;127;p23"/>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
        <p:nvSpPr>
          <p:cNvPr id="2" name="Google Shape;123;p23">
            <a:extLst>
              <a:ext uri="{FF2B5EF4-FFF2-40B4-BE49-F238E27FC236}">
                <a16:creationId xmlns:a16="http://schemas.microsoft.com/office/drawing/2014/main" id="{EC34FABC-ED72-7E52-E516-84BFA039BA32}"/>
              </a:ext>
            </a:extLst>
          </p:cNvPr>
          <p:cNvSpPr txBox="1"/>
          <p:nvPr/>
        </p:nvSpPr>
        <p:spPr>
          <a:xfrm>
            <a:off x="5479680" y="1306625"/>
            <a:ext cx="3548970" cy="3139291"/>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latin typeface="Baumans"/>
                <a:ea typeface="Baumans"/>
                <a:cs typeface="Baumans"/>
                <a:sym typeface="Baumans"/>
              </a:rPr>
              <a:t>Remember the acronym </a:t>
            </a:r>
            <a:r>
              <a:rPr lang="en" sz="1600" b="1" dirty="0">
                <a:solidFill>
                  <a:srgbClr val="980000"/>
                </a:solidFill>
                <a:latin typeface="Baumans"/>
                <a:ea typeface="Baumans"/>
                <a:cs typeface="Baumans"/>
                <a:sym typeface="Baumans"/>
              </a:rPr>
              <a:t>MAINS</a:t>
            </a:r>
            <a:r>
              <a:rPr lang="en" sz="1600" dirty="0">
                <a:latin typeface="Baumans"/>
                <a:ea typeface="Baumans"/>
                <a:cs typeface="Baumans"/>
                <a:sym typeface="Baumans"/>
              </a:rPr>
              <a:t>: </a:t>
            </a:r>
            <a:endParaRPr sz="1600" dirty="0">
              <a:latin typeface="Baumans"/>
              <a:ea typeface="Baumans"/>
              <a:cs typeface="Baumans"/>
              <a:sym typeface="Baumans"/>
            </a:endParaRPr>
          </a:p>
          <a:p>
            <a:pPr marL="0" lvl="0" indent="0" algn="l" rtl="0">
              <a:spcBef>
                <a:spcPts val="0"/>
              </a:spcBef>
              <a:spcAft>
                <a:spcPts val="0"/>
              </a:spcAft>
              <a:buNone/>
            </a:pPr>
            <a:endParaRPr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M is for Militarism</a:t>
            </a:r>
            <a:endParaRPr lang="en" sz="1600" dirty="0">
              <a:latin typeface="Baumans"/>
              <a:ea typeface="Baumans"/>
              <a:cs typeface="Baumans"/>
              <a:sym typeface="Baumans"/>
            </a:endParaRPr>
          </a:p>
          <a:p>
            <a:pPr lvl="0" algn="ctr"/>
            <a:r>
              <a:rPr lang="ja-JP" altLang="en-US" sz="1600">
                <a:latin typeface="Baumans"/>
                <a:ea typeface="Baumans"/>
                <a:cs typeface="Baumans"/>
                <a:sym typeface="Baumans"/>
              </a:rPr>
              <a:t>军国主义</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군국주의</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A is for the Alliance System</a:t>
            </a:r>
            <a:r>
              <a:rPr lang="en" sz="1600" dirty="0">
                <a:latin typeface="Baumans"/>
                <a:ea typeface="Baumans"/>
                <a:cs typeface="Baumans"/>
                <a:sym typeface="Baumans"/>
              </a:rPr>
              <a:t> </a:t>
            </a:r>
          </a:p>
          <a:p>
            <a:pPr lvl="0" algn="ctr"/>
            <a:r>
              <a:rPr lang="ja-JP" altLang="en-US" sz="1600">
                <a:latin typeface="Baumans"/>
                <a:ea typeface="Baumans"/>
                <a:cs typeface="Baumans"/>
                <a:sym typeface="Baumans"/>
              </a:rPr>
              <a:t>联盟系统</a:t>
            </a:r>
            <a:r>
              <a:rPr lang="en" sz="1600" dirty="0">
                <a:latin typeface="Baumans"/>
                <a:ea typeface="Baumans"/>
                <a:cs typeface="Baumans"/>
                <a:sym typeface="Baumans"/>
              </a:rPr>
              <a:t> / </a:t>
            </a:r>
            <a:r>
              <a:rPr lang="ko-KR" altLang="en-US" sz="1600" dirty="0">
                <a:latin typeface="Baumans"/>
                <a:ea typeface="Baumans"/>
                <a:cs typeface="Baumans"/>
                <a:sym typeface="Baumans"/>
              </a:rPr>
              <a:t>동맹 시스템</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I is for Imperialism</a:t>
            </a:r>
            <a:endParaRPr lang="en" sz="1600" dirty="0">
              <a:latin typeface="Baumans"/>
              <a:ea typeface="Baumans"/>
              <a:cs typeface="Baumans"/>
              <a:sym typeface="Baumans"/>
            </a:endParaRPr>
          </a:p>
          <a:p>
            <a:pPr lvl="0" algn="ctr"/>
            <a:r>
              <a:rPr lang="ja-JP" altLang="en-US" sz="1600">
                <a:latin typeface="Baumans"/>
                <a:ea typeface="Baumans"/>
                <a:cs typeface="Baumans"/>
                <a:sym typeface="Baumans"/>
              </a:rPr>
              <a:t>帝国主义</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제국주의</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N is for Nationalism</a:t>
            </a:r>
            <a:r>
              <a:rPr lang="en" sz="1600" dirty="0">
                <a:latin typeface="Baumans"/>
                <a:ea typeface="Baumans"/>
                <a:cs typeface="Baumans"/>
                <a:sym typeface="Baumans"/>
              </a:rPr>
              <a:t> </a:t>
            </a:r>
          </a:p>
          <a:p>
            <a:pPr lvl="0" algn="ctr"/>
            <a:r>
              <a:rPr lang="ja-JP" altLang="en-US" sz="1600">
                <a:latin typeface="Baumans"/>
                <a:ea typeface="Baumans"/>
                <a:cs typeface="Baumans"/>
                <a:sym typeface="Baumans"/>
              </a:rPr>
              <a:t>民族主义</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민족주의</a:t>
            </a:r>
            <a:endParaRPr lang="en" sz="1600" dirty="0">
              <a:latin typeface="Baumans"/>
              <a:ea typeface="Baumans"/>
              <a:cs typeface="Baumans"/>
              <a:sym typeface="Baumans"/>
            </a:endParaRPr>
          </a:p>
          <a:p>
            <a:pPr lvl="0" algn="ctr"/>
            <a:r>
              <a:rPr lang="en" sz="1600" dirty="0">
                <a:solidFill>
                  <a:srgbClr val="C00000"/>
                </a:solidFill>
                <a:latin typeface="Baumans"/>
                <a:ea typeface="Baumans"/>
                <a:cs typeface="Baumans"/>
                <a:sym typeface="Baumans"/>
              </a:rPr>
              <a:t>S is for Significant Individuals</a:t>
            </a:r>
            <a:r>
              <a:rPr lang="en" sz="1600" dirty="0">
                <a:latin typeface="Baumans"/>
                <a:ea typeface="Baumans"/>
                <a:cs typeface="Baumans"/>
                <a:sym typeface="Baumans"/>
              </a:rPr>
              <a:t> </a:t>
            </a:r>
          </a:p>
          <a:p>
            <a:pPr lvl="0" algn="ctr"/>
            <a:r>
              <a:rPr lang="ja-JP" altLang="en-US" sz="1600">
                <a:latin typeface="Baumans"/>
                <a:ea typeface="Baumans"/>
                <a:cs typeface="Baumans"/>
                <a:sym typeface="Baumans"/>
              </a:rPr>
              <a:t>重要人物</a:t>
            </a:r>
            <a:r>
              <a:rPr lang="en-US" altLang="ja-JP" sz="1600" dirty="0">
                <a:latin typeface="Baumans"/>
                <a:ea typeface="Baumans"/>
                <a:cs typeface="Baumans"/>
                <a:sym typeface="Baumans"/>
              </a:rPr>
              <a:t> / </a:t>
            </a:r>
            <a:r>
              <a:rPr lang="ko-KR" altLang="en-US" sz="1600" dirty="0">
                <a:latin typeface="Baumans"/>
                <a:ea typeface="Baumans"/>
                <a:cs typeface="Baumans"/>
                <a:sym typeface="Baumans"/>
              </a:rPr>
              <a:t>중요한 인물입니다</a:t>
            </a:r>
            <a:endParaRPr sz="1600" dirty="0">
              <a:latin typeface="Baumans"/>
              <a:ea typeface="Baumans"/>
              <a:cs typeface="Baumans"/>
              <a:sym typeface="Baum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p:nvPr/>
        </p:nvSpPr>
        <p:spPr>
          <a:xfrm>
            <a:off x="4574975" y="1316700"/>
            <a:ext cx="4401900" cy="106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a:solidFill>
                  <a:schemeClr val="dk1"/>
                </a:solidFill>
                <a:latin typeface="Baumans"/>
                <a:ea typeface="Baumans"/>
                <a:cs typeface="Baumans"/>
                <a:sym typeface="Baumans"/>
              </a:rPr>
              <a:t> Complete the multiple choice questions whilst watching the video: </a:t>
            </a: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Second Wave IMPERIALISM</a:t>
            </a:r>
            <a:endParaRPr sz="1800" b="1">
              <a:solidFill>
                <a:schemeClr val="dk1"/>
              </a:solidFill>
              <a:latin typeface="Baumans"/>
              <a:ea typeface="Baumans"/>
              <a:cs typeface="Baumans"/>
              <a:sym typeface="Baumans"/>
            </a:endParaRPr>
          </a:p>
        </p:txBody>
      </p:sp>
      <p:sp>
        <p:nvSpPr>
          <p:cNvPr id="133" name="Google Shape;133;p24"/>
          <p:cNvSpPr txBox="1"/>
          <p:nvPr/>
        </p:nvSpPr>
        <p:spPr>
          <a:xfrm>
            <a:off x="129426" y="630125"/>
            <a:ext cx="4471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 New form of Imperialism</a:t>
            </a:r>
            <a:endParaRPr sz="2400" b="1" i="0" u="sng" strike="noStrike" cap="none">
              <a:solidFill>
                <a:schemeClr val="dk1"/>
              </a:solidFill>
              <a:latin typeface="Patrick Hand"/>
              <a:ea typeface="Patrick Hand"/>
              <a:cs typeface="Patrick Hand"/>
              <a:sym typeface="Patrick Hand"/>
            </a:endParaRPr>
          </a:p>
        </p:txBody>
      </p:sp>
      <p:pic>
        <p:nvPicPr>
          <p:cNvPr id="134" name="Google Shape;134;p24" descr="AP HEIMLER REVIEW GUIDE (formerly known as the Ultimate Review Packet): &#10;+AP Euro Heimler Review Guide: https://bit.ly/3PCPyiw &#10;+AP Essay CRAM Course (DBQ, LEQ, SAQ Help): https://bit.ly/3XuwaWN &#10;+Bundle Heimler Review Guide and Essay CRAM Course: https://bit.ly/3XvJGt4 &#10;&#10;GET FOLLOW-ALONG NOTEGUIDES for this video: https://bit.ly/432NiE9  &#10;&#10;HEIMLER’S HISTORY MERCH! https://bit.ly/3d3iejm&#10;&#10;Tiktok: @steveheimler&#10;Instagram: @heimlers_history&#10;&#10;Heimler's History DISCORD Server: https://discord.gg/heimlershistory&#10;&#10;In this video Heimler explains what you need to know about Unit 7 Topic 6 (7.6) of the AP European History curriculum which is all about the second wave of European imperialism in the 19th century which focused on Africa and Asia." title="Second Wave IMPERIALISM, Explained [AP Euro Review—Unit 7 Topic 6]">
            <a:hlinkClick r:id="rId3"/>
          </p:cNvPr>
          <p:cNvPicPr preferRelativeResize="0"/>
          <p:nvPr/>
        </p:nvPicPr>
        <p:blipFill>
          <a:blip r:embed="rId4">
            <a:alphaModFix/>
          </a:blip>
          <a:stretch>
            <a:fillRect/>
          </a:stretch>
        </p:blipFill>
        <p:spPr>
          <a:xfrm>
            <a:off x="129425" y="1316700"/>
            <a:ext cx="4471200" cy="2515050"/>
          </a:xfrm>
          <a:prstGeom prst="rect">
            <a:avLst/>
          </a:prstGeom>
          <a:noFill/>
          <a:ln>
            <a:noFill/>
          </a:ln>
        </p:spPr>
      </p:pic>
      <p:sp>
        <p:nvSpPr>
          <p:cNvPr id="135" name="Google Shape;135;p24"/>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36" name="Google Shape;136;p24" title="Screenshot 2026-10-02 at 9.16.35 AM.png"/>
          <p:cNvPicPr preferRelativeResize="0"/>
          <p:nvPr/>
        </p:nvPicPr>
        <p:blipFill>
          <a:blip r:embed="rId5">
            <a:alphaModFix/>
          </a:blip>
          <a:stretch>
            <a:fillRect/>
          </a:stretch>
        </p:blipFill>
        <p:spPr>
          <a:xfrm>
            <a:off x="5162276" y="2379600"/>
            <a:ext cx="3227300" cy="246548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p:nvPr/>
        </p:nvSpPr>
        <p:spPr>
          <a:xfrm>
            <a:off x="115350" y="1201625"/>
            <a:ext cx="6392400" cy="38790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900"/>
              </a:spcBef>
              <a:spcAft>
                <a:spcPts val="0"/>
              </a:spcAft>
              <a:buNone/>
            </a:pPr>
            <a:r>
              <a:rPr lang="en" sz="1500" b="1">
                <a:solidFill>
                  <a:srgbClr val="38761D"/>
                </a:solidFill>
                <a:latin typeface="Delius"/>
                <a:ea typeface="Delius"/>
                <a:cs typeface="Delius"/>
                <a:sym typeface="Delius"/>
              </a:rPr>
              <a:t>1. A) One country extending political dominance over another</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2. B) European factories needed raw materials and new markets</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3. D) Cotton</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4. B) They wanted to sell manufactured goods to more people</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5. B) European countries competing for territory in Africa</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6. C) European countries raced to claim territories before others did</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7. A) Social Darwinism and ideas of racial superiority</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8. B) They had advanced weapons, transport and medicine</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0"/>
              </a:spcAft>
              <a:buNone/>
            </a:pPr>
            <a:r>
              <a:rPr lang="en" sz="1500" b="1">
                <a:solidFill>
                  <a:srgbClr val="38761D"/>
                </a:solidFill>
                <a:latin typeface="Delius"/>
                <a:ea typeface="Delius"/>
                <a:cs typeface="Delius"/>
                <a:sym typeface="Delius"/>
              </a:rPr>
              <a:t>9. D) The First Opium War began</a:t>
            </a:r>
            <a:endParaRPr sz="1500" b="1">
              <a:solidFill>
                <a:srgbClr val="38761D"/>
              </a:solidFill>
              <a:latin typeface="Delius"/>
              <a:ea typeface="Delius"/>
              <a:cs typeface="Delius"/>
              <a:sym typeface="Delius"/>
            </a:endParaRPr>
          </a:p>
          <a:p>
            <a:pPr marL="0" lvl="0" indent="0" algn="l" rtl="0">
              <a:lnSpc>
                <a:spcPct val="100000"/>
              </a:lnSpc>
              <a:spcBef>
                <a:spcPts val="1200"/>
              </a:spcBef>
              <a:spcAft>
                <a:spcPts val="1200"/>
              </a:spcAft>
              <a:buNone/>
            </a:pPr>
            <a:r>
              <a:rPr lang="en" sz="1500" b="1">
                <a:solidFill>
                  <a:srgbClr val="38761D"/>
                </a:solidFill>
                <a:latin typeface="Delius"/>
                <a:ea typeface="Delius"/>
                <a:cs typeface="Delius"/>
                <a:sym typeface="Delius"/>
              </a:rPr>
              <a:t>10. B) To transport raw materials and manufactured goods more quickly</a:t>
            </a:r>
            <a:endParaRPr sz="1500" b="1">
              <a:solidFill>
                <a:srgbClr val="38761D"/>
              </a:solidFill>
              <a:latin typeface="Delius"/>
              <a:ea typeface="Delius"/>
              <a:cs typeface="Delius"/>
              <a:sym typeface="Delius"/>
            </a:endParaRPr>
          </a:p>
        </p:txBody>
      </p:sp>
      <p:sp>
        <p:nvSpPr>
          <p:cNvPr id="142" name="Google Shape;142;p25"/>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
        <p:nvSpPr>
          <p:cNvPr id="143" name="Google Shape;143;p25"/>
          <p:cNvSpPr txBox="1"/>
          <p:nvPr/>
        </p:nvSpPr>
        <p:spPr>
          <a:xfrm>
            <a:off x="129426" y="630125"/>
            <a:ext cx="4471200" cy="5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u="sng">
                <a:solidFill>
                  <a:schemeClr val="dk1"/>
                </a:solidFill>
                <a:latin typeface="Patrick Hand"/>
                <a:ea typeface="Patrick Hand"/>
                <a:cs typeface="Patrick Hand"/>
                <a:sym typeface="Patrick Hand"/>
              </a:rPr>
              <a:t>A New form of Imperialism</a:t>
            </a:r>
            <a:endParaRPr sz="2400" b="1" i="0" u="sng" strike="noStrike" cap="none">
              <a:solidFill>
                <a:schemeClr val="dk1"/>
              </a:solidFill>
              <a:latin typeface="Patrick Hand"/>
              <a:ea typeface="Patrick Hand"/>
              <a:cs typeface="Patrick Hand"/>
              <a:sym typeface="Patrick Hand"/>
            </a:endParaRPr>
          </a:p>
        </p:txBody>
      </p:sp>
      <p:pic>
        <p:nvPicPr>
          <p:cNvPr id="144" name="Google Shape;144;p25" title="Screenshot 2026-10-02 at 9.16.35 AM.png"/>
          <p:cNvPicPr preferRelativeResize="0"/>
          <p:nvPr/>
        </p:nvPicPr>
        <p:blipFill>
          <a:blip r:embed="rId3">
            <a:alphaModFix/>
          </a:blip>
          <a:stretch>
            <a:fillRect/>
          </a:stretch>
        </p:blipFill>
        <p:spPr>
          <a:xfrm>
            <a:off x="6459300" y="2035950"/>
            <a:ext cx="2569349" cy="1962851"/>
          </a:xfrm>
          <a:prstGeom prst="rect">
            <a:avLst/>
          </a:prstGeom>
          <a:noFill/>
          <a:ln>
            <a:noFill/>
          </a:ln>
        </p:spPr>
      </p:pic>
      <p:pic>
        <p:nvPicPr>
          <p:cNvPr id="145" name="Google Shape;145;p25"/>
          <p:cNvPicPr preferRelativeResize="0"/>
          <p:nvPr/>
        </p:nvPicPr>
        <p:blipFill>
          <a:blip r:embed="rId4">
            <a:alphaModFix/>
          </a:blip>
          <a:stretch>
            <a:fillRect/>
          </a:stretch>
        </p:blipFill>
        <p:spPr>
          <a:xfrm>
            <a:off x="6652751" y="732676"/>
            <a:ext cx="1801087" cy="1200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p:nvPr/>
        </p:nvSpPr>
        <p:spPr>
          <a:xfrm>
            <a:off x="115350" y="782525"/>
            <a:ext cx="6362400" cy="1394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b="1">
                <a:solidFill>
                  <a:schemeClr val="dk1"/>
                </a:solidFill>
                <a:latin typeface="Baumans"/>
                <a:ea typeface="Baumans"/>
                <a:cs typeface="Baumans"/>
                <a:sym typeface="Baumans"/>
              </a:rPr>
              <a:t> Guided Reading</a:t>
            </a:r>
            <a:endParaRPr sz="18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Read the source on European Empires carefully, then use the Long Fuse – Europe in 1914 sheet to answer the questions and show what you have learned.</a:t>
            </a:r>
            <a:endParaRPr sz="1800">
              <a:solidFill>
                <a:schemeClr val="dk1"/>
              </a:solidFill>
              <a:latin typeface="Baumans"/>
              <a:ea typeface="Baumans"/>
              <a:cs typeface="Baumans"/>
              <a:sym typeface="Baumans"/>
            </a:endParaRPr>
          </a:p>
        </p:txBody>
      </p:sp>
      <p:pic>
        <p:nvPicPr>
          <p:cNvPr id="151" name="Google Shape;151;p26" descr="This timer silently counts down to 0:00, then alerts you that time is up with a gentle beep sound." title="15 Minute Timer">
            <a:hlinkClick r:id="rId3"/>
          </p:cNvPr>
          <p:cNvPicPr preferRelativeResize="0"/>
          <p:nvPr/>
        </p:nvPicPr>
        <p:blipFill>
          <a:blip r:embed="rId4">
            <a:alphaModFix/>
          </a:blip>
          <a:stretch>
            <a:fillRect/>
          </a:stretch>
        </p:blipFill>
        <p:spPr>
          <a:xfrm>
            <a:off x="6630913" y="831975"/>
            <a:ext cx="2304534" cy="1296300"/>
          </a:xfrm>
          <a:prstGeom prst="rect">
            <a:avLst/>
          </a:prstGeom>
          <a:noFill/>
          <a:ln>
            <a:noFill/>
          </a:ln>
        </p:spPr>
      </p:pic>
      <p:sp>
        <p:nvSpPr>
          <p:cNvPr id="152" name="Google Shape;152;p26"/>
          <p:cNvSpPr txBox="1"/>
          <p:nvPr/>
        </p:nvSpPr>
        <p:spPr>
          <a:xfrm>
            <a:off x="1079125" y="2230275"/>
            <a:ext cx="7856400" cy="1262100"/>
          </a:xfrm>
          <a:prstGeom prst="rect">
            <a:avLst/>
          </a:prstGeom>
          <a:solidFill>
            <a:srgbClr val="FAA5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dirty="0">
                <a:solidFill>
                  <a:schemeClr val="lt1"/>
                </a:solidFill>
                <a:latin typeface="Poppins"/>
                <a:ea typeface="Poppins"/>
                <a:cs typeface="Poppins"/>
                <a:sym typeface="Poppins"/>
              </a:rPr>
              <a:t>How did competition for colonies increase the chances of war in Europe before 1914? Explain your answer using examples.</a:t>
            </a:r>
            <a:endParaRPr b="1" dirty="0">
              <a:solidFill>
                <a:schemeClr val="dk1"/>
              </a:solidFill>
              <a:latin typeface="Poppins"/>
              <a:ea typeface="Poppins"/>
              <a:cs typeface="Poppins"/>
              <a:sym typeface="Poppins"/>
            </a:endParaRPr>
          </a:p>
          <a:p>
            <a:pPr marL="457200" lvl="0" indent="-317500" algn="l" rtl="0">
              <a:spcBef>
                <a:spcPts val="0"/>
              </a:spcBef>
              <a:spcAft>
                <a:spcPts val="0"/>
              </a:spcAft>
              <a:buClr>
                <a:schemeClr val="dk1"/>
              </a:buClr>
              <a:buSzPts val="1400"/>
              <a:buFont typeface="Poppins"/>
              <a:buChar char="●"/>
            </a:pPr>
            <a:r>
              <a:rPr lang="en" b="1" dirty="0">
                <a:solidFill>
                  <a:schemeClr val="dk1"/>
                </a:solidFill>
                <a:latin typeface="Poppins"/>
                <a:ea typeface="Poppins"/>
                <a:cs typeface="Poppins"/>
                <a:sym typeface="Poppins"/>
              </a:rPr>
              <a:t>- How competition created tension</a:t>
            </a:r>
            <a:endParaRPr b="1" dirty="0">
              <a:solidFill>
                <a:schemeClr val="dk1"/>
              </a:solidFill>
              <a:latin typeface="Poppins"/>
              <a:ea typeface="Poppins"/>
              <a:cs typeface="Poppins"/>
              <a:sym typeface="Poppins"/>
            </a:endParaRPr>
          </a:p>
          <a:p>
            <a:pPr marL="457200" lvl="0" indent="-317500" algn="l" rtl="0">
              <a:spcBef>
                <a:spcPts val="0"/>
              </a:spcBef>
              <a:spcAft>
                <a:spcPts val="0"/>
              </a:spcAft>
              <a:buClr>
                <a:schemeClr val="dk1"/>
              </a:buClr>
              <a:buSzPts val="1400"/>
              <a:buFont typeface="Poppins"/>
              <a:buChar char="●"/>
            </a:pPr>
            <a:r>
              <a:rPr lang="en" b="1" dirty="0">
                <a:solidFill>
                  <a:schemeClr val="dk1"/>
                </a:solidFill>
                <a:latin typeface="Poppins"/>
                <a:ea typeface="Poppins"/>
                <a:cs typeface="Poppins"/>
                <a:sym typeface="Poppins"/>
              </a:rPr>
              <a:t>- One example of colonial rivalry</a:t>
            </a:r>
            <a:endParaRPr b="1" dirty="0">
              <a:solidFill>
                <a:schemeClr val="dk1"/>
              </a:solidFill>
              <a:latin typeface="Poppins"/>
              <a:ea typeface="Poppins"/>
              <a:cs typeface="Poppins"/>
              <a:sym typeface="Poppins"/>
            </a:endParaRPr>
          </a:p>
          <a:p>
            <a:pPr marL="457200" lvl="0" indent="-317500" algn="l" rtl="0">
              <a:spcBef>
                <a:spcPts val="0"/>
              </a:spcBef>
              <a:spcAft>
                <a:spcPts val="0"/>
              </a:spcAft>
              <a:buClr>
                <a:schemeClr val="dk1"/>
              </a:buClr>
              <a:buSzPts val="1400"/>
              <a:buFont typeface="Poppins"/>
              <a:buChar char="●"/>
            </a:pPr>
            <a:r>
              <a:rPr lang="en" b="1" dirty="0">
                <a:solidFill>
                  <a:schemeClr val="dk1"/>
                </a:solidFill>
                <a:latin typeface="Poppins"/>
                <a:ea typeface="Poppins"/>
                <a:cs typeface="Poppins"/>
                <a:sym typeface="Poppins"/>
              </a:rPr>
              <a:t>- How this made war more likely</a:t>
            </a:r>
            <a:endParaRPr b="1" dirty="0">
              <a:solidFill>
                <a:schemeClr val="dk1"/>
              </a:solidFill>
              <a:latin typeface="Poppins"/>
              <a:ea typeface="Poppins"/>
              <a:cs typeface="Poppins"/>
              <a:sym typeface="Poppins"/>
            </a:endParaRPr>
          </a:p>
        </p:txBody>
      </p:sp>
      <p:sp>
        <p:nvSpPr>
          <p:cNvPr id="153" name="Google Shape;153;p26"/>
          <p:cNvSpPr txBox="1"/>
          <p:nvPr/>
        </p:nvSpPr>
        <p:spPr>
          <a:xfrm>
            <a:off x="115350" y="3594375"/>
            <a:ext cx="7856400" cy="1477500"/>
          </a:xfrm>
          <a:prstGeom prst="rect">
            <a:avLst/>
          </a:prstGeom>
          <a:solidFill>
            <a:srgbClr val="CE0925"/>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FF00"/>
                </a:solidFill>
                <a:latin typeface="Poppins"/>
                <a:ea typeface="Poppins"/>
                <a:cs typeface="Poppins"/>
                <a:sym typeface="Poppins"/>
              </a:rPr>
              <a:t>Why did European countries want to fight over colonies? Explain your answer using examples.</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Economic reasons – resources and markets</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Power and prestige – showing strength</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One example of a European country</a:t>
            </a:r>
            <a:endParaRPr b="1">
              <a:solidFill>
                <a:schemeClr val="lt1"/>
              </a:solidFill>
              <a:latin typeface="Poppins"/>
              <a:ea typeface="Poppins"/>
              <a:cs typeface="Poppins"/>
              <a:sym typeface="Poppins"/>
            </a:endParaRPr>
          </a:p>
          <a:p>
            <a:pPr marL="457200" lvl="0" indent="-317500" algn="l" rtl="0">
              <a:spcBef>
                <a:spcPts val="0"/>
              </a:spcBef>
              <a:spcAft>
                <a:spcPts val="0"/>
              </a:spcAft>
              <a:buClr>
                <a:schemeClr val="lt1"/>
              </a:buClr>
              <a:buSzPts val="1400"/>
              <a:buFont typeface="Poppins"/>
              <a:buChar char="●"/>
            </a:pPr>
            <a:r>
              <a:rPr lang="en" b="1">
                <a:solidFill>
                  <a:schemeClr val="lt1"/>
                </a:solidFill>
                <a:latin typeface="Poppins"/>
                <a:ea typeface="Poppins"/>
                <a:cs typeface="Poppins"/>
                <a:sym typeface="Poppins"/>
              </a:rPr>
              <a:t>Why these reasons caused competition</a:t>
            </a:r>
            <a:endParaRPr b="1">
              <a:solidFill>
                <a:schemeClr val="lt1"/>
              </a:solidFill>
              <a:latin typeface="Poppins"/>
              <a:ea typeface="Poppins"/>
              <a:cs typeface="Poppins"/>
              <a:sym typeface="Poppins"/>
            </a:endParaRPr>
          </a:p>
        </p:txBody>
      </p:sp>
      <p:grpSp>
        <p:nvGrpSpPr>
          <p:cNvPr id="154" name="Google Shape;154;p26"/>
          <p:cNvGrpSpPr/>
          <p:nvPr/>
        </p:nvGrpSpPr>
        <p:grpSpPr>
          <a:xfrm>
            <a:off x="115353" y="2485440"/>
            <a:ext cx="891102" cy="1015818"/>
            <a:chOff x="5313625" y="1569463"/>
            <a:chExt cx="1136175" cy="1330475"/>
          </a:xfrm>
        </p:grpSpPr>
        <p:pic>
          <p:nvPicPr>
            <p:cNvPr id="155" name="Google Shape;155;p26"/>
            <p:cNvPicPr preferRelativeResize="0"/>
            <p:nvPr/>
          </p:nvPicPr>
          <p:blipFill>
            <a:blip r:embed="rId5">
              <a:alphaModFix/>
            </a:blip>
            <a:stretch>
              <a:fillRect/>
            </a:stretch>
          </p:blipFill>
          <p:spPr>
            <a:xfrm>
              <a:off x="5392550" y="1569463"/>
              <a:ext cx="1057250" cy="1330475"/>
            </a:xfrm>
            <a:prstGeom prst="rect">
              <a:avLst/>
            </a:prstGeom>
            <a:noFill/>
            <a:ln>
              <a:noFill/>
            </a:ln>
          </p:spPr>
        </p:pic>
        <p:pic>
          <p:nvPicPr>
            <p:cNvPr id="156" name="Google Shape;156;p26" descr="smoke is coming out of a hole in the ground on a white background . (Provided by Tenor)"/>
            <p:cNvPicPr preferRelativeResize="0"/>
            <p:nvPr/>
          </p:nvPicPr>
          <p:blipFill rotWithShape="1">
            <a:blip r:embed="rId6">
              <a:alphaModFix/>
            </a:blip>
            <a:srcRect l="42413" t="17925"/>
            <a:stretch/>
          </p:blipFill>
          <p:spPr>
            <a:xfrm>
              <a:off x="5313625" y="1650525"/>
              <a:ext cx="418000" cy="604725"/>
            </a:xfrm>
            <a:prstGeom prst="rect">
              <a:avLst/>
            </a:prstGeom>
            <a:noFill/>
            <a:ln>
              <a:noFill/>
            </a:ln>
          </p:spPr>
        </p:pic>
      </p:grpSp>
      <p:grpSp>
        <p:nvGrpSpPr>
          <p:cNvPr id="157" name="Google Shape;157;p26"/>
          <p:cNvGrpSpPr/>
          <p:nvPr/>
        </p:nvGrpSpPr>
        <p:grpSpPr>
          <a:xfrm>
            <a:off x="8044404" y="3898701"/>
            <a:ext cx="891124" cy="1015802"/>
            <a:chOff x="5426175" y="139294"/>
            <a:chExt cx="946695" cy="1152356"/>
          </a:xfrm>
        </p:grpSpPr>
        <p:pic>
          <p:nvPicPr>
            <p:cNvPr id="158" name="Google Shape;158;p26"/>
            <p:cNvPicPr preferRelativeResize="0"/>
            <p:nvPr/>
          </p:nvPicPr>
          <p:blipFill>
            <a:blip r:embed="rId7">
              <a:alphaModFix/>
            </a:blip>
            <a:stretch>
              <a:fillRect/>
            </a:stretch>
          </p:blipFill>
          <p:spPr>
            <a:xfrm>
              <a:off x="5469469" y="139300"/>
              <a:ext cx="903401" cy="1152350"/>
            </a:xfrm>
            <a:prstGeom prst="rect">
              <a:avLst/>
            </a:prstGeom>
            <a:noFill/>
            <a:ln>
              <a:noFill/>
            </a:ln>
          </p:spPr>
        </p:pic>
        <p:pic>
          <p:nvPicPr>
            <p:cNvPr id="159" name="Google Shape;159;p26" descr="a cartoon drawing of a fire with a flame coming out of it (Provided by Tenor)"/>
            <p:cNvPicPr preferRelativeResize="0"/>
            <p:nvPr/>
          </p:nvPicPr>
          <p:blipFill>
            <a:blip r:embed="rId8">
              <a:alphaModFix/>
            </a:blip>
            <a:stretch>
              <a:fillRect/>
            </a:stretch>
          </p:blipFill>
          <p:spPr>
            <a:xfrm>
              <a:off x="5426175" y="139294"/>
              <a:ext cx="341075" cy="391706"/>
            </a:xfrm>
            <a:prstGeom prst="rect">
              <a:avLst/>
            </a:prstGeom>
            <a:noFill/>
            <a:ln>
              <a:noFill/>
            </a:ln>
          </p:spPr>
        </p:pic>
      </p:grpSp>
      <p:pic>
        <p:nvPicPr>
          <p:cNvPr id="160" name="Google Shape;160;p26"/>
          <p:cNvPicPr preferRelativeResize="0"/>
          <p:nvPr/>
        </p:nvPicPr>
        <p:blipFill>
          <a:blip r:embed="rId9">
            <a:alphaModFix/>
          </a:blip>
          <a:stretch>
            <a:fillRect/>
          </a:stretch>
        </p:blipFill>
        <p:spPr>
          <a:xfrm>
            <a:off x="8065500" y="3174400"/>
            <a:ext cx="848950" cy="553650"/>
          </a:xfrm>
          <a:prstGeom prst="rect">
            <a:avLst/>
          </a:prstGeom>
          <a:noFill/>
          <a:ln>
            <a:noFill/>
          </a:ln>
        </p:spPr>
      </p:pic>
      <p:sp>
        <p:nvSpPr>
          <p:cNvPr id="161" name="Google Shape;161;p26"/>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1"/>
                                        </p:tgtEl>
                                        <p:attrNameLst>
                                          <p:attrName>style.visibility</p:attrName>
                                        </p:attrNameLst>
                                      </p:cBhvr>
                                      <p:to>
                                        <p:strVal val="visible"/>
                                      </p:to>
                                    </p:set>
                                    <p:animEffect transition="in" filter="fade">
                                      <p:cBhvr>
                                        <p:cTn id="7" dur="10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7"/>
          <p:cNvSpPr txBox="1"/>
          <p:nvPr/>
        </p:nvSpPr>
        <p:spPr>
          <a:xfrm>
            <a:off x="115350" y="630125"/>
            <a:ext cx="6811500" cy="3829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Before World War I, European leaders thought a country needed…</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to control land overseas (colonies/territories).</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The two European countries that already had big empires in the 1800s were…</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Britain and France.</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At its biggest size, the British Empire controlled…</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about a quarter of the world.</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Two countries that were ruled or influenced by the British Empire were…</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examples include Canada, India, South Africa, Egypt, Australia, New Zealand (any two).</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a:pPr>
            <a:r>
              <a:rPr lang="en" sz="1600">
                <a:solidFill>
                  <a:schemeClr val="dk1"/>
                </a:solidFill>
                <a:latin typeface="Delius"/>
                <a:ea typeface="Delius"/>
                <a:cs typeface="Delius"/>
                <a:sym typeface="Delius"/>
              </a:rPr>
              <a:t>Italy and Germany became united countries in the…</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1870s.</a:t>
            </a:r>
            <a:endParaRPr sz="1600" b="1">
              <a:solidFill>
                <a:srgbClr val="980000"/>
              </a:solidFill>
              <a:latin typeface="Delius"/>
              <a:ea typeface="Delius"/>
              <a:cs typeface="Delius"/>
              <a:sym typeface="Delius"/>
            </a:endParaRPr>
          </a:p>
        </p:txBody>
      </p:sp>
      <p:sp>
        <p:nvSpPr>
          <p:cNvPr id="167" name="Google Shape;167;p27"/>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68" name="Google Shape;168;p27"/>
          <p:cNvPicPr preferRelativeResize="0"/>
          <p:nvPr/>
        </p:nvPicPr>
        <p:blipFill>
          <a:blip r:embed="rId3">
            <a:alphaModFix/>
          </a:blip>
          <a:stretch>
            <a:fillRect/>
          </a:stretch>
        </p:blipFill>
        <p:spPr>
          <a:xfrm>
            <a:off x="7156426" y="1971388"/>
            <a:ext cx="1801087" cy="1200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p:nvPr/>
        </p:nvSpPr>
        <p:spPr>
          <a:xfrm>
            <a:off x="69200" y="630125"/>
            <a:ext cx="6066300" cy="41127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chemeClr val="dk1"/>
              </a:buClr>
              <a:buSzPts val="1600"/>
              <a:buFont typeface="Delius"/>
              <a:buAutoNum type="arabicPeriod" startAt="6"/>
            </a:pPr>
            <a:r>
              <a:rPr lang="en" sz="1600">
                <a:solidFill>
                  <a:schemeClr val="dk1"/>
                </a:solidFill>
                <a:latin typeface="Delius"/>
                <a:ea typeface="Delius"/>
                <a:cs typeface="Delius"/>
                <a:sym typeface="Delius"/>
              </a:rPr>
              <a:t>The continent that European powers competed over because it had many resources was…</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Africa.</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Between 1870 and 1914, European countries increased their military spending by…</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Increasing the size of their armies and navys</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The part of Africa that Germany took, even though it was not very valuable, was…</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Namibia.</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Germany and France argued over Morocco in the years…</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1906 and 1911.</a:t>
            </a:r>
            <a:endParaRPr sz="1600" b="1">
              <a:solidFill>
                <a:srgbClr val="980000"/>
              </a:solidFill>
              <a:latin typeface="Delius"/>
              <a:ea typeface="Delius"/>
              <a:cs typeface="Delius"/>
              <a:sym typeface="Delius"/>
            </a:endParaRPr>
          </a:p>
          <a:p>
            <a:pPr marL="457200" lvl="0" indent="-330200" algn="l" rtl="0">
              <a:lnSpc>
                <a:spcPct val="115000"/>
              </a:lnSpc>
              <a:spcBef>
                <a:spcPts val="0"/>
              </a:spcBef>
              <a:spcAft>
                <a:spcPts val="0"/>
              </a:spcAft>
              <a:buClr>
                <a:schemeClr val="dk1"/>
              </a:buClr>
              <a:buSzPts val="1600"/>
              <a:buAutoNum type="arabicPeriod" startAt="7"/>
            </a:pPr>
            <a:r>
              <a:rPr lang="en" sz="1600">
                <a:solidFill>
                  <a:schemeClr val="dk1"/>
                </a:solidFill>
                <a:latin typeface="Delius"/>
                <a:ea typeface="Delius"/>
                <a:cs typeface="Delius"/>
                <a:sym typeface="Delius"/>
              </a:rPr>
              <a:t>The arguments over colonies between European countries before World War I…</a:t>
            </a:r>
            <a:endParaRPr sz="1600">
              <a:solidFill>
                <a:schemeClr val="dk1"/>
              </a:solidFill>
              <a:latin typeface="Delius"/>
              <a:ea typeface="Delius"/>
              <a:cs typeface="Delius"/>
              <a:sym typeface="Delius"/>
            </a:endParaRPr>
          </a:p>
          <a:p>
            <a:pPr marL="0" lvl="0" indent="0" algn="l" rtl="0">
              <a:lnSpc>
                <a:spcPct val="115000"/>
              </a:lnSpc>
              <a:spcBef>
                <a:spcPts val="0"/>
              </a:spcBef>
              <a:spcAft>
                <a:spcPts val="0"/>
              </a:spcAft>
              <a:buNone/>
            </a:pPr>
            <a:r>
              <a:rPr lang="en" sz="1600" b="1">
                <a:solidFill>
                  <a:srgbClr val="980000"/>
                </a:solidFill>
                <a:latin typeface="Delius"/>
                <a:ea typeface="Delius"/>
                <a:cs typeface="Delius"/>
                <a:sym typeface="Delius"/>
              </a:rPr>
              <a:t>👉 did not lead to war, but caused anger and distrust.</a:t>
            </a:r>
            <a:endParaRPr sz="1600" b="1">
              <a:solidFill>
                <a:srgbClr val="980000"/>
              </a:solidFill>
              <a:latin typeface="Delius"/>
              <a:ea typeface="Delius"/>
              <a:cs typeface="Delius"/>
              <a:sym typeface="Delius"/>
            </a:endParaRPr>
          </a:p>
        </p:txBody>
      </p:sp>
      <p:sp>
        <p:nvSpPr>
          <p:cNvPr id="174" name="Google Shape;174;p28"/>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175" name="Google Shape;175;p28"/>
          <p:cNvPicPr preferRelativeResize="0"/>
          <p:nvPr/>
        </p:nvPicPr>
        <p:blipFill>
          <a:blip r:embed="rId3">
            <a:alphaModFix/>
          </a:blip>
          <a:stretch>
            <a:fillRect/>
          </a:stretch>
        </p:blipFill>
        <p:spPr>
          <a:xfrm>
            <a:off x="7156426" y="1971388"/>
            <a:ext cx="1801087" cy="1200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29"/>
          <p:cNvPicPr preferRelativeResize="0"/>
          <p:nvPr/>
        </p:nvPicPr>
        <p:blipFill rotWithShape="1">
          <a:blip r:embed="rId3">
            <a:alphaModFix/>
          </a:blip>
          <a:srcRect/>
          <a:stretch/>
        </p:blipFill>
        <p:spPr>
          <a:xfrm>
            <a:off x="1281200" y="587411"/>
            <a:ext cx="784591" cy="784591"/>
          </a:xfrm>
          <a:prstGeom prst="rect">
            <a:avLst/>
          </a:prstGeom>
          <a:noFill/>
          <a:ln>
            <a:noFill/>
          </a:ln>
        </p:spPr>
      </p:pic>
      <p:sp>
        <p:nvSpPr>
          <p:cNvPr id="181" name="Google Shape;181;p29"/>
          <p:cNvSpPr txBox="1"/>
          <p:nvPr/>
        </p:nvSpPr>
        <p:spPr>
          <a:xfrm>
            <a:off x="2264600" y="702650"/>
            <a:ext cx="3428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rgbClr val="FFFFFF"/>
                </a:highlight>
                <a:latin typeface="Finger Paint"/>
                <a:ea typeface="Finger Paint"/>
                <a:cs typeface="Finger Paint"/>
                <a:sym typeface="Finger Paint"/>
              </a:rPr>
              <a:t>True</a:t>
            </a:r>
            <a:r>
              <a:rPr lang="en" sz="2400" b="1" i="0" u="none" strike="noStrike" cap="none">
                <a:solidFill>
                  <a:srgbClr val="000000"/>
                </a:solidFill>
                <a:highlight>
                  <a:srgbClr val="FFFFFF"/>
                </a:highlight>
                <a:latin typeface="Finger Paint"/>
                <a:ea typeface="Finger Paint"/>
                <a:cs typeface="Finger Paint"/>
                <a:sym typeface="Finger Paint"/>
              </a:rPr>
              <a:t> Or </a:t>
            </a:r>
            <a:r>
              <a:rPr lang="en" sz="2400" b="1" i="0" u="none" strike="noStrike" cap="none">
                <a:solidFill>
                  <a:srgbClr val="F63741"/>
                </a:solidFill>
                <a:highlight>
                  <a:srgbClr val="FFFFFF"/>
                </a:highlight>
                <a:latin typeface="Finger Paint"/>
                <a:ea typeface="Finger Paint"/>
                <a:cs typeface="Finger Paint"/>
                <a:sym typeface="Finger Paint"/>
              </a:rPr>
              <a:t>False</a:t>
            </a:r>
            <a:endParaRPr sz="2000" b="0" i="0" u="none" strike="noStrike" cap="none">
              <a:solidFill>
                <a:srgbClr val="F63741"/>
              </a:solidFill>
              <a:highlight>
                <a:srgbClr val="FFFFFF"/>
              </a:highlight>
              <a:latin typeface="Arial"/>
              <a:ea typeface="Arial"/>
              <a:cs typeface="Arial"/>
              <a:sym typeface="Arial"/>
            </a:endParaRPr>
          </a:p>
        </p:txBody>
      </p:sp>
      <p:sp>
        <p:nvSpPr>
          <p:cNvPr id="182" name="Google Shape;182;p29"/>
          <p:cNvSpPr/>
          <p:nvPr/>
        </p:nvSpPr>
        <p:spPr>
          <a:xfrm>
            <a:off x="106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1. Germany and Italy had already gained large empires before they became united countries.</a:t>
            </a:r>
            <a:endParaRPr sz="1600">
              <a:latin typeface="Baumans"/>
              <a:ea typeface="Baumans"/>
              <a:cs typeface="Baumans"/>
              <a:sym typeface="Baumans"/>
            </a:endParaRPr>
          </a:p>
        </p:txBody>
      </p:sp>
      <p:sp>
        <p:nvSpPr>
          <p:cNvPr id="183" name="Google Shape;183;p29"/>
          <p:cNvSpPr/>
          <p:nvPr/>
        </p:nvSpPr>
        <p:spPr>
          <a:xfrm>
            <a:off x="325982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2. Britain’s empire covered about a quarter of the world by the 1800s.</a:t>
            </a:r>
            <a:endParaRPr sz="1600">
              <a:latin typeface="Baumans"/>
              <a:ea typeface="Baumans"/>
              <a:cs typeface="Baumans"/>
              <a:sym typeface="Baumans"/>
            </a:endParaRPr>
          </a:p>
        </p:txBody>
      </p:sp>
      <p:sp>
        <p:nvSpPr>
          <p:cNvPr id="184" name="Google Shape;184;p29"/>
          <p:cNvSpPr/>
          <p:nvPr/>
        </p:nvSpPr>
        <p:spPr>
          <a:xfrm>
            <a:off x="106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4. European countries increased military spending between 1870 and 1914.</a:t>
            </a:r>
            <a:endParaRPr sz="1600">
              <a:latin typeface="Baumans"/>
              <a:ea typeface="Baumans"/>
              <a:cs typeface="Baumans"/>
              <a:sym typeface="Baumans"/>
            </a:endParaRPr>
          </a:p>
        </p:txBody>
      </p:sp>
      <p:sp>
        <p:nvSpPr>
          <p:cNvPr id="185" name="Google Shape;185;p29"/>
          <p:cNvSpPr/>
          <p:nvPr/>
        </p:nvSpPr>
        <p:spPr>
          <a:xfrm>
            <a:off x="325982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5. Competition for colonies reduced distrust between European countries before World War I.</a:t>
            </a:r>
            <a:endParaRPr sz="1600">
              <a:latin typeface="Baumans"/>
              <a:ea typeface="Baumans"/>
              <a:cs typeface="Baumans"/>
              <a:sym typeface="Baumans"/>
            </a:endParaRPr>
          </a:p>
        </p:txBody>
      </p:sp>
      <p:sp>
        <p:nvSpPr>
          <p:cNvPr id="186" name="Google Shape;186;p29"/>
          <p:cNvSpPr/>
          <p:nvPr/>
        </p:nvSpPr>
        <p:spPr>
          <a:xfrm>
            <a:off x="6428975" y="151927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3. Germany and France avoided disagreements over Morocco because they had similar interests.</a:t>
            </a:r>
            <a:endParaRPr sz="1600">
              <a:latin typeface="Baumans"/>
              <a:ea typeface="Baumans"/>
              <a:cs typeface="Baumans"/>
              <a:sym typeface="Baumans"/>
            </a:endParaRPr>
          </a:p>
        </p:txBody>
      </p:sp>
      <p:sp>
        <p:nvSpPr>
          <p:cNvPr id="187" name="Google Shape;187;p29"/>
          <p:cNvSpPr/>
          <p:nvPr/>
        </p:nvSpPr>
        <p:spPr>
          <a:xfrm>
            <a:off x="6428975" y="3245425"/>
            <a:ext cx="26082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6. Germany gained colonies in Africa, including Namibia, as it tried to challenge Britain and France.</a:t>
            </a:r>
            <a:endParaRPr sz="1600">
              <a:latin typeface="Baumans"/>
              <a:ea typeface="Baumans"/>
              <a:cs typeface="Baumans"/>
              <a:sym typeface="Baumans"/>
            </a:endParaRPr>
          </a:p>
        </p:txBody>
      </p:sp>
      <p:pic>
        <p:nvPicPr>
          <p:cNvPr id="188" name="Google Shape;188;p29"/>
          <p:cNvPicPr preferRelativeResize="0"/>
          <p:nvPr/>
        </p:nvPicPr>
        <p:blipFill rotWithShape="1">
          <a:blip r:embed="rId4">
            <a:alphaModFix/>
          </a:blip>
          <a:srcRect l="25716" t="15310" r="25672" b="17805"/>
          <a:stretch/>
        </p:blipFill>
        <p:spPr>
          <a:xfrm>
            <a:off x="5404062" y="2640700"/>
            <a:ext cx="463960" cy="425585"/>
          </a:xfrm>
          <a:prstGeom prst="rect">
            <a:avLst/>
          </a:prstGeom>
          <a:noFill/>
          <a:ln>
            <a:noFill/>
          </a:ln>
        </p:spPr>
      </p:pic>
      <p:pic>
        <p:nvPicPr>
          <p:cNvPr id="189" name="Google Shape;189;p29"/>
          <p:cNvPicPr preferRelativeResize="0"/>
          <p:nvPr/>
        </p:nvPicPr>
        <p:blipFill rotWithShape="1">
          <a:blip r:embed="rId5">
            <a:alphaModFix/>
          </a:blip>
          <a:srcRect l="26264" t="15218" r="24368" b="18067"/>
          <a:stretch/>
        </p:blipFill>
        <p:spPr>
          <a:xfrm>
            <a:off x="2234909" y="2644498"/>
            <a:ext cx="463960" cy="417981"/>
          </a:xfrm>
          <a:prstGeom prst="rect">
            <a:avLst/>
          </a:prstGeom>
          <a:noFill/>
          <a:ln>
            <a:noFill/>
          </a:ln>
        </p:spPr>
      </p:pic>
      <p:pic>
        <p:nvPicPr>
          <p:cNvPr id="190" name="Google Shape;190;p29"/>
          <p:cNvPicPr preferRelativeResize="0"/>
          <p:nvPr/>
        </p:nvPicPr>
        <p:blipFill rotWithShape="1">
          <a:blip r:embed="rId4">
            <a:alphaModFix/>
          </a:blip>
          <a:srcRect l="25716" t="15310" r="25672" b="17805"/>
          <a:stretch/>
        </p:blipFill>
        <p:spPr>
          <a:xfrm>
            <a:off x="2127662" y="4366850"/>
            <a:ext cx="463960" cy="425585"/>
          </a:xfrm>
          <a:prstGeom prst="rect">
            <a:avLst/>
          </a:prstGeom>
          <a:noFill/>
          <a:ln>
            <a:noFill/>
          </a:ln>
        </p:spPr>
      </p:pic>
      <p:pic>
        <p:nvPicPr>
          <p:cNvPr id="191" name="Google Shape;191;p29"/>
          <p:cNvPicPr preferRelativeResize="0"/>
          <p:nvPr/>
        </p:nvPicPr>
        <p:blipFill rotWithShape="1">
          <a:blip r:embed="rId5">
            <a:alphaModFix/>
          </a:blip>
          <a:srcRect l="26264" t="15218" r="24368" b="18067"/>
          <a:stretch/>
        </p:blipFill>
        <p:spPr>
          <a:xfrm>
            <a:off x="5404052" y="4370645"/>
            <a:ext cx="463960" cy="417981"/>
          </a:xfrm>
          <a:prstGeom prst="rect">
            <a:avLst/>
          </a:prstGeom>
          <a:noFill/>
          <a:ln>
            <a:noFill/>
          </a:ln>
        </p:spPr>
      </p:pic>
      <p:pic>
        <p:nvPicPr>
          <p:cNvPr id="192" name="Google Shape;192;p29"/>
          <p:cNvPicPr preferRelativeResize="0"/>
          <p:nvPr/>
        </p:nvPicPr>
        <p:blipFill rotWithShape="1">
          <a:blip r:embed="rId6">
            <a:alphaModFix/>
          </a:blip>
          <a:srcRect l="30711" t="5130" r="3174" b="5807"/>
          <a:stretch/>
        </p:blipFill>
        <p:spPr>
          <a:xfrm>
            <a:off x="106800" y="720975"/>
            <a:ext cx="975600" cy="517450"/>
          </a:xfrm>
          <a:prstGeom prst="rect">
            <a:avLst/>
          </a:prstGeom>
          <a:noFill/>
          <a:ln>
            <a:noFill/>
          </a:ln>
        </p:spPr>
      </p:pic>
      <p:pic>
        <p:nvPicPr>
          <p:cNvPr id="193" name="Google Shape;193;p29"/>
          <p:cNvPicPr preferRelativeResize="0"/>
          <p:nvPr/>
        </p:nvPicPr>
        <p:blipFill rotWithShape="1">
          <a:blip r:embed="rId4">
            <a:alphaModFix/>
          </a:blip>
          <a:srcRect l="25716" t="15310" r="25672" b="17805"/>
          <a:stretch/>
        </p:blipFill>
        <p:spPr>
          <a:xfrm>
            <a:off x="8564687" y="4366850"/>
            <a:ext cx="463960" cy="425585"/>
          </a:xfrm>
          <a:prstGeom prst="rect">
            <a:avLst/>
          </a:prstGeom>
          <a:noFill/>
          <a:ln>
            <a:noFill/>
          </a:ln>
        </p:spPr>
      </p:pic>
      <p:pic>
        <p:nvPicPr>
          <p:cNvPr id="194" name="Google Shape;194;p29"/>
          <p:cNvPicPr preferRelativeResize="0"/>
          <p:nvPr/>
        </p:nvPicPr>
        <p:blipFill rotWithShape="1">
          <a:blip r:embed="rId5">
            <a:alphaModFix/>
          </a:blip>
          <a:srcRect l="26264" t="15218" r="24368" b="18067"/>
          <a:stretch/>
        </p:blipFill>
        <p:spPr>
          <a:xfrm>
            <a:off x="8564677" y="2644495"/>
            <a:ext cx="463960" cy="417981"/>
          </a:xfrm>
          <a:prstGeom prst="rect">
            <a:avLst/>
          </a:prstGeom>
          <a:noFill/>
          <a:ln>
            <a:noFill/>
          </a:ln>
        </p:spPr>
      </p:pic>
      <p:sp>
        <p:nvSpPr>
          <p:cNvPr id="195" name="Google Shape;195;p29"/>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30">
            <a:hlinkClick r:id="rId3"/>
          </p:cNvPr>
          <p:cNvPicPr preferRelativeResize="0"/>
          <p:nvPr/>
        </p:nvPicPr>
        <p:blipFill>
          <a:blip r:embed="rId4">
            <a:alphaModFix/>
          </a:blip>
          <a:stretch>
            <a:fillRect/>
          </a:stretch>
        </p:blipFill>
        <p:spPr>
          <a:xfrm>
            <a:off x="981365" y="1432119"/>
            <a:ext cx="7181274" cy="2123075"/>
          </a:xfrm>
          <a:prstGeom prst="rect">
            <a:avLst/>
          </a:prstGeom>
          <a:noFill/>
          <a:ln>
            <a:noFill/>
          </a:ln>
        </p:spPr>
      </p:pic>
      <p:pic>
        <p:nvPicPr>
          <p:cNvPr id="201" name="Google Shape;201;p30"/>
          <p:cNvPicPr preferRelativeResize="0"/>
          <p:nvPr/>
        </p:nvPicPr>
        <p:blipFill>
          <a:blip r:embed="rId5">
            <a:alphaModFix/>
          </a:blip>
          <a:stretch>
            <a:fillRect/>
          </a:stretch>
        </p:blipFill>
        <p:spPr>
          <a:xfrm>
            <a:off x="115350" y="92575"/>
            <a:ext cx="764550" cy="548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1"/>
          <p:cNvSpPr txBox="1"/>
          <p:nvPr/>
        </p:nvSpPr>
        <p:spPr>
          <a:xfrm>
            <a:off x="132250" y="1418150"/>
            <a:ext cx="5290800" cy="3441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 sz="1600" b="1" i="0" u="none" strike="noStrike" cap="none">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identify </a:t>
            </a:r>
            <a:r>
              <a:rPr lang="en" sz="1600" b="1">
                <a:solidFill>
                  <a:schemeClr val="dk1"/>
                </a:solidFill>
                <a:latin typeface="Baumans"/>
                <a:ea typeface="Baumans"/>
                <a:cs typeface="Baumans"/>
                <a:sym typeface="Baumans"/>
              </a:rPr>
              <a:t>key political and social features of Europe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explain </a:t>
            </a:r>
            <a:r>
              <a:rPr lang="en" sz="1600" b="1">
                <a:solidFill>
                  <a:schemeClr val="dk1"/>
                </a:solidFill>
                <a:latin typeface="Baumans"/>
                <a:ea typeface="Baumans"/>
                <a:cs typeface="Baumans"/>
                <a:sym typeface="Baumans"/>
              </a:rPr>
              <a:t>how competing national interests created tension between European countries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Clr>
                <a:schemeClr val="dk1"/>
              </a:buClr>
              <a:buSzPts val="1100"/>
              <a:buFont typeface="Arial"/>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Can analyse </a:t>
            </a:r>
            <a:r>
              <a:rPr lang="en" sz="1600" b="1">
                <a:solidFill>
                  <a:schemeClr val="dk1"/>
                </a:solidFill>
                <a:latin typeface="Baumans"/>
                <a:ea typeface="Baumans"/>
                <a:cs typeface="Baumans"/>
                <a:sym typeface="Baumans"/>
              </a:rPr>
              <a:t>how political and social tensions in Europe created the conditions for conflict in 1914</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p:txBody>
      </p:sp>
      <p:sp>
        <p:nvSpPr>
          <p:cNvPr id="207" name="Google Shape;207;p31"/>
          <p:cNvSpPr txBox="1"/>
          <p:nvPr/>
        </p:nvSpPr>
        <p:spPr>
          <a:xfrm>
            <a:off x="5870750" y="820775"/>
            <a:ext cx="3000000"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highlight>
                  <a:srgbClr val="FFFF00"/>
                </a:highlight>
                <a:latin typeface="Caveat"/>
                <a:ea typeface="Caveat"/>
                <a:cs typeface="Caveat"/>
                <a:sym typeface="Caveat"/>
              </a:rPr>
              <a:t>Key Enquiry Question: What were the causes of WW1, and how did different factors contribute to the outbreak of the conflict?</a:t>
            </a:r>
            <a:endParaRPr sz="2000" b="1">
              <a:highlight>
                <a:schemeClr val="lt1"/>
              </a:highlight>
              <a:latin typeface="Edu TAS Beginner"/>
              <a:ea typeface="Edu TAS Beginner"/>
              <a:cs typeface="Edu TAS Beginner"/>
              <a:sym typeface="Edu TAS Beginner"/>
            </a:endParaRPr>
          </a:p>
        </p:txBody>
      </p:sp>
      <p:sp>
        <p:nvSpPr>
          <p:cNvPr id="208" name="Google Shape;208;p31"/>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209" name="Google Shape;209;p31"/>
          <p:cNvPicPr preferRelativeResize="0"/>
          <p:nvPr/>
        </p:nvPicPr>
        <p:blipFill>
          <a:blip r:embed="rId3">
            <a:alphaModFix/>
          </a:blip>
          <a:stretch>
            <a:fillRect/>
          </a:stretch>
        </p:blipFill>
        <p:spPr>
          <a:xfrm>
            <a:off x="5575454" y="2304451"/>
            <a:ext cx="3416151" cy="1922618"/>
          </a:xfrm>
          <a:prstGeom prst="rect">
            <a:avLst/>
          </a:prstGeom>
          <a:noFill/>
          <a:ln>
            <a:noFill/>
          </a:ln>
        </p:spPr>
      </p:pic>
      <p:sp>
        <p:nvSpPr>
          <p:cNvPr id="210" name="Google Shape;210;p31"/>
          <p:cNvSpPr txBox="1"/>
          <p:nvPr/>
        </p:nvSpPr>
        <p:spPr>
          <a:xfrm>
            <a:off x="76900" y="630125"/>
            <a:ext cx="4002600" cy="79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1"/>
                </a:solidFill>
                <a:latin typeface="Delius"/>
                <a:ea typeface="Delius"/>
                <a:cs typeface="Delius"/>
                <a:sym typeface="Delius"/>
              </a:rPr>
              <a:t>Title: The Long Fuse - Europe in 1914</a:t>
            </a:r>
            <a:endParaRPr sz="1800" b="1" u="sng" dirty="0">
              <a:solidFill>
                <a:schemeClr val="dk1"/>
              </a:solidFill>
              <a:latin typeface="Delius"/>
              <a:ea typeface="Delius"/>
              <a:cs typeface="Delius"/>
              <a:sym typeface="Deliu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33" descr="-- Created using PowToon -- Free sign up at http://www.powtoon.com/youtube/ -- Create animated videos and animated presentations for free.  PowToon is a free tool that allows you to develop cool animated clips and animated presentations for your website, office meeting, sales pitch, nonprofit fundraiser, product launch, video resume, or anything else you could use an animated explainer video. PowToon's animation templates help you create animated presentations and animated explainer videos from scratch.  Anyone can produce awesome animations quickly with PowToon, without the cost or hassle other professional animation services require." title="CAUSES OF WWI - IMPERIALISM">
            <a:hlinkClick r:id="rId3"/>
          </p:cNvPr>
          <p:cNvPicPr preferRelativeResize="0"/>
          <p:nvPr/>
        </p:nvPicPr>
        <p:blipFill>
          <a:blip r:embed="rId4">
            <a:alphaModFix/>
          </a:blip>
          <a:stretch>
            <a:fillRect/>
          </a:stretch>
        </p:blipFill>
        <p:spPr>
          <a:xfrm>
            <a:off x="141325" y="1476350"/>
            <a:ext cx="4285475" cy="2410575"/>
          </a:xfrm>
          <a:prstGeom prst="rect">
            <a:avLst/>
          </a:prstGeom>
          <a:noFill/>
          <a:ln>
            <a:noFill/>
          </a:ln>
        </p:spPr>
      </p:pic>
      <p:sp>
        <p:nvSpPr>
          <p:cNvPr id="227" name="Google Shape;227;p33"/>
          <p:cNvSpPr txBox="1"/>
          <p:nvPr/>
        </p:nvSpPr>
        <p:spPr>
          <a:xfrm>
            <a:off x="115350" y="106325"/>
            <a:ext cx="8913300" cy="67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Understand the political and social landscape of Europe in 1914 and how competing national interests laid the groundwork for conflict.</a:t>
            </a:r>
            <a:endParaRPr sz="1200" b="1">
              <a:solidFill>
                <a:srgbClr val="980000"/>
              </a:solidFill>
              <a:latin typeface="Delius"/>
              <a:ea typeface="Delius"/>
              <a:cs typeface="Delius"/>
              <a:sym typeface="Delius"/>
            </a:endParaRPr>
          </a:p>
        </p:txBody>
      </p:sp>
      <p:pic>
        <p:nvPicPr>
          <p:cNvPr id="228" name="Google Shape;228;p33"/>
          <p:cNvPicPr preferRelativeResize="0"/>
          <p:nvPr/>
        </p:nvPicPr>
        <p:blipFill>
          <a:blip r:embed="rId5">
            <a:alphaModFix/>
          </a:blip>
          <a:stretch>
            <a:fillRect/>
          </a:stretch>
        </p:blipFill>
        <p:spPr>
          <a:xfrm>
            <a:off x="141325" y="835475"/>
            <a:ext cx="501900" cy="501900"/>
          </a:xfrm>
          <a:prstGeom prst="rect">
            <a:avLst/>
          </a:prstGeom>
          <a:noFill/>
          <a:ln>
            <a:noFill/>
          </a:ln>
        </p:spPr>
      </p:pic>
      <p:sp>
        <p:nvSpPr>
          <p:cNvPr id="229" name="Google Shape;229;p33"/>
          <p:cNvSpPr txBox="1"/>
          <p:nvPr/>
        </p:nvSpPr>
        <p:spPr>
          <a:xfrm>
            <a:off x="643225" y="83547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pic>
        <p:nvPicPr>
          <p:cNvPr id="230" name="Google Shape;230;p33"/>
          <p:cNvPicPr preferRelativeResize="0"/>
          <p:nvPr/>
        </p:nvPicPr>
        <p:blipFill rotWithShape="1">
          <a:blip r:embed="rId6">
            <a:alphaModFix/>
          </a:blip>
          <a:srcRect/>
          <a:stretch/>
        </p:blipFill>
        <p:spPr>
          <a:xfrm>
            <a:off x="5552775" y="835486"/>
            <a:ext cx="784591" cy="784591"/>
          </a:xfrm>
          <a:prstGeom prst="rect">
            <a:avLst/>
          </a:prstGeom>
          <a:noFill/>
          <a:ln>
            <a:noFill/>
          </a:ln>
        </p:spPr>
      </p:pic>
      <p:sp>
        <p:nvSpPr>
          <p:cNvPr id="231" name="Google Shape;231;p33"/>
          <p:cNvSpPr txBox="1"/>
          <p:nvPr/>
        </p:nvSpPr>
        <p:spPr>
          <a:xfrm>
            <a:off x="6536175" y="950725"/>
            <a:ext cx="2402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rgbClr val="FFFFFF"/>
                </a:highlight>
                <a:latin typeface="Finger Paint"/>
                <a:ea typeface="Finger Paint"/>
                <a:cs typeface="Finger Paint"/>
                <a:sym typeface="Finger Paint"/>
              </a:rPr>
              <a:t>True</a:t>
            </a:r>
            <a:r>
              <a:rPr lang="en" sz="2400" b="1" i="0" u="none" strike="noStrike" cap="none">
                <a:solidFill>
                  <a:srgbClr val="000000"/>
                </a:solidFill>
                <a:highlight>
                  <a:srgbClr val="FFFFFF"/>
                </a:highlight>
                <a:latin typeface="Finger Paint"/>
                <a:ea typeface="Finger Paint"/>
                <a:cs typeface="Finger Paint"/>
                <a:sym typeface="Finger Paint"/>
              </a:rPr>
              <a:t> Or </a:t>
            </a:r>
            <a:r>
              <a:rPr lang="en" sz="2400" b="1" i="0" u="none" strike="noStrike" cap="none">
                <a:solidFill>
                  <a:srgbClr val="F63741"/>
                </a:solidFill>
                <a:highlight>
                  <a:srgbClr val="FFFFFF"/>
                </a:highlight>
                <a:latin typeface="Finger Paint"/>
                <a:ea typeface="Finger Paint"/>
                <a:cs typeface="Finger Paint"/>
                <a:sym typeface="Finger Paint"/>
              </a:rPr>
              <a:t>False</a:t>
            </a:r>
            <a:endParaRPr sz="2000" b="0" i="0" u="none" strike="noStrike" cap="none">
              <a:solidFill>
                <a:srgbClr val="F63741"/>
              </a:solidFill>
              <a:highlight>
                <a:srgbClr val="FFFFFF"/>
              </a:highlight>
              <a:latin typeface="Arial"/>
              <a:ea typeface="Arial"/>
              <a:cs typeface="Arial"/>
              <a:sym typeface="Arial"/>
            </a:endParaRPr>
          </a:p>
        </p:txBody>
      </p:sp>
      <p:sp>
        <p:nvSpPr>
          <p:cNvPr id="232" name="Google Shape;232;p33"/>
          <p:cNvSpPr txBox="1"/>
          <p:nvPr/>
        </p:nvSpPr>
        <p:spPr>
          <a:xfrm>
            <a:off x="4572000" y="1673025"/>
            <a:ext cx="4430700" cy="29799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European countries wanted colonies partly to gain raw materials for their industries.</a:t>
            </a:r>
            <a:endParaRPr sz="1600" b="1">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Germany found it easy to expand its empire because most available territory was still unclaimed.</a:t>
            </a:r>
            <a:endParaRPr sz="1600" b="1">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New weapons, including machine guns, helped European countries conquer areas of Africa.</a:t>
            </a:r>
            <a:endParaRPr sz="1600" b="1">
              <a:solidFill>
                <a:schemeClr val="dk1"/>
              </a:solidFill>
              <a:latin typeface="Baumans"/>
              <a:ea typeface="Baumans"/>
              <a:cs typeface="Baumans"/>
              <a:sym typeface="Baumans"/>
            </a:endParaRPr>
          </a:p>
          <a:p>
            <a:pPr marL="457200" lvl="0" indent="-330200" algn="l" rtl="0">
              <a:lnSpc>
                <a:spcPct val="115000"/>
              </a:lnSpc>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Germany’s actions in Morocco increased tension between France and Germany.</a:t>
            </a:r>
            <a:endParaRPr sz="1600" b="1">
              <a:solidFill>
                <a:schemeClr val="dk1"/>
              </a:solidFill>
              <a:latin typeface="Baumans"/>
              <a:ea typeface="Baumans"/>
              <a:cs typeface="Baumans"/>
              <a:sym typeface="Baumans"/>
            </a:endParaRPr>
          </a:p>
        </p:txBody>
      </p:sp>
      <p:sp>
        <p:nvSpPr>
          <p:cNvPr id="233" name="Google Shape;233;p33"/>
          <p:cNvSpPr txBox="1"/>
          <p:nvPr/>
        </p:nvSpPr>
        <p:spPr>
          <a:xfrm>
            <a:off x="141325" y="4025900"/>
            <a:ext cx="4285500" cy="7143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200"/>
              </a:spcBef>
              <a:spcAft>
                <a:spcPts val="0"/>
              </a:spcAft>
              <a:buClr>
                <a:schemeClr val="dk1"/>
              </a:buClr>
              <a:buSzPts val="1600"/>
              <a:buFont typeface="Baumans"/>
              <a:buAutoNum type="arabicPeriod" startAt="5"/>
            </a:pPr>
            <a:r>
              <a:rPr lang="en" sz="1600" b="1">
                <a:solidFill>
                  <a:schemeClr val="dk1"/>
                </a:solidFill>
                <a:latin typeface="Baumans"/>
                <a:ea typeface="Baumans"/>
                <a:cs typeface="Baumans"/>
                <a:sym typeface="Baumans"/>
              </a:rPr>
              <a:t>The Moroccan crises strengthened the alliance between Britain and France.</a:t>
            </a:r>
            <a:endParaRPr/>
          </a:p>
        </p:txBody>
      </p:sp>
      <p:pic>
        <p:nvPicPr>
          <p:cNvPr id="234" name="Google Shape;234;p33"/>
          <p:cNvPicPr preferRelativeResize="0"/>
          <p:nvPr/>
        </p:nvPicPr>
        <p:blipFill rotWithShape="1">
          <a:blip r:embed="rId7">
            <a:alphaModFix/>
          </a:blip>
          <a:srcRect l="25716" t="15310" r="25672" b="17805"/>
          <a:stretch/>
        </p:blipFill>
        <p:spPr>
          <a:xfrm>
            <a:off x="4591000" y="1673025"/>
            <a:ext cx="463960" cy="425585"/>
          </a:xfrm>
          <a:prstGeom prst="rect">
            <a:avLst/>
          </a:prstGeom>
          <a:noFill/>
          <a:ln>
            <a:noFill/>
          </a:ln>
        </p:spPr>
      </p:pic>
      <p:pic>
        <p:nvPicPr>
          <p:cNvPr id="235" name="Google Shape;235;p33"/>
          <p:cNvPicPr preferRelativeResize="0"/>
          <p:nvPr/>
        </p:nvPicPr>
        <p:blipFill rotWithShape="1">
          <a:blip r:embed="rId8">
            <a:alphaModFix/>
          </a:blip>
          <a:srcRect l="26264" t="15218" r="24368" b="18067"/>
          <a:stretch/>
        </p:blipFill>
        <p:spPr>
          <a:xfrm>
            <a:off x="4590997" y="2260523"/>
            <a:ext cx="463960" cy="417981"/>
          </a:xfrm>
          <a:prstGeom prst="rect">
            <a:avLst/>
          </a:prstGeom>
          <a:noFill/>
          <a:ln>
            <a:noFill/>
          </a:ln>
        </p:spPr>
      </p:pic>
      <p:pic>
        <p:nvPicPr>
          <p:cNvPr id="236" name="Google Shape;236;p33"/>
          <p:cNvPicPr preferRelativeResize="0"/>
          <p:nvPr/>
        </p:nvPicPr>
        <p:blipFill rotWithShape="1">
          <a:blip r:embed="rId7">
            <a:alphaModFix/>
          </a:blip>
          <a:srcRect l="25716" t="15310" r="25672" b="17805"/>
          <a:stretch/>
        </p:blipFill>
        <p:spPr>
          <a:xfrm>
            <a:off x="4572000" y="3081300"/>
            <a:ext cx="463960" cy="425585"/>
          </a:xfrm>
          <a:prstGeom prst="rect">
            <a:avLst/>
          </a:prstGeom>
          <a:noFill/>
          <a:ln>
            <a:noFill/>
          </a:ln>
        </p:spPr>
      </p:pic>
      <p:pic>
        <p:nvPicPr>
          <p:cNvPr id="237" name="Google Shape;237;p33"/>
          <p:cNvPicPr preferRelativeResize="0"/>
          <p:nvPr/>
        </p:nvPicPr>
        <p:blipFill rotWithShape="1">
          <a:blip r:embed="rId7">
            <a:alphaModFix/>
          </a:blip>
          <a:srcRect l="25716" t="15310" r="25672" b="17805"/>
          <a:stretch/>
        </p:blipFill>
        <p:spPr>
          <a:xfrm>
            <a:off x="4591000" y="3945650"/>
            <a:ext cx="463960" cy="425585"/>
          </a:xfrm>
          <a:prstGeom prst="rect">
            <a:avLst/>
          </a:prstGeom>
          <a:noFill/>
          <a:ln>
            <a:noFill/>
          </a:ln>
        </p:spPr>
      </p:pic>
      <p:pic>
        <p:nvPicPr>
          <p:cNvPr id="238" name="Google Shape;238;p33"/>
          <p:cNvPicPr preferRelativeResize="0"/>
          <p:nvPr/>
        </p:nvPicPr>
        <p:blipFill rotWithShape="1">
          <a:blip r:embed="rId7">
            <a:alphaModFix/>
          </a:blip>
          <a:srcRect l="25716" t="15310" r="25672" b="17805"/>
          <a:stretch/>
        </p:blipFill>
        <p:spPr>
          <a:xfrm>
            <a:off x="160300" y="4025900"/>
            <a:ext cx="463960" cy="4255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1000"/>
                                        <p:tgtEl>
                                          <p:spTgt spid="2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3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3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3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3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34"/>
          <p:cNvPicPr preferRelativeResize="0"/>
          <p:nvPr/>
        </p:nvPicPr>
        <p:blipFill>
          <a:blip r:embed="rId3">
            <a:alphaModFix/>
          </a:blip>
          <a:stretch>
            <a:fillRect/>
          </a:stretch>
        </p:blipFill>
        <p:spPr>
          <a:xfrm>
            <a:off x="224099" y="1390313"/>
            <a:ext cx="6063100" cy="3410475"/>
          </a:xfrm>
          <a:prstGeom prst="rect">
            <a:avLst/>
          </a:prstGeom>
          <a:noFill/>
          <a:ln>
            <a:noFill/>
          </a:ln>
        </p:spPr>
      </p:pic>
      <p:sp>
        <p:nvSpPr>
          <p:cNvPr id="244" name="Google Shape;244;p34"/>
          <p:cNvSpPr txBox="1"/>
          <p:nvPr/>
        </p:nvSpPr>
        <p:spPr>
          <a:xfrm>
            <a:off x="6461425" y="1340850"/>
            <a:ext cx="2541300" cy="350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dk1"/>
                </a:solidFill>
                <a:latin typeface="Delius"/>
                <a:ea typeface="Delius"/>
                <a:cs typeface="Delius"/>
                <a:sym typeface="Delius"/>
              </a:rPr>
              <a:t>Empires were a real status symbol, with many European countries competing during the 1800s to expand.</a:t>
            </a:r>
            <a:endParaRPr sz="1800" b="1">
              <a:solidFill>
                <a:schemeClr val="dk1"/>
              </a:solidFill>
              <a:latin typeface="Delius"/>
              <a:ea typeface="Delius"/>
              <a:cs typeface="Delius"/>
              <a:sym typeface="Delius"/>
            </a:endParaRPr>
          </a:p>
          <a:p>
            <a:pPr marL="0" lvl="0" indent="0" algn="ctr" rtl="0">
              <a:spcBef>
                <a:spcPts val="0"/>
              </a:spcBef>
              <a:spcAft>
                <a:spcPts val="0"/>
              </a:spcAft>
              <a:buNone/>
            </a:pPr>
            <a:endParaRPr sz="1800" b="1">
              <a:solidFill>
                <a:schemeClr val="dk1"/>
              </a:solidFill>
              <a:latin typeface="Delius"/>
              <a:ea typeface="Delius"/>
              <a:cs typeface="Delius"/>
              <a:sym typeface="Delius"/>
            </a:endParaRPr>
          </a:p>
          <a:p>
            <a:pPr marL="0" lvl="0" indent="0" algn="ctr" rtl="0">
              <a:spcBef>
                <a:spcPts val="0"/>
              </a:spcBef>
              <a:spcAft>
                <a:spcPts val="0"/>
              </a:spcAft>
              <a:buNone/>
            </a:pPr>
            <a:r>
              <a:rPr lang="en" sz="1800" b="1">
                <a:solidFill>
                  <a:srgbClr val="FF0000"/>
                </a:solidFill>
                <a:latin typeface="Delius"/>
                <a:ea typeface="Delius"/>
                <a:cs typeface="Delius"/>
                <a:sym typeface="Delius"/>
              </a:rPr>
              <a:t>We are now going to consider </a:t>
            </a:r>
            <a:r>
              <a:rPr lang="en" sz="1800" b="1" u="sng">
                <a:solidFill>
                  <a:srgbClr val="FF0000"/>
                </a:solidFill>
                <a:latin typeface="Delius"/>
                <a:ea typeface="Delius"/>
                <a:cs typeface="Delius"/>
                <a:sym typeface="Delius"/>
              </a:rPr>
              <a:t>WHY</a:t>
            </a:r>
            <a:r>
              <a:rPr lang="en" sz="1800" b="1">
                <a:solidFill>
                  <a:srgbClr val="FF0000"/>
                </a:solidFill>
                <a:latin typeface="Delius"/>
                <a:ea typeface="Delius"/>
                <a:cs typeface="Delius"/>
                <a:sym typeface="Delius"/>
              </a:rPr>
              <a:t> so many countries wanted to create Empires…</a:t>
            </a:r>
            <a:endParaRPr sz="1800">
              <a:latin typeface="Delius"/>
              <a:ea typeface="Delius"/>
              <a:cs typeface="Delius"/>
              <a:sym typeface="Delius"/>
            </a:endParaRPr>
          </a:p>
        </p:txBody>
      </p:sp>
      <p:pic>
        <p:nvPicPr>
          <p:cNvPr id="245" name="Google Shape;245;p34"/>
          <p:cNvPicPr preferRelativeResize="0"/>
          <p:nvPr/>
        </p:nvPicPr>
        <p:blipFill>
          <a:blip r:embed="rId4">
            <a:alphaModFix/>
          </a:blip>
          <a:stretch>
            <a:fillRect/>
          </a:stretch>
        </p:blipFill>
        <p:spPr>
          <a:xfrm>
            <a:off x="141325" y="835475"/>
            <a:ext cx="501900" cy="501900"/>
          </a:xfrm>
          <a:prstGeom prst="rect">
            <a:avLst/>
          </a:prstGeom>
          <a:noFill/>
          <a:ln>
            <a:noFill/>
          </a:ln>
        </p:spPr>
      </p:pic>
      <p:sp>
        <p:nvSpPr>
          <p:cNvPr id="246" name="Google Shape;246;p34"/>
          <p:cNvSpPr txBox="1"/>
          <p:nvPr/>
        </p:nvSpPr>
        <p:spPr>
          <a:xfrm>
            <a:off x="643225" y="83547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sp>
        <p:nvSpPr>
          <p:cNvPr id="247" name="Google Shape;247;p34"/>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5"/>
          <p:cNvSpPr txBox="1"/>
          <p:nvPr/>
        </p:nvSpPr>
        <p:spPr>
          <a:xfrm>
            <a:off x="115350" y="3097596"/>
            <a:ext cx="4616700" cy="131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dirty="0">
                <a:solidFill>
                  <a:schemeClr val="dk1"/>
                </a:solidFill>
                <a:highlight>
                  <a:srgbClr val="00FF00"/>
                </a:highlight>
                <a:latin typeface="Baumans"/>
                <a:ea typeface="Baumans"/>
                <a:cs typeface="Baumans"/>
                <a:sym typeface="Baumans"/>
              </a:rPr>
              <a:t>Activities:</a:t>
            </a:r>
            <a:endParaRPr sz="1800" b="1" dirty="0">
              <a:solidFill>
                <a:schemeClr val="dk1"/>
              </a:solidFill>
              <a:highlight>
                <a:srgbClr val="00FF00"/>
              </a:highlight>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AutoNum type="arabicPeriod"/>
            </a:pPr>
            <a:r>
              <a:rPr lang="en" sz="1800" dirty="0">
                <a:solidFill>
                  <a:schemeClr val="dk1"/>
                </a:solidFill>
                <a:latin typeface="Baumans"/>
                <a:ea typeface="Baumans"/>
                <a:cs typeface="Baumans"/>
                <a:sym typeface="Baumans"/>
              </a:rPr>
              <a:t>Sort each statement into the 3 categories. You can do this by using </a:t>
            </a:r>
            <a:r>
              <a:rPr lang="en" sz="1800" b="1" dirty="0">
                <a:solidFill>
                  <a:schemeClr val="dk1"/>
                </a:solidFill>
                <a:latin typeface="Baumans"/>
                <a:ea typeface="Baumans"/>
                <a:cs typeface="Baumans"/>
                <a:sym typeface="Baumans"/>
              </a:rPr>
              <a:t>T, M </a:t>
            </a:r>
            <a:r>
              <a:rPr lang="en" sz="1800" dirty="0">
                <a:solidFill>
                  <a:schemeClr val="dk1"/>
                </a:solidFill>
                <a:latin typeface="Baumans"/>
                <a:ea typeface="Baumans"/>
                <a:cs typeface="Baumans"/>
                <a:sym typeface="Baumans"/>
              </a:rPr>
              <a:t>or</a:t>
            </a:r>
            <a:r>
              <a:rPr lang="en" sz="1800" b="1" dirty="0">
                <a:solidFill>
                  <a:schemeClr val="dk1"/>
                </a:solidFill>
                <a:latin typeface="Baumans"/>
                <a:ea typeface="Baumans"/>
                <a:cs typeface="Baumans"/>
                <a:sym typeface="Baumans"/>
              </a:rPr>
              <a:t> P.</a:t>
            </a:r>
            <a:endParaRPr sz="1200" b="1" dirty="0">
              <a:solidFill>
                <a:schemeClr val="dk1"/>
              </a:solidFill>
              <a:latin typeface="Patrick Hand"/>
              <a:ea typeface="Patrick Hand"/>
              <a:cs typeface="Patrick Hand"/>
              <a:sym typeface="Patrick Hand"/>
            </a:endParaRPr>
          </a:p>
        </p:txBody>
      </p:sp>
      <p:sp>
        <p:nvSpPr>
          <p:cNvPr id="253" name="Google Shape;253;p35"/>
          <p:cNvSpPr txBox="1"/>
          <p:nvPr/>
        </p:nvSpPr>
        <p:spPr>
          <a:xfrm>
            <a:off x="141325" y="1157535"/>
            <a:ext cx="1929300" cy="417600"/>
          </a:xfrm>
          <a:prstGeom prst="rect">
            <a:avLst/>
          </a:prstGeom>
          <a:noFill/>
          <a:ln>
            <a:noFill/>
          </a:ln>
        </p:spPr>
        <p:txBody>
          <a:bodyPr spcFirstLastPara="1" wrap="square" lIns="91425" tIns="91425" rIns="91425" bIns="91425" anchor="t" anchorCtr="0">
            <a:noAutofit/>
          </a:bodyPr>
          <a:lstStyle/>
          <a:p>
            <a:pPr lvl="0"/>
            <a:r>
              <a:rPr lang="en" sz="2000" dirty="0">
                <a:solidFill>
                  <a:schemeClr val="dk1"/>
                </a:solidFill>
                <a:latin typeface="Luckiest Guy"/>
                <a:ea typeface="Luckiest Guy"/>
                <a:cs typeface="Luckiest Guy"/>
                <a:sym typeface="Luckiest Guy"/>
              </a:rPr>
              <a:t>trade/money </a:t>
            </a:r>
            <a:r>
              <a:rPr lang="ja-JP" altLang="en-US" sz="2000">
                <a:solidFill>
                  <a:schemeClr val="dk1"/>
                </a:solidFill>
                <a:latin typeface="Luckiest Guy"/>
                <a:ea typeface="Luckiest Guy"/>
                <a:cs typeface="Luckiest Guy"/>
                <a:sym typeface="Luckiest Guy"/>
              </a:rPr>
              <a:t>贸易</a:t>
            </a:r>
            <a:r>
              <a:rPr lang="en-US" altLang="ja-JP" sz="2000" dirty="0">
                <a:solidFill>
                  <a:schemeClr val="dk1"/>
                </a:solidFill>
                <a:latin typeface="Luckiest Guy"/>
                <a:ea typeface="Luckiest Guy"/>
                <a:cs typeface="Luckiest Guy"/>
                <a:sym typeface="Luckiest Guy"/>
              </a:rPr>
              <a:t>/</a:t>
            </a:r>
            <a:r>
              <a:rPr lang="ja-JP" altLang="en-US" sz="2000">
                <a:solidFill>
                  <a:schemeClr val="dk1"/>
                </a:solidFill>
                <a:latin typeface="Luckiest Guy"/>
                <a:ea typeface="Luckiest Guy"/>
                <a:cs typeface="Luckiest Guy"/>
                <a:sym typeface="Luckiest Guy"/>
              </a:rPr>
              <a:t>货币</a:t>
            </a:r>
            <a:endParaRPr lang="en" sz="2000" dirty="0">
              <a:solidFill>
                <a:schemeClr val="dk1"/>
              </a:solidFill>
              <a:latin typeface="Luckiest Guy"/>
              <a:ea typeface="Luckiest Guy"/>
              <a:cs typeface="Luckiest Guy"/>
              <a:sym typeface="Luckiest Guy"/>
            </a:endParaRPr>
          </a:p>
          <a:p>
            <a:pPr marL="0" lvl="0" indent="0" algn="l" rtl="0">
              <a:spcBef>
                <a:spcPts val="0"/>
              </a:spcBef>
              <a:spcAft>
                <a:spcPts val="0"/>
              </a:spcAft>
              <a:buNone/>
            </a:pPr>
            <a:endParaRPr lang="en" sz="2000" dirty="0">
              <a:solidFill>
                <a:schemeClr val="dk1"/>
              </a:solidFill>
              <a:latin typeface="Luckiest Guy"/>
              <a:ea typeface="Luckiest Guy"/>
              <a:cs typeface="Luckiest Guy"/>
              <a:sym typeface="Luckiest Guy"/>
            </a:endParaRPr>
          </a:p>
          <a:p>
            <a:pPr lvl="0"/>
            <a:r>
              <a:rPr lang="en-GB" dirty="0"/>
              <a:t>Gaining raw materials (rubber, gold, oil). Selling factory goods to new markets.</a:t>
            </a:r>
            <a:r>
              <a:rPr lang="en-GB" sz="2000" dirty="0"/>
              <a:t> </a:t>
            </a:r>
            <a:endParaRPr sz="2000" dirty="0">
              <a:solidFill>
                <a:schemeClr val="dk1"/>
              </a:solidFill>
              <a:latin typeface="Luckiest Guy"/>
              <a:ea typeface="Luckiest Guy"/>
              <a:cs typeface="Luckiest Guy"/>
              <a:sym typeface="Luckiest Guy"/>
            </a:endParaRPr>
          </a:p>
        </p:txBody>
      </p:sp>
      <p:sp>
        <p:nvSpPr>
          <p:cNvPr id="254" name="Google Shape;254;p35"/>
          <p:cNvSpPr txBox="1"/>
          <p:nvPr/>
        </p:nvSpPr>
        <p:spPr>
          <a:xfrm>
            <a:off x="2275100" y="994146"/>
            <a:ext cx="1289400" cy="417600"/>
          </a:xfrm>
          <a:prstGeom prst="rect">
            <a:avLst/>
          </a:prstGeom>
          <a:noFill/>
          <a:ln>
            <a:noFill/>
          </a:ln>
        </p:spPr>
        <p:txBody>
          <a:bodyPr spcFirstLastPara="1" wrap="square" lIns="91425" tIns="91425" rIns="91425" bIns="91425" anchor="t" anchorCtr="0">
            <a:noAutofit/>
          </a:bodyPr>
          <a:lstStyle/>
          <a:p>
            <a:pPr lvl="0"/>
            <a:r>
              <a:rPr lang="en-GB" sz="2000" dirty="0">
                <a:solidFill>
                  <a:schemeClr val="dk1"/>
                </a:solidFill>
                <a:latin typeface="Luckiest Guy"/>
                <a:ea typeface="Luckiest Guy"/>
                <a:cs typeface="Luckiest Guy"/>
                <a:sym typeface="Luckiest Guy"/>
              </a:rPr>
              <a:t>M</a:t>
            </a:r>
            <a:r>
              <a:rPr lang="en" sz="2000" dirty="0" err="1">
                <a:solidFill>
                  <a:schemeClr val="dk1"/>
                </a:solidFill>
                <a:latin typeface="Luckiest Guy"/>
                <a:ea typeface="Luckiest Guy"/>
                <a:cs typeface="Luckiest Guy"/>
                <a:sym typeface="Luckiest Guy"/>
              </a:rPr>
              <a:t>ilitary</a:t>
            </a:r>
            <a:r>
              <a:rPr lang="en" sz="2000" dirty="0">
                <a:solidFill>
                  <a:schemeClr val="dk1"/>
                </a:solidFill>
                <a:latin typeface="Luckiest Guy"/>
                <a:ea typeface="Luckiest Guy"/>
                <a:cs typeface="Luckiest Guy"/>
                <a:sym typeface="Luckiest Guy"/>
              </a:rPr>
              <a:t> </a:t>
            </a:r>
            <a:r>
              <a:rPr lang="ja-JP" altLang="en-US" sz="2000">
                <a:solidFill>
                  <a:schemeClr val="dk1"/>
                </a:solidFill>
                <a:latin typeface="Luckiest Guy"/>
                <a:ea typeface="Luckiest Guy"/>
                <a:cs typeface="Luckiest Guy"/>
                <a:sym typeface="Luckiest Guy"/>
              </a:rPr>
              <a:t>军事</a:t>
            </a:r>
            <a:endParaRPr lang="en" sz="2000" dirty="0">
              <a:solidFill>
                <a:schemeClr val="dk1"/>
              </a:solidFill>
              <a:latin typeface="Luckiest Guy"/>
              <a:ea typeface="Luckiest Guy"/>
              <a:cs typeface="Luckiest Guy"/>
              <a:sym typeface="Luckiest Guy"/>
            </a:endParaRPr>
          </a:p>
          <a:p>
            <a:pPr lvl="0"/>
            <a:r>
              <a:rPr lang="en-GB" dirty="0"/>
              <a:t>Controlling key sea routes and navy bases.  Stopping rival nations from getting land</a:t>
            </a:r>
            <a:r>
              <a:rPr lang="en-GB" sz="2000" dirty="0"/>
              <a:t> </a:t>
            </a:r>
            <a:endParaRPr sz="2000" dirty="0">
              <a:solidFill>
                <a:schemeClr val="dk1"/>
              </a:solidFill>
              <a:latin typeface="Luckiest Guy"/>
              <a:ea typeface="Luckiest Guy"/>
              <a:cs typeface="Luckiest Guy"/>
              <a:sym typeface="Luckiest Guy"/>
            </a:endParaRPr>
          </a:p>
        </p:txBody>
      </p:sp>
      <p:sp>
        <p:nvSpPr>
          <p:cNvPr id="255" name="Google Shape;255;p35"/>
          <p:cNvSpPr txBox="1"/>
          <p:nvPr/>
        </p:nvSpPr>
        <p:spPr>
          <a:xfrm>
            <a:off x="3811493" y="1069250"/>
            <a:ext cx="1289400" cy="417600"/>
          </a:xfrm>
          <a:prstGeom prst="rect">
            <a:avLst/>
          </a:prstGeom>
          <a:noFill/>
          <a:ln>
            <a:noFill/>
          </a:ln>
        </p:spPr>
        <p:txBody>
          <a:bodyPr spcFirstLastPara="1" wrap="square" lIns="91425" tIns="91425" rIns="91425" bIns="91425" anchor="t" anchorCtr="0">
            <a:noAutofit/>
          </a:bodyPr>
          <a:lstStyle/>
          <a:p>
            <a:pPr lvl="0" algn="ctr"/>
            <a:r>
              <a:rPr lang="en-GB" sz="2000" dirty="0">
                <a:solidFill>
                  <a:schemeClr val="dk1"/>
                </a:solidFill>
                <a:latin typeface="Luckiest Guy"/>
                <a:ea typeface="Luckiest Guy"/>
                <a:cs typeface="Luckiest Guy"/>
                <a:sym typeface="Luckiest Guy"/>
              </a:rPr>
              <a:t>P</a:t>
            </a:r>
            <a:r>
              <a:rPr lang="en" sz="2000" dirty="0" err="1">
                <a:solidFill>
                  <a:schemeClr val="dk1"/>
                </a:solidFill>
                <a:latin typeface="Luckiest Guy"/>
                <a:ea typeface="Luckiest Guy"/>
                <a:cs typeface="Luckiest Guy"/>
                <a:sym typeface="Luckiest Guy"/>
              </a:rPr>
              <a:t>ower</a:t>
            </a:r>
            <a:r>
              <a:rPr lang="en" sz="2000" dirty="0">
                <a:solidFill>
                  <a:schemeClr val="dk1"/>
                </a:solidFill>
                <a:latin typeface="Luckiest Guy"/>
                <a:ea typeface="Luckiest Guy"/>
                <a:cs typeface="Luckiest Guy"/>
                <a:sym typeface="Luckiest Guy"/>
              </a:rPr>
              <a:t> </a:t>
            </a:r>
            <a:r>
              <a:rPr lang="ja-JP" altLang="en-US" sz="2000">
                <a:solidFill>
                  <a:schemeClr val="dk1"/>
                </a:solidFill>
                <a:latin typeface="Luckiest Guy"/>
                <a:ea typeface="Luckiest Guy"/>
                <a:cs typeface="Luckiest Guy"/>
                <a:sym typeface="Luckiest Guy"/>
              </a:rPr>
              <a:t>动力</a:t>
            </a:r>
            <a:endParaRPr lang="en" sz="2000" dirty="0">
              <a:solidFill>
                <a:schemeClr val="dk1"/>
              </a:solidFill>
              <a:latin typeface="Luckiest Guy"/>
              <a:ea typeface="Luckiest Guy"/>
              <a:cs typeface="Luckiest Guy"/>
              <a:sym typeface="Luckiest Guy"/>
            </a:endParaRPr>
          </a:p>
          <a:p>
            <a:pPr algn="ctr"/>
            <a:r>
              <a:rPr lang="en-GB" dirty="0"/>
              <a:t>Showing that a nation was strong and superior. Winning support from the public back home.   </a:t>
            </a:r>
          </a:p>
          <a:p>
            <a:pPr marL="0" lvl="0" indent="0" algn="ctr" rtl="0">
              <a:spcBef>
                <a:spcPts val="0"/>
              </a:spcBef>
              <a:spcAft>
                <a:spcPts val="0"/>
              </a:spcAft>
              <a:buNone/>
            </a:pPr>
            <a:endParaRPr sz="2000" dirty="0">
              <a:solidFill>
                <a:schemeClr val="dk1"/>
              </a:solidFill>
              <a:latin typeface="Luckiest Guy"/>
              <a:ea typeface="Luckiest Guy"/>
              <a:cs typeface="Luckiest Guy"/>
              <a:sym typeface="Luckiest Guy"/>
            </a:endParaRPr>
          </a:p>
        </p:txBody>
      </p:sp>
      <p:pic>
        <p:nvPicPr>
          <p:cNvPr id="256" name="Google Shape;256;p35"/>
          <p:cNvPicPr preferRelativeResize="0"/>
          <p:nvPr/>
        </p:nvPicPr>
        <p:blipFill rotWithShape="1">
          <a:blip r:embed="rId3">
            <a:alphaModFix/>
          </a:blip>
          <a:srcRect b="13622"/>
          <a:stretch/>
        </p:blipFill>
        <p:spPr>
          <a:xfrm>
            <a:off x="1371244" y="2522135"/>
            <a:ext cx="762221" cy="666340"/>
          </a:xfrm>
          <a:prstGeom prst="rect">
            <a:avLst/>
          </a:prstGeom>
          <a:noFill/>
          <a:ln>
            <a:noFill/>
          </a:ln>
        </p:spPr>
      </p:pic>
      <p:pic>
        <p:nvPicPr>
          <p:cNvPr id="257" name="Google Shape;257;p35"/>
          <p:cNvPicPr preferRelativeResize="0"/>
          <p:nvPr/>
        </p:nvPicPr>
        <p:blipFill rotWithShape="1">
          <a:blip r:embed="rId4">
            <a:alphaModFix/>
          </a:blip>
          <a:srcRect l="6029" t="13945" r="6969" b="27386"/>
          <a:stretch/>
        </p:blipFill>
        <p:spPr>
          <a:xfrm>
            <a:off x="3245375" y="1781640"/>
            <a:ext cx="707131" cy="666341"/>
          </a:xfrm>
          <a:prstGeom prst="rect">
            <a:avLst/>
          </a:prstGeom>
          <a:noFill/>
          <a:ln>
            <a:noFill/>
          </a:ln>
        </p:spPr>
      </p:pic>
      <p:pic>
        <p:nvPicPr>
          <p:cNvPr id="258" name="Google Shape;258;p35"/>
          <p:cNvPicPr preferRelativeResize="0"/>
          <p:nvPr/>
        </p:nvPicPr>
        <p:blipFill rotWithShape="1">
          <a:blip r:embed="rId5">
            <a:alphaModFix/>
          </a:blip>
          <a:srcRect b="19192"/>
          <a:stretch/>
        </p:blipFill>
        <p:spPr>
          <a:xfrm>
            <a:off x="4816321" y="1132025"/>
            <a:ext cx="1379807" cy="1038076"/>
          </a:xfrm>
          <a:prstGeom prst="rect">
            <a:avLst/>
          </a:prstGeom>
          <a:noFill/>
          <a:ln>
            <a:noFill/>
          </a:ln>
        </p:spPr>
      </p:pic>
      <p:pic>
        <p:nvPicPr>
          <p:cNvPr id="259" name="Google Shape;259;p35"/>
          <p:cNvPicPr preferRelativeResize="0"/>
          <p:nvPr/>
        </p:nvPicPr>
        <p:blipFill>
          <a:blip r:embed="rId6">
            <a:alphaModFix/>
          </a:blip>
          <a:stretch>
            <a:fillRect/>
          </a:stretch>
        </p:blipFill>
        <p:spPr>
          <a:xfrm>
            <a:off x="141300" y="630125"/>
            <a:ext cx="501900" cy="501900"/>
          </a:xfrm>
          <a:prstGeom prst="rect">
            <a:avLst/>
          </a:prstGeom>
          <a:noFill/>
          <a:ln>
            <a:noFill/>
          </a:ln>
        </p:spPr>
      </p:pic>
      <p:sp>
        <p:nvSpPr>
          <p:cNvPr id="260" name="Google Shape;260;p35"/>
          <p:cNvSpPr txBox="1"/>
          <p:nvPr/>
        </p:nvSpPr>
        <p:spPr>
          <a:xfrm>
            <a:off x="6432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cxnSp>
        <p:nvCxnSpPr>
          <p:cNvPr id="261" name="Google Shape;261;p35"/>
          <p:cNvCxnSpPr>
            <a:endCxn id="262" idx="1"/>
          </p:cNvCxnSpPr>
          <p:nvPr/>
        </p:nvCxnSpPr>
        <p:spPr>
          <a:xfrm rot="10800000" flipH="1">
            <a:off x="4477975" y="3088038"/>
            <a:ext cx="1528200" cy="606600"/>
          </a:xfrm>
          <a:prstGeom prst="straightConnector1">
            <a:avLst/>
          </a:prstGeom>
          <a:noFill/>
          <a:ln w="28575" cap="flat" cmpd="sng">
            <a:solidFill>
              <a:schemeClr val="dk2"/>
            </a:solidFill>
            <a:prstDash val="solid"/>
            <a:round/>
            <a:headEnd type="none" w="med" len="med"/>
            <a:tailEnd type="triangle" w="med" len="med"/>
          </a:ln>
        </p:spPr>
      </p:cxnSp>
      <p:sp>
        <p:nvSpPr>
          <p:cNvPr id="263" name="Google Shape;263;p35"/>
          <p:cNvSpPr txBox="1"/>
          <p:nvPr/>
        </p:nvSpPr>
        <p:spPr>
          <a:xfrm>
            <a:off x="115350" y="4405638"/>
            <a:ext cx="5364900" cy="7803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1"/>
              </a:buClr>
              <a:buSzPts val="1800"/>
              <a:buFont typeface="Baumans"/>
              <a:buAutoNum type="arabicPeriod" startAt="2"/>
            </a:pPr>
            <a:r>
              <a:rPr lang="en" sz="1800" dirty="0">
                <a:solidFill>
                  <a:schemeClr val="dk1"/>
                </a:solidFill>
                <a:latin typeface="Baumans"/>
                <a:ea typeface="Baumans"/>
                <a:cs typeface="Baumans"/>
                <a:sym typeface="Baumans"/>
              </a:rPr>
              <a:t>Once complete, decide on which you think are the </a:t>
            </a:r>
            <a:r>
              <a:rPr lang="en" sz="1800" b="1" dirty="0">
                <a:solidFill>
                  <a:schemeClr val="dk1"/>
                </a:solidFill>
                <a:latin typeface="Baumans"/>
                <a:ea typeface="Baumans"/>
                <a:cs typeface="Baumans"/>
                <a:sym typeface="Baumans"/>
              </a:rPr>
              <a:t>3 most important</a:t>
            </a:r>
            <a:r>
              <a:rPr lang="en" sz="1800" dirty="0">
                <a:solidFill>
                  <a:schemeClr val="dk1"/>
                </a:solidFill>
                <a:latin typeface="Baumans"/>
                <a:ea typeface="Baumans"/>
                <a:cs typeface="Baumans"/>
                <a:sym typeface="Baumans"/>
              </a:rPr>
              <a:t>.</a:t>
            </a:r>
            <a:endParaRPr dirty="0"/>
          </a:p>
        </p:txBody>
      </p:sp>
      <p:pic>
        <p:nvPicPr>
          <p:cNvPr id="264" name="Google Shape;264;p35"/>
          <p:cNvPicPr preferRelativeResize="0"/>
          <p:nvPr/>
        </p:nvPicPr>
        <p:blipFill>
          <a:blip r:embed="rId7">
            <a:alphaModFix/>
          </a:blip>
          <a:stretch>
            <a:fillRect/>
          </a:stretch>
        </p:blipFill>
        <p:spPr>
          <a:xfrm>
            <a:off x="6006175" y="723200"/>
            <a:ext cx="554850" cy="554850"/>
          </a:xfrm>
          <a:prstGeom prst="rect">
            <a:avLst/>
          </a:prstGeom>
          <a:noFill/>
          <a:ln>
            <a:noFill/>
          </a:ln>
        </p:spPr>
      </p:pic>
      <p:sp>
        <p:nvSpPr>
          <p:cNvPr id="265" name="Google Shape;265;p35"/>
          <p:cNvSpPr txBox="1"/>
          <p:nvPr/>
        </p:nvSpPr>
        <p:spPr>
          <a:xfrm>
            <a:off x="6613225" y="825425"/>
            <a:ext cx="2047800" cy="35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Poppins"/>
                <a:ea typeface="Poppins"/>
                <a:cs typeface="Poppins"/>
                <a:sym typeface="Poppins"/>
              </a:rPr>
              <a:t>Breakdown Available</a:t>
            </a:r>
            <a:endParaRPr>
              <a:solidFill>
                <a:schemeClr val="dk1"/>
              </a:solidFill>
              <a:latin typeface="Poppins"/>
              <a:ea typeface="Poppins"/>
              <a:cs typeface="Poppins"/>
              <a:sym typeface="Poppins"/>
            </a:endParaRPr>
          </a:p>
        </p:txBody>
      </p:sp>
      <p:pic>
        <p:nvPicPr>
          <p:cNvPr id="266" name="Google Shape;266;p35" title="Screenshot 2025-08-29 at 10.12.30 AM.png"/>
          <p:cNvPicPr preferRelativeResize="0"/>
          <p:nvPr/>
        </p:nvPicPr>
        <p:blipFill>
          <a:blip r:embed="rId8">
            <a:alphaModFix/>
          </a:blip>
          <a:stretch>
            <a:fillRect/>
          </a:stretch>
        </p:blipFill>
        <p:spPr>
          <a:xfrm>
            <a:off x="6142725" y="1337375"/>
            <a:ext cx="2707575" cy="3702200"/>
          </a:xfrm>
          <a:prstGeom prst="rect">
            <a:avLst/>
          </a:prstGeom>
          <a:noFill/>
          <a:ln>
            <a:noFill/>
          </a:ln>
        </p:spPr>
      </p:pic>
      <p:sp>
        <p:nvSpPr>
          <p:cNvPr id="267" name="Google Shape;267;p35"/>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268" name="Google Shape;268;p35" descr="Hello everyone!!&#10;I hope you like this 5 minute fall leaf themed countdown timer. This design was tested and approved by my kindergarten class. Which means a lot, because as you know five-year-olds are the toughest critics.🤩 Please enjoy the happy and relaxing music as the cute timer counts down from five minutes. Please like and subscribe &amp; be sure to comment below of what you think our next countdown timer theme should be!&#10;&#10;Copyright Disclaimer under section 107 of the Copyright Act of 1976, allowance is made for “fair use” for purposes such as criticism, comment, news reporting, teaching, scholarship, education and research. Fair use is a use permitted by copyright statute that might otherwise be infringing.”&#10;&#10;Section 107 of the copyright act 1976:&#10;1- This video has no negative impact&#10;2- This video is also fro teaching &amp; Informational AND Entertainment purposes&#10;3- It is not transformative in nature" title="5 Minute Countdown Timer | Fall Leaves | Music">
            <a:hlinkClick r:id="rId9"/>
          </p:cNvPr>
          <p:cNvPicPr preferRelativeResize="0"/>
          <p:nvPr/>
        </p:nvPicPr>
        <p:blipFill>
          <a:blip r:embed="rId10">
            <a:alphaModFix/>
          </a:blip>
          <a:stretch>
            <a:fillRect/>
          </a:stretch>
        </p:blipFill>
        <p:spPr>
          <a:xfrm>
            <a:off x="7900350" y="48420"/>
            <a:ext cx="1137075" cy="6396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graphicFrame>
        <p:nvGraphicFramePr>
          <p:cNvPr id="273" name="Google Shape;273;p36"/>
          <p:cNvGraphicFramePr/>
          <p:nvPr/>
        </p:nvGraphicFramePr>
        <p:xfrm>
          <a:off x="473523" y="1337375"/>
          <a:ext cx="7829025" cy="3773043"/>
        </p:xfrm>
        <a:graphic>
          <a:graphicData uri="http://schemas.openxmlformats.org/drawingml/2006/table">
            <a:tbl>
              <a:tblPr>
                <a:noFill/>
                <a:tableStyleId>{FDBBC923-42E3-4A34-AFD6-70A1F5DBAA3B}</a:tableStyleId>
              </a:tblPr>
              <a:tblGrid>
                <a:gridCol w="2609675">
                  <a:extLst>
                    <a:ext uri="{9D8B030D-6E8A-4147-A177-3AD203B41FA5}">
                      <a16:colId xmlns:a16="http://schemas.microsoft.com/office/drawing/2014/main" val="20000"/>
                    </a:ext>
                  </a:extLst>
                </a:gridCol>
                <a:gridCol w="2609675">
                  <a:extLst>
                    <a:ext uri="{9D8B030D-6E8A-4147-A177-3AD203B41FA5}">
                      <a16:colId xmlns:a16="http://schemas.microsoft.com/office/drawing/2014/main" val="20001"/>
                    </a:ext>
                  </a:extLst>
                </a:gridCol>
                <a:gridCol w="2609675">
                  <a:extLst>
                    <a:ext uri="{9D8B030D-6E8A-4147-A177-3AD203B41FA5}">
                      <a16:colId xmlns:a16="http://schemas.microsoft.com/office/drawing/2014/main" val="20002"/>
                    </a:ext>
                  </a:extLst>
                </a:gridCol>
              </a:tblGrid>
              <a:tr h="1257300">
                <a:tc>
                  <a:txBody>
                    <a:bodyPr/>
                    <a:lstStyle/>
                    <a:p>
                      <a:pPr marL="228600" marR="223045"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Raw materials from colonies, such as gold, diamonds, and cotton, supported European industries.</a:t>
                      </a:r>
                      <a:endParaRPr sz="1200">
                        <a:latin typeface="Poppins"/>
                        <a:ea typeface="Poppins"/>
                        <a:cs typeface="Poppins"/>
                        <a:sym typeface="Poppins"/>
                      </a:endParaRPr>
                    </a:p>
                    <a:p>
                      <a:pPr marL="228600" marR="223045"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117596"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Colonies provided harbours where navies could dock, refuel, and control sea routes.</a:t>
                      </a:r>
                      <a:endParaRPr sz="1200">
                        <a:latin typeface="Poppins"/>
                        <a:ea typeface="Poppins"/>
                        <a:cs typeface="Poppins"/>
                        <a:sym typeface="Poppins"/>
                      </a:endParaRPr>
                    </a:p>
                  </a:txBody>
                  <a:tcPr marL="11430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1907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European powers competed for land, especially in Africa, to block rivals from gaining strength.</a:t>
                      </a:r>
                      <a:endParaRPr sz="1200" strike="noStrike" cap="none">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257300">
                <a:tc>
                  <a:txBody>
                    <a:bodyPr/>
                    <a:lstStyle/>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Colonies gave empires more people to rule over, adding to their global influence.</a:t>
                      </a:r>
                      <a:endParaRPr sz="12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txBody>
                  <a:tcPr marL="0" marR="30795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Colonies were only allowed to trade with their European power, limiting their choices.</a:t>
                      </a:r>
                      <a:endParaRPr sz="1200">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Colonial populations could be recruited as soldiers for European armies.</a:t>
                      </a:r>
                      <a:endParaRPr sz="1200" strike="noStrike" cap="none">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57300">
                <a:tc>
                  <a:txBody>
                    <a:bodyPr/>
                    <a:lstStyle/>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Military bases overseas allowed empires to defend their territories and attack rivals.</a:t>
                      </a:r>
                      <a:endParaRPr sz="1200">
                        <a:latin typeface="Poppins"/>
                        <a:ea typeface="Poppins"/>
                        <a:cs typeface="Poppins"/>
                        <a:sym typeface="Poppins"/>
                      </a:endParaRPr>
                    </a:p>
                    <a:p>
                      <a:pPr marL="228600" marR="0" lvl="0" indent="0" algn="ctr" rtl="0">
                        <a:lnSpc>
                          <a:spcPct val="115000"/>
                        </a:lnSpc>
                        <a:spcBef>
                          <a:spcPts val="0"/>
                        </a:spcBef>
                        <a:spcAft>
                          <a:spcPts val="0"/>
                        </a:spcAft>
                        <a:buClr>
                          <a:srgbClr val="000000"/>
                        </a:buClr>
                        <a:buSzPts val="900"/>
                        <a:buFont typeface="Helvetica Neue"/>
                        <a:buNone/>
                      </a:pPr>
                      <a:endParaRPr sz="600">
                        <a:latin typeface="Poppins"/>
                        <a:ea typeface="Poppins"/>
                        <a:cs typeface="Poppins"/>
                        <a:sym typeface="Poppins"/>
                      </a:endParaRPr>
                    </a:p>
                  </a:txBody>
                  <a:tcPr marL="0" marR="21795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228600" marR="223045"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Controlling trade and land made European powers appear richer and stronger than others.</a:t>
                      </a:r>
                      <a:endParaRPr sz="1200">
                        <a:latin typeface="Poppins"/>
                        <a:ea typeface="Poppins"/>
                        <a:cs typeface="Poppins"/>
                        <a:sym typeface="Poppins"/>
                      </a:endParaRPr>
                    </a:p>
                  </a:txBody>
                  <a:tcPr marL="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108274" lvl="0" indent="0" algn="ctr" rtl="0">
                        <a:lnSpc>
                          <a:spcPct val="115000"/>
                        </a:lnSpc>
                        <a:spcBef>
                          <a:spcPts val="0"/>
                        </a:spcBef>
                        <a:spcAft>
                          <a:spcPts val="0"/>
                        </a:spcAft>
                        <a:buClr>
                          <a:srgbClr val="000000"/>
                        </a:buClr>
                        <a:buSzPts val="900"/>
                        <a:buFont typeface="Helvetica Neue"/>
                        <a:buNone/>
                      </a:pPr>
                      <a:r>
                        <a:rPr lang="en" sz="1200">
                          <a:latin typeface="Poppins"/>
                          <a:ea typeface="Poppins"/>
                          <a:cs typeface="Poppins"/>
                          <a:sym typeface="Poppins"/>
                        </a:rPr>
                        <a:t>European powers made huge profits by selling factory goods back to the same colonies.</a:t>
                      </a:r>
                      <a:endParaRPr sz="1200">
                        <a:latin typeface="Poppins"/>
                        <a:ea typeface="Poppins"/>
                        <a:cs typeface="Poppins"/>
                        <a:sym typeface="Poppins"/>
                      </a:endParaRPr>
                    </a:p>
                  </a:txBody>
                  <a:tcPr marL="285750" marR="0" marT="0" marB="0"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pic>
        <p:nvPicPr>
          <p:cNvPr id="274" name="Google Shape;274;p36"/>
          <p:cNvPicPr preferRelativeResize="0"/>
          <p:nvPr/>
        </p:nvPicPr>
        <p:blipFill rotWithShape="1">
          <a:blip r:embed="rId3">
            <a:alphaModFix/>
          </a:blip>
          <a:srcRect b="13622"/>
          <a:stretch/>
        </p:blipFill>
        <p:spPr>
          <a:xfrm>
            <a:off x="6584159" y="3940501"/>
            <a:ext cx="1136677" cy="981825"/>
          </a:xfrm>
          <a:prstGeom prst="rect">
            <a:avLst/>
          </a:prstGeom>
          <a:noFill/>
          <a:ln>
            <a:noFill/>
          </a:ln>
        </p:spPr>
      </p:pic>
      <p:pic>
        <p:nvPicPr>
          <p:cNvPr id="275" name="Google Shape;275;p36"/>
          <p:cNvPicPr preferRelativeResize="0"/>
          <p:nvPr/>
        </p:nvPicPr>
        <p:blipFill rotWithShape="1">
          <a:blip r:embed="rId4">
            <a:alphaModFix/>
          </a:blip>
          <a:srcRect l="6029" t="13945" r="6969" b="27386"/>
          <a:stretch/>
        </p:blipFill>
        <p:spPr>
          <a:xfrm>
            <a:off x="6382775" y="2704300"/>
            <a:ext cx="1539389" cy="1038076"/>
          </a:xfrm>
          <a:prstGeom prst="rect">
            <a:avLst/>
          </a:prstGeom>
          <a:noFill/>
          <a:ln>
            <a:noFill/>
          </a:ln>
        </p:spPr>
      </p:pic>
      <p:pic>
        <p:nvPicPr>
          <p:cNvPr id="276" name="Google Shape;276;p36"/>
          <p:cNvPicPr preferRelativeResize="0"/>
          <p:nvPr/>
        </p:nvPicPr>
        <p:blipFill rotWithShape="1">
          <a:blip r:embed="rId5">
            <a:alphaModFix/>
          </a:blip>
          <a:srcRect b="19192"/>
          <a:stretch/>
        </p:blipFill>
        <p:spPr>
          <a:xfrm>
            <a:off x="1008175" y="2704287"/>
            <a:ext cx="1379807" cy="1038075"/>
          </a:xfrm>
          <a:prstGeom prst="rect">
            <a:avLst/>
          </a:prstGeom>
          <a:noFill/>
          <a:ln>
            <a:noFill/>
          </a:ln>
        </p:spPr>
      </p:pic>
      <p:pic>
        <p:nvPicPr>
          <p:cNvPr id="277" name="Google Shape;277;p36"/>
          <p:cNvPicPr preferRelativeResize="0"/>
          <p:nvPr/>
        </p:nvPicPr>
        <p:blipFill rotWithShape="1">
          <a:blip r:embed="rId3">
            <a:alphaModFix/>
          </a:blip>
          <a:srcRect b="13622"/>
          <a:stretch/>
        </p:blipFill>
        <p:spPr>
          <a:xfrm>
            <a:off x="1129759" y="1432476"/>
            <a:ext cx="1136678" cy="981825"/>
          </a:xfrm>
          <a:prstGeom prst="rect">
            <a:avLst/>
          </a:prstGeom>
          <a:noFill/>
          <a:ln>
            <a:noFill/>
          </a:ln>
        </p:spPr>
      </p:pic>
      <p:pic>
        <p:nvPicPr>
          <p:cNvPr id="278" name="Google Shape;278;p36"/>
          <p:cNvPicPr preferRelativeResize="0"/>
          <p:nvPr/>
        </p:nvPicPr>
        <p:blipFill rotWithShape="1">
          <a:blip r:embed="rId3">
            <a:alphaModFix/>
          </a:blip>
          <a:srcRect b="13622"/>
          <a:stretch/>
        </p:blipFill>
        <p:spPr>
          <a:xfrm>
            <a:off x="3819709" y="2732413"/>
            <a:ext cx="1136678" cy="981825"/>
          </a:xfrm>
          <a:prstGeom prst="rect">
            <a:avLst/>
          </a:prstGeom>
          <a:noFill/>
          <a:ln>
            <a:noFill/>
          </a:ln>
        </p:spPr>
      </p:pic>
      <p:pic>
        <p:nvPicPr>
          <p:cNvPr id="279" name="Google Shape;279;p36"/>
          <p:cNvPicPr preferRelativeResize="0"/>
          <p:nvPr/>
        </p:nvPicPr>
        <p:blipFill rotWithShape="1">
          <a:blip r:embed="rId5">
            <a:alphaModFix/>
          </a:blip>
          <a:srcRect b="19192"/>
          <a:stretch/>
        </p:blipFill>
        <p:spPr>
          <a:xfrm>
            <a:off x="6462575" y="1404349"/>
            <a:ext cx="1379807" cy="1038076"/>
          </a:xfrm>
          <a:prstGeom prst="rect">
            <a:avLst/>
          </a:prstGeom>
          <a:noFill/>
          <a:ln>
            <a:noFill/>
          </a:ln>
        </p:spPr>
      </p:pic>
      <p:pic>
        <p:nvPicPr>
          <p:cNvPr id="280" name="Google Shape;280;p36"/>
          <p:cNvPicPr preferRelativeResize="0"/>
          <p:nvPr/>
        </p:nvPicPr>
        <p:blipFill rotWithShape="1">
          <a:blip r:embed="rId5">
            <a:alphaModFix/>
          </a:blip>
          <a:srcRect b="19192"/>
          <a:stretch/>
        </p:blipFill>
        <p:spPr>
          <a:xfrm>
            <a:off x="3698138" y="3912374"/>
            <a:ext cx="1379807" cy="1038075"/>
          </a:xfrm>
          <a:prstGeom prst="rect">
            <a:avLst/>
          </a:prstGeom>
          <a:noFill/>
          <a:ln>
            <a:noFill/>
          </a:ln>
        </p:spPr>
      </p:pic>
      <p:pic>
        <p:nvPicPr>
          <p:cNvPr id="281" name="Google Shape;281;p36"/>
          <p:cNvPicPr preferRelativeResize="0"/>
          <p:nvPr/>
        </p:nvPicPr>
        <p:blipFill rotWithShape="1">
          <a:blip r:embed="rId4">
            <a:alphaModFix/>
          </a:blip>
          <a:srcRect l="6029" t="13945" r="6969" b="27386"/>
          <a:stretch/>
        </p:blipFill>
        <p:spPr>
          <a:xfrm>
            <a:off x="3760400" y="1404350"/>
            <a:ext cx="1539389" cy="1038076"/>
          </a:xfrm>
          <a:prstGeom prst="rect">
            <a:avLst/>
          </a:prstGeom>
          <a:noFill/>
          <a:ln>
            <a:noFill/>
          </a:ln>
        </p:spPr>
      </p:pic>
      <p:pic>
        <p:nvPicPr>
          <p:cNvPr id="282" name="Google Shape;282;p36"/>
          <p:cNvPicPr preferRelativeResize="0"/>
          <p:nvPr/>
        </p:nvPicPr>
        <p:blipFill rotWithShape="1">
          <a:blip r:embed="rId4">
            <a:alphaModFix/>
          </a:blip>
          <a:srcRect l="6029" t="13945" r="6969" b="27386"/>
          <a:stretch/>
        </p:blipFill>
        <p:spPr>
          <a:xfrm>
            <a:off x="928388" y="3912375"/>
            <a:ext cx="1539389" cy="1038076"/>
          </a:xfrm>
          <a:prstGeom prst="rect">
            <a:avLst/>
          </a:prstGeom>
          <a:noFill/>
          <a:ln>
            <a:noFill/>
          </a:ln>
        </p:spPr>
      </p:pic>
      <p:pic>
        <p:nvPicPr>
          <p:cNvPr id="283" name="Google Shape;283;p36"/>
          <p:cNvPicPr preferRelativeResize="0"/>
          <p:nvPr/>
        </p:nvPicPr>
        <p:blipFill>
          <a:blip r:embed="rId6">
            <a:alphaModFix/>
          </a:blip>
          <a:stretch>
            <a:fillRect/>
          </a:stretch>
        </p:blipFill>
        <p:spPr>
          <a:xfrm>
            <a:off x="141300" y="630125"/>
            <a:ext cx="501900" cy="501900"/>
          </a:xfrm>
          <a:prstGeom prst="rect">
            <a:avLst/>
          </a:prstGeom>
          <a:noFill/>
          <a:ln>
            <a:noFill/>
          </a:ln>
        </p:spPr>
      </p:pic>
      <p:sp>
        <p:nvSpPr>
          <p:cNvPr id="284" name="Google Shape;284;p36"/>
          <p:cNvSpPr txBox="1"/>
          <p:nvPr/>
        </p:nvSpPr>
        <p:spPr>
          <a:xfrm>
            <a:off x="6432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sp>
        <p:nvSpPr>
          <p:cNvPr id="285" name="Google Shape;285;p36"/>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7"/>
          <p:cNvSpPr txBox="1"/>
          <p:nvPr/>
        </p:nvSpPr>
        <p:spPr>
          <a:xfrm>
            <a:off x="115350" y="1132025"/>
            <a:ext cx="8887200" cy="43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Delius"/>
                <a:ea typeface="Delius"/>
                <a:cs typeface="Delius"/>
                <a:sym typeface="Delius"/>
              </a:rPr>
              <a:t>Activity:</a:t>
            </a:r>
            <a:r>
              <a:rPr lang="en" sz="1800" b="1">
                <a:solidFill>
                  <a:schemeClr val="dk1"/>
                </a:solidFill>
                <a:latin typeface="Delius"/>
                <a:ea typeface="Delius"/>
                <a:cs typeface="Delius"/>
                <a:sym typeface="Delius"/>
              </a:rPr>
              <a:t> </a:t>
            </a:r>
            <a:r>
              <a:rPr lang="en" sz="1800" b="1">
                <a:solidFill>
                  <a:schemeClr val="dk1"/>
                </a:solidFill>
                <a:latin typeface="Baumans"/>
                <a:ea typeface="Baumans"/>
                <a:cs typeface="Baumans"/>
                <a:sym typeface="Baumans"/>
              </a:rPr>
              <a:t>Evaluate reasons why European countries wanted to build empires.</a:t>
            </a:r>
            <a:endParaRPr sz="1800" b="1">
              <a:solidFill>
                <a:schemeClr val="dk1"/>
              </a:solidFill>
              <a:latin typeface="Baumans"/>
              <a:ea typeface="Baumans"/>
              <a:cs typeface="Baumans"/>
              <a:sym typeface="Baumans"/>
            </a:endParaRPr>
          </a:p>
        </p:txBody>
      </p:sp>
      <p:sp>
        <p:nvSpPr>
          <p:cNvPr id="291" name="Google Shape;291;p37"/>
          <p:cNvSpPr txBox="1"/>
          <p:nvPr/>
        </p:nvSpPr>
        <p:spPr>
          <a:xfrm>
            <a:off x="115350" y="1576038"/>
            <a:ext cx="6370200" cy="199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Create a </a:t>
            </a:r>
            <a:r>
              <a:rPr lang="en" sz="1800" b="1">
                <a:solidFill>
                  <a:srgbClr val="F81E76"/>
                </a:solidFill>
                <a:highlight>
                  <a:schemeClr val="lt1"/>
                </a:highlight>
                <a:latin typeface="Baumans"/>
                <a:ea typeface="Baumans"/>
                <a:cs typeface="Baumans"/>
                <a:sym typeface="Baumans"/>
              </a:rPr>
              <a:t>P</a:t>
            </a:r>
            <a:r>
              <a:rPr lang="en" sz="1800" b="1">
                <a:solidFill>
                  <a:srgbClr val="FA7803"/>
                </a:solidFill>
                <a:highlight>
                  <a:schemeClr val="lt1"/>
                </a:highlight>
                <a:latin typeface="Baumans"/>
                <a:ea typeface="Baumans"/>
                <a:cs typeface="Baumans"/>
                <a:sym typeface="Baumans"/>
              </a:rPr>
              <a:t>E</a:t>
            </a:r>
            <a:r>
              <a:rPr lang="en" sz="1800" b="1">
                <a:solidFill>
                  <a:srgbClr val="0C9F29"/>
                </a:solidFill>
                <a:highlight>
                  <a:schemeClr val="lt1"/>
                </a:highlight>
                <a:latin typeface="Baumans"/>
                <a:ea typeface="Baumans"/>
                <a:cs typeface="Baumans"/>
                <a:sym typeface="Baumans"/>
              </a:rPr>
              <a:t>E</a:t>
            </a:r>
            <a:r>
              <a:rPr lang="en" sz="1800" b="1">
                <a:solidFill>
                  <a:srgbClr val="038DFA"/>
                </a:solidFill>
                <a:highlight>
                  <a:schemeClr val="lt1"/>
                </a:highlight>
                <a:latin typeface="Baumans"/>
                <a:ea typeface="Baumans"/>
                <a:cs typeface="Baumans"/>
                <a:sym typeface="Baumans"/>
              </a:rPr>
              <a:t>L</a:t>
            </a:r>
            <a:r>
              <a:rPr lang="en" sz="1800">
                <a:solidFill>
                  <a:schemeClr val="dk1"/>
                </a:solidFill>
                <a:latin typeface="Baumans"/>
                <a:ea typeface="Baumans"/>
                <a:cs typeface="Baumans"/>
                <a:sym typeface="Baumans"/>
              </a:rPr>
              <a:t> paragraph explaining:</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Char char="●"/>
            </a:pPr>
            <a:r>
              <a:rPr lang="en" sz="1800">
                <a:solidFill>
                  <a:schemeClr val="dk1"/>
                </a:solidFill>
                <a:latin typeface="Baumans"/>
                <a:ea typeface="Baumans"/>
                <a:cs typeface="Baumans"/>
                <a:sym typeface="Baumans"/>
              </a:rPr>
              <a:t>Your </a:t>
            </a:r>
            <a:r>
              <a:rPr lang="en" sz="1800" b="1">
                <a:solidFill>
                  <a:schemeClr val="dk1"/>
                </a:solidFill>
                <a:latin typeface="Baumans"/>
                <a:ea typeface="Baumans"/>
                <a:cs typeface="Baumans"/>
                <a:sym typeface="Baumans"/>
              </a:rPr>
              <a:t>3</a:t>
            </a:r>
            <a:r>
              <a:rPr lang="en" sz="1800">
                <a:solidFill>
                  <a:schemeClr val="dk1"/>
                </a:solidFill>
                <a:latin typeface="Baumans"/>
                <a:ea typeface="Baumans"/>
                <a:cs typeface="Baumans"/>
                <a:sym typeface="Baumans"/>
              </a:rPr>
              <a:t> most important reasons why European countries wanted to build empires.</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Char char="●"/>
            </a:pPr>
            <a:r>
              <a:rPr lang="en" sz="1800">
                <a:solidFill>
                  <a:schemeClr val="dk1"/>
                </a:solidFill>
                <a:latin typeface="Baumans"/>
                <a:ea typeface="Baumans"/>
                <a:cs typeface="Baumans"/>
                <a:sym typeface="Baumans"/>
              </a:rPr>
              <a:t>Evidence to support each reason.</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Char char="●"/>
            </a:pPr>
            <a:r>
              <a:rPr lang="en" sz="1800">
                <a:solidFill>
                  <a:schemeClr val="dk1"/>
                </a:solidFill>
                <a:latin typeface="Baumans"/>
                <a:ea typeface="Baumans"/>
                <a:cs typeface="Baumans"/>
                <a:sym typeface="Baumans"/>
              </a:rPr>
              <a:t>Why each of these were important for showing a country’s power before World War I.</a:t>
            </a:r>
            <a:endParaRPr sz="1800">
              <a:solidFill>
                <a:schemeClr val="dk1"/>
              </a:solidFill>
              <a:latin typeface="Baumans"/>
              <a:ea typeface="Baumans"/>
              <a:cs typeface="Baumans"/>
              <a:sym typeface="Baumans"/>
            </a:endParaRPr>
          </a:p>
        </p:txBody>
      </p:sp>
      <p:sp>
        <p:nvSpPr>
          <p:cNvPr id="292" name="Google Shape;292;p37"/>
          <p:cNvSpPr txBox="1"/>
          <p:nvPr/>
        </p:nvSpPr>
        <p:spPr>
          <a:xfrm>
            <a:off x="6440250" y="1570025"/>
            <a:ext cx="2588400" cy="18615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1400"/>
              <a:buFont typeface="Arial"/>
              <a:buNone/>
            </a:pPr>
            <a:r>
              <a:rPr lang="en" b="1" i="0" u="none" strike="noStrike" cap="none">
                <a:solidFill>
                  <a:srgbClr val="000000"/>
                </a:solidFill>
                <a:latin typeface="Poppins"/>
                <a:ea typeface="Poppins"/>
                <a:cs typeface="Poppins"/>
                <a:sym typeface="Poppins"/>
              </a:rPr>
              <a:t>Use </a:t>
            </a:r>
            <a:r>
              <a:rPr lang="en" b="1">
                <a:solidFill>
                  <a:srgbClr val="F81E76"/>
                </a:solidFill>
                <a:highlight>
                  <a:schemeClr val="lt1"/>
                </a:highlight>
                <a:latin typeface="Poppins"/>
                <a:ea typeface="Poppins"/>
                <a:cs typeface="Poppins"/>
                <a:sym typeface="Poppins"/>
              </a:rPr>
              <a:t>P</a:t>
            </a:r>
            <a:r>
              <a:rPr lang="en" b="1">
                <a:solidFill>
                  <a:srgbClr val="FA7803"/>
                </a:solidFill>
                <a:highlight>
                  <a:schemeClr val="lt1"/>
                </a:highlight>
                <a:latin typeface="Poppins"/>
                <a:ea typeface="Poppins"/>
                <a:cs typeface="Poppins"/>
                <a:sym typeface="Poppins"/>
              </a:rPr>
              <a:t>E</a:t>
            </a:r>
            <a:r>
              <a:rPr lang="en" b="1">
                <a:solidFill>
                  <a:srgbClr val="0C9F29"/>
                </a:solidFill>
                <a:highlight>
                  <a:schemeClr val="lt1"/>
                </a:highlight>
                <a:latin typeface="Poppins"/>
                <a:ea typeface="Poppins"/>
                <a:cs typeface="Poppins"/>
                <a:sym typeface="Poppins"/>
              </a:rPr>
              <a:t>E</a:t>
            </a:r>
            <a:r>
              <a:rPr lang="en" b="1">
                <a:solidFill>
                  <a:srgbClr val="038DFA"/>
                </a:solidFill>
                <a:highlight>
                  <a:schemeClr val="lt1"/>
                </a:highlight>
                <a:latin typeface="Poppins"/>
                <a:ea typeface="Poppins"/>
                <a:cs typeface="Poppins"/>
                <a:sym typeface="Poppins"/>
              </a:rPr>
              <a:t>L</a:t>
            </a:r>
            <a:r>
              <a:rPr lang="en" b="1" i="0" u="none" strike="noStrike" cap="none">
                <a:solidFill>
                  <a:srgbClr val="FF9900"/>
                </a:solidFill>
                <a:latin typeface="Poppins"/>
                <a:ea typeface="Poppins"/>
                <a:cs typeface="Poppins"/>
                <a:sym typeface="Poppins"/>
              </a:rPr>
              <a:t> </a:t>
            </a:r>
            <a:r>
              <a:rPr lang="en" b="1" i="0" u="none" strike="noStrike" cap="none">
                <a:solidFill>
                  <a:srgbClr val="000000"/>
                </a:solidFill>
                <a:latin typeface="Poppins"/>
                <a:ea typeface="Poppins"/>
                <a:cs typeface="Poppins"/>
                <a:sym typeface="Poppins"/>
              </a:rPr>
              <a:t>in your paragraph.</a:t>
            </a:r>
            <a:endParaRPr b="1" i="0" u="none" strike="noStrike" cap="none">
              <a:solidFill>
                <a:srgbClr val="000000"/>
              </a:solidFill>
              <a:latin typeface="Poppins"/>
              <a:ea typeface="Poppins"/>
              <a:cs typeface="Poppins"/>
              <a:sym typeface="Poppins"/>
            </a:endParaRPr>
          </a:p>
          <a:p>
            <a:pPr marL="0" marR="0" lvl="0" indent="0" algn="l" rtl="0">
              <a:lnSpc>
                <a:spcPct val="90000"/>
              </a:lnSpc>
              <a:spcBef>
                <a:spcPts val="1000"/>
              </a:spcBef>
              <a:spcAft>
                <a:spcPts val="0"/>
              </a:spcAft>
              <a:buClr>
                <a:srgbClr val="000000"/>
              </a:buClr>
              <a:buSzPts val="1400"/>
              <a:buFont typeface="Arial"/>
              <a:buNone/>
            </a:pPr>
            <a:r>
              <a:rPr lang="en" b="1" i="0" u="none" strike="noStrike" cap="none">
                <a:solidFill>
                  <a:srgbClr val="980000"/>
                </a:solidFill>
                <a:latin typeface="Poppins"/>
                <a:ea typeface="Poppins"/>
                <a:cs typeface="Poppins"/>
                <a:sym typeface="Poppins"/>
              </a:rPr>
              <a:t>Point: What? How?</a:t>
            </a:r>
            <a:endParaRPr b="1" i="0" u="none" strike="noStrike" cap="none">
              <a:solidFill>
                <a:srgbClr val="980000"/>
              </a:solidFill>
              <a:latin typeface="Poppins"/>
              <a:ea typeface="Poppins"/>
              <a:cs typeface="Poppins"/>
              <a:sym typeface="Poppins"/>
            </a:endParaRPr>
          </a:p>
          <a:p>
            <a:pPr marL="0" lvl="0" indent="0" algn="l" rtl="0">
              <a:lnSpc>
                <a:spcPct val="90000"/>
              </a:lnSpc>
              <a:spcBef>
                <a:spcPts val="1000"/>
              </a:spcBef>
              <a:spcAft>
                <a:spcPts val="0"/>
              </a:spcAft>
              <a:buClr>
                <a:schemeClr val="dk1"/>
              </a:buClr>
              <a:buSzPts val="1400"/>
              <a:buFont typeface="Arial"/>
              <a:buNone/>
            </a:pPr>
            <a:r>
              <a:rPr lang="en" b="1">
                <a:solidFill>
                  <a:srgbClr val="0000FF"/>
                </a:solidFill>
                <a:latin typeface="Poppins"/>
                <a:ea typeface="Poppins"/>
                <a:cs typeface="Poppins"/>
                <a:sym typeface="Poppins"/>
              </a:rPr>
              <a:t>Evidence: When? Why?</a:t>
            </a:r>
            <a:endParaRPr b="1">
              <a:solidFill>
                <a:srgbClr val="274E13"/>
              </a:solidFill>
              <a:latin typeface="Poppins"/>
              <a:ea typeface="Poppins"/>
              <a:cs typeface="Poppins"/>
              <a:sym typeface="Poppins"/>
            </a:endParaRPr>
          </a:p>
          <a:p>
            <a:pPr marL="0" lvl="0" indent="0" algn="l" rtl="0">
              <a:lnSpc>
                <a:spcPct val="90000"/>
              </a:lnSpc>
              <a:spcBef>
                <a:spcPts val="1000"/>
              </a:spcBef>
              <a:spcAft>
                <a:spcPts val="0"/>
              </a:spcAft>
              <a:buClr>
                <a:schemeClr val="dk1"/>
              </a:buClr>
              <a:buSzPts val="1400"/>
              <a:buFont typeface="Arial"/>
              <a:buNone/>
            </a:pPr>
            <a:r>
              <a:rPr lang="en" b="1">
                <a:solidFill>
                  <a:srgbClr val="274E13"/>
                </a:solidFill>
                <a:latin typeface="Poppins"/>
                <a:ea typeface="Poppins"/>
                <a:cs typeface="Poppins"/>
                <a:sym typeface="Poppins"/>
              </a:rPr>
              <a:t>Explain: How? When?</a:t>
            </a:r>
            <a:endParaRPr b="1" i="0" u="none" strike="noStrike" cap="none">
              <a:solidFill>
                <a:srgbClr val="274E13"/>
              </a:solidFill>
              <a:latin typeface="Poppins"/>
              <a:ea typeface="Poppins"/>
              <a:cs typeface="Poppins"/>
              <a:sym typeface="Poppins"/>
            </a:endParaRPr>
          </a:p>
          <a:p>
            <a:pPr marL="0" marR="0" lvl="0" indent="0" algn="l" rtl="0">
              <a:lnSpc>
                <a:spcPct val="90000"/>
              </a:lnSpc>
              <a:spcBef>
                <a:spcPts val="1000"/>
              </a:spcBef>
              <a:spcAft>
                <a:spcPts val="0"/>
              </a:spcAft>
              <a:buClr>
                <a:srgbClr val="000000"/>
              </a:buClr>
              <a:buSzPts val="1400"/>
              <a:buFont typeface="Arial"/>
              <a:buNone/>
            </a:pPr>
            <a:r>
              <a:rPr lang="en" b="1" i="0" u="none" strike="noStrike" cap="none">
                <a:solidFill>
                  <a:srgbClr val="FF6600"/>
                </a:solidFill>
                <a:latin typeface="Poppins"/>
                <a:ea typeface="Poppins"/>
                <a:cs typeface="Poppins"/>
                <a:sym typeface="Poppins"/>
              </a:rPr>
              <a:t>Link: When? Who?</a:t>
            </a:r>
            <a:endParaRPr b="1" i="0" u="none" strike="noStrike" cap="none">
              <a:solidFill>
                <a:srgbClr val="000000"/>
              </a:solidFill>
              <a:latin typeface="Poppins"/>
              <a:ea typeface="Poppins"/>
              <a:cs typeface="Poppins"/>
              <a:sym typeface="Poppins"/>
            </a:endParaRPr>
          </a:p>
        </p:txBody>
      </p:sp>
      <p:sp>
        <p:nvSpPr>
          <p:cNvPr id="293" name="Google Shape;293;p37"/>
          <p:cNvSpPr txBox="1"/>
          <p:nvPr/>
        </p:nvSpPr>
        <p:spPr>
          <a:xfrm>
            <a:off x="1097250" y="3801600"/>
            <a:ext cx="6975300" cy="954300"/>
          </a:xfrm>
          <a:prstGeom prst="rect">
            <a:avLst/>
          </a:prstGeom>
          <a:solidFill>
            <a:srgbClr val="46230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Baumans"/>
                <a:ea typeface="Baumans"/>
                <a:cs typeface="Baumans"/>
                <a:sym typeface="Baumans"/>
              </a:rPr>
              <a:t>Make your paragraph </a:t>
            </a:r>
            <a:r>
              <a:rPr lang="en" sz="1800" b="1">
                <a:solidFill>
                  <a:srgbClr val="FF0000"/>
                </a:solidFill>
                <a:latin typeface="Finger Paint"/>
                <a:ea typeface="Finger Paint"/>
                <a:cs typeface="Finger Paint"/>
                <a:sym typeface="Finger Paint"/>
              </a:rPr>
              <a:t>Extra Hot</a:t>
            </a:r>
            <a:r>
              <a:rPr lang="en" sz="1800" b="1">
                <a:solidFill>
                  <a:schemeClr val="lt1"/>
                </a:solidFill>
                <a:latin typeface="Baumans"/>
                <a:ea typeface="Baumans"/>
                <a:cs typeface="Baumans"/>
                <a:sym typeface="Baumans"/>
              </a:rPr>
              <a:t> by adding in what character values European countries showed </a:t>
            </a:r>
            <a:r>
              <a:rPr lang="en" sz="1200" b="1">
                <a:solidFill>
                  <a:schemeClr val="lt1"/>
                </a:solidFill>
                <a:latin typeface="Patrick Hand"/>
                <a:ea typeface="Patrick Hand"/>
                <a:cs typeface="Patrick Hand"/>
                <a:sym typeface="Patrick Hand"/>
              </a:rPr>
              <a:t>(or failed to show!)</a:t>
            </a:r>
            <a:r>
              <a:rPr lang="en" sz="1800" b="1">
                <a:solidFill>
                  <a:schemeClr val="lt1"/>
                </a:solidFill>
                <a:latin typeface="Baumans"/>
                <a:ea typeface="Baumans"/>
                <a:cs typeface="Baumans"/>
                <a:sym typeface="Baumans"/>
              </a:rPr>
              <a:t> when building their empires!</a:t>
            </a:r>
            <a:endParaRPr sz="1800" b="1">
              <a:solidFill>
                <a:schemeClr val="lt1"/>
              </a:solidFill>
              <a:latin typeface="Baumans"/>
              <a:ea typeface="Baumans"/>
              <a:cs typeface="Baumans"/>
              <a:sym typeface="Baumans"/>
            </a:endParaRPr>
          </a:p>
          <a:p>
            <a:pPr marL="0" lvl="0" indent="0" algn="ctr" rtl="0">
              <a:spcBef>
                <a:spcPts val="0"/>
              </a:spcBef>
              <a:spcAft>
                <a:spcPts val="0"/>
              </a:spcAft>
              <a:buNone/>
            </a:pPr>
            <a:r>
              <a:rPr lang="en" b="1">
                <a:solidFill>
                  <a:schemeClr val="lt1"/>
                </a:solidFill>
                <a:latin typeface="Patrick Hand"/>
                <a:ea typeface="Patrick Hand"/>
                <a:cs typeface="Patrick Hand"/>
                <a:sym typeface="Patrick Hand"/>
              </a:rPr>
              <a:t>(Justice, Respect, Responsibility, Courage, Honesty)</a:t>
            </a:r>
            <a:endParaRPr b="1">
              <a:solidFill>
                <a:schemeClr val="lt1"/>
              </a:solidFill>
              <a:latin typeface="Patrick Hand"/>
              <a:ea typeface="Patrick Hand"/>
              <a:cs typeface="Patrick Hand"/>
              <a:sym typeface="Patrick Hand"/>
            </a:endParaRPr>
          </a:p>
        </p:txBody>
      </p:sp>
      <p:grpSp>
        <p:nvGrpSpPr>
          <p:cNvPr id="294" name="Google Shape;294;p37"/>
          <p:cNvGrpSpPr/>
          <p:nvPr/>
        </p:nvGrpSpPr>
        <p:grpSpPr>
          <a:xfrm>
            <a:off x="141309" y="3582885"/>
            <a:ext cx="891086" cy="1262140"/>
            <a:chOff x="5364049" y="2810475"/>
            <a:chExt cx="1114276" cy="1858275"/>
          </a:xfrm>
        </p:grpSpPr>
        <p:pic>
          <p:nvPicPr>
            <p:cNvPr id="295" name="Google Shape;295;p37"/>
            <p:cNvPicPr preferRelativeResize="0"/>
            <p:nvPr/>
          </p:nvPicPr>
          <p:blipFill>
            <a:blip r:embed="rId3">
              <a:alphaModFix/>
            </a:blip>
            <a:stretch>
              <a:fillRect/>
            </a:stretch>
          </p:blipFill>
          <p:spPr>
            <a:xfrm>
              <a:off x="5364049" y="3217600"/>
              <a:ext cx="1114276" cy="1451150"/>
            </a:xfrm>
            <a:prstGeom prst="rect">
              <a:avLst/>
            </a:prstGeom>
            <a:noFill/>
            <a:ln>
              <a:noFill/>
            </a:ln>
          </p:spPr>
        </p:pic>
        <p:pic>
          <p:nvPicPr>
            <p:cNvPr id="296" name="Google Shape;296;p37" descr="a cartoon drawing of a fire with a flame coming out of it (Provided by Tenor)"/>
            <p:cNvPicPr preferRelativeResize="0"/>
            <p:nvPr/>
          </p:nvPicPr>
          <p:blipFill>
            <a:blip r:embed="rId4">
              <a:alphaModFix/>
            </a:blip>
            <a:stretch>
              <a:fillRect/>
            </a:stretch>
          </p:blipFill>
          <p:spPr>
            <a:xfrm>
              <a:off x="5639725" y="2810475"/>
              <a:ext cx="562926" cy="646500"/>
            </a:xfrm>
            <a:prstGeom prst="rect">
              <a:avLst/>
            </a:prstGeom>
            <a:noFill/>
            <a:ln>
              <a:noFill/>
            </a:ln>
          </p:spPr>
        </p:pic>
      </p:grpSp>
      <p:sp>
        <p:nvSpPr>
          <p:cNvPr id="297" name="Google Shape;297;p37"/>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298" name="Google Shape;298;p37"/>
          <p:cNvPicPr preferRelativeResize="0"/>
          <p:nvPr/>
        </p:nvPicPr>
        <p:blipFill>
          <a:blip r:embed="rId5">
            <a:alphaModFix/>
          </a:blip>
          <a:stretch>
            <a:fillRect/>
          </a:stretch>
        </p:blipFill>
        <p:spPr>
          <a:xfrm>
            <a:off x="154200" y="630125"/>
            <a:ext cx="501900" cy="501900"/>
          </a:xfrm>
          <a:prstGeom prst="rect">
            <a:avLst/>
          </a:prstGeom>
          <a:noFill/>
          <a:ln>
            <a:noFill/>
          </a:ln>
        </p:spPr>
      </p:pic>
      <p:sp>
        <p:nvSpPr>
          <p:cNvPr id="299" name="Google Shape;299;p37"/>
          <p:cNvSpPr txBox="1"/>
          <p:nvPr/>
        </p:nvSpPr>
        <p:spPr>
          <a:xfrm>
            <a:off x="6561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a:t>
            </a:r>
            <a:endParaRPr sz="1800">
              <a:solidFill>
                <a:schemeClr val="dk1"/>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8"/>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pic>
        <p:nvPicPr>
          <p:cNvPr id="305" name="Google Shape;305;p38"/>
          <p:cNvPicPr preferRelativeResize="0"/>
          <p:nvPr/>
        </p:nvPicPr>
        <p:blipFill>
          <a:blip r:embed="rId3">
            <a:alphaModFix/>
          </a:blip>
          <a:stretch>
            <a:fillRect/>
          </a:stretch>
        </p:blipFill>
        <p:spPr>
          <a:xfrm>
            <a:off x="154200" y="630125"/>
            <a:ext cx="501900" cy="501900"/>
          </a:xfrm>
          <a:prstGeom prst="rect">
            <a:avLst/>
          </a:prstGeom>
          <a:noFill/>
          <a:ln>
            <a:noFill/>
          </a:ln>
        </p:spPr>
      </p:pic>
      <p:sp>
        <p:nvSpPr>
          <p:cNvPr id="306" name="Google Shape;306;p38"/>
          <p:cNvSpPr txBox="1"/>
          <p:nvPr/>
        </p:nvSpPr>
        <p:spPr>
          <a:xfrm>
            <a:off x="656100" y="630125"/>
            <a:ext cx="8359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Delius"/>
                <a:ea typeface="Delius"/>
                <a:cs typeface="Delius"/>
                <a:sym typeface="Delius"/>
              </a:rPr>
              <a:t>Why did European countries want an empire? </a:t>
            </a:r>
            <a:r>
              <a:rPr lang="en" sz="1800" b="1">
                <a:solidFill>
                  <a:schemeClr val="dk1"/>
                </a:solidFill>
                <a:highlight>
                  <a:schemeClr val="lt1"/>
                </a:highlight>
                <a:latin typeface="Delius"/>
                <a:ea typeface="Delius"/>
                <a:cs typeface="Delius"/>
                <a:sym typeface="Delius"/>
              </a:rPr>
              <a:t>📝 PEEL Paragraph Scaffold</a:t>
            </a:r>
            <a:endParaRPr sz="1800">
              <a:solidFill>
                <a:schemeClr val="dk1"/>
              </a:solidFill>
              <a:highlight>
                <a:schemeClr val="lt1"/>
              </a:highlight>
              <a:latin typeface="Delius"/>
              <a:ea typeface="Delius"/>
              <a:cs typeface="Delius"/>
              <a:sym typeface="Delius"/>
            </a:endParaRPr>
          </a:p>
        </p:txBody>
      </p:sp>
      <p:pic>
        <p:nvPicPr>
          <p:cNvPr id="307" name="Google Shape;307;p38"/>
          <p:cNvPicPr preferRelativeResize="0"/>
          <p:nvPr/>
        </p:nvPicPr>
        <p:blipFill>
          <a:blip r:embed="rId4">
            <a:alphaModFix/>
          </a:blip>
          <a:stretch>
            <a:fillRect/>
          </a:stretch>
        </p:blipFill>
        <p:spPr>
          <a:xfrm>
            <a:off x="115350" y="1132025"/>
            <a:ext cx="1297550" cy="3885046"/>
          </a:xfrm>
          <a:prstGeom prst="rect">
            <a:avLst/>
          </a:prstGeom>
          <a:noFill/>
          <a:ln>
            <a:noFill/>
          </a:ln>
        </p:spPr>
      </p:pic>
      <p:sp>
        <p:nvSpPr>
          <p:cNvPr id="308" name="Google Shape;308;p38"/>
          <p:cNvSpPr txBox="1"/>
          <p:nvPr/>
        </p:nvSpPr>
        <p:spPr>
          <a:xfrm>
            <a:off x="1412900" y="1202988"/>
            <a:ext cx="7602600" cy="3940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lt1"/>
                </a:solidFill>
                <a:highlight>
                  <a:srgbClr val="F81E76"/>
                </a:highlight>
                <a:latin typeface="Poppins"/>
                <a:ea typeface="Poppins"/>
                <a:cs typeface="Poppins"/>
                <a:sym typeface="Poppins"/>
              </a:rPr>
              <a:t>Point:</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State your </a:t>
            </a:r>
            <a:r>
              <a:rPr lang="en" b="1">
                <a:solidFill>
                  <a:schemeClr val="dk1"/>
                </a:solidFill>
                <a:latin typeface="Poppins"/>
                <a:ea typeface="Poppins"/>
                <a:cs typeface="Poppins"/>
                <a:sym typeface="Poppins"/>
              </a:rPr>
              <a:t>3 most important reasons</a:t>
            </a:r>
            <a:r>
              <a:rPr lang="en">
                <a:solidFill>
                  <a:schemeClr val="dk1"/>
                </a:solidFill>
                <a:latin typeface="Poppins"/>
                <a:ea typeface="Poppins"/>
                <a:cs typeface="Poppins"/>
                <a:sym typeface="Poppins"/>
              </a:rPr>
              <a:t>.</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The three most important reasons why European countries wanted to build empires were __________, __________ and __________.</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600" b="1">
              <a:solidFill>
                <a:schemeClr val="dk1"/>
              </a:solidFill>
              <a:highlight>
                <a:srgbClr val="FB7906"/>
              </a:highlight>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lt1"/>
                </a:solidFill>
                <a:highlight>
                  <a:srgbClr val="FB7906"/>
                </a:highlight>
                <a:latin typeface="Poppins"/>
                <a:ea typeface="Poppins"/>
                <a:cs typeface="Poppins"/>
                <a:sym typeface="Poppins"/>
              </a:rPr>
              <a:t>Evidence:</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Give evidence for each reason.</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For example,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Another example is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This can be seen when __________.</a:t>
            </a:r>
            <a:endParaRPr>
              <a:solidFill>
                <a:schemeClr val="dk1"/>
              </a:solidFill>
              <a:latin typeface="Poppins"/>
              <a:ea typeface="Poppins"/>
              <a:cs typeface="Poppins"/>
              <a:sym typeface="Poppins"/>
            </a:endParaRPr>
          </a:p>
          <a:p>
            <a:pPr marL="0" marR="381000" lvl="0" indent="0" algn="l" rtl="0">
              <a:lnSpc>
                <a:spcPct val="115000"/>
              </a:lnSpc>
              <a:spcBef>
                <a:spcPts val="0"/>
              </a:spcBef>
              <a:spcAft>
                <a:spcPts val="0"/>
              </a:spcAft>
              <a:buNone/>
            </a:pPr>
            <a:endParaRPr sz="600" b="1">
              <a:solidFill>
                <a:schemeClr val="dk1"/>
              </a:solidFill>
              <a:highlight>
                <a:srgbClr val="0C9F2A"/>
              </a:highlight>
              <a:latin typeface="Poppins"/>
              <a:ea typeface="Poppins"/>
              <a:cs typeface="Poppins"/>
              <a:sym typeface="Poppins"/>
            </a:endParaRPr>
          </a:p>
          <a:p>
            <a:pPr marL="0" marR="381000" lvl="0" indent="0" algn="l" rtl="0">
              <a:lnSpc>
                <a:spcPct val="115000"/>
              </a:lnSpc>
              <a:spcBef>
                <a:spcPts val="0"/>
              </a:spcBef>
              <a:spcAft>
                <a:spcPts val="0"/>
              </a:spcAft>
              <a:buNone/>
            </a:pPr>
            <a:r>
              <a:rPr lang="en" b="1">
                <a:solidFill>
                  <a:schemeClr val="lt1"/>
                </a:solidFill>
                <a:highlight>
                  <a:srgbClr val="0C9F2A"/>
                </a:highlight>
                <a:latin typeface="Poppins"/>
                <a:ea typeface="Poppins"/>
                <a:cs typeface="Poppins"/>
                <a:sym typeface="Poppins"/>
              </a:rPr>
              <a:t>Explain:</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Explain why each reason was important.</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This was important because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This helped European countries to __________.</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This made the country appear more powerful because __________.</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600" b="1">
              <a:solidFill>
                <a:schemeClr val="dk1"/>
              </a:solidFill>
              <a:highlight>
                <a:srgbClr val="038DFB"/>
              </a:highlight>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lt1"/>
                </a:solidFill>
                <a:highlight>
                  <a:srgbClr val="038DFB"/>
                </a:highlight>
                <a:latin typeface="Poppins"/>
                <a:ea typeface="Poppins"/>
                <a:cs typeface="Poppins"/>
                <a:sym typeface="Poppins"/>
              </a:rPr>
              <a:t>Link:</a:t>
            </a:r>
            <a:r>
              <a:rPr lang="en" b="1">
                <a:solidFill>
                  <a:schemeClr val="dk1"/>
                </a:solidFill>
                <a:latin typeface="Poppins"/>
                <a:ea typeface="Poppins"/>
                <a:cs typeface="Poppins"/>
                <a:sym typeface="Poppins"/>
              </a:rPr>
              <a:t> </a:t>
            </a:r>
            <a:r>
              <a:rPr lang="en">
                <a:solidFill>
                  <a:schemeClr val="dk1"/>
                </a:solidFill>
                <a:latin typeface="Poppins"/>
                <a:ea typeface="Poppins"/>
                <a:cs typeface="Poppins"/>
                <a:sym typeface="Poppins"/>
              </a:rPr>
              <a:t>Link back to power and empire.</a:t>
            </a:r>
            <a:endParaRPr>
              <a:solidFill>
                <a:schemeClr val="dk1"/>
              </a:solidFill>
              <a:latin typeface="Poppins"/>
              <a:ea typeface="Poppins"/>
              <a:cs typeface="Poppins"/>
              <a:sym typeface="Poppins"/>
            </a:endParaRPr>
          </a:p>
          <a:p>
            <a:pPr marL="381000" marR="381000" lvl="0" indent="0" algn="l" rtl="0">
              <a:lnSpc>
                <a:spcPct val="115000"/>
              </a:lnSpc>
              <a:spcBef>
                <a:spcPts val="0"/>
              </a:spcBef>
              <a:spcAft>
                <a:spcPts val="0"/>
              </a:spcAft>
              <a:buNone/>
            </a:pPr>
            <a:r>
              <a:rPr lang="en">
                <a:solidFill>
                  <a:schemeClr val="dk1"/>
                </a:solidFill>
                <a:latin typeface="Poppins"/>
                <a:ea typeface="Poppins"/>
                <a:cs typeface="Poppins"/>
                <a:sym typeface="Poppins"/>
              </a:rPr>
              <a:t>Overall, building an empire was important because __________. A larger empire showed that a country was __________.</a:t>
            </a:r>
            <a:endParaRPr>
              <a:solidFill>
                <a:schemeClr val="dk1"/>
              </a:solidFill>
              <a:latin typeface="Poppins"/>
              <a:ea typeface="Poppins"/>
              <a:cs typeface="Poppins"/>
              <a:sym typeface="Poppins"/>
            </a:endParaRPr>
          </a:p>
        </p:txBody>
      </p:sp>
      <p:grpSp>
        <p:nvGrpSpPr>
          <p:cNvPr id="309" name="Google Shape;309;p38"/>
          <p:cNvGrpSpPr/>
          <p:nvPr/>
        </p:nvGrpSpPr>
        <p:grpSpPr>
          <a:xfrm>
            <a:off x="6994894" y="2231398"/>
            <a:ext cx="546552" cy="774157"/>
            <a:chOff x="5364049" y="2810475"/>
            <a:chExt cx="1114276" cy="1858275"/>
          </a:xfrm>
        </p:grpSpPr>
        <p:pic>
          <p:nvPicPr>
            <p:cNvPr id="310" name="Google Shape;310;p38"/>
            <p:cNvPicPr preferRelativeResize="0"/>
            <p:nvPr/>
          </p:nvPicPr>
          <p:blipFill>
            <a:blip r:embed="rId5">
              <a:alphaModFix/>
            </a:blip>
            <a:stretch>
              <a:fillRect/>
            </a:stretch>
          </p:blipFill>
          <p:spPr>
            <a:xfrm>
              <a:off x="5364049" y="3217600"/>
              <a:ext cx="1114276" cy="1451150"/>
            </a:xfrm>
            <a:prstGeom prst="rect">
              <a:avLst/>
            </a:prstGeom>
            <a:noFill/>
            <a:ln>
              <a:noFill/>
            </a:ln>
          </p:spPr>
        </p:pic>
        <p:pic>
          <p:nvPicPr>
            <p:cNvPr id="311" name="Google Shape;311;p38" descr="a cartoon drawing of a fire with a flame coming out of it (Provided by Tenor)"/>
            <p:cNvPicPr preferRelativeResize="0"/>
            <p:nvPr/>
          </p:nvPicPr>
          <p:blipFill>
            <a:blip r:embed="rId6">
              <a:alphaModFix/>
            </a:blip>
            <a:stretch>
              <a:fillRect/>
            </a:stretch>
          </p:blipFill>
          <p:spPr>
            <a:xfrm>
              <a:off x="5639725" y="2810475"/>
              <a:ext cx="562926" cy="646500"/>
            </a:xfrm>
            <a:prstGeom prst="rect">
              <a:avLst/>
            </a:prstGeom>
            <a:noFill/>
            <a:ln>
              <a:noFill/>
            </a:ln>
          </p:spPr>
        </p:pic>
      </p:grpSp>
      <p:sp>
        <p:nvSpPr>
          <p:cNvPr id="312" name="Google Shape;312;p38"/>
          <p:cNvSpPr txBox="1"/>
          <p:nvPr/>
        </p:nvSpPr>
        <p:spPr>
          <a:xfrm>
            <a:off x="7628325" y="2298675"/>
            <a:ext cx="1409100" cy="639600"/>
          </a:xfrm>
          <a:prstGeom prst="rect">
            <a:avLst/>
          </a:prstGeom>
          <a:solidFill>
            <a:srgbClr val="46230F"/>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lt1"/>
                </a:solidFill>
                <a:latin typeface="Baumans"/>
                <a:ea typeface="Baumans"/>
                <a:cs typeface="Baumans"/>
                <a:sym typeface="Baumans"/>
              </a:rPr>
              <a:t>Add values for </a:t>
            </a:r>
            <a:r>
              <a:rPr lang="en" b="1">
                <a:solidFill>
                  <a:srgbClr val="FF0000"/>
                </a:solidFill>
                <a:latin typeface="Finger Paint"/>
                <a:ea typeface="Finger Paint"/>
                <a:cs typeface="Finger Paint"/>
                <a:sym typeface="Finger Paint"/>
              </a:rPr>
              <a:t>Extra Hot!</a:t>
            </a:r>
            <a:endParaRPr b="1">
              <a:solidFill>
                <a:srgbClr val="FF0000"/>
              </a:solidFill>
              <a:latin typeface="Finger Paint"/>
              <a:ea typeface="Finger Paint"/>
              <a:cs typeface="Finger Paint"/>
              <a:sym typeface="Finger Paint"/>
            </a:endParaRPr>
          </a:p>
        </p:txBody>
      </p:sp>
      <p:pic>
        <p:nvPicPr>
          <p:cNvPr id="313" name="Google Shape;313;p38" descr="This 10-minute calm timer is designed to help you relax, focus, and reset your mind.&#10;Gentle nature sounds blended with soothing music create a peaceful background for meditation, studying, breathing exercises, or short breaks.&#10;&#10;Perfect for kids, adults, classrooms, and quiet moments.&#10;Start the timer, take a deep breath, and enjoy the calm.&#10;&#10;&#10;&#10;&#10;#10minutetimer&#10;#calmtimer&#10;#relaxingtimer&#10;#naturesounds&#10;#relaxingmusic&#10;#focusmusic&#10;#meditationtimer&#10;#studybreak&#10;#classroomtimer&#10;#mindfulness&#10;#peacefulsounds&#10;#quiettime &#10;#classroomtimer" title="10 Minute Calm Timer | Nature Sounds &amp; Relaxing Music for Focus and Peace">
            <a:hlinkClick r:id="rId7"/>
          </p:cNvPr>
          <p:cNvPicPr preferRelativeResize="0"/>
          <p:nvPr/>
        </p:nvPicPr>
        <p:blipFill>
          <a:blip r:embed="rId8">
            <a:alphaModFix/>
          </a:blip>
          <a:stretch>
            <a:fillRect/>
          </a:stretch>
        </p:blipFill>
        <p:spPr>
          <a:xfrm>
            <a:off x="7900358" y="48425"/>
            <a:ext cx="1137066" cy="639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10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p39"/>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319" name="Google Shape;319;p39"/>
          <p:cNvSpPr txBox="1"/>
          <p:nvPr/>
        </p:nvSpPr>
        <p:spPr>
          <a:xfrm>
            <a:off x="639888"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1</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Gold</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Cotton</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Diamonds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Soldiers</a:t>
            </a:r>
            <a:endParaRPr sz="1800">
              <a:solidFill>
                <a:schemeClr val="dk1"/>
              </a:solidFill>
              <a:latin typeface="Patrick Hand"/>
              <a:ea typeface="Patrick Hand"/>
              <a:cs typeface="Patrick Hand"/>
              <a:sym typeface="Patrick Hand"/>
            </a:endParaRPr>
          </a:p>
        </p:txBody>
      </p:sp>
      <p:sp>
        <p:nvSpPr>
          <p:cNvPr id="320" name="Google Shape;320;p39"/>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321" name="Google Shape;321;p39"/>
          <p:cNvSpPr txBox="1"/>
          <p:nvPr/>
        </p:nvSpPr>
        <p:spPr>
          <a:xfrm>
            <a:off x="2775100"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2</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Land</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Colonies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Profit</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Influence</a:t>
            </a:r>
            <a:endParaRPr sz="1800">
              <a:solidFill>
                <a:schemeClr val="dk1"/>
              </a:solidFill>
              <a:latin typeface="Patrick Hand"/>
              <a:ea typeface="Patrick Hand"/>
              <a:cs typeface="Patrick Hand"/>
              <a:sym typeface="Patrick Hand"/>
            </a:endParaRPr>
          </a:p>
        </p:txBody>
      </p:sp>
      <p:sp>
        <p:nvSpPr>
          <p:cNvPr id="322" name="Google Shape;322;p39"/>
          <p:cNvSpPr txBox="1"/>
          <p:nvPr/>
        </p:nvSpPr>
        <p:spPr>
          <a:xfrm>
            <a:off x="4910313"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3</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Harbours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Navies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Schools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Soldiers</a:t>
            </a:r>
            <a:endParaRPr sz="1800">
              <a:solidFill>
                <a:schemeClr val="dk1"/>
              </a:solidFill>
              <a:latin typeface="Patrick Hand"/>
              <a:ea typeface="Patrick Hand"/>
              <a:cs typeface="Patrick Hand"/>
              <a:sym typeface="Patrick Hand"/>
            </a:endParaRPr>
          </a:p>
        </p:txBody>
      </p:sp>
      <p:sp>
        <p:nvSpPr>
          <p:cNvPr id="323" name="Google Shape;323;p39"/>
          <p:cNvSpPr txBox="1"/>
          <p:nvPr/>
        </p:nvSpPr>
        <p:spPr>
          <a:xfrm>
            <a:off x="7045513" y="1532275"/>
            <a:ext cx="14586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4</a:t>
            </a:r>
            <a:endParaRPr sz="1800" b="1">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Racism</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Cotton</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Colonies</a:t>
            </a:r>
            <a:endParaRPr sz="1800">
              <a:solidFill>
                <a:schemeClr val="dk1"/>
              </a:solidFill>
              <a:latin typeface="Patrick Hand"/>
              <a:ea typeface="Patrick Hand"/>
              <a:cs typeface="Patrick Hand"/>
              <a:sym typeface="Patrick Hand"/>
            </a:endParaRPr>
          </a:p>
          <a:p>
            <a:pPr marL="457200" lvl="0" indent="-342900" algn="l" rtl="0">
              <a:lnSpc>
                <a:spcPct val="115000"/>
              </a:lnSpc>
              <a:spcBef>
                <a:spcPts val="0"/>
              </a:spcBef>
              <a:spcAft>
                <a:spcPts val="0"/>
              </a:spcAft>
              <a:buClr>
                <a:schemeClr val="dk1"/>
              </a:buClr>
              <a:buSzPts val="1800"/>
              <a:buFont typeface="Patrick Hand"/>
              <a:buAutoNum type="alphaLcPeriod"/>
            </a:pPr>
            <a:r>
              <a:rPr lang="en" sz="1800">
                <a:solidFill>
                  <a:schemeClr val="dk1"/>
                </a:solidFill>
                <a:latin typeface="Patrick Hand"/>
                <a:ea typeface="Patrick Hand"/>
                <a:cs typeface="Patrick Hand"/>
                <a:sym typeface="Patrick Hand"/>
              </a:rPr>
              <a:t>Navies</a:t>
            </a:r>
            <a:endParaRPr sz="1800">
              <a:solidFill>
                <a:schemeClr val="dk1"/>
              </a:solidFill>
              <a:latin typeface="Patrick Hand"/>
              <a:ea typeface="Patrick Hand"/>
              <a:cs typeface="Patrick Hand"/>
              <a:sym typeface="Patrick Hand"/>
            </a:endParaRPr>
          </a:p>
        </p:txBody>
      </p:sp>
      <p:sp>
        <p:nvSpPr>
          <p:cNvPr id="324" name="Google Shape;324;p39"/>
          <p:cNvSpPr/>
          <p:nvPr/>
        </p:nvSpPr>
        <p:spPr>
          <a:xfrm>
            <a:off x="718100" y="2818425"/>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39"/>
          <p:cNvSpPr/>
          <p:nvPr/>
        </p:nvSpPr>
        <p:spPr>
          <a:xfrm>
            <a:off x="2814213" y="2537950"/>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39"/>
          <p:cNvSpPr/>
          <p:nvPr/>
        </p:nvSpPr>
        <p:spPr>
          <a:xfrm>
            <a:off x="4929875" y="2537950"/>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 name="Google Shape;327;p39"/>
          <p:cNvSpPr/>
          <p:nvPr/>
        </p:nvSpPr>
        <p:spPr>
          <a:xfrm>
            <a:off x="7045550" y="1893550"/>
            <a:ext cx="14586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8" name="Google Shape;328;p39">
            <a:hlinkClick r:id="rId4"/>
          </p:cNvPr>
          <p:cNvPicPr preferRelativeResize="0"/>
          <p:nvPr/>
        </p:nvPicPr>
        <p:blipFill>
          <a:blip r:embed="rId5">
            <a:alphaModFix/>
          </a:blip>
          <a:stretch>
            <a:fillRect/>
          </a:stretch>
        </p:blipFill>
        <p:spPr>
          <a:xfrm>
            <a:off x="6668324" y="4299491"/>
            <a:ext cx="2287226" cy="676200"/>
          </a:xfrm>
          <a:prstGeom prst="rect">
            <a:avLst/>
          </a:prstGeom>
          <a:noFill/>
          <a:ln>
            <a:noFill/>
          </a:ln>
        </p:spPr>
      </p:pic>
      <p:sp>
        <p:nvSpPr>
          <p:cNvPr id="329" name="Google Shape;329;p39"/>
          <p:cNvSpPr txBox="1"/>
          <p:nvPr/>
        </p:nvSpPr>
        <p:spPr>
          <a:xfrm>
            <a:off x="115350" y="106325"/>
            <a:ext cx="8913300" cy="5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rgbClr val="980000"/>
                </a:solidFill>
                <a:latin typeface="Delius"/>
                <a:ea typeface="Delius"/>
                <a:cs typeface="Delius"/>
                <a:sym typeface="Delius"/>
              </a:rPr>
              <a:t>Title: The Long Fuse - Europe in 1914</a:t>
            </a:r>
            <a:endParaRPr sz="1200" b="1">
              <a:solidFill>
                <a:srgbClr val="980000"/>
              </a:solidFill>
              <a:latin typeface="Delius"/>
              <a:ea typeface="Delius"/>
              <a:cs typeface="Delius"/>
              <a:sym typeface="Delius"/>
            </a:endParaRPr>
          </a:p>
          <a:p>
            <a:pPr marL="0" lvl="0" indent="0" algn="l" rtl="0">
              <a:spcBef>
                <a:spcPts val="0"/>
              </a:spcBef>
              <a:spcAft>
                <a:spcPts val="0"/>
              </a:spcAft>
              <a:buNone/>
            </a:pPr>
            <a:r>
              <a:rPr lang="en" sz="1200" b="1">
                <a:solidFill>
                  <a:srgbClr val="980000"/>
                </a:solidFill>
                <a:latin typeface="Delius"/>
                <a:ea typeface="Delius"/>
                <a:cs typeface="Delius"/>
                <a:sym typeface="Delius"/>
              </a:rPr>
              <a:t>LO: How did the political and social landscape of Europe in 1914 create tensions between European countries?</a:t>
            </a:r>
            <a:endParaRPr sz="1200" b="1">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TotalTime>
  <Words>2422</Words>
  <Application>Microsoft Macintosh PowerPoint</Application>
  <PresentationFormat>On-screen Show (16:9)</PresentationFormat>
  <Paragraphs>245</Paragraphs>
  <Slides>20</Slides>
  <Notes>20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20</vt:i4>
      </vt:variant>
    </vt:vector>
  </HeadingPairs>
  <TitlesOfParts>
    <vt:vector size="33" baseType="lpstr">
      <vt:lpstr>Calibri</vt:lpstr>
      <vt:lpstr>Finger Paint</vt:lpstr>
      <vt:lpstr>Delius</vt:lpstr>
      <vt:lpstr>Poppins</vt:lpstr>
      <vt:lpstr>Caveat</vt:lpstr>
      <vt:lpstr>Luckiest Guy</vt:lpstr>
      <vt:lpstr>Patrick Hand</vt:lpstr>
      <vt:lpstr>Arial</vt:lpstr>
      <vt:lpstr>Patrick Hand SC</vt:lpstr>
      <vt:lpstr>Edu TAS Beginner</vt:lpstr>
      <vt:lpstr>Baumans</vt:lpstr>
      <vt:lpstr>Helvetica Neue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7</cp:revision>
  <dcterms:modified xsi:type="dcterms:W3CDTF">2026-10-19T22:58:47Z</dcterms:modified>
</cp:coreProperties>
</file>