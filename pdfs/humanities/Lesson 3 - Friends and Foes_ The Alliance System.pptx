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680" r:id="rId2"/>
  </p:sldMasterIdLst>
  <p:notesMasterIdLst>
    <p:notesMasterId r:id="rId22"/>
  </p:notesMasterIdLst>
  <p:sldIdLst>
    <p:sldId id="256" r:id="rId3"/>
    <p:sldId id="257" r:id="rId4"/>
    <p:sldId id="276" r:id="rId5"/>
    <p:sldId id="259" r:id="rId6"/>
    <p:sldId id="260" r:id="rId7"/>
    <p:sldId id="274" r:id="rId8"/>
    <p:sldId id="275" r:id="rId9"/>
    <p:sldId id="264" r:id="rId10"/>
    <p:sldId id="265" r:id="rId11"/>
    <p:sldId id="262" r:id="rId12"/>
    <p:sldId id="263" r:id="rId13"/>
    <p:sldId id="266" r:id="rId14"/>
    <p:sldId id="267" r:id="rId15"/>
    <p:sldId id="268" r:id="rId16"/>
    <p:sldId id="269" r:id="rId17"/>
    <p:sldId id="270" r:id="rId18"/>
    <p:sldId id="271" r:id="rId19"/>
    <p:sldId id="272" r:id="rId20"/>
    <p:sldId id="273" r:id="rId21"/>
  </p:sldIdLst>
  <p:sldSz cx="9144000" cy="5143500" type="screen16x9"/>
  <p:notesSz cx="6858000" cy="9144000"/>
  <p:embeddedFontLst>
    <p:embeddedFont>
      <p:font typeface="Baumans" panose="02000506020000020003" pitchFamily="2" charset="0"/>
      <p:regular r:id="rId23"/>
    </p:embeddedFont>
    <p:embeddedFont>
      <p:font typeface="Caveat" pitchFamily="2" charset="0"/>
      <p:regular r:id="rId24"/>
      <p:bold r:id="rId25"/>
    </p:embeddedFont>
    <p:embeddedFont>
      <p:font typeface="Century Gothic" panose="020B0502020202020204" pitchFamily="34" charset="0"/>
      <p:regular r:id="rId26"/>
      <p:bold r:id="rId27"/>
      <p:italic r:id="rId28"/>
      <p:boldItalic r:id="rId29"/>
    </p:embeddedFont>
    <p:embeddedFont>
      <p:font typeface="Delius" panose="02000603000000000000" pitchFamily="2" charset="0"/>
      <p:regular r:id="rId30"/>
    </p:embeddedFont>
    <p:embeddedFont>
      <p:font typeface="Fugaz One" pitchFamily="2" charset="0"/>
      <p:regular r:id="rId31"/>
    </p:embeddedFont>
    <p:embeddedFont>
      <p:font typeface="Luckiest Guy" panose="02000506000000020004" pitchFamily="2" charset="0"/>
      <p:regular r:id="rId32"/>
    </p:embeddedFont>
    <p:embeddedFont>
      <p:font typeface="Patrick Hand" pitchFamily="2" charset="77"/>
      <p:regular r:id="rId33"/>
    </p:embeddedFont>
    <p:embeddedFont>
      <p:font typeface="Patrick Hand SC" pitchFamily="2" charset="77"/>
      <p:regular r:id="rId34"/>
    </p:embeddedFont>
    <p:embeddedFont>
      <p:font typeface="Poppins" pitchFamily="2" charset="77"/>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1FD88E-B90B-44B8-A9AC-74F595D35D10}">
  <a:tblStyle styleId="{0D1FD88E-B90B-44B8-A9AC-74F595D35D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F89C371-EEFB-4F84-8059-36CEFB7B8939}"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02"/>
    <p:restoredTop sz="94784"/>
  </p:normalViewPr>
  <p:slideViewPr>
    <p:cSldViewPr snapToGrid="0">
      <p:cViewPr varScale="1">
        <p:scale>
          <a:sx n="149" d="100"/>
          <a:sy n="149" d="100"/>
        </p:scale>
        <p:origin x="192" y="10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h194f264856bfbb3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h194f264856bfbb3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h37985611de093ae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h37985611de093ae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88800d57a5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88800d57a5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88800d57a5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g388800d57a5_0_2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88800d57a5_0_3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88800d57a5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https://www.youtube.com/watch?v=Wyg8CgKo7Do</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88800d57a5_0_3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88800d57a5_0_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https://www.youtube.com/watch?v=53_Ce7LZ0Nc</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https://www.youtube.com/watch?v=f4q7BqKw50c</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88800d57a5_0_5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388800d57a5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88800d57a5_0_5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88800d57a5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88800d57a5_0_5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88800d57a5_0_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88800d57a5_0_5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88800d57a5_0_5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251368" y="4803219"/>
            <a:ext cx="264000" cy="201900"/>
          </a:xfrm>
          <a:prstGeom prst="rect">
            <a:avLst/>
          </a:prstGeom>
          <a:noFill/>
          <a:ln>
            <a:noFill/>
          </a:ln>
        </p:spPr>
        <p:txBody>
          <a:bodyPr spcFirstLastPara="1" wrap="square" lIns="45700" tIns="45700" rIns="45700" bIns="45700" anchor="ctr" anchorCtr="0">
            <a:normAutofit/>
          </a:bodyPr>
          <a:lstStyle>
            <a:lvl1pPr marL="0" marR="0" lvl="0" indent="0" algn="r">
              <a:lnSpc>
                <a:spcPct val="100000"/>
              </a:lnSpc>
              <a:spcBef>
                <a:spcPts val="0"/>
              </a:spcBef>
              <a:spcAft>
                <a:spcPts val="0"/>
              </a:spcAft>
              <a:buClr>
                <a:srgbClr val="898989"/>
              </a:buClr>
              <a:buSzPts val="1714"/>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714"/>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714"/>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714"/>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714"/>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714"/>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714"/>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714"/>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714"/>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1" name="Google Shape;2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
        <p:cNvGrpSpPr/>
        <p:nvPr/>
      </p:nvGrpSpPr>
      <p:grpSpPr>
        <a:xfrm>
          <a:off x="0" y="0"/>
          <a:ext cx="0" cy="0"/>
          <a:chOff x="0" y="0"/>
          <a:chExt cx="0" cy="0"/>
        </a:xfrm>
      </p:grpSpPr>
      <p:sp>
        <p:nvSpPr>
          <p:cNvPr id="53" name="Google Shape;53;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4" name="Google Shape;54;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5" name="Google Shape;55;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6" name="Google Shape;56;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7" name="Google Shape;57;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628650" y="273844"/>
            <a:ext cx="7886700" cy="9942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FFFFFF"/>
              </a:buClr>
              <a:buSzPts val="4400"/>
              <a:buFont typeface="Calibri"/>
              <a:buNone/>
              <a:defRPr>
                <a:solidFill>
                  <a:srgbClr val="FFFFFF"/>
                </a:solidFil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60" name="Google Shape;60;p15"/>
          <p:cNvSpPr txBox="1">
            <a:spLocks noGrp="1"/>
          </p:cNvSpPr>
          <p:nvPr>
            <p:ph type="body" idx="1"/>
          </p:nvPr>
        </p:nvSpPr>
        <p:spPr>
          <a:xfrm>
            <a:off x="628650" y="1369219"/>
            <a:ext cx="7886700" cy="3263400"/>
          </a:xfrm>
          <a:prstGeom prst="rect">
            <a:avLst/>
          </a:prstGeom>
          <a:noFill/>
          <a:ln>
            <a:noFill/>
          </a:ln>
        </p:spPr>
        <p:txBody>
          <a:bodyPr spcFirstLastPara="1" wrap="square" lIns="45700" tIns="45700" rIns="45700" bIns="45700" anchor="t" anchorCtr="0">
            <a:normAutofit/>
          </a:bodyPr>
          <a:lstStyle>
            <a:lvl1pPr marL="457200" lvl="0" indent="-406400" algn="l">
              <a:lnSpc>
                <a:spcPct val="90000"/>
              </a:lnSpc>
              <a:spcBef>
                <a:spcPts val="1000"/>
              </a:spcBef>
              <a:spcAft>
                <a:spcPts val="0"/>
              </a:spcAft>
              <a:buClr>
                <a:srgbClr val="FFFFFF"/>
              </a:buClr>
              <a:buSzPts val="2800"/>
              <a:buChar char="•"/>
              <a:defRPr>
                <a:solidFill>
                  <a:srgbClr val="FFFFFF"/>
                </a:solidFill>
              </a:defRPr>
            </a:lvl1pPr>
            <a:lvl2pPr marL="914400" lvl="1" indent="-406400" algn="l">
              <a:lnSpc>
                <a:spcPct val="90000"/>
              </a:lnSpc>
              <a:spcBef>
                <a:spcPts val="1000"/>
              </a:spcBef>
              <a:spcAft>
                <a:spcPts val="0"/>
              </a:spcAft>
              <a:buClr>
                <a:srgbClr val="FFFFFF"/>
              </a:buClr>
              <a:buSzPts val="2800"/>
              <a:buChar char="•"/>
              <a:defRPr>
                <a:solidFill>
                  <a:srgbClr val="FFFFFF"/>
                </a:solidFill>
              </a:defRPr>
            </a:lvl2pPr>
            <a:lvl3pPr marL="1371600" lvl="2" indent="-406400" algn="l">
              <a:lnSpc>
                <a:spcPct val="90000"/>
              </a:lnSpc>
              <a:spcBef>
                <a:spcPts val="1000"/>
              </a:spcBef>
              <a:spcAft>
                <a:spcPts val="0"/>
              </a:spcAft>
              <a:buClr>
                <a:srgbClr val="FFFFFF"/>
              </a:buClr>
              <a:buSzPts val="2800"/>
              <a:buChar char="•"/>
              <a:defRPr>
                <a:solidFill>
                  <a:srgbClr val="FFFFFF"/>
                </a:solidFill>
              </a:defRPr>
            </a:lvl3pPr>
            <a:lvl4pPr marL="1828800" lvl="3" indent="-406400" algn="l">
              <a:lnSpc>
                <a:spcPct val="90000"/>
              </a:lnSpc>
              <a:spcBef>
                <a:spcPts val="1000"/>
              </a:spcBef>
              <a:spcAft>
                <a:spcPts val="0"/>
              </a:spcAft>
              <a:buClr>
                <a:srgbClr val="FFFFFF"/>
              </a:buClr>
              <a:buSzPts val="2800"/>
              <a:buChar char="•"/>
              <a:defRPr>
                <a:solidFill>
                  <a:srgbClr val="FFFFFF"/>
                </a:solidFill>
              </a:defRPr>
            </a:lvl4pPr>
            <a:lvl5pPr marL="2286000" lvl="4" indent="-406400" algn="l">
              <a:lnSpc>
                <a:spcPct val="90000"/>
              </a:lnSpc>
              <a:spcBef>
                <a:spcPts val="1000"/>
              </a:spcBef>
              <a:spcAft>
                <a:spcPts val="0"/>
              </a:spcAft>
              <a:buClr>
                <a:srgbClr val="FFFFFF"/>
              </a:buClr>
              <a:buSzPts val="2800"/>
              <a:buChar char="•"/>
              <a:defRPr>
                <a:solidFill>
                  <a:srgbClr val="FFFFFF"/>
                </a:solidFill>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61" name="Google Shape;61;p15"/>
          <p:cNvSpPr txBox="1">
            <a:spLocks noGrp="1"/>
          </p:cNvSpPr>
          <p:nvPr>
            <p:ph type="sldNum" idx="12"/>
          </p:nvPr>
        </p:nvSpPr>
        <p:spPr>
          <a:xfrm>
            <a:off x="8251368" y="4803221"/>
            <a:ext cx="264000" cy="201900"/>
          </a:xfrm>
          <a:prstGeom prst="rect">
            <a:avLst/>
          </a:prstGeom>
          <a:noFill/>
          <a:ln>
            <a:noFill/>
          </a:ln>
        </p:spPr>
        <p:txBody>
          <a:bodyPr spcFirstLastPara="1" wrap="square" lIns="45700" tIns="45700" rIns="45700" bIns="45700" anchor="ctr" anchorCtr="0">
            <a:normAutofit/>
          </a:bodyPr>
          <a:lstStyle>
            <a:lvl1pPr marL="0" marR="0" lvl="0" indent="0" algn="r">
              <a:lnSpc>
                <a:spcPct val="100000"/>
              </a:lnSpc>
              <a:spcBef>
                <a:spcPts val="0"/>
              </a:spcBef>
              <a:spcAft>
                <a:spcPts val="0"/>
              </a:spcAft>
              <a:buClr>
                <a:srgbClr val="FFFFFF"/>
              </a:buClr>
              <a:buSzPts val="1714"/>
              <a:buFont typeface="Calibri"/>
              <a:buNone/>
              <a:defRPr sz="120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714"/>
              <a:buFont typeface="Calibri"/>
              <a:buNone/>
              <a:defRPr sz="120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714"/>
              <a:buFont typeface="Calibri"/>
              <a:buNone/>
              <a:defRPr sz="120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714"/>
              <a:buFont typeface="Calibri"/>
              <a:buNone/>
              <a:defRPr sz="120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714"/>
              <a:buFont typeface="Calibri"/>
              <a:buNone/>
              <a:defRPr sz="120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714"/>
              <a:buFont typeface="Calibri"/>
              <a:buNone/>
              <a:defRPr sz="120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714"/>
              <a:buFont typeface="Calibri"/>
              <a:buNone/>
              <a:defRPr sz="120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714"/>
              <a:buFont typeface="Calibri"/>
              <a:buNone/>
              <a:defRPr sz="120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714"/>
              <a:buFont typeface="Calibri"/>
              <a:buNone/>
              <a:defRPr sz="12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solidFill>
                <a:srgbClr val="898989"/>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62"/>
        <p:cNvGrpSpPr/>
        <p:nvPr/>
      </p:nvGrpSpPr>
      <p:grpSpPr>
        <a:xfrm>
          <a:off x="0" y="0"/>
          <a:ext cx="0" cy="0"/>
          <a:chOff x="0" y="0"/>
          <a:chExt cx="0" cy="0"/>
        </a:xfrm>
      </p:grpSpPr>
      <p:sp>
        <p:nvSpPr>
          <p:cNvPr id="63" name="Google Shape;63;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4" name="Google Shape;64;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5" name="Google Shape;65;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0"/>
        <p:cNvGrpSpPr/>
        <p:nvPr/>
      </p:nvGrpSpPr>
      <p:grpSpPr>
        <a:xfrm>
          <a:off x="0" y="0"/>
          <a:ext cx="0" cy="0"/>
          <a:chOff x="0" y="0"/>
          <a:chExt cx="0" cy="0"/>
        </a:xfrm>
      </p:grpSpPr>
      <p:sp>
        <p:nvSpPr>
          <p:cNvPr id="71" name="Google Shape;71;p1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72" name="Google Shape;72;p1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73" name="Google Shape;7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9" name="Google Shape;79;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0" name="Google Shape;8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1"/>
        <p:cNvGrpSpPr/>
        <p:nvPr/>
      </p:nvGrpSpPr>
      <p:grpSpPr>
        <a:xfrm>
          <a:off x="0" y="0"/>
          <a:ext cx="0" cy="0"/>
          <a:chOff x="0" y="0"/>
          <a:chExt cx="0" cy="0"/>
        </a:xfrm>
      </p:grpSpPr>
      <p:sp>
        <p:nvSpPr>
          <p:cNvPr id="82" name="Google Shape;82;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3" name="Google Shape;83;p2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4" name="Google Shape;84;p21"/>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6"/>
        <p:cNvGrpSpPr/>
        <p:nvPr/>
      </p:nvGrpSpPr>
      <p:grpSpPr>
        <a:xfrm>
          <a:off x="0" y="0"/>
          <a:ext cx="0" cy="0"/>
          <a:chOff x="0" y="0"/>
          <a:chExt cx="0" cy="0"/>
        </a:xfrm>
      </p:grpSpPr>
      <p:sp>
        <p:nvSpPr>
          <p:cNvPr id="87" name="Google Shape;8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9"/>
        <p:cNvGrpSpPr/>
        <p:nvPr/>
      </p:nvGrpSpPr>
      <p:grpSpPr>
        <a:xfrm>
          <a:off x="0" y="0"/>
          <a:ext cx="0" cy="0"/>
          <a:chOff x="0" y="0"/>
          <a:chExt cx="0" cy="0"/>
        </a:xfrm>
      </p:grpSpPr>
      <p:sp>
        <p:nvSpPr>
          <p:cNvPr id="90" name="Google Shape;90;p23"/>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1" name="Google Shape;91;p23"/>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3"/>
        <p:cNvGrpSpPr/>
        <p:nvPr/>
      </p:nvGrpSpPr>
      <p:grpSpPr>
        <a:xfrm>
          <a:off x="0" y="0"/>
          <a:ext cx="0" cy="0"/>
          <a:chOff x="0" y="0"/>
          <a:chExt cx="0" cy="0"/>
        </a:xfrm>
      </p:grpSpPr>
      <p:sp>
        <p:nvSpPr>
          <p:cNvPr id="94" name="Google Shape;94;p2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95" name="Google Shape;95;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6"/>
        <p:cNvGrpSpPr/>
        <p:nvPr/>
      </p:nvGrpSpPr>
      <p:grpSpPr>
        <a:xfrm>
          <a:off x="0" y="0"/>
          <a:ext cx="0" cy="0"/>
          <a:chOff x="0" y="0"/>
          <a:chExt cx="0" cy="0"/>
        </a:xfrm>
      </p:grpSpPr>
      <p:sp>
        <p:nvSpPr>
          <p:cNvPr id="97" name="Google Shape;97;p2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5"/>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99" name="Google Shape;99;p2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00" name="Google Shape;100;p2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01" name="Google Shape;10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2"/>
        <p:cNvGrpSpPr/>
        <p:nvPr/>
      </p:nvGrpSpPr>
      <p:grpSpPr>
        <a:xfrm>
          <a:off x="0" y="0"/>
          <a:ext cx="0" cy="0"/>
          <a:chOff x="0" y="0"/>
          <a:chExt cx="0" cy="0"/>
        </a:xfrm>
      </p:grpSpPr>
      <p:sp>
        <p:nvSpPr>
          <p:cNvPr id="103" name="Google Shape;103;p26"/>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04" name="Google Shape;104;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sp>
        <p:nvSpPr>
          <p:cNvPr id="106" name="Google Shape;106;p27"/>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7" name="Google Shape;107;p27"/>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08" name="Google Shape;108;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9"/>
        <p:cNvGrpSpPr/>
        <p:nvPr/>
      </p:nvGrpSpPr>
      <p:grpSpPr>
        <a:xfrm>
          <a:off x="0" y="0"/>
          <a:ext cx="0" cy="0"/>
          <a:chOff x="0" y="0"/>
          <a:chExt cx="0" cy="0"/>
        </a:xfrm>
      </p:grpSpPr>
      <p:sp>
        <p:nvSpPr>
          <p:cNvPr id="110" name="Google Shape;110;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1"/>
        <p:cNvGrpSpPr/>
        <p:nvPr/>
      </p:nvGrpSpPr>
      <p:grpSpPr>
        <a:xfrm>
          <a:off x="0" y="0"/>
          <a:ext cx="0" cy="0"/>
          <a:chOff x="0" y="0"/>
          <a:chExt cx="0" cy="0"/>
        </a:xfrm>
      </p:grpSpPr>
      <p:sp>
        <p:nvSpPr>
          <p:cNvPr id="112" name="Google Shape;112;p2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3" name="Google Shape;113;p29"/>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4" name="Google Shape;114;p2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115" name="Google Shape;115;p2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116" name="Google Shape;116;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7"/>
        <p:cNvGrpSpPr/>
        <p:nvPr/>
      </p:nvGrpSpPr>
      <p:grpSpPr>
        <a:xfrm>
          <a:off x="0" y="0"/>
          <a:ext cx="0" cy="0"/>
          <a:chOff x="0" y="0"/>
          <a:chExt cx="0" cy="0"/>
        </a:xfrm>
      </p:grpSpPr>
      <p:sp>
        <p:nvSpPr>
          <p:cNvPr id="118" name="Google Shape;118;p30"/>
          <p:cNvSpPr txBox="1">
            <a:spLocks noGrp="1"/>
          </p:cNvSpPr>
          <p:nvPr>
            <p:ph type="title"/>
          </p:nvPr>
        </p:nvSpPr>
        <p:spPr>
          <a:xfrm>
            <a:off x="457200" y="205978"/>
            <a:ext cx="8229600" cy="857400"/>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9" name="Google Shape;119;p30"/>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p:cSld name="TITLE_1">
    <p:spTree>
      <p:nvGrpSpPr>
        <p:cNvPr id="1" name="Shape 120"/>
        <p:cNvGrpSpPr/>
        <p:nvPr/>
      </p:nvGrpSpPr>
      <p:grpSpPr>
        <a:xfrm>
          <a:off x="0" y="0"/>
          <a:ext cx="0" cy="0"/>
          <a:chOff x="0" y="0"/>
          <a:chExt cx="0" cy="0"/>
        </a:xfrm>
      </p:grpSpPr>
      <p:sp>
        <p:nvSpPr>
          <p:cNvPr id="121" name="Google Shape;121;p31"/>
          <p:cNvSpPr txBox="1">
            <a:spLocks noGrp="1"/>
          </p:cNvSpPr>
          <p:nvPr>
            <p:ph type="title"/>
          </p:nvPr>
        </p:nvSpPr>
        <p:spPr>
          <a:xfrm>
            <a:off x="685800" y="1597819"/>
            <a:ext cx="7772400" cy="1102500"/>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22" name="Google Shape;122;p31"/>
          <p:cNvSpPr txBox="1">
            <a:spLocks noGrp="1"/>
          </p:cNvSpPr>
          <p:nvPr>
            <p:ph type="body" idx="1"/>
          </p:nvPr>
        </p:nvSpPr>
        <p:spPr>
          <a:xfrm>
            <a:off x="1371600" y="2914650"/>
            <a:ext cx="6400800" cy="13146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700"/>
              </a:spcBef>
              <a:spcAft>
                <a:spcPts val="0"/>
              </a:spcAft>
              <a:buClr>
                <a:srgbClr val="888888"/>
              </a:buClr>
              <a:buSzPts val="3200"/>
              <a:buFont typeface="Calibri"/>
              <a:buNone/>
              <a:defRPr>
                <a:solidFill>
                  <a:srgbClr val="888888"/>
                </a:solidFill>
              </a:defRPr>
            </a:lvl1pPr>
            <a:lvl2pPr marL="914400" lvl="1" indent="-228600" algn="ctr">
              <a:lnSpc>
                <a:spcPct val="100000"/>
              </a:lnSpc>
              <a:spcBef>
                <a:spcPts val="700"/>
              </a:spcBef>
              <a:spcAft>
                <a:spcPts val="0"/>
              </a:spcAft>
              <a:buClr>
                <a:srgbClr val="888888"/>
              </a:buClr>
              <a:buSzPts val="3200"/>
              <a:buFont typeface="Calibri"/>
              <a:buNone/>
              <a:defRPr>
                <a:solidFill>
                  <a:srgbClr val="888888"/>
                </a:solidFill>
              </a:defRPr>
            </a:lvl2pPr>
            <a:lvl3pPr marL="1371600" lvl="2" indent="-228600" algn="ctr">
              <a:lnSpc>
                <a:spcPct val="100000"/>
              </a:lnSpc>
              <a:spcBef>
                <a:spcPts val="700"/>
              </a:spcBef>
              <a:spcAft>
                <a:spcPts val="0"/>
              </a:spcAft>
              <a:buClr>
                <a:srgbClr val="888888"/>
              </a:buClr>
              <a:buSzPts val="3200"/>
              <a:buFont typeface="Calibri"/>
              <a:buNone/>
              <a:defRPr>
                <a:solidFill>
                  <a:srgbClr val="888888"/>
                </a:solidFill>
              </a:defRPr>
            </a:lvl3pPr>
            <a:lvl4pPr marL="1828800" lvl="3" indent="-228600" algn="ctr">
              <a:lnSpc>
                <a:spcPct val="100000"/>
              </a:lnSpc>
              <a:spcBef>
                <a:spcPts val="700"/>
              </a:spcBef>
              <a:spcAft>
                <a:spcPts val="0"/>
              </a:spcAft>
              <a:buClr>
                <a:srgbClr val="888888"/>
              </a:buClr>
              <a:buSzPts val="3200"/>
              <a:buFont typeface="Calibri"/>
              <a:buNone/>
              <a:defRPr>
                <a:solidFill>
                  <a:srgbClr val="888888"/>
                </a:solidFill>
              </a:defRPr>
            </a:lvl4pPr>
            <a:lvl5pPr marL="2286000" lvl="4" indent="-228600" algn="ctr">
              <a:lnSpc>
                <a:spcPct val="100000"/>
              </a:lnSpc>
              <a:spcBef>
                <a:spcPts val="700"/>
              </a:spcBef>
              <a:spcAft>
                <a:spcPts val="0"/>
              </a:spcAft>
              <a:buClr>
                <a:srgbClr val="888888"/>
              </a:buClr>
              <a:buSzPts val="3200"/>
              <a:buFont typeface="Calibri"/>
              <a:buNone/>
              <a:defRPr>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23" name="Google Shape;123;p31"/>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124"/>
        <p:cNvGrpSpPr/>
        <p:nvPr/>
      </p:nvGrpSpPr>
      <p:grpSpPr>
        <a:xfrm>
          <a:off x="0" y="0"/>
          <a:ext cx="0" cy="0"/>
          <a:chOff x="0" y="0"/>
          <a:chExt cx="0" cy="0"/>
        </a:xfrm>
      </p:grpSpPr>
      <p:sp>
        <p:nvSpPr>
          <p:cNvPr id="125" name="Google Shape;125;p32"/>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126"/>
        <p:cNvGrpSpPr/>
        <p:nvPr/>
      </p:nvGrpSpPr>
      <p:grpSpPr>
        <a:xfrm>
          <a:off x="0" y="0"/>
          <a:ext cx="0" cy="0"/>
          <a:chOff x="0" y="0"/>
          <a:chExt cx="0" cy="0"/>
        </a:xfrm>
      </p:grpSpPr>
      <p:sp>
        <p:nvSpPr>
          <p:cNvPr id="127" name="Google Shape;127;p33"/>
          <p:cNvSpPr txBox="1">
            <a:spLocks noGrp="1"/>
          </p:cNvSpPr>
          <p:nvPr>
            <p:ph type="body" idx="1"/>
          </p:nvPr>
        </p:nvSpPr>
        <p:spPr>
          <a:xfrm>
            <a:off x="457200" y="205978"/>
            <a:ext cx="8229600" cy="4388700"/>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28" name="Google Shape;128;p33"/>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EFEFE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EFEFEF"/>
        </a:solidFill>
        <a:effectLst/>
      </p:bgPr>
    </p:bg>
    <p:spTree>
      <p:nvGrpSpPr>
        <p:cNvPr id="1" name="Shape 66"/>
        <p:cNvGrpSpPr/>
        <p:nvPr/>
      </p:nvGrpSpPr>
      <p:grpSpPr>
        <a:xfrm>
          <a:off x="0" y="0"/>
          <a:ext cx="0" cy="0"/>
          <a:chOff x="0" y="0"/>
          <a:chExt cx="0" cy="0"/>
        </a:xfrm>
      </p:grpSpPr>
      <p:sp>
        <p:nvSpPr>
          <p:cNvPr id="67" name="Google Shape;67;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68" name="Google Shape;68;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1.gif"/><Relationship Id="rId3" Type="http://schemas.openxmlformats.org/officeDocument/2006/relationships/image" Target="../media/image7.jp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about:blank" TargetMode="External"/><Relationship Id="rId5" Type="http://schemas.openxmlformats.org/officeDocument/2006/relationships/image" Target="../media/image9.jpg"/><Relationship Id="rId10" Type="http://schemas.openxmlformats.org/officeDocument/2006/relationships/image" Target="../media/image13.jpg"/><Relationship Id="rId4" Type="http://schemas.openxmlformats.org/officeDocument/2006/relationships/image" Target="../media/image8.gif"/><Relationship Id="rId9" Type="http://schemas.openxmlformats.org/officeDocument/2006/relationships/image" Target="../media/image1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www.youtube.com/watch?v=Wyg8CgKo7Do"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www.youtube.com/watch?v=53_Ce7LZ0Nc" TargetMode="External"/><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gif"/><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gif"/><Relationship Id="rId9" Type="http://schemas.openxmlformats.org/officeDocument/2006/relationships/image" Target="../media/image24.jp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0.gif"/><Relationship Id="rId3" Type="http://schemas.openxmlformats.org/officeDocument/2006/relationships/image" Target="../media/image18.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jpg"/><Relationship Id="rId4" Type="http://schemas.openxmlformats.org/officeDocument/2006/relationships/hyperlink" Target="http://www.youtube.com/watch?v=f4q7BqKw50c" TargetMode="External"/><Relationship Id="rId9"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hyperlink" Target="https://dashboard.blooket.com/set/68b116266e3af35fc52bd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4"/>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
        <p:nvSpPr>
          <p:cNvPr id="134" name="Google Shape;134;p34"/>
          <p:cNvSpPr txBox="1"/>
          <p:nvPr/>
        </p:nvSpPr>
        <p:spPr>
          <a:xfrm>
            <a:off x="151625" y="784100"/>
            <a:ext cx="4813800" cy="739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sng" strike="noStrike" cap="none" dirty="0">
                <a:solidFill>
                  <a:schemeClr val="dk1"/>
                </a:solidFill>
                <a:latin typeface="Delius"/>
                <a:ea typeface="Delius"/>
                <a:cs typeface="Delius"/>
                <a:sym typeface="Delius"/>
              </a:rPr>
              <a:t>Title: Friends and Foes - The Alliance System</a:t>
            </a:r>
            <a:endParaRPr sz="1800" b="1" i="0" u="sng" strike="noStrike" cap="none" dirty="0">
              <a:solidFill>
                <a:schemeClr val="dk1"/>
              </a:solidFill>
              <a:latin typeface="Delius"/>
              <a:ea typeface="Delius"/>
              <a:cs typeface="Delius"/>
              <a:sym typeface="Delius"/>
            </a:endParaRPr>
          </a:p>
        </p:txBody>
      </p:sp>
      <p:sp>
        <p:nvSpPr>
          <p:cNvPr id="135" name="Google Shape;135;p34"/>
          <p:cNvSpPr txBox="1"/>
          <p:nvPr/>
        </p:nvSpPr>
        <p:spPr>
          <a:xfrm>
            <a:off x="219800" y="1725500"/>
            <a:ext cx="4934700" cy="3143400"/>
          </a:xfrm>
          <a:prstGeom prst="rect">
            <a:avLst/>
          </a:prstGeom>
          <a:solidFill>
            <a:srgbClr val="FFE599"/>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latin typeface="Delius"/>
                <a:ea typeface="Delius"/>
                <a:cs typeface="Delius"/>
                <a:sym typeface="Delius"/>
              </a:rPr>
              <a:t>1. </a:t>
            </a:r>
            <a:r>
              <a:rPr lang="en" sz="1800">
                <a:solidFill>
                  <a:schemeClr val="dk1"/>
                </a:solidFill>
                <a:latin typeface="Delius"/>
                <a:ea typeface="Delius"/>
                <a:cs typeface="Delius"/>
                <a:sym typeface="Delius"/>
              </a:rPr>
              <a:t>What is the difference between a colony and an empire?</a:t>
            </a: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latin typeface="Delius"/>
                <a:ea typeface="Delius"/>
                <a:cs typeface="Delius"/>
                <a:sym typeface="Delius"/>
              </a:rPr>
              <a:t>2.</a:t>
            </a:r>
            <a:r>
              <a:rPr lang="en" sz="1800" b="1" i="0" u="none" strike="noStrike" cap="none">
                <a:solidFill>
                  <a:schemeClr val="dk1"/>
                </a:solidFill>
                <a:latin typeface="Delius"/>
                <a:ea typeface="Delius"/>
                <a:cs typeface="Delius"/>
                <a:sym typeface="Delius"/>
              </a:rPr>
              <a:t> </a:t>
            </a:r>
            <a:r>
              <a:rPr lang="en" sz="1800">
                <a:solidFill>
                  <a:schemeClr val="dk1"/>
                </a:solidFill>
                <a:latin typeface="Delius"/>
                <a:ea typeface="Delius"/>
                <a:cs typeface="Delius"/>
                <a:sym typeface="Delius"/>
              </a:rPr>
              <a:t>How could having an empire make a country more powerful?</a:t>
            </a: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latin typeface="Delius"/>
                <a:ea typeface="Delius"/>
                <a:cs typeface="Delius"/>
                <a:sym typeface="Delius"/>
              </a:rPr>
              <a:t>3.</a:t>
            </a:r>
            <a:r>
              <a:rPr lang="en" sz="1800" b="0" i="0" u="none" strike="noStrike" cap="none">
                <a:solidFill>
                  <a:schemeClr val="dk1"/>
                </a:solidFill>
                <a:latin typeface="Delius"/>
                <a:ea typeface="Delius"/>
                <a:cs typeface="Delius"/>
                <a:sym typeface="Delius"/>
              </a:rPr>
              <a:t> </a:t>
            </a:r>
            <a:r>
              <a:rPr lang="en" sz="1800">
                <a:solidFill>
                  <a:schemeClr val="dk1"/>
                </a:solidFill>
                <a:latin typeface="Delius"/>
                <a:ea typeface="Delius"/>
                <a:cs typeface="Delius"/>
                <a:sym typeface="Delius"/>
              </a:rPr>
              <a:t>How could an empire change the culture of the countries it rules? Can you give an example?</a:t>
            </a:r>
            <a:endParaRPr sz="1800" b="0" i="0" u="none" strike="noStrike" cap="none">
              <a:solidFill>
                <a:schemeClr val="dk1"/>
              </a:solidFill>
              <a:latin typeface="Delius"/>
              <a:ea typeface="Delius"/>
              <a:cs typeface="Delius"/>
              <a:sym typeface="Delius"/>
            </a:endParaRPr>
          </a:p>
        </p:txBody>
      </p:sp>
      <p:sp>
        <p:nvSpPr>
          <p:cNvPr id="136" name="Google Shape;136;p34"/>
          <p:cNvSpPr txBox="1"/>
          <p:nvPr/>
        </p:nvSpPr>
        <p:spPr>
          <a:xfrm>
            <a:off x="5321575" y="702213"/>
            <a:ext cx="3637800" cy="1465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000" b="1" i="0" u="none" strike="noStrike" cap="none">
                <a:solidFill>
                  <a:srgbClr val="000000"/>
                </a:solidFill>
                <a:highlight>
                  <a:srgbClr val="FFFF00"/>
                </a:highlight>
                <a:latin typeface="Caveat"/>
                <a:ea typeface="Caveat"/>
                <a:cs typeface="Caveat"/>
                <a:sym typeface="Caveat"/>
              </a:rPr>
              <a:t>Key Enquiry Question: </a:t>
            </a:r>
            <a:r>
              <a:rPr lang="en" sz="2000" b="1" i="0" u="none" strike="noStrike" cap="none">
                <a:solidFill>
                  <a:srgbClr val="1F1F1F"/>
                </a:solidFill>
                <a:highlight>
                  <a:srgbClr val="FFFF00"/>
                </a:highlight>
                <a:latin typeface="Caveat"/>
                <a:ea typeface="Caveat"/>
                <a:cs typeface="Caveat"/>
                <a:sym typeface="Caveat"/>
              </a:rPr>
              <a:t>What were the causes of WW1, and how did different factors contribute to the outbreak of the conflict?</a:t>
            </a:r>
            <a:endParaRPr sz="2000" b="1" i="0" u="none" strike="noStrike" cap="none">
              <a:solidFill>
                <a:srgbClr val="000000"/>
              </a:solidFill>
              <a:highlight>
                <a:srgbClr val="FFFF00"/>
              </a:highlight>
              <a:latin typeface="Caveat"/>
              <a:ea typeface="Caveat"/>
              <a:cs typeface="Caveat"/>
              <a:sym typeface="Caveat"/>
            </a:endParaRPr>
          </a:p>
        </p:txBody>
      </p:sp>
      <p:pic>
        <p:nvPicPr>
          <p:cNvPr id="137" name="Google Shape;137;p34"/>
          <p:cNvPicPr preferRelativeResize="0"/>
          <p:nvPr/>
        </p:nvPicPr>
        <p:blipFill>
          <a:blip r:embed="rId3">
            <a:alphaModFix/>
          </a:blip>
          <a:stretch>
            <a:fillRect/>
          </a:stretch>
        </p:blipFill>
        <p:spPr>
          <a:xfrm>
            <a:off x="219800" y="1725500"/>
            <a:ext cx="764550" cy="548725"/>
          </a:xfrm>
          <a:prstGeom prst="rect">
            <a:avLst/>
          </a:prstGeom>
          <a:noFill/>
          <a:ln>
            <a:noFill/>
          </a:ln>
        </p:spPr>
      </p:pic>
      <p:pic>
        <p:nvPicPr>
          <p:cNvPr id="138" name="Google Shape;138;p34"/>
          <p:cNvPicPr preferRelativeResize="0"/>
          <p:nvPr/>
        </p:nvPicPr>
        <p:blipFill>
          <a:blip r:embed="rId4">
            <a:alphaModFix/>
          </a:blip>
          <a:stretch>
            <a:fillRect/>
          </a:stretch>
        </p:blipFill>
        <p:spPr>
          <a:xfrm>
            <a:off x="5321576" y="2393938"/>
            <a:ext cx="3637800" cy="2047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5"/>
          <p:cNvSpPr txBox="1"/>
          <p:nvPr/>
        </p:nvSpPr>
        <p:spPr>
          <a:xfrm>
            <a:off x="132250" y="1418150"/>
            <a:ext cx="5290800" cy="3441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1" i="0" u="none" strike="noStrike" cap="none">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Meeting: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a:t>
            </a:r>
            <a:r>
              <a:rPr lang="en" sz="1600" b="1">
                <a:solidFill>
                  <a:schemeClr val="dk1"/>
                </a:solidFill>
                <a:latin typeface="Baumans"/>
                <a:ea typeface="Baumans"/>
                <a:cs typeface="Baumans"/>
                <a:sym typeface="Baumans"/>
              </a:rPr>
              <a:t>identify the countries in the Triple Entente and Triple Alliance</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Exceeding: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a:t>
            </a:r>
            <a:r>
              <a:rPr lang="en" sz="1600" b="1">
                <a:solidFill>
                  <a:schemeClr val="dk1"/>
                </a:solidFill>
                <a:latin typeface="Baumans"/>
                <a:ea typeface="Baumans"/>
                <a:cs typeface="Baumans"/>
                <a:sym typeface="Baumans"/>
              </a:rPr>
              <a:t>explain how the alliance system increased tension between European countries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120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Mastering: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a:t>
            </a:r>
            <a:r>
              <a:rPr lang="en" sz="1600" b="1">
                <a:solidFill>
                  <a:schemeClr val="dk1"/>
                </a:solidFill>
                <a:latin typeface="Baumans"/>
                <a:ea typeface="Baumans"/>
                <a:cs typeface="Baumans"/>
                <a:sym typeface="Baumans"/>
              </a:rPr>
              <a:t>analyse how the alliance system increased the likelihood of a wider European war in 1914</a:t>
            </a:r>
            <a:r>
              <a:rPr lang="en" sz="1600">
                <a:solidFill>
                  <a:schemeClr val="dk1"/>
                </a:solidFill>
                <a:latin typeface="Baumans"/>
                <a:ea typeface="Baumans"/>
                <a:cs typeface="Baumans"/>
                <a:sym typeface="Baumans"/>
              </a:rPr>
              <a:t>.</a:t>
            </a:r>
            <a:endParaRPr sz="2100">
              <a:solidFill>
                <a:schemeClr val="dk1"/>
              </a:solidFill>
              <a:latin typeface="Baumans"/>
              <a:ea typeface="Baumans"/>
              <a:cs typeface="Baumans"/>
              <a:sym typeface="Baumans"/>
            </a:endParaRPr>
          </a:p>
        </p:txBody>
      </p:sp>
      <p:sp>
        <p:nvSpPr>
          <p:cNvPr id="144" name="Google Shape;144;p35"/>
          <p:cNvSpPr txBox="1"/>
          <p:nvPr/>
        </p:nvSpPr>
        <p:spPr>
          <a:xfrm>
            <a:off x="76900" y="630125"/>
            <a:ext cx="4002600" cy="79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dirty="0">
                <a:solidFill>
                  <a:schemeClr val="dk1"/>
                </a:solidFill>
                <a:latin typeface="Delius"/>
                <a:ea typeface="Delius"/>
                <a:cs typeface="Delius"/>
                <a:sym typeface="Delius"/>
              </a:rPr>
              <a:t>Title: The Long Fuse - Europe in 1914</a:t>
            </a:r>
            <a:endParaRPr sz="1800" b="1" u="sng" dirty="0">
              <a:solidFill>
                <a:schemeClr val="dk1"/>
              </a:solidFill>
              <a:latin typeface="Delius"/>
              <a:ea typeface="Delius"/>
              <a:cs typeface="Delius"/>
              <a:sym typeface="Delius"/>
            </a:endParaRPr>
          </a:p>
        </p:txBody>
      </p:sp>
      <p:sp>
        <p:nvSpPr>
          <p:cNvPr id="145" name="Google Shape;145;p35"/>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
        <p:nvSpPr>
          <p:cNvPr id="146" name="Google Shape;146;p35"/>
          <p:cNvSpPr txBox="1"/>
          <p:nvPr/>
        </p:nvSpPr>
        <p:spPr>
          <a:xfrm>
            <a:off x="5330325" y="702213"/>
            <a:ext cx="3637800" cy="1465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000" b="1" i="0" u="none" strike="noStrike" cap="none">
                <a:solidFill>
                  <a:srgbClr val="000000"/>
                </a:solidFill>
                <a:highlight>
                  <a:srgbClr val="FFFF00"/>
                </a:highlight>
                <a:latin typeface="Caveat"/>
                <a:ea typeface="Caveat"/>
                <a:cs typeface="Caveat"/>
                <a:sym typeface="Caveat"/>
              </a:rPr>
              <a:t>Key Enquiry Question: </a:t>
            </a:r>
            <a:r>
              <a:rPr lang="en" sz="2000" b="1" i="0" u="none" strike="noStrike" cap="none">
                <a:solidFill>
                  <a:srgbClr val="1F1F1F"/>
                </a:solidFill>
                <a:highlight>
                  <a:srgbClr val="FFFF00"/>
                </a:highlight>
                <a:latin typeface="Caveat"/>
                <a:ea typeface="Caveat"/>
                <a:cs typeface="Caveat"/>
                <a:sym typeface="Caveat"/>
              </a:rPr>
              <a:t>What were the causes of WW1, and how did different factors contribute to the outbreak of the conflict?</a:t>
            </a:r>
            <a:endParaRPr sz="2000" b="1" i="0" u="none" strike="noStrike" cap="none">
              <a:solidFill>
                <a:srgbClr val="000000"/>
              </a:solidFill>
              <a:highlight>
                <a:srgbClr val="FFFF00"/>
              </a:highlight>
              <a:latin typeface="Caveat"/>
              <a:ea typeface="Caveat"/>
              <a:cs typeface="Caveat"/>
              <a:sym typeface="Caveat"/>
            </a:endParaRPr>
          </a:p>
        </p:txBody>
      </p:sp>
      <p:pic>
        <p:nvPicPr>
          <p:cNvPr id="147" name="Google Shape;147;p35"/>
          <p:cNvPicPr preferRelativeResize="0"/>
          <p:nvPr/>
        </p:nvPicPr>
        <p:blipFill>
          <a:blip r:embed="rId3">
            <a:alphaModFix/>
          </a:blip>
          <a:stretch>
            <a:fillRect/>
          </a:stretch>
        </p:blipFill>
        <p:spPr>
          <a:xfrm>
            <a:off x="5330326" y="2393938"/>
            <a:ext cx="3637800" cy="2047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p:nvPr/>
        </p:nvSpPr>
        <p:spPr>
          <a:xfrm>
            <a:off x="333158" y="364638"/>
            <a:ext cx="5901900" cy="46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200">
              <a:solidFill>
                <a:schemeClr val="dk1"/>
              </a:solidFill>
              <a:latin typeface="Luckiest Guy"/>
              <a:ea typeface="Luckiest Guy"/>
              <a:cs typeface="Luckiest Guy"/>
              <a:sym typeface="Luckiest Guy"/>
            </a:endParaRPr>
          </a:p>
        </p:txBody>
      </p:sp>
      <p:sp>
        <p:nvSpPr>
          <p:cNvPr id="123" name="Google Shape;123;p23"/>
          <p:cNvSpPr txBox="1"/>
          <p:nvPr/>
        </p:nvSpPr>
        <p:spPr>
          <a:xfrm>
            <a:off x="115350" y="1306625"/>
            <a:ext cx="5124300" cy="3631733"/>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latin typeface="Baumans"/>
                <a:ea typeface="Baumans"/>
                <a:cs typeface="Baumans"/>
                <a:sym typeface="Baumans"/>
              </a:rPr>
              <a:t>Remember the acronym </a:t>
            </a:r>
            <a:r>
              <a:rPr lang="en" sz="1600" b="1" dirty="0">
                <a:solidFill>
                  <a:srgbClr val="980000"/>
                </a:solidFill>
                <a:latin typeface="Baumans"/>
                <a:ea typeface="Baumans"/>
                <a:cs typeface="Baumans"/>
                <a:sym typeface="Baumans"/>
              </a:rPr>
              <a:t>MAINS</a:t>
            </a:r>
            <a:r>
              <a:rPr lang="en" sz="1600" dirty="0">
                <a:latin typeface="Baumans"/>
                <a:ea typeface="Baumans"/>
                <a:cs typeface="Baumans"/>
                <a:sym typeface="Baumans"/>
              </a:rPr>
              <a:t>: </a:t>
            </a:r>
            <a:endParaRPr sz="1600" dirty="0">
              <a:latin typeface="Baumans"/>
              <a:ea typeface="Baumans"/>
              <a:cs typeface="Baumans"/>
              <a:sym typeface="Baumans"/>
            </a:endParaRPr>
          </a:p>
          <a:p>
            <a:pPr marL="0" lvl="0" indent="0" algn="l" rtl="0">
              <a:spcBef>
                <a:spcPts val="0"/>
              </a:spcBef>
              <a:spcAft>
                <a:spcPts val="0"/>
              </a:spcAft>
              <a:buNone/>
            </a:pP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M is for Militarism </a:t>
            </a:r>
            <a:r>
              <a:rPr lang="en" sz="1600" dirty="0">
                <a:latin typeface="Baumans"/>
                <a:ea typeface="Baumans"/>
                <a:cs typeface="Baumans"/>
                <a:sym typeface="Baumans"/>
              </a:rPr>
              <a:t>- </a:t>
            </a:r>
            <a:r>
              <a:rPr lang="en-GB" sz="1600" dirty="0"/>
              <a:t>The belief that a country should have strong armed forces and be ready to use them </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A is for the Alliance System </a:t>
            </a:r>
            <a:r>
              <a:rPr lang="en" sz="1600" dirty="0">
                <a:latin typeface="Baumans"/>
                <a:ea typeface="Baumans"/>
                <a:cs typeface="Baumans"/>
                <a:sym typeface="Baumans"/>
              </a:rPr>
              <a:t>- </a:t>
            </a:r>
            <a:r>
              <a:rPr lang="en-GB" sz="1600" dirty="0"/>
              <a:t>Agreements between countries to support or protect each other</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I is for Imperialism </a:t>
            </a:r>
            <a:r>
              <a:rPr lang="en" sz="1600" dirty="0">
                <a:latin typeface="Baumans"/>
                <a:ea typeface="Baumans"/>
                <a:cs typeface="Baumans"/>
                <a:sym typeface="Baumans"/>
              </a:rPr>
              <a:t>- </a:t>
            </a:r>
            <a:r>
              <a:rPr lang="en-GB" sz="1600" dirty="0"/>
              <a:t>When a country takes control of other countries to build an empire</a:t>
            </a:r>
            <a:r>
              <a:rPr lang="en" sz="1600" dirty="0">
                <a:latin typeface="Baumans"/>
                <a:ea typeface="Baumans"/>
                <a:cs typeface="Baumans"/>
                <a:sym typeface="Baumans"/>
              </a:rPr>
              <a:t> </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N is for Nationalism </a:t>
            </a:r>
            <a:r>
              <a:rPr lang="en" sz="1600" dirty="0">
                <a:latin typeface="Baumans"/>
                <a:ea typeface="Baumans"/>
                <a:cs typeface="Baumans"/>
                <a:sym typeface="Baumans"/>
              </a:rPr>
              <a:t>- </a:t>
            </a:r>
            <a:r>
              <a:rPr lang="en-GB" sz="1600" dirty="0"/>
              <a:t>Strong pride / loyalty to a nation; it can also mean wanting people with a shared identity to form or rule their own country </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S is for Significant Individuals </a:t>
            </a:r>
            <a:r>
              <a:rPr lang="en" sz="1600" dirty="0">
                <a:latin typeface="Baumans"/>
                <a:ea typeface="Baumans"/>
                <a:cs typeface="Baumans"/>
                <a:sym typeface="Baumans"/>
              </a:rPr>
              <a:t>- I</a:t>
            </a:r>
            <a:r>
              <a:rPr lang="en-GB" sz="1600" dirty="0" err="1"/>
              <a:t>mportant</a:t>
            </a:r>
            <a:r>
              <a:rPr lang="en-GB" sz="1600" dirty="0"/>
              <a:t> people whose choices or actions helped shape events leading to the First World War </a:t>
            </a:r>
            <a:endParaRPr sz="1600" dirty="0">
              <a:latin typeface="Baumans"/>
              <a:ea typeface="Baumans"/>
              <a:cs typeface="Baumans"/>
              <a:sym typeface="Baumans"/>
            </a:endParaRPr>
          </a:p>
        </p:txBody>
      </p:sp>
      <p:pic>
        <p:nvPicPr>
          <p:cNvPr id="124" name="Google Shape;124;p23" descr="The Main Causes of World War I - WorldAtlas"/>
          <p:cNvPicPr preferRelativeResize="0"/>
          <p:nvPr/>
        </p:nvPicPr>
        <p:blipFill rotWithShape="1">
          <a:blip r:embed="rId3">
            <a:alphaModFix/>
          </a:blip>
          <a:srcRect/>
          <a:stretch/>
        </p:blipFill>
        <p:spPr>
          <a:xfrm>
            <a:off x="5426950" y="1815625"/>
            <a:ext cx="3601800" cy="2254339"/>
          </a:xfrm>
          <a:prstGeom prst="rect">
            <a:avLst/>
          </a:prstGeom>
          <a:noFill/>
          <a:ln>
            <a:noFill/>
          </a:ln>
        </p:spPr>
      </p:pic>
      <p:sp>
        <p:nvSpPr>
          <p:cNvPr id="125" name="Google Shape;125;p23"/>
          <p:cNvSpPr txBox="1"/>
          <p:nvPr/>
        </p:nvSpPr>
        <p:spPr>
          <a:xfrm>
            <a:off x="115225" y="782525"/>
            <a:ext cx="54474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What were the main causes of WW1?</a:t>
            </a:r>
            <a:endParaRPr sz="2400" b="1" u="sng">
              <a:solidFill>
                <a:srgbClr val="000000"/>
              </a:solidFill>
              <a:latin typeface="Patrick Hand SC"/>
              <a:ea typeface="Patrick Hand SC"/>
              <a:cs typeface="Patrick Hand SC"/>
              <a:sym typeface="Patrick Hand SC"/>
            </a:endParaRPr>
          </a:p>
        </p:txBody>
      </p:sp>
      <p:sp>
        <p:nvSpPr>
          <p:cNvPr id="126" name="Google Shape;126;p23"/>
          <p:cNvSpPr txBox="1"/>
          <p:nvPr/>
        </p:nvSpPr>
        <p:spPr>
          <a:xfrm>
            <a:off x="5426950" y="782525"/>
            <a:ext cx="3601800" cy="87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chemeClr val="dk1"/>
              </a:solidFill>
              <a:highlight>
                <a:srgbClr val="FFFF00"/>
              </a:highlight>
              <a:latin typeface="Caveat"/>
              <a:ea typeface="Caveat"/>
              <a:cs typeface="Caveat"/>
              <a:sym typeface="Caveat"/>
            </a:endParaRPr>
          </a:p>
        </p:txBody>
      </p:sp>
      <p:sp>
        <p:nvSpPr>
          <p:cNvPr id="127" name="Google Shape;127;p23"/>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graphicFrame>
        <p:nvGraphicFramePr>
          <p:cNvPr id="162" name="Google Shape;162;p37"/>
          <p:cNvGraphicFramePr/>
          <p:nvPr>
            <p:extLst>
              <p:ext uri="{D42A27DB-BD31-4B8C-83A1-F6EECF244321}">
                <p14:modId xmlns:p14="http://schemas.microsoft.com/office/powerpoint/2010/main" val="154807053"/>
              </p:ext>
            </p:extLst>
          </p:nvPr>
        </p:nvGraphicFramePr>
        <p:xfrm>
          <a:off x="231820" y="1458725"/>
          <a:ext cx="8796843" cy="3718440"/>
        </p:xfrm>
        <a:graphic>
          <a:graphicData uri="http://schemas.openxmlformats.org/drawingml/2006/table">
            <a:tbl>
              <a:tblPr>
                <a:noFill/>
                <a:tableStyleId>{0D1FD88E-B90B-44B8-A9AC-74F595D35D10}</a:tableStyleId>
              </a:tblPr>
              <a:tblGrid>
                <a:gridCol w="1619643">
                  <a:extLst>
                    <a:ext uri="{9D8B030D-6E8A-4147-A177-3AD203B41FA5}">
                      <a16:colId xmlns:a16="http://schemas.microsoft.com/office/drawing/2014/main" val="20000"/>
                    </a:ext>
                  </a:extLst>
                </a:gridCol>
                <a:gridCol w="1118600">
                  <a:extLst>
                    <a:ext uri="{9D8B030D-6E8A-4147-A177-3AD203B41FA5}">
                      <a16:colId xmlns:a16="http://schemas.microsoft.com/office/drawing/2014/main" val="20001"/>
                    </a:ext>
                  </a:extLst>
                </a:gridCol>
                <a:gridCol w="6058600">
                  <a:extLst>
                    <a:ext uri="{9D8B030D-6E8A-4147-A177-3AD203B41FA5}">
                      <a16:colId xmlns:a16="http://schemas.microsoft.com/office/drawing/2014/main" val="20002"/>
                    </a:ext>
                  </a:extLst>
                </a:gridCol>
              </a:tblGrid>
              <a:tr h="451725">
                <a:tc>
                  <a:txBody>
                    <a:bodyPr/>
                    <a:lstStyle/>
                    <a:p>
                      <a:pPr marL="0" lvl="0" indent="0" algn="l" rtl="0">
                        <a:spcBef>
                          <a:spcPts val="0"/>
                        </a:spcBef>
                        <a:spcAft>
                          <a:spcPts val="0"/>
                        </a:spcAft>
                        <a:buNone/>
                      </a:pPr>
                      <a:r>
                        <a:rPr lang="en" sz="1800" b="1">
                          <a:latin typeface="Poppins"/>
                          <a:ea typeface="Poppins"/>
                          <a:cs typeface="Poppins"/>
                          <a:sym typeface="Poppins"/>
                        </a:rPr>
                        <a:t>Key Word</a:t>
                      </a:r>
                      <a:endParaRPr sz="1800" b="1">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800" b="1">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800" b="1">
                          <a:latin typeface="Poppins"/>
                          <a:ea typeface="Poppins"/>
                          <a:cs typeface="Poppins"/>
                          <a:sym typeface="Poppins"/>
                        </a:rPr>
                        <a:t>Definition</a:t>
                      </a:r>
                      <a:endParaRPr sz="1800" b="1">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731500">
                <a:tc>
                  <a:txBody>
                    <a:bodyPr/>
                    <a:lstStyle/>
                    <a:p>
                      <a:pPr marL="0" lvl="0" indent="0" algn="l" rtl="0">
                        <a:spcBef>
                          <a:spcPts val="0"/>
                        </a:spcBef>
                        <a:spcAft>
                          <a:spcPts val="0"/>
                        </a:spcAft>
                        <a:buClr>
                          <a:schemeClr val="dk1"/>
                        </a:buClr>
                        <a:buSzPts val="1900"/>
                        <a:buFont typeface="Arial"/>
                        <a:buNone/>
                      </a:pPr>
                      <a:r>
                        <a:rPr lang="en" sz="1800" dirty="0">
                          <a:solidFill>
                            <a:schemeClr val="dk1"/>
                          </a:solidFill>
                          <a:latin typeface="Poppins"/>
                          <a:ea typeface="Poppins"/>
                          <a:cs typeface="Poppins"/>
                          <a:sym typeface="Poppins"/>
                        </a:rPr>
                        <a:t>Alliance  </a:t>
                      </a:r>
                      <a:r>
                        <a:rPr lang="ko-KR" altLang="en-US" sz="1800" dirty="0">
                          <a:solidFill>
                            <a:schemeClr val="dk1"/>
                          </a:solidFill>
                          <a:latin typeface="Poppins"/>
                          <a:ea typeface="Poppins"/>
                          <a:cs typeface="Poppins"/>
                          <a:sym typeface="Poppins"/>
                        </a:rPr>
                        <a:t>동맹</a:t>
                      </a:r>
                      <a:endParaRPr lang="en" sz="1800" dirty="0">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900"/>
                        <a:buFont typeface="Arial"/>
                        <a:buNone/>
                      </a:pPr>
                      <a:r>
                        <a:rPr lang="ja-JP" altLang="en-US" sz="1800">
                          <a:solidFill>
                            <a:schemeClr val="dk1"/>
                          </a:solidFill>
                          <a:latin typeface="Poppins"/>
                          <a:ea typeface="Poppins"/>
                          <a:cs typeface="Poppins"/>
                          <a:sym typeface="Poppins"/>
                        </a:rPr>
                        <a:t>联盟</a:t>
                      </a:r>
                      <a:endParaRPr sz="18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800">
                          <a:latin typeface="Poppins"/>
                          <a:ea typeface="Poppins"/>
                          <a:cs typeface="Poppins"/>
                          <a:sym typeface="Poppins"/>
                        </a:rPr>
                        <a:t>An agreement between countries to support and protect each other, especially during war.</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31500">
                <a:tc>
                  <a:txBody>
                    <a:bodyPr/>
                    <a:lstStyle/>
                    <a:p>
                      <a:pPr marL="0" lvl="0" indent="0" algn="l" rtl="0">
                        <a:spcBef>
                          <a:spcPts val="0"/>
                        </a:spcBef>
                        <a:spcAft>
                          <a:spcPts val="0"/>
                        </a:spcAft>
                        <a:buClr>
                          <a:schemeClr val="dk1"/>
                        </a:buClr>
                        <a:buSzPts val="1900"/>
                        <a:buFont typeface="Arial"/>
                        <a:buNone/>
                      </a:pPr>
                      <a:r>
                        <a:rPr lang="en" sz="1800" dirty="0">
                          <a:solidFill>
                            <a:schemeClr val="dk1"/>
                          </a:solidFill>
                          <a:latin typeface="Poppins"/>
                          <a:ea typeface="Poppins"/>
                          <a:cs typeface="Poppins"/>
                          <a:sym typeface="Poppins"/>
                        </a:rPr>
                        <a:t>Casualty  </a:t>
                      </a:r>
                      <a:r>
                        <a:rPr lang="ko-KR" altLang="en-US" sz="1800" dirty="0">
                          <a:solidFill>
                            <a:schemeClr val="dk1"/>
                          </a:solidFill>
                          <a:latin typeface="Poppins"/>
                          <a:ea typeface="Poppins"/>
                          <a:cs typeface="Poppins"/>
                          <a:sym typeface="Poppins"/>
                        </a:rPr>
                        <a:t>전사자</a:t>
                      </a:r>
                      <a:endParaRPr lang="en" sz="1800" dirty="0">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900"/>
                        <a:buFont typeface="Arial"/>
                        <a:buNone/>
                      </a:pPr>
                      <a:r>
                        <a:rPr lang="ja-JP" altLang="en-US" sz="1800">
                          <a:solidFill>
                            <a:schemeClr val="dk1"/>
                          </a:solidFill>
                          <a:latin typeface="Poppins"/>
                          <a:ea typeface="Poppins"/>
                          <a:cs typeface="Poppins"/>
                          <a:sym typeface="Poppins"/>
                        </a:rPr>
                        <a:t>伤亡情况</a:t>
                      </a:r>
                      <a:endParaRPr sz="18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800">
                          <a:latin typeface="Poppins"/>
                          <a:ea typeface="Poppins"/>
                          <a:cs typeface="Poppins"/>
                          <a:sym typeface="Poppins"/>
                        </a:rPr>
                        <a:t>A person who is killed, injured, or goes missing during a war or accident.</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31500">
                <a:tc>
                  <a:txBody>
                    <a:bodyPr/>
                    <a:lstStyle/>
                    <a:p>
                      <a:pPr marL="0" lvl="0" indent="0" algn="l" rtl="0">
                        <a:spcBef>
                          <a:spcPts val="0"/>
                        </a:spcBef>
                        <a:spcAft>
                          <a:spcPts val="0"/>
                        </a:spcAft>
                        <a:buNone/>
                      </a:pPr>
                      <a:r>
                        <a:rPr lang="en" sz="1800" dirty="0">
                          <a:solidFill>
                            <a:schemeClr val="dk1"/>
                          </a:solidFill>
                          <a:latin typeface="Poppins"/>
                          <a:ea typeface="Poppins"/>
                          <a:cs typeface="Poppins"/>
                          <a:sym typeface="Poppins"/>
                        </a:rPr>
                        <a:t>Conquer </a:t>
                      </a:r>
                      <a:r>
                        <a:rPr lang="ko-KR" altLang="en-US" sz="1800" dirty="0">
                          <a:solidFill>
                            <a:schemeClr val="dk1"/>
                          </a:solidFill>
                          <a:latin typeface="Poppins"/>
                          <a:ea typeface="Poppins"/>
                          <a:cs typeface="Poppins"/>
                          <a:sym typeface="Poppins"/>
                        </a:rPr>
                        <a:t>정복</a:t>
                      </a:r>
                      <a:endParaRPr lang="en" sz="1800" dirty="0">
                        <a:solidFill>
                          <a:schemeClr val="dk1"/>
                        </a:solidFill>
                        <a:latin typeface="Poppins"/>
                        <a:ea typeface="Poppins"/>
                        <a:cs typeface="Poppins"/>
                        <a:sym typeface="Poppins"/>
                      </a:endParaRPr>
                    </a:p>
                    <a:p>
                      <a:pPr marL="0" lvl="0" indent="0" algn="l" rtl="0">
                        <a:spcBef>
                          <a:spcPts val="0"/>
                        </a:spcBef>
                        <a:spcAft>
                          <a:spcPts val="0"/>
                        </a:spcAft>
                        <a:buNone/>
                      </a:pPr>
                      <a:r>
                        <a:rPr lang="ja-JP" altLang="en-US" sz="1800">
                          <a:solidFill>
                            <a:schemeClr val="dk1"/>
                          </a:solidFill>
                          <a:latin typeface="Poppins"/>
                          <a:ea typeface="Poppins"/>
                          <a:cs typeface="Poppins"/>
                          <a:sym typeface="Poppins"/>
                        </a:rPr>
                        <a:t>征服</a:t>
                      </a:r>
                      <a:endParaRPr sz="1800" dirty="0">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900"/>
                        <a:buFont typeface="Arial"/>
                        <a:buNone/>
                      </a:pPr>
                      <a:endParaRPr sz="1600" dirty="0">
                        <a:solidFill>
                          <a:schemeClr val="dk1"/>
                        </a:solidFill>
                        <a:latin typeface="Patrick Hand"/>
                        <a:ea typeface="Patrick Hand"/>
                        <a:cs typeface="Patrick Hand"/>
                        <a:sym typeface="Patrick Han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800" dirty="0">
                          <a:latin typeface="Poppins"/>
                          <a:ea typeface="Poppins"/>
                          <a:cs typeface="Poppins"/>
                          <a:sym typeface="Poppins"/>
                        </a:rPr>
                        <a:t>To take control of a place or people by force, usually through fighting.</a:t>
                      </a:r>
                      <a:endParaRPr sz="18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3" name="Google Shape;163;p37"/>
          <p:cNvSpPr txBox="1"/>
          <p:nvPr/>
        </p:nvSpPr>
        <p:spPr>
          <a:xfrm>
            <a:off x="115350" y="782525"/>
            <a:ext cx="27018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Key Terms:</a:t>
            </a:r>
            <a:endParaRPr sz="2400" b="1" u="sng">
              <a:solidFill>
                <a:srgbClr val="000000"/>
              </a:solidFill>
              <a:latin typeface="Patrick Hand SC"/>
              <a:ea typeface="Patrick Hand SC"/>
              <a:cs typeface="Patrick Hand SC"/>
              <a:sym typeface="Patrick Hand SC"/>
            </a:endParaRPr>
          </a:p>
        </p:txBody>
      </p:sp>
      <p:sp>
        <p:nvSpPr>
          <p:cNvPr id="164" name="Google Shape;164;p37"/>
          <p:cNvSpPr txBox="1"/>
          <p:nvPr/>
        </p:nvSpPr>
        <p:spPr>
          <a:xfrm>
            <a:off x="3217375" y="782525"/>
            <a:ext cx="5811300" cy="6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dirty="0">
              <a:solidFill>
                <a:schemeClr val="dk1"/>
              </a:solidFill>
              <a:highlight>
                <a:srgbClr val="FFFF00"/>
              </a:highlight>
              <a:latin typeface="Caveat"/>
              <a:ea typeface="Caveat"/>
              <a:cs typeface="Caveat"/>
              <a:sym typeface="Caveat"/>
            </a:endParaRPr>
          </a:p>
        </p:txBody>
      </p:sp>
      <p:pic>
        <p:nvPicPr>
          <p:cNvPr id="165" name="Google Shape;165;p37"/>
          <p:cNvPicPr preferRelativeResize="0"/>
          <p:nvPr/>
        </p:nvPicPr>
        <p:blipFill>
          <a:blip r:embed="rId3">
            <a:alphaModFix/>
          </a:blip>
          <a:stretch>
            <a:fillRect/>
          </a:stretch>
        </p:blipFill>
        <p:spPr>
          <a:xfrm>
            <a:off x="2080025" y="2965687"/>
            <a:ext cx="649676" cy="649676"/>
          </a:xfrm>
          <a:prstGeom prst="rect">
            <a:avLst/>
          </a:prstGeom>
          <a:noFill/>
          <a:ln>
            <a:noFill/>
          </a:ln>
        </p:spPr>
      </p:pic>
      <p:pic>
        <p:nvPicPr>
          <p:cNvPr id="166" name="Google Shape;166;p37"/>
          <p:cNvPicPr preferRelativeResize="0"/>
          <p:nvPr/>
        </p:nvPicPr>
        <p:blipFill>
          <a:blip r:embed="rId4">
            <a:alphaModFix/>
          </a:blip>
          <a:stretch>
            <a:fillRect/>
          </a:stretch>
        </p:blipFill>
        <p:spPr>
          <a:xfrm>
            <a:off x="2080025" y="4248688"/>
            <a:ext cx="649676" cy="649676"/>
          </a:xfrm>
          <a:prstGeom prst="rect">
            <a:avLst/>
          </a:prstGeom>
          <a:noFill/>
          <a:ln>
            <a:noFill/>
          </a:ln>
        </p:spPr>
      </p:pic>
      <p:pic>
        <p:nvPicPr>
          <p:cNvPr id="167" name="Google Shape;167;p37"/>
          <p:cNvPicPr preferRelativeResize="0"/>
          <p:nvPr/>
        </p:nvPicPr>
        <p:blipFill>
          <a:blip r:embed="rId5">
            <a:alphaModFix/>
          </a:blip>
          <a:stretch>
            <a:fillRect/>
          </a:stretch>
        </p:blipFill>
        <p:spPr>
          <a:xfrm>
            <a:off x="2080025" y="1939950"/>
            <a:ext cx="649676" cy="649676"/>
          </a:xfrm>
          <a:prstGeom prst="rect">
            <a:avLst/>
          </a:prstGeom>
          <a:noFill/>
          <a:ln>
            <a:noFill/>
          </a:ln>
        </p:spPr>
      </p:pic>
      <p:sp>
        <p:nvSpPr>
          <p:cNvPr id="168" name="Google Shape;168;p37"/>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8"/>
          <p:cNvSpPr txBox="1"/>
          <p:nvPr/>
        </p:nvSpPr>
        <p:spPr>
          <a:xfrm>
            <a:off x="-398350" y="3131400"/>
            <a:ext cx="2616000" cy="40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Luckiest Guy"/>
              <a:ea typeface="Luckiest Guy"/>
              <a:cs typeface="Luckiest Guy"/>
              <a:sym typeface="Luckiest Guy"/>
            </a:endParaRPr>
          </a:p>
        </p:txBody>
      </p:sp>
      <p:grpSp>
        <p:nvGrpSpPr>
          <p:cNvPr id="174" name="Google Shape;174;p38"/>
          <p:cNvGrpSpPr/>
          <p:nvPr/>
        </p:nvGrpSpPr>
        <p:grpSpPr>
          <a:xfrm>
            <a:off x="4211959" y="789552"/>
            <a:ext cx="4768231" cy="3983504"/>
            <a:chOff x="4211959" y="789552"/>
            <a:chExt cx="4768231" cy="3983504"/>
          </a:xfrm>
        </p:grpSpPr>
        <p:pic>
          <p:nvPicPr>
            <p:cNvPr id="175" name="Google Shape;175;p38" descr="Picture 2"/>
            <p:cNvPicPr preferRelativeResize="0"/>
            <p:nvPr/>
          </p:nvPicPr>
          <p:blipFill rotWithShape="1">
            <a:blip r:embed="rId3">
              <a:alphaModFix/>
            </a:blip>
            <a:srcRect/>
            <a:stretch/>
          </p:blipFill>
          <p:spPr>
            <a:xfrm>
              <a:off x="4211959" y="789552"/>
              <a:ext cx="4768231" cy="3983504"/>
            </a:xfrm>
            <a:prstGeom prst="rect">
              <a:avLst/>
            </a:prstGeom>
            <a:noFill/>
            <a:ln w="9525" cap="flat" cmpd="sng">
              <a:solidFill>
                <a:srgbClr val="FFFFFF"/>
              </a:solidFill>
              <a:prstDash val="solid"/>
              <a:round/>
              <a:headEnd type="none" w="sm" len="sm"/>
              <a:tailEnd type="none" w="sm" len="sm"/>
            </a:ln>
          </p:spPr>
        </p:pic>
        <p:pic>
          <p:nvPicPr>
            <p:cNvPr id="176" name="Google Shape;176;p38" descr="Picture 2"/>
            <p:cNvPicPr preferRelativeResize="0"/>
            <p:nvPr/>
          </p:nvPicPr>
          <p:blipFill rotWithShape="1">
            <a:blip r:embed="rId4">
              <a:alphaModFix/>
            </a:blip>
            <a:srcRect/>
            <a:stretch/>
          </p:blipFill>
          <p:spPr>
            <a:xfrm>
              <a:off x="6051865" y="1937697"/>
              <a:ext cx="408158" cy="244895"/>
            </a:xfrm>
            <a:prstGeom prst="rect">
              <a:avLst/>
            </a:prstGeom>
            <a:noFill/>
            <a:ln w="9525" cap="flat" cmpd="sng">
              <a:solidFill>
                <a:srgbClr val="FFFFFF"/>
              </a:solidFill>
              <a:prstDash val="solid"/>
              <a:round/>
              <a:headEnd type="none" w="sm" len="sm"/>
              <a:tailEnd type="none" w="sm" len="sm"/>
            </a:ln>
          </p:spPr>
        </p:pic>
        <p:pic>
          <p:nvPicPr>
            <p:cNvPr id="177" name="Google Shape;177;p38" descr="Picture 5"/>
            <p:cNvPicPr preferRelativeResize="0"/>
            <p:nvPr/>
          </p:nvPicPr>
          <p:blipFill rotWithShape="1">
            <a:blip r:embed="rId5">
              <a:alphaModFix/>
            </a:blip>
            <a:srcRect/>
            <a:stretch/>
          </p:blipFill>
          <p:spPr>
            <a:xfrm>
              <a:off x="5013273" y="2477699"/>
              <a:ext cx="310441" cy="186169"/>
            </a:xfrm>
            <a:prstGeom prst="rect">
              <a:avLst/>
            </a:prstGeom>
            <a:noFill/>
            <a:ln w="9525" cap="flat" cmpd="sng">
              <a:solidFill>
                <a:srgbClr val="FFFFFF"/>
              </a:solidFill>
              <a:prstDash val="solid"/>
              <a:round/>
              <a:headEnd type="none" w="sm" len="sm"/>
              <a:tailEnd type="none" w="sm" len="sm"/>
            </a:ln>
          </p:spPr>
        </p:pic>
        <p:pic>
          <p:nvPicPr>
            <p:cNvPr id="178" name="Google Shape;178;p38" descr="Picture 6">
              <a:hlinkClick r:id="rId6"/>
            </p:cNvPr>
            <p:cNvPicPr preferRelativeResize="0"/>
            <p:nvPr/>
          </p:nvPicPr>
          <p:blipFill rotWithShape="1">
            <a:blip r:embed="rId7">
              <a:alphaModFix/>
            </a:blip>
            <a:srcRect/>
            <a:stretch/>
          </p:blipFill>
          <p:spPr>
            <a:xfrm>
              <a:off x="6804097" y="2301719"/>
              <a:ext cx="467318" cy="311546"/>
            </a:xfrm>
            <a:prstGeom prst="rect">
              <a:avLst/>
            </a:prstGeom>
            <a:noFill/>
            <a:ln w="9525" cap="flat" cmpd="sng">
              <a:solidFill>
                <a:srgbClr val="FFFFFF"/>
              </a:solidFill>
              <a:prstDash val="solid"/>
              <a:round/>
              <a:headEnd type="none" w="sm" len="sm"/>
              <a:tailEnd type="none" w="sm" len="sm"/>
            </a:ln>
          </p:spPr>
        </p:pic>
        <p:pic>
          <p:nvPicPr>
            <p:cNvPr id="179" name="Google Shape;179;p38" descr="Picture 4"/>
            <p:cNvPicPr preferRelativeResize="0"/>
            <p:nvPr/>
          </p:nvPicPr>
          <p:blipFill rotWithShape="1">
            <a:blip r:embed="rId8">
              <a:alphaModFix/>
            </a:blip>
            <a:srcRect/>
            <a:stretch/>
          </p:blipFill>
          <p:spPr>
            <a:xfrm>
              <a:off x="7668344" y="1151252"/>
              <a:ext cx="672584" cy="448390"/>
            </a:xfrm>
            <a:prstGeom prst="rect">
              <a:avLst/>
            </a:prstGeom>
            <a:noFill/>
            <a:ln w="9525" cap="flat" cmpd="sng">
              <a:solidFill>
                <a:srgbClr val="FFFFFF"/>
              </a:solidFill>
              <a:prstDash val="solid"/>
              <a:round/>
              <a:headEnd type="none" w="sm" len="sm"/>
              <a:tailEnd type="none" w="sm" len="sm"/>
            </a:ln>
          </p:spPr>
        </p:pic>
        <p:pic>
          <p:nvPicPr>
            <p:cNvPr id="180" name="Google Shape;180;p38" descr="Picture 4"/>
            <p:cNvPicPr preferRelativeResize="0"/>
            <p:nvPr/>
          </p:nvPicPr>
          <p:blipFill rotWithShape="1">
            <a:blip r:embed="rId9">
              <a:alphaModFix/>
            </a:blip>
            <a:srcRect/>
            <a:stretch/>
          </p:blipFill>
          <p:spPr>
            <a:xfrm>
              <a:off x="4729853" y="1591995"/>
              <a:ext cx="425129" cy="237002"/>
            </a:xfrm>
            <a:prstGeom prst="rect">
              <a:avLst/>
            </a:prstGeom>
            <a:noFill/>
            <a:ln w="9525" cap="flat" cmpd="sng">
              <a:solidFill>
                <a:srgbClr val="FFFFFF"/>
              </a:solidFill>
              <a:prstDash val="solid"/>
              <a:round/>
              <a:headEnd type="none" w="sm" len="sm"/>
              <a:tailEnd type="none" w="sm" len="sm"/>
            </a:ln>
          </p:spPr>
        </p:pic>
        <p:pic>
          <p:nvPicPr>
            <p:cNvPr id="181" name="Google Shape;181;p38" descr="Picture 6"/>
            <p:cNvPicPr preferRelativeResize="0"/>
            <p:nvPr/>
          </p:nvPicPr>
          <p:blipFill rotWithShape="1">
            <a:blip r:embed="rId10">
              <a:alphaModFix/>
            </a:blip>
            <a:srcRect/>
            <a:stretch/>
          </p:blipFill>
          <p:spPr>
            <a:xfrm>
              <a:off x="5908676" y="3003798"/>
              <a:ext cx="231280" cy="173237"/>
            </a:xfrm>
            <a:prstGeom prst="rect">
              <a:avLst/>
            </a:prstGeom>
            <a:noFill/>
            <a:ln w="9525" cap="flat" cmpd="sng">
              <a:solidFill>
                <a:srgbClr val="FFFFFF"/>
              </a:solidFill>
              <a:prstDash val="solid"/>
              <a:round/>
              <a:headEnd type="none" w="sm" len="sm"/>
              <a:tailEnd type="none" w="sm" len="sm"/>
            </a:ln>
          </p:spPr>
        </p:pic>
      </p:grpSp>
      <p:sp>
        <p:nvSpPr>
          <p:cNvPr id="182" name="Google Shape;182;p38"/>
          <p:cNvSpPr txBox="1"/>
          <p:nvPr/>
        </p:nvSpPr>
        <p:spPr>
          <a:xfrm>
            <a:off x="115225" y="1151250"/>
            <a:ext cx="3907200" cy="3370123"/>
          </a:xfrm>
          <a:prstGeom prst="rect">
            <a:avLst/>
          </a:prstGeom>
          <a:noFill/>
          <a:ln>
            <a:noFill/>
          </a:ln>
        </p:spPr>
        <p:txBody>
          <a:bodyPr spcFirstLastPara="1" wrap="square" lIns="91425" tIns="91425" rIns="91425" bIns="91425" anchor="t" anchorCtr="0">
            <a:spAutoFit/>
          </a:bodyPr>
          <a:lstStyle/>
          <a:p>
            <a:pPr marL="56388" marR="0" lvl="0" algn="l" rtl="0">
              <a:lnSpc>
                <a:spcPct val="115000"/>
              </a:lnSpc>
              <a:spcBef>
                <a:spcPts val="0"/>
              </a:spcBef>
              <a:spcAft>
                <a:spcPts val="0"/>
              </a:spcAft>
              <a:buClr>
                <a:schemeClr val="dk1"/>
              </a:buClr>
              <a:buSzPts val="1800"/>
            </a:pPr>
            <a:r>
              <a:rPr lang="en" sz="1800" i="0" u="none" strike="noStrike" cap="none" dirty="0">
                <a:solidFill>
                  <a:schemeClr val="dk1"/>
                </a:solidFill>
                <a:latin typeface="Baumans"/>
                <a:ea typeface="Baumans"/>
                <a:cs typeface="Baumans"/>
                <a:sym typeface="Baumans"/>
              </a:rPr>
              <a:t>In 1900, Europe contained the most powerful countries in the world and was dominated by six ‘</a:t>
            </a:r>
            <a:r>
              <a:rPr lang="en" sz="1800" b="1" i="0" u="none" strike="noStrike" cap="none" dirty="0">
                <a:solidFill>
                  <a:schemeClr val="dk1"/>
                </a:solidFill>
                <a:latin typeface="Baumans"/>
                <a:ea typeface="Baumans"/>
                <a:cs typeface="Baumans"/>
                <a:sym typeface="Baumans"/>
              </a:rPr>
              <a:t>Great Powers</a:t>
            </a:r>
            <a:r>
              <a:rPr lang="en" sz="1800" i="0" u="none" strike="noStrike" cap="none" dirty="0">
                <a:solidFill>
                  <a:schemeClr val="dk1"/>
                </a:solidFill>
                <a:latin typeface="Baumans"/>
                <a:ea typeface="Baumans"/>
                <a:cs typeface="Baumans"/>
                <a:sym typeface="Baumans"/>
              </a:rPr>
              <a:t>’: Britain, Germany, France, Austr</a:t>
            </a:r>
            <a:r>
              <a:rPr lang="en" sz="1800" dirty="0">
                <a:solidFill>
                  <a:schemeClr val="dk1"/>
                </a:solidFill>
                <a:latin typeface="Baumans"/>
                <a:ea typeface="Baumans"/>
                <a:cs typeface="Baumans"/>
                <a:sym typeface="Baumans"/>
              </a:rPr>
              <a:t>o</a:t>
            </a:r>
            <a:r>
              <a:rPr lang="en" sz="1800" i="0" u="none" strike="noStrike" cap="none" dirty="0">
                <a:solidFill>
                  <a:schemeClr val="dk1"/>
                </a:solidFill>
                <a:latin typeface="Baumans"/>
                <a:ea typeface="Baumans"/>
                <a:cs typeface="Baumans"/>
                <a:sym typeface="Baumans"/>
              </a:rPr>
              <a:t>-Hungary, Russia and Italy.</a:t>
            </a:r>
            <a:endParaRPr sz="1800" i="0" u="none" strike="noStrike" cap="none" dirty="0">
              <a:solidFill>
                <a:schemeClr val="dk1"/>
              </a:solidFill>
              <a:latin typeface="Baumans"/>
              <a:ea typeface="Baumans"/>
              <a:cs typeface="Baumans"/>
              <a:sym typeface="Baumans"/>
            </a:endParaRPr>
          </a:p>
          <a:p>
            <a:pPr marL="0" marR="0" lvl="0" indent="0" algn="l" rtl="0">
              <a:lnSpc>
                <a:spcPct val="115000"/>
              </a:lnSpc>
              <a:spcBef>
                <a:spcPts val="0"/>
              </a:spcBef>
              <a:spcAft>
                <a:spcPts val="0"/>
              </a:spcAft>
              <a:buNone/>
            </a:pPr>
            <a:endParaRPr sz="1800" dirty="0">
              <a:solidFill>
                <a:schemeClr val="dk1"/>
              </a:solidFill>
              <a:latin typeface="Baumans"/>
              <a:ea typeface="Baumans"/>
              <a:cs typeface="Baumans"/>
              <a:sym typeface="Baumans"/>
            </a:endParaRPr>
          </a:p>
          <a:p>
            <a:pPr marL="56388" marR="0" lvl="0" algn="l" rtl="0">
              <a:lnSpc>
                <a:spcPct val="115000"/>
              </a:lnSpc>
              <a:spcBef>
                <a:spcPts val="0"/>
              </a:spcBef>
              <a:spcAft>
                <a:spcPts val="0"/>
              </a:spcAft>
              <a:buClr>
                <a:schemeClr val="dk1"/>
              </a:buClr>
              <a:buSzPts val="1800"/>
            </a:pPr>
            <a:r>
              <a:rPr lang="en" sz="1800" i="0" u="none" strike="noStrike" cap="none" dirty="0">
                <a:solidFill>
                  <a:schemeClr val="dk1"/>
                </a:solidFill>
                <a:latin typeface="Baumans"/>
                <a:ea typeface="Baumans"/>
                <a:cs typeface="Baumans"/>
                <a:sym typeface="Baumans"/>
              </a:rPr>
              <a:t>Each wanted to </a:t>
            </a:r>
            <a:r>
              <a:rPr lang="en" sz="1800" b="1" i="0" u="none" strike="noStrike" cap="none" dirty="0">
                <a:solidFill>
                  <a:schemeClr val="dk1"/>
                </a:solidFill>
                <a:latin typeface="Baumans"/>
                <a:ea typeface="Baumans"/>
                <a:cs typeface="Baumans"/>
                <a:sym typeface="Baumans"/>
              </a:rPr>
              <a:t>control</a:t>
            </a:r>
            <a:r>
              <a:rPr lang="en" sz="1800" i="0" u="none" strike="noStrike" cap="none" dirty="0">
                <a:solidFill>
                  <a:schemeClr val="dk1"/>
                </a:solidFill>
                <a:latin typeface="Baumans"/>
                <a:ea typeface="Baumans"/>
                <a:cs typeface="Baumans"/>
                <a:sym typeface="Baumans"/>
              </a:rPr>
              <a:t> as much of the world’s </a:t>
            </a:r>
            <a:r>
              <a:rPr lang="en" sz="1800" b="1" i="0" u="none" strike="noStrike" cap="none" dirty="0">
                <a:solidFill>
                  <a:schemeClr val="dk1"/>
                </a:solidFill>
                <a:latin typeface="Baumans"/>
                <a:ea typeface="Baumans"/>
                <a:cs typeface="Baumans"/>
                <a:sym typeface="Baumans"/>
              </a:rPr>
              <a:t>trade </a:t>
            </a:r>
            <a:r>
              <a:rPr lang="en" sz="1800" i="0" u="none" strike="noStrike" cap="none" dirty="0">
                <a:solidFill>
                  <a:schemeClr val="dk1"/>
                </a:solidFill>
                <a:latin typeface="Baumans"/>
                <a:ea typeface="Baumans"/>
                <a:cs typeface="Baumans"/>
                <a:sym typeface="Baumans"/>
              </a:rPr>
              <a:t>and </a:t>
            </a:r>
            <a:r>
              <a:rPr lang="en" sz="1800" b="1" i="0" u="none" strike="noStrike" cap="none" dirty="0">
                <a:solidFill>
                  <a:schemeClr val="dk1"/>
                </a:solidFill>
                <a:latin typeface="Baumans"/>
                <a:ea typeface="Baumans"/>
                <a:cs typeface="Baumans"/>
                <a:sym typeface="Baumans"/>
              </a:rPr>
              <a:t>become</a:t>
            </a:r>
            <a:r>
              <a:rPr lang="en" sz="1800" i="0" u="none" strike="noStrike" cap="none" dirty="0">
                <a:solidFill>
                  <a:schemeClr val="dk1"/>
                </a:solidFill>
                <a:latin typeface="Baumans"/>
                <a:ea typeface="Baumans"/>
                <a:cs typeface="Baumans"/>
                <a:sym typeface="Baumans"/>
              </a:rPr>
              <a:t> as </a:t>
            </a:r>
            <a:r>
              <a:rPr lang="en" sz="1800" b="1" i="0" u="none" strike="noStrike" cap="none" dirty="0">
                <a:solidFill>
                  <a:schemeClr val="dk1"/>
                </a:solidFill>
                <a:latin typeface="Baumans"/>
                <a:ea typeface="Baumans"/>
                <a:cs typeface="Baumans"/>
                <a:sym typeface="Baumans"/>
              </a:rPr>
              <a:t>wealthy</a:t>
            </a:r>
            <a:r>
              <a:rPr lang="en" sz="1800" i="0" u="none" strike="noStrike" cap="none" dirty="0">
                <a:solidFill>
                  <a:schemeClr val="dk1"/>
                </a:solidFill>
                <a:latin typeface="Baumans"/>
                <a:ea typeface="Baumans"/>
                <a:cs typeface="Baumans"/>
                <a:sym typeface="Baumans"/>
              </a:rPr>
              <a:t> as possible. This meant they were rivals.</a:t>
            </a:r>
            <a:endParaRPr sz="1800" i="0" u="none" strike="noStrike" cap="none" dirty="0">
              <a:solidFill>
                <a:schemeClr val="dk1"/>
              </a:solidFill>
              <a:latin typeface="Baumans"/>
              <a:ea typeface="Baumans"/>
              <a:cs typeface="Baumans"/>
              <a:sym typeface="Baumans"/>
            </a:endParaRPr>
          </a:p>
        </p:txBody>
      </p:sp>
      <p:sp>
        <p:nvSpPr>
          <p:cNvPr id="183" name="Google Shape;183;p38"/>
          <p:cNvSpPr txBox="1"/>
          <p:nvPr/>
        </p:nvSpPr>
        <p:spPr>
          <a:xfrm>
            <a:off x="115225" y="582488"/>
            <a:ext cx="27018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The Great Powers:</a:t>
            </a:r>
            <a:endParaRPr sz="2400" b="1" u="sng">
              <a:solidFill>
                <a:srgbClr val="000000"/>
              </a:solidFill>
              <a:latin typeface="Patrick Hand SC"/>
              <a:ea typeface="Patrick Hand SC"/>
              <a:cs typeface="Patrick Hand SC"/>
              <a:sym typeface="Patrick Hand SC"/>
            </a:endParaRPr>
          </a:p>
        </p:txBody>
      </p:sp>
      <p:sp>
        <p:nvSpPr>
          <p:cNvPr id="184" name="Google Shape;184;p38"/>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05F95-654C-8B32-9586-766CB3B47744}"/>
              </a:ext>
            </a:extLst>
          </p:cNvPr>
          <p:cNvSpPr>
            <a:spLocks noGrp="1"/>
          </p:cNvSpPr>
          <p:nvPr>
            <p:ph type="title"/>
          </p:nvPr>
        </p:nvSpPr>
        <p:spPr>
          <a:xfrm>
            <a:off x="311700" y="122900"/>
            <a:ext cx="8520600" cy="572700"/>
          </a:xfrm>
        </p:spPr>
        <p:txBody>
          <a:bodyPr>
            <a:normAutofit fontScale="90000"/>
          </a:bodyPr>
          <a:lstStyle/>
          <a:p>
            <a:pPr algn="ctr"/>
            <a:r>
              <a:rPr lang="en-US" dirty="0"/>
              <a:t>Two sides (alliances) in 1914</a:t>
            </a:r>
          </a:p>
        </p:txBody>
      </p:sp>
      <p:sp>
        <p:nvSpPr>
          <p:cNvPr id="3" name="Text Placeholder 2">
            <a:extLst>
              <a:ext uri="{FF2B5EF4-FFF2-40B4-BE49-F238E27FC236}">
                <a16:creationId xmlns:a16="http://schemas.microsoft.com/office/drawing/2014/main" id="{0E45A68C-548E-60B1-1606-899ABB3305B6}"/>
              </a:ext>
            </a:extLst>
          </p:cNvPr>
          <p:cNvSpPr>
            <a:spLocks noGrp="1"/>
          </p:cNvSpPr>
          <p:nvPr>
            <p:ph type="body" idx="1"/>
          </p:nvPr>
        </p:nvSpPr>
        <p:spPr/>
        <p:txBody>
          <a:bodyPr>
            <a:normAutofit lnSpcReduction="10000"/>
          </a:bodyPr>
          <a:lstStyle/>
          <a:p>
            <a:pPr marL="0" lvl="0" indent="0" algn="ctr">
              <a:lnSpc>
                <a:spcPct val="100000"/>
              </a:lnSpc>
              <a:buClr>
                <a:srgbClr val="000000"/>
              </a:buClr>
              <a:buSzPts val="1700"/>
              <a:buNone/>
            </a:pPr>
            <a:r>
              <a:rPr lang="en-GB" sz="4400" b="1" u="sng" dirty="0">
                <a:solidFill>
                  <a:srgbClr val="EC1DCA"/>
                </a:solidFill>
                <a:latin typeface="Baumans"/>
                <a:ea typeface="Baumans"/>
                <a:cs typeface="Baumans"/>
                <a:sym typeface="Baumans"/>
              </a:rPr>
              <a:t>Triple Alliance</a:t>
            </a:r>
          </a:p>
          <a:p>
            <a:pPr marL="0" lvl="0" indent="0" algn="ctr">
              <a:lnSpc>
                <a:spcPct val="100000"/>
              </a:lnSpc>
              <a:buClr>
                <a:srgbClr val="000000"/>
              </a:buClr>
              <a:buSzPts val="1700"/>
              <a:buNone/>
            </a:pPr>
            <a:r>
              <a:rPr lang="en" sz="4400" b="1" dirty="0">
                <a:solidFill>
                  <a:srgbClr val="EC1DCA"/>
                </a:solidFill>
                <a:latin typeface="Poppins"/>
                <a:ea typeface="Poppins"/>
                <a:cs typeface="Poppins"/>
                <a:sym typeface="Poppins"/>
              </a:rPr>
              <a:t>Germany </a:t>
            </a:r>
          </a:p>
          <a:p>
            <a:pPr marL="0" lvl="0" indent="0" algn="ctr">
              <a:lnSpc>
                <a:spcPct val="100000"/>
              </a:lnSpc>
              <a:buClr>
                <a:srgbClr val="000000"/>
              </a:buClr>
              <a:buSzPts val="1700"/>
              <a:buNone/>
            </a:pPr>
            <a:r>
              <a:rPr lang="en" sz="4400" b="1" dirty="0">
                <a:solidFill>
                  <a:srgbClr val="EC1DCA"/>
                </a:solidFill>
                <a:latin typeface="Poppins"/>
                <a:ea typeface="Poppins"/>
                <a:cs typeface="Poppins"/>
                <a:sym typeface="Poppins"/>
              </a:rPr>
              <a:t>Austria-Hungary Italy</a:t>
            </a:r>
            <a:endParaRPr lang="en-GB" sz="4400" dirty="0">
              <a:solidFill>
                <a:schemeClr val="dk1"/>
              </a:solidFill>
              <a:latin typeface="Baumans"/>
              <a:ea typeface="Baumans"/>
              <a:cs typeface="Baumans"/>
              <a:sym typeface="Baumans"/>
            </a:endParaRPr>
          </a:p>
        </p:txBody>
      </p:sp>
      <p:sp>
        <p:nvSpPr>
          <p:cNvPr id="4" name="Text Placeholder 3">
            <a:extLst>
              <a:ext uri="{FF2B5EF4-FFF2-40B4-BE49-F238E27FC236}">
                <a16:creationId xmlns:a16="http://schemas.microsoft.com/office/drawing/2014/main" id="{09C8A76C-C842-08D4-7A53-397103FEB9DC}"/>
              </a:ext>
            </a:extLst>
          </p:cNvPr>
          <p:cNvSpPr>
            <a:spLocks noGrp="1"/>
          </p:cNvSpPr>
          <p:nvPr>
            <p:ph type="body" idx="2"/>
          </p:nvPr>
        </p:nvSpPr>
        <p:spPr/>
        <p:txBody>
          <a:bodyPr/>
          <a:lstStyle/>
          <a:p>
            <a:pPr marL="139700" indent="0">
              <a:buNone/>
            </a:pPr>
            <a:r>
              <a:rPr lang="en-GB" sz="4400" b="1" u="sng" dirty="0">
                <a:solidFill>
                  <a:srgbClr val="ED7D1D"/>
                </a:solidFill>
                <a:latin typeface="Baumans"/>
                <a:ea typeface="Baumans"/>
                <a:cs typeface="Baumans"/>
                <a:sym typeface="Baumans"/>
              </a:rPr>
              <a:t>Triple Entente</a:t>
            </a:r>
            <a:endParaRPr lang="en-GB" sz="4400" u="sng" dirty="0">
              <a:solidFill>
                <a:schemeClr val="dk1"/>
              </a:solidFill>
              <a:latin typeface="Baumans"/>
              <a:ea typeface="Baumans"/>
              <a:cs typeface="Baumans"/>
              <a:sym typeface="Baumans"/>
            </a:endParaRPr>
          </a:p>
          <a:p>
            <a:pPr marL="139700" indent="0" algn="ctr">
              <a:buNone/>
            </a:pPr>
            <a:r>
              <a:rPr lang="en" sz="4400" b="1" dirty="0">
                <a:solidFill>
                  <a:srgbClr val="ED7D1D"/>
                </a:solidFill>
                <a:latin typeface="Poppins"/>
                <a:ea typeface="Poppins"/>
                <a:cs typeface="Poppins"/>
                <a:sym typeface="Poppins"/>
              </a:rPr>
              <a:t>Britain</a:t>
            </a:r>
          </a:p>
          <a:p>
            <a:pPr marL="139700" indent="0" algn="ctr">
              <a:buNone/>
            </a:pPr>
            <a:r>
              <a:rPr lang="en" sz="4400" b="1" dirty="0">
                <a:solidFill>
                  <a:srgbClr val="ED7D1D"/>
                </a:solidFill>
                <a:latin typeface="Poppins"/>
                <a:ea typeface="Poppins"/>
                <a:cs typeface="Poppins"/>
                <a:sym typeface="Poppins"/>
              </a:rPr>
              <a:t>France</a:t>
            </a:r>
          </a:p>
          <a:p>
            <a:pPr marL="139700" indent="0" algn="ctr">
              <a:buNone/>
            </a:pPr>
            <a:r>
              <a:rPr lang="en" sz="4400" b="1" dirty="0">
                <a:solidFill>
                  <a:srgbClr val="ED7D1D"/>
                </a:solidFill>
                <a:latin typeface="Poppins"/>
                <a:ea typeface="Poppins"/>
                <a:cs typeface="Poppins"/>
                <a:sym typeface="Poppins"/>
              </a:rPr>
              <a:t>Russia</a:t>
            </a:r>
            <a:endParaRPr lang="en-US" sz="4400" dirty="0"/>
          </a:p>
        </p:txBody>
      </p:sp>
      <p:sp>
        <p:nvSpPr>
          <p:cNvPr id="5" name="TextBox 4">
            <a:extLst>
              <a:ext uri="{FF2B5EF4-FFF2-40B4-BE49-F238E27FC236}">
                <a16:creationId xmlns:a16="http://schemas.microsoft.com/office/drawing/2014/main" id="{B392AC4F-C4C1-8D42-BF8C-E7E4F3F3032E}"/>
              </a:ext>
            </a:extLst>
          </p:cNvPr>
          <p:cNvSpPr txBox="1"/>
          <p:nvPr/>
        </p:nvSpPr>
        <p:spPr>
          <a:xfrm>
            <a:off x="4311600" y="2638926"/>
            <a:ext cx="902084" cy="646331"/>
          </a:xfrm>
          <a:prstGeom prst="rect">
            <a:avLst/>
          </a:prstGeom>
          <a:noFill/>
        </p:spPr>
        <p:txBody>
          <a:bodyPr wrap="square" rtlCol="0">
            <a:spAutoFit/>
          </a:bodyPr>
          <a:lstStyle/>
          <a:p>
            <a:pPr algn="ctr"/>
            <a:r>
              <a:rPr lang="en-US" sz="3600" b="1" dirty="0"/>
              <a:t>VS</a:t>
            </a:r>
          </a:p>
        </p:txBody>
      </p:sp>
      <p:sp>
        <p:nvSpPr>
          <p:cNvPr id="7" name="TextBox 6">
            <a:extLst>
              <a:ext uri="{FF2B5EF4-FFF2-40B4-BE49-F238E27FC236}">
                <a16:creationId xmlns:a16="http://schemas.microsoft.com/office/drawing/2014/main" id="{998E759D-7E19-B0BE-BE94-BA08AF084726}"/>
              </a:ext>
            </a:extLst>
          </p:cNvPr>
          <p:cNvSpPr txBox="1"/>
          <p:nvPr/>
        </p:nvSpPr>
        <p:spPr>
          <a:xfrm>
            <a:off x="1483610" y="4374269"/>
            <a:ext cx="6697579" cy="646331"/>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700"/>
              <a:buFont typeface="Arial"/>
              <a:buNone/>
            </a:pPr>
            <a:r>
              <a:rPr lang="en-GB" sz="1800" i="0" u="none" strike="noStrike" cap="none" dirty="0">
                <a:solidFill>
                  <a:schemeClr val="dk1"/>
                </a:solidFill>
                <a:latin typeface="Baumans"/>
                <a:ea typeface="Baumans"/>
                <a:cs typeface="Baumans"/>
                <a:sym typeface="Baumans"/>
              </a:rPr>
              <a:t>All of these countries wanted different things and had different ideas about what might happen if a war broke out. </a:t>
            </a:r>
            <a:endParaRPr lang="en-GB" sz="1800" i="0" u="none" strike="noStrike" cap="none" dirty="0">
              <a:solidFill>
                <a:srgbClr val="000000"/>
              </a:solidFill>
              <a:latin typeface="Baumans"/>
              <a:ea typeface="Baumans"/>
              <a:cs typeface="Baumans"/>
              <a:sym typeface="Baumans"/>
            </a:endParaRPr>
          </a:p>
        </p:txBody>
      </p:sp>
    </p:spTree>
    <p:extLst>
      <p:ext uri="{BB962C8B-B14F-4D97-AF65-F5344CB8AC3E}">
        <p14:creationId xmlns:p14="http://schemas.microsoft.com/office/powerpoint/2010/main" val="2597683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 calcmode="lin" valueType="num">
                                      <p:cBhvr additive="base">
                                        <p:cTn id="2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 calcmode="lin" valueType="num">
                                      <p:cBhvr additive="base">
                                        <p:cTn id="3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 calcmode="lin" valueType="num">
                                      <p:cBhvr additive="base">
                                        <p:cTn id="3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3" end="3"/>
                                            </p:txEl>
                                          </p:spTgt>
                                        </p:tgtEl>
                                        <p:attrNameLst>
                                          <p:attrName>style.visibility</p:attrName>
                                        </p:attrNameLst>
                                      </p:cBhvr>
                                      <p:to>
                                        <p:strVal val="visible"/>
                                      </p:to>
                                    </p:set>
                                    <p:anim calcmode="lin" valueType="num">
                                      <p:cBhvr additive="base">
                                        <p:cTn id="4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90;p39" descr="Image result for europe map before ww1">
            <a:extLst>
              <a:ext uri="{FF2B5EF4-FFF2-40B4-BE49-F238E27FC236}">
                <a16:creationId xmlns:a16="http://schemas.microsoft.com/office/drawing/2014/main" id="{E23EA701-4EAD-2DD0-AF70-079CBF00A1E0}"/>
              </a:ext>
            </a:extLst>
          </p:cNvPr>
          <p:cNvPicPr preferRelativeResize="0"/>
          <p:nvPr/>
        </p:nvPicPr>
        <p:blipFill rotWithShape="1">
          <a:blip r:embed="rId2">
            <a:alphaModFix/>
          </a:blip>
          <a:srcRect r="49927"/>
          <a:stretch>
            <a:fillRect/>
          </a:stretch>
        </p:blipFill>
        <p:spPr>
          <a:xfrm>
            <a:off x="1155098" y="0"/>
            <a:ext cx="6833804" cy="5005142"/>
          </a:xfrm>
          <a:prstGeom prst="rect">
            <a:avLst/>
          </a:prstGeom>
          <a:noFill/>
          <a:ln>
            <a:noFill/>
          </a:ln>
        </p:spPr>
      </p:pic>
    </p:spTree>
    <p:extLst>
      <p:ext uri="{BB962C8B-B14F-4D97-AF65-F5344CB8AC3E}">
        <p14:creationId xmlns:p14="http://schemas.microsoft.com/office/powerpoint/2010/main" val="3871370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42" descr="The Main Causes of World War I - WorldAtlas"/>
          <p:cNvPicPr preferRelativeResize="0"/>
          <p:nvPr/>
        </p:nvPicPr>
        <p:blipFill rotWithShape="1">
          <a:blip r:embed="rId3">
            <a:alphaModFix/>
          </a:blip>
          <a:srcRect/>
          <a:stretch/>
        </p:blipFill>
        <p:spPr>
          <a:xfrm>
            <a:off x="4572000" y="1306625"/>
            <a:ext cx="4451700" cy="2786281"/>
          </a:xfrm>
          <a:prstGeom prst="rect">
            <a:avLst/>
          </a:prstGeom>
          <a:noFill/>
          <a:ln>
            <a:noFill/>
          </a:ln>
        </p:spPr>
      </p:pic>
      <p:sp>
        <p:nvSpPr>
          <p:cNvPr id="218" name="Google Shape;218;p42"/>
          <p:cNvSpPr/>
          <p:nvPr/>
        </p:nvSpPr>
        <p:spPr>
          <a:xfrm>
            <a:off x="104400" y="1139464"/>
            <a:ext cx="4451700" cy="328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600" b="1">
                <a:solidFill>
                  <a:schemeClr val="dk1"/>
                </a:solidFill>
                <a:latin typeface="Baumans"/>
                <a:ea typeface="Baumans"/>
                <a:cs typeface="Baumans"/>
                <a:sym typeface="Baumans"/>
              </a:rPr>
              <a:t>Formed in 1882.</a:t>
            </a:r>
            <a:endParaRPr sz="2100">
              <a:solidFill>
                <a:schemeClr val="dk1"/>
              </a:solidFill>
              <a:latin typeface="Baumans"/>
              <a:ea typeface="Baumans"/>
              <a:cs typeface="Baumans"/>
              <a:sym typeface="Baumans"/>
            </a:endParaRPr>
          </a:p>
        </p:txBody>
      </p:sp>
      <p:sp>
        <p:nvSpPr>
          <p:cNvPr id="219" name="Google Shape;219;p42"/>
          <p:cNvSpPr txBox="1"/>
          <p:nvPr/>
        </p:nvSpPr>
        <p:spPr>
          <a:xfrm>
            <a:off x="115225" y="582488"/>
            <a:ext cx="56193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The Alliance System:</a:t>
            </a:r>
            <a:r>
              <a:rPr lang="en" sz="2400" b="1">
                <a:latin typeface="Patrick Hand"/>
                <a:ea typeface="Patrick Hand"/>
                <a:cs typeface="Patrick Hand"/>
                <a:sym typeface="Patrick Hand"/>
              </a:rPr>
              <a:t> </a:t>
            </a:r>
            <a:r>
              <a:rPr lang="en" sz="2400" b="1">
                <a:solidFill>
                  <a:srgbClr val="EC1DCA"/>
                </a:solidFill>
                <a:latin typeface="Baumans"/>
                <a:ea typeface="Baumans"/>
                <a:cs typeface="Baumans"/>
                <a:sym typeface="Baumans"/>
              </a:rPr>
              <a:t>The Triple Alliance</a:t>
            </a:r>
            <a:endParaRPr sz="2400" b="1" u="sng">
              <a:solidFill>
                <a:srgbClr val="000000"/>
              </a:solidFill>
              <a:latin typeface="Patrick Hand SC"/>
              <a:ea typeface="Patrick Hand SC"/>
              <a:cs typeface="Patrick Hand SC"/>
              <a:sym typeface="Patrick Hand SC"/>
            </a:endParaRPr>
          </a:p>
        </p:txBody>
      </p:sp>
      <p:sp>
        <p:nvSpPr>
          <p:cNvPr id="221" name="Google Shape;221;p42"/>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
        <p:nvSpPr>
          <p:cNvPr id="222" name="Google Shape;222;p42"/>
          <p:cNvSpPr txBox="1"/>
          <p:nvPr/>
        </p:nvSpPr>
        <p:spPr>
          <a:xfrm>
            <a:off x="115225" y="1467675"/>
            <a:ext cx="4301100" cy="3582489"/>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Char char="●"/>
            </a:pPr>
            <a:r>
              <a:rPr lang="en" sz="1600" b="1" dirty="0">
                <a:solidFill>
                  <a:schemeClr val="dk1"/>
                </a:solidFill>
                <a:latin typeface="Baumans"/>
                <a:ea typeface="Baumans"/>
                <a:cs typeface="Baumans"/>
                <a:sym typeface="Baumans"/>
              </a:rPr>
              <a:t>Germany</a:t>
            </a:r>
            <a:r>
              <a:rPr lang="en" sz="1600" dirty="0">
                <a:solidFill>
                  <a:schemeClr val="dk1"/>
                </a:solidFill>
                <a:latin typeface="Baumans"/>
                <a:ea typeface="Baumans"/>
                <a:cs typeface="Baumans"/>
                <a:sym typeface="Baumans"/>
              </a:rPr>
              <a:t>, </a:t>
            </a:r>
            <a:r>
              <a:rPr lang="en" sz="1600" b="1" dirty="0">
                <a:solidFill>
                  <a:schemeClr val="dk1"/>
                </a:solidFill>
                <a:latin typeface="Baumans"/>
                <a:ea typeface="Baumans"/>
                <a:cs typeface="Baumans"/>
                <a:sym typeface="Baumans"/>
              </a:rPr>
              <a:t>Austria-Hungary</a:t>
            </a:r>
            <a:r>
              <a:rPr lang="en" sz="1600" dirty="0">
                <a:solidFill>
                  <a:schemeClr val="dk1"/>
                </a:solidFill>
                <a:latin typeface="Baumans"/>
                <a:ea typeface="Baumans"/>
                <a:cs typeface="Baumans"/>
                <a:sym typeface="Baumans"/>
              </a:rPr>
              <a:t> and </a:t>
            </a:r>
            <a:r>
              <a:rPr lang="en" sz="1600" b="1" dirty="0">
                <a:solidFill>
                  <a:schemeClr val="dk1"/>
                </a:solidFill>
                <a:latin typeface="Baumans"/>
                <a:ea typeface="Baumans"/>
                <a:cs typeface="Baumans"/>
                <a:sym typeface="Baumans"/>
              </a:rPr>
              <a:t>Italy</a:t>
            </a:r>
            <a:endParaRPr lang="en" sz="1600"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Char char="●"/>
            </a:pPr>
            <a:r>
              <a:rPr lang="en" sz="1600" dirty="0">
                <a:solidFill>
                  <a:schemeClr val="dk1"/>
                </a:solidFill>
                <a:latin typeface="Baumans"/>
                <a:ea typeface="Baumans"/>
                <a:cs typeface="Baumans"/>
                <a:sym typeface="Baumans"/>
              </a:rPr>
              <a:t>Italy joined because they needed support after losing to France over North African territories.</a:t>
            </a:r>
            <a:endParaRPr sz="1600"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Char char="●"/>
            </a:pPr>
            <a:r>
              <a:rPr lang="en" sz="1600" dirty="0">
                <a:solidFill>
                  <a:schemeClr val="dk1"/>
                </a:solidFill>
                <a:latin typeface="Baumans"/>
                <a:ea typeface="Baumans"/>
                <a:cs typeface="Baumans"/>
                <a:sym typeface="Baumans"/>
              </a:rPr>
              <a:t>The agreement was simple: If a war breaks out we fight together. </a:t>
            </a:r>
          </a:p>
          <a:p>
            <a:pPr marL="127000">
              <a:lnSpc>
                <a:spcPct val="115000"/>
              </a:lnSpc>
              <a:buClr>
                <a:schemeClr val="dk1"/>
              </a:buClr>
              <a:buSzPts val="1600"/>
            </a:pPr>
            <a:endParaRPr lang="en-GB" sz="1600" b="1" dirty="0">
              <a:solidFill>
                <a:srgbClr val="EC1DCA"/>
              </a:solidFill>
              <a:latin typeface="Baumans"/>
              <a:ea typeface="Baumans"/>
              <a:cs typeface="Baumans"/>
              <a:sym typeface="Baumans"/>
            </a:endParaRPr>
          </a:p>
          <a:p>
            <a:pPr marL="127000" algn="ctr">
              <a:lnSpc>
                <a:spcPct val="115000"/>
              </a:lnSpc>
              <a:buClr>
                <a:schemeClr val="dk1"/>
              </a:buClr>
              <a:buSzPts val="1600"/>
            </a:pPr>
            <a:r>
              <a:rPr lang="en-GB" sz="2800" b="1" dirty="0">
                <a:solidFill>
                  <a:srgbClr val="EC1DCA"/>
                </a:solidFill>
                <a:latin typeface="Baumans"/>
                <a:ea typeface="Baumans"/>
                <a:cs typeface="Baumans"/>
                <a:sym typeface="Baumans"/>
              </a:rPr>
              <a:t>‘Scratch my back and I’ll scratch yours’</a:t>
            </a:r>
            <a:endParaRPr lang="en-GB" sz="2000" b="1" dirty="0">
              <a:solidFill>
                <a:srgbClr val="EC1DCA"/>
              </a:solidFill>
              <a:ea typeface="Baumans"/>
            </a:endParaRPr>
          </a:p>
          <a:p>
            <a:pPr marL="127000" algn="ctr">
              <a:lnSpc>
                <a:spcPct val="115000"/>
              </a:lnSpc>
              <a:buClr>
                <a:schemeClr val="dk1"/>
              </a:buClr>
              <a:buSzPts val="1600"/>
            </a:pPr>
            <a:r>
              <a:rPr lang="en" sz="1050" dirty="0">
                <a:solidFill>
                  <a:schemeClr val="dk1"/>
                </a:solidFill>
                <a:latin typeface="Baumans"/>
                <a:ea typeface="Baumans"/>
                <a:cs typeface="Baumans"/>
                <a:sym typeface="Baumans"/>
              </a:rPr>
              <a:t>Mutual support to each member in the event of war or invasion, strengthening their security and cooperation.</a:t>
            </a:r>
            <a:endParaRPr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43" descr="The Main Causes of World War I - WorldAtlas"/>
          <p:cNvPicPr preferRelativeResize="0"/>
          <p:nvPr/>
        </p:nvPicPr>
        <p:blipFill rotWithShape="1">
          <a:blip r:embed="rId3">
            <a:alphaModFix/>
          </a:blip>
          <a:srcRect/>
          <a:stretch/>
        </p:blipFill>
        <p:spPr>
          <a:xfrm>
            <a:off x="104400" y="1306638"/>
            <a:ext cx="4451700" cy="2786281"/>
          </a:xfrm>
          <a:prstGeom prst="rect">
            <a:avLst/>
          </a:prstGeom>
          <a:noFill/>
          <a:ln>
            <a:noFill/>
          </a:ln>
        </p:spPr>
      </p:pic>
      <p:sp>
        <p:nvSpPr>
          <p:cNvPr id="228" name="Google Shape;228;p43"/>
          <p:cNvSpPr/>
          <p:nvPr/>
        </p:nvSpPr>
        <p:spPr>
          <a:xfrm>
            <a:off x="4618825" y="1106600"/>
            <a:ext cx="4399800" cy="331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600" b="1" dirty="0">
                <a:solidFill>
                  <a:schemeClr val="dk1"/>
                </a:solidFill>
                <a:latin typeface="Baumans"/>
                <a:ea typeface="Baumans"/>
                <a:cs typeface="Baumans"/>
                <a:sym typeface="Baumans"/>
              </a:rPr>
              <a:t>Formed in 1907.</a:t>
            </a:r>
            <a:endParaRPr sz="2300" dirty="0">
              <a:solidFill>
                <a:schemeClr val="dk1"/>
              </a:solidFill>
              <a:latin typeface="Baumans"/>
              <a:ea typeface="Baumans"/>
              <a:cs typeface="Baumans"/>
              <a:sym typeface="Baumans"/>
            </a:endParaRPr>
          </a:p>
        </p:txBody>
      </p:sp>
      <p:sp>
        <p:nvSpPr>
          <p:cNvPr id="229" name="Google Shape;229;p43"/>
          <p:cNvSpPr txBox="1"/>
          <p:nvPr/>
        </p:nvSpPr>
        <p:spPr>
          <a:xfrm>
            <a:off x="115225" y="582488"/>
            <a:ext cx="56193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The Alliance System:</a:t>
            </a:r>
            <a:r>
              <a:rPr lang="en" sz="2400" b="1">
                <a:latin typeface="Patrick Hand"/>
                <a:ea typeface="Patrick Hand"/>
                <a:cs typeface="Patrick Hand"/>
                <a:sym typeface="Patrick Hand"/>
              </a:rPr>
              <a:t> </a:t>
            </a:r>
            <a:r>
              <a:rPr lang="en" sz="2400" b="1">
                <a:solidFill>
                  <a:srgbClr val="ED7D1D"/>
                </a:solidFill>
                <a:latin typeface="Patrick Hand"/>
                <a:ea typeface="Patrick Hand"/>
                <a:cs typeface="Patrick Hand"/>
                <a:sym typeface="Patrick Hand"/>
              </a:rPr>
              <a:t>The Triple Entente</a:t>
            </a:r>
            <a:endParaRPr sz="2400" b="1" u="sng">
              <a:solidFill>
                <a:srgbClr val="000000"/>
              </a:solidFill>
              <a:latin typeface="Patrick Hand"/>
              <a:ea typeface="Patrick Hand"/>
              <a:cs typeface="Patrick Hand"/>
              <a:sym typeface="Patrick Hand"/>
            </a:endParaRPr>
          </a:p>
        </p:txBody>
      </p:sp>
      <p:sp>
        <p:nvSpPr>
          <p:cNvPr id="230" name="Google Shape;230;p43"/>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
        <p:nvSpPr>
          <p:cNvPr id="232" name="Google Shape;232;p43"/>
          <p:cNvSpPr txBox="1"/>
          <p:nvPr/>
        </p:nvSpPr>
        <p:spPr>
          <a:xfrm>
            <a:off x="4623875" y="1437800"/>
            <a:ext cx="4399800" cy="3299334"/>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Font typeface="Baumans"/>
              <a:buChar char="●"/>
            </a:pPr>
            <a:r>
              <a:rPr lang="en" sz="1600" b="1" dirty="0">
                <a:solidFill>
                  <a:schemeClr val="dk1"/>
                </a:solidFill>
                <a:latin typeface="Baumans"/>
                <a:ea typeface="Baumans"/>
                <a:cs typeface="Baumans"/>
                <a:sym typeface="Baumans"/>
              </a:rPr>
              <a:t>Russia, France, and Great Britain</a:t>
            </a:r>
            <a:r>
              <a:rPr lang="en" sz="1600" dirty="0">
                <a:solidFill>
                  <a:schemeClr val="dk1"/>
                </a:solidFill>
                <a:latin typeface="Baumans"/>
                <a:ea typeface="Baumans"/>
                <a:cs typeface="Baumans"/>
                <a:sym typeface="Baumans"/>
              </a:rPr>
              <a:t> had been enemies.</a:t>
            </a:r>
            <a:endParaRPr sz="1600"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Char char="●"/>
            </a:pPr>
            <a:r>
              <a:rPr lang="en" sz="1600" dirty="0">
                <a:solidFill>
                  <a:schemeClr val="dk1"/>
                </a:solidFill>
                <a:latin typeface="Baumans"/>
                <a:ea typeface="Baumans"/>
                <a:cs typeface="Baumans"/>
                <a:sym typeface="Baumans"/>
              </a:rPr>
              <a:t>However, </a:t>
            </a:r>
            <a:r>
              <a:rPr lang="en" sz="1600" b="1" dirty="0">
                <a:solidFill>
                  <a:schemeClr val="dk1"/>
                </a:solidFill>
                <a:latin typeface="Baumans"/>
                <a:ea typeface="Baumans"/>
                <a:cs typeface="Baumans"/>
                <a:sym typeface="Baumans"/>
              </a:rPr>
              <a:t>Germany’s</a:t>
            </a:r>
            <a:r>
              <a:rPr lang="en" sz="1600" dirty="0">
                <a:solidFill>
                  <a:schemeClr val="dk1"/>
                </a:solidFill>
                <a:latin typeface="Baumans"/>
                <a:ea typeface="Baumans"/>
                <a:cs typeface="Baumans"/>
                <a:sym typeface="Baumans"/>
              </a:rPr>
              <a:t> growing power and aggression threatened France and Britain, especially after Germany formed the </a:t>
            </a:r>
            <a:r>
              <a:rPr lang="en" sz="1600" b="1" dirty="0">
                <a:solidFill>
                  <a:schemeClr val="dk1"/>
                </a:solidFill>
                <a:latin typeface="Baumans"/>
                <a:ea typeface="Baumans"/>
                <a:cs typeface="Baumans"/>
                <a:sym typeface="Baumans"/>
              </a:rPr>
              <a:t>Triple Alliance</a:t>
            </a:r>
            <a:r>
              <a:rPr lang="en" sz="1600" dirty="0">
                <a:solidFill>
                  <a:schemeClr val="dk1"/>
                </a:solidFill>
                <a:latin typeface="Baumans"/>
                <a:ea typeface="Baumans"/>
                <a:cs typeface="Baumans"/>
                <a:sym typeface="Baumans"/>
              </a:rPr>
              <a:t>.</a:t>
            </a:r>
            <a:endParaRPr sz="1600"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Char char="●"/>
            </a:pPr>
            <a:r>
              <a:rPr lang="en" sz="1600" dirty="0">
                <a:solidFill>
                  <a:schemeClr val="dk1"/>
                </a:solidFill>
                <a:latin typeface="Baumans"/>
                <a:ea typeface="Baumans"/>
                <a:cs typeface="Baumans"/>
                <a:sym typeface="Baumans"/>
              </a:rPr>
              <a:t>France and Russia formed an alliance, while Britain and France signed the </a:t>
            </a:r>
            <a:r>
              <a:rPr lang="en" sz="1600" b="1" dirty="0">
                <a:solidFill>
                  <a:schemeClr val="dk1"/>
                </a:solidFill>
                <a:latin typeface="Baumans"/>
                <a:ea typeface="Baumans"/>
                <a:cs typeface="Baumans"/>
                <a:sym typeface="Baumans"/>
              </a:rPr>
              <a:t>Entente Cordiale</a:t>
            </a:r>
            <a:r>
              <a:rPr lang="en" sz="1600" dirty="0">
                <a:solidFill>
                  <a:schemeClr val="dk1"/>
                </a:solidFill>
                <a:latin typeface="Baumans"/>
                <a:ea typeface="Baumans"/>
                <a:cs typeface="Baumans"/>
                <a:sym typeface="Baumans"/>
              </a:rPr>
              <a:t>. </a:t>
            </a:r>
          </a:p>
          <a:p>
            <a:pPr marL="457200" lvl="0" indent="-330200" algn="l" rtl="0">
              <a:lnSpc>
                <a:spcPct val="115000"/>
              </a:lnSpc>
              <a:spcBef>
                <a:spcPts val="0"/>
              </a:spcBef>
              <a:spcAft>
                <a:spcPts val="0"/>
              </a:spcAft>
              <a:buClr>
                <a:schemeClr val="dk1"/>
              </a:buClr>
              <a:buSzPts val="1600"/>
              <a:buFont typeface="Baumans"/>
              <a:buChar char="●"/>
            </a:pPr>
            <a:r>
              <a:rPr lang="en" sz="1600" dirty="0">
                <a:solidFill>
                  <a:schemeClr val="dk1"/>
                </a:solidFill>
                <a:latin typeface="Baumans"/>
                <a:ea typeface="Baumans"/>
                <a:cs typeface="Baumans"/>
                <a:sym typeface="Baumans"/>
              </a:rPr>
              <a:t>Russia joined in 1907, creating the </a:t>
            </a:r>
            <a:r>
              <a:rPr lang="en" sz="1600" b="1" dirty="0">
                <a:solidFill>
                  <a:schemeClr val="dk1"/>
                </a:solidFill>
                <a:latin typeface="Baumans"/>
                <a:ea typeface="Baumans"/>
                <a:cs typeface="Baumans"/>
                <a:sym typeface="Baumans"/>
              </a:rPr>
              <a:t>Triple Entente</a:t>
            </a:r>
            <a:r>
              <a:rPr lang="en" sz="1600" dirty="0">
                <a:solidFill>
                  <a:schemeClr val="dk1"/>
                </a:solidFill>
                <a:latin typeface="Baumans"/>
                <a:ea typeface="Baumans"/>
                <a:cs typeface="Baumans"/>
                <a:sym typeface="Baumans"/>
              </a:rPr>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40" descr="The First World War is often interpreted as fought between two major alliances – the Triple Entente between France, Britain and Russia, and the Dual Alliance linking Germany and Austria-Hungary. &#10;&#10;But this oversimplifies the alliances, treaties and agreements that developed throughout the late nineteenth and early twentieth centuries and drew the Great Powers, along with numerous other countries, into war." title="5 Major Treaties &amp; Alliances in the Build Up to World War One">
            <a:hlinkClick r:id="rId3"/>
          </p:cNvPr>
          <p:cNvPicPr preferRelativeResize="0"/>
          <p:nvPr/>
        </p:nvPicPr>
        <p:blipFill>
          <a:blip r:embed="rId4">
            <a:alphaModFix/>
          </a:blip>
          <a:stretch>
            <a:fillRect/>
          </a:stretch>
        </p:blipFill>
        <p:spPr>
          <a:xfrm>
            <a:off x="115225" y="1106600"/>
            <a:ext cx="4242650" cy="2386500"/>
          </a:xfrm>
          <a:prstGeom prst="rect">
            <a:avLst/>
          </a:prstGeom>
          <a:noFill/>
          <a:ln>
            <a:noFill/>
          </a:ln>
        </p:spPr>
      </p:pic>
      <p:sp>
        <p:nvSpPr>
          <p:cNvPr id="199" name="Google Shape;199;p40"/>
          <p:cNvSpPr txBox="1"/>
          <p:nvPr/>
        </p:nvSpPr>
        <p:spPr>
          <a:xfrm>
            <a:off x="115225" y="582500"/>
            <a:ext cx="48558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The Alliance System:</a:t>
            </a:r>
            <a:endParaRPr sz="2400" b="1" u="sng">
              <a:solidFill>
                <a:srgbClr val="000000"/>
              </a:solidFill>
              <a:latin typeface="Patrick Hand SC"/>
              <a:ea typeface="Patrick Hand SC"/>
              <a:cs typeface="Patrick Hand SC"/>
              <a:sym typeface="Patrick Hand SC"/>
            </a:endParaRPr>
          </a:p>
        </p:txBody>
      </p:sp>
      <p:sp>
        <p:nvSpPr>
          <p:cNvPr id="200" name="Google Shape;200;p40"/>
          <p:cNvSpPr txBox="1"/>
          <p:nvPr/>
        </p:nvSpPr>
        <p:spPr>
          <a:xfrm>
            <a:off x="4419775" y="1106600"/>
            <a:ext cx="4557000" cy="122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b="1">
                <a:solidFill>
                  <a:srgbClr val="000000"/>
                </a:solidFill>
                <a:highlight>
                  <a:srgbClr val="00FF00"/>
                </a:highlight>
                <a:latin typeface="Delius"/>
                <a:ea typeface="Delius"/>
                <a:cs typeface="Delius"/>
                <a:sym typeface="Delius"/>
              </a:rPr>
              <a:t>Activity:</a:t>
            </a:r>
            <a:r>
              <a:rPr lang="en" sz="1600">
                <a:solidFill>
                  <a:srgbClr val="000000"/>
                </a:solidFill>
                <a:latin typeface="Delius"/>
                <a:ea typeface="Delius"/>
                <a:cs typeface="Delius"/>
                <a:sym typeface="Delius"/>
              </a:rPr>
              <a:t> Complete the multiple choice questions whilst watching the video on</a:t>
            </a:r>
            <a:r>
              <a:rPr lang="en" sz="1600">
                <a:latin typeface="Delius"/>
                <a:ea typeface="Delius"/>
                <a:cs typeface="Delius"/>
                <a:sym typeface="Delius"/>
              </a:rPr>
              <a:t>:</a:t>
            </a:r>
            <a:endParaRPr sz="1600">
              <a:latin typeface="Delius"/>
              <a:ea typeface="Delius"/>
              <a:cs typeface="Delius"/>
              <a:sym typeface="Delius"/>
            </a:endParaRPr>
          </a:p>
          <a:p>
            <a:pPr marL="0" lvl="0" indent="0" algn="ctr" rtl="0">
              <a:lnSpc>
                <a:spcPct val="115000"/>
              </a:lnSpc>
              <a:spcBef>
                <a:spcPts val="0"/>
              </a:spcBef>
              <a:spcAft>
                <a:spcPts val="0"/>
              </a:spcAft>
              <a:buNone/>
            </a:pPr>
            <a:r>
              <a:rPr lang="en" sz="1600" b="1">
                <a:latin typeface="Delius"/>
                <a:ea typeface="Delius"/>
                <a:cs typeface="Delius"/>
                <a:sym typeface="Delius"/>
              </a:rPr>
              <a:t>“ 5 Major Treaties &amp; Alliances in the Build Up to World War One”</a:t>
            </a:r>
            <a:endParaRPr sz="1600" b="1">
              <a:solidFill>
                <a:srgbClr val="000000"/>
              </a:solidFill>
              <a:latin typeface="Delius"/>
              <a:ea typeface="Delius"/>
              <a:cs typeface="Delius"/>
              <a:sym typeface="Delius"/>
            </a:endParaRPr>
          </a:p>
        </p:txBody>
      </p:sp>
      <p:pic>
        <p:nvPicPr>
          <p:cNvPr id="201" name="Google Shape;201;p40" title="Screenshot 2025-09-08 at 3.09.49 PM.png"/>
          <p:cNvPicPr preferRelativeResize="0"/>
          <p:nvPr/>
        </p:nvPicPr>
        <p:blipFill rotWithShape="1">
          <a:blip r:embed="rId5">
            <a:alphaModFix/>
          </a:blip>
          <a:srcRect l="446" r="456"/>
          <a:stretch/>
        </p:blipFill>
        <p:spPr>
          <a:xfrm>
            <a:off x="4983825" y="2415900"/>
            <a:ext cx="3428899" cy="2615123"/>
          </a:xfrm>
          <a:prstGeom prst="rect">
            <a:avLst/>
          </a:prstGeom>
          <a:noFill/>
          <a:ln>
            <a:noFill/>
          </a:ln>
        </p:spPr>
      </p:pic>
      <p:sp>
        <p:nvSpPr>
          <p:cNvPr id="202" name="Google Shape;202;p40"/>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10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1"/>
          <p:cNvSpPr txBox="1"/>
          <p:nvPr/>
        </p:nvSpPr>
        <p:spPr>
          <a:xfrm>
            <a:off x="6466075" y="899075"/>
            <a:ext cx="2664600" cy="88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208" name="Google Shape;208;p41"/>
          <p:cNvSpPr txBox="1"/>
          <p:nvPr/>
        </p:nvSpPr>
        <p:spPr>
          <a:xfrm>
            <a:off x="154125" y="1316700"/>
            <a:ext cx="6254400" cy="3621900"/>
          </a:xfrm>
          <a:prstGeom prst="rect">
            <a:avLst/>
          </a:prstGeom>
          <a:noFill/>
          <a:ln>
            <a:noFill/>
          </a:ln>
        </p:spPr>
        <p:txBody>
          <a:bodyPr spcFirstLastPara="1" wrap="square" lIns="91425" tIns="91425" rIns="91425" bIns="91425" anchor="t" anchorCtr="0">
            <a:spAutoFit/>
          </a:bodyPr>
          <a:lstStyle/>
          <a:p>
            <a:pPr marL="762000" lvl="0" indent="-317500" algn="l" rtl="0">
              <a:lnSpc>
                <a:spcPct val="115000"/>
              </a:lnSpc>
              <a:spcBef>
                <a:spcPts val="90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A) Triple Entente (France, Britain, Russia) and Dual Alliance (Germany, Austria-Hungary)</a:t>
            </a:r>
            <a:endParaRPr b="1">
              <a:solidFill>
                <a:srgbClr val="38761D"/>
              </a:solidFill>
              <a:latin typeface="Poppins"/>
              <a:ea typeface="Poppins"/>
              <a:cs typeface="Poppins"/>
              <a:sym typeface="Poppins"/>
            </a:endParaRPr>
          </a:p>
          <a:p>
            <a:pPr marL="762000" lvl="0" indent="-317500" algn="l" rtl="0">
              <a:lnSpc>
                <a:spcPct val="115000"/>
              </a:lnSpc>
              <a:spcBef>
                <a:spcPts val="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B) Belgium’s neutrality and independence</a:t>
            </a:r>
            <a:endParaRPr b="1">
              <a:solidFill>
                <a:srgbClr val="38761D"/>
              </a:solidFill>
              <a:latin typeface="Poppins"/>
              <a:ea typeface="Poppins"/>
              <a:cs typeface="Poppins"/>
              <a:sym typeface="Poppins"/>
            </a:endParaRPr>
          </a:p>
          <a:p>
            <a:pPr marL="762000" lvl="0" indent="-317500" algn="l" rtl="0">
              <a:lnSpc>
                <a:spcPct val="115000"/>
              </a:lnSpc>
              <a:spcBef>
                <a:spcPts val="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D) Germany and Austria-Hungary</a:t>
            </a:r>
            <a:endParaRPr b="1">
              <a:solidFill>
                <a:srgbClr val="38761D"/>
              </a:solidFill>
              <a:latin typeface="Poppins"/>
              <a:ea typeface="Poppins"/>
              <a:cs typeface="Poppins"/>
              <a:sym typeface="Poppins"/>
            </a:endParaRPr>
          </a:p>
          <a:p>
            <a:pPr marL="762000" lvl="0" indent="-317500" algn="l" rtl="0">
              <a:lnSpc>
                <a:spcPct val="115000"/>
              </a:lnSpc>
              <a:spcBef>
                <a:spcPts val="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B) Italy</a:t>
            </a:r>
            <a:endParaRPr b="1">
              <a:solidFill>
                <a:srgbClr val="38761D"/>
              </a:solidFill>
              <a:latin typeface="Poppins"/>
              <a:ea typeface="Poppins"/>
              <a:cs typeface="Poppins"/>
              <a:sym typeface="Poppins"/>
            </a:endParaRPr>
          </a:p>
          <a:p>
            <a:pPr marL="762000" lvl="0" indent="-317500" algn="l" rtl="0">
              <a:lnSpc>
                <a:spcPct val="115000"/>
              </a:lnSpc>
              <a:spcBef>
                <a:spcPts val="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A) To prevent Russia forming an alliance with France</a:t>
            </a:r>
            <a:endParaRPr b="1">
              <a:solidFill>
                <a:srgbClr val="38761D"/>
              </a:solidFill>
              <a:latin typeface="Poppins"/>
              <a:ea typeface="Poppins"/>
              <a:cs typeface="Poppins"/>
              <a:sym typeface="Poppins"/>
            </a:endParaRPr>
          </a:p>
          <a:p>
            <a:pPr marL="762000" lvl="0" indent="-317500" algn="l" rtl="0">
              <a:lnSpc>
                <a:spcPct val="115000"/>
              </a:lnSpc>
              <a:spcBef>
                <a:spcPts val="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C)  If the Triple Alliance attacked one, the other would help</a:t>
            </a:r>
            <a:endParaRPr b="1">
              <a:solidFill>
                <a:srgbClr val="38761D"/>
              </a:solidFill>
              <a:latin typeface="Poppins"/>
              <a:ea typeface="Poppins"/>
              <a:cs typeface="Poppins"/>
              <a:sym typeface="Poppins"/>
            </a:endParaRPr>
          </a:p>
          <a:p>
            <a:pPr marL="762000" lvl="0" indent="-317500" algn="l" rtl="0">
              <a:lnSpc>
                <a:spcPct val="115000"/>
              </a:lnSpc>
              <a:spcBef>
                <a:spcPts val="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C) A treaty between Britain and France to settle disagreements, especially in Africa</a:t>
            </a:r>
            <a:endParaRPr b="1">
              <a:solidFill>
                <a:srgbClr val="38761D"/>
              </a:solidFill>
              <a:latin typeface="Poppins"/>
              <a:ea typeface="Poppins"/>
              <a:cs typeface="Poppins"/>
              <a:sym typeface="Poppins"/>
            </a:endParaRPr>
          </a:p>
          <a:p>
            <a:pPr marL="762000" lvl="0" indent="-317500" algn="l" rtl="0">
              <a:lnSpc>
                <a:spcPct val="115000"/>
              </a:lnSpc>
              <a:spcBef>
                <a:spcPts val="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A) An agreement between Britain, France, and Russia against the Triple Alliance</a:t>
            </a:r>
            <a:endParaRPr b="1">
              <a:solidFill>
                <a:srgbClr val="38761D"/>
              </a:solidFill>
              <a:latin typeface="Poppins"/>
              <a:ea typeface="Poppins"/>
              <a:cs typeface="Poppins"/>
              <a:sym typeface="Poppins"/>
            </a:endParaRPr>
          </a:p>
          <a:p>
            <a:pPr marL="762000" lvl="0" indent="-317500" algn="l" rtl="0">
              <a:lnSpc>
                <a:spcPct val="115000"/>
              </a:lnSpc>
              <a:spcBef>
                <a:spcPts val="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D) Germany crossed Belgian border, breaking the Treaty of London</a:t>
            </a:r>
            <a:endParaRPr b="1">
              <a:solidFill>
                <a:srgbClr val="38761D"/>
              </a:solidFill>
              <a:latin typeface="Poppins"/>
              <a:ea typeface="Poppins"/>
              <a:cs typeface="Poppins"/>
              <a:sym typeface="Poppins"/>
            </a:endParaRPr>
          </a:p>
          <a:p>
            <a:pPr marL="762000" lvl="0" indent="-317500" algn="l" rtl="0">
              <a:lnSpc>
                <a:spcPct val="115000"/>
              </a:lnSpc>
              <a:spcBef>
                <a:spcPts val="0"/>
              </a:spcBef>
              <a:spcAft>
                <a:spcPts val="0"/>
              </a:spcAft>
              <a:buClr>
                <a:srgbClr val="38761D"/>
              </a:buClr>
              <a:buSzPts val="1400"/>
              <a:buFont typeface="Poppins"/>
              <a:buAutoNum type="arabicPeriod"/>
            </a:pPr>
            <a:r>
              <a:rPr lang="en" b="1">
                <a:solidFill>
                  <a:srgbClr val="38761D"/>
                </a:solidFill>
                <a:latin typeface="Poppins"/>
                <a:ea typeface="Poppins"/>
                <a:cs typeface="Poppins"/>
                <a:sym typeface="Poppins"/>
              </a:rPr>
              <a:t>A) It was mainly a treaty between Britain and Russia</a:t>
            </a:r>
            <a:endParaRPr b="1">
              <a:solidFill>
                <a:srgbClr val="38761D"/>
              </a:solidFill>
              <a:latin typeface="Poppins"/>
              <a:ea typeface="Poppins"/>
              <a:cs typeface="Poppins"/>
              <a:sym typeface="Poppins"/>
            </a:endParaRPr>
          </a:p>
        </p:txBody>
      </p:sp>
      <p:pic>
        <p:nvPicPr>
          <p:cNvPr id="209" name="Google Shape;209;p41" title="Screenshot 2025-09-08 at 3.09.49 PM.png"/>
          <p:cNvPicPr preferRelativeResize="0"/>
          <p:nvPr/>
        </p:nvPicPr>
        <p:blipFill rotWithShape="1">
          <a:blip r:embed="rId3">
            <a:alphaModFix/>
          </a:blip>
          <a:srcRect l="446" r="456"/>
          <a:stretch/>
        </p:blipFill>
        <p:spPr>
          <a:xfrm>
            <a:off x="6466075" y="1783200"/>
            <a:ext cx="2564724" cy="1956050"/>
          </a:xfrm>
          <a:prstGeom prst="rect">
            <a:avLst/>
          </a:prstGeom>
          <a:noFill/>
          <a:ln>
            <a:noFill/>
          </a:ln>
        </p:spPr>
      </p:pic>
      <p:sp>
        <p:nvSpPr>
          <p:cNvPr id="210" name="Google Shape;210;p41"/>
          <p:cNvSpPr txBox="1"/>
          <p:nvPr/>
        </p:nvSpPr>
        <p:spPr>
          <a:xfrm>
            <a:off x="115225" y="582500"/>
            <a:ext cx="48558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The Alliance System:</a:t>
            </a:r>
            <a:endParaRPr sz="2400" b="1" u="sng">
              <a:solidFill>
                <a:srgbClr val="000000"/>
              </a:solidFill>
              <a:latin typeface="Patrick Hand SC"/>
              <a:ea typeface="Patrick Hand SC"/>
              <a:cs typeface="Patrick Hand SC"/>
              <a:sym typeface="Patrick Hand SC"/>
            </a:endParaRPr>
          </a:p>
        </p:txBody>
      </p:sp>
      <p:pic>
        <p:nvPicPr>
          <p:cNvPr id="211" name="Google Shape;211;p41"/>
          <p:cNvPicPr preferRelativeResize="0"/>
          <p:nvPr/>
        </p:nvPicPr>
        <p:blipFill>
          <a:blip r:embed="rId4">
            <a:alphaModFix/>
          </a:blip>
          <a:stretch>
            <a:fillRect/>
          </a:stretch>
        </p:blipFill>
        <p:spPr>
          <a:xfrm>
            <a:off x="7521325" y="3806925"/>
            <a:ext cx="554100" cy="554100"/>
          </a:xfrm>
          <a:prstGeom prst="rect">
            <a:avLst/>
          </a:prstGeom>
          <a:noFill/>
          <a:ln>
            <a:noFill/>
          </a:ln>
        </p:spPr>
      </p:pic>
      <p:sp>
        <p:nvSpPr>
          <p:cNvPr id="212" name="Google Shape;212;p41"/>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44" descr="image.png"/>
          <p:cNvPicPr preferRelativeResize="0"/>
          <p:nvPr/>
        </p:nvPicPr>
        <p:blipFill rotWithShape="1">
          <a:blip r:embed="rId3">
            <a:alphaModFix/>
          </a:blip>
          <a:srcRect b="29067"/>
          <a:stretch/>
        </p:blipFill>
        <p:spPr>
          <a:xfrm>
            <a:off x="5164300" y="960500"/>
            <a:ext cx="3746449" cy="2554325"/>
          </a:xfrm>
          <a:prstGeom prst="rect">
            <a:avLst/>
          </a:prstGeom>
          <a:noFill/>
          <a:ln>
            <a:noFill/>
          </a:ln>
        </p:spPr>
      </p:pic>
      <p:sp>
        <p:nvSpPr>
          <p:cNvPr id="238" name="Google Shape;238;p44"/>
          <p:cNvSpPr txBox="1"/>
          <p:nvPr/>
        </p:nvSpPr>
        <p:spPr>
          <a:xfrm>
            <a:off x="104400" y="1220025"/>
            <a:ext cx="4839000" cy="7143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15000"/>
              </a:lnSpc>
              <a:spcBef>
                <a:spcPts val="0"/>
              </a:spcBef>
              <a:spcAft>
                <a:spcPts val="0"/>
              </a:spcAft>
              <a:buClr>
                <a:schemeClr val="dk1"/>
              </a:buClr>
              <a:buSzPts val="1600"/>
              <a:buFont typeface="Baumans"/>
              <a:buChar char="●"/>
            </a:pPr>
            <a:r>
              <a:rPr lang="en" sz="1600" dirty="0">
                <a:solidFill>
                  <a:schemeClr val="dk1"/>
                </a:solidFill>
                <a:latin typeface="Baumans"/>
                <a:ea typeface="Baumans"/>
                <a:cs typeface="Baumans"/>
                <a:sym typeface="Baumans"/>
              </a:rPr>
              <a:t>European countries were growing more and more </a:t>
            </a:r>
            <a:r>
              <a:rPr lang="en" sz="1600" b="1" dirty="0">
                <a:solidFill>
                  <a:schemeClr val="dk1"/>
                </a:solidFill>
                <a:latin typeface="Baumans"/>
                <a:ea typeface="Baumans"/>
                <a:cs typeface="Baumans"/>
                <a:sym typeface="Baumans"/>
              </a:rPr>
              <a:t>suspicious</a:t>
            </a:r>
            <a:r>
              <a:rPr lang="en" sz="1600" dirty="0">
                <a:solidFill>
                  <a:schemeClr val="dk1"/>
                </a:solidFill>
                <a:latin typeface="Baumans"/>
                <a:ea typeface="Baumans"/>
                <a:cs typeface="Baumans"/>
                <a:sym typeface="Baumans"/>
              </a:rPr>
              <a:t> of each other.</a:t>
            </a:r>
            <a:endParaRPr sz="1800" dirty="0">
              <a:solidFill>
                <a:schemeClr val="dk1"/>
              </a:solidFill>
              <a:latin typeface="Baumans"/>
              <a:ea typeface="Baumans"/>
              <a:cs typeface="Baumans"/>
              <a:sym typeface="Baumans"/>
            </a:endParaRPr>
          </a:p>
        </p:txBody>
      </p:sp>
      <p:sp>
        <p:nvSpPr>
          <p:cNvPr id="239" name="Google Shape;239;p44"/>
          <p:cNvSpPr txBox="1"/>
          <p:nvPr/>
        </p:nvSpPr>
        <p:spPr>
          <a:xfrm>
            <a:off x="5164175" y="3562725"/>
            <a:ext cx="3746400" cy="1280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dirty="0">
                <a:solidFill>
                  <a:schemeClr val="dk1"/>
                </a:solidFill>
                <a:latin typeface="Baumans"/>
                <a:ea typeface="Baumans"/>
                <a:cs typeface="Baumans"/>
                <a:sym typeface="Baumans"/>
              </a:rPr>
              <a:t>Tensions were rising</a:t>
            </a:r>
            <a:r>
              <a:rPr lang="en" sz="1600" dirty="0">
                <a:solidFill>
                  <a:schemeClr val="dk1"/>
                </a:solidFill>
                <a:latin typeface="Baumans"/>
                <a:ea typeface="Baumans"/>
                <a:cs typeface="Baumans"/>
                <a:sym typeface="Baumans"/>
              </a:rPr>
              <a:t>, and the chance of </a:t>
            </a:r>
            <a:r>
              <a:rPr lang="en" sz="1600" b="1" dirty="0">
                <a:solidFill>
                  <a:schemeClr val="dk1"/>
                </a:solidFill>
                <a:latin typeface="Baumans"/>
                <a:ea typeface="Baumans"/>
                <a:cs typeface="Baumans"/>
                <a:sym typeface="Baumans"/>
              </a:rPr>
              <a:t>war was becoming more likely</a:t>
            </a:r>
            <a:r>
              <a:rPr lang="en" sz="1600" dirty="0">
                <a:solidFill>
                  <a:schemeClr val="dk1"/>
                </a:solidFill>
                <a:latin typeface="Baumans"/>
                <a:ea typeface="Baumans"/>
                <a:cs typeface="Baumans"/>
                <a:sym typeface="Baumans"/>
              </a:rPr>
              <a:t>.</a:t>
            </a:r>
            <a:endParaRPr sz="1600" dirty="0">
              <a:solidFill>
                <a:schemeClr val="dk1"/>
              </a:solidFill>
              <a:latin typeface="Baumans"/>
              <a:ea typeface="Baumans"/>
              <a:cs typeface="Baumans"/>
              <a:sym typeface="Baumans"/>
            </a:endParaRPr>
          </a:p>
          <a:p>
            <a:pPr marL="0" lvl="0" indent="0" algn="ctr" rtl="0">
              <a:lnSpc>
                <a:spcPct val="115000"/>
              </a:lnSpc>
              <a:spcBef>
                <a:spcPts val="0"/>
              </a:spcBef>
              <a:spcAft>
                <a:spcPts val="0"/>
              </a:spcAft>
              <a:buNone/>
            </a:pPr>
            <a:r>
              <a:rPr lang="en" sz="1600" dirty="0">
                <a:solidFill>
                  <a:schemeClr val="dk1"/>
                </a:solidFill>
                <a:latin typeface="Baumans"/>
                <a:ea typeface="Baumans"/>
                <a:cs typeface="Baumans"/>
                <a:sym typeface="Baumans"/>
              </a:rPr>
              <a:t>The </a:t>
            </a:r>
            <a:r>
              <a:rPr lang="en" sz="1600" b="1" dirty="0">
                <a:solidFill>
                  <a:schemeClr val="dk1"/>
                </a:solidFill>
                <a:latin typeface="Baumans"/>
                <a:ea typeface="Baumans"/>
                <a:cs typeface="Baumans"/>
                <a:sym typeface="Baumans"/>
              </a:rPr>
              <a:t>alliance system would decide</a:t>
            </a:r>
            <a:r>
              <a:rPr lang="en" sz="1600" dirty="0">
                <a:solidFill>
                  <a:schemeClr val="dk1"/>
                </a:solidFill>
                <a:latin typeface="Baumans"/>
                <a:ea typeface="Baumans"/>
                <a:cs typeface="Baumans"/>
                <a:sym typeface="Baumans"/>
              </a:rPr>
              <a:t> which countries joined together if war began.</a:t>
            </a:r>
            <a:endParaRPr sz="1600" dirty="0">
              <a:solidFill>
                <a:schemeClr val="dk1"/>
              </a:solidFill>
              <a:latin typeface="Baumans"/>
              <a:ea typeface="Baumans"/>
              <a:cs typeface="Baumans"/>
              <a:sym typeface="Baumans"/>
            </a:endParaRPr>
          </a:p>
        </p:txBody>
      </p:sp>
      <p:sp>
        <p:nvSpPr>
          <p:cNvPr id="240" name="Google Shape;240;p44"/>
          <p:cNvSpPr txBox="1"/>
          <p:nvPr/>
        </p:nvSpPr>
        <p:spPr>
          <a:xfrm>
            <a:off x="115225" y="582488"/>
            <a:ext cx="56193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Friends and Foes: European Aims in 1913:</a:t>
            </a:r>
            <a:endParaRPr sz="2400" b="1" u="sng">
              <a:solidFill>
                <a:srgbClr val="000000"/>
              </a:solidFill>
              <a:latin typeface="Patrick Hand"/>
              <a:ea typeface="Patrick Hand"/>
              <a:cs typeface="Patrick Hand"/>
              <a:sym typeface="Patrick Hand"/>
            </a:endParaRPr>
          </a:p>
        </p:txBody>
      </p:sp>
      <p:sp>
        <p:nvSpPr>
          <p:cNvPr id="241" name="Google Shape;241;p44"/>
          <p:cNvSpPr txBox="1"/>
          <p:nvPr/>
        </p:nvSpPr>
        <p:spPr>
          <a:xfrm>
            <a:off x="8041650" y="3160750"/>
            <a:ext cx="820200" cy="32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highlight>
                  <a:srgbClr val="D9EAD3"/>
                </a:highlight>
                <a:latin typeface="Century Gothic"/>
                <a:ea typeface="Century Gothic"/>
                <a:cs typeface="Century Gothic"/>
                <a:sym typeface="Century Gothic"/>
              </a:rPr>
              <a:t>BALKANS</a:t>
            </a:r>
            <a:endParaRPr sz="1000" b="1">
              <a:solidFill>
                <a:schemeClr val="dk1"/>
              </a:solidFill>
              <a:highlight>
                <a:srgbClr val="D9EAD3"/>
              </a:highlight>
              <a:latin typeface="Century Gothic"/>
              <a:ea typeface="Century Gothic"/>
              <a:cs typeface="Century Gothic"/>
              <a:sym typeface="Century Gothic"/>
            </a:endParaRPr>
          </a:p>
        </p:txBody>
      </p:sp>
      <p:sp>
        <p:nvSpPr>
          <p:cNvPr id="242" name="Google Shape;242;p44"/>
          <p:cNvSpPr txBox="1"/>
          <p:nvPr/>
        </p:nvSpPr>
        <p:spPr>
          <a:xfrm>
            <a:off x="115225" y="1934325"/>
            <a:ext cx="4839000" cy="29091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Font typeface="Baumans"/>
              <a:buChar char="●"/>
            </a:pPr>
            <a:r>
              <a:rPr lang="en" sz="1600" dirty="0">
                <a:solidFill>
                  <a:schemeClr val="dk1"/>
                </a:solidFill>
                <a:latin typeface="Baumans"/>
                <a:ea typeface="Baumans"/>
                <a:cs typeface="Baumans"/>
                <a:sym typeface="Baumans"/>
              </a:rPr>
              <a:t>Germany was </a:t>
            </a:r>
            <a:r>
              <a:rPr lang="en" sz="1600" b="1" dirty="0">
                <a:solidFill>
                  <a:schemeClr val="dk1"/>
                </a:solidFill>
                <a:latin typeface="Baumans"/>
                <a:ea typeface="Baumans"/>
                <a:cs typeface="Baumans"/>
                <a:sym typeface="Baumans"/>
              </a:rPr>
              <a:t>jealous</a:t>
            </a:r>
            <a:r>
              <a:rPr lang="en" sz="1600" dirty="0">
                <a:solidFill>
                  <a:schemeClr val="dk1"/>
                </a:solidFill>
                <a:latin typeface="Baumans"/>
                <a:ea typeface="Baumans"/>
                <a:cs typeface="Baumans"/>
                <a:sym typeface="Baumans"/>
              </a:rPr>
              <a:t> of Britain’s empire and wanted one of its own.</a:t>
            </a:r>
            <a:endParaRPr sz="1600" dirty="0">
              <a:solidFill>
                <a:schemeClr val="dk1"/>
              </a:solidFill>
              <a:latin typeface="Baumans"/>
              <a:ea typeface="Baumans"/>
              <a:cs typeface="Baumans"/>
              <a:sym typeface="Baumans"/>
            </a:endParaRPr>
          </a:p>
          <a:p>
            <a:pPr marL="457200" lvl="0" indent="0" algn="l" rtl="0">
              <a:lnSpc>
                <a:spcPct val="115000"/>
              </a:lnSpc>
              <a:spcBef>
                <a:spcPts val="0"/>
              </a:spcBef>
              <a:spcAft>
                <a:spcPts val="0"/>
              </a:spcAft>
              <a:buNone/>
            </a:pPr>
            <a:endParaRPr sz="600"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Char char="●"/>
            </a:pPr>
            <a:r>
              <a:rPr lang="en" sz="1600" dirty="0">
                <a:solidFill>
                  <a:schemeClr val="dk1"/>
                </a:solidFill>
                <a:latin typeface="Baumans"/>
                <a:ea typeface="Baumans"/>
                <a:cs typeface="Baumans"/>
                <a:sym typeface="Baumans"/>
              </a:rPr>
              <a:t>The Balkan countries, (Serbia, Bulgaria and Greece, S.E. Europe), had not yet joined any alliance. The Balkans were important because they were seen as a ‘</a:t>
            </a:r>
            <a:r>
              <a:rPr lang="en" sz="1600" b="1" dirty="0">
                <a:solidFill>
                  <a:schemeClr val="dk1"/>
                </a:solidFill>
                <a:latin typeface="Baumans"/>
                <a:ea typeface="Baumans"/>
                <a:cs typeface="Baumans"/>
                <a:sym typeface="Baumans"/>
              </a:rPr>
              <a:t>trouble spot</a:t>
            </a:r>
            <a:r>
              <a:rPr lang="en" sz="1600" dirty="0">
                <a:solidFill>
                  <a:schemeClr val="dk1"/>
                </a:solidFill>
                <a:latin typeface="Baumans"/>
                <a:ea typeface="Baumans"/>
                <a:cs typeface="Baumans"/>
                <a:sym typeface="Baumans"/>
              </a:rPr>
              <a:t>’ where different countries argued over land and power.</a:t>
            </a:r>
            <a:endParaRPr sz="1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600"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Char char="●"/>
            </a:pPr>
            <a:r>
              <a:rPr lang="en" sz="1600" dirty="0">
                <a:solidFill>
                  <a:schemeClr val="dk1"/>
                </a:solidFill>
                <a:latin typeface="Baumans"/>
                <a:ea typeface="Baumans"/>
                <a:cs typeface="Baumans"/>
                <a:sym typeface="Baumans"/>
              </a:rPr>
              <a:t>New </a:t>
            </a:r>
            <a:r>
              <a:rPr lang="en" sz="1600" b="1" dirty="0">
                <a:solidFill>
                  <a:schemeClr val="dk1"/>
                </a:solidFill>
                <a:latin typeface="Baumans"/>
                <a:ea typeface="Baumans"/>
                <a:cs typeface="Baumans"/>
                <a:sym typeface="Baumans"/>
              </a:rPr>
              <a:t>weapons</a:t>
            </a:r>
            <a:r>
              <a:rPr lang="en" sz="1600" dirty="0">
                <a:solidFill>
                  <a:schemeClr val="dk1"/>
                </a:solidFill>
                <a:latin typeface="Baumans"/>
                <a:ea typeface="Baumans"/>
                <a:cs typeface="Baumans"/>
                <a:sym typeface="Baumans"/>
              </a:rPr>
              <a:t> were being developed across Europe.</a:t>
            </a:r>
            <a:endParaRPr dirty="0"/>
          </a:p>
        </p:txBody>
      </p:sp>
      <p:sp>
        <p:nvSpPr>
          <p:cNvPr id="243" name="Google Shape;243;p44"/>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5"/>
          <p:cNvSpPr txBox="1"/>
          <p:nvPr/>
        </p:nvSpPr>
        <p:spPr>
          <a:xfrm>
            <a:off x="158750" y="1151825"/>
            <a:ext cx="5284500" cy="1871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500"/>
              <a:buFont typeface="Arial"/>
              <a:buNone/>
            </a:pPr>
            <a:r>
              <a:rPr lang="en" sz="1600" b="1">
                <a:solidFill>
                  <a:schemeClr val="dk1"/>
                </a:solidFill>
                <a:highlight>
                  <a:srgbClr val="00FF00"/>
                </a:highlight>
                <a:latin typeface="Baumans"/>
                <a:ea typeface="Baumans"/>
                <a:cs typeface="Baumans"/>
                <a:sym typeface="Baumans"/>
              </a:rPr>
              <a:t>Activity</a:t>
            </a:r>
            <a:r>
              <a:rPr lang="en" sz="1600" b="1" i="0" u="none" strike="noStrike" cap="none">
                <a:solidFill>
                  <a:schemeClr val="dk1"/>
                </a:solidFill>
                <a:highlight>
                  <a:srgbClr val="00FF00"/>
                </a:highlight>
                <a:latin typeface="Baumans"/>
                <a:ea typeface="Baumans"/>
                <a:cs typeface="Baumans"/>
                <a:sym typeface="Baumans"/>
              </a:rPr>
              <a:t>:</a:t>
            </a:r>
            <a:r>
              <a:rPr lang="en" sz="1600" i="0" u="none" strike="noStrike" cap="none">
                <a:solidFill>
                  <a:schemeClr val="dk1"/>
                </a:solidFill>
                <a:latin typeface="Baumans"/>
                <a:ea typeface="Baumans"/>
                <a:cs typeface="Baumans"/>
                <a:sym typeface="Baumans"/>
              </a:rPr>
              <a:t> </a:t>
            </a:r>
            <a:r>
              <a:rPr lang="en" sz="1600">
                <a:solidFill>
                  <a:schemeClr val="dk1"/>
                </a:solidFill>
                <a:latin typeface="Baumans"/>
                <a:ea typeface="Baumans"/>
                <a:cs typeface="Baumans"/>
                <a:sym typeface="Baumans"/>
              </a:rPr>
              <a:t>Use your resource sheet to read about six countries involved in the tensions of 1914.</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lphaLcPeriod"/>
            </a:pPr>
            <a:r>
              <a:rPr lang="en" sz="1600">
                <a:solidFill>
                  <a:schemeClr val="dk1"/>
                </a:solidFill>
                <a:latin typeface="Baumans"/>
                <a:ea typeface="Baumans"/>
                <a:cs typeface="Baumans"/>
                <a:sym typeface="Baumans"/>
              </a:rPr>
              <a:t>For each country, fill in your table to show their main aims and worries.</a:t>
            </a:r>
            <a:endParaRPr sz="1600">
              <a:solidFill>
                <a:schemeClr val="dk1"/>
              </a:solidFill>
              <a:latin typeface="Baumans"/>
              <a:ea typeface="Baumans"/>
              <a:cs typeface="Baumans"/>
              <a:sym typeface="Baumans"/>
            </a:endParaRPr>
          </a:p>
          <a:p>
            <a:pPr marL="457200" lvl="0" indent="-342900" algn="l" rtl="0">
              <a:spcBef>
                <a:spcPts val="0"/>
              </a:spcBef>
              <a:spcAft>
                <a:spcPts val="0"/>
              </a:spcAft>
              <a:buClr>
                <a:schemeClr val="dk1"/>
              </a:buClr>
              <a:buSzPts val="1800"/>
              <a:buFont typeface="Baumans"/>
              <a:buAutoNum type="alphaLcPeriod"/>
            </a:pPr>
            <a:r>
              <a:rPr lang="en" sz="1600">
                <a:solidFill>
                  <a:schemeClr val="dk1"/>
                </a:solidFill>
                <a:latin typeface="Baumans"/>
                <a:ea typeface="Baumans"/>
                <a:cs typeface="Baumans"/>
                <a:sym typeface="Baumans"/>
              </a:rPr>
              <a:t>Draw arrows to show the links between countries ‘</a:t>
            </a:r>
            <a:r>
              <a:rPr lang="en" sz="1600" b="1">
                <a:solidFill>
                  <a:srgbClr val="38761D"/>
                </a:solidFill>
                <a:latin typeface="Baumans"/>
                <a:ea typeface="Baumans"/>
                <a:cs typeface="Baumans"/>
                <a:sym typeface="Baumans"/>
              </a:rPr>
              <a:t>Friend</a:t>
            </a:r>
            <a:r>
              <a:rPr lang="en" sz="1600">
                <a:solidFill>
                  <a:schemeClr val="dk1"/>
                </a:solidFill>
                <a:latin typeface="Baumans"/>
                <a:ea typeface="Baumans"/>
                <a:cs typeface="Baumans"/>
                <a:sym typeface="Baumans"/>
              </a:rPr>
              <a:t> or </a:t>
            </a:r>
            <a:r>
              <a:rPr lang="en" sz="1600" b="1">
                <a:solidFill>
                  <a:srgbClr val="FF0000"/>
                </a:solidFill>
                <a:latin typeface="Baumans"/>
                <a:ea typeface="Baumans"/>
                <a:cs typeface="Baumans"/>
                <a:sym typeface="Baumans"/>
              </a:rPr>
              <a:t>Foe</a:t>
            </a:r>
            <a:r>
              <a:rPr lang="en" sz="1800">
                <a:solidFill>
                  <a:schemeClr val="dk1"/>
                </a:solidFill>
                <a:latin typeface="Baumans"/>
                <a:ea typeface="Baumans"/>
                <a:cs typeface="Baumans"/>
                <a:sym typeface="Baumans"/>
              </a:rPr>
              <a:t> </a:t>
            </a:r>
            <a:r>
              <a:rPr lang="en" sz="1200" b="1">
                <a:solidFill>
                  <a:schemeClr val="dk1"/>
                </a:solidFill>
                <a:latin typeface="Patrick Hand"/>
                <a:ea typeface="Patrick Hand"/>
                <a:cs typeface="Patrick Hand"/>
                <a:sym typeface="Patrick Hand"/>
              </a:rPr>
              <a:t>(enemy)</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p:txBody>
      </p:sp>
      <p:sp>
        <p:nvSpPr>
          <p:cNvPr id="249" name="Google Shape;249;p45"/>
          <p:cNvSpPr txBox="1"/>
          <p:nvPr/>
        </p:nvSpPr>
        <p:spPr>
          <a:xfrm>
            <a:off x="115225" y="582488"/>
            <a:ext cx="56193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Friends and Foes: European Aims in 1913</a:t>
            </a:r>
            <a:endParaRPr sz="2400" b="1" u="sng">
              <a:solidFill>
                <a:srgbClr val="000000"/>
              </a:solidFill>
              <a:latin typeface="Patrick Hand"/>
              <a:ea typeface="Patrick Hand"/>
              <a:cs typeface="Patrick Hand"/>
              <a:sym typeface="Patrick Hand"/>
            </a:endParaRPr>
          </a:p>
        </p:txBody>
      </p:sp>
      <p:sp>
        <p:nvSpPr>
          <p:cNvPr id="250" name="Google Shape;250;p45"/>
          <p:cNvSpPr txBox="1"/>
          <p:nvPr/>
        </p:nvSpPr>
        <p:spPr>
          <a:xfrm>
            <a:off x="1804625" y="3236325"/>
            <a:ext cx="7221600" cy="554100"/>
          </a:xfrm>
          <a:prstGeom prst="rect">
            <a:avLst/>
          </a:prstGeom>
          <a:solidFill>
            <a:srgbClr val="FAA500"/>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Poppins"/>
                <a:ea typeface="Poppins"/>
                <a:cs typeface="Poppins"/>
                <a:sym typeface="Poppins"/>
              </a:rPr>
              <a:t>Choose </a:t>
            </a:r>
            <a:r>
              <a:rPr lang="en" sz="1200" b="1">
                <a:solidFill>
                  <a:schemeClr val="lt1"/>
                </a:solidFill>
                <a:latin typeface="Poppins"/>
                <a:ea typeface="Poppins"/>
                <a:cs typeface="Poppins"/>
                <a:sym typeface="Poppins"/>
              </a:rPr>
              <a:t>one</a:t>
            </a:r>
            <a:r>
              <a:rPr lang="en" sz="1200" b="1">
                <a:latin typeface="Poppins"/>
                <a:ea typeface="Poppins"/>
                <a:cs typeface="Poppins"/>
                <a:sym typeface="Poppins"/>
              </a:rPr>
              <a:t> country and explain in your own words why it was worried about the other countries. Use evidence from your table to support your answer</a:t>
            </a:r>
            <a:endParaRPr sz="1200" b="1">
              <a:latin typeface="Poppins"/>
              <a:ea typeface="Poppins"/>
              <a:cs typeface="Poppins"/>
              <a:sym typeface="Poppins"/>
            </a:endParaRPr>
          </a:p>
        </p:txBody>
      </p:sp>
      <p:sp>
        <p:nvSpPr>
          <p:cNvPr id="251" name="Google Shape;251;p45"/>
          <p:cNvSpPr txBox="1"/>
          <p:nvPr/>
        </p:nvSpPr>
        <p:spPr>
          <a:xfrm>
            <a:off x="1721525" y="3972850"/>
            <a:ext cx="7304700" cy="738900"/>
          </a:xfrm>
          <a:prstGeom prst="rect">
            <a:avLst/>
          </a:prstGeom>
          <a:solidFill>
            <a:srgbClr val="CE0925"/>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lt1"/>
                </a:solidFill>
                <a:latin typeface="Poppins"/>
                <a:ea typeface="Poppins"/>
                <a:cs typeface="Poppins"/>
                <a:sym typeface="Poppins"/>
              </a:rPr>
              <a:t>Choose </a:t>
            </a:r>
            <a:r>
              <a:rPr lang="en" sz="1200" b="1">
                <a:solidFill>
                  <a:srgbClr val="FFFF00"/>
                </a:solidFill>
                <a:latin typeface="Poppins"/>
                <a:ea typeface="Poppins"/>
                <a:cs typeface="Poppins"/>
                <a:sym typeface="Poppins"/>
              </a:rPr>
              <a:t>two</a:t>
            </a:r>
            <a:r>
              <a:rPr lang="en" sz="1200" b="1">
                <a:solidFill>
                  <a:schemeClr val="lt1"/>
                </a:solidFill>
                <a:latin typeface="Poppins"/>
                <a:ea typeface="Poppins"/>
                <a:cs typeface="Poppins"/>
                <a:sym typeface="Poppins"/>
              </a:rPr>
              <a:t> countries. Explain </a:t>
            </a:r>
            <a:r>
              <a:rPr lang="en" sz="1200" b="1">
                <a:solidFill>
                  <a:srgbClr val="FFFF00"/>
                </a:solidFill>
                <a:latin typeface="Poppins"/>
                <a:ea typeface="Poppins"/>
                <a:cs typeface="Poppins"/>
                <a:sym typeface="Poppins"/>
              </a:rPr>
              <a:t>how their aims and worries</a:t>
            </a:r>
            <a:r>
              <a:rPr lang="en" sz="1200" b="1">
                <a:solidFill>
                  <a:schemeClr val="lt1"/>
                </a:solidFill>
                <a:latin typeface="Poppins"/>
                <a:ea typeface="Poppins"/>
                <a:cs typeface="Poppins"/>
                <a:sym typeface="Poppins"/>
              </a:rPr>
              <a:t> could cause conflict </a:t>
            </a:r>
            <a:r>
              <a:rPr lang="en" sz="1200" b="1">
                <a:solidFill>
                  <a:srgbClr val="FFFF00"/>
                </a:solidFill>
                <a:latin typeface="Poppins"/>
                <a:ea typeface="Poppins"/>
                <a:cs typeface="Poppins"/>
                <a:sym typeface="Poppins"/>
              </a:rPr>
              <a:t>and how</a:t>
            </a:r>
            <a:r>
              <a:rPr lang="en" sz="1200" b="1">
                <a:solidFill>
                  <a:schemeClr val="lt1"/>
                </a:solidFill>
                <a:latin typeface="Poppins"/>
                <a:ea typeface="Poppins"/>
                <a:cs typeface="Poppins"/>
                <a:sym typeface="Poppins"/>
              </a:rPr>
              <a:t> this conflict could involve other countries. Use the links from your table to support your answer.</a:t>
            </a:r>
            <a:endParaRPr sz="1200" b="1">
              <a:solidFill>
                <a:schemeClr val="lt1"/>
              </a:solidFill>
              <a:latin typeface="Poppins"/>
              <a:ea typeface="Poppins"/>
              <a:cs typeface="Poppins"/>
              <a:sym typeface="Poppins"/>
            </a:endParaRPr>
          </a:p>
        </p:txBody>
      </p:sp>
      <p:sp>
        <p:nvSpPr>
          <p:cNvPr id="252" name="Google Shape;252;p45"/>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grpSp>
        <p:nvGrpSpPr>
          <p:cNvPr id="253" name="Google Shape;253;p45"/>
          <p:cNvGrpSpPr/>
          <p:nvPr/>
        </p:nvGrpSpPr>
        <p:grpSpPr>
          <a:xfrm>
            <a:off x="1067644" y="3989621"/>
            <a:ext cx="618760" cy="705357"/>
            <a:chOff x="5426175" y="139294"/>
            <a:chExt cx="946695" cy="1152356"/>
          </a:xfrm>
        </p:grpSpPr>
        <p:pic>
          <p:nvPicPr>
            <p:cNvPr id="254" name="Google Shape;254;p45"/>
            <p:cNvPicPr preferRelativeResize="0"/>
            <p:nvPr/>
          </p:nvPicPr>
          <p:blipFill>
            <a:blip r:embed="rId3">
              <a:alphaModFix/>
            </a:blip>
            <a:stretch>
              <a:fillRect/>
            </a:stretch>
          </p:blipFill>
          <p:spPr>
            <a:xfrm>
              <a:off x="5469469" y="139300"/>
              <a:ext cx="903401" cy="1152350"/>
            </a:xfrm>
            <a:prstGeom prst="rect">
              <a:avLst/>
            </a:prstGeom>
            <a:noFill/>
            <a:ln>
              <a:noFill/>
            </a:ln>
          </p:spPr>
        </p:pic>
        <p:pic>
          <p:nvPicPr>
            <p:cNvPr id="255" name="Google Shape;255;p45" descr="a cartoon drawing of a fire with a flame coming out of it (Provided by Tenor)"/>
            <p:cNvPicPr preferRelativeResize="0"/>
            <p:nvPr/>
          </p:nvPicPr>
          <p:blipFill>
            <a:blip r:embed="rId4">
              <a:alphaModFix/>
            </a:blip>
            <a:stretch>
              <a:fillRect/>
            </a:stretch>
          </p:blipFill>
          <p:spPr>
            <a:xfrm>
              <a:off x="5426175" y="139294"/>
              <a:ext cx="341075" cy="391706"/>
            </a:xfrm>
            <a:prstGeom prst="rect">
              <a:avLst/>
            </a:prstGeom>
            <a:noFill/>
            <a:ln>
              <a:noFill/>
            </a:ln>
          </p:spPr>
        </p:pic>
      </p:grpSp>
      <p:grpSp>
        <p:nvGrpSpPr>
          <p:cNvPr id="256" name="Google Shape;256;p45"/>
          <p:cNvGrpSpPr/>
          <p:nvPr/>
        </p:nvGrpSpPr>
        <p:grpSpPr>
          <a:xfrm>
            <a:off x="1067649" y="3160735"/>
            <a:ext cx="618761" cy="705285"/>
            <a:chOff x="5313625" y="1569463"/>
            <a:chExt cx="1136175" cy="1330475"/>
          </a:xfrm>
        </p:grpSpPr>
        <p:pic>
          <p:nvPicPr>
            <p:cNvPr id="257" name="Google Shape;257;p45"/>
            <p:cNvPicPr preferRelativeResize="0"/>
            <p:nvPr/>
          </p:nvPicPr>
          <p:blipFill>
            <a:blip r:embed="rId5">
              <a:alphaModFix/>
            </a:blip>
            <a:stretch>
              <a:fillRect/>
            </a:stretch>
          </p:blipFill>
          <p:spPr>
            <a:xfrm>
              <a:off x="5392550" y="1569463"/>
              <a:ext cx="1057250" cy="1330475"/>
            </a:xfrm>
            <a:prstGeom prst="rect">
              <a:avLst/>
            </a:prstGeom>
            <a:noFill/>
            <a:ln>
              <a:noFill/>
            </a:ln>
          </p:spPr>
        </p:pic>
        <p:pic>
          <p:nvPicPr>
            <p:cNvPr id="258" name="Google Shape;258;p45" descr="smoke is coming out of a hole in the ground on a white background . (Provided by Tenor)"/>
            <p:cNvPicPr preferRelativeResize="0"/>
            <p:nvPr/>
          </p:nvPicPr>
          <p:blipFill rotWithShape="1">
            <a:blip r:embed="rId6">
              <a:alphaModFix/>
            </a:blip>
            <a:srcRect l="42413" t="17925"/>
            <a:stretch/>
          </p:blipFill>
          <p:spPr>
            <a:xfrm>
              <a:off x="5313625" y="1650525"/>
              <a:ext cx="418000" cy="604725"/>
            </a:xfrm>
            <a:prstGeom prst="rect">
              <a:avLst/>
            </a:prstGeom>
            <a:noFill/>
            <a:ln>
              <a:noFill/>
            </a:ln>
          </p:spPr>
        </p:pic>
      </p:grpSp>
      <p:pic>
        <p:nvPicPr>
          <p:cNvPr id="259" name="Google Shape;259;p45"/>
          <p:cNvPicPr preferRelativeResize="0"/>
          <p:nvPr/>
        </p:nvPicPr>
        <p:blipFill>
          <a:blip r:embed="rId7">
            <a:alphaModFix/>
          </a:blip>
          <a:stretch>
            <a:fillRect/>
          </a:stretch>
        </p:blipFill>
        <p:spPr>
          <a:xfrm>
            <a:off x="117776" y="3537900"/>
            <a:ext cx="849574" cy="554100"/>
          </a:xfrm>
          <a:prstGeom prst="rect">
            <a:avLst/>
          </a:prstGeom>
          <a:noFill/>
          <a:ln>
            <a:noFill/>
          </a:ln>
        </p:spPr>
      </p:pic>
      <p:pic>
        <p:nvPicPr>
          <p:cNvPr id="260" name="Google Shape;260;p45" descr="The leaves are starting to turn colour, and the weather is getting cooler. That means it's time for one of nature's most beautiful displays: Fall leaves! Use this 15-minute timer to enjoy the fall colours.&#10;&#10;⚡Subscribe: https://bit.ly/3uUcvRk ⚡&#10;&#10;#timer #fallleaves  #autumn" title="15 Minute Beautiful Fall Leaves Countdown | 🍂">
            <a:hlinkClick r:id="rId8"/>
          </p:cNvPr>
          <p:cNvPicPr preferRelativeResize="0"/>
          <p:nvPr/>
        </p:nvPicPr>
        <p:blipFill>
          <a:blip r:embed="rId9">
            <a:alphaModFix/>
          </a:blip>
          <a:stretch>
            <a:fillRect/>
          </a:stretch>
        </p:blipFill>
        <p:spPr>
          <a:xfrm>
            <a:off x="7499675" y="66925"/>
            <a:ext cx="1524000" cy="857250"/>
          </a:xfrm>
          <a:prstGeom prst="rect">
            <a:avLst/>
          </a:prstGeom>
          <a:noFill/>
          <a:ln>
            <a:noFill/>
          </a:ln>
        </p:spPr>
      </p:pic>
      <p:pic>
        <p:nvPicPr>
          <p:cNvPr id="261" name="Google Shape;261;p45" title="Screenshot 2026-10-06 at 1.49.24 PM.png"/>
          <p:cNvPicPr preferRelativeResize="0"/>
          <p:nvPr/>
        </p:nvPicPr>
        <p:blipFill>
          <a:blip r:embed="rId10">
            <a:alphaModFix/>
          </a:blip>
          <a:stretch>
            <a:fillRect/>
          </a:stretch>
        </p:blipFill>
        <p:spPr>
          <a:xfrm>
            <a:off x="5636620" y="1106600"/>
            <a:ext cx="2699920" cy="18717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60"/>
                                        </p:tgtEl>
                                        <p:attrNameLst>
                                          <p:attrName>style.visibility</p:attrName>
                                        </p:attrNameLst>
                                      </p:cBhvr>
                                      <p:to>
                                        <p:strVal val="visible"/>
                                      </p:to>
                                    </p:set>
                                    <p:animEffect transition="in" filter="fade">
                                      <p:cBhvr>
                                        <p:cTn id="19" dur="10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graphicFrame>
        <p:nvGraphicFramePr>
          <p:cNvPr id="266" name="Google Shape;266;p46"/>
          <p:cNvGraphicFramePr/>
          <p:nvPr/>
        </p:nvGraphicFramePr>
        <p:xfrm>
          <a:off x="157250" y="1106625"/>
          <a:ext cx="8829500" cy="3886170"/>
        </p:xfrm>
        <a:graphic>
          <a:graphicData uri="http://schemas.openxmlformats.org/drawingml/2006/table">
            <a:tbl>
              <a:tblPr>
                <a:noFill/>
                <a:tableStyleId>{CF89C371-EEFB-4F84-8059-36CEFB7B8939}</a:tableStyleId>
              </a:tblPr>
              <a:tblGrid>
                <a:gridCol w="4414750">
                  <a:extLst>
                    <a:ext uri="{9D8B030D-6E8A-4147-A177-3AD203B41FA5}">
                      <a16:colId xmlns:a16="http://schemas.microsoft.com/office/drawing/2014/main" val="20000"/>
                    </a:ext>
                  </a:extLst>
                </a:gridCol>
                <a:gridCol w="4414750">
                  <a:extLst>
                    <a:ext uri="{9D8B030D-6E8A-4147-A177-3AD203B41FA5}">
                      <a16:colId xmlns:a16="http://schemas.microsoft.com/office/drawing/2014/main" val="20001"/>
                    </a:ext>
                  </a:extLst>
                </a:gridCol>
              </a:tblGrid>
              <a:tr h="1176125">
                <a:tc>
                  <a:txBody>
                    <a:bodyPr/>
                    <a:lstStyle/>
                    <a:p>
                      <a:pPr marL="0" marR="0" lvl="0" indent="0" algn="ctr" rtl="0">
                        <a:lnSpc>
                          <a:spcPct val="100000"/>
                        </a:lnSpc>
                        <a:spcBef>
                          <a:spcPts val="0"/>
                        </a:spcBef>
                        <a:spcAft>
                          <a:spcPts val="0"/>
                        </a:spcAft>
                        <a:buClr>
                          <a:srgbClr val="000000"/>
                        </a:buClr>
                        <a:buSzPts val="1100"/>
                        <a:buFont typeface="Arial"/>
                        <a:buNone/>
                      </a:pPr>
                      <a:r>
                        <a:rPr lang="en" sz="1200" b="1" u="sng" strike="noStrike" cap="none">
                          <a:latin typeface="Poppins"/>
                          <a:ea typeface="Poppins"/>
                          <a:cs typeface="Poppins"/>
                          <a:sym typeface="Poppins"/>
                        </a:rPr>
                        <a:t>Britain</a:t>
                      </a:r>
                      <a:endParaRPr sz="1200" b="1" u="none" strike="noStrike" cap="none">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100"/>
                        <a:buFont typeface="Arial"/>
                        <a:buNone/>
                      </a:pPr>
                      <a:r>
                        <a:rPr lang="en" sz="1200" b="1" u="none" strike="noStrike" cap="none">
                          <a:latin typeface="Poppins"/>
                          <a:ea typeface="Poppins"/>
                          <a:cs typeface="Poppins"/>
                          <a:sym typeface="Poppins"/>
                        </a:rPr>
                        <a:t>What is the thing they want the most?</a:t>
                      </a:r>
                      <a:endParaRPr sz="1200" b="1" u="none" strike="noStrike" cap="none">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500"/>
                        <a:buFont typeface="Arial"/>
                        <a:buNone/>
                      </a:pPr>
                      <a:r>
                        <a:rPr lang="en" sz="1200" b="1" u="none" strike="noStrike" cap="none">
                          <a:solidFill>
                            <a:srgbClr val="00B050"/>
                          </a:solidFill>
                          <a:latin typeface="Poppins"/>
                          <a:ea typeface="Poppins"/>
                          <a:cs typeface="Poppins"/>
                          <a:sym typeface="Poppins"/>
                        </a:rPr>
                        <a:t>Keep their Empire/power</a:t>
                      </a:r>
                      <a:endParaRPr sz="1200" b="1" u="none" strike="noStrike" cap="none">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100"/>
                        <a:buFont typeface="Arial"/>
                        <a:buNone/>
                      </a:pPr>
                      <a:endParaRPr sz="1200" b="1">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100"/>
                        <a:buFont typeface="Arial"/>
                        <a:buNone/>
                      </a:pPr>
                      <a:r>
                        <a:rPr lang="en" sz="1200" b="1" u="none" strike="noStrike" cap="none">
                          <a:latin typeface="Poppins"/>
                          <a:ea typeface="Poppins"/>
                          <a:cs typeface="Poppins"/>
                          <a:sym typeface="Poppins"/>
                        </a:rPr>
                        <a:t>Who stands in the way of this? </a:t>
                      </a:r>
                      <a:endParaRPr sz="1200" b="1" u="none" strike="noStrike" cap="none">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500"/>
                        <a:buFont typeface="Arial"/>
                        <a:buNone/>
                      </a:pPr>
                      <a:r>
                        <a:rPr lang="en" sz="1200" b="1" u="none" strike="noStrike" cap="none">
                          <a:solidFill>
                            <a:srgbClr val="00B050"/>
                          </a:solidFill>
                          <a:latin typeface="Poppins"/>
                          <a:ea typeface="Poppins"/>
                          <a:cs typeface="Poppins"/>
                          <a:sym typeface="Poppins"/>
                        </a:rPr>
                        <a:t>Germany</a:t>
                      </a:r>
                      <a:endParaRPr sz="1200" b="1" u="none" strike="noStrike" cap="none">
                        <a:solidFill>
                          <a:srgbClr val="00B050"/>
                        </a:solidFill>
                        <a:latin typeface="Poppins"/>
                        <a:ea typeface="Poppins"/>
                        <a:cs typeface="Poppins"/>
                        <a:sym typeface="Poppins"/>
                      </a:endParaRPr>
                    </a:p>
                  </a:txBody>
                  <a:tcPr marL="91425" marR="91425" marT="68575" marB="6857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800"/>
                        <a:buFont typeface="Arial"/>
                        <a:buNone/>
                      </a:pPr>
                      <a:r>
                        <a:rPr lang="en" sz="1200" b="1" u="sng" strike="noStrike" cap="none">
                          <a:solidFill>
                            <a:schemeClr val="dk1"/>
                          </a:solidFill>
                          <a:latin typeface="Poppins"/>
                          <a:ea typeface="Poppins"/>
                          <a:cs typeface="Poppins"/>
                          <a:sym typeface="Poppins"/>
                        </a:rPr>
                        <a:t>France</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What is the thing they want the most?</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Area of Alsace and Lorraine back from Germany</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endParaRPr sz="1200" b="1">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Who stands in the way of this? </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Germany</a:t>
                      </a:r>
                      <a:endParaRPr sz="1200" u="none" strike="noStrike" cap="none">
                        <a:solidFill>
                          <a:srgbClr val="00B050"/>
                        </a:solidFill>
                        <a:latin typeface="Poppins"/>
                        <a:ea typeface="Poppins"/>
                        <a:cs typeface="Poppins"/>
                        <a:sym typeface="Poppins"/>
                      </a:endParaRPr>
                    </a:p>
                  </a:txBody>
                  <a:tcPr marL="91425" marR="91425" marT="68575" marB="6857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350375">
                <a:tc>
                  <a:txBody>
                    <a:bodyPr/>
                    <a:lstStyle/>
                    <a:p>
                      <a:pPr marL="0" marR="0" lvl="0" indent="0" algn="ctr" rtl="0">
                        <a:lnSpc>
                          <a:spcPct val="100000"/>
                        </a:lnSpc>
                        <a:spcBef>
                          <a:spcPts val="0"/>
                        </a:spcBef>
                        <a:spcAft>
                          <a:spcPts val="0"/>
                        </a:spcAft>
                        <a:buClr>
                          <a:schemeClr val="dk1"/>
                        </a:buClr>
                        <a:buSzPts val="800"/>
                        <a:buFont typeface="Arial"/>
                        <a:buNone/>
                      </a:pPr>
                      <a:r>
                        <a:rPr lang="en" sz="1200" b="1" u="sng" strike="noStrike" cap="none">
                          <a:solidFill>
                            <a:schemeClr val="dk1"/>
                          </a:solidFill>
                          <a:latin typeface="Poppins"/>
                          <a:ea typeface="Poppins"/>
                          <a:cs typeface="Poppins"/>
                          <a:sym typeface="Poppins"/>
                        </a:rPr>
                        <a:t>Austria-Hungary</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What is the thing they want the most?</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Land in the Balkan States</a:t>
                      </a:r>
                      <a:endParaRPr sz="1200" b="1" u="none" strike="noStrike" cap="none">
                        <a:solidFill>
                          <a:srgbClr val="00B05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Stability in their Empire</a:t>
                      </a:r>
                      <a:endParaRPr sz="1200" b="1" u="none" strike="noStrike" cap="none">
                        <a:solidFill>
                          <a:srgbClr val="00B05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Who stands in the way of this? </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Russia</a:t>
                      </a:r>
                      <a:endParaRPr sz="1200" u="none" strike="noStrike" cap="none">
                        <a:solidFill>
                          <a:srgbClr val="00B050"/>
                        </a:solidFill>
                        <a:latin typeface="Poppins"/>
                        <a:ea typeface="Poppins"/>
                        <a:cs typeface="Poppins"/>
                        <a:sym typeface="Poppins"/>
                      </a:endParaRPr>
                    </a:p>
                  </a:txBody>
                  <a:tcPr marL="91425" marR="91425" marT="68575" marB="6857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800"/>
                        <a:buFont typeface="Arial"/>
                        <a:buNone/>
                      </a:pPr>
                      <a:r>
                        <a:rPr lang="en" sz="1200" b="1" u="sng" strike="noStrike" cap="none">
                          <a:solidFill>
                            <a:schemeClr val="dk1"/>
                          </a:solidFill>
                          <a:latin typeface="Poppins"/>
                          <a:ea typeface="Poppins"/>
                          <a:cs typeface="Poppins"/>
                          <a:sym typeface="Poppins"/>
                        </a:rPr>
                        <a:t>Germany</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What is the thing they want the most?</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Bigger Empire</a:t>
                      </a:r>
                      <a:endParaRPr sz="1200" b="1" u="none" strike="noStrike" cap="none">
                        <a:solidFill>
                          <a:srgbClr val="00B05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Who stands in the way of this? </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Britain and France</a:t>
                      </a:r>
                      <a:endParaRPr sz="1200" u="none" strike="noStrike" cap="none">
                        <a:solidFill>
                          <a:srgbClr val="00B050"/>
                        </a:solidFill>
                        <a:latin typeface="Poppins"/>
                        <a:ea typeface="Poppins"/>
                        <a:cs typeface="Poppins"/>
                        <a:sym typeface="Poppins"/>
                      </a:endParaRPr>
                    </a:p>
                  </a:txBody>
                  <a:tcPr marL="91425" marR="91425" marT="68575" marB="6857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76125">
                <a:tc>
                  <a:txBody>
                    <a:bodyPr/>
                    <a:lstStyle/>
                    <a:p>
                      <a:pPr marL="0" marR="0" lvl="0" indent="0" algn="ctr" rtl="0">
                        <a:lnSpc>
                          <a:spcPct val="100000"/>
                        </a:lnSpc>
                        <a:spcBef>
                          <a:spcPts val="0"/>
                        </a:spcBef>
                        <a:spcAft>
                          <a:spcPts val="0"/>
                        </a:spcAft>
                        <a:buClr>
                          <a:schemeClr val="dk1"/>
                        </a:buClr>
                        <a:buSzPts val="800"/>
                        <a:buFont typeface="Arial"/>
                        <a:buNone/>
                      </a:pPr>
                      <a:r>
                        <a:rPr lang="en" sz="1200" b="1" u="sng" strike="noStrike" cap="none">
                          <a:solidFill>
                            <a:schemeClr val="dk1"/>
                          </a:solidFill>
                          <a:latin typeface="Poppins"/>
                          <a:ea typeface="Poppins"/>
                          <a:cs typeface="Poppins"/>
                          <a:sym typeface="Poppins"/>
                        </a:rPr>
                        <a:t>Russia</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What is the thing they want the most?</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Strong Army</a:t>
                      </a:r>
                      <a:endParaRPr sz="1200" b="1" u="none" strike="noStrike" cap="none">
                        <a:solidFill>
                          <a:srgbClr val="00B05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Land in the Balkan States</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Who stands in the way of this? </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Germany and Austria-Hungary</a:t>
                      </a:r>
                      <a:endParaRPr sz="1200" u="none" strike="noStrike" cap="none">
                        <a:solidFill>
                          <a:srgbClr val="00B050"/>
                        </a:solidFill>
                        <a:latin typeface="Poppins"/>
                        <a:ea typeface="Poppins"/>
                        <a:cs typeface="Poppins"/>
                        <a:sym typeface="Poppins"/>
                      </a:endParaRPr>
                    </a:p>
                  </a:txBody>
                  <a:tcPr marL="91425" marR="91425" marT="68575" marB="6857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800"/>
                        <a:buFont typeface="Arial"/>
                        <a:buNone/>
                      </a:pPr>
                      <a:r>
                        <a:rPr lang="en" sz="1200" b="1" u="sng" strike="noStrike" cap="none">
                          <a:solidFill>
                            <a:schemeClr val="dk1"/>
                          </a:solidFill>
                          <a:latin typeface="Poppins"/>
                          <a:ea typeface="Poppins"/>
                          <a:cs typeface="Poppins"/>
                          <a:sym typeface="Poppins"/>
                        </a:rPr>
                        <a:t>Serbia</a:t>
                      </a:r>
                      <a:endParaRPr sz="1200" b="1" u="sng"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What is the thing they want the most?</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Want to remain independent </a:t>
                      </a:r>
                      <a:endParaRPr sz="1200" b="1" u="none" strike="noStrike" cap="none">
                        <a:solidFill>
                          <a:srgbClr val="00B05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Want land in Bosnia (part of the Balkans)</a:t>
                      </a:r>
                      <a:endParaRPr sz="1200" b="1" u="none" strike="noStrike" cap="none">
                        <a:solidFill>
                          <a:srgbClr val="00B05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chemeClr val="dk1"/>
                          </a:solidFill>
                          <a:latin typeface="Poppins"/>
                          <a:ea typeface="Poppins"/>
                          <a:cs typeface="Poppins"/>
                          <a:sym typeface="Poppins"/>
                        </a:rPr>
                        <a:t>Who stands in the way of this?</a:t>
                      </a:r>
                      <a:endParaRPr sz="1200" b="1"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800"/>
                        <a:buFont typeface="Arial"/>
                        <a:buNone/>
                      </a:pPr>
                      <a:r>
                        <a:rPr lang="en" sz="1200" b="1" u="none" strike="noStrike" cap="none">
                          <a:solidFill>
                            <a:srgbClr val="00B050"/>
                          </a:solidFill>
                          <a:latin typeface="Poppins"/>
                          <a:ea typeface="Poppins"/>
                          <a:cs typeface="Poppins"/>
                          <a:sym typeface="Poppins"/>
                        </a:rPr>
                        <a:t>Austria-Hungary  </a:t>
                      </a:r>
                      <a:endParaRPr sz="1200" u="none" strike="noStrike" cap="none">
                        <a:solidFill>
                          <a:srgbClr val="00B050"/>
                        </a:solidFill>
                        <a:latin typeface="Poppins"/>
                        <a:ea typeface="Poppins"/>
                        <a:cs typeface="Poppins"/>
                        <a:sym typeface="Poppins"/>
                      </a:endParaRPr>
                    </a:p>
                  </a:txBody>
                  <a:tcPr marL="91425" marR="91425" marT="68575" marB="6857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67" name="Google Shape;267;p46"/>
          <p:cNvSpPr txBox="1"/>
          <p:nvPr/>
        </p:nvSpPr>
        <p:spPr>
          <a:xfrm>
            <a:off x="115225" y="582488"/>
            <a:ext cx="56193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Friends and Foes: European Aims in 1913</a:t>
            </a:r>
            <a:endParaRPr sz="2400" b="1" u="sng">
              <a:solidFill>
                <a:srgbClr val="000000"/>
              </a:solidFill>
              <a:latin typeface="Patrick Hand"/>
              <a:ea typeface="Patrick Hand"/>
              <a:cs typeface="Patrick Hand"/>
              <a:sym typeface="Patrick Hand"/>
            </a:endParaRPr>
          </a:p>
        </p:txBody>
      </p:sp>
      <p:sp>
        <p:nvSpPr>
          <p:cNvPr id="268" name="Google Shape;268;p46"/>
          <p:cNvSpPr/>
          <p:nvPr/>
        </p:nvSpPr>
        <p:spPr>
          <a:xfrm>
            <a:off x="4628700" y="1195988"/>
            <a:ext cx="4233900" cy="1096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46"/>
          <p:cNvSpPr/>
          <p:nvPr/>
        </p:nvSpPr>
        <p:spPr>
          <a:xfrm>
            <a:off x="207225" y="2404600"/>
            <a:ext cx="4233900" cy="1275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0" name="Google Shape;270;p46"/>
          <p:cNvSpPr/>
          <p:nvPr/>
        </p:nvSpPr>
        <p:spPr>
          <a:xfrm>
            <a:off x="4628700" y="2420000"/>
            <a:ext cx="4233900" cy="1275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1" name="Google Shape;271;p46"/>
          <p:cNvSpPr/>
          <p:nvPr/>
        </p:nvSpPr>
        <p:spPr>
          <a:xfrm>
            <a:off x="207225" y="3823100"/>
            <a:ext cx="4233900" cy="1096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2" name="Google Shape;272;p46"/>
          <p:cNvSpPr/>
          <p:nvPr/>
        </p:nvSpPr>
        <p:spPr>
          <a:xfrm>
            <a:off x="4628700" y="3823100"/>
            <a:ext cx="4233900" cy="1096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3" name="Google Shape;273;p46"/>
          <p:cNvSpPr txBox="1"/>
          <p:nvPr/>
        </p:nvSpPr>
        <p:spPr>
          <a:xfrm>
            <a:off x="6562650" y="567500"/>
            <a:ext cx="1988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2400" b="1" i="0" u="none" strike="noStrike" cap="none">
                <a:solidFill>
                  <a:srgbClr val="00B050"/>
                </a:solidFill>
                <a:latin typeface="Fugaz One"/>
                <a:ea typeface="Fugaz One"/>
                <a:cs typeface="Fugaz One"/>
                <a:sym typeface="Fugaz One"/>
              </a:rPr>
              <a:t>Green Pen!</a:t>
            </a:r>
            <a:endParaRPr sz="2400" b="1" i="0" u="none" strike="noStrike" cap="none">
              <a:solidFill>
                <a:srgbClr val="00B050"/>
              </a:solidFill>
              <a:latin typeface="Fugaz One"/>
              <a:ea typeface="Fugaz One"/>
              <a:cs typeface="Fugaz One"/>
              <a:sym typeface="Fugaz One"/>
            </a:endParaRPr>
          </a:p>
        </p:txBody>
      </p:sp>
      <p:pic>
        <p:nvPicPr>
          <p:cNvPr id="274" name="Google Shape;274;p46"/>
          <p:cNvPicPr preferRelativeResize="0"/>
          <p:nvPr/>
        </p:nvPicPr>
        <p:blipFill>
          <a:blip r:embed="rId3">
            <a:alphaModFix/>
          </a:blip>
          <a:stretch>
            <a:fillRect/>
          </a:stretch>
        </p:blipFill>
        <p:spPr>
          <a:xfrm>
            <a:off x="8391225" y="567500"/>
            <a:ext cx="554100" cy="554100"/>
          </a:xfrm>
          <a:prstGeom prst="rect">
            <a:avLst/>
          </a:prstGeom>
          <a:noFill/>
          <a:ln>
            <a:noFill/>
          </a:ln>
        </p:spPr>
      </p:pic>
      <p:sp>
        <p:nvSpPr>
          <p:cNvPr id="275" name="Google Shape;275;p46"/>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6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6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27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7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27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7"/>
          <p:cNvSpPr txBox="1"/>
          <p:nvPr/>
        </p:nvSpPr>
        <p:spPr>
          <a:xfrm>
            <a:off x="104400" y="1106600"/>
            <a:ext cx="8919300" cy="433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600" b="1">
                <a:solidFill>
                  <a:schemeClr val="dk1"/>
                </a:solidFill>
                <a:highlight>
                  <a:srgbClr val="00FF00"/>
                </a:highlight>
                <a:latin typeface="Baumans"/>
                <a:ea typeface="Baumans"/>
                <a:cs typeface="Baumans"/>
                <a:sym typeface="Baumans"/>
              </a:rPr>
              <a:t>Activity:</a:t>
            </a:r>
            <a:r>
              <a:rPr lang="en" sz="1600" b="1" i="0" u="none" strike="noStrike" cap="none">
                <a:solidFill>
                  <a:schemeClr val="dk1"/>
                </a:solidFill>
                <a:latin typeface="Baumans"/>
                <a:ea typeface="Baumans"/>
                <a:cs typeface="Baumans"/>
                <a:sym typeface="Baumans"/>
              </a:rPr>
              <a:t> </a:t>
            </a:r>
            <a:r>
              <a:rPr lang="en" sz="1600">
                <a:solidFill>
                  <a:schemeClr val="dk1"/>
                </a:solidFill>
                <a:latin typeface="Baumans"/>
                <a:ea typeface="Baumans"/>
                <a:cs typeface="Baumans"/>
                <a:sym typeface="Baumans"/>
              </a:rPr>
              <a:t>Explain </a:t>
            </a:r>
            <a:r>
              <a:rPr lang="en" sz="1600" b="1">
                <a:solidFill>
                  <a:schemeClr val="dk1"/>
                </a:solidFill>
                <a:latin typeface="Baumans"/>
                <a:ea typeface="Baumans"/>
                <a:cs typeface="Baumans"/>
                <a:sym typeface="Baumans"/>
              </a:rPr>
              <a:t>how the alliances</a:t>
            </a:r>
            <a:r>
              <a:rPr lang="en" sz="1600">
                <a:solidFill>
                  <a:schemeClr val="dk1"/>
                </a:solidFill>
                <a:latin typeface="Baumans"/>
                <a:ea typeface="Baumans"/>
                <a:cs typeface="Baumans"/>
                <a:sym typeface="Baumans"/>
              </a:rPr>
              <a:t> </a:t>
            </a:r>
            <a:r>
              <a:rPr lang="en" b="1">
                <a:solidFill>
                  <a:schemeClr val="dk1"/>
                </a:solidFill>
                <a:latin typeface="Patrick Hand"/>
                <a:ea typeface="Patrick Hand"/>
                <a:cs typeface="Patrick Hand"/>
                <a:sym typeface="Patrick Hand"/>
              </a:rPr>
              <a:t>(Triple Entente and Triple Alliance)</a:t>
            </a:r>
            <a:r>
              <a:rPr lang="en" sz="1600">
                <a:solidFill>
                  <a:schemeClr val="dk1"/>
                </a:solidFill>
                <a:latin typeface="Baumans"/>
                <a:ea typeface="Baumans"/>
                <a:cs typeface="Baumans"/>
                <a:sym typeface="Baumans"/>
              </a:rPr>
              <a:t> might have </a:t>
            </a:r>
            <a:r>
              <a:rPr lang="en" sz="1600" b="1">
                <a:solidFill>
                  <a:schemeClr val="dk1"/>
                </a:solidFill>
                <a:latin typeface="Baumans"/>
                <a:ea typeface="Baumans"/>
                <a:cs typeface="Baumans"/>
                <a:sym typeface="Baumans"/>
              </a:rPr>
              <a:t>made war more likely</a:t>
            </a:r>
            <a:r>
              <a:rPr lang="en" sz="1600">
                <a:solidFill>
                  <a:schemeClr val="dk1"/>
                </a:solidFill>
                <a:latin typeface="Baumans"/>
                <a:ea typeface="Baumans"/>
                <a:cs typeface="Baumans"/>
                <a:sym typeface="Baumans"/>
              </a:rPr>
              <a:t>.</a:t>
            </a:r>
            <a:endParaRPr sz="1600" b="1">
              <a:solidFill>
                <a:schemeClr val="dk1"/>
              </a:solidFill>
              <a:latin typeface="Baumans"/>
              <a:ea typeface="Baumans"/>
              <a:cs typeface="Baumans"/>
              <a:sym typeface="Baumans"/>
            </a:endParaRPr>
          </a:p>
        </p:txBody>
      </p:sp>
      <p:pic>
        <p:nvPicPr>
          <p:cNvPr id="281" name="Google Shape;281;p47" descr="image.png"/>
          <p:cNvPicPr preferRelativeResize="0"/>
          <p:nvPr/>
        </p:nvPicPr>
        <p:blipFill rotWithShape="1">
          <a:blip r:embed="rId3">
            <a:alphaModFix/>
          </a:blip>
          <a:srcRect b="29067"/>
          <a:stretch/>
        </p:blipFill>
        <p:spPr>
          <a:xfrm>
            <a:off x="7499675" y="1802520"/>
            <a:ext cx="1524000" cy="1039060"/>
          </a:xfrm>
          <a:prstGeom prst="rect">
            <a:avLst/>
          </a:prstGeom>
          <a:noFill/>
          <a:ln>
            <a:noFill/>
          </a:ln>
        </p:spPr>
      </p:pic>
      <p:sp>
        <p:nvSpPr>
          <p:cNvPr id="282" name="Google Shape;282;p47"/>
          <p:cNvSpPr txBox="1"/>
          <p:nvPr/>
        </p:nvSpPr>
        <p:spPr>
          <a:xfrm>
            <a:off x="115225" y="582488"/>
            <a:ext cx="56193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Friends and Foes: European Aims in 1913</a:t>
            </a:r>
            <a:endParaRPr sz="2400" b="1" u="sng">
              <a:solidFill>
                <a:srgbClr val="000000"/>
              </a:solidFill>
              <a:latin typeface="Patrick Hand"/>
              <a:ea typeface="Patrick Hand"/>
              <a:cs typeface="Patrick Hand"/>
              <a:sym typeface="Patrick Hand"/>
            </a:endParaRPr>
          </a:p>
        </p:txBody>
      </p:sp>
      <p:sp>
        <p:nvSpPr>
          <p:cNvPr id="283" name="Google Shape;283;p47"/>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pic>
        <p:nvPicPr>
          <p:cNvPr id="284" name="Google Shape;284;p47" descr="This timer is perfect for anyone who wants to take a break and relax. The 12-minute timer includes calming music and beautiful dancing visuals to help you de-stress and unwind.&#10;&#10;Join our Patreon community and help support us while also having the opportunity to request video ideas. https://www.patreon.com/CountdownStudio&#10;&#10;&#10;⚡Subscribe: https://bit.ly/3uUcvRk ⚡" title="12 Minute Relaxing Timer">
            <a:hlinkClick r:id="rId4"/>
          </p:cNvPr>
          <p:cNvPicPr preferRelativeResize="0"/>
          <p:nvPr/>
        </p:nvPicPr>
        <p:blipFill>
          <a:blip r:embed="rId5">
            <a:alphaModFix/>
          </a:blip>
          <a:stretch>
            <a:fillRect/>
          </a:stretch>
        </p:blipFill>
        <p:spPr>
          <a:xfrm>
            <a:off x="7499675" y="66925"/>
            <a:ext cx="1524000" cy="857250"/>
          </a:xfrm>
          <a:prstGeom prst="rect">
            <a:avLst/>
          </a:prstGeom>
          <a:noFill/>
          <a:ln>
            <a:noFill/>
          </a:ln>
        </p:spPr>
      </p:pic>
      <p:sp>
        <p:nvSpPr>
          <p:cNvPr id="285" name="Google Shape;285;p47"/>
          <p:cNvSpPr txBox="1"/>
          <p:nvPr/>
        </p:nvSpPr>
        <p:spPr>
          <a:xfrm>
            <a:off x="2137775" y="1540100"/>
            <a:ext cx="5461200" cy="156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Baumans"/>
                <a:ea typeface="Baumans"/>
                <a:cs typeface="Baumans"/>
                <a:sym typeface="Baumans"/>
              </a:rPr>
              <a:t>In your book </a:t>
            </a:r>
            <a:r>
              <a:rPr lang="en" sz="1600">
                <a:solidFill>
                  <a:schemeClr val="dk1"/>
                </a:solidFill>
                <a:latin typeface="Baumans"/>
                <a:ea typeface="Baumans"/>
                <a:cs typeface="Baumans"/>
                <a:sym typeface="Baumans"/>
              </a:rPr>
              <a:t>you should:</a:t>
            </a:r>
            <a:endParaRPr sz="160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Char char="●"/>
            </a:pPr>
            <a:r>
              <a:rPr lang="en" sz="1600">
                <a:solidFill>
                  <a:schemeClr val="dk1"/>
                </a:solidFill>
                <a:latin typeface="Baumans"/>
                <a:ea typeface="Baumans"/>
                <a:cs typeface="Baumans"/>
                <a:sym typeface="Baumans"/>
              </a:rPr>
              <a:t>Briefly describe the two alliances.</a:t>
            </a:r>
            <a:endParaRPr sz="160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Char char="●"/>
            </a:pPr>
            <a:r>
              <a:rPr lang="en" sz="1600">
                <a:solidFill>
                  <a:schemeClr val="dk1"/>
                </a:solidFill>
                <a:latin typeface="Baumans"/>
                <a:ea typeface="Baumans"/>
                <a:cs typeface="Baumans"/>
                <a:sym typeface="Baumans"/>
              </a:rPr>
              <a:t>Use evidence from the table of European Aims 1913.</a:t>
            </a:r>
            <a:endParaRPr sz="160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Char char="●"/>
            </a:pPr>
            <a:r>
              <a:rPr lang="en" sz="1600">
                <a:solidFill>
                  <a:schemeClr val="dk1"/>
                </a:solidFill>
                <a:latin typeface="Baumans"/>
                <a:ea typeface="Baumans"/>
                <a:cs typeface="Baumans"/>
                <a:sym typeface="Baumans"/>
              </a:rPr>
              <a:t>Give your own opinion on whether the alliances helped cause WW1.</a:t>
            </a:r>
            <a:endParaRPr/>
          </a:p>
        </p:txBody>
      </p:sp>
      <p:pic>
        <p:nvPicPr>
          <p:cNvPr id="286" name="Google Shape;286;p47"/>
          <p:cNvPicPr preferRelativeResize="0"/>
          <p:nvPr/>
        </p:nvPicPr>
        <p:blipFill>
          <a:blip r:embed="rId6">
            <a:alphaModFix/>
          </a:blip>
          <a:stretch>
            <a:fillRect/>
          </a:stretch>
        </p:blipFill>
        <p:spPr>
          <a:xfrm>
            <a:off x="104400" y="1578975"/>
            <a:ext cx="2033365" cy="1525024"/>
          </a:xfrm>
          <a:prstGeom prst="rect">
            <a:avLst/>
          </a:prstGeom>
          <a:noFill/>
          <a:ln>
            <a:noFill/>
          </a:ln>
        </p:spPr>
      </p:pic>
      <p:sp>
        <p:nvSpPr>
          <p:cNvPr id="287" name="Google Shape;287;p47"/>
          <p:cNvSpPr txBox="1"/>
          <p:nvPr/>
        </p:nvSpPr>
        <p:spPr>
          <a:xfrm>
            <a:off x="115225" y="3104000"/>
            <a:ext cx="61383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Baumans"/>
                <a:ea typeface="Baumans"/>
                <a:cs typeface="Baumans"/>
                <a:sym typeface="Baumans"/>
              </a:rPr>
              <a:t>👉 You only need to write one short paragraph – time to practice </a:t>
            </a:r>
            <a:r>
              <a:rPr lang="en" sz="1600" b="1">
                <a:solidFill>
                  <a:srgbClr val="FC2275"/>
                </a:solidFill>
                <a:highlight>
                  <a:schemeClr val="dk1"/>
                </a:highlight>
                <a:latin typeface="Baumans"/>
                <a:ea typeface="Baumans"/>
                <a:cs typeface="Baumans"/>
                <a:sym typeface="Baumans"/>
              </a:rPr>
              <a:t>P</a:t>
            </a:r>
            <a:r>
              <a:rPr lang="en" sz="1600" b="1">
                <a:solidFill>
                  <a:srgbClr val="FF8B08"/>
                </a:solidFill>
                <a:highlight>
                  <a:schemeClr val="dk1"/>
                </a:highlight>
                <a:latin typeface="Baumans"/>
                <a:ea typeface="Baumans"/>
                <a:cs typeface="Baumans"/>
                <a:sym typeface="Baumans"/>
              </a:rPr>
              <a:t>E</a:t>
            </a:r>
            <a:r>
              <a:rPr lang="en" sz="1600" b="1">
                <a:solidFill>
                  <a:srgbClr val="72E02D"/>
                </a:solidFill>
                <a:highlight>
                  <a:schemeClr val="dk1"/>
                </a:highlight>
                <a:latin typeface="Baumans"/>
                <a:ea typeface="Baumans"/>
                <a:cs typeface="Baumans"/>
                <a:sym typeface="Baumans"/>
              </a:rPr>
              <a:t>E</a:t>
            </a:r>
            <a:r>
              <a:rPr lang="en" sz="1600" b="1">
                <a:solidFill>
                  <a:srgbClr val="01A2FC"/>
                </a:solidFill>
                <a:highlight>
                  <a:schemeClr val="dk1"/>
                </a:highlight>
                <a:latin typeface="Baumans"/>
                <a:ea typeface="Baumans"/>
                <a:cs typeface="Baumans"/>
                <a:sym typeface="Baumans"/>
              </a:rPr>
              <a:t>L</a:t>
            </a:r>
            <a:r>
              <a:rPr lang="en" sz="1600" b="1">
                <a:solidFill>
                  <a:schemeClr val="dk1"/>
                </a:solidFill>
                <a:latin typeface="Baumans"/>
                <a:ea typeface="Baumans"/>
                <a:cs typeface="Baumans"/>
                <a:sym typeface="Baumans"/>
              </a:rPr>
              <a:t> as a quick summary of what you learned today.</a:t>
            </a:r>
            <a:endParaRPr/>
          </a:p>
        </p:txBody>
      </p:sp>
      <p:sp>
        <p:nvSpPr>
          <p:cNvPr id="288" name="Google Shape;288;p47"/>
          <p:cNvSpPr txBox="1"/>
          <p:nvPr/>
        </p:nvSpPr>
        <p:spPr>
          <a:xfrm>
            <a:off x="728525" y="3979150"/>
            <a:ext cx="5400600" cy="831300"/>
          </a:xfrm>
          <a:prstGeom prst="rect">
            <a:avLst/>
          </a:prstGeom>
          <a:solidFill>
            <a:srgbClr val="46230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Poppins"/>
                <a:ea typeface="Poppins"/>
                <a:cs typeface="Poppins"/>
                <a:sym typeface="Poppins"/>
              </a:rPr>
              <a:t>What message is the cartoon giving about the alliance system in 1914? Explain your answer using evidence from the cartoon and what you have learned.</a:t>
            </a:r>
            <a:endParaRPr b="1">
              <a:solidFill>
                <a:schemeClr val="lt1"/>
              </a:solidFill>
              <a:latin typeface="Poppins"/>
              <a:ea typeface="Poppins"/>
              <a:cs typeface="Poppins"/>
              <a:sym typeface="Poppins"/>
            </a:endParaRPr>
          </a:p>
        </p:txBody>
      </p:sp>
      <p:grpSp>
        <p:nvGrpSpPr>
          <p:cNvPr id="289" name="Google Shape;289;p47"/>
          <p:cNvGrpSpPr/>
          <p:nvPr/>
        </p:nvGrpSpPr>
        <p:grpSpPr>
          <a:xfrm>
            <a:off x="104401" y="3940308"/>
            <a:ext cx="554241" cy="805748"/>
            <a:chOff x="5364049" y="2810475"/>
            <a:chExt cx="1114276" cy="1858275"/>
          </a:xfrm>
        </p:grpSpPr>
        <p:pic>
          <p:nvPicPr>
            <p:cNvPr id="290" name="Google Shape;290;p47"/>
            <p:cNvPicPr preferRelativeResize="0"/>
            <p:nvPr/>
          </p:nvPicPr>
          <p:blipFill>
            <a:blip r:embed="rId7">
              <a:alphaModFix/>
            </a:blip>
            <a:stretch>
              <a:fillRect/>
            </a:stretch>
          </p:blipFill>
          <p:spPr>
            <a:xfrm>
              <a:off x="5364049" y="3217600"/>
              <a:ext cx="1114276" cy="1451150"/>
            </a:xfrm>
            <a:prstGeom prst="rect">
              <a:avLst/>
            </a:prstGeom>
            <a:noFill/>
            <a:ln>
              <a:noFill/>
            </a:ln>
          </p:spPr>
        </p:pic>
        <p:pic>
          <p:nvPicPr>
            <p:cNvPr id="291" name="Google Shape;291;p47" descr="a cartoon drawing of a fire with a flame coming out of it (Provided by Tenor)"/>
            <p:cNvPicPr preferRelativeResize="0"/>
            <p:nvPr/>
          </p:nvPicPr>
          <p:blipFill>
            <a:blip r:embed="rId8">
              <a:alphaModFix/>
            </a:blip>
            <a:stretch>
              <a:fillRect/>
            </a:stretch>
          </p:blipFill>
          <p:spPr>
            <a:xfrm>
              <a:off x="5639725" y="2810475"/>
              <a:ext cx="562926" cy="646500"/>
            </a:xfrm>
            <a:prstGeom prst="rect">
              <a:avLst/>
            </a:prstGeom>
            <a:noFill/>
            <a:ln>
              <a:noFill/>
            </a:ln>
          </p:spPr>
        </p:pic>
      </p:grpSp>
      <p:pic>
        <p:nvPicPr>
          <p:cNvPr id="292" name="Google Shape;292;p47"/>
          <p:cNvPicPr preferRelativeResize="0"/>
          <p:nvPr/>
        </p:nvPicPr>
        <p:blipFill>
          <a:blip r:embed="rId9">
            <a:alphaModFix/>
          </a:blip>
          <a:stretch>
            <a:fillRect/>
          </a:stretch>
        </p:blipFill>
        <p:spPr>
          <a:xfrm>
            <a:off x="6183600" y="3220995"/>
            <a:ext cx="2840099" cy="182683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48"/>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298" name="Google Shape;298;p48"/>
          <p:cNvSpPr txBox="1"/>
          <p:nvPr/>
        </p:nvSpPr>
        <p:spPr>
          <a:xfrm>
            <a:off x="115335" y="1532275"/>
            <a:ext cx="8840100" cy="21240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a:pPr>
            <a:r>
              <a:rPr lang="en" sz="1800" b="1">
                <a:solidFill>
                  <a:schemeClr val="dk1"/>
                </a:solidFill>
                <a:latin typeface="Poppins"/>
                <a:ea typeface="Poppins"/>
                <a:cs typeface="Poppins"/>
                <a:sym typeface="Poppins"/>
              </a:rPr>
              <a:t>What was one main reason alliances made war more likely in 1914? </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They helped countries trust each other more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They turned small problems into bigger wars by pulling in more countries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They stopped leaders from building armies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They made everyone agree on peace</a:t>
            </a:r>
            <a:endParaRPr sz="1800">
              <a:solidFill>
                <a:schemeClr val="dk1"/>
              </a:solidFill>
              <a:latin typeface="Poppins"/>
              <a:ea typeface="Poppins"/>
              <a:cs typeface="Poppins"/>
              <a:sym typeface="Poppins"/>
            </a:endParaRPr>
          </a:p>
        </p:txBody>
      </p:sp>
      <p:sp>
        <p:nvSpPr>
          <p:cNvPr id="299" name="Google Shape;299;p48"/>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300" name="Google Shape;300;p48"/>
          <p:cNvSpPr/>
          <p:nvPr/>
        </p:nvSpPr>
        <p:spPr>
          <a:xfrm>
            <a:off x="134675" y="2375400"/>
            <a:ext cx="88014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01;p48"/>
          <p:cNvSpPr txBox="1"/>
          <p:nvPr/>
        </p:nvSpPr>
        <p:spPr>
          <a:xfrm>
            <a:off x="151950"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“What can we learn from this about how small problems can grow bigger in our own lives?”</a:t>
            </a:r>
            <a:endParaRPr sz="2300" b="1">
              <a:solidFill>
                <a:srgbClr val="980000"/>
              </a:solidFill>
              <a:latin typeface="Baumans"/>
              <a:ea typeface="Baumans"/>
              <a:cs typeface="Baumans"/>
              <a:sym typeface="Baumans"/>
            </a:endParaRPr>
          </a:p>
        </p:txBody>
      </p:sp>
      <p:sp>
        <p:nvSpPr>
          <p:cNvPr id="302" name="Google Shape;302;p48"/>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49"/>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308" name="Google Shape;308;p49"/>
          <p:cNvSpPr txBox="1"/>
          <p:nvPr/>
        </p:nvSpPr>
        <p:spPr>
          <a:xfrm>
            <a:off x="115335" y="1532275"/>
            <a:ext cx="8840100" cy="21240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2"/>
            </a:pPr>
            <a:r>
              <a:rPr lang="en" sz="1800" b="1">
                <a:solidFill>
                  <a:schemeClr val="dk1"/>
                </a:solidFill>
                <a:latin typeface="Poppins"/>
                <a:ea typeface="Poppins"/>
                <a:cs typeface="Poppins"/>
                <a:sym typeface="Poppins"/>
              </a:rPr>
              <a:t>How might countries have shown respect or fairness to avoid war? </a:t>
            </a:r>
            <a:endParaRPr sz="1800" b="1">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By refusing to talk to their rivals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By using violence first</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By solving problems through fair talks and diplomacy</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By ignoring smaller nations like Belgium</a:t>
            </a:r>
            <a:endParaRPr sz="1800">
              <a:solidFill>
                <a:schemeClr val="dk1"/>
              </a:solidFill>
              <a:latin typeface="Poppins"/>
              <a:ea typeface="Poppins"/>
              <a:cs typeface="Poppins"/>
              <a:sym typeface="Poppins"/>
            </a:endParaRPr>
          </a:p>
        </p:txBody>
      </p:sp>
      <p:sp>
        <p:nvSpPr>
          <p:cNvPr id="309" name="Google Shape;309;p49"/>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310" name="Google Shape;310;p49"/>
          <p:cNvSpPr/>
          <p:nvPr/>
        </p:nvSpPr>
        <p:spPr>
          <a:xfrm>
            <a:off x="115350" y="2823150"/>
            <a:ext cx="66510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11;p49"/>
          <p:cNvSpPr txBox="1"/>
          <p:nvPr/>
        </p:nvSpPr>
        <p:spPr>
          <a:xfrm>
            <a:off x="115325"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“How could this idea guide the way we treat others every day?”</a:t>
            </a:r>
            <a:endParaRPr sz="2300" b="1">
              <a:solidFill>
                <a:srgbClr val="980000"/>
              </a:solidFill>
              <a:latin typeface="Baumans"/>
              <a:ea typeface="Baumans"/>
              <a:cs typeface="Baumans"/>
              <a:sym typeface="Baumans"/>
            </a:endParaRPr>
          </a:p>
        </p:txBody>
      </p:sp>
      <p:sp>
        <p:nvSpPr>
          <p:cNvPr id="312" name="Google Shape;312;p49"/>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p50"/>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318" name="Google Shape;318;p50"/>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3"/>
            </a:pPr>
            <a:r>
              <a:rPr lang="en" sz="1800" b="1">
                <a:solidFill>
                  <a:schemeClr val="dk1"/>
                </a:solidFill>
                <a:latin typeface="Poppins"/>
                <a:ea typeface="Poppins"/>
                <a:cs typeface="Poppins"/>
                <a:sym typeface="Poppins"/>
              </a:rPr>
              <a:t>If you were a leader in 1914, how would you act with honesty and responsibility to keep peace?</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Keep secret promises and surprise attacks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Work openly with other leaders to avoid war</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Refuse to listen to other countries’ worries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Use threats instead of discussion</a:t>
            </a:r>
            <a:endParaRPr sz="1800">
              <a:solidFill>
                <a:schemeClr val="dk1"/>
              </a:solidFill>
              <a:latin typeface="Poppins"/>
              <a:ea typeface="Poppins"/>
              <a:cs typeface="Poppins"/>
              <a:sym typeface="Poppins"/>
            </a:endParaRPr>
          </a:p>
        </p:txBody>
      </p:sp>
      <p:sp>
        <p:nvSpPr>
          <p:cNvPr id="319" name="Google Shape;319;p50"/>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320" name="Google Shape;320;p50"/>
          <p:cNvSpPr/>
          <p:nvPr/>
        </p:nvSpPr>
        <p:spPr>
          <a:xfrm>
            <a:off x="115350" y="2782275"/>
            <a:ext cx="54897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 name="Google Shape;321;p50"/>
          <p:cNvSpPr txBox="1"/>
          <p:nvPr/>
        </p:nvSpPr>
        <p:spPr>
          <a:xfrm>
            <a:off x="115325"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“In what ways might honesty help us in school or at home?”</a:t>
            </a:r>
            <a:endParaRPr sz="2300" b="1">
              <a:solidFill>
                <a:srgbClr val="980000"/>
              </a:solidFill>
              <a:latin typeface="Baumans"/>
              <a:ea typeface="Baumans"/>
              <a:cs typeface="Baumans"/>
              <a:sym typeface="Baumans"/>
            </a:endParaRPr>
          </a:p>
        </p:txBody>
      </p:sp>
      <p:sp>
        <p:nvSpPr>
          <p:cNvPr id="322" name="Google Shape;322;p50"/>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p51"/>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328" name="Google Shape;328;p51"/>
          <p:cNvSpPr txBox="1"/>
          <p:nvPr/>
        </p:nvSpPr>
        <p:spPr>
          <a:xfrm>
            <a:off x="115335" y="1532275"/>
            <a:ext cx="8840100" cy="21240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4"/>
            </a:pPr>
            <a:r>
              <a:rPr lang="en" sz="1800" b="1">
                <a:solidFill>
                  <a:schemeClr val="dk1"/>
                </a:solidFill>
                <a:latin typeface="Poppins"/>
                <a:ea typeface="Poppins"/>
                <a:cs typeface="Poppins"/>
                <a:sym typeface="Poppins"/>
              </a:rPr>
              <a:t>Why is honesty important when countries make alliances?</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It helps countries know they can rely on each other</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It makes war more exciting</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It allows leaders to keep secret plans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It means countries can break promises more easily</a:t>
            </a:r>
            <a:endParaRPr sz="1800">
              <a:solidFill>
                <a:schemeClr val="dk1"/>
              </a:solidFill>
              <a:latin typeface="Poppins"/>
              <a:ea typeface="Poppins"/>
              <a:cs typeface="Poppins"/>
              <a:sym typeface="Poppins"/>
            </a:endParaRPr>
          </a:p>
        </p:txBody>
      </p:sp>
      <p:sp>
        <p:nvSpPr>
          <p:cNvPr id="329" name="Google Shape;329;p51"/>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330" name="Google Shape;330;p51"/>
          <p:cNvSpPr/>
          <p:nvPr/>
        </p:nvSpPr>
        <p:spPr>
          <a:xfrm>
            <a:off x="116975" y="1997250"/>
            <a:ext cx="63222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1" name="Google Shape;331;p51">
            <a:hlinkClick r:id="rId4"/>
          </p:cNvPr>
          <p:cNvPicPr preferRelativeResize="0"/>
          <p:nvPr/>
        </p:nvPicPr>
        <p:blipFill>
          <a:blip r:embed="rId5">
            <a:alphaModFix/>
          </a:blip>
          <a:stretch>
            <a:fillRect/>
          </a:stretch>
        </p:blipFill>
        <p:spPr>
          <a:xfrm>
            <a:off x="6741424" y="2389941"/>
            <a:ext cx="2287226" cy="676200"/>
          </a:xfrm>
          <a:prstGeom prst="rect">
            <a:avLst/>
          </a:prstGeom>
          <a:noFill/>
          <a:ln>
            <a:noFill/>
          </a:ln>
        </p:spPr>
      </p:pic>
      <p:sp>
        <p:nvSpPr>
          <p:cNvPr id="332" name="Google Shape;332;p51"/>
          <p:cNvSpPr txBox="1"/>
          <p:nvPr/>
        </p:nvSpPr>
        <p:spPr>
          <a:xfrm>
            <a:off x="115325"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“Why is it important to be honest so others can rely on us?”</a:t>
            </a:r>
            <a:endParaRPr sz="2300" b="1">
              <a:solidFill>
                <a:srgbClr val="980000"/>
              </a:solidFill>
              <a:latin typeface="Baumans"/>
              <a:ea typeface="Baumans"/>
              <a:cs typeface="Baumans"/>
              <a:sym typeface="Baumans"/>
            </a:endParaRPr>
          </a:p>
        </p:txBody>
      </p:sp>
      <p:sp>
        <p:nvSpPr>
          <p:cNvPr id="333" name="Google Shape;333;p51"/>
          <p:cNvSpPr txBox="1"/>
          <p:nvPr/>
        </p:nvSpPr>
        <p:spPr>
          <a:xfrm>
            <a:off x="104400" y="77000"/>
            <a:ext cx="8919300" cy="50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Title: Friends and Foes - The Alliance System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800"/>
              <a:buFont typeface="Arial"/>
              <a:buNone/>
            </a:pPr>
            <a:r>
              <a:rPr lang="en" sz="1200" b="1" i="0" u="none" strike="noStrike" cap="none">
                <a:solidFill>
                  <a:srgbClr val="980000"/>
                </a:solidFill>
                <a:latin typeface="Delius"/>
                <a:ea typeface="Delius"/>
                <a:cs typeface="Delius"/>
                <a:sym typeface="Delius"/>
              </a:rPr>
              <a:t>LO: </a:t>
            </a:r>
            <a:r>
              <a:rPr lang="en" sz="1200" b="1">
                <a:solidFill>
                  <a:srgbClr val="980000"/>
                </a:solidFill>
                <a:latin typeface="Delius"/>
                <a:ea typeface="Delius"/>
                <a:cs typeface="Delius"/>
                <a:sym typeface="Delius"/>
              </a:rPr>
              <a:t>How did the formation of the Triple Entente and Triple Alliance increase the likelihood of war?</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2143</Words>
  <Application>Microsoft Macintosh PowerPoint</Application>
  <PresentationFormat>On-screen Show (16:9)</PresentationFormat>
  <Paragraphs>212</Paragraphs>
  <Slides>19</Slides>
  <Notes>17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19</vt:i4>
      </vt:variant>
    </vt:vector>
  </HeadingPairs>
  <TitlesOfParts>
    <vt:vector size="32" baseType="lpstr">
      <vt:lpstr>Caveat</vt:lpstr>
      <vt:lpstr>Calibri</vt:lpstr>
      <vt:lpstr>Baumans</vt:lpstr>
      <vt:lpstr>Patrick Hand</vt:lpstr>
      <vt:lpstr>Delius</vt:lpstr>
      <vt:lpstr>Patrick Hand SC</vt:lpstr>
      <vt:lpstr>Luckiest Guy</vt:lpstr>
      <vt:lpstr>Poppins</vt:lpstr>
      <vt:lpstr>Century Gothic</vt:lpstr>
      <vt:lpstr>Arial</vt:lpstr>
      <vt:lpstr>Fugaz One</vt:lpstr>
      <vt:lpstr>Simple Light</vt:lpstr>
      <vt:lpstr>Simple Light</vt:lpstr>
      <vt:lpstr>PowerPoint Presentation</vt:lpstr>
      <vt:lpstr>PowerPoint Presentation</vt:lpstr>
      <vt:lpstr>PowerPoint Presentation</vt:lpstr>
      <vt:lpstr>PowerPoint Presentation</vt:lpstr>
      <vt:lpstr>PowerPoint Presentation</vt:lpstr>
      <vt:lpstr>Two sides (alliances) in 1914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4</cp:revision>
  <dcterms:modified xsi:type="dcterms:W3CDTF">2026-10-21T00:58:01Z</dcterms:modified>
</cp:coreProperties>
</file>