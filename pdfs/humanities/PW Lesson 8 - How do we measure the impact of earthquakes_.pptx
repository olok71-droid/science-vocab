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0"/>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Baumans" panose="02000506020000020003" pitchFamily="2" charset="0"/>
      <p:regular r:id="rId21"/>
    </p:embeddedFont>
    <p:embeddedFont>
      <p:font typeface="Delius" panose="02000603000000000000" pitchFamily="2" charset="0"/>
      <p:regular r:id="rId22"/>
    </p:embeddedFont>
    <p:embeddedFont>
      <p:font typeface="Fugaz One" pitchFamily="2" charset="0"/>
      <p:regular r:id="rId23"/>
    </p:embeddedFont>
    <p:embeddedFont>
      <p:font typeface="Luckiest Guy" panose="02000506000000020004"/>
      <p:regular r:id="rId24"/>
    </p:embeddedFont>
    <p:embeddedFont>
      <p:font typeface="Patrick Hand" pitchFamily="2" charset="77"/>
      <p:regular r:id="rId25"/>
    </p:embeddedFont>
    <p:embeddedFont>
      <p:font typeface="Poppins" pitchFamily="2" charset="77"/>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6653EE-AA53-465A-8E9D-C5D312ABC386}">
  <a:tblStyle styleId="{266653EE-AA53-465A-8E9D-C5D312ABC38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B4F462D-9F59-4CA4-8D8B-0FC0E278477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96"/>
    <p:restoredTop sz="94693"/>
  </p:normalViewPr>
  <p:slideViewPr>
    <p:cSldViewPr snapToGrid="0">
      <p:cViewPr varScale="1">
        <p:scale>
          <a:sx n="109" d="100"/>
          <a:sy n="109" d="100"/>
        </p:scale>
        <p:origin x="200" y="9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youtube.com/watch?v=e7ho6z32yyo"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MexDriLX1gQ"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youtube.com/watch?v=OHSJcYDaKlc"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9e6283cd9b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9e6283cd9b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1" y="4343406"/>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381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9e6283cd9b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9e6283cd9b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e6283cd9b_0_18: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39e6283cd9b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u="sng">
                <a:solidFill>
                  <a:schemeClr val="hlink"/>
                </a:solidFill>
                <a:hlinkClick r:id="rId3"/>
              </a:rPr>
              <a:t>https://www.youtube.com/watch?v=e7ho6z32yyo</a:t>
            </a:r>
            <a:r>
              <a:rPr lang="en"/>
              <a:t> </a:t>
            </a:r>
            <a:endParaRPr/>
          </a:p>
        </p:txBody>
      </p:sp>
      <p:sp>
        <p:nvSpPr>
          <p:cNvPr id="119" name="Google Shape;119;p3: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9e6283cd9b_0_37: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39e6283cd9b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5: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9e6283cd9b_0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9e6283cd9b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https://www.youtube.com/watch?v=NaNw9LHq9dc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9e6283cd9b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9e6283cd9b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8: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7: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9: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 u="sng">
                <a:solidFill>
                  <a:schemeClr val="hlink"/>
                </a:solidFill>
                <a:hlinkClick r:id="rId3"/>
              </a:rPr>
              <a:t>https://www.youtube.com/watch?v=MexDriLX1gQ</a:t>
            </a:r>
            <a:endParaRPr/>
          </a:p>
          <a:p>
            <a:pPr marL="457200" marR="0" lvl="0" indent="-228600" algn="l" rtl="0">
              <a:lnSpc>
                <a:spcPct val="100000"/>
              </a:lnSpc>
              <a:spcBef>
                <a:spcPts val="0"/>
              </a:spcBef>
              <a:spcAft>
                <a:spcPts val="0"/>
              </a:spcAft>
              <a:buClr>
                <a:srgbClr val="000000"/>
              </a:buClr>
              <a:buSzPts val="1400"/>
              <a:buFont typeface="Arial"/>
              <a:buNone/>
            </a:pPr>
            <a:r>
              <a:rPr lang="en" u="sng">
                <a:solidFill>
                  <a:schemeClr val="hlink"/>
                </a:solidFill>
                <a:hlinkClick r:id="rId4"/>
              </a:rPr>
              <a:t>https://www.youtube.com/watch?v=OHSJcYDaKlc</a:t>
            </a:r>
            <a:r>
              <a:rPr lang="en"/>
              <a:t> </a:t>
            </a:r>
            <a:endParaRPr/>
          </a:p>
        </p:txBody>
      </p:sp>
      <p:sp>
        <p:nvSpPr>
          <p:cNvPr id="204" name="Google Shape;204;p9:notes"/>
          <p:cNvSpPr txBox="1">
            <a:spLocks noGrp="1"/>
          </p:cNvSpPr>
          <p:nvPr>
            <p:ph type="sldNum" idx="12"/>
          </p:nvPr>
        </p:nvSpPr>
        <p:spPr>
          <a:xfrm>
            <a:off x="3883852" y="8686299"/>
            <a:ext cx="2972400" cy="457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9e6283cd9b_0_3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9e6283cd9b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9e6283cd9b_0_3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9e6283cd9b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https://www.youtube.com/watch?v=c4mFh-I1Epc</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9e6283cd9b_0_4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9e6283cd9b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https://www.youtube.com/watch?v=pyC9b_W8sZA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9e6283cd9b_0_4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9e6283cd9b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00"/>
              <a:buFont typeface="Arial"/>
              <a:buNone/>
            </a:pPr>
            <a:r>
              <a:rPr lang="en">
                <a:solidFill>
                  <a:schemeClr val="dk1"/>
                </a:solidFill>
              </a:rPr>
              <a:t>https://www.youtube.com/watch?v=ij_iBRtBgsI</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7: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17: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8: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18: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6" name="Google Shape;16;p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7" name="Google Shape;17;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4" name="Google Shape;24;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5" name="Google Shape;25;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6" name="Google Shape;26;p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6" name="Google Shape;36;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4" name="Google Shape;44;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5" name="Google Shape;45;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6" name="Google Shape;46;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9" name="Google Shape;49;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3" name="Google Shape;53;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9842" y="273845"/>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8" name="Google Shape;58;p14"/>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59" name="Google Shape;59;p14"/>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60" name="Google Shape;60;p14"/>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61" name="Google Shape;61;p14"/>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62" name="Google Shape;62;p14"/>
          <p:cNvSpPr txBox="1">
            <a:spLocks noGrp="1"/>
          </p:cNvSpPr>
          <p:nvPr>
            <p:ph type="dt" idx="10"/>
          </p:nvPr>
        </p:nvSpPr>
        <p:spPr>
          <a:xfrm>
            <a:off x="628651" y="4767264"/>
            <a:ext cx="2057400" cy="273900"/>
          </a:xfrm>
          <a:prstGeom prst="rect">
            <a:avLst/>
          </a:prstGeom>
          <a:noFill/>
          <a:ln>
            <a:noFill/>
          </a:ln>
        </p:spPr>
        <p:txBody>
          <a:bodyPr spcFirstLastPara="1" wrap="square" lIns="68575" tIns="34275" rIns="68575" bIns="34275" anchor="ctr" anchorCtr="0">
            <a:no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3" name="Google Shape;63;p14"/>
          <p:cNvSpPr txBox="1">
            <a:spLocks noGrp="1"/>
          </p:cNvSpPr>
          <p:nvPr>
            <p:ph type="ftr" idx="11"/>
          </p:nvPr>
        </p:nvSpPr>
        <p:spPr>
          <a:xfrm>
            <a:off x="3028951" y="4767264"/>
            <a:ext cx="3086100" cy="273900"/>
          </a:xfrm>
          <a:prstGeom prst="rect">
            <a:avLst/>
          </a:prstGeom>
          <a:noFill/>
          <a:ln>
            <a:noFill/>
          </a:ln>
        </p:spPr>
        <p:txBody>
          <a:bodyPr spcFirstLastPara="1" wrap="square" lIns="68575" tIns="34275" rIns="68575" bIns="34275" anchor="ctr" anchorCtr="0">
            <a:noAutofit/>
          </a:bodyPr>
          <a:lstStyle>
            <a:lvl1pPr marR="0" lvl="0" algn="ct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4" name="Google Shape;64;p14"/>
          <p:cNvSpPr txBox="1">
            <a:spLocks noGrp="1"/>
          </p:cNvSpPr>
          <p:nvPr>
            <p:ph type="sldNum" idx="12"/>
          </p:nvPr>
        </p:nvSpPr>
        <p:spPr>
          <a:xfrm>
            <a:off x="6457951" y="4767264"/>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65"/>
        <p:cNvGrpSpPr/>
        <p:nvPr/>
      </p:nvGrpSpPr>
      <p:grpSpPr>
        <a:xfrm>
          <a:off x="0" y="0"/>
          <a:ext cx="0" cy="0"/>
          <a:chOff x="0" y="0"/>
          <a:chExt cx="0" cy="0"/>
        </a:xfrm>
      </p:grpSpPr>
      <p:sp>
        <p:nvSpPr>
          <p:cNvPr id="66" name="Google Shape;66;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7" name="Google Shape;67;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8" name="Google Shape;6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gif"/><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e7ho6z32yyo"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2.gif"/><Relationship Id="rId5" Type="http://schemas.openxmlformats.org/officeDocument/2006/relationships/image" Target="../media/image21.png"/><Relationship Id="rId4" Type="http://schemas.openxmlformats.org/officeDocument/2006/relationships/image" Target="../media/image20.gif"/></Relationships>
</file>

<file path=ppt/slides/_rels/slide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gif"/></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NaNw9LHq9dc"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jp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gif"/><Relationship Id="rId5" Type="http://schemas.openxmlformats.org/officeDocument/2006/relationships/image" Target="../media/image21.png"/><Relationship Id="rId4" Type="http://schemas.openxmlformats.org/officeDocument/2006/relationships/image" Target="../media/image20.gi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3.gif"/><Relationship Id="rId5" Type="http://schemas.openxmlformats.org/officeDocument/2006/relationships/image" Target="../media/image32.jpg"/><Relationship Id="rId4" Type="http://schemas.openxmlformats.org/officeDocument/2006/relationships/hyperlink" Target="http://www.youtube.com/watch?v=c4mFh-I1Epc"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pyC9b_W8sZA"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3.gif"/><Relationship Id="rId5" Type="http://schemas.openxmlformats.org/officeDocument/2006/relationships/image" Target="../media/image31.png"/><Relationship Id="rId4" Type="http://schemas.openxmlformats.org/officeDocument/2006/relationships/image" Target="../media/image34.jpg"/></Relationships>
</file>

<file path=ppt/slides/_rels/slide16.xml.rels><?xml version="1.0" encoding="UTF-8" standalone="yes"?>
<Relationships xmlns="http://schemas.openxmlformats.org/package/2006/relationships"><Relationship Id="rId3" Type="http://schemas.openxmlformats.org/officeDocument/2006/relationships/hyperlink" Target="http://www.youtube.com/watch?v=ij_iBRtBgsI"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3.gif"/><Relationship Id="rId5" Type="http://schemas.openxmlformats.org/officeDocument/2006/relationships/image" Target="../media/image31.png"/><Relationship Id="rId4" Type="http://schemas.openxmlformats.org/officeDocument/2006/relationships/image" Target="../media/image35.jp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153525" y="624775"/>
            <a:ext cx="6097500" cy="6309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Date: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Thursday 6th November 2025</a:t>
            </a:r>
            <a:endParaRPr sz="1600" b="1" i="0"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Title: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How do we measure the impact of Earthquakes?</a:t>
            </a:r>
            <a:endParaRPr sz="1600" b="1" i="0" strike="noStrike" cap="none">
              <a:solidFill>
                <a:srgbClr val="000000"/>
              </a:solidFill>
              <a:latin typeface="Poppins"/>
              <a:ea typeface="Poppins"/>
              <a:cs typeface="Poppins"/>
              <a:sym typeface="Poppins"/>
            </a:endParaRPr>
          </a:p>
        </p:txBody>
      </p:sp>
      <p:sp>
        <p:nvSpPr>
          <p:cNvPr id="74" name="Google Shape;74;p16"/>
          <p:cNvSpPr txBox="1"/>
          <p:nvPr/>
        </p:nvSpPr>
        <p:spPr>
          <a:xfrm>
            <a:off x="186450" y="1403775"/>
            <a:ext cx="6097500" cy="683100"/>
          </a:xfrm>
          <a:prstGeom prst="rect">
            <a:avLst/>
          </a:prstGeom>
          <a:solidFill>
            <a:srgbClr val="FFF2CC"/>
          </a:solidFill>
          <a:ln>
            <a:noFill/>
          </a:ln>
        </p:spPr>
        <p:txBody>
          <a:bodyPr spcFirstLastPara="1" wrap="square" lIns="91425" tIns="91425" rIns="91425" bIns="91425" anchor="t" anchorCtr="0">
            <a:noAutofit/>
          </a:bodyPr>
          <a:lstStyle/>
          <a:p>
            <a:pPr marL="91440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How is each icon is linked to what we have studied about tectonic hazards</a:t>
            </a:r>
            <a:endParaRPr sz="1800">
              <a:latin typeface="Poppins"/>
              <a:ea typeface="Poppins"/>
              <a:cs typeface="Poppins"/>
              <a:sym typeface="Poppins"/>
            </a:endParaRPr>
          </a:p>
        </p:txBody>
      </p:sp>
      <p:pic>
        <p:nvPicPr>
          <p:cNvPr id="75" name="Google Shape;75;p16"/>
          <p:cNvPicPr preferRelativeResize="0"/>
          <p:nvPr/>
        </p:nvPicPr>
        <p:blipFill>
          <a:blip r:embed="rId3">
            <a:alphaModFix/>
          </a:blip>
          <a:stretch>
            <a:fillRect/>
          </a:stretch>
        </p:blipFill>
        <p:spPr>
          <a:xfrm>
            <a:off x="225576" y="1504600"/>
            <a:ext cx="756925" cy="543250"/>
          </a:xfrm>
          <a:prstGeom prst="rect">
            <a:avLst/>
          </a:prstGeom>
          <a:noFill/>
          <a:ln>
            <a:noFill/>
          </a:ln>
        </p:spPr>
      </p:pic>
      <p:pic>
        <p:nvPicPr>
          <p:cNvPr id="76" name="Google Shape;76;p16" descr="a cartoon illustration of a volcano erupting . (Provided by Tenor)"/>
          <p:cNvPicPr preferRelativeResize="0"/>
          <p:nvPr/>
        </p:nvPicPr>
        <p:blipFill>
          <a:blip r:embed="rId4">
            <a:alphaModFix/>
          </a:blip>
          <a:stretch>
            <a:fillRect/>
          </a:stretch>
        </p:blipFill>
        <p:spPr>
          <a:xfrm>
            <a:off x="7065350" y="442350"/>
            <a:ext cx="1644525" cy="1644525"/>
          </a:xfrm>
          <a:prstGeom prst="rect">
            <a:avLst/>
          </a:prstGeom>
          <a:noFill/>
          <a:ln>
            <a:noFill/>
          </a:ln>
        </p:spPr>
      </p:pic>
      <p:grpSp>
        <p:nvGrpSpPr>
          <p:cNvPr id="77" name="Google Shape;77;p16"/>
          <p:cNvGrpSpPr/>
          <p:nvPr/>
        </p:nvGrpSpPr>
        <p:grpSpPr>
          <a:xfrm>
            <a:off x="287475" y="2212276"/>
            <a:ext cx="6191875" cy="1266049"/>
            <a:chOff x="287475" y="2212276"/>
            <a:chExt cx="6191875" cy="1266049"/>
          </a:xfrm>
        </p:grpSpPr>
        <p:pic>
          <p:nvPicPr>
            <p:cNvPr id="78" name="Google Shape;78;p16"/>
            <p:cNvPicPr preferRelativeResize="0"/>
            <p:nvPr/>
          </p:nvPicPr>
          <p:blipFill rotWithShape="1">
            <a:blip r:embed="rId5">
              <a:alphaModFix/>
            </a:blip>
            <a:srcRect l="9431" t="3427" r="11710" b="17434"/>
            <a:stretch/>
          </p:blipFill>
          <p:spPr>
            <a:xfrm>
              <a:off x="287476" y="2212276"/>
              <a:ext cx="819590" cy="822524"/>
            </a:xfrm>
            <a:prstGeom prst="rect">
              <a:avLst/>
            </a:prstGeom>
            <a:noFill/>
            <a:ln>
              <a:noFill/>
            </a:ln>
          </p:spPr>
        </p:pic>
        <p:pic>
          <p:nvPicPr>
            <p:cNvPr id="79" name="Google Shape;79;p16"/>
            <p:cNvPicPr preferRelativeResize="0"/>
            <p:nvPr/>
          </p:nvPicPr>
          <p:blipFill rotWithShape="1">
            <a:blip r:embed="rId6">
              <a:alphaModFix/>
            </a:blip>
            <a:srcRect l="8573" t="2288" r="7710" b="15421"/>
            <a:stretch/>
          </p:blipFill>
          <p:spPr>
            <a:xfrm>
              <a:off x="1565575" y="2234975"/>
              <a:ext cx="819600" cy="805618"/>
            </a:xfrm>
            <a:prstGeom prst="rect">
              <a:avLst/>
            </a:prstGeom>
            <a:noFill/>
            <a:ln>
              <a:noFill/>
            </a:ln>
          </p:spPr>
        </p:pic>
        <p:sp>
          <p:nvSpPr>
            <p:cNvPr id="80" name="Google Shape;80;p16"/>
            <p:cNvSpPr txBox="1"/>
            <p:nvPr/>
          </p:nvSpPr>
          <p:spPr>
            <a:xfrm>
              <a:off x="287475" y="3040600"/>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A</a:t>
              </a:r>
              <a:endParaRPr sz="2400" b="1">
                <a:latin typeface="Patrick Hand"/>
                <a:ea typeface="Patrick Hand"/>
                <a:cs typeface="Patrick Hand"/>
                <a:sym typeface="Patrick Hand"/>
              </a:endParaRPr>
            </a:p>
          </p:txBody>
        </p:sp>
        <p:sp>
          <p:nvSpPr>
            <p:cNvPr id="81" name="Google Shape;81;p16"/>
            <p:cNvSpPr txBox="1"/>
            <p:nvPr/>
          </p:nvSpPr>
          <p:spPr>
            <a:xfrm>
              <a:off x="1565575" y="3040600"/>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B</a:t>
              </a:r>
              <a:endParaRPr sz="2400" b="1">
                <a:latin typeface="Patrick Hand"/>
                <a:ea typeface="Patrick Hand"/>
                <a:cs typeface="Patrick Hand"/>
                <a:sym typeface="Patrick Hand"/>
              </a:endParaRPr>
            </a:p>
          </p:txBody>
        </p:sp>
        <p:pic>
          <p:nvPicPr>
            <p:cNvPr id="82" name="Google Shape;82;p16"/>
            <p:cNvPicPr preferRelativeResize="0"/>
            <p:nvPr/>
          </p:nvPicPr>
          <p:blipFill rotWithShape="1">
            <a:blip r:embed="rId7">
              <a:alphaModFix/>
            </a:blip>
            <a:srcRect l="5428" b="13711"/>
            <a:stretch/>
          </p:blipFill>
          <p:spPr>
            <a:xfrm>
              <a:off x="2843675" y="2234975"/>
              <a:ext cx="883006" cy="805625"/>
            </a:xfrm>
            <a:prstGeom prst="rect">
              <a:avLst/>
            </a:prstGeom>
            <a:noFill/>
            <a:ln>
              <a:noFill/>
            </a:ln>
          </p:spPr>
        </p:pic>
        <p:sp>
          <p:nvSpPr>
            <p:cNvPr id="83" name="Google Shape;83;p16"/>
            <p:cNvSpPr txBox="1"/>
            <p:nvPr/>
          </p:nvSpPr>
          <p:spPr>
            <a:xfrm>
              <a:off x="2825400" y="3040600"/>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C</a:t>
              </a:r>
              <a:endParaRPr sz="2400" b="1">
                <a:latin typeface="Patrick Hand"/>
                <a:ea typeface="Patrick Hand"/>
                <a:cs typeface="Patrick Hand"/>
                <a:sym typeface="Patrick Hand"/>
              </a:endParaRPr>
            </a:p>
          </p:txBody>
        </p:sp>
        <p:pic>
          <p:nvPicPr>
            <p:cNvPr id="84" name="Google Shape;84;p16"/>
            <p:cNvPicPr preferRelativeResize="0"/>
            <p:nvPr/>
          </p:nvPicPr>
          <p:blipFill rotWithShape="1">
            <a:blip r:embed="rId8">
              <a:alphaModFix/>
            </a:blip>
            <a:srcRect l="11716" t="1716" r="8856" b="16565"/>
            <a:stretch/>
          </p:blipFill>
          <p:spPr>
            <a:xfrm>
              <a:off x="4185185" y="2234974"/>
              <a:ext cx="819600" cy="843152"/>
            </a:xfrm>
            <a:prstGeom prst="rect">
              <a:avLst/>
            </a:prstGeom>
            <a:noFill/>
            <a:ln>
              <a:noFill/>
            </a:ln>
          </p:spPr>
        </p:pic>
        <p:sp>
          <p:nvSpPr>
            <p:cNvPr id="85" name="Google Shape;85;p16"/>
            <p:cNvSpPr txBox="1"/>
            <p:nvPr/>
          </p:nvSpPr>
          <p:spPr>
            <a:xfrm>
              <a:off x="4185175" y="3040600"/>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D</a:t>
              </a:r>
              <a:endParaRPr sz="2400" b="1">
                <a:latin typeface="Patrick Hand"/>
                <a:ea typeface="Patrick Hand"/>
                <a:cs typeface="Patrick Hand"/>
                <a:sym typeface="Patrick Hand"/>
              </a:endParaRPr>
            </a:p>
          </p:txBody>
        </p:sp>
        <p:pic>
          <p:nvPicPr>
            <p:cNvPr id="86" name="Google Shape;86;p16"/>
            <p:cNvPicPr preferRelativeResize="0"/>
            <p:nvPr/>
          </p:nvPicPr>
          <p:blipFill rotWithShape="1">
            <a:blip r:embed="rId9">
              <a:alphaModFix/>
            </a:blip>
            <a:srcRect l="10002" t="8289" r="9137" b="22001"/>
            <a:stretch/>
          </p:blipFill>
          <p:spPr>
            <a:xfrm>
              <a:off x="5544950" y="2234975"/>
              <a:ext cx="934400" cy="843150"/>
            </a:xfrm>
            <a:prstGeom prst="rect">
              <a:avLst/>
            </a:prstGeom>
            <a:noFill/>
            <a:ln>
              <a:noFill/>
            </a:ln>
          </p:spPr>
        </p:pic>
        <p:sp>
          <p:nvSpPr>
            <p:cNvPr id="87" name="Google Shape;87;p16"/>
            <p:cNvSpPr txBox="1"/>
            <p:nvPr/>
          </p:nvSpPr>
          <p:spPr>
            <a:xfrm>
              <a:off x="5602350" y="3078125"/>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E</a:t>
              </a:r>
              <a:endParaRPr sz="2400" b="1">
                <a:latin typeface="Patrick Hand"/>
                <a:ea typeface="Patrick Hand"/>
                <a:cs typeface="Patrick Hand"/>
                <a:sym typeface="Patrick Hand"/>
              </a:endParaRPr>
            </a:p>
          </p:txBody>
        </p:sp>
      </p:grpSp>
      <p:grpSp>
        <p:nvGrpSpPr>
          <p:cNvPr id="88" name="Google Shape;88;p16"/>
          <p:cNvGrpSpPr/>
          <p:nvPr/>
        </p:nvGrpSpPr>
        <p:grpSpPr>
          <a:xfrm>
            <a:off x="876550" y="3523050"/>
            <a:ext cx="4717300" cy="1208600"/>
            <a:chOff x="287475" y="3530825"/>
            <a:chExt cx="4717300" cy="1208600"/>
          </a:xfrm>
        </p:grpSpPr>
        <p:pic>
          <p:nvPicPr>
            <p:cNvPr id="89" name="Google Shape;89;p16"/>
            <p:cNvPicPr preferRelativeResize="0"/>
            <p:nvPr/>
          </p:nvPicPr>
          <p:blipFill rotWithShape="1">
            <a:blip r:embed="rId10">
              <a:alphaModFix/>
            </a:blip>
            <a:srcRect l="13143" t="6856" r="12854" b="21429"/>
            <a:stretch/>
          </p:blipFill>
          <p:spPr>
            <a:xfrm>
              <a:off x="287475" y="3544928"/>
              <a:ext cx="819600" cy="794293"/>
            </a:xfrm>
            <a:prstGeom prst="rect">
              <a:avLst/>
            </a:prstGeom>
            <a:noFill/>
            <a:ln>
              <a:noFill/>
            </a:ln>
          </p:spPr>
        </p:pic>
        <p:sp>
          <p:nvSpPr>
            <p:cNvPr id="90" name="Google Shape;90;p16"/>
            <p:cNvSpPr txBox="1"/>
            <p:nvPr/>
          </p:nvSpPr>
          <p:spPr>
            <a:xfrm>
              <a:off x="287475" y="4339225"/>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F</a:t>
              </a:r>
              <a:endParaRPr sz="2400" b="1">
                <a:latin typeface="Patrick Hand"/>
                <a:ea typeface="Patrick Hand"/>
                <a:cs typeface="Patrick Hand"/>
                <a:sym typeface="Patrick Hand"/>
              </a:endParaRPr>
            </a:p>
          </p:txBody>
        </p:sp>
        <p:pic>
          <p:nvPicPr>
            <p:cNvPr id="91" name="Google Shape;91;p16"/>
            <p:cNvPicPr preferRelativeResize="0"/>
            <p:nvPr/>
          </p:nvPicPr>
          <p:blipFill rotWithShape="1">
            <a:blip r:embed="rId11">
              <a:alphaModFix/>
            </a:blip>
            <a:srcRect l="4282" r="4990" b="15711"/>
            <a:stretch/>
          </p:blipFill>
          <p:spPr>
            <a:xfrm>
              <a:off x="1565574" y="3561390"/>
              <a:ext cx="819600" cy="761383"/>
            </a:xfrm>
            <a:prstGeom prst="rect">
              <a:avLst/>
            </a:prstGeom>
            <a:noFill/>
            <a:ln>
              <a:noFill/>
            </a:ln>
          </p:spPr>
        </p:pic>
        <p:sp>
          <p:nvSpPr>
            <p:cNvPr id="92" name="Google Shape;92;p16"/>
            <p:cNvSpPr txBox="1"/>
            <p:nvPr/>
          </p:nvSpPr>
          <p:spPr>
            <a:xfrm>
              <a:off x="1565575" y="4339225"/>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G</a:t>
              </a:r>
              <a:endParaRPr sz="2400" b="1">
                <a:latin typeface="Patrick Hand"/>
                <a:ea typeface="Patrick Hand"/>
                <a:cs typeface="Patrick Hand"/>
                <a:sym typeface="Patrick Hand"/>
              </a:endParaRPr>
            </a:p>
          </p:txBody>
        </p:sp>
        <p:pic>
          <p:nvPicPr>
            <p:cNvPr id="93" name="Google Shape;93;p16"/>
            <p:cNvPicPr preferRelativeResize="0"/>
            <p:nvPr/>
          </p:nvPicPr>
          <p:blipFill rotWithShape="1">
            <a:blip r:embed="rId12">
              <a:alphaModFix/>
            </a:blip>
            <a:srcRect r="8817" b="16861"/>
            <a:stretch/>
          </p:blipFill>
          <p:spPr>
            <a:xfrm>
              <a:off x="2825400" y="3530825"/>
              <a:ext cx="819600" cy="822524"/>
            </a:xfrm>
            <a:prstGeom prst="rect">
              <a:avLst/>
            </a:prstGeom>
            <a:noFill/>
            <a:ln>
              <a:noFill/>
            </a:ln>
          </p:spPr>
        </p:pic>
        <p:sp>
          <p:nvSpPr>
            <p:cNvPr id="94" name="Google Shape;94;p16"/>
            <p:cNvSpPr txBox="1"/>
            <p:nvPr/>
          </p:nvSpPr>
          <p:spPr>
            <a:xfrm>
              <a:off x="2825400" y="4339225"/>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H</a:t>
              </a:r>
              <a:endParaRPr sz="2400" b="1">
                <a:latin typeface="Patrick Hand"/>
                <a:ea typeface="Patrick Hand"/>
                <a:cs typeface="Patrick Hand"/>
                <a:sym typeface="Patrick Hand"/>
              </a:endParaRPr>
            </a:p>
          </p:txBody>
        </p:sp>
        <p:pic>
          <p:nvPicPr>
            <p:cNvPr id="95" name="Google Shape;95;p16"/>
            <p:cNvPicPr preferRelativeResize="0"/>
            <p:nvPr/>
          </p:nvPicPr>
          <p:blipFill rotWithShape="1">
            <a:blip r:embed="rId13">
              <a:alphaModFix/>
            </a:blip>
            <a:srcRect l="16002" t="2575" r="17712" b="15424"/>
            <a:stretch/>
          </p:blipFill>
          <p:spPr>
            <a:xfrm>
              <a:off x="4193538" y="3537700"/>
              <a:ext cx="756926" cy="808761"/>
            </a:xfrm>
            <a:prstGeom prst="rect">
              <a:avLst/>
            </a:prstGeom>
            <a:noFill/>
            <a:ln>
              <a:noFill/>
            </a:ln>
          </p:spPr>
        </p:pic>
        <p:sp>
          <p:nvSpPr>
            <p:cNvPr id="96" name="Google Shape;96;p16"/>
            <p:cNvSpPr txBox="1"/>
            <p:nvPr/>
          </p:nvSpPr>
          <p:spPr>
            <a:xfrm>
              <a:off x="4185175" y="4339225"/>
              <a:ext cx="8196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Patrick Hand"/>
                  <a:ea typeface="Patrick Hand"/>
                  <a:cs typeface="Patrick Hand"/>
                  <a:sym typeface="Patrick Hand"/>
                </a:rPr>
                <a:t>I</a:t>
              </a:r>
              <a:endParaRPr sz="2400" b="1">
                <a:latin typeface="Patrick Hand"/>
                <a:ea typeface="Patrick Hand"/>
                <a:cs typeface="Patrick Hand"/>
                <a:sym typeface="Patrick Hand"/>
              </a:endParaRPr>
            </a:p>
          </p:txBody>
        </p:sp>
      </p:grpSp>
      <p:sp>
        <p:nvSpPr>
          <p:cNvPr id="97" name="Google Shape;97;p16"/>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p:nvPr/>
        </p:nvSpPr>
        <p:spPr>
          <a:xfrm>
            <a:off x="2861550" y="647175"/>
            <a:ext cx="6063000" cy="5079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 sz="2400" i="0" strike="noStrike" cap="none">
                <a:solidFill>
                  <a:schemeClr val="dk1"/>
                </a:solidFill>
                <a:latin typeface="Fugaz One"/>
                <a:ea typeface="Fugaz One"/>
                <a:cs typeface="Fugaz One"/>
                <a:sym typeface="Fugaz One"/>
              </a:rPr>
              <a:t>THINK like a Geographer:</a:t>
            </a:r>
            <a:endParaRPr sz="2400" i="0" strike="noStrike" cap="none">
              <a:solidFill>
                <a:srgbClr val="000000"/>
              </a:solidFill>
              <a:latin typeface="Fugaz One"/>
              <a:ea typeface="Fugaz One"/>
              <a:cs typeface="Fugaz One"/>
              <a:sym typeface="Fugaz One"/>
            </a:endParaRPr>
          </a:p>
        </p:txBody>
      </p:sp>
      <p:graphicFrame>
        <p:nvGraphicFramePr>
          <p:cNvPr id="103" name="Google Shape;103;p17"/>
          <p:cNvGraphicFramePr/>
          <p:nvPr/>
        </p:nvGraphicFramePr>
        <p:xfrm>
          <a:off x="193300" y="647169"/>
          <a:ext cx="2407025" cy="4437811"/>
        </p:xfrm>
        <a:graphic>
          <a:graphicData uri="http://schemas.openxmlformats.org/drawingml/2006/table">
            <a:tbl>
              <a:tblPr>
                <a:noFill/>
                <a:tableStyleId>{266653EE-AA53-465A-8E9D-C5D312ABC386}</a:tableStyleId>
              </a:tblPr>
              <a:tblGrid>
                <a:gridCol w="2407025">
                  <a:extLst>
                    <a:ext uri="{9D8B030D-6E8A-4147-A177-3AD203B41FA5}">
                      <a16:colId xmlns:a16="http://schemas.microsoft.com/office/drawing/2014/main" val="20000"/>
                    </a:ext>
                  </a:extLst>
                </a:gridCol>
              </a:tblGrid>
              <a:tr h="620100">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 – Truth</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What do you notice in the picture?</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972275">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H – Human</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a:solidFill>
                            <a:schemeClr val="dk1"/>
                          </a:solidFill>
                          <a:latin typeface="Poppins"/>
                          <a:ea typeface="Poppins"/>
                          <a:cs typeface="Poppins"/>
                          <a:sym typeface="Poppins"/>
                        </a:rPr>
                        <a:t>What features of human geography can you spot in the picture?</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5A6BD"/>
                    </a:solidFill>
                  </a:tcPr>
                </a:tc>
                <a:extLst>
                  <a:ext uri="{0D108BD9-81ED-4DB2-BD59-A6C34878D82A}">
                    <a16:rowId xmlns:a16="http://schemas.microsoft.com/office/drawing/2014/main" val="10001"/>
                  </a:ext>
                </a:extLst>
              </a:tr>
              <a:tr h="796175">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I – Investigate</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What questions could you ask to find out more about this picture?</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extLst>
                  <a:ext uri="{0D108BD9-81ED-4DB2-BD59-A6C34878D82A}">
                    <a16:rowId xmlns:a16="http://schemas.microsoft.com/office/drawing/2014/main" val="10002"/>
                  </a:ext>
                </a:extLst>
              </a:tr>
              <a:tr h="796175">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N – Nature</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What features of physical geography can you see in the picture?</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3"/>
                  </a:ext>
                </a:extLst>
              </a:tr>
              <a:tr h="620100">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K – Knowledge</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How do earthquakes happen?</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A9999"/>
                    </a:solidFill>
                  </a:tcPr>
                </a:tc>
                <a:extLst>
                  <a:ext uri="{0D108BD9-81ED-4DB2-BD59-A6C34878D82A}">
                    <a16:rowId xmlns:a16="http://schemas.microsoft.com/office/drawing/2014/main" val="10004"/>
                  </a:ext>
                </a:extLst>
              </a:tr>
            </a:tbl>
          </a:graphicData>
        </a:graphic>
      </p:graphicFrame>
      <p:pic>
        <p:nvPicPr>
          <p:cNvPr id="104" name="Google Shape;104;p17"/>
          <p:cNvPicPr preferRelativeResize="0"/>
          <p:nvPr/>
        </p:nvPicPr>
        <p:blipFill rotWithShape="1">
          <a:blip r:embed="rId3">
            <a:alphaModFix/>
          </a:blip>
          <a:srcRect/>
          <a:stretch/>
        </p:blipFill>
        <p:spPr>
          <a:xfrm>
            <a:off x="2861550" y="1186425"/>
            <a:ext cx="6062875" cy="3439107"/>
          </a:xfrm>
          <a:prstGeom prst="rect">
            <a:avLst/>
          </a:prstGeom>
          <a:noFill/>
          <a:ln>
            <a:noFill/>
          </a:ln>
        </p:spPr>
      </p:pic>
      <p:sp>
        <p:nvSpPr>
          <p:cNvPr id="105" name="Google Shape;105;p17"/>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aphicFrame>
        <p:nvGraphicFramePr>
          <p:cNvPr id="110" name="Google Shape;110;p18"/>
          <p:cNvGraphicFramePr/>
          <p:nvPr/>
        </p:nvGraphicFramePr>
        <p:xfrm>
          <a:off x="156250" y="1354175"/>
          <a:ext cx="8831475" cy="3264375"/>
        </p:xfrm>
        <a:graphic>
          <a:graphicData uri="http://schemas.openxmlformats.org/drawingml/2006/table">
            <a:tbl>
              <a:tblPr>
                <a:noFill/>
                <a:tableStyleId>{3B4F462D-9F59-4CA4-8D8B-0FC0E278477C}</a:tableStyleId>
              </a:tblPr>
              <a:tblGrid>
                <a:gridCol w="1931625">
                  <a:extLst>
                    <a:ext uri="{9D8B030D-6E8A-4147-A177-3AD203B41FA5}">
                      <a16:colId xmlns:a16="http://schemas.microsoft.com/office/drawing/2014/main" val="20000"/>
                    </a:ext>
                  </a:extLst>
                </a:gridCol>
                <a:gridCol w="1326400">
                  <a:extLst>
                    <a:ext uri="{9D8B030D-6E8A-4147-A177-3AD203B41FA5}">
                      <a16:colId xmlns:a16="http://schemas.microsoft.com/office/drawing/2014/main" val="20001"/>
                    </a:ext>
                  </a:extLst>
                </a:gridCol>
                <a:gridCol w="5573450">
                  <a:extLst>
                    <a:ext uri="{9D8B030D-6E8A-4147-A177-3AD203B41FA5}">
                      <a16:colId xmlns:a16="http://schemas.microsoft.com/office/drawing/2014/main" val="20002"/>
                    </a:ext>
                  </a:extLst>
                </a:gridCol>
              </a:tblGrid>
              <a:tr h="1088125">
                <a:tc>
                  <a:txBody>
                    <a:bodyPr/>
                    <a:lstStyle/>
                    <a:p>
                      <a:pPr marL="0" lvl="0" indent="0" algn="l" rtl="0">
                        <a:lnSpc>
                          <a:spcPct val="115000"/>
                        </a:lnSpc>
                        <a:spcBef>
                          <a:spcPts val="0"/>
                        </a:spcBef>
                        <a:spcAft>
                          <a:spcPts val="0"/>
                        </a:spcAft>
                        <a:buClr>
                          <a:schemeClr val="dk1"/>
                        </a:buClr>
                        <a:buSzPts val="2200"/>
                        <a:buFont typeface="Arial"/>
                        <a:buNone/>
                      </a:pPr>
                      <a:r>
                        <a:rPr lang="en" sz="1600" b="1">
                          <a:solidFill>
                            <a:schemeClr val="dk1"/>
                          </a:solidFill>
                          <a:latin typeface="Poppins"/>
                          <a:ea typeface="Poppins"/>
                          <a:cs typeface="Poppins"/>
                          <a:sym typeface="Poppins"/>
                        </a:rPr>
                        <a:t>Earthquake</a:t>
                      </a:r>
                      <a:endParaRPr sz="16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Poppins"/>
                          <a:ea typeface="Poppins"/>
                          <a:cs typeface="Poppins"/>
                          <a:sym typeface="Poppins"/>
                        </a:rPr>
                        <a:t>A sudden shaking of the Earth’s surface caused by movement of tectonic plates beneath the ground.</a:t>
                      </a:r>
                      <a:endParaRPr sz="16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Poppins"/>
                          <a:ea typeface="Poppins"/>
                          <a:cs typeface="Poppins"/>
                          <a:sym typeface="Poppins"/>
                        </a:rPr>
                        <a:t>Mercalli Scale</a:t>
                      </a:r>
                      <a:endParaRPr sz="16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600">
                          <a:solidFill>
                            <a:schemeClr val="dk1"/>
                          </a:solidFill>
                          <a:latin typeface="Poppins"/>
                          <a:ea typeface="Poppins"/>
                          <a:cs typeface="Poppins"/>
                          <a:sym typeface="Poppins"/>
                        </a:rPr>
                        <a:t>A scale that measures the </a:t>
                      </a:r>
                      <a:r>
                        <a:rPr lang="en" sz="1600" b="1">
                          <a:solidFill>
                            <a:schemeClr val="dk1"/>
                          </a:solidFill>
                          <a:latin typeface="Poppins"/>
                          <a:ea typeface="Poppins"/>
                          <a:cs typeface="Poppins"/>
                          <a:sym typeface="Poppins"/>
                        </a:rPr>
                        <a:t>effects and damage</a:t>
                      </a:r>
                      <a:r>
                        <a:rPr lang="en" sz="1600">
                          <a:solidFill>
                            <a:schemeClr val="dk1"/>
                          </a:solidFill>
                          <a:latin typeface="Poppins"/>
                          <a:ea typeface="Poppins"/>
                          <a:cs typeface="Poppins"/>
                          <a:sym typeface="Poppins"/>
                        </a:rPr>
                        <a:t> of an earthquake, using Roman numerals (I to XII) </a:t>
                      </a:r>
                      <a:r>
                        <a:rPr lang="en" sz="1600" b="1">
                          <a:solidFill>
                            <a:schemeClr val="dk1"/>
                          </a:solidFill>
                          <a:latin typeface="Poppins"/>
                          <a:ea typeface="Poppins"/>
                          <a:cs typeface="Poppins"/>
                          <a:sym typeface="Poppins"/>
                        </a:rPr>
                        <a:t>based on what people see and feel</a:t>
                      </a:r>
                      <a:r>
                        <a:rPr lang="en" sz="1600">
                          <a:solidFill>
                            <a:schemeClr val="dk1"/>
                          </a:solidFill>
                          <a:latin typeface="Poppins"/>
                          <a:ea typeface="Poppins"/>
                          <a:cs typeface="Poppins"/>
                          <a:sym typeface="Poppins"/>
                        </a:rPr>
                        <a:t>.</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600" b="1">
                          <a:solidFill>
                            <a:schemeClr val="dk1"/>
                          </a:solidFill>
                          <a:latin typeface="Poppins"/>
                          <a:ea typeface="Poppins"/>
                          <a:cs typeface="Poppins"/>
                          <a:sym typeface="Poppins"/>
                        </a:rPr>
                        <a:t>Richter Scale</a:t>
                      </a:r>
                      <a:endParaRPr sz="16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600">
                          <a:solidFill>
                            <a:schemeClr val="dk1"/>
                          </a:solidFill>
                          <a:latin typeface="Poppins"/>
                          <a:ea typeface="Poppins"/>
                          <a:cs typeface="Poppins"/>
                          <a:sym typeface="Poppins"/>
                        </a:rPr>
                        <a:t>A scale that measures the </a:t>
                      </a:r>
                      <a:r>
                        <a:rPr lang="en" sz="1600" b="1">
                          <a:solidFill>
                            <a:schemeClr val="dk1"/>
                          </a:solidFill>
                          <a:latin typeface="Poppins"/>
                          <a:ea typeface="Poppins"/>
                          <a:cs typeface="Poppins"/>
                          <a:sym typeface="Poppins"/>
                        </a:rPr>
                        <a:t>strength</a:t>
                      </a:r>
                      <a:r>
                        <a:rPr lang="en" sz="1600">
                          <a:solidFill>
                            <a:schemeClr val="dk1"/>
                          </a:solidFill>
                          <a:latin typeface="Poppins"/>
                          <a:ea typeface="Poppins"/>
                          <a:cs typeface="Poppins"/>
                          <a:sym typeface="Poppins"/>
                        </a:rPr>
                        <a:t> of an earthquake </a:t>
                      </a:r>
                      <a:r>
                        <a:rPr lang="en" sz="1600" b="1">
                          <a:solidFill>
                            <a:schemeClr val="dk1"/>
                          </a:solidFill>
                          <a:latin typeface="Poppins"/>
                          <a:ea typeface="Poppins"/>
                          <a:cs typeface="Poppins"/>
                          <a:sym typeface="Poppins"/>
                        </a:rPr>
                        <a:t>based on the amount of energy it releases</a:t>
                      </a:r>
                      <a:r>
                        <a:rPr lang="en" sz="1600">
                          <a:solidFill>
                            <a:schemeClr val="dk1"/>
                          </a:solidFill>
                          <a:latin typeface="Poppins"/>
                          <a:ea typeface="Poppins"/>
                          <a:cs typeface="Poppins"/>
                          <a:sym typeface="Poppins"/>
                        </a:rPr>
                        <a:t>. It uses numbers from 0 to 10.</a:t>
                      </a:r>
                      <a:endParaRPr sz="16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11" name="Google Shape;111;p18"/>
          <p:cNvSpPr txBox="1"/>
          <p:nvPr/>
        </p:nvSpPr>
        <p:spPr>
          <a:xfrm>
            <a:off x="156275" y="559400"/>
            <a:ext cx="4467600" cy="67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 sz="3000">
                <a:latin typeface="Fugaz One"/>
                <a:ea typeface="Fugaz One"/>
                <a:cs typeface="Fugaz One"/>
                <a:sym typeface="Fugaz One"/>
              </a:rPr>
              <a:t>K</a:t>
            </a:r>
            <a:r>
              <a:rPr lang="en" sz="3000" i="0" u="none" strike="noStrike" cap="none">
                <a:latin typeface="Fugaz One"/>
                <a:ea typeface="Fugaz One"/>
                <a:cs typeface="Fugaz One"/>
                <a:sym typeface="Fugaz One"/>
              </a:rPr>
              <a:t>eywords:</a:t>
            </a:r>
            <a:endParaRPr sz="3000" i="0" u="none" strike="noStrike" cap="none">
              <a:latin typeface="Fugaz One"/>
              <a:ea typeface="Fugaz One"/>
              <a:cs typeface="Fugaz One"/>
              <a:sym typeface="Fugaz One"/>
            </a:endParaRPr>
          </a:p>
        </p:txBody>
      </p:sp>
      <p:sp>
        <p:nvSpPr>
          <p:cNvPr id="112" name="Google Shape;112;p18"/>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113" name="Google Shape;113;p18"/>
          <p:cNvPicPr preferRelativeResize="0"/>
          <p:nvPr/>
        </p:nvPicPr>
        <p:blipFill>
          <a:blip r:embed="rId3">
            <a:alphaModFix/>
          </a:blip>
          <a:stretch>
            <a:fillRect/>
          </a:stretch>
        </p:blipFill>
        <p:spPr>
          <a:xfrm>
            <a:off x="2256725" y="1402100"/>
            <a:ext cx="988750" cy="988750"/>
          </a:xfrm>
          <a:prstGeom prst="rect">
            <a:avLst/>
          </a:prstGeom>
          <a:noFill/>
          <a:ln>
            <a:noFill/>
          </a:ln>
        </p:spPr>
      </p:pic>
      <p:pic>
        <p:nvPicPr>
          <p:cNvPr id="114" name="Google Shape;114;p18"/>
          <p:cNvPicPr preferRelativeResize="0"/>
          <p:nvPr/>
        </p:nvPicPr>
        <p:blipFill>
          <a:blip r:embed="rId4">
            <a:alphaModFix/>
          </a:blip>
          <a:stretch>
            <a:fillRect/>
          </a:stretch>
        </p:blipFill>
        <p:spPr>
          <a:xfrm>
            <a:off x="2256725" y="2511300"/>
            <a:ext cx="988750" cy="950126"/>
          </a:xfrm>
          <a:prstGeom prst="rect">
            <a:avLst/>
          </a:prstGeom>
          <a:noFill/>
          <a:ln>
            <a:noFill/>
          </a:ln>
        </p:spPr>
      </p:pic>
      <p:pic>
        <p:nvPicPr>
          <p:cNvPr id="115" name="Google Shape;115;p18"/>
          <p:cNvPicPr preferRelativeResize="0"/>
          <p:nvPr/>
        </p:nvPicPr>
        <p:blipFill>
          <a:blip r:embed="rId5">
            <a:alphaModFix/>
          </a:blip>
          <a:stretch>
            <a:fillRect/>
          </a:stretch>
        </p:blipFill>
        <p:spPr>
          <a:xfrm>
            <a:off x="2630775" y="2913950"/>
            <a:ext cx="409400" cy="409400"/>
          </a:xfrm>
          <a:prstGeom prst="rect">
            <a:avLst/>
          </a:prstGeom>
          <a:noFill/>
          <a:ln>
            <a:noFill/>
          </a:ln>
        </p:spPr>
      </p:pic>
      <p:pic>
        <p:nvPicPr>
          <p:cNvPr id="116" name="Google Shape;116;p18"/>
          <p:cNvPicPr preferRelativeResize="0"/>
          <p:nvPr/>
        </p:nvPicPr>
        <p:blipFill>
          <a:blip r:embed="rId6">
            <a:alphaModFix/>
          </a:blip>
          <a:stretch>
            <a:fillRect/>
          </a:stretch>
        </p:blipFill>
        <p:spPr>
          <a:xfrm>
            <a:off x="2276038" y="3581875"/>
            <a:ext cx="950125" cy="950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p:nvPr/>
        </p:nvSpPr>
        <p:spPr>
          <a:xfrm>
            <a:off x="86025" y="1245875"/>
            <a:ext cx="4485900" cy="1392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2100"/>
              <a:buFont typeface="Arial"/>
              <a:buNone/>
            </a:pPr>
            <a:r>
              <a:rPr lang="en" sz="1800" i="1" u="none" strike="noStrike" cap="none">
                <a:solidFill>
                  <a:schemeClr val="dk1"/>
                </a:solidFill>
                <a:latin typeface="Baumans"/>
                <a:ea typeface="Baumans"/>
                <a:cs typeface="Baumans"/>
                <a:sym typeface="Baumans"/>
              </a:rPr>
              <a:t>Two plates at a plate margin are unable to move past each other easily, so they become locked. Pressure begins to build up.</a:t>
            </a:r>
            <a:endParaRPr sz="1800" i="1" u="none" strike="noStrike" cap="none">
              <a:solidFill>
                <a:schemeClr val="dk1"/>
              </a:solidFill>
              <a:latin typeface="Baumans"/>
              <a:ea typeface="Baumans"/>
              <a:cs typeface="Baumans"/>
              <a:sym typeface="Baumans"/>
            </a:endParaRPr>
          </a:p>
        </p:txBody>
      </p:sp>
      <p:pic>
        <p:nvPicPr>
          <p:cNvPr id="131" name="Google Shape;131;p20"/>
          <p:cNvPicPr preferRelativeResize="0"/>
          <p:nvPr/>
        </p:nvPicPr>
        <p:blipFill rotWithShape="1">
          <a:blip r:embed="rId3">
            <a:alphaModFix/>
          </a:blip>
          <a:srcRect/>
          <a:stretch/>
        </p:blipFill>
        <p:spPr>
          <a:xfrm>
            <a:off x="4776418" y="1378956"/>
            <a:ext cx="4244437" cy="3085537"/>
          </a:xfrm>
          <a:prstGeom prst="rect">
            <a:avLst/>
          </a:prstGeom>
          <a:noFill/>
          <a:ln>
            <a:noFill/>
          </a:ln>
        </p:spPr>
      </p:pic>
      <p:sp>
        <p:nvSpPr>
          <p:cNvPr id="132" name="Google Shape;132;p20"/>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133" name="Google Shape;133;p20"/>
          <p:cNvSpPr txBox="1"/>
          <p:nvPr/>
        </p:nvSpPr>
        <p:spPr>
          <a:xfrm>
            <a:off x="123150" y="2638175"/>
            <a:ext cx="4448700" cy="173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chemeClr val="dk1"/>
                </a:solidFill>
                <a:latin typeface="Baumans"/>
                <a:ea typeface="Baumans"/>
                <a:cs typeface="Baumans"/>
                <a:sym typeface="Baumans"/>
              </a:rPr>
              <a:t>Suddenly, the pressure is released and the plates quickly move into a new position. This releases energy as </a:t>
            </a:r>
            <a:r>
              <a:rPr lang="en" sz="1800" b="1" i="1">
                <a:solidFill>
                  <a:schemeClr val="dk1"/>
                </a:solidFill>
                <a:latin typeface="Baumans"/>
                <a:ea typeface="Baumans"/>
                <a:cs typeface="Baumans"/>
                <a:sym typeface="Baumans"/>
              </a:rPr>
              <a:t>seismic waves</a:t>
            </a:r>
            <a:r>
              <a:rPr lang="en" sz="1800" i="1">
                <a:solidFill>
                  <a:schemeClr val="dk1"/>
                </a:solidFill>
                <a:latin typeface="Baumans"/>
                <a:ea typeface="Baumans"/>
                <a:cs typeface="Baumans"/>
                <a:sym typeface="Baumans"/>
              </a:rPr>
              <a:t>. The shaking these waves cause on the Earth’s surface is what we call an earthquake.</a:t>
            </a:r>
            <a:endParaRPr/>
          </a:p>
        </p:txBody>
      </p:sp>
      <p:sp>
        <p:nvSpPr>
          <p:cNvPr id="134" name="Google Shape;134;p20"/>
          <p:cNvSpPr/>
          <p:nvPr/>
        </p:nvSpPr>
        <p:spPr>
          <a:xfrm>
            <a:off x="123150" y="651500"/>
            <a:ext cx="53538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3000"/>
              <a:buFont typeface="Arial"/>
              <a:buNone/>
            </a:pPr>
            <a:r>
              <a:rPr lang="en" sz="2000">
                <a:solidFill>
                  <a:schemeClr val="dk1"/>
                </a:solidFill>
                <a:latin typeface="Luckiest Guy"/>
                <a:ea typeface="Luckiest Guy"/>
                <a:cs typeface="Luckiest Guy"/>
                <a:sym typeface="Luckiest Guy"/>
              </a:rPr>
              <a:t>Why do earthquakes happen?</a:t>
            </a:r>
            <a:endParaRPr sz="2100" i="0" u="none" strike="noStrike" cap="none">
              <a:solidFill>
                <a:schemeClr val="dk1"/>
              </a:solidFill>
              <a:latin typeface="Fugaz One"/>
              <a:ea typeface="Fugaz One"/>
              <a:cs typeface="Fugaz One"/>
              <a:sym typeface="Fugaz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p:nvPr/>
        </p:nvSpPr>
        <p:spPr>
          <a:xfrm>
            <a:off x="123150" y="651500"/>
            <a:ext cx="53538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3000"/>
              <a:buFont typeface="Arial"/>
              <a:buNone/>
            </a:pPr>
            <a:r>
              <a:rPr lang="en" sz="2000">
                <a:solidFill>
                  <a:schemeClr val="dk1"/>
                </a:solidFill>
                <a:latin typeface="Luckiest Guy"/>
                <a:ea typeface="Luckiest Guy"/>
                <a:cs typeface="Luckiest Guy"/>
                <a:sym typeface="Luckiest Guy"/>
              </a:rPr>
              <a:t>Why do earthquakes happen?</a:t>
            </a:r>
            <a:endParaRPr sz="2100" i="0" u="none" strike="noStrike" cap="none">
              <a:solidFill>
                <a:schemeClr val="dk1"/>
              </a:solidFill>
              <a:latin typeface="Fugaz One"/>
              <a:ea typeface="Fugaz One"/>
              <a:cs typeface="Fugaz One"/>
              <a:sym typeface="Fugaz One"/>
            </a:endParaRPr>
          </a:p>
        </p:txBody>
      </p:sp>
      <p:sp>
        <p:nvSpPr>
          <p:cNvPr id="122" name="Google Shape;122;p19"/>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123" name="Google Shape;123;p19" descr="Earthquakes are unpredictable and can strike with enough force to bring buildings down. Find out what causes earthquakes, why they're so deadly, and what's being done to help buildings sustain their hits.&#10;➡ Subscribe: https://on.natgeo.com/4p5A0D6&#10;➡ Get More 101 Videos: http://bit.ly/NatGeo101&#10;&#10;About National Geographic’s 101 Series:&#10;Explore and experience the forces that shape the world around us.&#10;&#10;Get More National Geographic:&#10;Official Site: https://nationalgeographic.com&#10;Instagram: https://instagram.com/natgeo &#10;Facebook: https://facebook.com/natgeo&#10;Threads: https://threads.com/@natgeo&#10;X: https://x.com/NatGeo&#10;LinkedIn: https://linkedin.com/company/national-geographic&#10;TikTok: https://tiktok.com/@natgeo&#10;Reddit: https://reddit.com/user/nationalgeographic&#10;&#10;About National Geographic:&#10;National Geographic is the world's premium destination for critically acclaimed storytelling around science and exploration. Discover amazing wildlife, ancient civilizations, hidden worlds, and the incredible wonders of our Earth. Through world-class scientists, photographers, journalists, and filmmakers, Nat Geo inspires fans of all ages to connect with, explore, and care about the world.&#10;&#10;Earthquakes 101 | National Geographic&#10;https://youtu.be/e7ho6z32yyo&#10;&#10;National Geographic&#10;https://www.youtube.com/natgeo" title="Earthquakes 101 | National Geographic">
            <a:hlinkClick r:id="rId3"/>
          </p:cNvPr>
          <p:cNvPicPr preferRelativeResize="0"/>
          <p:nvPr/>
        </p:nvPicPr>
        <p:blipFill>
          <a:blip r:embed="rId4">
            <a:alphaModFix/>
          </a:blip>
          <a:stretch>
            <a:fillRect/>
          </a:stretch>
        </p:blipFill>
        <p:spPr>
          <a:xfrm>
            <a:off x="152400" y="1206200"/>
            <a:ext cx="4419600" cy="2486025"/>
          </a:xfrm>
          <a:prstGeom prst="rect">
            <a:avLst/>
          </a:prstGeom>
          <a:noFill/>
          <a:ln>
            <a:noFill/>
          </a:ln>
        </p:spPr>
      </p:pic>
      <p:sp>
        <p:nvSpPr>
          <p:cNvPr id="124" name="Google Shape;124;p19"/>
          <p:cNvSpPr txBox="1"/>
          <p:nvPr/>
        </p:nvSpPr>
        <p:spPr>
          <a:xfrm>
            <a:off x="4572000" y="1206200"/>
            <a:ext cx="4419600" cy="26781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What causes earthquakes to happen beneath the Earth’s surface?</a:t>
            </a:r>
            <a:br>
              <a:rPr lang="en" sz="1800">
                <a:solidFill>
                  <a:schemeClr val="dk1"/>
                </a:solidFill>
                <a:latin typeface="Baumans"/>
                <a:ea typeface="Baumans"/>
                <a:cs typeface="Baumans"/>
                <a:sym typeface="Baumans"/>
              </a:rPr>
            </a:br>
            <a:endParaRPr sz="1800">
              <a:solidFill>
                <a:schemeClr val="dk1"/>
              </a:solidFill>
              <a:latin typeface="Baumans"/>
              <a:ea typeface="Baumans"/>
              <a:cs typeface="Baumans"/>
              <a:sym typeface="Baumans"/>
            </a:endParaRPr>
          </a:p>
          <a:p>
            <a:pPr marL="457200" lvl="0" indent="-342900" algn="l" rtl="0">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Why are some earthquakes more destructive than others?</a:t>
            </a:r>
            <a:br>
              <a:rPr lang="en" sz="1800">
                <a:solidFill>
                  <a:schemeClr val="dk1"/>
                </a:solidFill>
                <a:latin typeface="Baumans"/>
                <a:ea typeface="Baumans"/>
                <a:cs typeface="Baumans"/>
                <a:sym typeface="Baumans"/>
              </a:rPr>
            </a:br>
            <a:endParaRPr sz="1800">
              <a:solidFill>
                <a:schemeClr val="dk1"/>
              </a:solidFill>
              <a:latin typeface="Baumans"/>
              <a:ea typeface="Baumans"/>
              <a:cs typeface="Baumans"/>
              <a:sym typeface="Baumans"/>
            </a:endParaRPr>
          </a:p>
          <a:p>
            <a:pPr marL="457200" lvl="0" indent="-342900" algn="l" rtl="0">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What are scientists and engineers doing to reduce the damage caused by earthquakes?</a:t>
            </a:r>
            <a:endParaRPr sz="1800">
              <a:solidFill>
                <a:schemeClr val="dk1"/>
              </a:solidFill>
              <a:latin typeface="Baumans"/>
              <a:ea typeface="Baumans"/>
              <a:cs typeface="Baumans"/>
              <a:sym typeface="Baumans"/>
            </a:endParaRPr>
          </a:p>
        </p:txBody>
      </p:sp>
      <p:sp>
        <p:nvSpPr>
          <p:cNvPr id="125" name="Google Shape;125;p19"/>
          <p:cNvSpPr txBox="1"/>
          <p:nvPr/>
        </p:nvSpPr>
        <p:spPr>
          <a:xfrm>
            <a:off x="152400" y="3844625"/>
            <a:ext cx="8868600" cy="10065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SzPts val="1200"/>
              <a:buFont typeface="Poppins"/>
              <a:buAutoNum type="arabicPeriod"/>
            </a:pPr>
            <a:r>
              <a:rPr lang="en" sz="1200" b="1">
                <a:highlight>
                  <a:schemeClr val="lt1"/>
                </a:highlight>
                <a:latin typeface="Poppins"/>
                <a:ea typeface="Poppins"/>
                <a:cs typeface="Poppins"/>
                <a:sym typeface="Poppins"/>
              </a:rPr>
              <a:t>Tectonic plates move and grind against each other, releasing built-up pressure as shock waves.</a:t>
            </a:r>
            <a:endParaRPr sz="1200" b="1">
              <a:highlight>
                <a:schemeClr val="lt1"/>
              </a:highlight>
              <a:latin typeface="Poppins"/>
              <a:ea typeface="Poppins"/>
              <a:cs typeface="Poppins"/>
              <a:sym typeface="Poppins"/>
            </a:endParaRPr>
          </a:p>
          <a:p>
            <a:pPr marL="457200" lvl="0" indent="-304800" algn="l" rtl="0">
              <a:lnSpc>
                <a:spcPct val="115000"/>
              </a:lnSpc>
              <a:spcBef>
                <a:spcPts val="0"/>
              </a:spcBef>
              <a:spcAft>
                <a:spcPts val="0"/>
              </a:spcAft>
              <a:buSzPts val="1200"/>
              <a:buFont typeface="Poppins"/>
              <a:buAutoNum type="arabicPeriod"/>
            </a:pPr>
            <a:r>
              <a:rPr lang="en" sz="1200" b="1">
                <a:highlight>
                  <a:schemeClr val="lt1"/>
                </a:highlight>
                <a:latin typeface="Poppins"/>
                <a:ea typeface="Poppins"/>
                <a:cs typeface="Poppins"/>
                <a:sym typeface="Poppins"/>
              </a:rPr>
              <a:t>They are stronger, shallower, or happen near cities where more people and buildings are affected.</a:t>
            </a:r>
            <a:endParaRPr sz="1200" b="1">
              <a:highlight>
                <a:schemeClr val="lt1"/>
              </a:highlight>
              <a:latin typeface="Poppins"/>
              <a:ea typeface="Poppins"/>
              <a:cs typeface="Poppins"/>
              <a:sym typeface="Poppins"/>
            </a:endParaRPr>
          </a:p>
          <a:p>
            <a:pPr marL="457200" lvl="0" indent="-304800" algn="l" rtl="0">
              <a:lnSpc>
                <a:spcPct val="115000"/>
              </a:lnSpc>
              <a:spcBef>
                <a:spcPts val="0"/>
              </a:spcBef>
              <a:spcAft>
                <a:spcPts val="0"/>
              </a:spcAft>
              <a:buSzPts val="1200"/>
              <a:buFont typeface="Poppins"/>
              <a:buAutoNum type="arabicPeriod"/>
            </a:pPr>
            <a:r>
              <a:rPr lang="en" sz="1200" b="1">
                <a:highlight>
                  <a:schemeClr val="lt1"/>
                </a:highlight>
                <a:latin typeface="Poppins"/>
                <a:ea typeface="Poppins"/>
                <a:cs typeface="Poppins"/>
                <a:sym typeface="Poppins"/>
              </a:rPr>
              <a:t>Study data to predict future earthquakes and engineers design stronger buildings to reduce damage and keep people safe.</a:t>
            </a:r>
            <a:endParaRPr sz="1200" b="1">
              <a:highlight>
                <a:schemeClr val="lt1"/>
              </a:highlight>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1"/>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140" name="Google Shape;140;p21"/>
          <p:cNvSpPr txBox="1"/>
          <p:nvPr/>
        </p:nvSpPr>
        <p:spPr>
          <a:xfrm>
            <a:off x="123113" y="1023550"/>
            <a:ext cx="5545200" cy="241447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Activity 1:</a:t>
            </a:r>
            <a:r>
              <a:rPr lang="en" sz="1800" dirty="0">
                <a:solidFill>
                  <a:schemeClr val="dk1"/>
                </a:solidFill>
                <a:latin typeface="Baumans"/>
                <a:ea typeface="Baumans"/>
                <a:cs typeface="Baumans"/>
                <a:sym typeface="Baumans"/>
              </a:rPr>
              <a:t> Cut out and stick your diagram in your book. Use the diagram to explain how earthquakes happen.</a:t>
            </a:r>
            <a:endParaRPr sz="18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dirty="0">
                <a:solidFill>
                  <a:schemeClr val="dk1"/>
                </a:solidFill>
                <a:latin typeface="Baumans"/>
                <a:ea typeface="Baumans"/>
                <a:cs typeface="Baumans"/>
                <a:sym typeface="Baumans"/>
              </a:rPr>
              <a:t>Include these words in your description:</a:t>
            </a:r>
            <a:endParaRPr sz="1800" dirty="0">
              <a:solidFill>
                <a:schemeClr val="dk1"/>
              </a:solidFill>
              <a:latin typeface="Baumans"/>
              <a:ea typeface="Baumans"/>
              <a:cs typeface="Baumans"/>
              <a:sym typeface="Baumans"/>
            </a:endParaRPr>
          </a:p>
          <a:p>
            <a:pPr marL="457200" lvl="0" indent="-342900">
              <a:lnSpc>
                <a:spcPct val="115000"/>
              </a:lnSpc>
              <a:buClr>
                <a:schemeClr val="dk1"/>
              </a:buClr>
              <a:buSzPts val="1800"/>
              <a:buFont typeface="Baumans"/>
              <a:buAutoNum type="arabicPeriod"/>
            </a:pPr>
            <a:r>
              <a:rPr lang="en" sz="1800" dirty="0">
                <a:solidFill>
                  <a:schemeClr val="dk1"/>
                </a:solidFill>
                <a:latin typeface="Baumans"/>
                <a:ea typeface="Baumans"/>
                <a:cs typeface="Baumans"/>
                <a:sym typeface="Baumans"/>
              </a:rPr>
              <a:t>Plate movement </a:t>
            </a:r>
            <a:r>
              <a:rPr lang="ko-KR" altLang="en-US" sz="1800" dirty="0">
                <a:solidFill>
                  <a:schemeClr val="dk1"/>
                </a:solidFill>
                <a:latin typeface="Baumans"/>
                <a:ea typeface="Baumans"/>
                <a:cs typeface="Baumans"/>
                <a:sym typeface="Baumans"/>
              </a:rPr>
              <a:t>플레이트 이동</a:t>
            </a:r>
            <a:r>
              <a:rPr lang="en-US" altLang="ko-KR" sz="1800" dirty="0">
                <a:solidFill>
                  <a:schemeClr val="dk1"/>
                </a:solidFill>
                <a:latin typeface="Baumans"/>
                <a:ea typeface="Baumans"/>
                <a:cs typeface="Baumans"/>
                <a:sym typeface="Baumans"/>
              </a:rPr>
              <a:t> /</a:t>
            </a:r>
            <a:r>
              <a:rPr lang="en" sz="1800" dirty="0">
                <a:solidFill>
                  <a:schemeClr val="dk1"/>
                </a:solidFill>
                <a:latin typeface="Baumans"/>
                <a:ea typeface="Baumans"/>
                <a:cs typeface="Baumans"/>
                <a:sym typeface="Baumans"/>
              </a:rPr>
              <a:t> </a:t>
            </a:r>
            <a:r>
              <a:rPr lang="ja-JP" altLang="en-US" sz="1800">
                <a:solidFill>
                  <a:schemeClr val="dk1"/>
                </a:solidFill>
                <a:latin typeface="Baumans"/>
                <a:ea typeface="Baumans"/>
                <a:cs typeface="Baumans"/>
                <a:sym typeface="Baumans"/>
              </a:rPr>
              <a:t>板式运动</a:t>
            </a:r>
            <a:endParaRPr sz="1800" dirty="0">
              <a:solidFill>
                <a:schemeClr val="dk1"/>
              </a:solidFill>
              <a:latin typeface="Baumans"/>
              <a:ea typeface="Baumans"/>
              <a:cs typeface="Baumans"/>
              <a:sym typeface="Baumans"/>
            </a:endParaRPr>
          </a:p>
          <a:p>
            <a:pPr marL="457200" lvl="0" indent="-342900">
              <a:lnSpc>
                <a:spcPct val="115000"/>
              </a:lnSpc>
              <a:buClr>
                <a:schemeClr val="dk1"/>
              </a:buClr>
              <a:buSzPts val="1800"/>
              <a:buFont typeface="Baumans"/>
              <a:buAutoNum type="arabicPeriod"/>
            </a:pPr>
            <a:r>
              <a:rPr lang="en" sz="1800" dirty="0">
                <a:solidFill>
                  <a:schemeClr val="dk1"/>
                </a:solidFill>
                <a:latin typeface="Baumans"/>
                <a:ea typeface="Baumans"/>
                <a:cs typeface="Baumans"/>
                <a:sym typeface="Baumans"/>
              </a:rPr>
              <a:t>Focus </a:t>
            </a:r>
            <a:r>
              <a:rPr lang="ko-KR" altLang="en-US" sz="1800" dirty="0">
                <a:solidFill>
                  <a:schemeClr val="dk1"/>
                </a:solidFill>
                <a:latin typeface="Baumans"/>
                <a:ea typeface="Baumans"/>
                <a:cs typeface="Baumans"/>
                <a:sym typeface="Baumans"/>
              </a:rPr>
              <a:t>초점</a:t>
            </a:r>
            <a:r>
              <a:rPr lang="en-US" altLang="ko-KR" sz="1800" dirty="0">
                <a:solidFill>
                  <a:schemeClr val="dk1"/>
                </a:solidFill>
                <a:latin typeface="Baumans"/>
                <a:ea typeface="Baumans"/>
                <a:cs typeface="Baumans"/>
                <a:sym typeface="Baumans"/>
              </a:rPr>
              <a:t> / </a:t>
            </a:r>
            <a:r>
              <a:rPr lang="ja-JP" altLang="en-US" sz="1800">
                <a:solidFill>
                  <a:schemeClr val="dk1"/>
                </a:solidFill>
                <a:latin typeface="Baumans"/>
                <a:ea typeface="Baumans"/>
                <a:cs typeface="Baumans"/>
                <a:sym typeface="Baumans"/>
              </a:rPr>
              <a:t>重点</a:t>
            </a:r>
            <a:endParaRPr sz="1800" dirty="0">
              <a:solidFill>
                <a:schemeClr val="dk1"/>
              </a:solidFill>
              <a:latin typeface="Baumans"/>
              <a:ea typeface="Baumans"/>
              <a:cs typeface="Baumans"/>
              <a:sym typeface="Baumans"/>
            </a:endParaRPr>
          </a:p>
          <a:p>
            <a:pPr marL="457200" lvl="0" indent="-342900">
              <a:lnSpc>
                <a:spcPct val="115000"/>
              </a:lnSpc>
              <a:buClr>
                <a:schemeClr val="dk1"/>
              </a:buClr>
              <a:buSzPts val="1800"/>
              <a:buFont typeface="Baumans"/>
              <a:buAutoNum type="arabicPeriod"/>
            </a:pPr>
            <a:r>
              <a:rPr lang="en" sz="1800" dirty="0">
                <a:solidFill>
                  <a:schemeClr val="dk1"/>
                </a:solidFill>
                <a:latin typeface="Baumans"/>
                <a:ea typeface="Baumans"/>
                <a:cs typeface="Baumans"/>
                <a:sym typeface="Baumans"/>
              </a:rPr>
              <a:t>Seismic Waves </a:t>
            </a:r>
            <a:r>
              <a:rPr lang="ko-KR" altLang="en-US" sz="1800" dirty="0">
                <a:solidFill>
                  <a:schemeClr val="dk1"/>
                </a:solidFill>
                <a:latin typeface="Baumans"/>
                <a:ea typeface="Baumans"/>
                <a:cs typeface="Baumans"/>
                <a:sym typeface="Baumans"/>
              </a:rPr>
              <a:t>지진파</a:t>
            </a:r>
            <a:r>
              <a:rPr lang="en-US" altLang="ko-KR" sz="1800" dirty="0">
                <a:solidFill>
                  <a:schemeClr val="dk1"/>
                </a:solidFill>
                <a:latin typeface="Baumans"/>
                <a:ea typeface="Baumans"/>
                <a:cs typeface="Baumans"/>
                <a:sym typeface="Baumans"/>
              </a:rPr>
              <a:t> /</a:t>
            </a:r>
            <a:r>
              <a:rPr lang="en" sz="1800" dirty="0">
                <a:solidFill>
                  <a:schemeClr val="dk1"/>
                </a:solidFill>
                <a:latin typeface="Baumans"/>
                <a:ea typeface="Baumans"/>
                <a:cs typeface="Baumans"/>
                <a:sym typeface="Baumans"/>
              </a:rPr>
              <a:t> </a:t>
            </a:r>
            <a:r>
              <a:rPr lang="ja-JP" altLang="en-US" sz="1800">
                <a:solidFill>
                  <a:schemeClr val="dk1"/>
                </a:solidFill>
                <a:latin typeface="Baumans"/>
                <a:ea typeface="Baumans"/>
                <a:cs typeface="Baumans"/>
                <a:sym typeface="Baumans"/>
              </a:rPr>
              <a:t>地震波</a:t>
            </a:r>
            <a:endParaRPr sz="1800" dirty="0">
              <a:solidFill>
                <a:schemeClr val="dk1"/>
              </a:solidFill>
              <a:latin typeface="Baumans"/>
              <a:ea typeface="Baumans"/>
              <a:cs typeface="Baumans"/>
              <a:sym typeface="Baumans"/>
            </a:endParaRPr>
          </a:p>
          <a:p>
            <a:pPr marL="457200" lvl="0" indent="-342900">
              <a:lnSpc>
                <a:spcPct val="115000"/>
              </a:lnSpc>
              <a:buClr>
                <a:schemeClr val="dk1"/>
              </a:buClr>
              <a:buSzPts val="1800"/>
              <a:buFont typeface="Baumans"/>
              <a:buAutoNum type="arabicPeriod"/>
            </a:pPr>
            <a:r>
              <a:rPr lang="en" sz="1800" dirty="0" err="1">
                <a:solidFill>
                  <a:schemeClr val="dk1"/>
                </a:solidFill>
                <a:latin typeface="Baumans"/>
                <a:ea typeface="Baumans"/>
                <a:cs typeface="Baumans"/>
                <a:sym typeface="Baumans"/>
              </a:rPr>
              <a:t>Epicentre</a:t>
            </a:r>
            <a:r>
              <a:rPr lang="en" sz="1800" dirty="0">
                <a:solidFill>
                  <a:schemeClr val="dk1"/>
                </a:solidFill>
                <a:latin typeface="Baumans"/>
                <a:ea typeface="Baumans"/>
                <a:cs typeface="Baumans"/>
                <a:sym typeface="Baumans"/>
              </a:rPr>
              <a:t> </a:t>
            </a:r>
            <a:r>
              <a:rPr lang="ko-KR" altLang="en-US" sz="1800" dirty="0">
                <a:solidFill>
                  <a:schemeClr val="dk1"/>
                </a:solidFill>
                <a:latin typeface="Baumans"/>
                <a:ea typeface="Baumans"/>
                <a:cs typeface="Baumans"/>
                <a:sym typeface="Baumans"/>
              </a:rPr>
              <a:t>진앙</a:t>
            </a:r>
            <a:r>
              <a:rPr lang="en-US" altLang="ko-KR" sz="1800" dirty="0">
                <a:solidFill>
                  <a:schemeClr val="dk1"/>
                </a:solidFill>
                <a:latin typeface="Baumans"/>
                <a:ea typeface="Baumans"/>
                <a:cs typeface="Baumans"/>
                <a:sym typeface="Baumans"/>
              </a:rPr>
              <a:t> /</a:t>
            </a:r>
            <a:r>
              <a:rPr lang="en" sz="1800" dirty="0">
                <a:solidFill>
                  <a:schemeClr val="dk1"/>
                </a:solidFill>
                <a:latin typeface="Baumans"/>
                <a:ea typeface="Baumans"/>
                <a:cs typeface="Baumans"/>
                <a:sym typeface="Baumans"/>
              </a:rPr>
              <a:t> </a:t>
            </a:r>
            <a:r>
              <a:rPr lang="ja-JP" altLang="en-US" sz="1800">
                <a:solidFill>
                  <a:schemeClr val="dk1"/>
                </a:solidFill>
                <a:latin typeface="Baumans"/>
                <a:ea typeface="Baumans"/>
                <a:cs typeface="Baumans"/>
                <a:sym typeface="Baumans"/>
              </a:rPr>
              <a:t>震中</a:t>
            </a:r>
            <a:endParaRPr sz="1800" dirty="0">
              <a:solidFill>
                <a:schemeClr val="dk1"/>
              </a:solidFill>
              <a:latin typeface="Baumans"/>
              <a:ea typeface="Baumans"/>
              <a:cs typeface="Baumans"/>
              <a:sym typeface="Baumans"/>
            </a:endParaRPr>
          </a:p>
        </p:txBody>
      </p:sp>
      <p:grpSp>
        <p:nvGrpSpPr>
          <p:cNvPr id="141" name="Google Shape;141;p21"/>
          <p:cNvGrpSpPr/>
          <p:nvPr/>
        </p:nvGrpSpPr>
        <p:grpSpPr>
          <a:xfrm>
            <a:off x="4586106" y="3900877"/>
            <a:ext cx="666852" cy="811720"/>
            <a:chOff x="5426175" y="139294"/>
            <a:chExt cx="946695" cy="1152356"/>
          </a:xfrm>
        </p:grpSpPr>
        <p:pic>
          <p:nvPicPr>
            <p:cNvPr id="142" name="Google Shape;142;p21"/>
            <p:cNvPicPr preferRelativeResize="0"/>
            <p:nvPr/>
          </p:nvPicPr>
          <p:blipFill>
            <a:blip r:embed="rId3">
              <a:alphaModFix/>
            </a:blip>
            <a:stretch>
              <a:fillRect/>
            </a:stretch>
          </p:blipFill>
          <p:spPr>
            <a:xfrm>
              <a:off x="5469469" y="139300"/>
              <a:ext cx="903401" cy="1152350"/>
            </a:xfrm>
            <a:prstGeom prst="rect">
              <a:avLst/>
            </a:prstGeom>
            <a:noFill/>
            <a:ln>
              <a:noFill/>
            </a:ln>
          </p:spPr>
        </p:pic>
        <p:pic>
          <p:nvPicPr>
            <p:cNvPr id="143" name="Google Shape;143;p21" descr="a cartoon drawing of a fire with a flame coming out of it (Provided by Tenor)"/>
            <p:cNvPicPr preferRelativeResize="0"/>
            <p:nvPr/>
          </p:nvPicPr>
          <p:blipFill>
            <a:blip r:embed="rId4">
              <a:alphaModFix/>
            </a:blip>
            <a:stretch>
              <a:fillRect/>
            </a:stretch>
          </p:blipFill>
          <p:spPr>
            <a:xfrm>
              <a:off x="5426175" y="139294"/>
              <a:ext cx="341075" cy="391706"/>
            </a:xfrm>
            <a:prstGeom prst="rect">
              <a:avLst/>
            </a:prstGeom>
            <a:noFill/>
            <a:ln>
              <a:noFill/>
            </a:ln>
          </p:spPr>
        </p:pic>
      </p:grpSp>
      <p:grpSp>
        <p:nvGrpSpPr>
          <p:cNvPr id="144" name="Google Shape;144;p21"/>
          <p:cNvGrpSpPr/>
          <p:nvPr/>
        </p:nvGrpSpPr>
        <p:grpSpPr>
          <a:xfrm>
            <a:off x="128441" y="3978713"/>
            <a:ext cx="693180" cy="811723"/>
            <a:chOff x="5313625" y="1569463"/>
            <a:chExt cx="1136175" cy="1330475"/>
          </a:xfrm>
        </p:grpSpPr>
        <p:pic>
          <p:nvPicPr>
            <p:cNvPr id="145" name="Google Shape;145;p21"/>
            <p:cNvPicPr preferRelativeResize="0"/>
            <p:nvPr/>
          </p:nvPicPr>
          <p:blipFill>
            <a:blip r:embed="rId5">
              <a:alphaModFix/>
            </a:blip>
            <a:stretch>
              <a:fillRect/>
            </a:stretch>
          </p:blipFill>
          <p:spPr>
            <a:xfrm>
              <a:off x="5392550" y="1569463"/>
              <a:ext cx="1057250" cy="1330475"/>
            </a:xfrm>
            <a:prstGeom prst="rect">
              <a:avLst/>
            </a:prstGeom>
            <a:noFill/>
            <a:ln>
              <a:noFill/>
            </a:ln>
          </p:spPr>
        </p:pic>
        <p:pic>
          <p:nvPicPr>
            <p:cNvPr id="146" name="Google Shape;146;p21" descr="smoke is coming out of a hole in the ground on a white background . (Provided by Tenor)"/>
            <p:cNvPicPr preferRelativeResize="0"/>
            <p:nvPr/>
          </p:nvPicPr>
          <p:blipFill rotWithShape="1">
            <a:blip r:embed="rId6">
              <a:alphaModFix/>
            </a:blip>
            <a:srcRect l="42413" t="17925"/>
            <a:stretch/>
          </p:blipFill>
          <p:spPr>
            <a:xfrm>
              <a:off x="5313625" y="1650525"/>
              <a:ext cx="418000" cy="604725"/>
            </a:xfrm>
            <a:prstGeom prst="rect">
              <a:avLst/>
            </a:prstGeom>
            <a:noFill/>
            <a:ln>
              <a:noFill/>
            </a:ln>
          </p:spPr>
        </p:pic>
      </p:grpSp>
      <p:sp>
        <p:nvSpPr>
          <p:cNvPr id="147" name="Google Shape;147;p21"/>
          <p:cNvSpPr txBox="1"/>
          <p:nvPr/>
        </p:nvSpPr>
        <p:spPr>
          <a:xfrm>
            <a:off x="898430" y="3922875"/>
            <a:ext cx="3602100" cy="92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highlight>
                  <a:srgbClr val="FAA500"/>
                </a:highlight>
                <a:latin typeface="Poppins"/>
                <a:ea typeface="Poppins"/>
                <a:cs typeface="Poppins"/>
                <a:sym typeface="Poppins"/>
              </a:rPr>
              <a:t>Why do you think some places experience more earthquakes than others?</a:t>
            </a:r>
            <a:endParaRPr sz="1600" b="1" dirty="0">
              <a:highlight>
                <a:srgbClr val="FAA500"/>
              </a:highlight>
              <a:latin typeface="Poppins"/>
              <a:ea typeface="Poppins"/>
              <a:cs typeface="Poppins"/>
              <a:sym typeface="Poppins"/>
            </a:endParaRPr>
          </a:p>
        </p:txBody>
      </p:sp>
      <p:sp>
        <p:nvSpPr>
          <p:cNvPr id="148" name="Google Shape;148;p21"/>
          <p:cNvSpPr txBox="1"/>
          <p:nvPr/>
        </p:nvSpPr>
        <p:spPr>
          <a:xfrm>
            <a:off x="5315659" y="3627790"/>
            <a:ext cx="3699900" cy="116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solidFill>
                  <a:schemeClr val="lt1"/>
                </a:solidFill>
                <a:highlight>
                  <a:srgbClr val="CE0925"/>
                </a:highlight>
                <a:latin typeface="Poppins"/>
                <a:ea typeface="Poppins"/>
                <a:cs typeface="Poppins"/>
                <a:sym typeface="Poppins"/>
              </a:rPr>
              <a:t>Why do shallow earthquakes </a:t>
            </a:r>
            <a:r>
              <a:rPr lang="en" b="1" dirty="0">
                <a:solidFill>
                  <a:schemeClr val="lt1"/>
                </a:solidFill>
                <a:highlight>
                  <a:srgbClr val="CE0925"/>
                </a:highlight>
                <a:latin typeface="Patrick Hand"/>
                <a:ea typeface="Patrick Hand"/>
                <a:cs typeface="Patrick Hand"/>
                <a:sym typeface="Patrick Hand"/>
              </a:rPr>
              <a:t>(closer to the surface)</a:t>
            </a:r>
            <a:r>
              <a:rPr lang="en" sz="1600" b="1" dirty="0">
                <a:solidFill>
                  <a:schemeClr val="lt1"/>
                </a:solidFill>
                <a:highlight>
                  <a:srgbClr val="CE0925"/>
                </a:highlight>
                <a:latin typeface="Poppins"/>
                <a:ea typeface="Poppins"/>
                <a:cs typeface="Poppins"/>
                <a:sym typeface="Poppins"/>
              </a:rPr>
              <a:t> cause more damage than deep earthquakes </a:t>
            </a:r>
            <a:r>
              <a:rPr lang="en" b="1" dirty="0">
                <a:solidFill>
                  <a:schemeClr val="lt1"/>
                </a:solidFill>
                <a:highlight>
                  <a:srgbClr val="CE0925"/>
                </a:highlight>
                <a:latin typeface="Patrick Hand"/>
                <a:ea typeface="Patrick Hand"/>
                <a:cs typeface="Patrick Hand"/>
                <a:sym typeface="Patrick Hand"/>
              </a:rPr>
              <a:t>(further underground)</a:t>
            </a:r>
            <a:r>
              <a:rPr lang="en" sz="1600" b="1" dirty="0">
                <a:solidFill>
                  <a:schemeClr val="lt1"/>
                </a:solidFill>
                <a:highlight>
                  <a:srgbClr val="CE0925"/>
                </a:highlight>
                <a:latin typeface="Poppins"/>
                <a:ea typeface="Poppins"/>
                <a:cs typeface="Poppins"/>
                <a:sym typeface="Poppins"/>
              </a:rPr>
              <a:t>.</a:t>
            </a:r>
            <a:endParaRPr sz="1600" b="1" dirty="0">
              <a:solidFill>
                <a:schemeClr val="lt1"/>
              </a:solidFill>
              <a:highlight>
                <a:srgbClr val="CE0925"/>
              </a:highlight>
              <a:latin typeface="Poppins"/>
              <a:ea typeface="Poppins"/>
              <a:cs typeface="Poppins"/>
              <a:sym typeface="Poppins"/>
            </a:endParaRPr>
          </a:p>
        </p:txBody>
      </p:sp>
      <p:pic>
        <p:nvPicPr>
          <p:cNvPr id="149" name="Google Shape;149;p21"/>
          <p:cNvPicPr preferRelativeResize="0"/>
          <p:nvPr/>
        </p:nvPicPr>
        <p:blipFill>
          <a:blip r:embed="rId7">
            <a:alphaModFix/>
          </a:blip>
          <a:stretch>
            <a:fillRect/>
          </a:stretch>
        </p:blipFill>
        <p:spPr>
          <a:xfrm>
            <a:off x="6008613" y="1023538"/>
            <a:ext cx="2621700" cy="1949475"/>
          </a:xfrm>
          <a:prstGeom prst="rect">
            <a:avLst/>
          </a:prstGeom>
          <a:noFill/>
          <a:ln>
            <a:noFill/>
          </a:ln>
        </p:spPr>
      </p:pic>
      <p:sp>
        <p:nvSpPr>
          <p:cNvPr id="150" name="Google Shape;150;p21"/>
          <p:cNvSpPr/>
          <p:nvPr/>
        </p:nvSpPr>
        <p:spPr>
          <a:xfrm>
            <a:off x="123150" y="651500"/>
            <a:ext cx="53538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3000"/>
              <a:buFont typeface="Arial"/>
              <a:buNone/>
            </a:pPr>
            <a:r>
              <a:rPr lang="en" sz="2000">
                <a:solidFill>
                  <a:schemeClr val="dk1"/>
                </a:solidFill>
                <a:latin typeface="Luckiest Guy"/>
                <a:ea typeface="Luckiest Guy"/>
                <a:cs typeface="Luckiest Guy"/>
                <a:sym typeface="Luckiest Guy"/>
              </a:rPr>
              <a:t>Why do earthquakes happen?</a:t>
            </a:r>
            <a:endParaRPr sz="2100" i="0" u="none" strike="noStrike" cap="none">
              <a:solidFill>
                <a:schemeClr val="dk1"/>
              </a:solidFill>
              <a:latin typeface="Fugaz One"/>
              <a:ea typeface="Fugaz One"/>
              <a:cs typeface="Fugaz One"/>
              <a:sym typeface="Fugaz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2" descr="Image result for seismometer"/>
          <p:cNvPicPr preferRelativeResize="0"/>
          <p:nvPr/>
        </p:nvPicPr>
        <p:blipFill rotWithShape="1">
          <a:blip r:embed="rId3">
            <a:alphaModFix/>
          </a:blip>
          <a:srcRect/>
          <a:stretch/>
        </p:blipFill>
        <p:spPr>
          <a:xfrm>
            <a:off x="123150" y="1063700"/>
            <a:ext cx="3129958" cy="2178749"/>
          </a:xfrm>
          <a:prstGeom prst="rect">
            <a:avLst/>
          </a:prstGeom>
          <a:noFill/>
          <a:ln>
            <a:noFill/>
          </a:ln>
        </p:spPr>
      </p:pic>
      <p:sp>
        <p:nvSpPr>
          <p:cNvPr id="156" name="Google Shape;156;p22"/>
          <p:cNvSpPr/>
          <p:nvPr/>
        </p:nvSpPr>
        <p:spPr>
          <a:xfrm>
            <a:off x="3493625" y="1062975"/>
            <a:ext cx="5430000" cy="658200"/>
          </a:xfrm>
          <a:prstGeom prst="rect">
            <a:avLst/>
          </a:prstGeom>
          <a:no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800">
                <a:latin typeface="Baumans"/>
                <a:ea typeface="Baumans"/>
                <a:cs typeface="Baumans"/>
                <a:sym typeface="Baumans"/>
              </a:rPr>
              <a:t>A </a:t>
            </a:r>
            <a:r>
              <a:rPr lang="en" sz="1800" b="1">
                <a:latin typeface="Baumans"/>
                <a:ea typeface="Baumans"/>
                <a:cs typeface="Baumans"/>
                <a:sym typeface="Baumans"/>
              </a:rPr>
              <a:t>seismometer</a:t>
            </a:r>
            <a:r>
              <a:rPr lang="en" sz="1800">
                <a:latin typeface="Baumans"/>
                <a:ea typeface="Baumans"/>
                <a:cs typeface="Baumans"/>
                <a:sym typeface="Baumans"/>
              </a:rPr>
              <a:t> is a scientific instrument that detects and records vibrations in the ground.</a:t>
            </a:r>
            <a:endParaRPr sz="1800" i="0" u="none" strike="noStrike" cap="none">
              <a:solidFill>
                <a:srgbClr val="000000"/>
              </a:solidFill>
              <a:latin typeface="Baumans"/>
              <a:ea typeface="Baumans"/>
              <a:cs typeface="Baumans"/>
              <a:sym typeface="Baumans"/>
            </a:endParaRPr>
          </a:p>
        </p:txBody>
      </p:sp>
      <p:sp>
        <p:nvSpPr>
          <p:cNvPr id="157" name="Google Shape;157;p22"/>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158" name="Google Shape;158;p22" descr="the sassmograph is going crazy ! is written on a piece of paper (Provided by Tenor)"/>
          <p:cNvPicPr preferRelativeResize="0"/>
          <p:nvPr/>
        </p:nvPicPr>
        <p:blipFill rotWithShape="1">
          <a:blip r:embed="rId4">
            <a:alphaModFix/>
          </a:blip>
          <a:srcRect t="19285" b="16899"/>
          <a:stretch/>
        </p:blipFill>
        <p:spPr>
          <a:xfrm>
            <a:off x="123150" y="3281425"/>
            <a:ext cx="3129950" cy="1215725"/>
          </a:xfrm>
          <a:prstGeom prst="rect">
            <a:avLst/>
          </a:prstGeom>
          <a:noFill/>
          <a:ln>
            <a:noFill/>
          </a:ln>
        </p:spPr>
      </p:pic>
      <p:sp>
        <p:nvSpPr>
          <p:cNvPr id="159" name="Google Shape;159;p22"/>
          <p:cNvSpPr txBox="1"/>
          <p:nvPr/>
        </p:nvSpPr>
        <p:spPr>
          <a:xfrm>
            <a:off x="3493625" y="1721175"/>
            <a:ext cx="3284100" cy="34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It works by measuring </a:t>
            </a:r>
            <a:r>
              <a:rPr lang="en" sz="1800" b="1">
                <a:solidFill>
                  <a:schemeClr val="dk1"/>
                </a:solidFill>
                <a:latin typeface="Baumans"/>
                <a:ea typeface="Baumans"/>
                <a:cs typeface="Baumans"/>
                <a:sym typeface="Baumans"/>
              </a:rPr>
              <a:t>how much the ground shakes</a:t>
            </a:r>
            <a:r>
              <a:rPr lang="en" sz="1800">
                <a:solidFill>
                  <a:schemeClr val="dk1"/>
                </a:solidFill>
                <a:latin typeface="Baumans"/>
                <a:ea typeface="Baumans"/>
                <a:cs typeface="Baumans"/>
                <a:sym typeface="Baumans"/>
              </a:rPr>
              <a:t> and turns that movement into data that scientists can use to determine the </a:t>
            </a:r>
            <a:r>
              <a:rPr lang="en" sz="1800" b="1">
                <a:solidFill>
                  <a:schemeClr val="dk1"/>
                </a:solidFill>
                <a:latin typeface="Baumans"/>
                <a:ea typeface="Baumans"/>
                <a:cs typeface="Baumans"/>
                <a:sym typeface="Baumans"/>
              </a:rPr>
              <a:t>strength, duration and location</a:t>
            </a:r>
            <a:r>
              <a:rPr lang="en" sz="1800">
                <a:solidFill>
                  <a:schemeClr val="dk1"/>
                </a:solidFill>
                <a:latin typeface="Baumans"/>
                <a:ea typeface="Baumans"/>
                <a:cs typeface="Baumans"/>
                <a:sym typeface="Baumans"/>
              </a:rPr>
              <a:t> of a seismic event.</a:t>
            </a: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This produces a </a:t>
            </a:r>
            <a:r>
              <a:rPr lang="en" sz="1800" b="1">
                <a:solidFill>
                  <a:schemeClr val="dk1"/>
                </a:solidFill>
                <a:latin typeface="Baumans"/>
                <a:ea typeface="Baumans"/>
                <a:cs typeface="Baumans"/>
                <a:sym typeface="Baumans"/>
              </a:rPr>
              <a:t>seismogram</a:t>
            </a:r>
            <a:r>
              <a:rPr lang="en" sz="1800">
                <a:solidFill>
                  <a:schemeClr val="dk1"/>
                </a:solidFill>
                <a:latin typeface="Baumans"/>
                <a:ea typeface="Baumans"/>
                <a:cs typeface="Baumans"/>
                <a:sym typeface="Baumans"/>
              </a:rPr>
              <a:t> which is the recording at the specific location.</a:t>
            </a:r>
            <a:endParaRPr/>
          </a:p>
        </p:txBody>
      </p:sp>
      <p:sp>
        <p:nvSpPr>
          <p:cNvPr id="160" name="Google Shape;160;p22"/>
          <p:cNvSpPr/>
          <p:nvPr/>
        </p:nvSpPr>
        <p:spPr>
          <a:xfrm>
            <a:off x="123150" y="660663"/>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a:t>
            </a:r>
            <a:endParaRPr sz="2000" i="0" u="none" strike="noStrike" cap="none">
              <a:solidFill>
                <a:schemeClr val="dk1"/>
              </a:solidFill>
              <a:latin typeface="Luckiest Guy"/>
              <a:ea typeface="Luckiest Guy"/>
              <a:cs typeface="Luckiest Guy"/>
              <a:sym typeface="Luckiest Guy"/>
            </a:endParaRPr>
          </a:p>
        </p:txBody>
      </p:sp>
      <p:pic>
        <p:nvPicPr>
          <p:cNvPr id="161" name="Google Shape;161;p22"/>
          <p:cNvPicPr preferRelativeResize="0"/>
          <p:nvPr/>
        </p:nvPicPr>
        <p:blipFill>
          <a:blip r:embed="rId5">
            <a:alphaModFix/>
          </a:blip>
          <a:stretch>
            <a:fillRect/>
          </a:stretch>
        </p:blipFill>
        <p:spPr>
          <a:xfrm>
            <a:off x="6930125" y="1873575"/>
            <a:ext cx="2061474" cy="20614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3"/>
          <p:cNvSpPr txBox="1"/>
          <p:nvPr/>
        </p:nvSpPr>
        <p:spPr>
          <a:xfrm>
            <a:off x="4574975" y="1316700"/>
            <a:ext cx="4401900" cy="102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2:</a:t>
            </a:r>
            <a:r>
              <a:rPr lang="en" sz="1800">
                <a:solidFill>
                  <a:schemeClr val="dk1"/>
                </a:solidFill>
                <a:latin typeface="Baumans"/>
                <a:ea typeface="Baumans"/>
                <a:cs typeface="Baumans"/>
                <a:sym typeface="Baumans"/>
              </a:rPr>
              <a:t> Complete the multiple choice questions whilst watching the video: </a:t>
            </a:r>
            <a:endParaRPr sz="1800" b="1">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How Does The Richter Scale Work?</a:t>
            </a:r>
            <a:endParaRPr sz="1800" b="1">
              <a:solidFill>
                <a:schemeClr val="dk1"/>
              </a:solidFill>
              <a:latin typeface="Baumans"/>
              <a:ea typeface="Baumans"/>
              <a:cs typeface="Baumans"/>
              <a:sym typeface="Baumans"/>
            </a:endParaRPr>
          </a:p>
        </p:txBody>
      </p:sp>
      <p:pic>
        <p:nvPicPr>
          <p:cNvPr id="167" name="Google Shape;167;p23" descr="Nepal has been hit by two huge earthquakes, a 7.8 and a 7.3 on the Richter Scale. What are the different ways seismologists measure earthquakes and what do these ratings mean?  &#10; &#10;Read More: &#10;Earthquake Facts and Statistics &#10;http://earthquake.usgs.gov/earthquakes/eqarchives/year/eqstats.php &#10; &#10;How Earthquakes Work &#10;http://science.howstuffworks.com/nature/natural-disasters/earthquake6.htm &#10; &#10;The Modified Mercalli Intensity Scale &#10;http://earthquake.usgs.gov/learn/topics/mercalli.php &#10;&quot;The effect of an earthquake on the Earth's surface is called the intensity. The intensity scale consists of a series of certain key responses such as people awakening, movement of furniture, damage to chimneys, and finally - total destruction.&quot; &#10; &#10;Magnitude VS Intensity &#10;http://pnsn.org/outreach/about-earthquakes/magnitude-intensity &#10;&quot;Perhaps no seismic subject is as irksome to seismologists as discussions of earthquake size. There often seems to be no end of confusion, misunderstanding, and over-interpretation of what are really pretty crude metrics.&quot; &#10;____________________ &#10; &#10;DNews is dedicated to satisfying your curiosity and to bringing you mind-bending stories &amp; perspectives you won't find anywhere else! New videos twice daily.  &#10; &#10;Watch More DNews on TestTube http://testtube.com/dnews &#10; &#10;Subscribe now! http://www.youtube.com/subscription_center?add_user=dnewschannel &#10; &#10;DNews on Twitter http://twitter.com/dnews &#10; &#10;Trace Dominguez on Twitter https://twitter.com/tracedominguez &#10; &#10;Julia Wilde on Twitter https://twitter.com/julia_sci &#10; &#10;DNews on Facebook https://facebook.com/DiscoveryNews &#10; &#10;DNews on Google+ http://gplus.to/dnews &#10; &#10;Discovery News http://discoverynews.com &#10; &#10;Download the TestTube App: http://testu.be/1ndmmMq" title="How Does The Richter Scale Work?">
            <a:hlinkClick r:id="rId3"/>
          </p:cNvPr>
          <p:cNvPicPr preferRelativeResize="0"/>
          <p:nvPr/>
        </p:nvPicPr>
        <p:blipFill>
          <a:blip r:embed="rId4">
            <a:alphaModFix/>
          </a:blip>
          <a:stretch>
            <a:fillRect/>
          </a:stretch>
        </p:blipFill>
        <p:spPr>
          <a:xfrm>
            <a:off x="129425" y="1316700"/>
            <a:ext cx="4401911" cy="2476075"/>
          </a:xfrm>
          <a:prstGeom prst="rect">
            <a:avLst/>
          </a:prstGeom>
          <a:noFill/>
          <a:ln>
            <a:noFill/>
          </a:ln>
        </p:spPr>
      </p:pic>
      <p:sp>
        <p:nvSpPr>
          <p:cNvPr id="168" name="Google Shape;168;p23"/>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169" name="Google Shape;169;p23" title="Screenshot 2025-10-30 at 12.45.02 PM.png"/>
          <p:cNvPicPr preferRelativeResize="0"/>
          <p:nvPr/>
        </p:nvPicPr>
        <p:blipFill>
          <a:blip r:embed="rId5">
            <a:alphaModFix/>
          </a:blip>
          <a:stretch>
            <a:fillRect/>
          </a:stretch>
        </p:blipFill>
        <p:spPr>
          <a:xfrm>
            <a:off x="5062400" y="2339700"/>
            <a:ext cx="3426869" cy="2590149"/>
          </a:xfrm>
          <a:prstGeom prst="rect">
            <a:avLst/>
          </a:prstGeom>
          <a:noFill/>
          <a:ln>
            <a:noFill/>
          </a:ln>
        </p:spPr>
      </p:pic>
      <p:sp>
        <p:nvSpPr>
          <p:cNvPr id="170" name="Google Shape;170;p23"/>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a:t>
            </a:r>
            <a:endParaRPr sz="2000" i="0" u="none" strike="noStrike" cap="none">
              <a:solidFill>
                <a:schemeClr val="dk1"/>
              </a:solidFill>
              <a:latin typeface="Luckiest Guy"/>
              <a:ea typeface="Luckiest Guy"/>
              <a:cs typeface="Luckiest Guy"/>
              <a:sym typeface="Luckiest Gu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p:nvPr/>
        </p:nvSpPr>
        <p:spPr>
          <a:xfrm>
            <a:off x="55413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76" name="Google Shape;176;p24"/>
          <p:cNvSpPr txBox="1"/>
          <p:nvPr/>
        </p:nvSpPr>
        <p:spPr>
          <a:xfrm>
            <a:off x="125350" y="1063700"/>
            <a:ext cx="5668500" cy="3849900"/>
          </a:xfrm>
          <a:prstGeom prst="rect">
            <a:avLst/>
          </a:prstGeom>
          <a:noFill/>
          <a:ln>
            <a:noFill/>
          </a:ln>
        </p:spPr>
        <p:txBody>
          <a:bodyPr spcFirstLastPara="1" wrap="square" lIns="91425" tIns="91425" rIns="91425" bIns="91425" anchor="t" anchorCtr="0">
            <a:spAutoFit/>
          </a:bodyPr>
          <a:lstStyle/>
          <a:p>
            <a:pPr marL="762000" lvl="0" indent="-317500" algn="l" rtl="0">
              <a:lnSpc>
                <a:spcPct val="133400"/>
              </a:lnSpc>
              <a:spcBef>
                <a:spcPts val="90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b) The amount of energy released during an earthquake</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b) Scientists in the 1930s</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a) Each whole number increase is 10 times stronger</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c) It measures how strong the shaking feels on the surface</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d) The intensity of shaking felt by people</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a) Measure how far a fault moved and how much force was used</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a) To replace the older Richter Scale with a more accurate one</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b) The smaller earthquake was deeper or in a different location</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d) To understand how an earthquake felt on the surface</a:t>
            </a:r>
            <a:endParaRPr b="1">
              <a:solidFill>
                <a:srgbClr val="38761D"/>
              </a:solidFill>
              <a:latin typeface="Delius"/>
              <a:ea typeface="Delius"/>
              <a:cs typeface="Delius"/>
              <a:sym typeface="Delius"/>
            </a:endParaRPr>
          </a:p>
          <a:p>
            <a:pPr marL="762000" lvl="0" indent="-317500" algn="l" rtl="0">
              <a:lnSpc>
                <a:spcPct val="133400"/>
              </a:lnSpc>
              <a:spcBef>
                <a:spcPts val="0"/>
              </a:spcBef>
              <a:spcAft>
                <a:spcPts val="0"/>
              </a:spcAft>
              <a:buClr>
                <a:srgbClr val="38761D"/>
              </a:buClr>
              <a:buSzPts val="1400"/>
              <a:buFont typeface="Delius"/>
              <a:buAutoNum type="arabicPeriod"/>
            </a:pPr>
            <a:r>
              <a:rPr lang="en" b="1">
                <a:solidFill>
                  <a:srgbClr val="38761D"/>
                </a:solidFill>
                <a:latin typeface="Delius"/>
                <a:ea typeface="Delius"/>
                <a:cs typeface="Delius"/>
                <a:sym typeface="Delius"/>
              </a:rPr>
              <a:t>c) Many factors affect how they are measured and felt</a:t>
            </a:r>
            <a:endParaRPr b="1">
              <a:solidFill>
                <a:srgbClr val="38761D"/>
              </a:solidFill>
              <a:latin typeface="Delius"/>
              <a:ea typeface="Delius"/>
              <a:cs typeface="Delius"/>
              <a:sym typeface="Delius"/>
            </a:endParaRPr>
          </a:p>
        </p:txBody>
      </p:sp>
      <p:sp>
        <p:nvSpPr>
          <p:cNvPr id="177" name="Google Shape;177;p24"/>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a:t>
            </a:r>
            <a:endParaRPr sz="2000" i="0" u="none" strike="noStrike" cap="none">
              <a:solidFill>
                <a:schemeClr val="dk1"/>
              </a:solidFill>
              <a:latin typeface="Luckiest Guy"/>
              <a:ea typeface="Luckiest Guy"/>
              <a:cs typeface="Luckiest Guy"/>
              <a:sym typeface="Luckiest Guy"/>
            </a:endParaRPr>
          </a:p>
        </p:txBody>
      </p:sp>
      <p:sp>
        <p:nvSpPr>
          <p:cNvPr id="178" name="Google Shape;178;p24"/>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179" name="Google Shape;179;p24" title="Screenshot 2025-10-30 at 12.45.02 PM.png"/>
          <p:cNvPicPr preferRelativeResize="0"/>
          <p:nvPr/>
        </p:nvPicPr>
        <p:blipFill>
          <a:blip r:embed="rId3">
            <a:alphaModFix/>
          </a:blip>
          <a:stretch>
            <a:fillRect/>
          </a:stretch>
        </p:blipFill>
        <p:spPr>
          <a:xfrm>
            <a:off x="5793850" y="1899600"/>
            <a:ext cx="3174500" cy="239939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5"/>
          <p:cNvSpPr txBox="1">
            <a:spLocks noGrp="1"/>
          </p:cNvSpPr>
          <p:nvPr>
            <p:ph type="body" idx="1"/>
          </p:nvPr>
        </p:nvSpPr>
        <p:spPr>
          <a:xfrm>
            <a:off x="3549400" y="1352000"/>
            <a:ext cx="5493300" cy="2442600"/>
          </a:xfrm>
          <a:prstGeom prst="rect">
            <a:avLst/>
          </a:prstGeom>
          <a:noFill/>
          <a:ln>
            <a:noFill/>
          </a:ln>
        </p:spPr>
        <p:txBody>
          <a:bodyPr spcFirstLastPara="1" wrap="square" lIns="68575" tIns="34275" rIns="68575" bIns="34275" anchor="t" anchorCtr="0">
            <a:normAutofit lnSpcReduction="10000"/>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Baumans"/>
                <a:ea typeface="Baumans"/>
                <a:cs typeface="Baumans"/>
                <a:sym typeface="Baumans"/>
              </a:rPr>
              <a:t>The </a:t>
            </a:r>
            <a:r>
              <a:rPr lang="en" b="1">
                <a:solidFill>
                  <a:schemeClr val="dk1"/>
                </a:solidFill>
                <a:latin typeface="Baumans"/>
                <a:ea typeface="Baumans"/>
                <a:cs typeface="Baumans"/>
                <a:sym typeface="Baumans"/>
              </a:rPr>
              <a:t>Mercalli Scale</a:t>
            </a:r>
            <a:r>
              <a:rPr lang="en">
                <a:solidFill>
                  <a:schemeClr val="dk1"/>
                </a:solidFill>
                <a:latin typeface="Baumans"/>
                <a:ea typeface="Baumans"/>
                <a:cs typeface="Baumans"/>
                <a:sym typeface="Baumans"/>
              </a:rPr>
              <a:t> is another way to measure earthquakes.</a:t>
            </a:r>
            <a:endParaRPr>
              <a:solidFill>
                <a:schemeClr val="dk1"/>
              </a:solidFill>
              <a:latin typeface="Baumans"/>
              <a:ea typeface="Baumans"/>
              <a:cs typeface="Baumans"/>
              <a:sym typeface="Baumans"/>
            </a:endParaRPr>
          </a:p>
          <a:p>
            <a:pPr marL="0" lvl="0" indent="0" algn="l" rtl="0">
              <a:lnSpc>
                <a:spcPct val="115000"/>
              </a:lnSpc>
              <a:spcBef>
                <a:spcPts val="0"/>
              </a:spcBef>
              <a:spcAft>
                <a:spcPts val="0"/>
              </a:spcAft>
              <a:buSzPts val="1100"/>
              <a:buNone/>
            </a:pPr>
            <a:endParaRPr>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Baumans"/>
                <a:ea typeface="Baumans"/>
                <a:cs typeface="Baumans"/>
                <a:sym typeface="Baumans"/>
              </a:rPr>
              <a:t>It uses </a:t>
            </a:r>
            <a:r>
              <a:rPr lang="en" b="1">
                <a:solidFill>
                  <a:schemeClr val="dk1"/>
                </a:solidFill>
                <a:latin typeface="Baumans"/>
                <a:ea typeface="Baumans"/>
                <a:cs typeface="Baumans"/>
                <a:sym typeface="Baumans"/>
              </a:rPr>
              <a:t>Roman numerals</a:t>
            </a:r>
            <a:r>
              <a:rPr lang="en">
                <a:solidFill>
                  <a:schemeClr val="dk1"/>
                </a:solidFill>
                <a:latin typeface="Baumans"/>
                <a:ea typeface="Baumans"/>
                <a:cs typeface="Baumans"/>
                <a:sym typeface="Baumans"/>
              </a:rPr>
              <a:t> from </a:t>
            </a:r>
            <a:r>
              <a:rPr lang="en" b="1">
                <a:solidFill>
                  <a:schemeClr val="dk1"/>
                </a:solidFill>
                <a:latin typeface="Baumans"/>
                <a:ea typeface="Baumans"/>
                <a:cs typeface="Baumans"/>
                <a:sym typeface="Baumans"/>
              </a:rPr>
              <a:t>I (1)</a:t>
            </a:r>
            <a:r>
              <a:rPr lang="en">
                <a:solidFill>
                  <a:schemeClr val="dk1"/>
                </a:solidFill>
                <a:latin typeface="Baumans"/>
                <a:ea typeface="Baumans"/>
                <a:cs typeface="Baumans"/>
                <a:sym typeface="Baumans"/>
              </a:rPr>
              <a:t> to </a:t>
            </a:r>
            <a:r>
              <a:rPr lang="en" b="1">
                <a:solidFill>
                  <a:schemeClr val="dk1"/>
                </a:solidFill>
                <a:latin typeface="Baumans"/>
                <a:ea typeface="Baumans"/>
                <a:cs typeface="Baumans"/>
                <a:sym typeface="Baumans"/>
              </a:rPr>
              <a:t>XII (12)</a:t>
            </a:r>
            <a:r>
              <a:rPr lang="en">
                <a:solidFill>
                  <a:schemeClr val="dk1"/>
                </a:solidFill>
                <a:latin typeface="Baumans"/>
                <a:ea typeface="Baumans"/>
                <a:cs typeface="Baumans"/>
                <a:sym typeface="Baumans"/>
              </a:rPr>
              <a:t>.</a:t>
            </a:r>
            <a:endParaRPr>
              <a:solidFill>
                <a:schemeClr val="dk1"/>
              </a:solidFill>
              <a:latin typeface="Baumans"/>
              <a:ea typeface="Baumans"/>
              <a:cs typeface="Baumans"/>
              <a:sym typeface="Baumans"/>
            </a:endParaRPr>
          </a:p>
          <a:p>
            <a:pPr marL="0" lvl="0" indent="0" algn="l" rtl="0">
              <a:lnSpc>
                <a:spcPct val="115000"/>
              </a:lnSpc>
              <a:spcBef>
                <a:spcPts val="0"/>
              </a:spcBef>
              <a:spcAft>
                <a:spcPts val="0"/>
              </a:spcAft>
              <a:buSzPts val="1400"/>
              <a:buNone/>
            </a:pPr>
            <a:endParaRPr>
              <a:solidFill>
                <a:schemeClr val="dk1"/>
              </a:solidFill>
              <a:latin typeface="Baumans"/>
              <a:ea typeface="Baumans"/>
              <a:cs typeface="Baumans"/>
              <a:sym typeface="Baumans"/>
            </a:endParaRPr>
          </a:p>
          <a:p>
            <a:pPr marL="0" lvl="0" indent="0" algn="l" rtl="0">
              <a:lnSpc>
                <a:spcPct val="115000"/>
              </a:lnSpc>
              <a:spcBef>
                <a:spcPts val="0"/>
              </a:spcBef>
              <a:spcAft>
                <a:spcPts val="0"/>
              </a:spcAft>
              <a:buSzPts val="1400"/>
              <a:buNone/>
            </a:pPr>
            <a:r>
              <a:rPr lang="en">
                <a:solidFill>
                  <a:schemeClr val="dk1"/>
                </a:solidFill>
                <a:latin typeface="Baumans"/>
                <a:ea typeface="Baumans"/>
                <a:cs typeface="Baumans"/>
                <a:sym typeface="Baumans"/>
              </a:rPr>
              <a:t>Instead of measuring the energy of the earthquake, it shows </a:t>
            </a:r>
            <a:r>
              <a:rPr lang="en" b="1">
                <a:solidFill>
                  <a:schemeClr val="dk1"/>
                </a:solidFill>
                <a:latin typeface="Baumans"/>
                <a:ea typeface="Baumans"/>
                <a:cs typeface="Baumans"/>
                <a:sym typeface="Baumans"/>
              </a:rPr>
              <a:t>how strong the shaking feels</a:t>
            </a:r>
            <a:r>
              <a:rPr lang="en">
                <a:solidFill>
                  <a:schemeClr val="dk1"/>
                </a:solidFill>
                <a:latin typeface="Baumans"/>
                <a:ea typeface="Baumans"/>
                <a:cs typeface="Baumans"/>
                <a:sym typeface="Baumans"/>
              </a:rPr>
              <a:t> and </a:t>
            </a:r>
            <a:r>
              <a:rPr lang="en" b="1">
                <a:solidFill>
                  <a:schemeClr val="dk1"/>
                </a:solidFill>
                <a:latin typeface="Baumans"/>
                <a:ea typeface="Baumans"/>
                <a:cs typeface="Baumans"/>
                <a:sym typeface="Baumans"/>
              </a:rPr>
              <a:t>how much damage it causes</a:t>
            </a:r>
            <a:r>
              <a:rPr lang="en">
                <a:solidFill>
                  <a:schemeClr val="dk1"/>
                </a:solidFill>
                <a:latin typeface="Baumans"/>
                <a:ea typeface="Baumans"/>
                <a:cs typeface="Baumans"/>
                <a:sym typeface="Baumans"/>
              </a:rPr>
              <a:t>, based on </a:t>
            </a:r>
            <a:r>
              <a:rPr lang="en" b="1">
                <a:solidFill>
                  <a:schemeClr val="dk1"/>
                </a:solidFill>
                <a:latin typeface="Baumans"/>
                <a:ea typeface="Baumans"/>
                <a:cs typeface="Baumans"/>
                <a:sym typeface="Baumans"/>
              </a:rPr>
              <a:t>people’s observations</a:t>
            </a:r>
            <a:r>
              <a:rPr lang="en">
                <a:solidFill>
                  <a:schemeClr val="dk1"/>
                </a:solidFill>
                <a:latin typeface="Baumans"/>
                <a:ea typeface="Baumans"/>
                <a:cs typeface="Baumans"/>
                <a:sym typeface="Baumans"/>
              </a:rPr>
              <a:t>.</a:t>
            </a:r>
            <a:endParaRPr>
              <a:latin typeface="Delius"/>
              <a:ea typeface="Delius"/>
              <a:cs typeface="Delius"/>
              <a:sym typeface="Delius"/>
            </a:endParaRPr>
          </a:p>
        </p:txBody>
      </p:sp>
      <p:sp>
        <p:nvSpPr>
          <p:cNvPr id="185" name="Google Shape;185;p25"/>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186" name="Google Shape;186;p25" title="Screenshot 2025-10-30 at 11.55.15 AM.png"/>
          <p:cNvPicPr preferRelativeResize="0"/>
          <p:nvPr/>
        </p:nvPicPr>
        <p:blipFill>
          <a:blip r:embed="rId3">
            <a:alphaModFix/>
          </a:blip>
          <a:stretch>
            <a:fillRect/>
          </a:stretch>
        </p:blipFill>
        <p:spPr>
          <a:xfrm>
            <a:off x="123150" y="1023550"/>
            <a:ext cx="3018200" cy="3885475"/>
          </a:xfrm>
          <a:prstGeom prst="rect">
            <a:avLst/>
          </a:prstGeom>
          <a:noFill/>
          <a:ln>
            <a:noFill/>
          </a:ln>
        </p:spPr>
      </p:pic>
      <p:sp>
        <p:nvSpPr>
          <p:cNvPr id="187" name="Google Shape;187;p25"/>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 - The Mercalli Scale</a:t>
            </a:r>
            <a:endParaRPr sz="2000" i="0" u="none" strike="noStrike" cap="none">
              <a:solidFill>
                <a:schemeClr val="dk1"/>
              </a:solidFill>
              <a:latin typeface="Luckiest Guy"/>
              <a:ea typeface="Luckiest Guy"/>
              <a:cs typeface="Luckiest Guy"/>
              <a:sym typeface="Luckiest Gu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6"/>
          <p:cNvPicPr preferRelativeResize="0"/>
          <p:nvPr/>
        </p:nvPicPr>
        <p:blipFill rotWithShape="1">
          <a:blip r:embed="rId3">
            <a:alphaModFix/>
          </a:blip>
          <a:srcRect/>
          <a:stretch/>
        </p:blipFill>
        <p:spPr>
          <a:xfrm>
            <a:off x="146600" y="1023550"/>
            <a:ext cx="5538200" cy="3284025"/>
          </a:xfrm>
          <a:prstGeom prst="rect">
            <a:avLst/>
          </a:prstGeom>
          <a:noFill/>
          <a:ln>
            <a:noFill/>
          </a:ln>
        </p:spPr>
      </p:pic>
      <p:sp>
        <p:nvSpPr>
          <p:cNvPr id="193" name="Google Shape;193;p26"/>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194" name="Google Shape;194;p26"/>
          <p:cNvSpPr/>
          <p:nvPr/>
        </p:nvSpPr>
        <p:spPr>
          <a:xfrm>
            <a:off x="855975" y="3695325"/>
            <a:ext cx="3558300" cy="170700"/>
          </a:xfrm>
          <a:prstGeom prst="rect">
            <a:avLst/>
          </a:prstGeom>
          <a:solidFill>
            <a:srgbClr val="00B0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000" b="1" i="0" u="none" strike="noStrike" cap="none">
                <a:solidFill>
                  <a:schemeClr val="lt1"/>
                </a:solidFill>
                <a:latin typeface="Poppins"/>
                <a:ea typeface="Poppins"/>
                <a:cs typeface="Poppins"/>
                <a:sym typeface="Poppins"/>
              </a:rPr>
              <a:t>2 is the smallest quake normally felt by people</a:t>
            </a:r>
            <a:endParaRPr sz="1000" i="0" u="none" strike="noStrike" cap="none">
              <a:solidFill>
                <a:srgbClr val="000000"/>
              </a:solidFill>
              <a:latin typeface="Poppins"/>
              <a:ea typeface="Poppins"/>
              <a:cs typeface="Poppins"/>
              <a:sym typeface="Poppins"/>
            </a:endParaRPr>
          </a:p>
        </p:txBody>
      </p:sp>
      <p:sp>
        <p:nvSpPr>
          <p:cNvPr id="195" name="Google Shape;195;p26"/>
          <p:cNvSpPr/>
          <p:nvPr/>
        </p:nvSpPr>
        <p:spPr>
          <a:xfrm>
            <a:off x="855975" y="2662350"/>
            <a:ext cx="3558300" cy="1707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000" b="1" i="0" u="none" strike="noStrike" cap="none">
                <a:solidFill>
                  <a:schemeClr val="lt1"/>
                </a:solidFill>
                <a:latin typeface="Poppins"/>
                <a:ea typeface="Poppins"/>
                <a:cs typeface="Poppins"/>
                <a:sym typeface="Poppins"/>
              </a:rPr>
              <a:t>6 is when earthquakes are considered major</a:t>
            </a:r>
            <a:endParaRPr sz="1000" i="0" u="none" strike="noStrike" cap="none">
              <a:solidFill>
                <a:srgbClr val="000000"/>
              </a:solidFill>
              <a:latin typeface="Poppins"/>
              <a:ea typeface="Poppins"/>
              <a:cs typeface="Poppins"/>
              <a:sym typeface="Poppins"/>
            </a:endParaRPr>
          </a:p>
        </p:txBody>
      </p:sp>
      <p:sp>
        <p:nvSpPr>
          <p:cNvPr id="196" name="Google Shape;196;p26"/>
          <p:cNvSpPr/>
          <p:nvPr/>
        </p:nvSpPr>
        <p:spPr>
          <a:xfrm>
            <a:off x="859575" y="2127525"/>
            <a:ext cx="3551100" cy="1707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000" b="1" i="0" u="none" strike="noStrike" cap="none">
                <a:solidFill>
                  <a:schemeClr val="lt1"/>
                </a:solidFill>
                <a:latin typeface="Poppins"/>
                <a:ea typeface="Poppins"/>
                <a:cs typeface="Poppins"/>
                <a:sym typeface="Poppins"/>
              </a:rPr>
              <a:t>8 is when earthquakes are considered great</a:t>
            </a:r>
            <a:endParaRPr sz="1000" i="0" u="none" strike="noStrike" cap="none">
              <a:solidFill>
                <a:srgbClr val="000000"/>
              </a:solidFill>
              <a:latin typeface="Poppins"/>
              <a:ea typeface="Poppins"/>
              <a:cs typeface="Poppins"/>
              <a:sym typeface="Poppins"/>
            </a:endParaRPr>
          </a:p>
        </p:txBody>
      </p:sp>
      <p:sp>
        <p:nvSpPr>
          <p:cNvPr id="197" name="Google Shape;197;p26"/>
          <p:cNvSpPr txBox="1"/>
          <p:nvPr/>
        </p:nvSpPr>
        <p:spPr>
          <a:xfrm>
            <a:off x="5762550" y="910863"/>
            <a:ext cx="32583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The </a:t>
            </a:r>
            <a:r>
              <a:rPr lang="en" sz="1800" b="1">
                <a:solidFill>
                  <a:schemeClr val="dk1"/>
                </a:solidFill>
                <a:latin typeface="Baumans"/>
                <a:ea typeface="Baumans"/>
                <a:cs typeface="Baumans"/>
                <a:sym typeface="Baumans"/>
              </a:rPr>
              <a:t>Richter Scale</a:t>
            </a:r>
            <a:r>
              <a:rPr lang="en" sz="1800">
                <a:solidFill>
                  <a:schemeClr val="dk1"/>
                </a:solidFill>
                <a:latin typeface="Baumans"/>
                <a:ea typeface="Baumans"/>
                <a:cs typeface="Baumans"/>
                <a:sym typeface="Baumans"/>
              </a:rPr>
              <a:t> is a way to measure the </a:t>
            </a:r>
            <a:r>
              <a:rPr lang="en" sz="1800" b="1">
                <a:solidFill>
                  <a:schemeClr val="dk1"/>
                </a:solidFill>
                <a:latin typeface="Baumans"/>
                <a:ea typeface="Baumans"/>
                <a:cs typeface="Baumans"/>
                <a:sym typeface="Baumans"/>
              </a:rPr>
              <a:t>strength</a:t>
            </a:r>
            <a:r>
              <a:rPr lang="en" sz="1800">
                <a:solidFill>
                  <a:schemeClr val="dk1"/>
                </a:solidFill>
                <a:latin typeface="Baumans"/>
                <a:ea typeface="Baumans"/>
                <a:cs typeface="Baumans"/>
                <a:sym typeface="Baumans"/>
              </a:rPr>
              <a:t> of an earthquake.</a:t>
            </a:r>
            <a:endParaRPr sz="2100">
              <a:latin typeface="Baumans"/>
              <a:ea typeface="Baumans"/>
              <a:cs typeface="Baumans"/>
              <a:sym typeface="Baumans"/>
            </a:endParaRPr>
          </a:p>
        </p:txBody>
      </p:sp>
      <p:sp>
        <p:nvSpPr>
          <p:cNvPr id="198" name="Google Shape;198;p26"/>
          <p:cNvSpPr txBox="1"/>
          <p:nvPr/>
        </p:nvSpPr>
        <p:spPr>
          <a:xfrm>
            <a:off x="123150" y="4307575"/>
            <a:ext cx="88977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The </a:t>
            </a:r>
            <a:r>
              <a:rPr lang="en" sz="1800" b="1">
                <a:solidFill>
                  <a:schemeClr val="dk1"/>
                </a:solidFill>
                <a:latin typeface="Baumans"/>
                <a:ea typeface="Baumans"/>
                <a:cs typeface="Baumans"/>
                <a:sym typeface="Baumans"/>
              </a:rPr>
              <a:t>higher the number</a:t>
            </a:r>
            <a:r>
              <a:rPr lang="en" sz="1800">
                <a:solidFill>
                  <a:schemeClr val="dk1"/>
                </a:solidFill>
                <a:latin typeface="Baumans"/>
                <a:ea typeface="Baumans"/>
                <a:cs typeface="Baumans"/>
                <a:sym typeface="Baumans"/>
              </a:rPr>
              <a:t>, the s</a:t>
            </a:r>
            <a:r>
              <a:rPr lang="en" sz="1800" b="1">
                <a:solidFill>
                  <a:schemeClr val="dk1"/>
                </a:solidFill>
                <a:latin typeface="Baumans"/>
                <a:ea typeface="Baumans"/>
                <a:cs typeface="Baumans"/>
                <a:sym typeface="Baumans"/>
              </a:rPr>
              <a:t>tronger and more destructive</a:t>
            </a:r>
            <a:r>
              <a:rPr lang="en" sz="1800">
                <a:solidFill>
                  <a:schemeClr val="dk1"/>
                </a:solidFill>
                <a:latin typeface="Baumans"/>
                <a:ea typeface="Baumans"/>
                <a:cs typeface="Baumans"/>
                <a:sym typeface="Baumans"/>
              </a:rPr>
              <a:t> the earthquake is. By using </a:t>
            </a:r>
            <a:r>
              <a:rPr lang="en" sz="1800" b="1">
                <a:solidFill>
                  <a:schemeClr val="dk1"/>
                </a:solidFill>
                <a:latin typeface="Baumans"/>
                <a:ea typeface="Baumans"/>
                <a:cs typeface="Baumans"/>
                <a:sym typeface="Baumans"/>
              </a:rPr>
              <a:t>scientific methods,</a:t>
            </a:r>
            <a:r>
              <a:rPr lang="en" sz="1800">
                <a:solidFill>
                  <a:schemeClr val="dk1"/>
                </a:solidFill>
                <a:latin typeface="Baumans"/>
                <a:ea typeface="Baumans"/>
                <a:cs typeface="Baumans"/>
                <a:sym typeface="Baumans"/>
              </a:rPr>
              <a:t> even </a:t>
            </a:r>
            <a:r>
              <a:rPr lang="en" sz="1800" b="1">
                <a:solidFill>
                  <a:schemeClr val="dk1"/>
                </a:solidFill>
                <a:latin typeface="Baumans"/>
                <a:ea typeface="Baumans"/>
                <a:cs typeface="Baumans"/>
                <a:sym typeface="Baumans"/>
              </a:rPr>
              <a:t>very small earthquakes can be detected</a:t>
            </a:r>
            <a:r>
              <a:rPr lang="en" sz="1800">
                <a:solidFill>
                  <a:schemeClr val="dk1"/>
                </a:solidFill>
                <a:latin typeface="Baumans"/>
                <a:ea typeface="Baumans"/>
                <a:cs typeface="Baumans"/>
                <a:sym typeface="Baumans"/>
              </a:rPr>
              <a:t> through seismic waves.</a:t>
            </a:r>
            <a:endParaRPr sz="1800">
              <a:solidFill>
                <a:schemeClr val="dk1"/>
              </a:solidFill>
              <a:latin typeface="Baumans"/>
              <a:ea typeface="Baumans"/>
              <a:cs typeface="Baumans"/>
              <a:sym typeface="Baumans"/>
            </a:endParaRPr>
          </a:p>
        </p:txBody>
      </p:sp>
      <p:sp>
        <p:nvSpPr>
          <p:cNvPr id="199" name="Google Shape;199;p26"/>
          <p:cNvSpPr txBox="1"/>
          <p:nvPr/>
        </p:nvSpPr>
        <p:spPr>
          <a:xfrm>
            <a:off x="5762550" y="1926675"/>
            <a:ext cx="3258300" cy="221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It uses </a:t>
            </a:r>
            <a:r>
              <a:rPr lang="en" sz="1800" b="1">
                <a:solidFill>
                  <a:schemeClr val="dk1"/>
                </a:solidFill>
                <a:latin typeface="Baumans"/>
                <a:ea typeface="Baumans"/>
                <a:cs typeface="Baumans"/>
                <a:sym typeface="Baumans"/>
              </a:rPr>
              <a:t>numbers</a:t>
            </a:r>
            <a:r>
              <a:rPr lang="en" sz="1800">
                <a:solidFill>
                  <a:schemeClr val="dk1"/>
                </a:solidFill>
                <a:latin typeface="Baumans"/>
                <a:ea typeface="Baumans"/>
                <a:cs typeface="Baumans"/>
                <a:sym typeface="Baumans"/>
              </a:rPr>
              <a:t> from </a:t>
            </a:r>
            <a:r>
              <a:rPr lang="en" sz="1800" b="1">
                <a:solidFill>
                  <a:schemeClr val="dk1"/>
                </a:solidFill>
                <a:latin typeface="Baumans"/>
                <a:ea typeface="Baumans"/>
                <a:cs typeface="Baumans"/>
                <a:sym typeface="Baumans"/>
              </a:rPr>
              <a:t>0 to 10</a:t>
            </a:r>
            <a:r>
              <a:rPr lang="en" sz="1800">
                <a:solidFill>
                  <a:schemeClr val="dk1"/>
                </a:solidFill>
                <a:latin typeface="Baumans"/>
                <a:ea typeface="Baumans"/>
                <a:cs typeface="Baumans"/>
                <a:sym typeface="Baumans"/>
              </a:rPr>
              <a:t> to show how much energy is released.</a:t>
            </a:r>
            <a:endParaRPr sz="1800">
              <a:solidFill>
                <a:schemeClr val="dk1"/>
              </a:solidFill>
              <a:latin typeface="Baumans"/>
              <a:ea typeface="Baumans"/>
              <a:cs typeface="Baumans"/>
              <a:sym typeface="Baumans"/>
            </a:endParaRPr>
          </a:p>
          <a:p>
            <a:pPr marL="0" lvl="0" indent="0" algn="l" rtl="0">
              <a:spcBef>
                <a:spcPts val="0"/>
              </a:spcBef>
              <a:spcAft>
                <a:spcPts val="0"/>
              </a:spcAft>
              <a:buNone/>
            </a:pPr>
            <a:endParaRPr sz="600">
              <a:solidFill>
                <a:schemeClr val="dk1"/>
              </a:solidFill>
              <a:latin typeface="Baumans"/>
              <a:ea typeface="Baumans"/>
              <a:cs typeface="Baumans"/>
              <a:sym typeface="Baumans"/>
            </a:endParaRPr>
          </a:p>
          <a:p>
            <a:pPr marL="0" lvl="0" indent="0" algn="l" rtl="0">
              <a:spcBef>
                <a:spcPts val="0"/>
              </a:spcBef>
              <a:spcAft>
                <a:spcPts val="0"/>
              </a:spcAft>
              <a:buNone/>
            </a:pPr>
            <a:r>
              <a:rPr lang="en" sz="1800">
                <a:solidFill>
                  <a:schemeClr val="dk1"/>
                </a:solidFill>
                <a:latin typeface="Baumans"/>
                <a:ea typeface="Baumans"/>
                <a:cs typeface="Baumans"/>
                <a:sym typeface="Baumans"/>
              </a:rPr>
              <a:t>Each number on the scale means the earthquake is </a:t>
            </a:r>
            <a:r>
              <a:rPr lang="en" sz="1800" b="1">
                <a:solidFill>
                  <a:schemeClr val="dk1"/>
                </a:solidFill>
                <a:latin typeface="Baumans"/>
                <a:ea typeface="Baumans"/>
                <a:cs typeface="Baumans"/>
                <a:sym typeface="Baumans"/>
              </a:rPr>
              <a:t>10 times stronger</a:t>
            </a:r>
            <a:r>
              <a:rPr lang="en" sz="1800">
                <a:solidFill>
                  <a:schemeClr val="dk1"/>
                </a:solidFill>
                <a:latin typeface="Baumans"/>
                <a:ea typeface="Baumans"/>
                <a:cs typeface="Baumans"/>
                <a:sym typeface="Baumans"/>
              </a:rPr>
              <a:t> than the one before it.</a:t>
            </a:r>
            <a:endParaRPr/>
          </a:p>
        </p:txBody>
      </p:sp>
      <p:sp>
        <p:nvSpPr>
          <p:cNvPr id="200" name="Google Shape;200;p26"/>
          <p:cNvSpPr/>
          <p:nvPr/>
        </p:nvSpPr>
        <p:spPr>
          <a:xfrm>
            <a:off x="123150" y="661400"/>
            <a:ext cx="55851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 - The Richter Scale</a:t>
            </a:r>
            <a:endParaRPr sz="2000" i="0" u="none" strike="noStrike" cap="none">
              <a:solidFill>
                <a:schemeClr val="dk1"/>
              </a:solidFill>
              <a:latin typeface="Luckiest Guy"/>
              <a:ea typeface="Luckiest Guy"/>
              <a:cs typeface="Luckiest Guy"/>
              <a:sym typeface="Luckiest Gu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graphicFrame>
        <p:nvGraphicFramePr>
          <p:cNvPr id="207" name="Google Shape;207;p27"/>
          <p:cNvGraphicFramePr/>
          <p:nvPr/>
        </p:nvGraphicFramePr>
        <p:xfrm>
          <a:off x="4572000" y="984600"/>
          <a:ext cx="4448850" cy="3992640"/>
        </p:xfrm>
        <a:graphic>
          <a:graphicData uri="http://schemas.openxmlformats.org/drawingml/2006/table">
            <a:tbl>
              <a:tblPr>
                <a:noFill/>
                <a:tableStyleId>{3B4F462D-9F59-4CA4-8D8B-0FC0E278477C}</a:tableStyleId>
              </a:tblPr>
              <a:tblGrid>
                <a:gridCol w="444885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 sz="1100">
                          <a:solidFill>
                            <a:schemeClr val="dk1"/>
                          </a:solidFill>
                        </a:rPr>
                        <a:t>Uses </a:t>
                      </a:r>
                      <a:r>
                        <a:rPr lang="en" sz="1100" b="1">
                          <a:solidFill>
                            <a:schemeClr val="dk1"/>
                          </a:solidFill>
                        </a:rPr>
                        <a:t>Roman numerals from I to XII</a:t>
                      </a:r>
                      <a:r>
                        <a:rPr lang="en" sz="1100">
                          <a:solidFill>
                            <a:schemeClr val="dk1"/>
                          </a:solidFill>
                        </a:rPr>
                        <a:t> to show how strongly the earthquake was </a:t>
                      </a:r>
                      <a:r>
                        <a:rPr lang="en" sz="1100" b="1">
                          <a:solidFill>
                            <a:schemeClr val="dk1"/>
                          </a:solidFill>
                        </a:rPr>
                        <a:t>felt by people</a:t>
                      </a:r>
                      <a:r>
                        <a:rPr lang="en" sz="1100">
                          <a:solidFill>
                            <a:schemeClr val="dk1"/>
                          </a:solidFill>
                        </a:rPr>
                        <a:t> in different locations.</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a:solidFill>
                            <a:schemeClr val="dk1"/>
                          </a:solidFill>
                        </a:rPr>
                        <a:t>Can be used to </a:t>
                      </a:r>
                      <a:r>
                        <a:rPr lang="en" sz="1100" b="1">
                          <a:solidFill>
                            <a:schemeClr val="dk1"/>
                          </a:solidFill>
                        </a:rPr>
                        <a:t>compare earthquakes worldwide</a:t>
                      </a:r>
                      <a:r>
                        <a:rPr lang="en" sz="1100">
                          <a:solidFill>
                            <a:schemeClr val="dk1"/>
                          </a:solidFill>
                        </a:rPr>
                        <a:t>, regardless of where or how deep they occur.</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a:solidFill>
                            <a:schemeClr val="dk1"/>
                          </a:solidFill>
                        </a:rPr>
                        <a:t>Provides a </a:t>
                      </a:r>
                      <a:r>
                        <a:rPr lang="en" sz="1100" b="1">
                          <a:solidFill>
                            <a:schemeClr val="dk1"/>
                          </a:solidFill>
                        </a:rPr>
                        <a:t>subjective measurement</a:t>
                      </a:r>
                      <a:r>
                        <a:rPr lang="en" sz="1100">
                          <a:solidFill>
                            <a:schemeClr val="dk1"/>
                          </a:solidFill>
                        </a:rPr>
                        <a:t> based on </a:t>
                      </a:r>
                      <a:r>
                        <a:rPr lang="en" sz="1100" b="1">
                          <a:solidFill>
                            <a:schemeClr val="dk1"/>
                          </a:solidFill>
                        </a:rPr>
                        <a:t>people’s experiences and reports of damage</a:t>
                      </a:r>
                      <a:r>
                        <a:rPr lang="en" sz="1100">
                          <a:solidFill>
                            <a:schemeClr val="dk1"/>
                          </a:solidFill>
                        </a:rPr>
                        <a:t>.</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000">
                          <a:solidFill>
                            <a:srgbClr val="000000"/>
                          </a:solidFill>
                          <a:latin typeface="Poppins"/>
                          <a:ea typeface="Poppins"/>
                          <a:cs typeface="Poppins"/>
                          <a:sym typeface="Poppins"/>
                        </a:rPr>
                        <a:t>Measures the </a:t>
                      </a:r>
                      <a:r>
                        <a:rPr lang="en" sz="1000" b="1">
                          <a:solidFill>
                            <a:srgbClr val="000000"/>
                          </a:solidFill>
                          <a:latin typeface="Poppins"/>
                          <a:ea typeface="Poppins"/>
                          <a:cs typeface="Poppins"/>
                          <a:sym typeface="Poppins"/>
                        </a:rPr>
                        <a:t>magnitude</a:t>
                      </a:r>
                      <a:r>
                        <a:rPr lang="en" sz="1000">
                          <a:solidFill>
                            <a:srgbClr val="000000"/>
                          </a:solidFill>
                          <a:latin typeface="Poppins"/>
                          <a:ea typeface="Poppins"/>
                          <a:cs typeface="Poppins"/>
                          <a:sym typeface="Poppins"/>
                        </a:rPr>
                        <a:t> of an earthquake based on the </a:t>
                      </a:r>
                      <a:r>
                        <a:rPr lang="en" sz="1000" b="1">
                          <a:solidFill>
                            <a:srgbClr val="000000"/>
                          </a:solidFill>
                          <a:latin typeface="Poppins"/>
                          <a:ea typeface="Poppins"/>
                          <a:cs typeface="Poppins"/>
                          <a:sym typeface="Poppins"/>
                        </a:rPr>
                        <a:t>energy released</a:t>
                      </a:r>
                      <a:r>
                        <a:rPr lang="en" sz="1000">
                          <a:solidFill>
                            <a:srgbClr val="000000"/>
                          </a:solidFill>
                          <a:latin typeface="Poppins"/>
                          <a:ea typeface="Poppins"/>
                          <a:cs typeface="Poppins"/>
                          <a:sym typeface="Poppins"/>
                        </a:rPr>
                        <a:t> at its source.</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000">
                          <a:solidFill>
                            <a:srgbClr val="000000"/>
                          </a:solidFill>
                          <a:latin typeface="Poppins"/>
                          <a:ea typeface="Poppins"/>
                          <a:cs typeface="Poppins"/>
                          <a:sym typeface="Poppins"/>
                        </a:rPr>
                        <a:t>Provides a </a:t>
                      </a:r>
                      <a:r>
                        <a:rPr lang="en" sz="1000" b="1">
                          <a:solidFill>
                            <a:srgbClr val="000000"/>
                          </a:solidFill>
                          <a:latin typeface="Poppins"/>
                          <a:ea typeface="Poppins"/>
                          <a:cs typeface="Poppins"/>
                          <a:sym typeface="Poppins"/>
                        </a:rPr>
                        <a:t>scientific measurement</a:t>
                      </a:r>
                      <a:r>
                        <a:rPr lang="en" sz="1000">
                          <a:solidFill>
                            <a:srgbClr val="000000"/>
                          </a:solidFill>
                          <a:latin typeface="Poppins"/>
                          <a:ea typeface="Poppins"/>
                          <a:cs typeface="Poppins"/>
                          <a:sym typeface="Poppins"/>
                        </a:rPr>
                        <a:t> collected using </a:t>
                      </a:r>
                      <a:r>
                        <a:rPr lang="en" sz="1000" b="1">
                          <a:solidFill>
                            <a:srgbClr val="000000"/>
                          </a:solidFill>
                          <a:latin typeface="Poppins"/>
                          <a:ea typeface="Poppins"/>
                          <a:cs typeface="Poppins"/>
                          <a:sym typeface="Poppins"/>
                        </a:rPr>
                        <a:t>seismographs and instruments</a:t>
                      </a:r>
                      <a:r>
                        <a:rPr lang="en" sz="1000">
                          <a:solidFill>
                            <a:srgbClr val="000000"/>
                          </a:solidFill>
                          <a:latin typeface="Poppins"/>
                          <a:ea typeface="Poppins"/>
                          <a:cs typeface="Poppins"/>
                          <a:sym typeface="Poppins"/>
                        </a:rPr>
                        <a:t>.</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000">
                          <a:solidFill>
                            <a:srgbClr val="000000"/>
                          </a:solidFill>
                          <a:latin typeface="Poppins"/>
                          <a:ea typeface="Poppins"/>
                          <a:cs typeface="Poppins"/>
                          <a:sym typeface="Poppins"/>
                        </a:rPr>
                        <a:t>Measures the </a:t>
                      </a:r>
                      <a:r>
                        <a:rPr lang="en" sz="1000" b="1">
                          <a:solidFill>
                            <a:srgbClr val="000000"/>
                          </a:solidFill>
                          <a:latin typeface="Poppins"/>
                          <a:ea typeface="Poppins"/>
                          <a:cs typeface="Poppins"/>
                          <a:sym typeface="Poppins"/>
                        </a:rPr>
                        <a:t>intensity</a:t>
                      </a:r>
                      <a:r>
                        <a:rPr lang="en" sz="1000">
                          <a:solidFill>
                            <a:srgbClr val="000000"/>
                          </a:solidFill>
                          <a:latin typeface="Poppins"/>
                          <a:ea typeface="Poppins"/>
                          <a:cs typeface="Poppins"/>
                          <a:sym typeface="Poppins"/>
                        </a:rPr>
                        <a:t> of shaking as </a:t>
                      </a:r>
                      <a:r>
                        <a:rPr lang="en" sz="1000" b="1">
                          <a:solidFill>
                            <a:srgbClr val="000000"/>
                          </a:solidFill>
                          <a:latin typeface="Poppins"/>
                          <a:ea typeface="Poppins"/>
                          <a:cs typeface="Poppins"/>
                          <a:sym typeface="Poppins"/>
                        </a:rPr>
                        <a:t>experienced by people</a:t>
                      </a:r>
                      <a:r>
                        <a:rPr lang="en" sz="1000">
                          <a:solidFill>
                            <a:srgbClr val="000000"/>
                          </a:solidFill>
                          <a:latin typeface="Poppins"/>
                          <a:ea typeface="Poppins"/>
                          <a:cs typeface="Poppins"/>
                          <a:sym typeface="Poppins"/>
                        </a:rPr>
                        <a:t> and </a:t>
                      </a:r>
                      <a:r>
                        <a:rPr lang="en" sz="1000" b="1">
                          <a:solidFill>
                            <a:srgbClr val="000000"/>
                          </a:solidFill>
                          <a:latin typeface="Poppins"/>
                          <a:ea typeface="Poppins"/>
                          <a:cs typeface="Poppins"/>
                          <a:sym typeface="Poppins"/>
                        </a:rPr>
                        <a:t>observed on the surface</a:t>
                      </a:r>
                      <a:r>
                        <a:rPr lang="en" sz="1000">
                          <a:solidFill>
                            <a:srgbClr val="000000"/>
                          </a:solidFill>
                          <a:latin typeface="Poppins"/>
                          <a:ea typeface="Poppins"/>
                          <a:cs typeface="Poppins"/>
                          <a:sym typeface="Poppins"/>
                        </a:rPr>
                        <a:t>.</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000">
                          <a:solidFill>
                            <a:srgbClr val="000000"/>
                          </a:solidFill>
                          <a:latin typeface="Poppins"/>
                          <a:ea typeface="Poppins"/>
                          <a:cs typeface="Poppins"/>
                          <a:sym typeface="Poppins"/>
                        </a:rPr>
                        <a:t>Uses </a:t>
                      </a:r>
                      <a:r>
                        <a:rPr lang="en" sz="1000" b="1">
                          <a:solidFill>
                            <a:srgbClr val="000000"/>
                          </a:solidFill>
                          <a:latin typeface="Poppins"/>
                          <a:ea typeface="Poppins"/>
                          <a:cs typeface="Poppins"/>
                          <a:sym typeface="Poppins"/>
                        </a:rPr>
                        <a:t>numerical values from 0 to 10</a:t>
                      </a:r>
                      <a:r>
                        <a:rPr lang="en" sz="1000">
                          <a:solidFill>
                            <a:srgbClr val="000000"/>
                          </a:solidFill>
                          <a:latin typeface="Poppins"/>
                          <a:ea typeface="Poppins"/>
                          <a:cs typeface="Poppins"/>
                          <a:sym typeface="Poppins"/>
                        </a:rPr>
                        <a:t> that increase </a:t>
                      </a:r>
                      <a:r>
                        <a:rPr lang="en" sz="1000" b="1">
                          <a:solidFill>
                            <a:srgbClr val="000000"/>
                          </a:solidFill>
                          <a:latin typeface="Poppins"/>
                          <a:ea typeface="Poppins"/>
                          <a:cs typeface="Poppins"/>
                          <a:sym typeface="Poppins"/>
                        </a:rPr>
                        <a:t>logarithmically</a:t>
                      </a:r>
                      <a:r>
                        <a:rPr lang="en" sz="1000">
                          <a:solidFill>
                            <a:srgbClr val="000000"/>
                          </a:solidFill>
                          <a:latin typeface="Poppins"/>
                          <a:ea typeface="Poppins"/>
                          <a:cs typeface="Poppins"/>
                          <a:sym typeface="Poppins"/>
                        </a:rPr>
                        <a:t> — each step represents a quake ten times stronger.</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sz="1000">
                          <a:solidFill>
                            <a:srgbClr val="000000"/>
                          </a:solidFill>
                          <a:latin typeface="Poppins"/>
                          <a:ea typeface="Poppins"/>
                          <a:cs typeface="Poppins"/>
                          <a:sym typeface="Poppins"/>
                        </a:rPr>
                        <a:t>Can show how </a:t>
                      </a:r>
                      <a:r>
                        <a:rPr lang="en" sz="1000" b="1">
                          <a:solidFill>
                            <a:srgbClr val="000000"/>
                          </a:solidFill>
                          <a:latin typeface="Poppins"/>
                          <a:ea typeface="Poppins"/>
                          <a:cs typeface="Poppins"/>
                          <a:sym typeface="Poppins"/>
                        </a:rPr>
                        <a:t>damage and shaking vary</a:t>
                      </a:r>
                      <a:r>
                        <a:rPr lang="en" sz="1000">
                          <a:solidFill>
                            <a:srgbClr val="000000"/>
                          </a:solidFill>
                          <a:latin typeface="Poppins"/>
                          <a:ea typeface="Poppins"/>
                          <a:cs typeface="Poppins"/>
                          <a:sym typeface="Poppins"/>
                        </a:rPr>
                        <a:t> from place to place during the same earthquake.</a:t>
                      </a:r>
                      <a:endParaRPr sz="1000">
                        <a:latin typeface="Poppins"/>
                        <a:ea typeface="Poppins"/>
                        <a:cs typeface="Poppins"/>
                        <a:sym typeface="Poppins"/>
                      </a:endParaRPr>
                    </a:p>
                  </a:txBody>
                  <a:tcPr marL="91425" marR="91425" marT="91425" marB="91425">
                    <a:solidFill>
                      <a:srgbClr val="FCE5CD"/>
                    </a:solidFill>
                  </a:tcPr>
                </a:tc>
                <a:extLst>
                  <a:ext uri="{0D108BD9-81ED-4DB2-BD59-A6C34878D82A}">
                    <a16:rowId xmlns:a16="http://schemas.microsoft.com/office/drawing/2014/main" val="10007"/>
                  </a:ext>
                </a:extLst>
              </a:tr>
            </a:tbl>
          </a:graphicData>
        </a:graphic>
      </p:graphicFrame>
      <p:sp>
        <p:nvSpPr>
          <p:cNvPr id="208" name="Google Shape;208;p27"/>
          <p:cNvSpPr txBox="1"/>
          <p:nvPr/>
        </p:nvSpPr>
        <p:spPr>
          <a:xfrm>
            <a:off x="123150" y="1023550"/>
            <a:ext cx="43146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3:</a:t>
            </a:r>
            <a:endParaRPr sz="1800">
              <a:solidFill>
                <a:schemeClr val="dk1"/>
              </a:solidFill>
              <a:highlight>
                <a:srgbClr val="00FF00"/>
              </a:highlight>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lphaLcPeriod"/>
            </a:pPr>
            <a:r>
              <a:rPr lang="en" sz="1600">
                <a:solidFill>
                  <a:schemeClr val="dk1"/>
                </a:solidFill>
                <a:latin typeface="Baumans"/>
                <a:ea typeface="Baumans"/>
                <a:cs typeface="Baumans"/>
                <a:sym typeface="Baumans"/>
              </a:rPr>
              <a:t>Cut out and stick your diagram into your book.</a:t>
            </a:r>
            <a:endParaRPr sz="1600">
              <a:solidFill>
                <a:schemeClr val="dk1"/>
              </a:solidFill>
              <a:latin typeface="Baumans"/>
              <a:ea typeface="Baumans"/>
              <a:cs typeface="Baumans"/>
              <a:sym typeface="Baumans"/>
            </a:endParaRPr>
          </a:p>
          <a:p>
            <a:pPr marL="0" lvl="0" indent="0" algn="l" rtl="0">
              <a:spcBef>
                <a:spcPts val="0"/>
              </a:spcBef>
              <a:spcAft>
                <a:spcPts val="0"/>
              </a:spcAft>
              <a:buNone/>
            </a:pPr>
            <a:endParaRPr sz="600">
              <a:solidFill>
                <a:schemeClr val="dk1"/>
              </a:solidFill>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lphaLcPeriod"/>
            </a:pPr>
            <a:r>
              <a:rPr lang="en" sz="1600">
                <a:solidFill>
                  <a:schemeClr val="dk1"/>
                </a:solidFill>
                <a:latin typeface="Baumans"/>
                <a:ea typeface="Baumans"/>
                <a:cs typeface="Baumans"/>
                <a:sym typeface="Baumans"/>
              </a:rPr>
              <a:t>Add the statements to either the Richter Scale or the Mercalli Scale.</a:t>
            </a:r>
            <a:endParaRPr sz="1600">
              <a:solidFill>
                <a:schemeClr val="dk1"/>
              </a:solidFill>
              <a:latin typeface="Baumans"/>
              <a:ea typeface="Baumans"/>
              <a:cs typeface="Baumans"/>
              <a:sym typeface="Baumans"/>
            </a:endParaRPr>
          </a:p>
          <a:p>
            <a:pPr marL="0" lvl="0" indent="0" algn="l" rtl="0">
              <a:spcBef>
                <a:spcPts val="0"/>
              </a:spcBef>
              <a:spcAft>
                <a:spcPts val="0"/>
              </a:spcAft>
              <a:buNone/>
            </a:pPr>
            <a:endParaRPr sz="600">
              <a:solidFill>
                <a:schemeClr val="dk1"/>
              </a:solidFill>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lphaLcPeriod"/>
            </a:pPr>
            <a:r>
              <a:rPr lang="en" sz="1600">
                <a:solidFill>
                  <a:schemeClr val="dk1"/>
                </a:solidFill>
                <a:latin typeface="Baumans"/>
                <a:ea typeface="Baumans"/>
                <a:cs typeface="Baumans"/>
                <a:sym typeface="Baumans"/>
              </a:rPr>
              <a:t>Explain how the two scales measure earthquakes differently.</a:t>
            </a:r>
            <a:endParaRPr sz="1600">
              <a:solidFill>
                <a:schemeClr val="dk1"/>
              </a:solidFill>
              <a:latin typeface="Baumans"/>
              <a:ea typeface="Baumans"/>
              <a:cs typeface="Baumans"/>
              <a:sym typeface="Baumans"/>
            </a:endParaRPr>
          </a:p>
        </p:txBody>
      </p:sp>
      <p:grpSp>
        <p:nvGrpSpPr>
          <p:cNvPr id="209" name="Google Shape;209;p27"/>
          <p:cNvGrpSpPr/>
          <p:nvPr/>
        </p:nvGrpSpPr>
        <p:grpSpPr>
          <a:xfrm>
            <a:off x="139171" y="4160781"/>
            <a:ext cx="598974" cy="728981"/>
            <a:chOff x="5426175" y="139294"/>
            <a:chExt cx="946695" cy="1152356"/>
          </a:xfrm>
        </p:grpSpPr>
        <p:pic>
          <p:nvPicPr>
            <p:cNvPr id="210" name="Google Shape;210;p27"/>
            <p:cNvPicPr preferRelativeResize="0"/>
            <p:nvPr/>
          </p:nvPicPr>
          <p:blipFill>
            <a:blip r:embed="rId3">
              <a:alphaModFix/>
            </a:blip>
            <a:stretch>
              <a:fillRect/>
            </a:stretch>
          </p:blipFill>
          <p:spPr>
            <a:xfrm>
              <a:off x="5469469" y="139300"/>
              <a:ext cx="903401" cy="1152350"/>
            </a:xfrm>
            <a:prstGeom prst="rect">
              <a:avLst/>
            </a:prstGeom>
            <a:noFill/>
            <a:ln>
              <a:noFill/>
            </a:ln>
          </p:spPr>
        </p:pic>
        <p:pic>
          <p:nvPicPr>
            <p:cNvPr id="211" name="Google Shape;211;p27" descr="a cartoon drawing of a fire with a flame coming out of it (Provided by Tenor)"/>
            <p:cNvPicPr preferRelativeResize="0"/>
            <p:nvPr/>
          </p:nvPicPr>
          <p:blipFill>
            <a:blip r:embed="rId4">
              <a:alphaModFix/>
            </a:blip>
            <a:stretch>
              <a:fillRect/>
            </a:stretch>
          </p:blipFill>
          <p:spPr>
            <a:xfrm>
              <a:off x="5426175" y="139294"/>
              <a:ext cx="341075" cy="391706"/>
            </a:xfrm>
            <a:prstGeom prst="rect">
              <a:avLst/>
            </a:prstGeom>
            <a:noFill/>
            <a:ln>
              <a:noFill/>
            </a:ln>
          </p:spPr>
        </p:pic>
      </p:grpSp>
      <p:grpSp>
        <p:nvGrpSpPr>
          <p:cNvPr id="212" name="Google Shape;212;p27"/>
          <p:cNvGrpSpPr/>
          <p:nvPr/>
        </p:nvGrpSpPr>
        <p:grpSpPr>
          <a:xfrm>
            <a:off x="123148" y="3147554"/>
            <a:ext cx="631032" cy="738946"/>
            <a:chOff x="5313625" y="1569463"/>
            <a:chExt cx="1136175" cy="1330475"/>
          </a:xfrm>
        </p:grpSpPr>
        <p:pic>
          <p:nvPicPr>
            <p:cNvPr id="213" name="Google Shape;213;p27"/>
            <p:cNvPicPr preferRelativeResize="0"/>
            <p:nvPr/>
          </p:nvPicPr>
          <p:blipFill>
            <a:blip r:embed="rId5">
              <a:alphaModFix/>
            </a:blip>
            <a:stretch>
              <a:fillRect/>
            </a:stretch>
          </p:blipFill>
          <p:spPr>
            <a:xfrm>
              <a:off x="5392550" y="1569463"/>
              <a:ext cx="1057250" cy="1330475"/>
            </a:xfrm>
            <a:prstGeom prst="rect">
              <a:avLst/>
            </a:prstGeom>
            <a:noFill/>
            <a:ln>
              <a:noFill/>
            </a:ln>
          </p:spPr>
        </p:pic>
        <p:pic>
          <p:nvPicPr>
            <p:cNvPr id="214" name="Google Shape;214;p27" descr="smoke is coming out of a hole in the ground on a white background . (Provided by Tenor)"/>
            <p:cNvPicPr preferRelativeResize="0"/>
            <p:nvPr/>
          </p:nvPicPr>
          <p:blipFill rotWithShape="1">
            <a:blip r:embed="rId6">
              <a:alphaModFix/>
            </a:blip>
            <a:srcRect l="42413" t="17925"/>
            <a:stretch/>
          </p:blipFill>
          <p:spPr>
            <a:xfrm>
              <a:off x="5313625" y="1650525"/>
              <a:ext cx="418000" cy="604725"/>
            </a:xfrm>
            <a:prstGeom prst="rect">
              <a:avLst/>
            </a:prstGeom>
            <a:noFill/>
            <a:ln>
              <a:noFill/>
            </a:ln>
          </p:spPr>
        </p:pic>
      </p:grpSp>
      <p:sp>
        <p:nvSpPr>
          <p:cNvPr id="215" name="Google Shape;215;p27"/>
          <p:cNvSpPr txBox="1"/>
          <p:nvPr/>
        </p:nvSpPr>
        <p:spPr>
          <a:xfrm>
            <a:off x="931300" y="3175425"/>
            <a:ext cx="3582600" cy="738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highlight>
                  <a:srgbClr val="FAA500"/>
                </a:highlight>
                <a:latin typeface="Poppins"/>
                <a:ea typeface="Poppins"/>
                <a:cs typeface="Poppins"/>
                <a:sym typeface="Poppins"/>
              </a:rPr>
              <a:t>Why do you think both scales are still used today, even though they measure different things?</a:t>
            </a:r>
            <a:endParaRPr b="1">
              <a:highlight>
                <a:srgbClr val="FAA500"/>
              </a:highlight>
              <a:latin typeface="Poppins"/>
              <a:ea typeface="Poppins"/>
              <a:cs typeface="Poppins"/>
              <a:sym typeface="Poppins"/>
            </a:endParaRPr>
          </a:p>
        </p:txBody>
      </p:sp>
      <p:sp>
        <p:nvSpPr>
          <p:cNvPr id="216" name="Google Shape;216;p27"/>
          <p:cNvSpPr txBox="1"/>
          <p:nvPr/>
        </p:nvSpPr>
        <p:spPr>
          <a:xfrm>
            <a:off x="805125" y="4001913"/>
            <a:ext cx="36999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highlight>
                  <a:srgbClr val="CE0925"/>
                </a:highlight>
                <a:latin typeface="Poppins"/>
                <a:ea typeface="Poppins"/>
                <a:cs typeface="Poppins"/>
                <a:sym typeface="Poppins"/>
              </a:rPr>
              <a:t>Design a new earthquake scale. What would it measure, and how would it improve on the Richter and Mercalli Scales?</a:t>
            </a:r>
            <a:endParaRPr b="1">
              <a:solidFill>
                <a:schemeClr val="lt1"/>
              </a:solidFill>
              <a:highlight>
                <a:srgbClr val="CE0925"/>
              </a:highlight>
              <a:latin typeface="Poppins"/>
              <a:ea typeface="Poppins"/>
              <a:cs typeface="Poppins"/>
              <a:sym typeface="Poppins"/>
            </a:endParaRPr>
          </a:p>
        </p:txBody>
      </p:sp>
      <p:sp>
        <p:nvSpPr>
          <p:cNvPr id="217" name="Google Shape;217;p27"/>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a:t>
            </a:r>
            <a:endParaRPr sz="2000" i="0" u="none" strike="noStrike" cap="none">
              <a:solidFill>
                <a:schemeClr val="dk1"/>
              </a:solidFill>
              <a:latin typeface="Luckiest Guy"/>
              <a:ea typeface="Luckiest Guy"/>
              <a:cs typeface="Luckiest Guy"/>
              <a:sym typeface="Luckiest Gu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8"/>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223" name="Google Shape;223;p28"/>
          <p:cNvSpPr/>
          <p:nvPr/>
        </p:nvSpPr>
        <p:spPr>
          <a:xfrm>
            <a:off x="123150" y="661400"/>
            <a:ext cx="88977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 - </a:t>
            </a:r>
            <a:r>
              <a:rPr lang="en" sz="2000">
                <a:solidFill>
                  <a:srgbClr val="38761D"/>
                </a:solidFill>
                <a:latin typeface="Luckiest Guy"/>
                <a:ea typeface="Luckiest Guy"/>
                <a:cs typeface="Luckiest Guy"/>
                <a:sym typeface="Luckiest Guy"/>
              </a:rPr>
              <a:t>GREEN PEN YOUR ANSWERS</a:t>
            </a:r>
            <a:endParaRPr sz="2000" i="0" u="none" strike="noStrike" cap="none">
              <a:solidFill>
                <a:schemeClr val="dk1"/>
              </a:solidFill>
              <a:latin typeface="Luckiest Guy"/>
              <a:ea typeface="Luckiest Guy"/>
              <a:cs typeface="Luckiest Guy"/>
              <a:sym typeface="Luckiest Guy"/>
            </a:endParaRPr>
          </a:p>
        </p:txBody>
      </p:sp>
      <p:sp>
        <p:nvSpPr>
          <p:cNvPr id="224" name="Google Shape;224;p28"/>
          <p:cNvSpPr txBox="1"/>
          <p:nvPr/>
        </p:nvSpPr>
        <p:spPr>
          <a:xfrm>
            <a:off x="1265850" y="1294200"/>
            <a:ext cx="7755000" cy="363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Patrick Hand"/>
                <a:ea typeface="Patrick Hand"/>
                <a:cs typeface="Patrick Hand"/>
                <a:sym typeface="Patrick Hand"/>
              </a:rPr>
              <a:t>Uses </a:t>
            </a:r>
            <a:r>
              <a:rPr lang="en" b="1">
                <a:solidFill>
                  <a:schemeClr val="dk1"/>
                </a:solidFill>
                <a:latin typeface="Patrick Hand"/>
                <a:ea typeface="Patrick Hand"/>
                <a:cs typeface="Patrick Hand"/>
                <a:sym typeface="Patrick Hand"/>
              </a:rPr>
              <a:t>Roman numerals from I to XII</a:t>
            </a:r>
            <a:r>
              <a:rPr lang="en">
                <a:solidFill>
                  <a:schemeClr val="dk1"/>
                </a:solidFill>
                <a:latin typeface="Patrick Hand"/>
                <a:ea typeface="Patrick Hand"/>
                <a:cs typeface="Patrick Hand"/>
                <a:sym typeface="Patrick Hand"/>
              </a:rPr>
              <a:t> to show how strongly the earthquake was </a:t>
            </a:r>
            <a:r>
              <a:rPr lang="en" b="1">
                <a:solidFill>
                  <a:schemeClr val="dk1"/>
                </a:solidFill>
                <a:latin typeface="Patrick Hand"/>
                <a:ea typeface="Patrick Hand"/>
                <a:cs typeface="Patrick Hand"/>
                <a:sym typeface="Patrick Hand"/>
              </a:rPr>
              <a:t>felt by people</a:t>
            </a:r>
            <a:r>
              <a:rPr lang="en">
                <a:solidFill>
                  <a:schemeClr val="dk1"/>
                </a:solidFill>
                <a:latin typeface="Patrick Hand"/>
                <a:ea typeface="Patrick Hand"/>
                <a:cs typeface="Patrick Hand"/>
                <a:sym typeface="Patrick Hand"/>
              </a:rPr>
              <a:t> in different locations.</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Can be used to </a:t>
            </a:r>
            <a:r>
              <a:rPr lang="en" b="1">
                <a:solidFill>
                  <a:schemeClr val="dk1"/>
                </a:solidFill>
                <a:latin typeface="Patrick Hand"/>
                <a:ea typeface="Patrick Hand"/>
                <a:cs typeface="Patrick Hand"/>
                <a:sym typeface="Patrick Hand"/>
              </a:rPr>
              <a:t>compare earthquakes worldwide</a:t>
            </a:r>
            <a:r>
              <a:rPr lang="en">
                <a:solidFill>
                  <a:schemeClr val="dk1"/>
                </a:solidFill>
                <a:latin typeface="Patrick Hand"/>
                <a:ea typeface="Patrick Hand"/>
                <a:cs typeface="Patrick Hand"/>
                <a:sym typeface="Patrick Hand"/>
              </a:rPr>
              <a:t>, regardless of where or how deep they occur.</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Provides a </a:t>
            </a:r>
            <a:r>
              <a:rPr lang="en" b="1">
                <a:solidFill>
                  <a:schemeClr val="dk1"/>
                </a:solidFill>
                <a:latin typeface="Patrick Hand"/>
                <a:ea typeface="Patrick Hand"/>
                <a:cs typeface="Patrick Hand"/>
                <a:sym typeface="Patrick Hand"/>
              </a:rPr>
              <a:t>subjective measurement</a:t>
            </a:r>
            <a:r>
              <a:rPr lang="en">
                <a:solidFill>
                  <a:schemeClr val="dk1"/>
                </a:solidFill>
                <a:latin typeface="Patrick Hand"/>
                <a:ea typeface="Patrick Hand"/>
                <a:cs typeface="Patrick Hand"/>
                <a:sym typeface="Patrick Hand"/>
              </a:rPr>
              <a:t> based on </a:t>
            </a:r>
            <a:r>
              <a:rPr lang="en" b="1">
                <a:solidFill>
                  <a:schemeClr val="dk1"/>
                </a:solidFill>
                <a:latin typeface="Patrick Hand"/>
                <a:ea typeface="Patrick Hand"/>
                <a:cs typeface="Patrick Hand"/>
                <a:sym typeface="Patrick Hand"/>
              </a:rPr>
              <a:t>people’s experiences and reports of damage</a:t>
            </a:r>
            <a:r>
              <a:rPr lang="en">
                <a:solidFill>
                  <a:schemeClr val="dk1"/>
                </a:solidFill>
                <a:latin typeface="Patrick Hand"/>
                <a:ea typeface="Patrick Hand"/>
                <a:cs typeface="Patrick Hand"/>
                <a:sym typeface="Patrick Hand"/>
              </a:rPr>
              <a:t>.</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Measures the </a:t>
            </a:r>
            <a:r>
              <a:rPr lang="en" b="1">
                <a:solidFill>
                  <a:schemeClr val="dk1"/>
                </a:solidFill>
                <a:latin typeface="Patrick Hand"/>
                <a:ea typeface="Patrick Hand"/>
                <a:cs typeface="Patrick Hand"/>
                <a:sym typeface="Patrick Hand"/>
              </a:rPr>
              <a:t>magnitude</a:t>
            </a:r>
            <a:r>
              <a:rPr lang="en">
                <a:solidFill>
                  <a:schemeClr val="dk1"/>
                </a:solidFill>
                <a:latin typeface="Patrick Hand"/>
                <a:ea typeface="Patrick Hand"/>
                <a:cs typeface="Patrick Hand"/>
                <a:sym typeface="Patrick Hand"/>
              </a:rPr>
              <a:t> of an earthquake by calculating the </a:t>
            </a:r>
            <a:r>
              <a:rPr lang="en" b="1">
                <a:solidFill>
                  <a:schemeClr val="dk1"/>
                </a:solidFill>
                <a:latin typeface="Patrick Hand"/>
                <a:ea typeface="Patrick Hand"/>
                <a:cs typeface="Patrick Hand"/>
                <a:sym typeface="Patrick Hand"/>
              </a:rPr>
              <a:t>energy released</a:t>
            </a:r>
            <a:r>
              <a:rPr lang="en">
                <a:solidFill>
                  <a:schemeClr val="dk1"/>
                </a:solidFill>
                <a:latin typeface="Patrick Hand"/>
                <a:ea typeface="Patrick Hand"/>
                <a:cs typeface="Patrick Hand"/>
                <a:sym typeface="Patrick Hand"/>
              </a:rPr>
              <a:t> at its focus.</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Gives a </a:t>
            </a:r>
            <a:r>
              <a:rPr lang="en" b="1">
                <a:solidFill>
                  <a:schemeClr val="dk1"/>
                </a:solidFill>
                <a:latin typeface="Patrick Hand"/>
                <a:ea typeface="Patrick Hand"/>
                <a:cs typeface="Patrick Hand"/>
                <a:sym typeface="Patrick Hand"/>
              </a:rPr>
              <a:t>scientific measurement</a:t>
            </a:r>
            <a:r>
              <a:rPr lang="en">
                <a:solidFill>
                  <a:schemeClr val="dk1"/>
                </a:solidFill>
                <a:latin typeface="Patrick Hand"/>
                <a:ea typeface="Patrick Hand"/>
                <a:cs typeface="Patrick Hand"/>
                <a:sym typeface="Patrick Hand"/>
              </a:rPr>
              <a:t> obtained from </a:t>
            </a:r>
            <a:r>
              <a:rPr lang="en" b="1">
                <a:solidFill>
                  <a:schemeClr val="dk1"/>
                </a:solidFill>
                <a:latin typeface="Patrick Hand"/>
                <a:ea typeface="Patrick Hand"/>
                <a:cs typeface="Patrick Hand"/>
                <a:sym typeface="Patrick Hand"/>
              </a:rPr>
              <a:t>instruments called seismographs</a:t>
            </a:r>
            <a:r>
              <a:rPr lang="en">
                <a:solidFill>
                  <a:schemeClr val="dk1"/>
                </a:solidFill>
                <a:latin typeface="Patrick Hand"/>
                <a:ea typeface="Patrick Hand"/>
                <a:cs typeface="Patrick Hand"/>
                <a:sym typeface="Patrick Hand"/>
              </a:rPr>
              <a:t>.</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Measures the </a:t>
            </a:r>
            <a:r>
              <a:rPr lang="en" b="1">
                <a:solidFill>
                  <a:schemeClr val="dk1"/>
                </a:solidFill>
                <a:latin typeface="Patrick Hand"/>
                <a:ea typeface="Patrick Hand"/>
                <a:cs typeface="Patrick Hand"/>
                <a:sym typeface="Patrick Hand"/>
              </a:rPr>
              <a:t>intensity</a:t>
            </a:r>
            <a:r>
              <a:rPr lang="en">
                <a:solidFill>
                  <a:schemeClr val="dk1"/>
                </a:solidFill>
                <a:latin typeface="Patrick Hand"/>
                <a:ea typeface="Patrick Hand"/>
                <a:cs typeface="Patrick Hand"/>
                <a:sym typeface="Patrick Hand"/>
              </a:rPr>
              <a:t> of shaking as it is </a:t>
            </a:r>
            <a:r>
              <a:rPr lang="en" b="1">
                <a:solidFill>
                  <a:schemeClr val="dk1"/>
                </a:solidFill>
                <a:latin typeface="Patrick Hand"/>
                <a:ea typeface="Patrick Hand"/>
                <a:cs typeface="Patrick Hand"/>
                <a:sym typeface="Patrick Hand"/>
              </a:rPr>
              <a:t>observed on the Earth’s surface</a:t>
            </a:r>
            <a:r>
              <a:rPr lang="en">
                <a:solidFill>
                  <a:schemeClr val="dk1"/>
                </a:solidFill>
                <a:latin typeface="Patrick Hand"/>
                <a:ea typeface="Patrick Hand"/>
                <a:cs typeface="Patrick Hand"/>
                <a:sym typeface="Patrick Hand"/>
              </a:rPr>
              <a:t>.</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Uses </a:t>
            </a:r>
            <a:r>
              <a:rPr lang="en" b="1">
                <a:solidFill>
                  <a:schemeClr val="dk1"/>
                </a:solidFill>
                <a:latin typeface="Patrick Hand"/>
                <a:ea typeface="Patrick Hand"/>
                <a:cs typeface="Patrick Hand"/>
                <a:sym typeface="Patrick Hand"/>
              </a:rPr>
              <a:t>numbers from 0 to 10</a:t>
            </a:r>
            <a:r>
              <a:rPr lang="en">
                <a:solidFill>
                  <a:schemeClr val="dk1"/>
                </a:solidFill>
                <a:latin typeface="Patrick Hand"/>
                <a:ea typeface="Patrick Hand"/>
                <a:cs typeface="Patrick Hand"/>
                <a:sym typeface="Patrick Hand"/>
              </a:rPr>
              <a:t>, where each step represents an earthquake </a:t>
            </a:r>
            <a:r>
              <a:rPr lang="en" b="1">
                <a:solidFill>
                  <a:schemeClr val="dk1"/>
                </a:solidFill>
                <a:latin typeface="Patrick Hand"/>
                <a:ea typeface="Patrick Hand"/>
                <a:cs typeface="Patrick Hand"/>
                <a:sym typeface="Patrick Hand"/>
              </a:rPr>
              <a:t>ten times more powerful</a:t>
            </a:r>
            <a:r>
              <a:rPr lang="en">
                <a:solidFill>
                  <a:schemeClr val="dk1"/>
                </a:solidFill>
                <a:latin typeface="Patrick Hand"/>
                <a:ea typeface="Patrick Hand"/>
                <a:cs typeface="Patrick Hand"/>
                <a:sym typeface="Patrick Hand"/>
              </a:rPr>
              <a:t> than the previous level.</a:t>
            </a:r>
            <a:br>
              <a:rPr lang="en">
                <a:solidFill>
                  <a:schemeClr val="dk1"/>
                </a:solidFill>
                <a:latin typeface="Patrick Hand"/>
                <a:ea typeface="Patrick Hand"/>
                <a:cs typeface="Patrick Hand"/>
                <a:sym typeface="Patrick Hand"/>
              </a:rPr>
            </a:br>
            <a:endParaRPr>
              <a:solidFill>
                <a:schemeClr val="dk1"/>
              </a:solidFill>
              <a:latin typeface="Patrick Hand"/>
              <a:ea typeface="Patrick Hand"/>
              <a:cs typeface="Patrick Hand"/>
              <a:sym typeface="Patrick Hand"/>
            </a:endParaRPr>
          </a:p>
          <a:p>
            <a:pPr marL="0" lvl="0" indent="0" algn="l" rtl="0">
              <a:spcBef>
                <a:spcPts val="0"/>
              </a:spcBef>
              <a:spcAft>
                <a:spcPts val="0"/>
              </a:spcAft>
              <a:buNone/>
            </a:pPr>
            <a:r>
              <a:rPr lang="en">
                <a:solidFill>
                  <a:schemeClr val="dk1"/>
                </a:solidFill>
                <a:latin typeface="Patrick Hand"/>
                <a:ea typeface="Patrick Hand"/>
                <a:cs typeface="Patrick Hand"/>
                <a:sym typeface="Patrick Hand"/>
              </a:rPr>
              <a:t>Shows how </a:t>
            </a:r>
            <a:r>
              <a:rPr lang="en" b="1">
                <a:solidFill>
                  <a:schemeClr val="dk1"/>
                </a:solidFill>
                <a:latin typeface="Patrick Hand"/>
                <a:ea typeface="Patrick Hand"/>
                <a:cs typeface="Patrick Hand"/>
                <a:sym typeface="Patrick Hand"/>
              </a:rPr>
              <a:t>shaking and damage</a:t>
            </a:r>
            <a:r>
              <a:rPr lang="en">
                <a:solidFill>
                  <a:schemeClr val="dk1"/>
                </a:solidFill>
                <a:latin typeface="Patrick Hand"/>
                <a:ea typeface="Patrick Hand"/>
                <a:cs typeface="Patrick Hand"/>
                <a:sym typeface="Patrick Hand"/>
              </a:rPr>
              <a:t> can </a:t>
            </a:r>
            <a:r>
              <a:rPr lang="en" b="1">
                <a:solidFill>
                  <a:schemeClr val="dk1"/>
                </a:solidFill>
                <a:latin typeface="Patrick Hand"/>
                <a:ea typeface="Patrick Hand"/>
                <a:cs typeface="Patrick Hand"/>
                <a:sym typeface="Patrick Hand"/>
              </a:rPr>
              <a:t>vary between areas</a:t>
            </a:r>
            <a:r>
              <a:rPr lang="en">
                <a:solidFill>
                  <a:schemeClr val="dk1"/>
                </a:solidFill>
                <a:latin typeface="Patrick Hand"/>
                <a:ea typeface="Patrick Hand"/>
                <a:cs typeface="Patrick Hand"/>
                <a:sym typeface="Patrick Hand"/>
              </a:rPr>
              <a:t> during the same earthquake.</a:t>
            </a:r>
            <a:endParaRPr sz="1700">
              <a:solidFill>
                <a:schemeClr val="dk1"/>
              </a:solidFill>
              <a:latin typeface="Patrick Hand"/>
              <a:ea typeface="Patrick Hand"/>
              <a:cs typeface="Patrick Hand"/>
              <a:sym typeface="Patrick Hand"/>
            </a:endParaRPr>
          </a:p>
        </p:txBody>
      </p:sp>
      <p:sp>
        <p:nvSpPr>
          <p:cNvPr id="225" name="Google Shape;225;p28"/>
          <p:cNvSpPr txBox="1"/>
          <p:nvPr/>
        </p:nvSpPr>
        <p:spPr>
          <a:xfrm>
            <a:off x="123150" y="1294200"/>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FF0000"/>
                </a:solidFill>
                <a:latin typeface="Patrick Hand"/>
                <a:ea typeface="Patrick Hand"/>
                <a:cs typeface="Patrick Hand"/>
                <a:sym typeface="Patrick Hand"/>
              </a:rPr>
              <a:t>Mercalli Scale</a:t>
            </a:r>
            <a:endParaRPr sz="1000">
              <a:solidFill>
                <a:srgbClr val="FF0000"/>
              </a:solidFill>
              <a:latin typeface="Patrick Hand"/>
              <a:ea typeface="Patrick Hand"/>
              <a:cs typeface="Patrick Hand"/>
              <a:sym typeface="Patrick Hand"/>
            </a:endParaRPr>
          </a:p>
        </p:txBody>
      </p:sp>
      <p:sp>
        <p:nvSpPr>
          <p:cNvPr id="226" name="Google Shape;226;p28"/>
          <p:cNvSpPr txBox="1"/>
          <p:nvPr/>
        </p:nvSpPr>
        <p:spPr>
          <a:xfrm>
            <a:off x="123150" y="1713638"/>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0000FF"/>
                </a:solidFill>
                <a:latin typeface="Patrick Hand"/>
                <a:ea typeface="Patrick Hand"/>
                <a:cs typeface="Patrick Hand"/>
                <a:sym typeface="Patrick Hand"/>
              </a:rPr>
              <a:t>Richter Scale</a:t>
            </a:r>
            <a:endParaRPr sz="1000">
              <a:solidFill>
                <a:srgbClr val="0000FF"/>
              </a:solidFill>
              <a:latin typeface="Patrick Hand"/>
              <a:ea typeface="Patrick Hand"/>
              <a:cs typeface="Patrick Hand"/>
              <a:sym typeface="Patrick Hand"/>
            </a:endParaRPr>
          </a:p>
        </p:txBody>
      </p:sp>
      <p:sp>
        <p:nvSpPr>
          <p:cNvPr id="227" name="Google Shape;227;p28"/>
          <p:cNvSpPr txBox="1"/>
          <p:nvPr/>
        </p:nvSpPr>
        <p:spPr>
          <a:xfrm>
            <a:off x="123150" y="2133075"/>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FF0000"/>
                </a:solidFill>
                <a:latin typeface="Patrick Hand"/>
                <a:ea typeface="Patrick Hand"/>
                <a:cs typeface="Patrick Hand"/>
                <a:sym typeface="Patrick Hand"/>
              </a:rPr>
              <a:t>Mercalli Scale</a:t>
            </a:r>
            <a:endParaRPr sz="1000">
              <a:solidFill>
                <a:srgbClr val="FF0000"/>
              </a:solidFill>
              <a:latin typeface="Patrick Hand"/>
              <a:ea typeface="Patrick Hand"/>
              <a:cs typeface="Patrick Hand"/>
              <a:sym typeface="Patrick Hand"/>
            </a:endParaRPr>
          </a:p>
        </p:txBody>
      </p:sp>
      <p:sp>
        <p:nvSpPr>
          <p:cNvPr id="228" name="Google Shape;228;p28"/>
          <p:cNvSpPr txBox="1"/>
          <p:nvPr/>
        </p:nvSpPr>
        <p:spPr>
          <a:xfrm>
            <a:off x="123150" y="2571750"/>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0000FF"/>
                </a:solidFill>
                <a:latin typeface="Patrick Hand"/>
                <a:ea typeface="Patrick Hand"/>
                <a:cs typeface="Patrick Hand"/>
                <a:sym typeface="Patrick Hand"/>
              </a:rPr>
              <a:t>Richter Scale</a:t>
            </a:r>
            <a:endParaRPr sz="1000">
              <a:solidFill>
                <a:srgbClr val="0000FF"/>
              </a:solidFill>
              <a:latin typeface="Patrick Hand"/>
              <a:ea typeface="Patrick Hand"/>
              <a:cs typeface="Patrick Hand"/>
              <a:sym typeface="Patrick Hand"/>
            </a:endParaRPr>
          </a:p>
        </p:txBody>
      </p:sp>
      <p:sp>
        <p:nvSpPr>
          <p:cNvPr id="229" name="Google Shape;229;p28"/>
          <p:cNvSpPr txBox="1"/>
          <p:nvPr/>
        </p:nvSpPr>
        <p:spPr>
          <a:xfrm>
            <a:off x="123150" y="3010425"/>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0000FF"/>
                </a:solidFill>
                <a:latin typeface="Patrick Hand"/>
                <a:ea typeface="Patrick Hand"/>
                <a:cs typeface="Patrick Hand"/>
                <a:sym typeface="Patrick Hand"/>
              </a:rPr>
              <a:t>Richter Scale</a:t>
            </a:r>
            <a:endParaRPr sz="1000">
              <a:solidFill>
                <a:srgbClr val="0000FF"/>
              </a:solidFill>
              <a:latin typeface="Patrick Hand"/>
              <a:ea typeface="Patrick Hand"/>
              <a:cs typeface="Patrick Hand"/>
              <a:sym typeface="Patrick Hand"/>
            </a:endParaRPr>
          </a:p>
        </p:txBody>
      </p:sp>
      <p:sp>
        <p:nvSpPr>
          <p:cNvPr id="230" name="Google Shape;230;p28"/>
          <p:cNvSpPr txBox="1"/>
          <p:nvPr/>
        </p:nvSpPr>
        <p:spPr>
          <a:xfrm>
            <a:off x="123150" y="3429863"/>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FF0000"/>
                </a:solidFill>
                <a:latin typeface="Patrick Hand"/>
                <a:ea typeface="Patrick Hand"/>
                <a:cs typeface="Patrick Hand"/>
                <a:sym typeface="Patrick Hand"/>
              </a:rPr>
              <a:t>Mercalli Scale</a:t>
            </a:r>
            <a:endParaRPr sz="1000">
              <a:solidFill>
                <a:srgbClr val="FF0000"/>
              </a:solidFill>
              <a:latin typeface="Patrick Hand"/>
              <a:ea typeface="Patrick Hand"/>
              <a:cs typeface="Patrick Hand"/>
              <a:sym typeface="Patrick Hand"/>
            </a:endParaRPr>
          </a:p>
        </p:txBody>
      </p:sp>
      <p:sp>
        <p:nvSpPr>
          <p:cNvPr id="231" name="Google Shape;231;p28"/>
          <p:cNvSpPr txBox="1"/>
          <p:nvPr/>
        </p:nvSpPr>
        <p:spPr>
          <a:xfrm>
            <a:off x="123150" y="3936063"/>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0000FF"/>
                </a:solidFill>
                <a:latin typeface="Patrick Hand"/>
                <a:ea typeface="Patrick Hand"/>
                <a:cs typeface="Patrick Hand"/>
                <a:sym typeface="Patrick Hand"/>
              </a:rPr>
              <a:t>Richter Scale</a:t>
            </a:r>
            <a:endParaRPr sz="1000">
              <a:solidFill>
                <a:srgbClr val="0000FF"/>
              </a:solidFill>
              <a:latin typeface="Patrick Hand"/>
              <a:ea typeface="Patrick Hand"/>
              <a:cs typeface="Patrick Hand"/>
              <a:sym typeface="Patrick Hand"/>
            </a:endParaRPr>
          </a:p>
        </p:txBody>
      </p:sp>
      <p:sp>
        <p:nvSpPr>
          <p:cNvPr id="232" name="Google Shape;232;p28"/>
          <p:cNvSpPr txBox="1"/>
          <p:nvPr/>
        </p:nvSpPr>
        <p:spPr>
          <a:xfrm>
            <a:off x="123150" y="4520150"/>
            <a:ext cx="1142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FF0000"/>
                </a:solidFill>
                <a:latin typeface="Patrick Hand"/>
                <a:ea typeface="Patrick Hand"/>
                <a:cs typeface="Patrick Hand"/>
                <a:sym typeface="Patrick Hand"/>
              </a:rPr>
              <a:t>Mercalli Scale</a:t>
            </a:r>
            <a:endParaRPr sz="1000">
              <a:solidFill>
                <a:srgbClr val="FF0000"/>
              </a:solidFill>
              <a:latin typeface="Patrick Hand"/>
              <a:ea typeface="Patrick Hand"/>
              <a:cs typeface="Patrick Hand"/>
              <a:sym typeface="Patrick Han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pSp>
        <p:nvGrpSpPr>
          <p:cNvPr id="237" name="Google Shape;237;p29"/>
          <p:cNvGrpSpPr/>
          <p:nvPr/>
        </p:nvGrpSpPr>
        <p:grpSpPr>
          <a:xfrm>
            <a:off x="5619475" y="1485250"/>
            <a:ext cx="3166114" cy="3525075"/>
            <a:chOff x="5619475" y="1485250"/>
            <a:chExt cx="3166114" cy="3525075"/>
          </a:xfrm>
        </p:grpSpPr>
        <p:pic>
          <p:nvPicPr>
            <p:cNvPr id="238" name="Google Shape;238;p29" title="Screenshot 2025-10-31 at 9.30.54 AM.png"/>
            <p:cNvPicPr preferRelativeResize="0"/>
            <p:nvPr/>
          </p:nvPicPr>
          <p:blipFill>
            <a:blip r:embed="rId3">
              <a:alphaModFix/>
            </a:blip>
            <a:stretch>
              <a:fillRect/>
            </a:stretch>
          </p:blipFill>
          <p:spPr>
            <a:xfrm>
              <a:off x="5619475" y="1485250"/>
              <a:ext cx="3166114" cy="3525075"/>
            </a:xfrm>
            <a:prstGeom prst="rect">
              <a:avLst/>
            </a:prstGeom>
            <a:noFill/>
            <a:ln>
              <a:noFill/>
            </a:ln>
          </p:spPr>
        </p:pic>
        <p:sp>
          <p:nvSpPr>
            <p:cNvPr id="239" name="Google Shape;239;p29"/>
            <p:cNvSpPr txBox="1"/>
            <p:nvPr/>
          </p:nvSpPr>
          <p:spPr>
            <a:xfrm>
              <a:off x="7634725" y="2250600"/>
              <a:ext cx="531300" cy="27186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IX</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IV</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a:t>
              </a:r>
              <a:endParaRPr sz="1200" b="1">
                <a:solidFill>
                  <a:schemeClr val="dk1"/>
                </a:solidFill>
                <a:latin typeface="Delius"/>
                <a:ea typeface="Delius"/>
                <a:cs typeface="Delius"/>
                <a:sym typeface="Delius"/>
              </a:endParaRPr>
            </a:p>
          </p:txBody>
        </p:sp>
      </p:grpSp>
      <p:sp>
        <p:nvSpPr>
          <p:cNvPr id="240" name="Google Shape;240;p29"/>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241" name="Google Shape;241;p29"/>
          <p:cNvSpPr/>
          <p:nvPr/>
        </p:nvSpPr>
        <p:spPr>
          <a:xfrm>
            <a:off x="123150" y="663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 - Rate the quake</a:t>
            </a:r>
            <a:endParaRPr sz="2000" i="0" u="none" strike="noStrike" cap="none">
              <a:solidFill>
                <a:schemeClr val="dk1"/>
              </a:solidFill>
              <a:latin typeface="Luckiest Guy"/>
              <a:ea typeface="Luckiest Guy"/>
              <a:cs typeface="Luckiest Guy"/>
              <a:sym typeface="Luckiest Guy"/>
            </a:endParaRPr>
          </a:p>
        </p:txBody>
      </p:sp>
      <p:sp>
        <p:nvSpPr>
          <p:cNvPr id="242" name="Google Shape;242;p29"/>
          <p:cNvSpPr txBox="1"/>
          <p:nvPr/>
        </p:nvSpPr>
        <p:spPr>
          <a:xfrm>
            <a:off x="123150" y="1023550"/>
            <a:ext cx="738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4:</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For each video, guess the level on the Richter and Mercalli!</a:t>
            </a:r>
            <a:endParaRPr sz="1600">
              <a:solidFill>
                <a:schemeClr val="dk1"/>
              </a:solidFill>
              <a:latin typeface="Baumans"/>
              <a:ea typeface="Baumans"/>
              <a:cs typeface="Baumans"/>
              <a:sym typeface="Baumans"/>
            </a:endParaRPr>
          </a:p>
        </p:txBody>
      </p:sp>
      <p:pic>
        <p:nvPicPr>
          <p:cNvPr id="243" name="Google Shape;243;p29" descr="The Tacoma, Washington earthqauke of 2001, recorded from an office in Seattle." title="Tacoma earthquake footage">
            <a:hlinkClick r:id="rId4"/>
          </p:cNvPr>
          <p:cNvPicPr preferRelativeResize="0"/>
          <p:nvPr/>
        </p:nvPicPr>
        <p:blipFill>
          <a:blip r:embed="rId5">
            <a:alphaModFix/>
          </a:blip>
          <a:stretch>
            <a:fillRect/>
          </a:stretch>
        </p:blipFill>
        <p:spPr>
          <a:xfrm>
            <a:off x="152400" y="1637650"/>
            <a:ext cx="4758000" cy="2676375"/>
          </a:xfrm>
          <a:prstGeom prst="rect">
            <a:avLst/>
          </a:prstGeom>
          <a:noFill/>
          <a:ln>
            <a:noFill/>
          </a:ln>
        </p:spPr>
      </p:pic>
      <p:sp>
        <p:nvSpPr>
          <p:cNvPr id="244" name="Google Shape;244;p29"/>
          <p:cNvSpPr txBox="1"/>
          <p:nvPr/>
        </p:nvSpPr>
        <p:spPr>
          <a:xfrm>
            <a:off x="152425" y="4314025"/>
            <a:ext cx="4758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latin typeface="Fugaz One"/>
                <a:ea typeface="Fugaz One"/>
                <a:cs typeface="Fugaz One"/>
                <a:sym typeface="Fugaz One"/>
              </a:rPr>
              <a:t>Tacoma, USA (2001)</a:t>
            </a:r>
            <a:endParaRPr sz="1800" b="1">
              <a:latin typeface="Fugaz One"/>
              <a:ea typeface="Fugaz One"/>
              <a:cs typeface="Fugaz One"/>
              <a:sym typeface="Fugaz One"/>
            </a:endParaRPr>
          </a:p>
        </p:txBody>
      </p:sp>
      <p:pic>
        <p:nvPicPr>
          <p:cNvPr id="245" name="Google Shape;245;p29" descr="a red arrow on a white background points to the right (Provided by Tenor)"/>
          <p:cNvPicPr preferRelativeResize="0"/>
          <p:nvPr/>
        </p:nvPicPr>
        <p:blipFill>
          <a:blip r:embed="rId6">
            <a:alphaModFix/>
          </a:blip>
          <a:stretch>
            <a:fillRect/>
          </a:stretch>
        </p:blipFill>
        <p:spPr>
          <a:xfrm>
            <a:off x="5945950" y="3061291"/>
            <a:ext cx="578600" cy="271800"/>
          </a:xfrm>
          <a:prstGeom prst="rect">
            <a:avLst/>
          </a:prstGeom>
          <a:noFill/>
          <a:ln>
            <a:noFill/>
          </a:ln>
        </p:spPr>
      </p:pic>
      <p:sp>
        <p:nvSpPr>
          <p:cNvPr id="246" name="Google Shape;246;p29"/>
          <p:cNvSpPr txBox="1"/>
          <p:nvPr/>
        </p:nvSpPr>
        <p:spPr>
          <a:xfrm>
            <a:off x="5523750" y="3061300"/>
            <a:ext cx="480600" cy="27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FF0000"/>
                </a:solidFill>
                <a:latin typeface="Patrick Hand"/>
                <a:ea typeface="Patrick Hand"/>
                <a:cs typeface="Patrick Hand"/>
                <a:sym typeface="Patrick Hand"/>
              </a:rPr>
              <a:t>6.8</a:t>
            </a:r>
            <a:endParaRPr b="1">
              <a:solidFill>
                <a:srgbClr val="FF0000"/>
              </a:solidFill>
              <a:latin typeface="Patrick Hand"/>
              <a:ea typeface="Patrick Hand"/>
              <a:cs typeface="Patrick Hand"/>
              <a:sym typeface="Patrick Hand"/>
            </a:endParaRPr>
          </a:p>
        </p:txBody>
      </p:sp>
      <p:pic>
        <p:nvPicPr>
          <p:cNvPr id="247" name="Google Shape;247;p29" descr="a red arrow on a white background points to the right (Provided by Tenor)"/>
          <p:cNvPicPr preferRelativeResize="0"/>
          <p:nvPr/>
        </p:nvPicPr>
        <p:blipFill>
          <a:blip r:embed="rId6">
            <a:alphaModFix/>
          </a:blip>
          <a:stretch>
            <a:fillRect/>
          </a:stretch>
        </p:blipFill>
        <p:spPr>
          <a:xfrm>
            <a:off x="7186075" y="3128728"/>
            <a:ext cx="578600" cy="271800"/>
          </a:xfrm>
          <a:prstGeom prst="rect">
            <a:avLst/>
          </a:prstGeom>
          <a:noFill/>
          <a:ln>
            <a:noFill/>
          </a:ln>
        </p:spPr>
      </p:pic>
      <p:sp>
        <p:nvSpPr>
          <p:cNvPr id="248" name="Google Shape;248;p29"/>
          <p:cNvSpPr txBox="1"/>
          <p:nvPr/>
        </p:nvSpPr>
        <p:spPr>
          <a:xfrm>
            <a:off x="6763875" y="3128738"/>
            <a:ext cx="480600" cy="27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FF0000"/>
                </a:solidFill>
                <a:latin typeface="Patrick Hand"/>
                <a:ea typeface="Patrick Hand"/>
                <a:cs typeface="Patrick Hand"/>
                <a:sym typeface="Patrick Hand"/>
              </a:rPr>
              <a:t>VIII</a:t>
            </a:r>
            <a:endParaRPr b="1">
              <a:solidFill>
                <a:srgbClr val="FF0000"/>
              </a:solidFill>
              <a:latin typeface="Patrick Hand"/>
              <a:ea typeface="Patrick Hand"/>
              <a:cs typeface="Patrick Hand"/>
              <a:sym typeface="Patrick Han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1000"/>
                                        <p:tgtEl>
                                          <p:spTgt spid="2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4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4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0"/>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254" name="Google Shape;254;p30"/>
          <p:cNvSpPr txBox="1"/>
          <p:nvPr/>
        </p:nvSpPr>
        <p:spPr>
          <a:xfrm>
            <a:off x="123150" y="1023550"/>
            <a:ext cx="738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4:</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For each video, guess the level on the Richter and Mercalli!</a:t>
            </a:r>
            <a:endParaRPr sz="1600">
              <a:solidFill>
                <a:schemeClr val="dk1"/>
              </a:solidFill>
              <a:latin typeface="Baumans"/>
              <a:ea typeface="Baumans"/>
              <a:cs typeface="Baumans"/>
              <a:sym typeface="Baumans"/>
            </a:endParaRPr>
          </a:p>
        </p:txBody>
      </p:sp>
      <p:sp>
        <p:nvSpPr>
          <p:cNvPr id="255" name="Google Shape;255;p30"/>
          <p:cNvSpPr txBox="1"/>
          <p:nvPr/>
        </p:nvSpPr>
        <p:spPr>
          <a:xfrm>
            <a:off x="152425" y="4314025"/>
            <a:ext cx="4758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latin typeface="Fugaz One"/>
                <a:ea typeface="Fugaz One"/>
                <a:cs typeface="Fugaz One"/>
                <a:sym typeface="Fugaz One"/>
              </a:rPr>
              <a:t>Parkville Maryland, USA (2011)</a:t>
            </a:r>
            <a:endParaRPr sz="1800" b="1">
              <a:latin typeface="Fugaz One"/>
              <a:ea typeface="Fugaz One"/>
              <a:cs typeface="Fugaz One"/>
              <a:sym typeface="Fugaz One"/>
            </a:endParaRPr>
          </a:p>
        </p:txBody>
      </p:sp>
      <p:pic>
        <p:nvPicPr>
          <p:cNvPr id="256" name="Google Shape;256;p30" descr="Just had a small earthquake and this is from my Logitech Alert security camera. The other security cameras show different views, but this camera was affected the most. It is mounted under a metal framed sign on the side of the building. The earthquake showed the most on this camera." title="Parkville Maryland earthquake security footage Logitech Alert">
            <a:hlinkClick r:id="rId3"/>
          </p:cNvPr>
          <p:cNvPicPr preferRelativeResize="0"/>
          <p:nvPr/>
        </p:nvPicPr>
        <p:blipFill>
          <a:blip r:embed="rId4">
            <a:alphaModFix/>
          </a:blip>
          <a:stretch>
            <a:fillRect/>
          </a:stretch>
        </p:blipFill>
        <p:spPr>
          <a:xfrm>
            <a:off x="152425" y="1637650"/>
            <a:ext cx="4758000" cy="2676375"/>
          </a:xfrm>
          <a:prstGeom prst="rect">
            <a:avLst/>
          </a:prstGeom>
          <a:noFill/>
          <a:ln>
            <a:noFill/>
          </a:ln>
        </p:spPr>
      </p:pic>
      <p:grpSp>
        <p:nvGrpSpPr>
          <p:cNvPr id="257" name="Google Shape;257;p30"/>
          <p:cNvGrpSpPr/>
          <p:nvPr/>
        </p:nvGrpSpPr>
        <p:grpSpPr>
          <a:xfrm>
            <a:off x="5619475" y="1485250"/>
            <a:ext cx="3166114" cy="3525075"/>
            <a:chOff x="5619475" y="1485250"/>
            <a:chExt cx="3166114" cy="3525075"/>
          </a:xfrm>
        </p:grpSpPr>
        <p:pic>
          <p:nvPicPr>
            <p:cNvPr id="258" name="Google Shape;258;p30" title="Screenshot 2025-10-31 at 9.30.54 AM.png"/>
            <p:cNvPicPr preferRelativeResize="0"/>
            <p:nvPr/>
          </p:nvPicPr>
          <p:blipFill>
            <a:blip r:embed="rId5">
              <a:alphaModFix/>
            </a:blip>
            <a:stretch>
              <a:fillRect/>
            </a:stretch>
          </p:blipFill>
          <p:spPr>
            <a:xfrm>
              <a:off x="5619475" y="1485250"/>
              <a:ext cx="3166114" cy="3525075"/>
            </a:xfrm>
            <a:prstGeom prst="rect">
              <a:avLst/>
            </a:prstGeom>
            <a:noFill/>
            <a:ln>
              <a:noFill/>
            </a:ln>
          </p:spPr>
        </p:pic>
        <p:sp>
          <p:nvSpPr>
            <p:cNvPr id="259" name="Google Shape;259;p30"/>
            <p:cNvSpPr txBox="1"/>
            <p:nvPr/>
          </p:nvSpPr>
          <p:spPr>
            <a:xfrm>
              <a:off x="7634725" y="2250600"/>
              <a:ext cx="531300" cy="27186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IX</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IV</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a:t>
              </a:r>
              <a:endParaRPr sz="1200" b="1">
                <a:solidFill>
                  <a:schemeClr val="dk1"/>
                </a:solidFill>
                <a:latin typeface="Delius"/>
                <a:ea typeface="Delius"/>
                <a:cs typeface="Delius"/>
                <a:sym typeface="Delius"/>
              </a:endParaRPr>
            </a:p>
          </p:txBody>
        </p:sp>
      </p:grpSp>
      <p:pic>
        <p:nvPicPr>
          <p:cNvPr id="260" name="Google Shape;260;p30" descr="a red arrow on a white background points to the right (Provided by Tenor)"/>
          <p:cNvPicPr preferRelativeResize="0"/>
          <p:nvPr/>
        </p:nvPicPr>
        <p:blipFill>
          <a:blip r:embed="rId6">
            <a:alphaModFix/>
          </a:blip>
          <a:stretch>
            <a:fillRect/>
          </a:stretch>
        </p:blipFill>
        <p:spPr>
          <a:xfrm>
            <a:off x="5937500" y="3339541"/>
            <a:ext cx="578600" cy="271800"/>
          </a:xfrm>
          <a:prstGeom prst="rect">
            <a:avLst/>
          </a:prstGeom>
          <a:noFill/>
          <a:ln>
            <a:noFill/>
          </a:ln>
        </p:spPr>
      </p:pic>
      <p:sp>
        <p:nvSpPr>
          <p:cNvPr id="261" name="Google Shape;261;p30"/>
          <p:cNvSpPr txBox="1"/>
          <p:nvPr/>
        </p:nvSpPr>
        <p:spPr>
          <a:xfrm>
            <a:off x="5515300" y="3339550"/>
            <a:ext cx="480600" cy="27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FF0000"/>
                </a:solidFill>
                <a:latin typeface="Patrick Hand"/>
                <a:ea typeface="Patrick Hand"/>
                <a:cs typeface="Patrick Hand"/>
                <a:sym typeface="Patrick Hand"/>
              </a:rPr>
              <a:t>5.8</a:t>
            </a:r>
            <a:endParaRPr b="1">
              <a:solidFill>
                <a:srgbClr val="FF0000"/>
              </a:solidFill>
              <a:latin typeface="Patrick Hand"/>
              <a:ea typeface="Patrick Hand"/>
              <a:cs typeface="Patrick Hand"/>
              <a:sym typeface="Patrick Hand"/>
            </a:endParaRPr>
          </a:p>
        </p:txBody>
      </p:sp>
      <p:pic>
        <p:nvPicPr>
          <p:cNvPr id="262" name="Google Shape;262;p30" descr="a red arrow on a white background points to the right (Provided by Tenor)"/>
          <p:cNvPicPr preferRelativeResize="0"/>
          <p:nvPr/>
        </p:nvPicPr>
        <p:blipFill>
          <a:blip r:embed="rId6">
            <a:alphaModFix/>
          </a:blip>
          <a:stretch>
            <a:fillRect/>
          </a:stretch>
        </p:blipFill>
        <p:spPr>
          <a:xfrm>
            <a:off x="7202950" y="3550328"/>
            <a:ext cx="578600" cy="271800"/>
          </a:xfrm>
          <a:prstGeom prst="rect">
            <a:avLst/>
          </a:prstGeom>
          <a:noFill/>
          <a:ln>
            <a:noFill/>
          </a:ln>
        </p:spPr>
      </p:pic>
      <p:sp>
        <p:nvSpPr>
          <p:cNvPr id="263" name="Google Shape;263;p30"/>
          <p:cNvSpPr txBox="1"/>
          <p:nvPr/>
        </p:nvSpPr>
        <p:spPr>
          <a:xfrm>
            <a:off x="6780750" y="3550338"/>
            <a:ext cx="480600" cy="27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FF0000"/>
                </a:solidFill>
                <a:latin typeface="Patrick Hand"/>
                <a:ea typeface="Patrick Hand"/>
                <a:cs typeface="Patrick Hand"/>
                <a:sym typeface="Patrick Hand"/>
              </a:rPr>
              <a:t>VI</a:t>
            </a:r>
            <a:endParaRPr b="1">
              <a:solidFill>
                <a:srgbClr val="FF0000"/>
              </a:solidFill>
              <a:latin typeface="Patrick Hand"/>
              <a:ea typeface="Patrick Hand"/>
              <a:cs typeface="Patrick Hand"/>
              <a:sym typeface="Patrick Hand"/>
            </a:endParaRPr>
          </a:p>
        </p:txBody>
      </p:sp>
      <p:sp>
        <p:nvSpPr>
          <p:cNvPr id="264" name="Google Shape;264;p30"/>
          <p:cNvSpPr/>
          <p:nvPr/>
        </p:nvSpPr>
        <p:spPr>
          <a:xfrm>
            <a:off x="123150" y="663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 - Rate the quake</a:t>
            </a:r>
            <a:endParaRPr sz="2000" i="0" u="none" strike="noStrike" cap="none">
              <a:solidFill>
                <a:schemeClr val="dk1"/>
              </a:solidFill>
              <a:latin typeface="Luckiest Guy"/>
              <a:ea typeface="Luckiest Guy"/>
              <a:cs typeface="Luckiest Guy"/>
              <a:sym typeface="Luckiest Gu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1"/>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sp>
        <p:nvSpPr>
          <p:cNvPr id="270" name="Google Shape;270;p31"/>
          <p:cNvSpPr txBox="1"/>
          <p:nvPr/>
        </p:nvSpPr>
        <p:spPr>
          <a:xfrm>
            <a:off x="123150" y="1023550"/>
            <a:ext cx="738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4:</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For each video, guess the level on the Richter and Mercalli!</a:t>
            </a:r>
            <a:endParaRPr sz="1600">
              <a:solidFill>
                <a:schemeClr val="dk1"/>
              </a:solidFill>
              <a:latin typeface="Baumans"/>
              <a:ea typeface="Baumans"/>
              <a:cs typeface="Baumans"/>
              <a:sym typeface="Baumans"/>
            </a:endParaRPr>
          </a:p>
        </p:txBody>
      </p:sp>
      <p:sp>
        <p:nvSpPr>
          <p:cNvPr id="271" name="Google Shape;271;p31"/>
          <p:cNvSpPr txBox="1"/>
          <p:nvPr/>
        </p:nvSpPr>
        <p:spPr>
          <a:xfrm>
            <a:off x="152425" y="4314025"/>
            <a:ext cx="4758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latin typeface="Fugaz One"/>
                <a:ea typeface="Fugaz One"/>
                <a:cs typeface="Fugaz One"/>
                <a:sym typeface="Fugaz One"/>
              </a:rPr>
              <a:t>Tōhoku earthquake, Japan (2011)</a:t>
            </a:r>
            <a:endParaRPr sz="1800" b="1">
              <a:latin typeface="Fugaz One"/>
              <a:ea typeface="Fugaz One"/>
              <a:cs typeface="Fugaz One"/>
              <a:sym typeface="Fugaz One"/>
            </a:endParaRPr>
          </a:p>
        </p:txBody>
      </p:sp>
      <p:pic>
        <p:nvPicPr>
          <p:cNvPr id="272" name="Google Shape;272;p31" title="Japan earthquake Live Video March 11 3/11/2011">
            <a:hlinkClick r:id="rId3"/>
          </p:cNvPr>
          <p:cNvPicPr preferRelativeResize="0"/>
          <p:nvPr/>
        </p:nvPicPr>
        <p:blipFill>
          <a:blip r:embed="rId4">
            <a:alphaModFix/>
          </a:blip>
          <a:stretch>
            <a:fillRect/>
          </a:stretch>
        </p:blipFill>
        <p:spPr>
          <a:xfrm>
            <a:off x="152425" y="1637650"/>
            <a:ext cx="4758000" cy="2676375"/>
          </a:xfrm>
          <a:prstGeom prst="rect">
            <a:avLst/>
          </a:prstGeom>
          <a:noFill/>
          <a:ln>
            <a:noFill/>
          </a:ln>
        </p:spPr>
      </p:pic>
      <p:grpSp>
        <p:nvGrpSpPr>
          <p:cNvPr id="273" name="Google Shape;273;p31"/>
          <p:cNvGrpSpPr/>
          <p:nvPr/>
        </p:nvGrpSpPr>
        <p:grpSpPr>
          <a:xfrm>
            <a:off x="5619475" y="1485250"/>
            <a:ext cx="3166114" cy="3525075"/>
            <a:chOff x="5619475" y="1485250"/>
            <a:chExt cx="3166114" cy="3525075"/>
          </a:xfrm>
        </p:grpSpPr>
        <p:pic>
          <p:nvPicPr>
            <p:cNvPr id="274" name="Google Shape;274;p31" title="Screenshot 2025-10-31 at 9.30.54 AM.png"/>
            <p:cNvPicPr preferRelativeResize="0"/>
            <p:nvPr/>
          </p:nvPicPr>
          <p:blipFill>
            <a:blip r:embed="rId5">
              <a:alphaModFix/>
            </a:blip>
            <a:stretch>
              <a:fillRect/>
            </a:stretch>
          </p:blipFill>
          <p:spPr>
            <a:xfrm>
              <a:off x="5619475" y="1485250"/>
              <a:ext cx="3166114" cy="3525075"/>
            </a:xfrm>
            <a:prstGeom prst="rect">
              <a:avLst/>
            </a:prstGeom>
            <a:noFill/>
            <a:ln>
              <a:noFill/>
            </a:ln>
          </p:spPr>
        </p:pic>
        <p:sp>
          <p:nvSpPr>
            <p:cNvPr id="275" name="Google Shape;275;p31"/>
            <p:cNvSpPr txBox="1"/>
            <p:nvPr/>
          </p:nvSpPr>
          <p:spPr>
            <a:xfrm>
              <a:off x="7634725" y="2250600"/>
              <a:ext cx="531300" cy="27186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X</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IX</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V</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IV</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II</a:t>
              </a:r>
              <a:endParaRPr sz="1200" b="1">
                <a:solidFill>
                  <a:schemeClr val="dk1"/>
                </a:solidFill>
                <a:latin typeface="Delius"/>
                <a:ea typeface="Delius"/>
                <a:cs typeface="Delius"/>
                <a:sym typeface="Delius"/>
              </a:endParaRPr>
            </a:p>
            <a:p>
              <a:pPr marL="0" lvl="0" indent="0" algn="ctr" rtl="0">
                <a:lnSpc>
                  <a:spcPct val="115000"/>
                </a:lnSpc>
                <a:spcBef>
                  <a:spcPts val="0"/>
                </a:spcBef>
                <a:spcAft>
                  <a:spcPts val="0"/>
                </a:spcAft>
                <a:buNone/>
              </a:pPr>
              <a:r>
                <a:rPr lang="en" sz="1200" b="1">
                  <a:solidFill>
                    <a:schemeClr val="dk1"/>
                  </a:solidFill>
                  <a:latin typeface="Delius"/>
                  <a:ea typeface="Delius"/>
                  <a:cs typeface="Delius"/>
                  <a:sym typeface="Delius"/>
                </a:rPr>
                <a:t>I</a:t>
              </a:r>
              <a:endParaRPr sz="1200" b="1">
                <a:solidFill>
                  <a:schemeClr val="dk1"/>
                </a:solidFill>
                <a:latin typeface="Delius"/>
                <a:ea typeface="Delius"/>
                <a:cs typeface="Delius"/>
                <a:sym typeface="Delius"/>
              </a:endParaRPr>
            </a:p>
          </p:txBody>
        </p:sp>
      </p:grpSp>
      <p:pic>
        <p:nvPicPr>
          <p:cNvPr id="276" name="Google Shape;276;p31" descr="a red arrow on a white background points to the right (Provided by Tenor)"/>
          <p:cNvPicPr preferRelativeResize="0"/>
          <p:nvPr/>
        </p:nvPicPr>
        <p:blipFill>
          <a:blip r:embed="rId6">
            <a:alphaModFix/>
          </a:blip>
          <a:stretch>
            <a:fillRect/>
          </a:stretch>
        </p:blipFill>
        <p:spPr>
          <a:xfrm>
            <a:off x="5954375" y="2521641"/>
            <a:ext cx="578600" cy="271800"/>
          </a:xfrm>
          <a:prstGeom prst="rect">
            <a:avLst/>
          </a:prstGeom>
          <a:noFill/>
          <a:ln>
            <a:noFill/>
          </a:ln>
        </p:spPr>
      </p:pic>
      <p:sp>
        <p:nvSpPr>
          <p:cNvPr id="277" name="Google Shape;277;p31"/>
          <p:cNvSpPr txBox="1"/>
          <p:nvPr/>
        </p:nvSpPr>
        <p:spPr>
          <a:xfrm>
            <a:off x="5532175" y="2521650"/>
            <a:ext cx="480600" cy="27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FF0000"/>
                </a:solidFill>
                <a:latin typeface="Patrick Hand"/>
                <a:ea typeface="Patrick Hand"/>
                <a:cs typeface="Patrick Hand"/>
                <a:sym typeface="Patrick Hand"/>
              </a:rPr>
              <a:t>9</a:t>
            </a:r>
            <a:endParaRPr b="1">
              <a:solidFill>
                <a:srgbClr val="FF0000"/>
              </a:solidFill>
              <a:latin typeface="Patrick Hand"/>
              <a:ea typeface="Patrick Hand"/>
              <a:cs typeface="Patrick Hand"/>
              <a:sym typeface="Patrick Hand"/>
            </a:endParaRPr>
          </a:p>
        </p:txBody>
      </p:sp>
      <p:pic>
        <p:nvPicPr>
          <p:cNvPr id="278" name="Google Shape;278;p31" descr="a red arrow on a white background points to the right (Provided by Tenor)"/>
          <p:cNvPicPr preferRelativeResize="0"/>
          <p:nvPr/>
        </p:nvPicPr>
        <p:blipFill>
          <a:blip r:embed="rId6">
            <a:alphaModFix/>
          </a:blip>
          <a:stretch>
            <a:fillRect/>
          </a:stretch>
        </p:blipFill>
        <p:spPr>
          <a:xfrm>
            <a:off x="7202950" y="2917928"/>
            <a:ext cx="578600" cy="271800"/>
          </a:xfrm>
          <a:prstGeom prst="rect">
            <a:avLst/>
          </a:prstGeom>
          <a:noFill/>
          <a:ln>
            <a:noFill/>
          </a:ln>
        </p:spPr>
      </p:pic>
      <p:sp>
        <p:nvSpPr>
          <p:cNvPr id="279" name="Google Shape;279;p31"/>
          <p:cNvSpPr txBox="1"/>
          <p:nvPr/>
        </p:nvSpPr>
        <p:spPr>
          <a:xfrm>
            <a:off x="6780750" y="2917938"/>
            <a:ext cx="480600" cy="27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FF0000"/>
                </a:solidFill>
                <a:latin typeface="Patrick Hand"/>
                <a:ea typeface="Patrick Hand"/>
                <a:cs typeface="Patrick Hand"/>
                <a:sym typeface="Patrick Hand"/>
              </a:rPr>
              <a:t>IX</a:t>
            </a:r>
            <a:endParaRPr b="1">
              <a:solidFill>
                <a:srgbClr val="FF0000"/>
              </a:solidFill>
              <a:latin typeface="Patrick Hand"/>
              <a:ea typeface="Patrick Hand"/>
              <a:cs typeface="Patrick Hand"/>
              <a:sym typeface="Patrick Hand"/>
            </a:endParaRPr>
          </a:p>
        </p:txBody>
      </p:sp>
      <p:sp>
        <p:nvSpPr>
          <p:cNvPr id="280" name="Google Shape;280;p31"/>
          <p:cNvSpPr/>
          <p:nvPr/>
        </p:nvSpPr>
        <p:spPr>
          <a:xfrm>
            <a:off x="123150" y="663400"/>
            <a:ext cx="5881200" cy="402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2000">
                <a:solidFill>
                  <a:schemeClr val="dk1"/>
                </a:solidFill>
                <a:latin typeface="Luckiest Guy"/>
                <a:ea typeface="Luckiest Guy"/>
                <a:cs typeface="Luckiest Guy"/>
                <a:sym typeface="Luckiest Guy"/>
              </a:rPr>
              <a:t>Measuring Earthquakes - Rate the quake</a:t>
            </a:r>
            <a:endParaRPr sz="2000" i="0" u="none" strike="noStrike" cap="none">
              <a:solidFill>
                <a:schemeClr val="dk1"/>
              </a:solidFill>
              <a:latin typeface="Luckiest Guy"/>
              <a:ea typeface="Luckiest Guy"/>
              <a:cs typeface="Luckiest Guy"/>
              <a:sym typeface="Luckiest Gu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2"/>
          <p:cNvSpPr/>
          <p:nvPr/>
        </p:nvSpPr>
        <p:spPr>
          <a:xfrm>
            <a:off x="60900" y="1172300"/>
            <a:ext cx="3897600" cy="4140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 sz="2000" i="0" u="none" strike="noStrike" cap="none">
                <a:solidFill>
                  <a:schemeClr val="dk1"/>
                </a:solidFill>
                <a:latin typeface="Luckiest Guy"/>
                <a:ea typeface="Luckiest Guy"/>
                <a:cs typeface="Luckiest Guy"/>
                <a:sym typeface="Luckiest Guy"/>
              </a:rPr>
              <a:t>Plenary: Tectonic Crossword!</a:t>
            </a:r>
            <a:endParaRPr sz="2000" i="0" u="none" strike="noStrike" cap="none">
              <a:solidFill>
                <a:schemeClr val="dk1"/>
              </a:solidFill>
              <a:latin typeface="Luckiest Guy"/>
              <a:ea typeface="Luckiest Guy"/>
              <a:cs typeface="Luckiest Guy"/>
              <a:sym typeface="Luckiest Guy"/>
            </a:endParaRPr>
          </a:p>
        </p:txBody>
      </p:sp>
      <p:sp>
        <p:nvSpPr>
          <p:cNvPr id="286" name="Google Shape;286;p32"/>
          <p:cNvSpPr txBox="1"/>
          <p:nvPr/>
        </p:nvSpPr>
        <p:spPr>
          <a:xfrm>
            <a:off x="3958500" y="1056725"/>
            <a:ext cx="5062200" cy="414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700"/>
              <a:buFont typeface="Arial"/>
              <a:buNone/>
            </a:pPr>
            <a:r>
              <a:rPr lang="en" sz="2400" b="0" i="0" u="none" strike="noStrike" cap="none">
                <a:solidFill>
                  <a:srgbClr val="38761D"/>
                </a:solidFill>
                <a:latin typeface="Luckiest Guy"/>
                <a:ea typeface="Luckiest Guy"/>
                <a:cs typeface="Luckiest Guy"/>
                <a:sym typeface="Luckiest Guy"/>
              </a:rPr>
              <a:t>Geog your memory!</a:t>
            </a:r>
            <a:endParaRPr sz="2400" b="0" i="0" u="none" strike="noStrike" cap="none">
              <a:solidFill>
                <a:srgbClr val="38761D"/>
              </a:solidFill>
              <a:latin typeface="Luckiest Guy"/>
              <a:ea typeface="Luckiest Guy"/>
              <a:cs typeface="Luckiest Guy"/>
              <a:sym typeface="Luckiest Guy"/>
            </a:endParaRPr>
          </a:p>
        </p:txBody>
      </p:sp>
      <p:pic>
        <p:nvPicPr>
          <p:cNvPr id="287" name="Google Shape;287;p32"/>
          <p:cNvPicPr preferRelativeResize="0"/>
          <p:nvPr/>
        </p:nvPicPr>
        <p:blipFill rotWithShape="1">
          <a:blip r:embed="rId3">
            <a:alphaModFix/>
          </a:blip>
          <a:srcRect/>
          <a:stretch/>
        </p:blipFill>
        <p:spPr>
          <a:xfrm>
            <a:off x="3958500" y="1470734"/>
            <a:ext cx="5062200" cy="3489716"/>
          </a:xfrm>
          <a:prstGeom prst="rect">
            <a:avLst/>
          </a:prstGeom>
          <a:noFill/>
          <a:ln>
            <a:noFill/>
          </a:ln>
        </p:spPr>
      </p:pic>
      <p:pic>
        <p:nvPicPr>
          <p:cNvPr id="288" name="Google Shape;288;p32"/>
          <p:cNvPicPr preferRelativeResize="0"/>
          <p:nvPr/>
        </p:nvPicPr>
        <p:blipFill rotWithShape="1">
          <a:blip r:embed="rId4">
            <a:alphaModFix/>
          </a:blip>
          <a:srcRect l="20678" t="50723" r="46337" b="17838"/>
          <a:stretch/>
        </p:blipFill>
        <p:spPr>
          <a:xfrm>
            <a:off x="116175" y="1780288"/>
            <a:ext cx="3691950" cy="2197587"/>
          </a:xfrm>
          <a:prstGeom prst="rect">
            <a:avLst/>
          </a:prstGeom>
          <a:noFill/>
          <a:ln w="28575" cap="flat" cmpd="sng">
            <a:solidFill>
              <a:srgbClr val="00FFFF"/>
            </a:solidFill>
            <a:prstDash val="solid"/>
            <a:round/>
            <a:headEnd type="none" w="sm" len="sm"/>
            <a:tailEnd type="none" w="sm" len="sm"/>
          </a:ln>
        </p:spPr>
      </p:pic>
      <p:sp>
        <p:nvSpPr>
          <p:cNvPr id="289" name="Google Shape;289;p32"/>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290" name="Google Shape;290;p32"/>
          <p:cNvPicPr preferRelativeResize="0"/>
          <p:nvPr/>
        </p:nvPicPr>
        <p:blipFill rotWithShape="1">
          <a:blip r:embed="rId5">
            <a:alphaModFix/>
          </a:blip>
          <a:srcRect l="30711" t="5130" r="3174" b="5807"/>
          <a:stretch/>
        </p:blipFill>
        <p:spPr>
          <a:xfrm>
            <a:off x="131950" y="587388"/>
            <a:ext cx="975600" cy="517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3"/>
          <p:cNvSpPr txBox="1"/>
          <p:nvPr/>
        </p:nvSpPr>
        <p:spPr>
          <a:xfrm>
            <a:off x="4741350" y="591750"/>
            <a:ext cx="4332000" cy="67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 sz="2700" b="0" i="0" u="none" strike="noStrike" cap="none">
                <a:solidFill>
                  <a:srgbClr val="38761D"/>
                </a:solidFill>
                <a:latin typeface="Luckiest Guy"/>
                <a:ea typeface="Luckiest Guy"/>
                <a:cs typeface="Luckiest Guy"/>
                <a:sym typeface="Luckiest Guy"/>
              </a:rPr>
              <a:t>Green pen opportunity</a:t>
            </a:r>
            <a:endParaRPr sz="2700" b="0" i="0" u="none" strike="noStrike" cap="none">
              <a:solidFill>
                <a:srgbClr val="38761D"/>
              </a:solidFill>
              <a:latin typeface="Luckiest Guy"/>
              <a:ea typeface="Luckiest Guy"/>
              <a:cs typeface="Luckiest Guy"/>
              <a:sym typeface="Luckiest Guy"/>
            </a:endParaRPr>
          </a:p>
        </p:txBody>
      </p:sp>
      <p:sp>
        <p:nvSpPr>
          <p:cNvPr id="296" name="Google Shape;296;p33"/>
          <p:cNvSpPr txBox="1"/>
          <p:nvPr/>
        </p:nvSpPr>
        <p:spPr>
          <a:xfrm>
            <a:off x="123150" y="107050"/>
            <a:ext cx="8897700" cy="51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Title: How do we measure the impact of Earthquakes?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400"/>
              <a:buFont typeface="Arial"/>
              <a:buNone/>
            </a:pPr>
            <a:r>
              <a:rPr lang="en" sz="1200" b="1" i="0" u="none" strike="noStrike" cap="none">
                <a:solidFill>
                  <a:srgbClr val="980000"/>
                </a:solidFill>
                <a:latin typeface="Delius"/>
                <a:ea typeface="Delius"/>
                <a:cs typeface="Delius"/>
                <a:sym typeface="Delius"/>
              </a:rPr>
              <a:t>LO: Explain how earthquakes occur; Compare and contrast different measurement scales of seismic activity</a:t>
            </a:r>
            <a:endParaRPr sz="1200" b="1" i="0" u="none" strike="noStrike" cap="none">
              <a:solidFill>
                <a:srgbClr val="980000"/>
              </a:solidFill>
              <a:latin typeface="Delius"/>
              <a:ea typeface="Delius"/>
              <a:cs typeface="Delius"/>
              <a:sym typeface="Delius"/>
            </a:endParaRPr>
          </a:p>
        </p:txBody>
      </p:sp>
      <p:pic>
        <p:nvPicPr>
          <p:cNvPr id="297" name="Google Shape;297;p33"/>
          <p:cNvPicPr preferRelativeResize="0"/>
          <p:nvPr/>
        </p:nvPicPr>
        <p:blipFill rotWithShape="1">
          <a:blip r:embed="rId3">
            <a:alphaModFix/>
          </a:blip>
          <a:srcRect l="30711" t="5130" r="3174" b="5807"/>
          <a:stretch/>
        </p:blipFill>
        <p:spPr>
          <a:xfrm>
            <a:off x="131950" y="587388"/>
            <a:ext cx="975600" cy="517450"/>
          </a:xfrm>
          <a:prstGeom prst="rect">
            <a:avLst/>
          </a:prstGeom>
          <a:noFill/>
          <a:ln>
            <a:noFill/>
          </a:ln>
        </p:spPr>
      </p:pic>
      <p:sp>
        <p:nvSpPr>
          <p:cNvPr id="298" name="Google Shape;298;p33"/>
          <p:cNvSpPr txBox="1"/>
          <p:nvPr/>
        </p:nvSpPr>
        <p:spPr>
          <a:xfrm>
            <a:off x="131950" y="1265550"/>
            <a:ext cx="3000000" cy="301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rgbClr val="38761D"/>
                </a:solidFill>
                <a:latin typeface="Fugaz One"/>
                <a:ea typeface="Fugaz One"/>
                <a:cs typeface="Fugaz One"/>
                <a:sym typeface="Fugaz One"/>
              </a:rPr>
              <a:t>Across</a:t>
            </a:r>
            <a:br>
              <a:rPr lang="en" sz="1800" b="1">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2. Seismic</a:t>
            </a:r>
            <a:br>
              <a:rPr lang="en" sz="1800">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4. Fertile</a:t>
            </a:r>
            <a:br>
              <a:rPr lang="en" sz="1800">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7. Constructive</a:t>
            </a:r>
            <a:br>
              <a:rPr lang="en" sz="1800">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9. Immediate</a:t>
            </a:r>
            <a:br>
              <a:rPr lang="en" sz="1800">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10. Conservative</a:t>
            </a:r>
            <a:br>
              <a:rPr lang="en" sz="1800">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12. Eyjafjallajökull</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13. Crust</a:t>
            </a:r>
            <a:br>
              <a:rPr lang="en" sz="1800">
                <a:solidFill>
                  <a:srgbClr val="38761D"/>
                </a:solidFill>
                <a:latin typeface="Fugaz One"/>
                <a:ea typeface="Fugaz One"/>
                <a:cs typeface="Fugaz One"/>
                <a:sym typeface="Fugaz One"/>
              </a:rPr>
            </a:br>
            <a:r>
              <a:rPr lang="en" sz="1800">
                <a:solidFill>
                  <a:srgbClr val="38761D"/>
                </a:solidFill>
                <a:latin typeface="Fugaz One"/>
                <a:ea typeface="Fugaz One"/>
                <a:cs typeface="Fugaz One"/>
                <a:sym typeface="Fugaz One"/>
              </a:rPr>
              <a:t> 15. Pangaea</a:t>
            </a:r>
            <a:endParaRPr sz="1800">
              <a:solidFill>
                <a:srgbClr val="38761D"/>
              </a:solidFill>
              <a:latin typeface="Fugaz One"/>
              <a:ea typeface="Fugaz One"/>
              <a:cs typeface="Fugaz One"/>
              <a:sym typeface="Fugaz One"/>
            </a:endParaRPr>
          </a:p>
        </p:txBody>
      </p:sp>
      <p:sp>
        <p:nvSpPr>
          <p:cNvPr id="299" name="Google Shape;299;p33"/>
          <p:cNvSpPr txBox="1"/>
          <p:nvPr/>
        </p:nvSpPr>
        <p:spPr>
          <a:xfrm>
            <a:off x="3072000" y="1265550"/>
            <a:ext cx="3000000" cy="269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rgbClr val="38761D"/>
                </a:solidFill>
                <a:latin typeface="Fugaz One"/>
                <a:ea typeface="Fugaz One"/>
                <a:cs typeface="Fugaz One"/>
                <a:sym typeface="Fugaz One"/>
              </a:rPr>
              <a:t>Down</a:t>
            </a:r>
            <a:endParaRPr sz="1800" b="1">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1. Richter</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3. Convection</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5. Secondary</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6. Magma</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8. Mercalli</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11. Nyiragongo</a:t>
            </a:r>
            <a:endParaRPr sz="1800">
              <a:solidFill>
                <a:srgbClr val="38761D"/>
              </a:solidFill>
              <a:latin typeface="Fugaz One"/>
              <a:ea typeface="Fugaz One"/>
              <a:cs typeface="Fugaz One"/>
              <a:sym typeface="Fugaz One"/>
            </a:endParaRPr>
          </a:p>
          <a:p>
            <a:pPr marL="0" lvl="0" indent="0" algn="l" rtl="0">
              <a:lnSpc>
                <a:spcPct val="115000"/>
              </a:lnSpc>
              <a:spcBef>
                <a:spcPts val="0"/>
              </a:spcBef>
              <a:spcAft>
                <a:spcPts val="0"/>
              </a:spcAft>
              <a:buNone/>
            </a:pPr>
            <a:r>
              <a:rPr lang="en" sz="1800">
                <a:solidFill>
                  <a:srgbClr val="38761D"/>
                </a:solidFill>
                <a:latin typeface="Fugaz One"/>
                <a:ea typeface="Fugaz One"/>
                <a:cs typeface="Fugaz One"/>
                <a:sym typeface="Fugaz One"/>
              </a:rPr>
              <a:t>14. Tephra</a:t>
            </a:r>
            <a:endParaRPr sz="1800">
              <a:solidFill>
                <a:srgbClr val="38761D"/>
              </a:solidFill>
              <a:latin typeface="Fugaz One"/>
              <a:ea typeface="Fugaz One"/>
              <a:cs typeface="Fugaz One"/>
              <a:sym typeface="Fugaz On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1949</Words>
  <Application>Microsoft Macintosh PowerPoint</Application>
  <PresentationFormat>On-screen Show (16:9)</PresentationFormat>
  <Paragraphs>222</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Patrick Hand</vt:lpstr>
      <vt:lpstr>Baumans</vt:lpstr>
      <vt:lpstr>Luckiest Guy</vt:lpstr>
      <vt:lpstr>Delius</vt:lpstr>
      <vt:lpstr>Poppins</vt:lpstr>
      <vt:lpstr>Calibri</vt:lpstr>
      <vt:lpstr>Fugaz One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2</cp:revision>
  <dcterms:modified xsi:type="dcterms:W3CDTF">2026-09-22T10:48:35Z</dcterms:modified>
</cp:coreProperties>
</file>