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16"/>
  </p:notesMasterIdLst>
  <p:sldIdLst>
    <p:sldId id="256" r:id="rId2"/>
    <p:sldId id="257" r:id="rId3"/>
    <p:sldId id="258" r:id="rId4"/>
    <p:sldId id="259" r:id="rId5"/>
    <p:sldId id="261" r:id="rId6"/>
    <p:sldId id="260" r:id="rId7"/>
    <p:sldId id="262" r:id="rId8"/>
    <p:sldId id="268" r:id="rId9"/>
    <p:sldId id="263" r:id="rId10"/>
    <p:sldId id="269" r:id="rId11"/>
    <p:sldId id="264" r:id="rId12"/>
    <p:sldId id="265" r:id="rId13"/>
    <p:sldId id="266" r:id="rId14"/>
    <p:sldId id="267" r:id="rId15"/>
  </p:sldIdLst>
  <p:sldSz cx="9144000" cy="5143500" type="screen16x9"/>
  <p:notesSz cx="6858000" cy="9144000"/>
  <p:embeddedFontLst>
    <p:embeddedFont>
      <p:font typeface="Aladin" panose="02000506000000020004" pitchFamily="2" charset="77"/>
      <p:regular r:id="rId17"/>
    </p:embeddedFont>
    <p:embeddedFont>
      <p:font typeface="Baumans" panose="02000506020000020003"/>
      <p:regular r:id="rId18"/>
    </p:embeddedFont>
    <p:embeddedFont>
      <p:font typeface="Delius" panose="02000603000000000000" pitchFamily="2" charset="0"/>
      <p:regular r:id="rId19"/>
    </p:embeddedFont>
    <p:embeddedFont>
      <p:font typeface="Finger Paint" panose="020B0506040000020004" pitchFamily="34" charset="0"/>
      <p:regular r:id="rId20"/>
    </p:embeddedFont>
    <p:embeddedFont>
      <p:font typeface="Fugaz One" pitchFamily="2" charset="0"/>
      <p:regular r:id="rId21"/>
    </p:embeddedFont>
    <p:embeddedFont>
      <p:font typeface="Luckiest Guy" panose="02000506000000020004" pitchFamily="2" charset="0"/>
      <p:regular r:id="rId22"/>
    </p:embeddedFont>
    <p:embeddedFont>
      <p:font typeface="Patrick Hand" pitchFamily="2" charset="77"/>
      <p:regular r:id="rId23"/>
    </p:embeddedFont>
    <p:embeddedFont>
      <p:font typeface="Poppins" pitchFamily="2" charset="77"/>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54518D5-D848-4585-B384-A9B18F7D3DD4}">
  <a:tblStyle styleId="{754518D5-D848-4585-B384-A9B18F7D3DD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8"/>
    <p:restoredTop sz="94658"/>
  </p:normalViewPr>
  <p:slideViewPr>
    <p:cSldViewPr snapToGrid="0">
      <p:cViewPr varScale="1">
        <p:scale>
          <a:sx n="160" d="100"/>
          <a:sy n="160" d="100"/>
        </p:scale>
        <p:origin x="264" y="1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ayground.com/admin/quiz/68f0851ff3cd7371bc1edb0a/edit?at=68f0857376c361d2f8f590ae"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88483fdb9a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 name="Google Shape;65;g388483fdb9a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88483fdb9a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88483fdb9a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388483fdb9a_1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388483fdb9a_1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https://www.youtube.com/watch?v=VNGUdObDoLk</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88483fdb9a_1_1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88483fdb9a_1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https://wayground.com/admin/quiz/68f0851ff3cd7371bc1edb0a/edit?at=68f0857376c361d2f8f590ae</a:t>
            </a:r>
            <a:endParaRPr/>
          </a:p>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88483fdb9a_1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88483fdb9a_1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https://www.youtube.com/watch?v=R_pDKyg5YKY&amp;t=248s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88483fdb9a_1_187:notes"/>
          <p:cNvSpPr txBox="1">
            <a:spLocks noGrp="1"/>
          </p:cNvSpPr>
          <p:nvPr>
            <p:ph type="body" idx="1"/>
          </p:nvPr>
        </p:nvSpPr>
        <p:spPr>
          <a:xfrm>
            <a:off x="685480" y="4400181"/>
            <a:ext cx="5487000" cy="36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 name="Google Shape;103;g388483fdb9a_1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88483fdb9a_1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88483fdb9a_1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https://www.youtube.com/watch?v=VNGUdObDoLk</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0F01BC1D-558D-999F-27C2-A953CBB7C7A3}"/>
            </a:ext>
          </a:extLst>
        </p:cNvPr>
        <p:cNvGrpSpPr/>
        <p:nvPr/>
      </p:nvGrpSpPr>
      <p:grpSpPr>
        <a:xfrm>
          <a:off x="0" y="0"/>
          <a:ext cx="0" cy="0"/>
          <a:chOff x="0" y="0"/>
          <a:chExt cx="0" cy="0"/>
        </a:xfrm>
      </p:grpSpPr>
      <p:sp>
        <p:nvSpPr>
          <p:cNvPr id="130" name="Google Shape;130;g388483fdb9a_1_85:notes">
            <a:extLst>
              <a:ext uri="{FF2B5EF4-FFF2-40B4-BE49-F238E27FC236}">
                <a16:creationId xmlns:a16="http://schemas.microsoft.com/office/drawing/2014/main" id="{3FC79319-A1BC-215D-5C72-7A640BAE51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88483fdb9a_1_85:notes">
            <a:extLst>
              <a:ext uri="{FF2B5EF4-FFF2-40B4-BE49-F238E27FC236}">
                <a16:creationId xmlns:a16="http://schemas.microsoft.com/office/drawing/2014/main" id="{E806F36B-91FE-AED1-46F0-B85F22615E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https://www.youtube.com/watch?v=VNGUdObDoLk</a:t>
            </a:r>
            <a:endParaRPr/>
          </a:p>
        </p:txBody>
      </p:sp>
    </p:spTree>
    <p:extLst>
      <p:ext uri="{BB962C8B-B14F-4D97-AF65-F5344CB8AC3E}">
        <p14:creationId xmlns:p14="http://schemas.microsoft.com/office/powerpoint/2010/main" val="4097290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7cedb9e64b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7cedb9e64b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B1F5A12E-2269-2065-2F5A-C398E866047D}"/>
            </a:ext>
          </a:extLst>
        </p:cNvPr>
        <p:cNvGrpSpPr/>
        <p:nvPr/>
      </p:nvGrpSpPr>
      <p:grpSpPr>
        <a:xfrm>
          <a:off x="0" y="0"/>
          <a:ext cx="0" cy="0"/>
          <a:chOff x="0" y="0"/>
          <a:chExt cx="0" cy="0"/>
        </a:xfrm>
      </p:grpSpPr>
      <p:sp>
        <p:nvSpPr>
          <p:cNvPr id="143" name="Google Shape;143;g37cedb9e64b_0_19:notes">
            <a:extLst>
              <a:ext uri="{FF2B5EF4-FFF2-40B4-BE49-F238E27FC236}">
                <a16:creationId xmlns:a16="http://schemas.microsoft.com/office/drawing/2014/main" id="{87738B9A-B5FB-429E-52F8-F6F8852B42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7cedb9e64b_0_19:notes">
            <a:extLst>
              <a:ext uri="{FF2B5EF4-FFF2-40B4-BE49-F238E27FC236}">
                <a16:creationId xmlns:a16="http://schemas.microsoft.com/office/drawing/2014/main" id="{E7B15650-7926-5868-9362-CFEF5EA54A0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58039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7cedb9e64b_0_1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37cedb9e64b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https://dashboard.blooket.com/set/68b116266e3af35fc52bd327</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7cedb9e64b_0_1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37cedb9e64b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https://dashboard.blooket.com/set/68b116266e3af35fc52bd327</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7cedb9e64b_0_1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37cedb9e64b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https://dashboard.blooket.com/set/68b116266e3af35fc52bd327</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7cedb9e64b_0_1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7cedb9e64b_0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https://dashboard.blooket.com/set/68c0c9d693edbe01bde4a622</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629842" y="273845"/>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3"/>
          <p:cNvSpPr txBox="1">
            <a:spLocks noGrp="1"/>
          </p:cNvSpPr>
          <p:nvPr>
            <p:ph type="body" idx="1"/>
          </p:nvPr>
        </p:nvSpPr>
        <p:spPr>
          <a:xfrm>
            <a:off x="629841" y="1260872"/>
            <a:ext cx="38685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1200"/>
              </a:spcBef>
              <a:spcAft>
                <a:spcPts val="0"/>
              </a:spcAft>
              <a:buClr>
                <a:schemeClr val="dk1"/>
              </a:buClr>
              <a:buSzPts val="1500"/>
              <a:buNone/>
              <a:defRPr sz="1500" b="1"/>
            </a:lvl2pPr>
            <a:lvl3pPr marL="1371600" lvl="2" indent="-228600" algn="l">
              <a:lnSpc>
                <a:spcPct val="90000"/>
              </a:lnSpc>
              <a:spcBef>
                <a:spcPts val="1200"/>
              </a:spcBef>
              <a:spcAft>
                <a:spcPts val="0"/>
              </a:spcAft>
              <a:buClr>
                <a:schemeClr val="dk1"/>
              </a:buClr>
              <a:buSzPts val="1400"/>
              <a:buNone/>
              <a:defRPr sz="1400" b="1"/>
            </a:lvl3pPr>
            <a:lvl4pPr marL="1828800" lvl="3" indent="-228600" algn="l">
              <a:lnSpc>
                <a:spcPct val="90000"/>
              </a:lnSpc>
              <a:spcBef>
                <a:spcPts val="1200"/>
              </a:spcBef>
              <a:spcAft>
                <a:spcPts val="0"/>
              </a:spcAft>
              <a:buClr>
                <a:schemeClr val="dk1"/>
              </a:buClr>
              <a:buSzPts val="1200"/>
              <a:buNone/>
              <a:defRPr sz="1200" b="1"/>
            </a:lvl4pPr>
            <a:lvl5pPr marL="2286000" lvl="4" indent="-228600" algn="l">
              <a:lnSpc>
                <a:spcPct val="90000"/>
              </a:lnSpc>
              <a:spcBef>
                <a:spcPts val="1200"/>
              </a:spcBef>
              <a:spcAft>
                <a:spcPts val="0"/>
              </a:spcAft>
              <a:buClr>
                <a:schemeClr val="dk1"/>
              </a:buClr>
              <a:buSzPts val="1200"/>
              <a:buNone/>
              <a:defRPr sz="1200" b="1"/>
            </a:lvl5pPr>
            <a:lvl6pPr marL="2743200" lvl="5" indent="-228600" algn="l">
              <a:lnSpc>
                <a:spcPct val="90000"/>
              </a:lnSpc>
              <a:spcBef>
                <a:spcPts val="1200"/>
              </a:spcBef>
              <a:spcAft>
                <a:spcPts val="0"/>
              </a:spcAft>
              <a:buClr>
                <a:schemeClr val="dk1"/>
              </a:buClr>
              <a:buSzPts val="1200"/>
              <a:buNone/>
              <a:defRPr sz="1200" b="1"/>
            </a:lvl6pPr>
            <a:lvl7pPr marL="3200400" lvl="6" indent="-228600" algn="l">
              <a:lnSpc>
                <a:spcPct val="90000"/>
              </a:lnSpc>
              <a:spcBef>
                <a:spcPts val="1200"/>
              </a:spcBef>
              <a:spcAft>
                <a:spcPts val="0"/>
              </a:spcAft>
              <a:buClr>
                <a:schemeClr val="dk1"/>
              </a:buClr>
              <a:buSzPts val="1200"/>
              <a:buNone/>
              <a:defRPr sz="1200" b="1"/>
            </a:lvl7pPr>
            <a:lvl8pPr marL="3657600" lvl="7" indent="-228600" algn="l">
              <a:lnSpc>
                <a:spcPct val="90000"/>
              </a:lnSpc>
              <a:spcBef>
                <a:spcPts val="1200"/>
              </a:spcBef>
              <a:spcAft>
                <a:spcPts val="0"/>
              </a:spcAft>
              <a:buClr>
                <a:schemeClr val="dk1"/>
              </a:buClr>
              <a:buSzPts val="1200"/>
              <a:buNone/>
              <a:defRPr sz="1200" b="1"/>
            </a:lvl8pPr>
            <a:lvl9pPr marL="4114800" lvl="8" indent="-228600" algn="l">
              <a:lnSpc>
                <a:spcPct val="90000"/>
              </a:lnSpc>
              <a:spcBef>
                <a:spcPts val="1200"/>
              </a:spcBef>
              <a:spcAft>
                <a:spcPts val="1200"/>
              </a:spcAft>
              <a:buClr>
                <a:schemeClr val="dk1"/>
              </a:buClr>
              <a:buSzPts val="1200"/>
              <a:buNone/>
              <a:defRPr sz="1200" b="1"/>
            </a:lvl9pPr>
          </a:lstStyle>
          <a:p>
            <a:endParaRPr/>
          </a:p>
        </p:txBody>
      </p:sp>
      <p:sp>
        <p:nvSpPr>
          <p:cNvPr id="16" name="Google Shape;16;p3"/>
          <p:cNvSpPr txBox="1">
            <a:spLocks noGrp="1"/>
          </p:cNvSpPr>
          <p:nvPr>
            <p:ph type="body" idx="2"/>
          </p:nvPr>
        </p:nvSpPr>
        <p:spPr>
          <a:xfrm>
            <a:off x="629841" y="1878806"/>
            <a:ext cx="3868500" cy="2763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1200"/>
              </a:spcBef>
              <a:spcAft>
                <a:spcPts val="0"/>
              </a:spcAft>
              <a:buClr>
                <a:schemeClr val="dk1"/>
              </a:buClr>
              <a:buSzPts val="1400"/>
              <a:buChar char="○"/>
              <a:defRPr/>
            </a:lvl2pPr>
            <a:lvl3pPr marL="1371600" lvl="2" indent="-317500" algn="l">
              <a:lnSpc>
                <a:spcPct val="90000"/>
              </a:lnSpc>
              <a:spcBef>
                <a:spcPts val="1200"/>
              </a:spcBef>
              <a:spcAft>
                <a:spcPts val="0"/>
              </a:spcAft>
              <a:buClr>
                <a:schemeClr val="dk1"/>
              </a:buClr>
              <a:buSzPts val="1400"/>
              <a:buChar char="■"/>
              <a:defRPr/>
            </a:lvl3pPr>
            <a:lvl4pPr marL="1828800" lvl="3" indent="-317500" algn="l">
              <a:lnSpc>
                <a:spcPct val="90000"/>
              </a:lnSpc>
              <a:spcBef>
                <a:spcPts val="1200"/>
              </a:spcBef>
              <a:spcAft>
                <a:spcPts val="0"/>
              </a:spcAft>
              <a:buClr>
                <a:schemeClr val="dk1"/>
              </a:buClr>
              <a:buSzPts val="1400"/>
              <a:buChar char="●"/>
              <a:defRPr/>
            </a:lvl4pPr>
            <a:lvl5pPr marL="2286000" lvl="4" indent="-317500" algn="l">
              <a:lnSpc>
                <a:spcPct val="9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a:endParaRPr/>
          </a:p>
        </p:txBody>
      </p:sp>
      <p:sp>
        <p:nvSpPr>
          <p:cNvPr id="17" name="Google Shape;17;p3"/>
          <p:cNvSpPr txBox="1">
            <a:spLocks noGrp="1"/>
          </p:cNvSpPr>
          <p:nvPr>
            <p:ph type="body" idx="3"/>
          </p:nvPr>
        </p:nvSpPr>
        <p:spPr>
          <a:xfrm>
            <a:off x="4629150" y="1260872"/>
            <a:ext cx="38874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1200"/>
              </a:spcBef>
              <a:spcAft>
                <a:spcPts val="0"/>
              </a:spcAft>
              <a:buClr>
                <a:schemeClr val="dk1"/>
              </a:buClr>
              <a:buSzPts val="1500"/>
              <a:buNone/>
              <a:defRPr sz="1500" b="1"/>
            </a:lvl2pPr>
            <a:lvl3pPr marL="1371600" lvl="2" indent="-228600" algn="l">
              <a:lnSpc>
                <a:spcPct val="90000"/>
              </a:lnSpc>
              <a:spcBef>
                <a:spcPts val="1200"/>
              </a:spcBef>
              <a:spcAft>
                <a:spcPts val="0"/>
              </a:spcAft>
              <a:buClr>
                <a:schemeClr val="dk1"/>
              </a:buClr>
              <a:buSzPts val="1400"/>
              <a:buNone/>
              <a:defRPr sz="1400" b="1"/>
            </a:lvl3pPr>
            <a:lvl4pPr marL="1828800" lvl="3" indent="-228600" algn="l">
              <a:lnSpc>
                <a:spcPct val="90000"/>
              </a:lnSpc>
              <a:spcBef>
                <a:spcPts val="1200"/>
              </a:spcBef>
              <a:spcAft>
                <a:spcPts val="0"/>
              </a:spcAft>
              <a:buClr>
                <a:schemeClr val="dk1"/>
              </a:buClr>
              <a:buSzPts val="1200"/>
              <a:buNone/>
              <a:defRPr sz="1200" b="1"/>
            </a:lvl4pPr>
            <a:lvl5pPr marL="2286000" lvl="4" indent="-228600" algn="l">
              <a:lnSpc>
                <a:spcPct val="90000"/>
              </a:lnSpc>
              <a:spcBef>
                <a:spcPts val="1200"/>
              </a:spcBef>
              <a:spcAft>
                <a:spcPts val="0"/>
              </a:spcAft>
              <a:buClr>
                <a:schemeClr val="dk1"/>
              </a:buClr>
              <a:buSzPts val="1200"/>
              <a:buNone/>
              <a:defRPr sz="1200" b="1"/>
            </a:lvl5pPr>
            <a:lvl6pPr marL="2743200" lvl="5" indent="-228600" algn="l">
              <a:lnSpc>
                <a:spcPct val="90000"/>
              </a:lnSpc>
              <a:spcBef>
                <a:spcPts val="1200"/>
              </a:spcBef>
              <a:spcAft>
                <a:spcPts val="0"/>
              </a:spcAft>
              <a:buClr>
                <a:schemeClr val="dk1"/>
              </a:buClr>
              <a:buSzPts val="1200"/>
              <a:buNone/>
              <a:defRPr sz="1200" b="1"/>
            </a:lvl6pPr>
            <a:lvl7pPr marL="3200400" lvl="6" indent="-228600" algn="l">
              <a:lnSpc>
                <a:spcPct val="90000"/>
              </a:lnSpc>
              <a:spcBef>
                <a:spcPts val="1200"/>
              </a:spcBef>
              <a:spcAft>
                <a:spcPts val="0"/>
              </a:spcAft>
              <a:buClr>
                <a:schemeClr val="dk1"/>
              </a:buClr>
              <a:buSzPts val="1200"/>
              <a:buNone/>
              <a:defRPr sz="1200" b="1"/>
            </a:lvl7pPr>
            <a:lvl8pPr marL="3657600" lvl="7" indent="-228600" algn="l">
              <a:lnSpc>
                <a:spcPct val="90000"/>
              </a:lnSpc>
              <a:spcBef>
                <a:spcPts val="1200"/>
              </a:spcBef>
              <a:spcAft>
                <a:spcPts val="0"/>
              </a:spcAft>
              <a:buClr>
                <a:schemeClr val="dk1"/>
              </a:buClr>
              <a:buSzPts val="1200"/>
              <a:buNone/>
              <a:defRPr sz="1200" b="1"/>
            </a:lvl8pPr>
            <a:lvl9pPr marL="4114800" lvl="8" indent="-228600" algn="l">
              <a:lnSpc>
                <a:spcPct val="90000"/>
              </a:lnSpc>
              <a:spcBef>
                <a:spcPts val="1200"/>
              </a:spcBef>
              <a:spcAft>
                <a:spcPts val="1200"/>
              </a:spcAft>
              <a:buClr>
                <a:schemeClr val="dk1"/>
              </a:buClr>
              <a:buSzPts val="1200"/>
              <a:buNone/>
              <a:defRPr sz="1200" b="1"/>
            </a:lvl9pPr>
          </a:lstStyle>
          <a:p>
            <a:endParaRPr/>
          </a:p>
        </p:txBody>
      </p:sp>
      <p:sp>
        <p:nvSpPr>
          <p:cNvPr id="18" name="Google Shape;18;p3"/>
          <p:cNvSpPr txBox="1">
            <a:spLocks noGrp="1"/>
          </p:cNvSpPr>
          <p:nvPr>
            <p:ph type="body" idx="4"/>
          </p:nvPr>
        </p:nvSpPr>
        <p:spPr>
          <a:xfrm>
            <a:off x="4629150" y="1878806"/>
            <a:ext cx="3887400" cy="2763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1200"/>
              </a:spcBef>
              <a:spcAft>
                <a:spcPts val="0"/>
              </a:spcAft>
              <a:buClr>
                <a:schemeClr val="dk1"/>
              </a:buClr>
              <a:buSzPts val="1400"/>
              <a:buChar char="○"/>
              <a:defRPr/>
            </a:lvl2pPr>
            <a:lvl3pPr marL="1371600" lvl="2" indent="-317500" algn="l">
              <a:lnSpc>
                <a:spcPct val="90000"/>
              </a:lnSpc>
              <a:spcBef>
                <a:spcPts val="1200"/>
              </a:spcBef>
              <a:spcAft>
                <a:spcPts val="0"/>
              </a:spcAft>
              <a:buClr>
                <a:schemeClr val="dk1"/>
              </a:buClr>
              <a:buSzPts val="1400"/>
              <a:buChar char="■"/>
              <a:defRPr/>
            </a:lvl3pPr>
            <a:lvl4pPr marL="1828800" lvl="3" indent="-317500" algn="l">
              <a:lnSpc>
                <a:spcPct val="90000"/>
              </a:lnSpc>
              <a:spcBef>
                <a:spcPts val="1200"/>
              </a:spcBef>
              <a:spcAft>
                <a:spcPts val="0"/>
              </a:spcAft>
              <a:buClr>
                <a:schemeClr val="dk1"/>
              </a:buClr>
              <a:buSzPts val="1400"/>
              <a:buChar char="●"/>
              <a:defRPr/>
            </a:lvl4pPr>
            <a:lvl5pPr marL="2286000" lvl="4" indent="-317500" algn="l">
              <a:lnSpc>
                <a:spcPct val="9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a:endParaRPr/>
          </a:p>
        </p:txBody>
      </p:sp>
      <p:sp>
        <p:nvSpPr>
          <p:cNvPr id="19" name="Google Shape;19;p3"/>
          <p:cNvSpPr txBox="1">
            <a:spLocks noGrp="1"/>
          </p:cNvSpPr>
          <p:nvPr>
            <p:ph type="dt" idx="10"/>
          </p:nvPr>
        </p:nvSpPr>
        <p:spPr>
          <a:xfrm>
            <a:off x="628651" y="4767264"/>
            <a:ext cx="2057400" cy="273900"/>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20" name="Google Shape;20;p3"/>
          <p:cNvSpPr txBox="1">
            <a:spLocks noGrp="1"/>
          </p:cNvSpPr>
          <p:nvPr>
            <p:ph type="ftr" idx="11"/>
          </p:nvPr>
        </p:nvSpPr>
        <p:spPr>
          <a:xfrm>
            <a:off x="3028951" y="4767264"/>
            <a:ext cx="3086100" cy="273900"/>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21" name="Google Shape;21;p3"/>
          <p:cNvSpPr txBox="1">
            <a:spLocks noGrp="1"/>
          </p:cNvSpPr>
          <p:nvPr>
            <p:ph type="sldNum" idx="12"/>
          </p:nvPr>
        </p:nvSpPr>
        <p:spPr>
          <a:xfrm>
            <a:off x="6457951" y="4767264"/>
            <a:ext cx="2057400" cy="273900"/>
          </a:xfrm>
          <a:prstGeom prst="rect">
            <a:avLst/>
          </a:prstGeom>
          <a:noFill/>
          <a:ln>
            <a:noFill/>
          </a:ln>
        </p:spPr>
        <p:txBody>
          <a:bodyPr spcFirstLastPara="1" wrap="square" lIns="68575" tIns="34275" rIns="68575" bIns="3427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2"/>
        <p:cNvGrpSpPr/>
        <p:nvPr/>
      </p:nvGrpSpPr>
      <p:grpSpPr>
        <a:xfrm>
          <a:off x="0" y="0"/>
          <a:ext cx="0" cy="0"/>
          <a:chOff x="0" y="0"/>
          <a:chExt cx="0" cy="0"/>
        </a:xfrm>
      </p:grpSpPr>
      <p:sp>
        <p:nvSpPr>
          <p:cNvPr id="23" name="Google Shape;23;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6" name="Google Shape;26;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9" name="Google Shape;29;p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0" name="Google Shape;30;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3" name="Google Shape;33;p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4" name="Google Shape;34;p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5" name="Google Shape;35;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8" name="Google Shape;38;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9"/>
        <p:cNvGrpSpPr/>
        <p:nvPr/>
      </p:nvGrpSpPr>
      <p:grpSpPr>
        <a:xfrm>
          <a:off x="0" y="0"/>
          <a:ext cx="0" cy="0"/>
          <a:chOff x="0" y="0"/>
          <a:chExt cx="0" cy="0"/>
        </a:xfrm>
      </p:grpSpPr>
      <p:sp>
        <p:nvSpPr>
          <p:cNvPr id="40" name="Google Shape;40;p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1" name="Google Shape;41;p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2" name="Google Shape;42;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3"/>
        <p:cNvGrpSpPr/>
        <p:nvPr/>
      </p:nvGrpSpPr>
      <p:grpSpPr>
        <a:xfrm>
          <a:off x="0" y="0"/>
          <a:ext cx="0" cy="0"/>
          <a:chOff x="0" y="0"/>
          <a:chExt cx="0" cy="0"/>
        </a:xfrm>
      </p:grpSpPr>
      <p:sp>
        <p:nvSpPr>
          <p:cNvPr id="44" name="Google Shape;44;p1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5" name="Google Shape;45;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6"/>
        <p:cNvGrpSpPr/>
        <p:nvPr/>
      </p:nvGrpSpPr>
      <p:grpSpPr>
        <a:xfrm>
          <a:off x="0" y="0"/>
          <a:ext cx="0" cy="0"/>
          <a:chOff x="0" y="0"/>
          <a:chExt cx="0" cy="0"/>
        </a:xfrm>
      </p:grpSpPr>
      <p:sp>
        <p:nvSpPr>
          <p:cNvPr id="47" name="Google Shape;47;p1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 name="Google Shape;48;p1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9" name="Google Shape;49;p1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Google Shape;50;p1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1" name="Google Shape;51;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4" name="Google Shape;54;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5"/>
        <p:cNvGrpSpPr/>
        <p:nvPr/>
      </p:nvGrpSpPr>
      <p:grpSpPr>
        <a:xfrm>
          <a:off x="0" y="0"/>
          <a:ext cx="0" cy="0"/>
          <a:chOff x="0" y="0"/>
          <a:chExt cx="0" cy="0"/>
        </a:xfrm>
      </p:grpSpPr>
      <p:sp>
        <p:nvSpPr>
          <p:cNvPr id="56" name="Google Shape;56;p1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7" name="Google Shape;57;p1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58" name="Google Shape;58;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_1">
  <p:cSld name="TITLE_1">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61" name="Google Shape;61;p14"/>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62" name="Google Shape;62;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F4CCCC"/>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3.jpg"/><Relationship Id="rId5" Type="http://schemas.openxmlformats.org/officeDocument/2006/relationships/hyperlink" Target="http://www.youtube.com/watch?v=qgnDbQ1aM54" TargetMode="External"/><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video" Target="https://www.youtube.com/embed/VNGUdObDoLk?feature=oembed" TargetMode="External"/><Relationship Id="rId5" Type="http://schemas.openxmlformats.org/officeDocument/2006/relationships/image" Target="../media/image8.jpe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video" Target="https://www.youtube.com/embed/R_pDKyg5YKY?feature=oembed" TargetMode="External"/><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8" Type="http://schemas.openxmlformats.org/officeDocument/2006/relationships/image" Target="../media/image15.gif"/><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6.jpg"/><Relationship Id="rId4" Type="http://schemas.openxmlformats.org/officeDocument/2006/relationships/image" Target="../media/image11.png"/><Relationship Id="rId9" Type="http://schemas.openxmlformats.org/officeDocument/2006/relationships/hyperlink" Target="http://www.youtube.com/watch?v=tuVa27WISyo"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15.gif"/><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15.gif"/><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hyperlink" Target="https://dashboard.blooket.com/set/68c0c9d693edbe01bde4a62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p:nvPr/>
        </p:nvSpPr>
        <p:spPr>
          <a:xfrm>
            <a:off x="153525" y="624775"/>
            <a:ext cx="4891500" cy="595800"/>
          </a:xfrm>
          <a:prstGeom prst="rect">
            <a:avLst/>
          </a:prstGeom>
          <a:solidFill>
            <a:srgbClr val="CFE2F3"/>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500" b="1" i="0" u="sng" strike="noStrike" cap="none">
                <a:solidFill>
                  <a:srgbClr val="000000"/>
                </a:solidFill>
                <a:latin typeface="Poppins"/>
                <a:ea typeface="Poppins"/>
                <a:cs typeface="Poppins"/>
                <a:sym typeface="Poppins"/>
              </a:rPr>
              <a:t>Date:</a:t>
            </a:r>
            <a:r>
              <a:rPr lang="en" sz="1500" b="1" i="0" strike="noStrike" cap="none">
                <a:solidFill>
                  <a:srgbClr val="000000"/>
                </a:solidFill>
                <a:latin typeface="Poppins"/>
                <a:ea typeface="Poppins"/>
                <a:cs typeface="Poppins"/>
                <a:sym typeface="Poppins"/>
              </a:rPr>
              <a:t> </a:t>
            </a:r>
            <a:r>
              <a:rPr lang="en" sz="1500" b="1">
                <a:latin typeface="Poppins"/>
                <a:ea typeface="Poppins"/>
                <a:cs typeface="Poppins"/>
                <a:sym typeface="Poppins"/>
              </a:rPr>
              <a:t>Thursday</a:t>
            </a:r>
            <a:r>
              <a:rPr lang="en" sz="1500" b="1" i="0" strike="noStrike" cap="none">
                <a:solidFill>
                  <a:srgbClr val="000000"/>
                </a:solidFill>
                <a:latin typeface="Poppins"/>
                <a:ea typeface="Poppins"/>
                <a:cs typeface="Poppins"/>
                <a:sym typeface="Poppins"/>
              </a:rPr>
              <a:t> </a:t>
            </a:r>
            <a:r>
              <a:rPr lang="en" sz="1500" b="1">
                <a:latin typeface="Poppins"/>
                <a:ea typeface="Poppins"/>
                <a:cs typeface="Poppins"/>
                <a:sym typeface="Poppins"/>
              </a:rPr>
              <a:t>16th</a:t>
            </a:r>
            <a:r>
              <a:rPr lang="en" sz="1500" b="1" i="0" strike="noStrike" cap="none">
                <a:solidFill>
                  <a:srgbClr val="000000"/>
                </a:solidFill>
                <a:latin typeface="Poppins"/>
                <a:ea typeface="Poppins"/>
                <a:cs typeface="Poppins"/>
                <a:sym typeface="Poppins"/>
              </a:rPr>
              <a:t> </a:t>
            </a:r>
            <a:r>
              <a:rPr lang="en" sz="1500" b="1">
                <a:latin typeface="Poppins"/>
                <a:ea typeface="Poppins"/>
                <a:cs typeface="Poppins"/>
                <a:sym typeface="Poppins"/>
              </a:rPr>
              <a:t>October</a:t>
            </a:r>
            <a:r>
              <a:rPr lang="en" sz="1500" b="1" i="0" strike="noStrike" cap="none">
                <a:solidFill>
                  <a:srgbClr val="000000"/>
                </a:solidFill>
                <a:latin typeface="Poppins"/>
                <a:ea typeface="Poppins"/>
                <a:cs typeface="Poppins"/>
                <a:sym typeface="Poppins"/>
              </a:rPr>
              <a:t> 202</a:t>
            </a:r>
            <a:r>
              <a:rPr lang="en" sz="1500" b="1">
                <a:latin typeface="Poppins"/>
                <a:ea typeface="Poppins"/>
                <a:cs typeface="Poppins"/>
                <a:sym typeface="Poppins"/>
              </a:rPr>
              <a:t>5</a:t>
            </a:r>
            <a:endParaRPr sz="1500" b="1" i="0"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800"/>
              <a:buFont typeface="Arial"/>
              <a:buNone/>
            </a:pPr>
            <a:r>
              <a:rPr lang="en" sz="1500" b="1" i="0" u="sng" strike="noStrike" cap="none">
                <a:solidFill>
                  <a:srgbClr val="000000"/>
                </a:solidFill>
                <a:latin typeface="Poppins"/>
                <a:ea typeface="Poppins"/>
                <a:cs typeface="Poppins"/>
                <a:sym typeface="Poppins"/>
              </a:rPr>
              <a:t>Title:</a:t>
            </a:r>
            <a:r>
              <a:rPr lang="en" sz="1500" b="1" i="0" strike="noStrike" cap="none">
                <a:solidFill>
                  <a:srgbClr val="000000"/>
                </a:solidFill>
                <a:latin typeface="Poppins"/>
                <a:ea typeface="Poppins"/>
                <a:cs typeface="Poppins"/>
                <a:sym typeface="Poppins"/>
              </a:rPr>
              <a:t> </a:t>
            </a:r>
            <a:r>
              <a:rPr lang="en" sz="1500" b="1">
                <a:latin typeface="Poppins"/>
                <a:ea typeface="Poppins"/>
                <a:cs typeface="Poppins"/>
                <a:sym typeface="Poppins"/>
              </a:rPr>
              <a:t>What makes volcanoes hazardous?</a:t>
            </a:r>
            <a:endParaRPr sz="1500" b="1" i="0" strike="noStrike" cap="none">
              <a:solidFill>
                <a:srgbClr val="000000"/>
              </a:solidFill>
              <a:latin typeface="Poppins"/>
              <a:ea typeface="Poppins"/>
              <a:cs typeface="Poppins"/>
              <a:sym typeface="Poppins"/>
            </a:endParaRPr>
          </a:p>
        </p:txBody>
      </p:sp>
      <p:sp>
        <p:nvSpPr>
          <p:cNvPr id="68" name="Google Shape;68;p15"/>
          <p:cNvSpPr txBox="1"/>
          <p:nvPr/>
        </p:nvSpPr>
        <p:spPr>
          <a:xfrm>
            <a:off x="106800" y="1285950"/>
            <a:ext cx="5477400" cy="3050700"/>
          </a:xfrm>
          <a:prstGeom prst="rect">
            <a:avLst/>
          </a:prstGeom>
          <a:solidFill>
            <a:srgbClr val="FFF2C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200"/>
              <a:buFont typeface="Arial"/>
              <a:buNone/>
            </a:pPr>
            <a:endParaRPr sz="22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200"/>
              <a:buFont typeface="Arial"/>
              <a:buNone/>
            </a:pPr>
            <a:endParaRPr sz="2200" b="1" i="0" u="none" strike="noStrike" cap="none">
              <a:solidFill>
                <a:srgbClr val="000000"/>
              </a:solidFill>
              <a:latin typeface="Calibri"/>
              <a:ea typeface="Calibri"/>
              <a:cs typeface="Calibri"/>
              <a:sym typeface="Calibri"/>
            </a:endParaRPr>
          </a:p>
          <a:p>
            <a:pPr marL="0" marR="0" lvl="0" indent="0" algn="l" rtl="0">
              <a:lnSpc>
                <a:spcPct val="115000"/>
              </a:lnSpc>
              <a:spcBef>
                <a:spcPts val="0"/>
              </a:spcBef>
              <a:spcAft>
                <a:spcPts val="0"/>
              </a:spcAft>
              <a:buNone/>
            </a:pPr>
            <a:r>
              <a:rPr lang="en" sz="1600" b="1">
                <a:latin typeface="Poppins"/>
                <a:ea typeface="Poppins"/>
                <a:cs typeface="Poppins"/>
                <a:sym typeface="Poppins"/>
              </a:rPr>
              <a:t>Last Lesson: </a:t>
            </a:r>
            <a:r>
              <a:rPr lang="en" sz="1600">
                <a:latin typeface="Poppins"/>
                <a:ea typeface="Poppins"/>
                <a:cs typeface="Poppins"/>
                <a:sym typeface="Poppins"/>
              </a:rPr>
              <a:t>What 4 pieces of evidence did Wegener use to support his idea of continental drift?</a:t>
            </a:r>
            <a:endParaRPr sz="1600" b="1">
              <a:latin typeface="Poppins"/>
              <a:ea typeface="Poppins"/>
              <a:cs typeface="Poppins"/>
              <a:sym typeface="Poppins"/>
            </a:endParaRPr>
          </a:p>
          <a:p>
            <a:pPr marL="0" marR="0" lvl="0" indent="0" algn="l" rtl="0">
              <a:lnSpc>
                <a:spcPct val="115000"/>
              </a:lnSpc>
              <a:spcBef>
                <a:spcPts val="0"/>
              </a:spcBef>
              <a:spcAft>
                <a:spcPts val="0"/>
              </a:spcAft>
              <a:buNone/>
            </a:pPr>
            <a:r>
              <a:rPr lang="en" sz="1600" b="1">
                <a:latin typeface="Poppins"/>
                <a:ea typeface="Poppins"/>
                <a:cs typeface="Poppins"/>
                <a:sym typeface="Poppins"/>
              </a:rPr>
              <a:t>Last Lesson: </a:t>
            </a:r>
            <a:r>
              <a:rPr lang="en" sz="1600">
                <a:latin typeface="Poppins"/>
                <a:ea typeface="Poppins"/>
                <a:cs typeface="Poppins"/>
                <a:sym typeface="Poppins"/>
              </a:rPr>
              <a:t>How do convection currents cause tectonic plates to move?</a:t>
            </a:r>
            <a:endParaRPr sz="1600" b="1">
              <a:latin typeface="Poppins"/>
              <a:ea typeface="Poppins"/>
              <a:cs typeface="Poppins"/>
              <a:sym typeface="Poppins"/>
            </a:endParaRPr>
          </a:p>
          <a:p>
            <a:pPr marL="0" marR="0" lvl="0" indent="0" algn="l" rtl="0">
              <a:lnSpc>
                <a:spcPct val="115000"/>
              </a:lnSpc>
              <a:spcBef>
                <a:spcPts val="0"/>
              </a:spcBef>
              <a:spcAft>
                <a:spcPts val="0"/>
              </a:spcAft>
              <a:buNone/>
            </a:pPr>
            <a:r>
              <a:rPr lang="en" sz="1600" b="1">
                <a:latin typeface="Poppins"/>
                <a:ea typeface="Poppins"/>
                <a:cs typeface="Poppins"/>
                <a:sym typeface="Poppins"/>
              </a:rPr>
              <a:t>Two Weeks: </a:t>
            </a:r>
            <a:r>
              <a:rPr lang="en" sz="1600">
                <a:latin typeface="Poppins"/>
                <a:ea typeface="Poppins"/>
                <a:cs typeface="Poppins"/>
                <a:sym typeface="Poppins"/>
              </a:rPr>
              <a:t>What is the difference between a destructive plate boundary and a collision plate boundary?</a:t>
            </a:r>
            <a:endParaRPr sz="1600">
              <a:latin typeface="Poppins"/>
              <a:ea typeface="Poppins"/>
              <a:cs typeface="Poppins"/>
              <a:sym typeface="Poppins"/>
            </a:endParaRPr>
          </a:p>
        </p:txBody>
      </p:sp>
      <p:pic>
        <p:nvPicPr>
          <p:cNvPr id="69" name="Google Shape;69;p15"/>
          <p:cNvPicPr preferRelativeResize="0"/>
          <p:nvPr/>
        </p:nvPicPr>
        <p:blipFill>
          <a:blip r:embed="rId3">
            <a:alphaModFix/>
          </a:blip>
          <a:stretch>
            <a:fillRect/>
          </a:stretch>
        </p:blipFill>
        <p:spPr>
          <a:xfrm>
            <a:off x="225576" y="1442250"/>
            <a:ext cx="756925" cy="543250"/>
          </a:xfrm>
          <a:prstGeom prst="rect">
            <a:avLst/>
          </a:prstGeom>
          <a:noFill/>
          <a:ln>
            <a:noFill/>
          </a:ln>
        </p:spPr>
      </p:pic>
      <p:sp>
        <p:nvSpPr>
          <p:cNvPr id="70" name="Google Shape;70;p15"/>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What makes volcanoes hazardous?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Analyse different volcanic hazards in order to assess which is most dangerous</a:t>
            </a:r>
            <a:endParaRPr sz="1200" b="1" i="0" u="none" strike="noStrike" cap="none">
              <a:solidFill>
                <a:srgbClr val="980000"/>
              </a:solidFill>
              <a:latin typeface="Delius"/>
              <a:ea typeface="Delius"/>
              <a:cs typeface="Delius"/>
              <a:sym typeface="Delius"/>
            </a:endParaRPr>
          </a:p>
        </p:txBody>
      </p:sp>
      <p:pic>
        <p:nvPicPr>
          <p:cNvPr id="71" name="Google Shape;71;p15"/>
          <p:cNvPicPr preferRelativeResize="0"/>
          <p:nvPr/>
        </p:nvPicPr>
        <p:blipFill rotWithShape="1">
          <a:blip r:embed="rId4">
            <a:alphaModFix/>
          </a:blip>
          <a:srcRect/>
          <a:stretch/>
        </p:blipFill>
        <p:spPr>
          <a:xfrm>
            <a:off x="5690525" y="1625213"/>
            <a:ext cx="3346675" cy="2518813"/>
          </a:xfrm>
          <a:prstGeom prst="rect">
            <a:avLst/>
          </a:prstGeom>
          <a:noFill/>
          <a:ln>
            <a:noFill/>
          </a:ln>
        </p:spPr>
      </p:pic>
      <p:pic>
        <p:nvPicPr>
          <p:cNvPr id="72" name="Google Shape;72;p15" descr="Set a timer for 5 minutes. This 5 minute timer with alarm silently counts down to 00:00 and then alerts you with a gentle alarm sound.&#10;&#10;What Is the 5 Minute Timer?&#10;If you're looking for a timer to help you stay on track with your work, a 5 minute countdown is a great option. You can use it to break up your work time into manageable chunks, and it can also help you avoid getting bogged down with one task for too long.&#10;&#10;How to Set a 5 Minute Timer&#10;There are a few different ways to set a 5 minute timer. One option is to use an online timer or a mobile app. Another option is to set a timer on your phone’s built-in clock. Whichever method you choose, be sure to set the timer in a place where you can see it easily so that you don't lose track of time.&#10;&#10;Why Should You Use This 5 Minute Alarm?&#10;This timer is perfect for work or study sessions. It's also great for any activity where you want to be sure to take a break every 5 minutes, such as cooking, laundry, or working out.&#10;&#10;Online Timer - https://timer.onlinealarmkur.com/en/" title="5 Minute Timer">
            <a:hlinkClick r:id="rId5"/>
          </p:cNvPr>
          <p:cNvPicPr preferRelativeResize="0"/>
          <p:nvPr/>
        </p:nvPicPr>
        <p:blipFill>
          <a:blip r:embed="rId6">
            <a:alphaModFix/>
          </a:blip>
          <a:stretch>
            <a:fillRect/>
          </a:stretch>
        </p:blipFill>
        <p:spPr>
          <a:xfrm>
            <a:off x="6988175" y="346387"/>
            <a:ext cx="2049025" cy="11525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2"/>
                                        </p:tgtEl>
                                        <p:attrNameLst>
                                          <p:attrName>style.visibility</p:attrName>
                                        </p:attrNameLst>
                                      </p:cBhvr>
                                      <p:to>
                                        <p:strVal val="visible"/>
                                      </p:to>
                                    </p:set>
                                    <p:animEffect transition="in" filter="fade">
                                      <p:cBhvr>
                                        <p:cTn id="7" dur="10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6"/>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What makes volcanoes hazardous?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Analyse different volcanic hazards in order to assess which is most dangerous</a:t>
            </a:r>
            <a:endParaRPr sz="1200" b="1" i="0" u="none" strike="noStrike" cap="none">
              <a:solidFill>
                <a:srgbClr val="980000"/>
              </a:solidFill>
              <a:latin typeface="Delius"/>
              <a:ea typeface="Delius"/>
              <a:cs typeface="Delius"/>
              <a:sym typeface="Delius"/>
            </a:endParaRPr>
          </a:p>
        </p:txBody>
      </p:sp>
      <p:graphicFrame>
        <p:nvGraphicFramePr>
          <p:cNvPr id="78" name="Google Shape;78;p16"/>
          <p:cNvGraphicFramePr/>
          <p:nvPr>
            <p:extLst>
              <p:ext uri="{D42A27DB-BD31-4B8C-83A1-F6EECF244321}">
                <p14:modId xmlns:p14="http://schemas.microsoft.com/office/powerpoint/2010/main" val="971056460"/>
              </p:ext>
            </p:extLst>
          </p:nvPr>
        </p:nvGraphicFramePr>
        <p:xfrm>
          <a:off x="156250" y="1237101"/>
          <a:ext cx="8831475" cy="3460389"/>
        </p:xfrm>
        <a:graphic>
          <a:graphicData uri="http://schemas.openxmlformats.org/drawingml/2006/table">
            <a:tbl>
              <a:tblPr>
                <a:noFill/>
                <a:tableStyleId>{754518D5-D848-4585-B384-A9B18F7D3DD4}</a:tableStyleId>
              </a:tblPr>
              <a:tblGrid>
                <a:gridCol w="1441875">
                  <a:extLst>
                    <a:ext uri="{9D8B030D-6E8A-4147-A177-3AD203B41FA5}">
                      <a16:colId xmlns:a16="http://schemas.microsoft.com/office/drawing/2014/main" val="20000"/>
                    </a:ext>
                  </a:extLst>
                </a:gridCol>
                <a:gridCol w="1131450">
                  <a:extLst>
                    <a:ext uri="{9D8B030D-6E8A-4147-A177-3AD203B41FA5}">
                      <a16:colId xmlns:a16="http://schemas.microsoft.com/office/drawing/2014/main" val="20001"/>
                    </a:ext>
                  </a:extLst>
                </a:gridCol>
                <a:gridCol w="6258150">
                  <a:extLst>
                    <a:ext uri="{9D8B030D-6E8A-4147-A177-3AD203B41FA5}">
                      <a16:colId xmlns:a16="http://schemas.microsoft.com/office/drawing/2014/main" val="20002"/>
                    </a:ext>
                  </a:extLst>
                </a:gridCol>
              </a:tblGrid>
              <a:tr h="1158151">
                <a:tc>
                  <a:txBody>
                    <a:bodyPr/>
                    <a:lstStyle/>
                    <a:p>
                      <a:pPr marL="0" lvl="0" indent="0" algn="l" rtl="0">
                        <a:lnSpc>
                          <a:spcPct val="115000"/>
                        </a:lnSpc>
                        <a:spcBef>
                          <a:spcPts val="0"/>
                        </a:spcBef>
                        <a:spcAft>
                          <a:spcPts val="0"/>
                        </a:spcAft>
                        <a:buClr>
                          <a:schemeClr val="dk1"/>
                        </a:buClr>
                        <a:buSzPts val="2200"/>
                        <a:buFont typeface="Arial"/>
                        <a:buNone/>
                      </a:pPr>
                      <a:r>
                        <a:rPr lang="en" sz="1800" b="1" dirty="0">
                          <a:solidFill>
                            <a:schemeClr val="dk1"/>
                          </a:solidFill>
                          <a:latin typeface="Poppins"/>
                          <a:ea typeface="Poppins"/>
                          <a:cs typeface="Poppins"/>
                          <a:sym typeface="Poppins"/>
                        </a:rPr>
                        <a:t>Active volcanoes</a:t>
                      </a:r>
                    </a:p>
                    <a:p>
                      <a:pPr marL="0" lvl="0" indent="0" algn="l" rtl="0">
                        <a:lnSpc>
                          <a:spcPct val="115000"/>
                        </a:lnSpc>
                        <a:spcBef>
                          <a:spcPts val="0"/>
                        </a:spcBef>
                        <a:spcAft>
                          <a:spcPts val="0"/>
                        </a:spcAft>
                        <a:buClr>
                          <a:schemeClr val="dk1"/>
                        </a:buClr>
                        <a:buSzPts val="2200"/>
                        <a:buFont typeface="Arial"/>
                        <a:buNone/>
                      </a:pPr>
                      <a:r>
                        <a:rPr lang="ja-JP" altLang="en-US" sz="1800" b="1">
                          <a:solidFill>
                            <a:schemeClr val="dk1"/>
                          </a:solidFill>
                          <a:latin typeface="Poppins"/>
                          <a:ea typeface="Poppins"/>
                          <a:cs typeface="Poppins"/>
                          <a:sym typeface="Poppins"/>
                        </a:rPr>
                        <a:t>活火山</a:t>
                      </a:r>
                      <a:endParaRPr sz="1800" b="1" dirty="0">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80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Clr>
                          <a:schemeClr val="dk1"/>
                        </a:buClr>
                        <a:buSzPts val="1100"/>
                        <a:buFont typeface="Arial"/>
                        <a:buNone/>
                      </a:pPr>
                      <a:r>
                        <a:rPr lang="en" sz="1800" dirty="0">
                          <a:solidFill>
                            <a:schemeClr val="dk1"/>
                          </a:solidFill>
                          <a:latin typeface="Poppins"/>
                          <a:ea typeface="Poppins"/>
                          <a:cs typeface="Poppins"/>
                          <a:sym typeface="Poppins"/>
                        </a:rPr>
                        <a:t>These are volcanoes that have erupted (</a:t>
                      </a:r>
                      <a:r>
                        <a:rPr lang="ja-JP" altLang="en-US" sz="1800">
                          <a:solidFill>
                            <a:schemeClr val="dk1"/>
                          </a:solidFill>
                          <a:latin typeface="Poppins"/>
                          <a:ea typeface="Poppins"/>
                          <a:cs typeface="Poppins"/>
                          <a:sym typeface="Poppins"/>
                        </a:rPr>
                        <a:t>喷发</a:t>
                      </a:r>
                      <a:r>
                        <a:rPr lang="en-US" altLang="ja-JP" sz="1800" dirty="0">
                          <a:solidFill>
                            <a:schemeClr val="dk1"/>
                          </a:solidFill>
                          <a:latin typeface="Poppins"/>
                          <a:ea typeface="Poppins"/>
                          <a:cs typeface="Poppins"/>
                          <a:sym typeface="Poppins"/>
                        </a:rPr>
                        <a:t>) </a:t>
                      </a:r>
                      <a:r>
                        <a:rPr lang="en" sz="1800" dirty="0">
                          <a:solidFill>
                            <a:schemeClr val="dk1"/>
                          </a:solidFill>
                          <a:latin typeface="Poppins"/>
                          <a:ea typeface="Poppins"/>
                          <a:cs typeface="Poppins"/>
                          <a:sym typeface="Poppins"/>
                        </a:rPr>
                        <a:t>recently and are likely to erupt again. There are more than 700 active volcanoes around the world.</a:t>
                      </a:r>
                      <a:endParaRPr sz="1800" dirty="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151119">
                <a:tc>
                  <a:txBody>
                    <a:bodyPr/>
                    <a:lstStyle/>
                    <a:p>
                      <a:pPr marL="0" lvl="0" indent="0" algn="l" rtl="0">
                        <a:lnSpc>
                          <a:spcPct val="115000"/>
                        </a:lnSpc>
                        <a:spcBef>
                          <a:spcPts val="0"/>
                        </a:spcBef>
                        <a:spcAft>
                          <a:spcPts val="0"/>
                        </a:spcAft>
                        <a:buClr>
                          <a:schemeClr val="dk1"/>
                        </a:buClr>
                        <a:buSzPts val="1100"/>
                        <a:buFont typeface="Arial"/>
                        <a:buNone/>
                      </a:pPr>
                      <a:r>
                        <a:rPr lang="en" sz="1800" b="1" dirty="0">
                          <a:solidFill>
                            <a:schemeClr val="dk1"/>
                          </a:solidFill>
                          <a:latin typeface="Poppins"/>
                          <a:ea typeface="Poppins"/>
                          <a:cs typeface="Poppins"/>
                          <a:sym typeface="Poppins"/>
                        </a:rPr>
                        <a:t>Dormant volcanoes</a:t>
                      </a:r>
                      <a:r>
                        <a:rPr lang="ja-JP" altLang="en-US" sz="1800" b="1">
                          <a:solidFill>
                            <a:schemeClr val="dk1"/>
                          </a:solidFill>
                          <a:latin typeface="Poppins"/>
                          <a:ea typeface="Poppins"/>
                          <a:cs typeface="Poppins"/>
                          <a:sym typeface="Poppins"/>
                        </a:rPr>
                        <a:t>休眠火山</a:t>
                      </a:r>
                      <a:endParaRPr sz="1800" b="1" dirty="0">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80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800">
                          <a:solidFill>
                            <a:schemeClr val="dk1"/>
                          </a:solidFill>
                          <a:latin typeface="Poppins"/>
                          <a:ea typeface="Poppins"/>
                          <a:cs typeface="Poppins"/>
                          <a:sym typeface="Poppins"/>
                        </a:rPr>
                        <a:t>These have not erupted for a long time but could erupt again in the future.</a:t>
                      </a:r>
                      <a:endParaRPr sz="180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151119">
                <a:tc>
                  <a:txBody>
                    <a:bodyPr/>
                    <a:lstStyle/>
                    <a:p>
                      <a:pPr marL="0" lvl="0" indent="0" algn="l" rtl="0">
                        <a:lnSpc>
                          <a:spcPct val="115000"/>
                        </a:lnSpc>
                        <a:spcBef>
                          <a:spcPts val="0"/>
                        </a:spcBef>
                        <a:spcAft>
                          <a:spcPts val="0"/>
                        </a:spcAft>
                        <a:buClr>
                          <a:schemeClr val="dk1"/>
                        </a:buClr>
                        <a:buSzPts val="1100"/>
                        <a:buFont typeface="Arial"/>
                        <a:buNone/>
                      </a:pPr>
                      <a:r>
                        <a:rPr lang="en" sz="1800" b="1" dirty="0">
                          <a:solidFill>
                            <a:schemeClr val="dk1"/>
                          </a:solidFill>
                          <a:latin typeface="Poppins"/>
                          <a:ea typeface="Poppins"/>
                          <a:cs typeface="Poppins"/>
                          <a:sym typeface="Poppins"/>
                        </a:rPr>
                        <a:t>Extinct volcanoes</a:t>
                      </a:r>
                      <a:r>
                        <a:rPr lang="ja-JP" altLang="en-US" sz="1800" b="1">
                          <a:solidFill>
                            <a:schemeClr val="dk1"/>
                          </a:solidFill>
                          <a:latin typeface="Poppins"/>
                          <a:ea typeface="Poppins"/>
                          <a:cs typeface="Poppins"/>
                          <a:sym typeface="Poppins"/>
                        </a:rPr>
                        <a:t>死火山</a:t>
                      </a:r>
                      <a:endParaRPr sz="1800" b="1" dirty="0">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80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Clr>
                          <a:schemeClr val="dk1"/>
                        </a:buClr>
                        <a:buSzPts val="1100"/>
                        <a:buFont typeface="Arial"/>
                        <a:buNone/>
                      </a:pPr>
                      <a:r>
                        <a:rPr lang="en" sz="1800" dirty="0">
                          <a:solidFill>
                            <a:schemeClr val="dk1"/>
                          </a:solidFill>
                          <a:latin typeface="Poppins"/>
                          <a:ea typeface="Poppins"/>
                          <a:cs typeface="Poppins"/>
                          <a:sym typeface="Poppins"/>
                        </a:rPr>
                        <a:t>These have not erupted for thousands of years and are not expected to erupt again.</a:t>
                      </a:r>
                      <a:endParaRPr sz="1800" dirty="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79" name="Google Shape;79;p16"/>
          <p:cNvPicPr preferRelativeResize="0"/>
          <p:nvPr/>
        </p:nvPicPr>
        <p:blipFill>
          <a:blip r:embed="rId3">
            <a:alphaModFix/>
          </a:blip>
          <a:stretch>
            <a:fillRect/>
          </a:stretch>
        </p:blipFill>
        <p:spPr>
          <a:xfrm>
            <a:off x="1748988" y="1495162"/>
            <a:ext cx="770749" cy="770749"/>
          </a:xfrm>
          <a:prstGeom prst="rect">
            <a:avLst/>
          </a:prstGeom>
          <a:noFill/>
          <a:ln>
            <a:noFill/>
          </a:ln>
        </p:spPr>
      </p:pic>
      <p:pic>
        <p:nvPicPr>
          <p:cNvPr id="80" name="Google Shape;80;p16"/>
          <p:cNvPicPr preferRelativeResize="0"/>
          <p:nvPr/>
        </p:nvPicPr>
        <p:blipFill>
          <a:blip r:embed="rId4">
            <a:alphaModFix/>
          </a:blip>
          <a:stretch>
            <a:fillRect/>
          </a:stretch>
        </p:blipFill>
        <p:spPr>
          <a:xfrm>
            <a:off x="1748988" y="2524063"/>
            <a:ext cx="770749" cy="770749"/>
          </a:xfrm>
          <a:prstGeom prst="rect">
            <a:avLst/>
          </a:prstGeom>
          <a:noFill/>
          <a:ln>
            <a:noFill/>
          </a:ln>
        </p:spPr>
      </p:pic>
      <p:pic>
        <p:nvPicPr>
          <p:cNvPr id="81" name="Google Shape;81;p16"/>
          <p:cNvPicPr preferRelativeResize="0"/>
          <p:nvPr/>
        </p:nvPicPr>
        <p:blipFill>
          <a:blip r:embed="rId5">
            <a:alphaModFix/>
          </a:blip>
          <a:stretch>
            <a:fillRect/>
          </a:stretch>
        </p:blipFill>
        <p:spPr>
          <a:xfrm>
            <a:off x="1748988" y="3706813"/>
            <a:ext cx="770749" cy="770749"/>
          </a:xfrm>
          <a:prstGeom prst="rect">
            <a:avLst/>
          </a:prstGeom>
          <a:noFill/>
          <a:ln>
            <a:noFill/>
          </a:ln>
        </p:spPr>
      </p:pic>
      <p:sp>
        <p:nvSpPr>
          <p:cNvPr id="82" name="Google Shape;82;p16"/>
          <p:cNvSpPr txBox="1"/>
          <p:nvPr/>
        </p:nvSpPr>
        <p:spPr>
          <a:xfrm>
            <a:off x="156275" y="559400"/>
            <a:ext cx="4467600" cy="677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600"/>
              <a:buFont typeface="Arial"/>
              <a:buNone/>
            </a:pPr>
            <a:r>
              <a:rPr lang="en" sz="3000">
                <a:latin typeface="Fugaz One"/>
                <a:ea typeface="Fugaz One"/>
                <a:cs typeface="Fugaz One"/>
                <a:sym typeface="Fugaz One"/>
              </a:rPr>
              <a:t>K</a:t>
            </a:r>
            <a:r>
              <a:rPr lang="en" sz="3000" i="0" u="none" strike="noStrike" cap="none">
                <a:latin typeface="Fugaz One"/>
                <a:ea typeface="Fugaz One"/>
                <a:cs typeface="Fugaz One"/>
                <a:sym typeface="Fugaz One"/>
              </a:rPr>
              <a:t>eywords:</a:t>
            </a:r>
            <a:endParaRPr sz="3000" i="0" u="none" strike="noStrike" cap="none">
              <a:latin typeface="Fugaz One"/>
              <a:ea typeface="Fugaz One"/>
              <a:cs typeface="Fugaz One"/>
              <a:sym typeface="Fugaz One"/>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7"/>
          <p:cNvSpPr txBox="1"/>
          <p:nvPr/>
        </p:nvSpPr>
        <p:spPr>
          <a:xfrm>
            <a:off x="4574975" y="1316700"/>
            <a:ext cx="4401900" cy="86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highlight>
                  <a:srgbClr val="00FF00"/>
                </a:highlight>
                <a:latin typeface="Baumans"/>
                <a:ea typeface="Baumans"/>
                <a:cs typeface="Baumans"/>
                <a:sym typeface="Baumans"/>
              </a:rPr>
              <a:t>Activity:</a:t>
            </a:r>
            <a:r>
              <a:rPr lang="en" sz="1800">
                <a:solidFill>
                  <a:schemeClr val="dk1"/>
                </a:solidFill>
                <a:latin typeface="Baumans"/>
                <a:ea typeface="Baumans"/>
                <a:cs typeface="Baumans"/>
                <a:sym typeface="Baumans"/>
              </a:rPr>
              <a:t> Complete the multiple choice questions whilst watching the video: </a:t>
            </a:r>
            <a:endParaRPr sz="1800">
              <a:solidFill>
                <a:schemeClr val="dk1"/>
              </a:solidFill>
              <a:latin typeface="Baumans"/>
              <a:ea typeface="Baumans"/>
              <a:cs typeface="Baumans"/>
              <a:sym typeface="Baumans"/>
            </a:endParaRPr>
          </a:p>
          <a:p>
            <a:pPr marL="0" lvl="0" indent="0" algn="l" rtl="0">
              <a:spcBef>
                <a:spcPts val="0"/>
              </a:spcBef>
              <a:spcAft>
                <a:spcPts val="0"/>
              </a:spcAft>
              <a:buNone/>
            </a:pPr>
            <a:r>
              <a:rPr lang="en" sz="1800" b="1">
                <a:solidFill>
                  <a:schemeClr val="dk1"/>
                </a:solidFill>
                <a:latin typeface="Baumans"/>
                <a:ea typeface="Baumans"/>
                <a:cs typeface="Baumans"/>
                <a:sym typeface="Baumans"/>
              </a:rPr>
              <a:t>Volcanoes 101</a:t>
            </a:r>
            <a:endParaRPr sz="1800" b="1">
              <a:solidFill>
                <a:schemeClr val="dk1"/>
              </a:solidFill>
              <a:latin typeface="Baumans"/>
              <a:ea typeface="Baumans"/>
              <a:cs typeface="Baumans"/>
              <a:sym typeface="Baumans"/>
            </a:endParaRPr>
          </a:p>
        </p:txBody>
      </p:sp>
      <p:sp>
        <p:nvSpPr>
          <p:cNvPr id="88" name="Google Shape;88;p17"/>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What makes volcanoes hazardous?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Analyse different volcanic hazards in order to assess which is most dangerous</a:t>
            </a:r>
            <a:endParaRPr sz="1200" b="1" i="0" u="none" strike="noStrike" cap="none">
              <a:solidFill>
                <a:srgbClr val="980000"/>
              </a:solidFill>
              <a:latin typeface="Delius"/>
              <a:ea typeface="Delius"/>
              <a:cs typeface="Delius"/>
              <a:sym typeface="Delius"/>
            </a:endParaRPr>
          </a:p>
        </p:txBody>
      </p:sp>
      <p:sp>
        <p:nvSpPr>
          <p:cNvPr id="89" name="Google Shape;89;p17"/>
          <p:cNvSpPr txBox="1"/>
          <p:nvPr/>
        </p:nvSpPr>
        <p:spPr>
          <a:xfrm>
            <a:off x="106798" y="709700"/>
            <a:ext cx="8604300" cy="3771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000">
                <a:latin typeface="Fugaz One"/>
                <a:ea typeface="Fugaz One"/>
                <a:cs typeface="Fugaz One"/>
                <a:sym typeface="Fugaz One"/>
              </a:rPr>
              <a:t>Volcanoes 101</a:t>
            </a:r>
            <a:endParaRPr sz="700" i="0" u="none" strike="noStrike" cap="none">
              <a:solidFill>
                <a:srgbClr val="000000"/>
              </a:solidFill>
              <a:latin typeface="Fugaz One"/>
              <a:ea typeface="Fugaz One"/>
              <a:cs typeface="Fugaz One"/>
              <a:sym typeface="Fugaz One"/>
            </a:endParaRPr>
          </a:p>
        </p:txBody>
      </p:sp>
      <p:pic>
        <p:nvPicPr>
          <p:cNvPr id="91" name="Google Shape;91;p17" title="Screenshot 2025-09-05 at 12.18.44 PM.png"/>
          <p:cNvPicPr preferRelativeResize="0"/>
          <p:nvPr/>
        </p:nvPicPr>
        <p:blipFill>
          <a:blip r:embed="rId4">
            <a:alphaModFix/>
          </a:blip>
          <a:stretch>
            <a:fillRect/>
          </a:stretch>
        </p:blipFill>
        <p:spPr>
          <a:xfrm>
            <a:off x="5062398" y="2339575"/>
            <a:ext cx="3427049" cy="2611325"/>
          </a:xfrm>
          <a:prstGeom prst="rect">
            <a:avLst/>
          </a:prstGeom>
          <a:noFill/>
          <a:ln>
            <a:noFill/>
          </a:ln>
        </p:spPr>
      </p:pic>
      <p:pic>
        <p:nvPicPr>
          <p:cNvPr id="3" name="Online Media 2" descr="Volcanoes 101 | National Geographic">
            <a:hlinkClick r:id="" action="ppaction://media"/>
            <a:extLst>
              <a:ext uri="{FF2B5EF4-FFF2-40B4-BE49-F238E27FC236}">
                <a16:creationId xmlns:a16="http://schemas.microsoft.com/office/drawing/2014/main" id="{64A92BBE-BF3C-56B1-341F-B3E32DA0B0A7}"/>
              </a:ext>
            </a:extLst>
          </p:cNvPr>
          <p:cNvPicPr>
            <a:picLocks noRot="1" noChangeAspect="1"/>
          </p:cNvPicPr>
          <p:nvPr>
            <a:videoFile r:link="rId1"/>
          </p:nvPr>
        </p:nvPicPr>
        <p:blipFill>
          <a:blip r:embed="rId5"/>
          <a:stretch>
            <a:fillRect/>
          </a:stretch>
        </p:blipFill>
        <p:spPr>
          <a:xfrm>
            <a:off x="106798" y="1316700"/>
            <a:ext cx="4399763" cy="248586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p:nvPr/>
        </p:nvSpPr>
        <p:spPr>
          <a:xfrm>
            <a:off x="5541300" y="1316700"/>
            <a:ext cx="3495900" cy="46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solidFill>
                  <a:srgbClr val="38761D"/>
                </a:solidFill>
                <a:latin typeface="Luckiest Guy"/>
                <a:ea typeface="Luckiest Guy"/>
                <a:cs typeface="Luckiest Guy"/>
                <a:sym typeface="Luckiest Guy"/>
              </a:rPr>
              <a:t>GREEN PEN YOUR ANSWERS</a:t>
            </a:r>
            <a:endParaRPr sz="2000">
              <a:solidFill>
                <a:srgbClr val="38761D"/>
              </a:solidFill>
              <a:latin typeface="Luckiest Guy"/>
              <a:ea typeface="Luckiest Guy"/>
              <a:cs typeface="Luckiest Guy"/>
              <a:sym typeface="Luckiest Guy"/>
            </a:endParaRPr>
          </a:p>
        </p:txBody>
      </p:sp>
      <p:sp>
        <p:nvSpPr>
          <p:cNvPr id="97" name="Google Shape;97;p18"/>
          <p:cNvSpPr txBox="1"/>
          <p:nvPr/>
        </p:nvSpPr>
        <p:spPr>
          <a:xfrm>
            <a:off x="125350" y="1063700"/>
            <a:ext cx="5407200" cy="3387900"/>
          </a:xfrm>
          <a:prstGeom prst="rect">
            <a:avLst/>
          </a:prstGeom>
          <a:noFill/>
          <a:ln>
            <a:noFill/>
          </a:ln>
        </p:spPr>
        <p:txBody>
          <a:bodyPr spcFirstLastPara="1" wrap="square" lIns="91425" tIns="91425" rIns="91425" bIns="91425" anchor="t" anchorCtr="0">
            <a:spAutoFit/>
          </a:bodyPr>
          <a:lstStyle/>
          <a:p>
            <a:pPr marL="762000" lvl="0" indent="-330200" algn="l" rtl="0">
              <a:lnSpc>
                <a:spcPct val="133400"/>
              </a:lnSpc>
              <a:spcBef>
                <a:spcPts val="90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b. Ancient rock</a:t>
            </a:r>
            <a:endParaRPr sz="1600" b="1">
              <a:solidFill>
                <a:srgbClr val="38761D"/>
              </a:solidFill>
              <a:latin typeface="Delius"/>
              <a:ea typeface="Delius"/>
              <a:cs typeface="Delius"/>
              <a:sym typeface="Delius"/>
            </a:endParaRPr>
          </a:p>
          <a:p>
            <a:pPr marL="762000" lvl="0" indent="-330200" algn="l" rtl="0">
              <a:lnSpc>
                <a:spcPct val="1334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c. On tectonic plate boundaries</a:t>
            </a:r>
            <a:endParaRPr sz="1600" b="1">
              <a:solidFill>
                <a:srgbClr val="38761D"/>
              </a:solidFill>
              <a:latin typeface="Delius"/>
              <a:ea typeface="Delius"/>
              <a:cs typeface="Delius"/>
              <a:sym typeface="Delius"/>
            </a:endParaRPr>
          </a:p>
          <a:p>
            <a:pPr marL="762000" lvl="0" indent="-330200" algn="l" rtl="0">
              <a:lnSpc>
                <a:spcPct val="1334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d. A path tracing tectonic plate boundaries</a:t>
            </a:r>
            <a:endParaRPr sz="1600" b="1">
              <a:solidFill>
                <a:srgbClr val="38761D"/>
              </a:solidFill>
              <a:latin typeface="Delius"/>
              <a:ea typeface="Delius"/>
              <a:cs typeface="Delius"/>
              <a:sym typeface="Delius"/>
            </a:endParaRPr>
          </a:p>
          <a:p>
            <a:pPr marL="762000" lvl="0" indent="-330200" algn="l" rtl="0">
              <a:lnSpc>
                <a:spcPct val="1334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b. Shield volcano</a:t>
            </a:r>
            <a:endParaRPr sz="1600" b="1">
              <a:solidFill>
                <a:srgbClr val="38761D"/>
              </a:solidFill>
              <a:latin typeface="Delius"/>
              <a:ea typeface="Delius"/>
              <a:cs typeface="Delius"/>
              <a:sym typeface="Delius"/>
            </a:endParaRPr>
          </a:p>
          <a:p>
            <a:pPr marL="762000" lvl="0" indent="-330200" algn="l" rtl="0">
              <a:lnSpc>
                <a:spcPct val="1334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a. Lava</a:t>
            </a:r>
            <a:endParaRPr sz="1600" b="1">
              <a:solidFill>
                <a:srgbClr val="38761D"/>
              </a:solidFill>
              <a:latin typeface="Delius"/>
              <a:ea typeface="Delius"/>
              <a:cs typeface="Delius"/>
              <a:sym typeface="Delius"/>
            </a:endParaRPr>
          </a:p>
          <a:p>
            <a:pPr marL="762000" lvl="0" indent="-330200" algn="l" rtl="0">
              <a:lnSpc>
                <a:spcPct val="1334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c. Hot gas and ash</a:t>
            </a:r>
            <a:endParaRPr sz="1600" b="1">
              <a:solidFill>
                <a:srgbClr val="38761D"/>
              </a:solidFill>
              <a:latin typeface="Delius"/>
              <a:ea typeface="Delius"/>
              <a:cs typeface="Delius"/>
              <a:sym typeface="Delius"/>
            </a:endParaRPr>
          </a:p>
          <a:p>
            <a:pPr marL="762000" lvl="0" indent="-330200" algn="l" rtl="0">
              <a:lnSpc>
                <a:spcPct val="1334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d. Volcanic Explosivity Index (VEI)</a:t>
            </a:r>
            <a:endParaRPr sz="1600" b="1">
              <a:solidFill>
                <a:srgbClr val="38761D"/>
              </a:solidFill>
              <a:latin typeface="Delius"/>
              <a:ea typeface="Delius"/>
              <a:cs typeface="Delius"/>
              <a:sym typeface="Delius"/>
            </a:endParaRPr>
          </a:p>
          <a:p>
            <a:pPr marL="762000" lvl="0" indent="-330200" algn="l" rtl="0">
              <a:lnSpc>
                <a:spcPct val="1334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d. Unlimited</a:t>
            </a:r>
            <a:endParaRPr sz="1600" b="1">
              <a:solidFill>
                <a:srgbClr val="38761D"/>
              </a:solidFill>
              <a:latin typeface="Delius"/>
              <a:ea typeface="Delius"/>
              <a:cs typeface="Delius"/>
              <a:sym typeface="Delius"/>
            </a:endParaRPr>
          </a:p>
          <a:p>
            <a:pPr marL="762000" lvl="0" indent="-330200" algn="l" rtl="0">
              <a:lnSpc>
                <a:spcPct val="1334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b. It had a VEI measurement of 7</a:t>
            </a:r>
            <a:endParaRPr sz="1600" b="1">
              <a:solidFill>
                <a:srgbClr val="38761D"/>
              </a:solidFill>
              <a:latin typeface="Delius"/>
              <a:ea typeface="Delius"/>
              <a:cs typeface="Delius"/>
              <a:sym typeface="Delius"/>
            </a:endParaRPr>
          </a:p>
          <a:p>
            <a:pPr marL="762000" lvl="0" indent="-330200" algn="l" rtl="0">
              <a:lnSpc>
                <a:spcPct val="1334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a. By providing nutrients to soil</a:t>
            </a:r>
            <a:endParaRPr sz="1600" b="1">
              <a:solidFill>
                <a:srgbClr val="38761D"/>
              </a:solidFill>
              <a:latin typeface="Delius"/>
              <a:ea typeface="Delius"/>
              <a:cs typeface="Delius"/>
              <a:sym typeface="Delius"/>
            </a:endParaRPr>
          </a:p>
        </p:txBody>
      </p:sp>
      <p:pic>
        <p:nvPicPr>
          <p:cNvPr id="98" name="Google Shape;98;p18" title="Screenshot 2025-09-05 at 12.18.44 PM.png"/>
          <p:cNvPicPr preferRelativeResize="0"/>
          <p:nvPr/>
        </p:nvPicPr>
        <p:blipFill>
          <a:blip r:embed="rId3">
            <a:alphaModFix/>
          </a:blip>
          <a:stretch>
            <a:fillRect/>
          </a:stretch>
        </p:blipFill>
        <p:spPr>
          <a:xfrm>
            <a:off x="5561223" y="1899600"/>
            <a:ext cx="3427049" cy="2611325"/>
          </a:xfrm>
          <a:prstGeom prst="rect">
            <a:avLst/>
          </a:prstGeom>
          <a:noFill/>
          <a:ln>
            <a:noFill/>
          </a:ln>
        </p:spPr>
      </p:pic>
      <p:sp>
        <p:nvSpPr>
          <p:cNvPr id="99" name="Google Shape;99;p18"/>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What makes volcanoes hazardous?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Analyse different volcanic hazards in order to assess which is most dangerous</a:t>
            </a:r>
            <a:endParaRPr sz="1200" b="1" i="0" u="none" strike="noStrike" cap="none">
              <a:solidFill>
                <a:srgbClr val="980000"/>
              </a:solidFill>
              <a:latin typeface="Delius"/>
              <a:ea typeface="Delius"/>
              <a:cs typeface="Delius"/>
              <a:sym typeface="Delius"/>
            </a:endParaRPr>
          </a:p>
        </p:txBody>
      </p:sp>
      <p:sp>
        <p:nvSpPr>
          <p:cNvPr id="100" name="Google Shape;100;p18"/>
          <p:cNvSpPr txBox="1"/>
          <p:nvPr/>
        </p:nvSpPr>
        <p:spPr>
          <a:xfrm>
            <a:off x="106798" y="709700"/>
            <a:ext cx="8604300" cy="3771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000">
                <a:latin typeface="Fugaz One"/>
                <a:ea typeface="Fugaz One"/>
                <a:cs typeface="Fugaz One"/>
                <a:sym typeface="Fugaz One"/>
              </a:rPr>
              <a:t>Volcanoes 101</a:t>
            </a:r>
            <a:endParaRPr sz="700" i="0" u="none" strike="noStrike" cap="none">
              <a:solidFill>
                <a:srgbClr val="000000"/>
              </a:solidFill>
              <a:latin typeface="Fugaz One"/>
              <a:ea typeface="Fugaz One"/>
              <a:cs typeface="Fugaz One"/>
              <a:sym typeface="Fugaz On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5" name="Google Shape;125;p20"/>
          <p:cNvSpPr txBox="1"/>
          <p:nvPr/>
        </p:nvSpPr>
        <p:spPr>
          <a:xfrm>
            <a:off x="125348" y="623000"/>
            <a:ext cx="8604300" cy="377100"/>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Clr>
                <a:schemeClr val="dk1"/>
              </a:buClr>
              <a:buSzPts val="2400"/>
              <a:buFont typeface="Arial"/>
              <a:buNone/>
            </a:pPr>
            <a:r>
              <a:rPr lang="en" sz="2000">
                <a:solidFill>
                  <a:schemeClr val="dk1"/>
                </a:solidFill>
                <a:latin typeface="Fugaz One"/>
                <a:ea typeface="Fugaz One"/>
                <a:cs typeface="Fugaz One"/>
                <a:sym typeface="Fugaz One"/>
              </a:rPr>
              <a:t>Types of Volcanoes</a:t>
            </a:r>
            <a:endParaRPr sz="700" i="0" u="none" strike="noStrike" cap="none">
              <a:solidFill>
                <a:srgbClr val="000000"/>
              </a:solidFill>
              <a:latin typeface="Fugaz One"/>
              <a:ea typeface="Fugaz One"/>
              <a:cs typeface="Fugaz One"/>
              <a:sym typeface="Fugaz One"/>
            </a:endParaRPr>
          </a:p>
        </p:txBody>
      </p:sp>
      <p:sp>
        <p:nvSpPr>
          <p:cNvPr id="126" name="Google Shape;126;p20"/>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What makes volcanoes hazardous?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Analyse different volcanic hazards in order to assess which is most dangerous</a:t>
            </a:r>
            <a:endParaRPr sz="1200" b="1" i="0" u="none" strike="noStrike" cap="none">
              <a:solidFill>
                <a:srgbClr val="980000"/>
              </a:solidFill>
              <a:latin typeface="Delius"/>
              <a:ea typeface="Delius"/>
              <a:cs typeface="Delius"/>
              <a:sym typeface="Delius"/>
            </a:endParaRPr>
          </a:p>
        </p:txBody>
      </p:sp>
      <p:sp>
        <p:nvSpPr>
          <p:cNvPr id="127" name="Google Shape;127;p20"/>
          <p:cNvSpPr txBox="1"/>
          <p:nvPr/>
        </p:nvSpPr>
        <p:spPr>
          <a:xfrm>
            <a:off x="3855050" y="1254750"/>
            <a:ext cx="5181900" cy="2095928"/>
          </a:xfrm>
          <a:prstGeom prst="rect">
            <a:avLst/>
          </a:prstGeom>
          <a:noFill/>
          <a:ln>
            <a:noFill/>
          </a:ln>
        </p:spPr>
        <p:txBody>
          <a:bodyPr spcFirstLastPara="1" wrap="square" lIns="91425" tIns="91425" rIns="91425" bIns="91425" anchor="t" anchorCtr="0">
            <a:spAutoFit/>
          </a:bodyPr>
          <a:lstStyle/>
          <a:p>
            <a:pPr marL="457200" lvl="0" indent="-330200" algn="l" rtl="0">
              <a:lnSpc>
                <a:spcPct val="115000"/>
              </a:lnSpc>
              <a:spcBef>
                <a:spcPts val="0"/>
              </a:spcBef>
              <a:spcAft>
                <a:spcPts val="0"/>
              </a:spcAft>
              <a:buClr>
                <a:schemeClr val="dk1"/>
              </a:buClr>
              <a:buSzPts val="1600"/>
              <a:buFont typeface="Baumans"/>
              <a:buAutoNum type="arabicPeriod"/>
            </a:pPr>
            <a:r>
              <a:rPr lang="en" sz="1600" dirty="0">
                <a:solidFill>
                  <a:schemeClr val="dk1"/>
                </a:solidFill>
                <a:latin typeface="Baumans"/>
                <a:ea typeface="Baumans"/>
                <a:cs typeface="Baumans"/>
                <a:sym typeface="Baumans"/>
              </a:rPr>
              <a:t>What are the two main types of volcanoes, and where are they usually found?</a:t>
            </a:r>
            <a:endParaRPr sz="1600" dirty="0">
              <a:solidFill>
                <a:schemeClr val="dk1"/>
              </a:solidFill>
              <a:latin typeface="Baumans"/>
              <a:ea typeface="Baumans"/>
              <a:cs typeface="Baumans"/>
              <a:sym typeface="Baumans"/>
            </a:endParaRPr>
          </a:p>
          <a:p>
            <a:pPr marL="228600" lvl="0" indent="-228600" algn="l" rtl="0">
              <a:lnSpc>
                <a:spcPct val="115000"/>
              </a:lnSpc>
              <a:spcBef>
                <a:spcPts val="0"/>
              </a:spcBef>
              <a:spcAft>
                <a:spcPts val="0"/>
              </a:spcAft>
              <a:buFont typeface="+mj-lt"/>
              <a:buAutoNum type="arabicPeriod"/>
            </a:pPr>
            <a:endParaRPr sz="600" dirty="0">
              <a:solidFill>
                <a:schemeClr val="dk1"/>
              </a:solidFill>
              <a:latin typeface="Baumans"/>
              <a:ea typeface="Baumans"/>
              <a:cs typeface="Baumans"/>
              <a:sym typeface="Baumans"/>
            </a:endParaRPr>
          </a:p>
          <a:p>
            <a:pPr marL="457200" lvl="0" indent="-330200" algn="l" rtl="0">
              <a:lnSpc>
                <a:spcPct val="115000"/>
              </a:lnSpc>
              <a:spcBef>
                <a:spcPts val="0"/>
              </a:spcBef>
              <a:spcAft>
                <a:spcPts val="0"/>
              </a:spcAft>
              <a:buClr>
                <a:schemeClr val="dk1"/>
              </a:buClr>
              <a:buSzPts val="1600"/>
              <a:buFont typeface="Baumans"/>
              <a:buAutoNum type="arabicPeriod"/>
            </a:pPr>
            <a:r>
              <a:rPr lang="en" sz="1600" dirty="0">
                <a:solidFill>
                  <a:schemeClr val="dk1"/>
                </a:solidFill>
                <a:latin typeface="Baumans"/>
                <a:ea typeface="Baumans"/>
                <a:cs typeface="Baumans"/>
                <a:sym typeface="Baumans"/>
              </a:rPr>
              <a:t>Why do composite volcanoes have layers of ash and lava, and what is another name for them?</a:t>
            </a:r>
            <a:endParaRPr sz="1600" dirty="0">
              <a:solidFill>
                <a:schemeClr val="dk1"/>
              </a:solidFill>
              <a:latin typeface="Baumans"/>
              <a:ea typeface="Baumans"/>
              <a:cs typeface="Baumans"/>
              <a:sym typeface="Baumans"/>
            </a:endParaRPr>
          </a:p>
          <a:p>
            <a:pPr marL="685800" lvl="0" indent="-228600" algn="l" rtl="0">
              <a:lnSpc>
                <a:spcPct val="115000"/>
              </a:lnSpc>
              <a:spcBef>
                <a:spcPts val="0"/>
              </a:spcBef>
              <a:spcAft>
                <a:spcPts val="0"/>
              </a:spcAft>
              <a:buFont typeface="+mj-lt"/>
              <a:buAutoNum type="arabicPeriod"/>
            </a:pPr>
            <a:endParaRPr sz="600" dirty="0">
              <a:solidFill>
                <a:schemeClr val="dk1"/>
              </a:solidFill>
              <a:latin typeface="Baumans"/>
              <a:ea typeface="Baumans"/>
              <a:cs typeface="Baumans"/>
              <a:sym typeface="Baumans"/>
            </a:endParaRPr>
          </a:p>
          <a:p>
            <a:pPr marL="457200" lvl="0" indent="-330200" algn="l" rtl="0">
              <a:lnSpc>
                <a:spcPct val="115000"/>
              </a:lnSpc>
              <a:spcBef>
                <a:spcPts val="0"/>
              </a:spcBef>
              <a:spcAft>
                <a:spcPts val="0"/>
              </a:spcAft>
              <a:buClr>
                <a:schemeClr val="dk1"/>
              </a:buClr>
              <a:buSzPts val="1600"/>
              <a:buFont typeface="Baumans"/>
              <a:buAutoNum type="arabicPeriod"/>
            </a:pPr>
            <a:r>
              <a:rPr lang="en" sz="1600" dirty="0">
                <a:solidFill>
                  <a:schemeClr val="dk1"/>
                </a:solidFill>
                <a:latin typeface="Baumans"/>
                <a:ea typeface="Baumans"/>
                <a:cs typeface="Baumans"/>
                <a:sym typeface="Baumans"/>
              </a:rPr>
              <a:t>How are shield volcanoes different from composite volcanoes in shape and eruption style?</a:t>
            </a:r>
            <a:endParaRPr sz="1600" dirty="0">
              <a:solidFill>
                <a:schemeClr val="dk1"/>
              </a:solidFill>
              <a:latin typeface="Baumans"/>
              <a:ea typeface="Baumans"/>
              <a:cs typeface="Baumans"/>
              <a:sym typeface="Baumans"/>
            </a:endParaRPr>
          </a:p>
        </p:txBody>
      </p:sp>
      <p:sp>
        <p:nvSpPr>
          <p:cNvPr id="128" name="Google Shape;128;p20"/>
          <p:cNvSpPr txBox="1"/>
          <p:nvPr/>
        </p:nvSpPr>
        <p:spPr>
          <a:xfrm>
            <a:off x="106800" y="3448575"/>
            <a:ext cx="8930400" cy="1477500"/>
          </a:xfrm>
          <a:prstGeom prst="rect">
            <a:avLst/>
          </a:prstGeom>
          <a:noFill/>
          <a:ln>
            <a:noFill/>
          </a:ln>
        </p:spPr>
        <p:txBody>
          <a:bodyPr spcFirstLastPara="1" wrap="square" lIns="91425" tIns="91425" rIns="91425" bIns="91425" anchor="t" anchorCtr="0">
            <a:spAutoFit/>
          </a:bodyPr>
          <a:lstStyle/>
          <a:p>
            <a:pPr marL="457200" lvl="0" indent="-304800" algn="l" rtl="0">
              <a:spcBef>
                <a:spcPts val="0"/>
              </a:spcBef>
              <a:spcAft>
                <a:spcPts val="0"/>
              </a:spcAft>
              <a:buClr>
                <a:schemeClr val="dk1"/>
              </a:buClr>
              <a:buSzPts val="1200"/>
              <a:buAutoNum type="arabicPeriod"/>
            </a:pPr>
            <a:r>
              <a:rPr lang="en" sz="1200">
                <a:solidFill>
                  <a:schemeClr val="dk1"/>
                </a:solidFill>
                <a:highlight>
                  <a:schemeClr val="lt1"/>
                </a:highlight>
                <a:latin typeface="Poppins"/>
                <a:ea typeface="Poppins"/>
                <a:cs typeface="Poppins"/>
                <a:sym typeface="Poppins"/>
              </a:rPr>
              <a:t>The two main types of volcanoes are composite volcanoes, found on destructive plate margins, and shield volcanoes, found on constructive plate margins or hot spots.</a:t>
            </a:r>
            <a:br>
              <a:rPr lang="en" sz="1200">
                <a:solidFill>
                  <a:schemeClr val="dk1"/>
                </a:solidFill>
                <a:highlight>
                  <a:schemeClr val="lt1"/>
                </a:highlight>
                <a:latin typeface="Poppins"/>
                <a:ea typeface="Poppins"/>
                <a:cs typeface="Poppins"/>
                <a:sym typeface="Poppins"/>
              </a:rPr>
            </a:br>
            <a:endParaRPr sz="600">
              <a:solidFill>
                <a:schemeClr val="dk1"/>
              </a:solidFill>
              <a:highlight>
                <a:schemeClr val="lt1"/>
              </a:highlight>
              <a:latin typeface="Poppins"/>
              <a:ea typeface="Poppins"/>
              <a:cs typeface="Poppins"/>
              <a:sym typeface="Poppins"/>
            </a:endParaRPr>
          </a:p>
          <a:p>
            <a:pPr marL="457200" lvl="0" indent="-304800" algn="l" rtl="0">
              <a:spcBef>
                <a:spcPts val="0"/>
              </a:spcBef>
              <a:spcAft>
                <a:spcPts val="0"/>
              </a:spcAft>
              <a:buClr>
                <a:schemeClr val="dk1"/>
              </a:buClr>
              <a:buSzPts val="1200"/>
              <a:buAutoNum type="arabicPeriod"/>
            </a:pPr>
            <a:r>
              <a:rPr lang="en" sz="1200">
                <a:solidFill>
                  <a:schemeClr val="dk1"/>
                </a:solidFill>
                <a:highlight>
                  <a:schemeClr val="lt1"/>
                </a:highlight>
                <a:latin typeface="Poppins"/>
                <a:ea typeface="Poppins"/>
                <a:cs typeface="Poppins"/>
                <a:sym typeface="Poppins"/>
              </a:rPr>
              <a:t>Composite volcanoes have layers of ash and lava because each eruption deposits lava and ash, and they are also called stratovolcanoes.</a:t>
            </a:r>
            <a:br>
              <a:rPr lang="en" sz="1200">
                <a:solidFill>
                  <a:schemeClr val="dk1"/>
                </a:solidFill>
                <a:highlight>
                  <a:schemeClr val="lt1"/>
                </a:highlight>
                <a:latin typeface="Poppins"/>
                <a:ea typeface="Poppins"/>
                <a:cs typeface="Poppins"/>
                <a:sym typeface="Poppins"/>
              </a:rPr>
            </a:br>
            <a:endParaRPr sz="600">
              <a:solidFill>
                <a:schemeClr val="dk1"/>
              </a:solidFill>
              <a:highlight>
                <a:schemeClr val="lt1"/>
              </a:highlight>
              <a:latin typeface="Poppins"/>
              <a:ea typeface="Poppins"/>
              <a:cs typeface="Poppins"/>
              <a:sym typeface="Poppins"/>
            </a:endParaRPr>
          </a:p>
          <a:p>
            <a:pPr marL="457200" lvl="0" indent="-304800" algn="l" rtl="0">
              <a:spcBef>
                <a:spcPts val="0"/>
              </a:spcBef>
              <a:spcAft>
                <a:spcPts val="0"/>
              </a:spcAft>
              <a:buClr>
                <a:schemeClr val="dk1"/>
              </a:buClr>
              <a:buSzPts val="1200"/>
              <a:buAutoNum type="arabicPeriod"/>
            </a:pPr>
            <a:r>
              <a:rPr lang="en" sz="1200">
                <a:solidFill>
                  <a:schemeClr val="dk1"/>
                </a:solidFill>
                <a:highlight>
                  <a:schemeClr val="lt1"/>
                </a:highlight>
                <a:latin typeface="Poppins"/>
                <a:ea typeface="Poppins"/>
                <a:cs typeface="Poppins"/>
                <a:sym typeface="Poppins"/>
              </a:rPr>
              <a:t>Shield volcanoes have gentle slopes and erupt less violently with runny lava, while composite volcanoes have steep slopes and erupt more violently.</a:t>
            </a:r>
            <a:endParaRPr sz="1200">
              <a:solidFill>
                <a:schemeClr val="dk1"/>
              </a:solidFill>
              <a:highlight>
                <a:schemeClr val="lt1"/>
              </a:highlight>
              <a:latin typeface="Poppins"/>
              <a:ea typeface="Poppins"/>
              <a:cs typeface="Poppins"/>
              <a:sym typeface="Poppins"/>
            </a:endParaRPr>
          </a:p>
        </p:txBody>
      </p:sp>
      <p:pic>
        <p:nvPicPr>
          <p:cNvPr id="2" name="Online Media 1" descr="What Are Volcanoes and How Are They Formed?">
            <a:hlinkClick r:id="" action="ppaction://media"/>
            <a:extLst>
              <a:ext uri="{FF2B5EF4-FFF2-40B4-BE49-F238E27FC236}">
                <a16:creationId xmlns:a16="http://schemas.microsoft.com/office/drawing/2014/main" id="{2C013455-7EA9-BAE0-CF0A-3F27BE753F68}"/>
              </a:ext>
            </a:extLst>
          </p:cNvPr>
          <p:cNvPicPr>
            <a:picLocks noRot="1" noChangeAspect="1"/>
          </p:cNvPicPr>
          <p:nvPr>
            <a:videoFile r:link="rId1"/>
          </p:nvPr>
        </p:nvPicPr>
        <p:blipFill>
          <a:blip r:embed="rId4"/>
          <a:stretch>
            <a:fillRect/>
          </a:stretch>
        </p:blipFill>
        <p:spPr>
          <a:xfrm>
            <a:off x="125348" y="1286437"/>
            <a:ext cx="3589050" cy="202781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mediacall" presetSubtype="0" fill="hold" nodeType="clickEffect">
                                  <p:stCondLst>
                                    <p:cond delay="0"/>
                                  </p:stCondLst>
                                  <p:childTnLst>
                                    <p:cmd type="call" cmd="playFrom(0.0)">
                                      <p:cBhvr>
                                        <p:cTn id="18"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hold" display="0">
                  <p:stCondLst>
                    <p:cond delay="indefinite"/>
                  </p:stCondLst>
                </p:cTn>
                <p:tgtEl>
                  <p:spTgt spid="2"/>
                </p:tgtEl>
              </p:cMediaNode>
            </p:video>
            <p:seq concurrent="1" nextAc="seek">
              <p:cTn id="20" restart="whenNotActive" fill="hold" evtFilter="cancelBubble" nodeType="interactiveSeq">
                <p:stCondLst>
                  <p:cond evt="onClick" delay="0">
                    <p:tgtEl>
                      <p:spTgt spid="2"/>
                    </p:tgtEl>
                  </p:cond>
                </p:stCondLst>
                <p:endSync evt="end" delay="0">
                  <p:rtn val="all"/>
                </p:endSync>
                <p:childTnLst>
                  <p:par>
                    <p:cTn id="21" fill="hold">
                      <p:stCondLst>
                        <p:cond delay="0"/>
                      </p:stCondLst>
                      <p:childTnLst>
                        <p:par>
                          <p:cTn id="22" fill="hold">
                            <p:stCondLst>
                              <p:cond delay="0"/>
                            </p:stCondLst>
                            <p:childTnLst>
                              <p:par>
                                <p:cTn id="23" presetID="2" presetClass="mediacall" presetSubtype="0" fill="hold" nodeType="clickEffect">
                                  <p:stCondLst>
                                    <p:cond delay="0"/>
                                  </p:stCondLst>
                                  <p:childTnLst>
                                    <p:cmd type="call" cmd="togglePause">
                                      <p:cBhvr>
                                        <p:cTn id="24"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9"/>
          <p:cNvSpPr txBox="1"/>
          <p:nvPr/>
        </p:nvSpPr>
        <p:spPr>
          <a:xfrm>
            <a:off x="1084198" y="1000100"/>
            <a:ext cx="5120400" cy="6234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1">
                <a:solidFill>
                  <a:schemeClr val="dk1"/>
                </a:solidFill>
                <a:highlight>
                  <a:srgbClr val="00FF00"/>
                </a:highlight>
                <a:latin typeface="Baumans"/>
                <a:ea typeface="Baumans"/>
                <a:cs typeface="Baumans"/>
                <a:sym typeface="Baumans"/>
              </a:rPr>
              <a:t>Activity</a:t>
            </a:r>
            <a:r>
              <a:rPr lang="en" sz="1800" b="1" i="0" u="none" strike="noStrike" cap="none">
                <a:solidFill>
                  <a:schemeClr val="dk1"/>
                </a:solidFill>
                <a:highlight>
                  <a:srgbClr val="00FF00"/>
                </a:highlight>
                <a:latin typeface="Baumans"/>
                <a:ea typeface="Baumans"/>
                <a:cs typeface="Baumans"/>
                <a:sym typeface="Baumans"/>
              </a:rPr>
              <a:t> 1</a:t>
            </a:r>
            <a:r>
              <a:rPr lang="en" sz="1800" b="1" i="0" u="none" strike="noStrike" cap="none">
                <a:solidFill>
                  <a:schemeClr val="dk1"/>
                </a:solidFill>
                <a:latin typeface="Baumans"/>
                <a:ea typeface="Baumans"/>
                <a:cs typeface="Baumans"/>
                <a:sym typeface="Baumans"/>
              </a:rPr>
              <a:t> - </a:t>
            </a:r>
            <a:r>
              <a:rPr lang="en" sz="1800">
                <a:solidFill>
                  <a:schemeClr val="dk1"/>
                </a:solidFill>
                <a:latin typeface="Baumans"/>
                <a:ea typeface="Baumans"/>
                <a:cs typeface="Baumans"/>
                <a:sym typeface="Baumans"/>
              </a:rPr>
              <a:t>Complete the </a:t>
            </a:r>
            <a:r>
              <a:rPr lang="en" sz="1800" b="1">
                <a:solidFill>
                  <a:srgbClr val="980000"/>
                </a:solidFill>
                <a:latin typeface="Baumans"/>
                <a:ea typeface="Baumans"/>
                <a:cs typeface="Baumans"/>
                <a:sym typeface="Baumans"/>
              </a:rPr>
              <a:t>P</a:t>
            </a:r>
            <a:r>
              <a:rPr lang="en" sz="1800" b="1">
                <a:solidFill>
                  <a:srgbClr val="0000FF"/>
                </a:solidFill>
                <a:latin typeface="Baumans"/>
                <a:ea typeface="Baumans"/>
                <a:cs typeface="Baumans"/>
                <a:sym typeface="Baumans"/>
              </a:rPr>
              <a:t>E</a:t>
            </a:r>
            <a:r>
              <a:rPr lang="en" sz="1800" b="1">
                <a:solidFill>
                  <a:srgbClr val="274E13"/>
                </a:solidFill>
                <a:latin typeface="Baumans"/>
                <a:ea typeface="Baumans"/>
                <a:cs typeface="Baumans"/>
                <a:sym typeface="Baumans"/>
              </a:rPr>
              <a:t>E</a:t>
            </a:r>
            <a:r>
              <a:rPr lang="en" sz="1800" b="1">
                <a:solidFill>
                  <a:srgbClr val="FF6600"/>
                </a:solidFill>
                <a:latin typeface="Baumans"/>
                <a:ea typeface="Baumans"/>
                <a:cs typeface="Baumans"/>
                <a:sym typeface="Baumans"/>
              </a:rPr>
              <a:t>L</a:t>
            </a:r>
            <a:r>
              <a:rPr lang="en" sz="1800">
                <a:solidFill>
                  <a:schemeClr val="dk1"/>
                </a:solidFill>
                <a:latin typeface="Baumans"/>
                <a:ea typeface="Baumans"/>
                <a:cs typeface="Baumans"/>
                <a:sym typeface="Baumans"/>
              </a:rPr>
              <a:t> explaining why some volcanic eruptions more dangerous than others.</a:t>
            </a:r>
            <a:endParaRPr sz="1100" i="0" u="none" strike="noStrike" cap="none">
              <a:solidFill>
                <a:schemeClr val="dk1"/>
              </a:solidFill>
              <a:latin typeface="Baumans"/>
              <a:ea typeface="Baumans"/>
              <a:cs typeface="Baumans"/>
              <a:sym typeface="Baumans"/>
            </a:endParaRPr>
          </a:p>
        </p:txBody>
      </p:sp>
      <p:sp>
        <p:nvSpPr>
          <p:cNvPr id="106" name="Google Shape;106;p19"/>
          <p:cNvSpPr txBox="1"/>
          <p:nvPr/>
        </p:nvSpPr>
        <p:spPr>
          <a:xfrm>
            <a:off x="1084200" y="1761950"/>
            <a:ext cx="5120400" cy="780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800" b="1">
                <a:solidFill>
                  <a:schemeClr val="dk1"/>
                </a:solidFill>
                <a:highlight>
                  <a:srgbClr val="00FF00"/>
                </a:highlight>
                <a:latin typeface="Baumans"/>
                <a:ea typeface="Baumans"/>
                <a:cs typeface="Baumans"/>
                <a:sym typeface="Baumans"/>
              </a:rPr>
              <a:t>Activity 2</a:t>
            </a:r>
            <a:r>
              <a:rPr lang="en" sz="1800" b="1">
                <a:solidFill>
                  <a:schemeClr val="dk1"/>
                </a:solidFill>
                <a:latin typeface="Baumans"/>
                <a:ea typeface="Baumans"/>
                <a:cs typeface="Baumans"/>
                <a:sym typeface="Baumans"/>
              </a:rPr>
              <a:t> </a:t>
            </a:r>
            <a:r>
              <a:rPr lang="en" sz="1800">
                <a:solidFill>
                  <a:schemeClr val="dk1"/>
                </a:solidFill>
                <a:latin typeface="Baumans"/>
                <a:ea typeface="Baumans"/>
                <a:cs typeface="Baumans"/>
                <a:sym typeface="Baumans"/>
              </a:rPr>
              <a:t>- Add the numbers to the correct place on the diagram.</a:t>
            </a:r>
            <a:endParaRPr sz="1800">
              <a:latin typeface="Baumans"/>
              <a:ea typeface="Baumans"/>
              <a:cs typeface="Baumans"/>
              <a:sym typeface="Baumans"/>
            </a:endParaRPr>
          </a:p>
        </p:txBody>
      </p:sp>
      <p:sp>
        <p:nvSpPr>
          <p:cNvPr id="107" name="Google Shape;107;p19"/>
          <p:cNvSpPr txBox="1"/>
          <p:nvPr/>
        </p:nvSpPr>
        <p:spPr>
          <a:xfrm>
            <a:off x="116100" y="1145975"/>
            <a:ext cx="958800" cy="47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b="1">
                <a:solidFill>
                  <a:schemeClr val="dk1"/>
                </a:solidFill>
                <a:latin typeface="Aladin"/>
                <a:ea typeface="Aladin"/>
                <a:cs typeface="Aladin"/>
                <a:sym typeface="Aladin"/>
              </a:rPr>
              <a:t>Activities on sheet</a:t>
            </a:r>
            <a:endParaRPr sz="1200" b="1">
              <a:solidFill>
                <a:schemeClr val="dk1"/>
              </a:solidFill>
              <a:latin typeface="Aladin"/>
              <a:ea typeface="Aladin"/>
              <a:cs typeface="Aladin"/>
              <a:sym typeface="Aladin"/>
            </a:endParaRPr>
          </a:p>
        </p:txBody>
      </p:sp>
      <p:pic>
        <p:nvPicPr>
          <p:cNvPr id="108" name="Google Shape;108;p19"/>
          <p:cNvPicPr preferRelativeResize="0"/>
          <p:nvPr/>
        </p:nvPicPr>
        <p:blipFill>
          <a:blip r:embed="rId3">
            <a:alphaModFix/>
          </a:blip>
          <a:stretch>
            <a:fillRect/>
          </a:stretch>
        </p:blipFill>
        <p:spPr>
          <a:xfrm>
            <a:off x="891223" y="4216200"/>
            <a:ext cx="611727" cy="780300"/>
          </a:xfrm>
          <a:prstGeom prst="rect">
            <a:avLst/>
          </a:prstGeom>
          <a:noFill/>
          <a:ln>
            <a:noFill/>
          </a:ln>
        </p:spPr>
      </p:pic>
      <p:pic>
        <p:nvPicPr>
          <p:cNvPr id="109" name="Google Shape;109;p19" title="Screenshot 2025-07-01 at 9.18.39 AM.png"/>
          <p:cNvPicPr preferRelativeResize="0"/>
          <p:nvPr/>
        </p:nvPicPr>
        <p:blipFill>
          <a:blip r:embed="rId4">
            <a:alphaModFix/>
          </a:blip>
          <a:stretch>
            <a:fillRect/>
          </a:stretch>
        </p:blipFill>
        <p:spPr>
          <a:xfrm>
            <a:off x="118250" y="4204149"/>
            <a:ext cx="789979" cy="780300"/>
          </a:xfrm>
          <a:prstGeom prst="rect">
            <a:avLst/>
          </a:prstGeom>
          <a:noFill/>
          <a:ln>
            <a:noFill/>
          </a:ln>
        </p:spPr>
      </p:pic>
      <p:sp>
        <p:nvSpPr>
          <p:cNvPr id="110" name="Google Shape;110;p19"/>
          <p:cNvSpPr txBox="1"/>
          <p:nvPr/>
        </p:nvSpPr>
        <p:spPr>
          <a:xfrm>
            <a:off x="1572900" y="4132600"/>
            <a:ext cx="74643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latin typeface="Poppins"/>
                <a:ea typeface="Poppins"/>
                <a:cs typeface="Poppins"/>
                <a:sym typeface="Poppins"/>
              </a:rPr>
              <a:t>Compare a volcano with runny magma and low gas to one with thick magma and trapped gas. Predict how their eruptions would differ in strength, danger and the hazards for people nearby.</a:t>
            </a:r>
            <a:endParaRPr sz="1600">
              <a:latin typeface="Poppins"/>
              <a:ea typeface="Poppins"/>
              <a:cs typeface="Poppins"/>
              <a:sym typeface="Poppins"/>
            </a:endParaRPr>
          </a:p>
        </p:txBody>
      </p:sp>
      <p:sp>
        <p:nvSpPr>
          <p:cNvPr id="111" name="Google Shape;111;p19"/>
          <p:cNvSpPr txBox="1"/>
          <p:nvPr/>
        </p:nvSpPr>
        <p:spPr>
          <a:xfrm>
            <a:off x="125348" y="623000"/>
            <a:ext cx="8604300" cy="377100"/>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Clr>
                <a:schemeClr val="dk1"/>
              </a:buClr>
              <a:buSzPts val="2400"/>
              <a:buFont typeface="Arial"/>
              <a:buNone/>
            </a:pPr>
            <a:r>
              <a:rPr lang="en" sz="2000">
                <a:solidFill>
                  <a:schemeClr val="dk1"/>
                </a:solidFill>
                <a:latin typeface="Fugaz One"/>
                <a:ea typeface="Fugaz One"/>
                <a:cs typeface="Fugaz One"/>
                <a:sym typeface="Fugaz One"/>
              </a:rPr>
              <a:t>Volcanoes 101</a:t>
            </a:r>
            <a:endParaRPr sz="700" i="0" u="none" strike="noStrike" cap="none">
              <a:solidFill>
                <a:srgbClr val="000000"/>
              </a:solidFill>
              <a:latin typeface="Fugaz One"/>
              <a:ea typeface="Fugaz One"/>
              <a:cs typeface="Fugaz One"/>
              <a:sym typeface="Fugaz One"/>
            </a:endParaRPr>
          </a:p>
        </p:txBody>
      </p:sp>
      <p:sp>
        <p:nvSpPr>
          <p:cNvPr id="112" name="Google Shape;112;p19"/>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What makes volcanoes hazardous?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Analyse different volcanic hazards in order to assess which is most dangerous</a:t>
            </a:r>
            <a:endParaRPr sz="1200" b="1" i="0" u="none" strike="noStrike" cap="none">
              <a:solidFill>
                <a:srgbClr val="980000"/>
              </a:solidFill>
              <a:latin typeface="Delius"/>
              <a:ea typeface="Delius"/>
              <a:cs typeface="Delius"/>
              <a:sym typeface="Delius"/>
            </a:endParaRPr>
          </a:p>
        </p:txBody>
      </p:sp>
      <p:sp>
        <p:nvSpPr>
          <p:cNvPr id="113" name="Google Shape;113;p19"/>
          <p:cNvSpPr txBox="1"/>
          <p:nvPr/>
        </p:nvSpPr>
        <p:spPr>
          <a:xfrm>
            <a:off x="6307775" y="959188"/>
            <a:ext cx="25725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b="1">
                <a:solidFill>
                  <a:schemeClr val="dk1"/>
                </a:solidFill>
                <a:latin typeface="Poppins"/>
                <a:ea typeface="Poppins"/>
                <a:cs typeface="Poppins"/>
                <a:sym typeface="Poppins"/>
              </a:rPr>
              <a:t>Plate Boundaries</a:t>
            </a:r>
            <a:endParaRPr sz="1600" b="1">
              <a:latin typeface="Poppins"/>
              <a:ea typeface="Poppins"/>
              <a:cs typeface="Poppins"/>
              <a:sym typeface="Poppins"/>
            </a:endParaRPr>
          </a:p>
        </p:txBody>
      </p:sp>
      <p:pic>
        <p:nvPicPr>
          <p:cNvPr id="114" name="Google Shape;114;p19"/>
          <p:cNvPicPr preferRelativeResize="0"/>
          <p:nvPr/>
        </p:nvPicPr>
        <p:blipFill rotWithShape="1">
          <a:blip r:embed="rId5">
            <a:alphaModFix/>
          </a:blip>
          <a:srcRect l="9645" r="17891" b="6015"/>
          <a:stretch/>
        </p:blipFill>
        <p:spPr>
          <a:xfrm>
            <a:off x="6307775" y="1392088"/>
            <a:ext cx="2572500" cy="1376529"/>
          </a:xfrm>
          <a:prstGeom prst="rect">
            <a:avLst/>
          </a:prstGeom>
          <a:noFill/>
          <a:ln>
            <a:noFill/>
          </a:ln>
        </p:spPr>
      </p:pic>
      <p:pic>
        <p:nvPicPr>
          <p:cNvPr id="115" name="Google Shape;115;p19"/>
          <p:cNvPicPr preferRelativeResize="0"/>
          <p:nvPr/>
        </p:nvPicPr>
        <p:blipFill rotWithShape="1">
          <a:blip r:embed="rId6">
            <a:alphaModFix/>
          </a:blip>
          <a:srcRect l="9511" r="17719" b="5616"/>
          <a:stretch/>
        </p:blipFill>
        <p:spPr>
          <a:xfrm>
            <a:off x="6307776" y="2824413"/>
            <a:ext cx="2541424" cy="1359900"/>
          </a:xfrm>
          <a:prstGeom prst="rect">
            <a:avLst/>
          </a:prstGeom>
          <a:noFill/>
          <a:ln>
            <a:noFill/>
          </a:ln>
        </p:spPr>
      </p:pic>
      <p:sp>
        <p:nvSpPr>
          <p:cNvPr id="116" name="Google Shape;116;p19"/>
          <p:cNvSpPr txBox="1"/>
          <p:nvPr/>
        </p:nvSpPr>
        <p:spPr>
          <a:xfrm>
            <a:off x="125350" y="2680700"/>
            <a:ext cx="6079200" cy="1028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800" b="1">
                <a:solidFill>
                  <a:schemeClr val="dk1"/>
                </a:solidFill>
                <a:highlight>
                  <a:srgbClr val="00FF00"/>
                </a:highlight>
                <a:latin typeface="Baumans"/>
                <a:ea typeface="Baumans"/>
                <a:cs typeface="Baumans"/>
                <a:sym typeface="Baumans"/>
              </a:rPr>
              <a:t>Activity 3</a:t>
            </a:r>
            <a:r>
              <a:rPr lang="en" sz="1800" b="1">
                <a:solidFill>
                  <a:schemeClr val="dk1"/>
                </a:solidFill>
                <a:latin typeface="Baumans"/>
                <a:ea typeface="Baumans"/>
                <a:cs typeface="Baumans"/>
                <a:sym typeface="Baumans"/>
              </a:rPr>
              <a:t> </a:t>
            </a:r>
            <a:r>
              <a:rPr lang="en" sz="1800">
                <a:solidFill>
                  <a:schemeClr val="dk1"/>
                </a:solidFill>
                <a:latin typeface="Baumans"/>
                <a:ea typeface="Baumans"/>
                <a:cs typeface="Baumans"/>
                <a:sym typeface="Baumans"/>
              </a:rPr>
              <a:t>- Explain how each stage of the volcanic process </a:t>
            </a:r>
            <a:r>
              <a:rPr lang="en" b="1">
                <a:solidFill>
                  <a:schemeClr val="dk1"/>
                </a:solidFill>
                <a:latin typeface="Patrick Hand"/>
                <a:ea typeface="Patrick Hand"/>
                <a:cs typeface="Patrick Hand"/>
                <a:sym typeface="Patrick Hand"/>
              </a:rPr>
              <a:t>(plate boundaries, magma type, gas and pressure, eruption type, eruption materials, and pyroclastic flow)</a:t>
            </a:r>
            <a:r>
              <a:rPr lang="en" sz="1800">
                <a:solidFill>
                  <a:schemeClr val="dk1"/>
                </a:solidFill>
                <a:latin typeface="Baumans"/>
                <a:ea typeface="Baumans"/>
                <a:cs typeface="Baumans"/>
                <a:sym typeface="Baumans"/>
              </a:rPr>
              <a:t> makes an eruption more or less dangerous.</a:t>
            </a:r>
            <a:endParaRPr sz="1800">
              <a:latin typeface="Baumans"/>
              <a:ea typeface="Baumans"/>
              <a:cs typeface="Baumans"/>
              <a:sym typeface="Baumans"/>
            </a:endParaRPr>
          </a:p>
        </p:txBody>
      </p:sp>
      <p:pic>
        <p:nvPicPr>
          <p:cNvPr id="117" name="Google Shape;117;p19" title="Screenshot 2025-09-11 at 1.22.22 PM.png"/>
          <p:cNvPicPr preferRelativeResize="0"/>
          <p:nvPr/>
        </p:nvPicPr>
        <p:blipFill>
          <a:blip r:embed="rId7">
            <a:alphaModFix/>
          </a:blip>
          <a:stretch>
            <a:fillRect/>
          </a:stretch>
        </p:blipFill>
        <p:spPr>
          <a:xfrm>
            <a:off x="86500" y="1623500"/>
            <a:ext cx="977398" cy="749162"/>
          </a:xfrm>
          <a:prstGeom prst="rect">
            <a:avLst/>
          </a:prstGeom>
          <a:noFill/>
          <a:ln>
            <a:noFill/>
          </a:ln>
        </p:spPr>
      </p:pic>
      <p:pic>
        <p:nvPicPr>
          <p:cNvPr id="118" name="Google Shape;118;p19" descr="a cartoon drawing of a fire with a flame coming out of it (Provided by Tenor)"/>
          <p:cNvPicPr preferRelativeResize="0"/>
          <p:nvPr/>
        </p:nvPicPr>
        <p:blipFill>
          <a:blip r:embed="rId8">
            <a:alphaModFix/>
          </a:blip>
          <a:stretch>
            <a:fillRect/>
          </a:stretch>
        </p:blipFill>
        <p:spPr>
          <a:xfrm>
            <a:off x="850175" y="4264800"/>
            <a:ext cx="234025" cy="234025"/>
          </a:xfrm>
          <a:prstGeom prst="rect">
            <a:avLst/>
          </a:prstGeom>
          <a:noFill/>
          <a:ln>
            <a:noFill/>
          </a:ln>
        </p:spPr>
      </p:pic>
      <p:pic>
        <p:nvPicPr>
          <p:cNvPr id="119" name="Google Shape;119;p19" descr="Set a timer for 15 minutes. This 15 minute timer with alarm silently counts down to 00:00 and then alerts you with a gentle alarm sound.&#10;&#10;What Is the 15 Minute Timer?&#10;If you're looking for a timer to help you stay on track with your work, a 15 minute countdown is a great option. You can use it to break up your work time into manageable chunks, and it can also help you avoid getting bogged down with one task for too long.&#10;&#10;How to Set a 15 Minute Timer&#10;There are a few different ways to set a 15 minute timer. One option is to use an online timer or a mobile app. Another option is to set a timer on your phone’s built-in clock. Whichever method you choose, be sure to set the timer in a place where you can see it easily so that you don't lose track of time.&#10;&#10;Why Should You Use This 15 Minute Alarm?&#10;This timer is perfect for work or study sessions. It's also great for any activity where you want to be sure to take a break every 15 minutes, such as cooking, laundry, or working out.&#10;&#10;Online Timer - https://timer.onlinealarmkur.com/en/" title="15 Minute Timer">
            <a:hlinkClick r:id="rId9"/>
          </p:cNvPr>
          <p:cNvPicPr preferRelativeResize="0"/>
          <p:nvPr/>
        </p:nvPicPr>
        <p:blipFill>
          <a:blip r:embed="rId10">
            <a:alphaModFix/>
          </a:blip>
          <a:stretch>
            <a:fillRect/>
          </a:stretch>
        </p:blipFill>
        <p:spPr>
          <a:xfrm>
            <a:off x="7403753" y="83900"/>
            <a:ext cx="1476525" cy="8305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19"/>
                                        </p:tgtEl>
                                        <p:attrNameLst>
                                          <p:attrName>style.visibility</p:attrName>
                                        </p:attrNameLst>
                                      </p:cBhvr>
                                      <p:to>
                                        <p:strVal val="visible"/>
                                      </p:to>
                                    </p:set>
                                    <p:animEffect transition="in" filter="fade">
                                      <p:cBhvr>
                                        <p:cTn id="21" dur="1000"/>
                                        <p:tgtEl>
                                          <p:spTgt spid="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1"/>
          <p:cNvSpPr txBox="1"/>
          <p:nvPr/>
        </p:nvSpPr>
        <p:spPr>
          <a:xfrm>
            <a:off x="125349" y="735539"/>
            <a:ext cx="8604300" cy="377100"/>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Clr>
                <a:schemeClr val="dk1"/>
              </a:buClr>
              <a:buSzPts val="2400"/>
              <a:buFont typeface="Arial"/>
              <a:buNone/>
            </a:pPr>
            <a:r>
              <a:rPr lang="en" sz="2000" dirty="0">
                <a:solidFill>
                  <a:schemeClr val="dk1"/>
                </a:solidFill>
                <a:latin typeface="Fugaz One"/>
                <a:ea typeface="Fugaz One"/>
                <a:cs typeface="Fugaz One"/>
                <a:sym typeface="Fugaz One"/>
              </a:rPr>
              <a:t>Types of Volcanoes</a:t>
            </a:r>
            <a:endParaRPr sz="700" i="0" u="none" strike="noStrike" cap="none" dirty="0">
              <a:solidFill>
                <a:srgbClr val="000000"/>
              </a:solidFill>
              <a:latin typeface="Fugaz One"/>
              <a:ea typeface="Fugaz One"/>
              <a:cs typeface="Fugaz One"/>
              <a:sym typeface="Fugaz One"/>
            </a:endParaRPr>
          </a:p>
        </p:txBody>
      </p:sp>
      <p:sp>
        <p:nvSpPr>
          <p:cNvPr id="134" name="Google Shape;134;p21"/>
          <p:cNvSpPr txBox="1"/>
          <p:nvPr/>
        </p:nvSpPr>
        <p:spPr>
          <a:xfrm>
            <a:off x="106800" y="83900"/>
            <a:ext cx="5346146"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dirty="0">
                <a:solidFill>
                  <a:srgbClr val="980000"/>
                </a:solidFill>
                <a:latin typeface="Delius"/>
                <a:ea typeface="Delius"/>
                <a:cs typeface="Delius"/>
                <a:sym typeface="Delius"/>
              </a:rPr>
              <a:t>Title: What makes volcanoes hazardous? </a:t>
            </a:r>
            <a:endParaRPr sz="1200" b="1" dirty="0">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dirty="0">
                <a:solidFill>
                  <a:srgbClr val="980000"/>
                </a:solidFill>
                <a:latin typeface="Delius"/>
                <a:ea typeface="Delius"/>
                <a:cs typeface="Delius"/>
                <a:sym typeface="Delius"/>
              </a:rPr>
              <a:t>LO: Analyse different volcanic hazards in order to assess which is most dangerous</a:t>
            </a:r>
            <a:endParaRPr sz="1200" b="1" i="0" u="none" strike="noStrike" cap="none" dirty="0">
              <a:solidFill>
                <a:srgbClr val="980000"/>
              </a:solidFill>
              <a:latin typeface="Delius"/>
              <a:ea typeface="Delius"/>
              <a:cs typeface="Delius"/>
              <a:sym typeface="Delius"/>
            </a:endParaRPr>
          </a:p>
        </p:txBody>
      </p:sp>
      <p:sp>
        <p:nvSpPr>
          <p:cNvPr id="135" name="Google Shape;135;p21"/>
          <p:cNvSpPr txBox="1"/>
          <p:nvPr/>
        </p:nvSpPr>
        <p:spPr>
          <a:xfrm>
            <a:off x="125348" y="1063700"/>
            <a:ext cx="4022905" cy="1177215"/>
          </a:xfrm>
          <a:prstGeom prst="rect">
            <a:avLst/>
          </a:prstGeom>
          <a:noFill/>
          <a:ln>
            <a:noFill/>
          </a:ln>
        </p:spPr>
        <p:txBody>
          <a:bodyPr spcFirstLastPara="1" wrap="square" lIns="68575" tIns="34275" rIns="68575" bIns="34275" anchor="t" anchorCtr="0">
            <a:spAutoFit/>
          </a:bodyPr>
          <a:lstStyle/>
          <a:p>
            <a:pPr lvl="0">
              <a:buSzPts val="1800"/>
            </a:pPr>
            <a:r>
              <a:rPr lang="en" sz="1800" b="1" dirty="0">
                <a:solidFill>
                  <a:schemeClr val="dk1"/>
                </a:solidFill>
                <a:highlight>
                  <a:srgbClr val="00FF00"/>
                </a:highlight>
                <a:latin typeface="Baumans"/>
                <a:ea typeface="Baumans"/>
                <a:cs typeface="Baumans"/>
                <a:sym typeface="Baumans"/>
              </a:rPr>
              <a:t>Activity</a:t>
            </a:r>
            <a:r>
              <a:rPr lang="en" sz="1800" b="1" i="0" u="none" strike="noStrike" cap="none" dirty="0">
                <a:solidFill>
                  <a:schemeClr val="dk1"/>
                </a:solidFill>
                <a:highlight>
                  <a:srgbClr val="00FF00"/>
                </a:highlight>
                <a:latin typeface="Baumans"/>
                <a:ea typeface="Baumans"/>
                <a:cs typeface="Baumans"/>
                <a:sym typeface="Baumans"/>
              </a:rPr>
              <a:t> </a:t>
            </a:r>
            <a:r>
              <a:rPr lang="en" sz="1800" b="1" dirty="0">
                <a:solidFill>
                  <a:schemeClr val="dk1"/>
                </a:solidFill>
                <a:highlight>
                  <a:srgbClr val="00FF00"/>
                </a:highlight>
                <a:latin typeface="Baumans"/>
                <a:ea typeface="Baumans"/>
                <a:cs typeface="Baumans"/>
                <a:sym typeface="Baumans"/>
              </a:rPr>
              <a:t>4</a:t>
            </a:r>
            <a:r>
              <a:rPr lang="en" sz="1800" b="1" i="0" u="none" strike="noStrike" cap="none" dirty="0">
                <a:solidFill>
                  <a:schemeClr val="dk1"/>
                </a:solidFill>
                <a:latin typeface="Baumans"/>
                <a:ea typeface="Baumans"/>
                <a:cs typeface="Baumans"/>
                <a:sym typeface="Baumans"/>
              </a:rPr>
              <a:t> </a:t>
            </a:r>
            <a:r>
              <a:rPr lang="en" sz="1800" i="0" u="none" strike="noStrike" cap="none" dirty="0">
                <a:solidFill>
                  <a:schemeClr val="dk1"/>
                </a:solidFill>
                <a:latin typeface="Baumans"/>
                <a:ea typeface="Baumans"/>
                <a:cs typeface="Baumans"/>
                <a:sym typeface="Baumans"/>
              </a:rPr>
              <a:t>– Read the information sheet and a</a:t>
            </a:r>
            <a:r>
              <a:rPr lang="en" sz="1800" dirty="0">
                <a:solidFill>
                  <a:schemeClr val="dk1"/>
                </a:solidFill>
                <a:latin typeface="Baumans"/>
                <a:ea typeface="Baumans"/>
                <a:cs typeface="Baumans"/>
                <a:sym typeface="Baumans"/>
              </a:rPr>
              <a:t>nnotate the diagrams to show the key features of the composite and shield volcanoes.</a:t>
            </a:r>
            <a:endParaRPr sz="1800" i="0" u="none" strike="noStrike" cap="none" dirty="0">
              <a:solidFill>
                <a:schemeClr val="dk1"/>
              </a:solidFill>
              <a:latin typeface="Baumans"/>
              <a:ea typeface="Baumans"/>
              <a:cs typeface="Baumans"/>
              <a:sym typeface="Baumans"/>
            </a:endParaRPr>
          </a:p>
        </p:txBody>
      </p:sp>
      <p:sp>
        <p:nvSpPr>
          <p:cNvPr id="140" name="Google Shape;140;p21"/>
          <p:cNvSpPr txBox="1"/>
          <p:nvPr/>
        </p:nvSpPr>
        <p:spPr>
          <a:xfrm>
            <a:off x="125350" y="2304800"/>
            <a:ext cx="3160800" cy="2630400"/>
          </a:xfrm>
          <a:prstGeom prst="rect">
            <a:avLst/>
          </a:prstGeom>
          <a:solidFill>
            <a:srgbClr val="FFF2CC"/>
          </a:solid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b="1">
                <a:solidFill>
                  <a:schemeClr val="dk1"/>
                </a:solidFill>
                <a:latin typeface="Poppins"/>
                <a:ea typeface="Poppins"/>
                <a:cs typeface="Poppins"/>
                <a:sym typeface="Poppins"/>
              </a:rPr>
              <a:t>Key Feature Annotations:</a:t>
            </a:r>
            <a:endParaRPr b="1">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b="1">
                <a:solidFill>
                  <a:schemeClr val="dk1"/>
                </a:solidFill>
                <a:latin typeface="Poppins"/>
                <a:ea typeface="Poppins"/>
                <a:cs typeface="Poppins"/>
                <a:sym typeface="Poppins"/>
              </a:rPr>
              <a:t>Slopes</a:t>
            </a:r>
            <a:r>
              <a:rPr lang="en">
                <a:solidFill>
                  <a:schemeClr val="dk1"/>
                </a:solidFill>
                <a:latin typeface="Poppins"/>
                <a:ea typeface="Poppins"/>
                <a:cs typeface="Poppins"/>
                <a:sym typeface="Poppins"/>
              </a:rPr>
              <a:t> – Gentle / Steep</a:t>
            </a:r>
            <a:endParaRPr>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b="1">
                <a:solidFill>
                  <a:schemeClr val="dk1"/>
                </a:solidFill>
                <a:latin typeface="Poppins"/>
                <a:ea typeface="Poppins"/>
                <a:cs typeface="Poppins"/>
                <a:sym typeface="Poppins"/>
              </a:rPr>
              <a:t>Base width</a:t>
            </a:r>
            <a:r>
              <a:rPr lang="en">
                <a:solidFill>
                  <a:schemeClr val="dk1"/>
                </a:solidFill>
                <a:latin typeface="Poppins"/>
                <a:ea typeface="Poppins"/>
                <a:cs typeface="Poppins"/>
                <a:sym typeface="Poppins"/>
              </a:rPr>
              <a:t> – Wide / Narrow</a:t>
            </a:r>
            <a:endParaRPr>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b="1">
                <a:solidFill>
                  <a:schemeClr val="dk1"/>
                </a:solidFill>
                <a:latin typeface="Poppins"/>
                <a:ea typeface="Poppins"/>
                <a:cs typeface="Poppins"/>
                <a:sym typeface="Poppins"/>
              </a:rPr>
              <a:t>Lava type</a:t>
            </a:r>
            <a:r>
              <a:rPr lang="en">
                <a:solidFill>
                  <a:schemeClr val="dk1"/>
                </a:solidFill>
                <a:latin typeface="Poppins"/>
                <a:ea typeface="Poppins"/>
                <a:cs typeface="Poppins"/>
                <a:sym typeface="Poppins"/>
              </a:rPr>
              <a:t> – Thin/runny / Thick/sticky</a:t>
            </a:r>
            <a:endParaRPr>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b="1">
                <a:solidFill>
                  <a:schemeClr val="dk1"/>
                </a:solidFill>
                <a:latin typeface="Poppins"/>
                <a:ea typeface="Poppins"/>
                <a:cs typeface="Poppins"/>
                <a:sym typeface="Poppins"/>
              </a:rPr>
              <a:t>Lava flow speed</a:t>
            </a:r>
            <a:r>
              <a:rPr lang="en">
                <a:solidFill>
                  <a:schemeClr val="dk1"/>
                </a:solidFill>
                <a:latin typeface="Poppins"/>
                <a:ea typeface="Poppins"/>
                <a:cs typeface="Poppins"/>
                <a:sym typeface="Poppins"/>
              </a:rPr>
              <a:t> – Fast / Slow</a:t>
            </a:r>
            <a:endParaRPr>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b="1">
                <a:solidFill>
                  <a:schemeClr val="dk1"/>
                </a:solidFill>
                <a:latin typeface="Poppins"/>
                <a:ea typeface="Poppins"/>
                <a:cs typeface="Poppins"/>
                <a:sym typeface="Poppins"/>
              </a:rPr>
              <a:t>Eruption style</a:t>
            </a:r>
            <a:r>
              <a:rPr lang="en">
                <a:solidFill>
                  <a:schemeClr val="dk1"/>
                </a:solidFill>
                <a:latin typeface="Poppins"/>
                <a:ea typeface="Poppins"/>
                <a:cs typeface="Poppins"/>
                <a:sym typeface="Poppins"/>
              </a:rPr>
              <a:t> – Gentle / Violent</a:t>
            </a:r>
            <a:endParaRPr>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b="1">
                <a:solidFill>
                  <a:schemeClr val="dk1"/>
                </a:solidFill>
                <a:latin typeface="Poppins"/>
                <a:ea typeface="Poppins"/>
                <a:cs typeface="Poppins"/>
                <a:sym typeface="Poppins"/>
              </a:rPr>
              <a:t>Crater</a:t>
            </a:r>
            <a:r>
              <a:rPr lang="en">
                <a:solidFill>
                  <a:schemeClr val="dk1"/>
                </a:solidFill>
                <a:latin typeface="Poppins"/>
                <a:ea typeface="Poppins"/>
                <a:cs typeface="Poppins"/>
                <a:sym typeface="Poppins"/>
              </a:rPr>
              <a:t> – Large / Small</a:t>
            </a:r>
            <a:endParaRPr>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b="1">
                <a:solidFill>
                  <a:schemeClr val="dk1"/>
                </a:solidFill>
                <a:latin typeface="Poppins"/>
                <a:ea typeface="Poppins"/>
                <a:cs typeface="Poppins"/>
                <a:sym typeface="Poppins"/>
              </a:rPr>
              <a:t>Volcanic bombs</a:t>
            </a:r>
            <a:r>
              <a:rPr lang="en">
                <a:solidFill>
                  <a:schemeClr val="dk1"/>
                </a:solidFill>
                <a:latin typeface="Poppins"/>
                <a:ea typeface="Poppins"/>
                <a:cs typeface="Poppins"/>
                <a:sym typeface="Poppins"/>
              </a:rPr>
              <a:t> – None / Often</a:t>
            </a:r>
            <a:endParaRPr>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b="1">
                <a:solidFill>
                  <a:schemeClr val="dk1"/>
                </a:solidFill>
                <a:latin typeface="Poppins"/>
                <a:ea typeface="Poppins"/>
                <a:cs typeface="Poppins"/>
                <a:sym typeface="Poppins"/>
              </a:rPr>
              <a:t>Number of vents</a:t>
            </a:r>
            <a:r>
              <a:rPr lang="en">
                <a:solidFill>
                  <a:schemeClr val="dk1"/>
                </a:solidFill>
                <a:latin typeface="Poppins"/>
                <a:ea typeface="Poppins"/>
                <a:cs typeface="Poppins"/>
                <a:sym typeface="Poppins"/>
              </a:rPr>
              <a:t> – One / Several</a:t>
            </a:r>
            <a:endParaRPr>
              <a:solidFill>
                <a:schemeClr val="dk1"/>
              </a:solidFill>
              <a:latin typeface="Poppins"/>
              <a:ea typeface="Poppins"/>
              <a:cs typeface="Poppins"/>
              <a:sym typeface="Poppins"/>
            </a:endParaRPr>
          </a:p>
        </p:txBody>
      </p:sp>
      <p:pic>
        <p:nvPicPr>
          <p:cNvPr id="2" name="Picture 1">
            <a:extLst>
              <a:ext uri="{FF2B5EF4-FFF2-40B4-BE49-F238E27FC236}">
                <a16:creationId xmlns:a16="http://schemas.microsoft.com/office/drawing/2014/main" id="{77CA0E1C-286B-93D4-AAE4-A3825400502E}"/>
              </a:ext>
            </a:extLst>
          </p:cNvPr>
          <p:cNvPicPr>
            <a:picLocks noChangeAspect="1"/>
          </p:cNvPicPr>
          <p:nvPr/>
        </p:nvPicPr>
        <p:blipFill>
          <a:blip r:embed="rId3"/>
          <a:stretch>
            <a:fillRect/>
          </a:stretch>
        </p:blipFill>
        <p:spPr>
          <a:xfrm>
            <a:off x="4427499" y="735098"/>
            <a:ext cx="3043079" cy="1188250"/>
          </a:xfrm>
          <a:prstGeom prst="rect">
            <a:avLst/>
          </a:prstGeom>
        </p:spPr>
      </p:pic>
      <p:pic>
        <p:nvPicPr>
          <p:cNvPr id="3" name="Picture 2">
            <a:extLst>
              <a:ext uri="{FF2B5EF4-FFF2-40B4-BE49-F238E27FC236}">
                <a16:creationId xmlns:a16="http://schemas.microsoft.com/office/drawing/2014/main" id="{661BBBD8-5F51-500A-DE3E-B8993311B693}"/>
              </a:ext>
            </a:extLst>
          </p:cNvPr>
          <p:cNvPicPr>
            <a:picLocks noChangeAspect="1"/>
          </p:cNvPicPr>
          <p:nvPr/>
        </p:nvPicPr>
        <p:blipFill>
          <a:blip r:embed="rId4"/>
          <a:stretch>
            <a:fillRect/>
          </a:stretch>
        </p:blipFill>
        <p:spPr>
          <a:xfrm>
            <a:off x="4572000" y="2049752"/>
            <a:ext cx="2572663" cy="3009848"/>
          </a:xfrm>
          <a:prstGeom prst="rect">
            <a:avLst/>
          </a:prstGeom>
        </p:spPr>
      </p:pic>
      <p:sp>
        <p:nvSpPr>
          <p:cNvPr id="5" name="TextBox 4">
            <a:extLst>
              <a:ext uri="{FF2B5EF4-FFF2-40B4-BE49-F238E27FC236}">
                <a16:creationId xmlns:a16="http://schemas.microsoft.com/office/drawing/2014/main" id="{9FF7DBAD-DFD9-C9CF-7988-83B781DFC3D9}"/>
              </a:ext>
            </a:extLst>
          </p:cNvPr>
          <p:cNvSpPr txBox="1"/>
          <p:nvPr/>
        </p:nvSpPr>
        <p:spPr>
          <a:xfrm>
            <a:off x="7144663" y="3327612"/>
            <a:ext cx="3635298" cy="584775"/>
          </a:xfrm>
          <a:prstGeom prst="rect">
            <a:avLst/>
          </a:prstGeom>
          <a:noFill/>
        </p:spPr>
        <p:txBody>
          <a:bodyPr wrap="square">
            <a:spAutoFit/>
          </a:bodyPr>
          <a:lstStyle/>
          <a:p>
            <a:r>
              <a:rPr lang="en" sz="3200" dirty="0">
                <a:solidFill>
                  <a:schemeClr val="dk1"/>
                </a:solidFill>
                <a:latin typeface="Baumans"/>
                <a:ea typeface="Baumans"/>
                <a:cs typeface="Baumans"/>
                <a:sym typeface="Baumans"/>
              </a:rPr>
              <a:t>Composite </a:t>
            </a:r>
            <a:endParaRPr lang="en-US" sz="2400" dirty="0"/>
          </a:p>
        </p:txBody>
      </p:sp>
      <p:sp>
        <p:nvSpPr>
          <p:cNvPr id="6" name="TextBox 5">
            <a:extLst>
              <a:ext uri="{FF2B5EF4-FFF2-40B4-BE49-F238E27FC236}">
                <a16:creationId xmlns:a16="http://schemas.microsoft.com/office/drawing/2014/main" id="{7DE07940-42A4-A2B8-D59B-472F776FD140}"/>
              </a:ext>
            </a:extLst>
          </p:cNvPr>
          <p:cNvSpPr txBox="1"/>
          <p:nvPr/>
        </p:nvSpPr>
        <p:spPr>
          <a:xfrm>
            <a:off x="7581774" y="1112639"/>
            <a:ext cx="1184940" cy="523220"/>
          </a:xfrm>
          <a:prstGeom prst="rect">
            <a:avLst/>
          </a:prstGeom>
          <a:noFill/>
        </p:spPr>
        <p:txBody>
          <a:bodyPr wrap="none" rtlCol="0">
            <a:spAutoFit/>
          </a:bodyPr>
          <a:lstStyle/>
          <a:p>
            <a:r>
              <a:rPr lang="en-US" sz="2800" dirty="0"/>
              <a:t>Shield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47C3F642-09E4-5B07-8379-A54DAFB9EE37}"/>
            </a:ext>
          </a:extLst>
        </p:cNvPr>
        <p:cNvGrpSpPr/>
        <p:nvPr/>
      </p:nvGrpSpPr>
      <p:grpSpPr>
        <a:xfrm>
          <a:off x="0" y="0"/>
          <a:ext cx="0" cy="0"/>
          <a:chOff x="0" y="0"/>
          <a:chExt cx="0" cy="0"/>
        </a:xfrm>
      </p:grpSpPr>
      <p:sp>
        <p:nvSpPr>
          <p:cNvPr id="134" name="Google Shape;134;p21">
            <a:extLst>
              <a:ext uri="{FF2B5EF4-FFF2-40B4-BE49-F238E27FC236}">
                <a16:creationId xmlns:a16="http://schemas.microsoft.com/office/drawing/2014/main" id="{B70448B7-30A2-87B0-1531-DDA637F7B519}"/>
              </a:ext>
            </a:extLst>
          </p:cNvPr>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What makes volcanoes hazardous?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Analyse different volcanic hazards in order to assess which is most dangerous</a:t>
            </a:r>
            <a:endParaRPr sz="1200" b="1" i="0" u="none" strike="noStrike" cap="none">
              <a:solidFill>
                <a:srgbClr val="980000"/>
              </a:solidFill>
              <a:latin typeface="Delius"/>
              <a:ea typeface="Delius"/>
              <a:cs typeface="Delius"/>
              <a:sym typeface="Delius"/>
            </a:endParaRPr>
          </a:p>
        </p:txBody>
      </p:sp>
      <p:pic>
        <p:nvPicPr>
          <p:cNvPr id="138" name="Google Shape;138;p21">
            <a:extLst>
              <a:ext uri="{FF2B5EF4-FFF2-40B4-BE49-F238E27FC236}">
                <a16:creationId xmlns:a16="http://schemas.microsoft.com/office/drawing/2014/main" id="{FD0B8209-0722-9F2D-88D7-FA4617774343}"/>
              </a:ext>
            </a:extLst>
          </p:cNvPr>
          <p:cNvPicPr preferRelativeResize="0"/>
          <p:nvPr/>
        </p:nvPicPr>
        <p:blipFill>
          <a:blip r:embed="rId3">
            <a:alphaModFix/>
          </a:blip>
          <a:stretch>
            <a:fillRect/>
          </a:stretch>
        </p:blipFill>
        <p:spPr>
          <a:xfrm>
            <a:off x="4916883" y="1027188"/>
            <a:ext cx="2983186" cy="2168449"/>
          </a:xfrm>
          <a:prstGeom prst="rect">
            <a:avLst/>
          </a:prstGeom>
          <a:noFill/>
          <a:ln>
            <a:noFill/>
          </a:ln>
        </p:spPr>
      </p:pic>
      <p:sp>
        <p:nvSpPr>
          <p:cNvPr id="139" name="Google Shape;139;p21">
            <a:extLst>
              <a:ext uri="{FF2B5EF4-FFF2-40B4-BE49-F238E27FC236}">
                <a16:creationId xmlns:a16="http://schemas.microsoft.com/office/drawing/2014/main" id="{6AB4ADA5-B79F-0C99-1454-3EF2D37F1A20}"/>
              </a:ext>
            </a:extLst>
          </p:cNvPr>
          <p:cNvSpPr txBox="1"/>
          <p:nvPr/>
        </p:nvSpPr>
        <p:spPr>
          <a:xfrm>
            <a:off x="5011376" y="546994"/>
            <a:ext cx="27942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highlight>
                  <a:schemeClr val="lt1"/>
                </a:highlight>
                <a:latin typeface="Patrick Hand"/>
                <a:ea typeface="Patrick Hand"/>
                <a:cs typeface="Patrick Hand"/>
                <a:sym typeface="Patrick Hand"/>
              </a:rPr>
              <a:t>Composite - Mt Fuji, Japan</a:t>
            </a:r>
            <a:endParaRPr sz="2000" b="1">
              <a:highlight>
                <a:schemeClr val="lt1"/>
              </a:highlight>
              <a:latin typeface="Patrick Hand"/>
              <a:ea typeface="Patrick Hand"/>
              <a:cs typeface="Patrick Hand"/>
              <a:sym typeface="Patrick Hand"/>
            </a:endParaRPr>
          </a:p>
        </p:txBody>
      </p:sp>
      <p:sp>
        <p:nvSpPr>
          <p:cNvPr id="140" name="Google Shape;140;p21">
            <a:extLst>
              <a:ext uri="{FF2B5EF4-FFF2-40B4-BE49-F238E27FC236}">
                <a16:creationId xmlns:a16="http://schemas.microsoft.com/office/drawing/2014/main" id="{3C7860B3-8ACF-4AFF-02FA-900595B7FD71}"/>
              </a:ext>
            </a:extLst>
          </p:cNvPr>
          <p:cNvSpPr txBox="1"/>
          <p:nvPr/>
        </p:nvSpPr>
        <p:spPr>
          <a:xfrm>
            <a:off x="106800" y="448674"/>
            <a:ext cx="3160800" cy="2630400"/>
          </a:xfrm>
          <a:prstGeom prst="rect">
            <a:avLst/>
          </a:prstGeom>
          <a:solidFill>
            <a:srgbClr val="FFF2CC"/>
          </a:solid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b="1" dirty="0">
                <a:solidFill>
                  <a:schemeClr val="dk1"/>
                </a:solidFill>
                <a:latin typeface="Poppins"/>
                <a:ea typeface="Poppins"/>
                <a:cs typeface="Poppins"/>
                <a:sym typeface="Poppins"/>
              </a:rPr>
              <a:t>Key Feature Annotations:</a:t>
            </a:r>
            <a:endParaRPr b="1" dirty="0">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b="1" dirty="0">
                <a:solidFill>
                  <a:schemeClr val="dk1"/>
                </a:solidFill>
                <a:latin typeface="Poppins"/>
                <a:ea typeface="Poppins"/>
                <a:cs typeface="Poppins"/>
                <a:sym typeface="Poppins"/>
              </a:rPr>
              <a:t>Slopes</a:t>
            </a:r>
            <a:r>
              <a:rPr lang="en" dirty="0">
                <a:solidFill>
                  <a:schemeClr val="dk1"/>
                </a:solidFill>
                <a:latin typeface="Poppins"/>
                <a:ea typeface="Poppins"/>
                <a:cs typeface="Poppins"/>
                <a:sym typeface="Poppins"/>
              </a:rPr>
              <a:t> – Gentle / Steep</a:t>
            </a:r>
            <a:endParaRPr dirty="0">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b="1" dirty="0">
                <a:solidFill>
                  <a:schemeClr val="dk1"/>
                </a:solidFill>
                <a:latin typeface="Poppins"/>
                <a:ea typeface="Poppins"/>
                <a:cs typeface="Poppins"/>
                <a:sym typeface="Poppins"/>
              </a:rPr>
              <a:t>Base width</a:t>
            </a:r>
            <a:r>
              <a:rPr lang="en" dirty="0">
                <a:solidFill>
                  <a:schemeClr val="dk1"/>
                </a:solidFill>
                <a:latin typeface="Poppins"/>
                <a:ea typeface="Poppins"/>
                <a:cs typeface="Poppins"/>
                <a:sym typeface="Poppins"/>
              </a:rPr>
              <a:t> – Wide / Narrow</a:t>
            </a:r>
            <a:endParaRPr dirty="0">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b="1" dirty="0">
                <a:solidFill>
                  <a:schemeClr val="dk1"/>
                </a:solidFill>
                <a:latin typeface="Poppins"/>
                <a:ea typeface="Poppins"/>
                <a:cs typeface="Poppins"/>
                <a:sym typeface="Poppins"/>
              </a:rPr>
              <a:t>Lava type</a:t>
            </a:r>
            <a:r>
              <a:rPr lang="en" dirty="0">
                <a:solidFill>
                  <a:schemeClr val="dk1"/>
                </a:solidFill>
                <a:latin typeface="Poppins"/>
                <a:ea typeface="Poppins"/>
                <a:cs typeface="Poppins"/>
                <a:sym typeface="Poppins"/>
              </a:rPr>
              <a:t> – Thin/runny / Thick/sticky</a:t>
            </a:r>
            <a:endParaRPr dirty="0">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b="1" dirty="0">
                <a:solidFill>
                  <a:schemeClr val="dk1"/>
                </a:solidFill>
                <a:latin typeface="Poppins"/>
                <a:ea typeface="Poppins"/>
                <a:cs typeface="Poppins"/>
                <a:sym typeface="Poppins"/>
              </a:rPr>
              <a:t>Lava flow speed</a:t>
            </a:r>
            <a:r>
              <a:rPr lang="en" dirty="0">
                <a:solidFill>
                  <a:schemeClr val="dk1"/>
                </a:solidFill>
                <a:latin typeface="Poppins"/>
                <a:ea typeface="Poppins"/>
                <a:cs typeface="Poppins"/>
                <a:sym typeface="Poppins"/>
              </a:rPr>
              <a:t> – Fast / Slow</a:t>
            </a:r>
            <a:endParaRPr dirty="0">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b="1" dirty="0">
                <a:solidFill>
                  <a:schemeClr val="dk1"/>
                </a:solidFill>
                <a:latin typeface="Poppins"/>
                <a:ea typeface="Poppins"/>
                <a:cs typeface="Poppins"/>
                <a:sym typeface="Poppins"/>
              </a:rPr>
              <a:t>Eruption style</a:t>
            </a:r>
            <a:r>
              <a:rPr lang="en" dirty="0">
                <a:solidFill>
                  <a:schemeClr val="dk1"/>
                </a:solidFill>
                <a:latin typeface="Poppins"/>
                <a:ea typeface="Poppins"/>
                <a:cs typeface="Poppins"/>
                <a:sym typeface="Poppins"/>
              </a:rPr>
              <a:t> – Gentle / Violent</a:t>
            </a:r>
            <a:endParaRPr dirty="0">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b="1" dirty="0">
                <a:solidFill>
                  <a:schemeClr val="dk1"/>
                </a:solidFill>
                <a:latin typeface="Poppins"/>
                <a:ea typeface="Poppins"/>
                <a:cs typeface="Poppins"/>
                <a:sym typeface="Poppins"/>
              </a:rPr>
              <a:t>Crater</a:t>
            </a:r>
            <a:r>
              <a:rPr lang="en" dirty="0">
                <a:solidFill>
                  <a:schemeClr val="dk1"/>
                </a:solidFill>
                <a:latin typeface="Poppins"/>
                <a:ea typeface="Poppins"/>
                <a:cs typeface="Poppins"/>
                <a:sym typeface="Poppins"/>
              </a:rPr>
              <a:t> – Large / Small</a:t>
            </a:r>
            <a:endParaRPr dirty="0">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b="1" dirty="0">
                <a:solidFill>
                  <a:schemeClr val="dk1"/>
                </a:solidFill>
                <a:latin typeface="Poppins"/>
                <a:ea typeface="Poppins"/>
                <a:cs typeface="Poppins"/>
                <a:sym typeface="Poppins"/>
              </a:rPr>
              <a:t>Volcanic bombs</a:t>
            </a:r>
            <a:r>
              <a:rPr lang="en" dirty="0">
                <a:solidFill>
                  <a:schemeClr val="dk1"/>
                </a:solidFill>
                <a:latin typeface="Poppins"/>
                <a:ea typeface="Poppins"/>
                <a:cs typeface="Poppins"/>
                <a:sym typeface="Poppins"/>
              </a:rPr>
              <a:t> – None / Often</a:t>
            </a:r>
            <a:endParaRPr dirty="0">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b="1" dirty="0">
                <a:solidFill>
                  <a:schemeClr val="dk1"/>
                </a:solidFill>
                <a:latin typeface="Poppins"/>
                <a:ea typeface="Poppins"/>
                <a:cs typeface="Poppins"/>
                <a:sym typeface="Poppins"/>
              </a:rPr>
              <a:t>Number of vents</a:t>
            </a:r>
            <a:r>
              <a:rPr lang="en" dirty="0">
                <a:solidFill>
                  <a:schemeClr val="dk1"/>
                </a:solidFill>
                <a:latin typeface="Poppins"/>
                <a:ea typeface="Poppins"/>
                <a:cs typeface="Poppins"/>
                <a:sym typeface="Poppins"/>
              </a:rPr>
              <a:t> – One / Several</a:t>
            </a:r>
            <a:endParaRPr dirty="0">
              <a:solidFill>
                <a:schemeClr val="dk1"/>
              </a:solidFill>
              <a:latin typeface="Poppins"/>
              <a:ea typeface="Poppins"/>
              <a:cs typeface="Poppins"/>
              <a:sym typeface="Poppins"/>
            </a:endParaRPr>
          </a:p>
        </p:txBody>
      </p:sp>
      <p:sp>
        <p:nvSpPr>
          <p:cNvPr id="141" name="Google Shape;141;p21">
            <a:extLst>
              <a:ext uri="{FF2B5EF4-FFF2-40B4-BE49-F238E27FC236}">
                <a16:creationId xmlns:a16="http://schemas.microsoft.com/office/drawing/2014/main" id="{906DDCD3-4059-421C-EEB0-2364C4FF920D}"/>
              </a:ext>
            </a:extLst>
          </p:cNvPr>
          <p:cNvSpPr txBox="1"/>
          <p:nvPr/>
        </p:nvSpPr>
        <p:spPr>
          <a:xfrm>
            <a:off x="-63663" y="3353009"/>
            <a:ext cx="9271326" cy="1706591"/>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800" b="1" dirty="0">
                <a:solidFill>
                  <a:schemeClr val="dk1"/>
                </a:solidFill>
                <a:highlight>
                  <a:srgbClr val="00FF00"/>
                </a:highlight>
                <a:latin typeface="Baumans"/>
                <a:ea typeface="Baumans"/>
                <a:cs typeface="Baumans"/>
                <a:sym typeface="Baumans"/>
              </a:rPr>
              <a:t>Activity 5:</a:t>
            </a:r>
            <a:r>
              <a:rPr lang="en" sz="1800" dirty="0">
                <a:solidFill>
                  <a:schemeClr val="dk1"/>
                </a:solidFill>
                <a:latin typeface="Baumans"/>
                <a:ea typeface="Baumans"/>
                <a:cs typeface="Baumans"/>
                <a:sym typeface="Baumans"/>
              </a:rPr>
              <a:t> - Describe Mount Fuji’s main features and explain why it is potentially dangerous for the people who live nearby.</a:t>
            </a:r>
            <a:endParaRPr sz="1800" dirty="0">
              <a:solidFill>
                <a:schemeClr val="dk1"/>
              </a:solidFill>
              <a:latin typeface="Baumans"/>
              <a:ea typeface="Baumans"/>
              <a:cs typeface="Baumans"/>
              <a:sym typeface="Baumans"/>
            </a:endParaRPr>
          </a:p>
          <a:p>
            <a:pPr marL="0" lvl="0" indent="0" algn="l" rtl="0">
              <a:lnSpc>
                <a:spcPct val="115000"/>
              </a:lnSpc>
              <a:spcBef>
                <a:spcPts val="0"/>
              </a:spcBef>
              <a:spcAft>
                <a:spcPts val="0"/>
              </a:spcAft>
              <a:buNone/>
            </a:pPr>
            <a:r>
              <a:rPr lang="en" sz="1800" dirty="0">
                <a:solidFill>
                  <a:schemeClr val="dk1"/>
                </a:solidFill>
                <a:latin typeface="Baumans"/>
                <a:ea typeface="Baumans"/>
                <a:cs typeface="Baumans"/>
                <a:sym typeface="Baumans"/>
              </a:rPr>
              <a:t>Write your answer in </a:t>
            </a:r>
            <a:r>
              <a:rPr lang="en" sz="1800" b="1" dirty="0">
                <a:solidFill>
                  <a:schemeClr val="dk1"/>
                </a:solidFill>
                <a:latin typeface="Baumans"/>
                <a:ea typeface="Baumans"/>
                <a:cs typeface="Baumans"/>
                <a:sym typeface="Baumans"/>
              </a:rPr>
              <a:t>2</a:t>
            </a:r>
            <a:r>
              <a:rPr lang="en" sz="1800" dirty="0">
                <a:solidFill>
                  <a:schemeClr val="dk1"/>
                </a:solidFill>
                <a:latin typeface="Baumans"/>
                <a:ea typeface="Baumans"/>
                <a:cs typeface="Baumans"/>
                <a:sym typeface="Baumans"/>
              </a:rPr>
              <a:t> </a:t>
            </a:r>
            <a:r>
              <a:rPr lang="en" sz="1800" b="1" dirty="0">
                <a:solidFill>
                  <a:srgbClr val="980000"/>
                </a:solidFill>
                <a:latin typeface="Baumans"/>
                <a:ea typeface="Baumans"/>
                <a:cs typeface="Baumans"/>
                <a:sym typeface="Baumans"/>
              </a:rPr>
              <a:t>P</a:t>
            </a:r>
            <a:r>
              <a:rPr lang="en" sz="1800" b="1" dirty="0">
                <a:solidFill>
                  <a:srgbClr val="0000FF"/>
                </a:solidFill>
                <a:latin typeface="Baumans"/>
                <a:ea typeface="Baumans"/>
                <a:cs typeface="Baumans"/>
                <a:sym typeface="Baumans"/>
              </a:rPr>
              <a:t>E</a:t>
            </a:r>
            <a:r>
              <a:rPr lang="en" sz="1800" b="1" dirty="0">
                <a:solidFill>
                  <a:srgbClr val="274E13"/>
                </a:solidFill>
                <a:latin typeface="Baumans"/>
                <a:ea typeface="Baumans"/>
                <a:cs typeface="Baumans"/>
                <a:sym typeface="Baumans"/>
              </a:rPr>
              <a:t>E</a:t>
            </a:r>
            <a:r>
              <a:rPr lang="en" sz="1800" b="1" dirty="0">
                <a:solidFill>
                  <a:srgbClr val="FF6600"/>
                </a:solidFill>
                <a:latin typeface="Baumans"/>
                <a:ea typeface="Baumans"/>
                <a:cs typeface="Baumans"/>
                <a:sym typeface="Baumans"/>
              </a:rPr>
              <a:t>L</a:t>
            </a:r>
            <a:r>
              <a:rPr lang="en" sz="1800" dirty="0">
                <a:solidFill>
                  <a:schemeClr val="dk1"/>
                </a:solidFill>
                <a:latin typeface="Baumans"/>
                <a:ea typeface="Baumans"/>
                <a:cs typeface="Baumans"/>
                <a:sym typeface="Baumans"/>
              </a:rPr>
              <a:t> paragraphs with each paragraph focusing on </a:t>
            </a:r>
            <a:r>
              <a:rPr lang="en" sz="1800" b="1" dirty="0">
                <a:solidFill>
                  <a:schemeClr val="dk1"/>
                </a:solidFill>
                <a:latin typeface="Baumans"/>
                <a:ea typeface="Baumans"/>
                <a:cs typeface="Baumans"/>
                <a:sym typeface="Baumans"/>
              </a:rPr>
              <a:t>one</a:t>
            </a:r>
            <a:r>
              <a:rPr lang="en" sz="1800" dirty="0">
                <a:solidFill>
                  <a:schemeClr val="dk1"/>
                </a:solidFill>
                <a:latin typeface="Baumans"/>
                <a:ea typeface="Baumans"/>
                <a:cs typeface="Baumans"/>
                <a:sym typeface="Baumans"/>
              </a:rPr>
              <a:t> potential hazard if Mount Fuji erupts.</a:t>
            </a:r>
            <a:endParaRPr sz="1800" dirty="0">
              <a:solidFill>
                <a:schemeClr val="dk1"/>
              </a:solidFill>
              <a:latin typeface="Baumans"/>
              <a:ea typeface="Baumans"/>
              <a:cs typeface="Baumans"/>
              <a:sym typeface="Baumans"/>
            </a:endParaRPr>
          </a:p>
          <a:p>
            <a:pPr marL="0" lvl="0" indent="0" algn="ctr" rtl="0">
              <a:lnSpc>
                <a:spcPct val="115000"/>
              </a:lnSpc>
              <a:spcBef>
                <a:spcPts val="0"/>
              </a:spcBef>
              <a:spcAft>
                <a:spcPts val="0"/>
              </a:spcAft>
              <a:buNone/>
            </a:pPr>
            <a:r>
              <a:rPr lang="en" b="1" dirty="0">
                <a:solidFill>
                  <a:srgbClr val="980000"/>
                </a:solidFill>
                <a:latin typeface="Poppins"/>
                <a:ea typeface="Poppins"/>
                <a:cs typeface="Poppins"/>
                <a:sym typeface="Poppins"/>
              </a:rPr>
              <a:t>Hazards:</a:t>
            </a:r>
            <a:r>
              <a:rPr lang="en" dirty="0">
                <a:solidFill>
                  <a:srgbClr val="980000"/>
                </a:solidFill>
                <a:latin typeface="Poppins"/>
                <a:ea typeface="Poppins"/>
                <a:cs typeface="Poppins"/>
                <a:sym typeface="Poppins"/>
              </a:rPr>
              <a:t> - lava type, lava flow speed, eruption style, crater, volcanic bombs &amp; vents.</a:t>
            </a:r>
            <a:endParaRPr dirty="0">
              <a:solidFill>
                <a:srgbClr val="980000"/>
              </a:solidFill>
              <a:latin typeface="Poppins"/>
              <a:ea typeface="Poppins"/>
              <a:cs typeface="Poppins"/>
              <a:sym typeface="Poppins"/>
            </a:endParaRPr>
          </a:p>
        </p:txBody>
      </p:sp>
      <p:pic>
        <p:nvPicPr>
          <p:cNvPr id="3" name="Picture 2">
            <a:extLst>
              <a:ext uri="{FF2B5EF4-FFF2-40B4-BE49-F238E27FC236}">
                <a16:creationId xmlns:a16="http://schemas.microsoft.com/office/drawing/2014/main" id="{45B5A434-64B2-7C6B-6BF5-F9290FF4F034}"/>
              </a:ext>
            </a:extLst>
          </p:cNvPr>
          <p:cNvPicPr>
            <a:picLocks noChangeAspect="1"/>
          </p:cNvPicPr>
          <p:nvPr/>
        </p:nvPicPr>
        <p:blipFill>
          <a:blip r:embed="rId4"/>
          <a:stretch>
            <a:fillRect/>
          </a:stretch>
        </p:blipFill>
        <p:spPr>
          <a:xfrm>
            <a:off x="8307779" y="195513"/>
            <a:ext cx="710873" cy="831675"/>
          </a:xfrm>
          <a:prstGeom prst="rect">
            <a:avLst/>
          </a:prstGeom>
        </p:spPr>
      </p:pic>
    </p:spTree>
    <p:extLst>
      <p:ext uri="{BB962C8B-B14F-4D97-AF65-F5344CB8AC3E}">
        <p14:creationId xmlns:p14="http://schemas.microsoft.com/office/powerpoint/2010/main" val="1797636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1"/>
                                        </p:tgtEl>
                                        <p:attrNameLst>
                                          <p:attrName>style.visibility</p:attrName>
                                        </p:attrNameLst>
                                      </p:cBhvr>
                                      <p:to>
                                        <p:strVal val="visible"/>
                                      </p:to>
                                    </p:set>
                                    <p:anim calcmode="lin" valueType="num">
                                      <p:cBhvr additive="base">
                                        <p:cTn id="7" dur="500" fill="hold"/>
                                        <p:tgtEl>
                                          <p:spTgt spid="141"/>
                                        </p:tgtEl>
                                        <p:attrNameLst>
                                          <p:attrName>ppt_x</p:attrName>
                                        </p:attrNameLst>
                                      </p:cBhvr>
                                      <p:tavLst>
                                        <p:tav tm="0">
                                          <p:val>
                                            <p:strVal val="#ppt_x"/>
                                          </p:val>
                                        </p:tav>
                                        <p:tav tm="100000">
                                          <p:val>
                                            <p:strVal val="#ppt_x"/>
                                          </p:val>
                                        </p:tav>
                                      </p:tavLst>
                                    </p:anim>
                                    <p:anim calcmode="lin" valueType="num">
                                      <p:cBhvr additive="base">
                                        <p:cTn id="8" dur="500" fill="hold"/>
                                        <p:tgtEl>
                                          <p:spTgt spid="1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2"/>
          <p:cNvSpPr txBox="1"/>
          <p:nvPr/>
        </p:nvSpPr>
        <p:spPr>
          <a:xfrm>
            <a:off x="123100" y="278075"/>
            <a:ext cx="5261100" cy="4821000"/>
          </a:xfrm>
          <a:prstGeom prst="rect">
            <a:avLst/>
          </a:prstGeom>
          <a:solidFill>
            <a:srgbClr val="FFF2CC"/>
          </a:solid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600" b="1" u="sng" dirty="0">
                <a:solidFill>
                  <a:schemeClr val="dk1"/>
                </a:solidFill>
                <a:latin typeface="Poppins"/>
                <a:ea typeface="Poppins"/>
                <a:cs typeface="Poppins"/>
                <a:sym typeface="Poppins"/>
              </a:rPr>
              <a:t>PEEL Structure for Mount Fuji</a:t>
            </a:r>
            <a:endParaRPr sz="1600" b="1" u="sng" dirty="0">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endParaRPr sz="600" b="1" dirty="0">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sz="1600" b="1" dirty="0">
                <a:solidFill>
                  <a:schemeClr val="dk1"/>
                </a:solidFill>
                <a:latin typeface="Poppins"/>
                <a:ea typeface="Poppins"/>
                <a:cs typeface="Poppins"/>
                <a:sym typeface="Poppins"/>
              </a:rPr>
              <a:t>Point</a:t>
            </a:r>
            <a:endParaRPr sz="1600" b="1" dirty="0">
              <a:solidFill>
                <a:schemeClr val="dk1"/>
              </a:solidFill>
              <a:latin typeface="Poppins"/>
              <a:ea typeface="Poppins"/>
              <a:cs typeface="Poppins"/>
              <a:sym typeface="Poppins"/>
            </a:endParaRPr>
          </a:p>
          <a:p>
            <a:pPr marL="457200" lvl="0" indent="-330200" algn="l" rtl="0">
              <a:lnSpc>
                <a:spcPct val="115000"/>
              </a:lnSpc>
              <a:spcBef>
                <a:spcPts val="0"/>
              </a:spcBef>
              <a:spcAft>
                <a:spcPts val="0"/>
              </a:spcAft>
              <a:buClr>
                <a:schemeClr val="dk1"/>
              </a:buClr>
              <a:buSzPts val="1600"/>
              <a:buFont typeface="Poppins"/>
              <a:buChar char="●"/>
            </a:pPr>
            <a:r>
              <a:rPr lang="en" sz="1600" dirty="0">
                <a:solidFill>
                  <a:schemeClr val="dk1"/>
                </a:solidFill>
                <a:latin typeface="Poppins"/>
                <a:ea typeface="Poppins"/>
                <a:cs typeface="Poppins"/>
                <a:sym typeface="Poppins"/>
              </a:rPr>
              <a:t>Mt. Fuji is dangerous because…</a:t>
            </a:r>
            <a:endParaRPr sz="1600" dirty="0">
              <a:solidFill>
                <a:schemeClr val="dk1"/>
              </a:solidFill>
              <a:latin typeface="Poppins"/>
              <a:ea typeface="Poppins"/>
              <a:cs typeface="Poppins"/>
              <a:sym typeface="Poppins"/>
            </a:endParaRPr>
          </a:p>
          <a:p>
            <a:pPr marL="457200" lvl="0" indent="-330200" algn="l" rtl="0">
              <a:lnSpc>
                <a:spcPct val="115000"/>
              </a:lnSpc>
              <a:spcBef>
                <a:spcPts val="0"/>
              </a:spcBef>
              <a:spcAft>
                <a:spcPts val="0"/>
              </a:spcAft>
              <a:buClr>
                <a:schemeClr val="dk1"/>
              </a:buClr>
              <a:buSzPts val="1600"/>
              <a:buFont typeface="Poppins"/>
              <a:buChar char="●"/>
            </a:pPr>
            <a:r>
              <a:rPr lang="en" sz="1600" dirty="0">
                <a:solidFill>
                  <a:schemeClr val="dk1"/>
                </a:solidFill>
                <a:latin typeface="Poppins"/>
                <a:ea typeface="Poppins"/>
                <a:cs typeface="Poppins"/>
                <a:sym typeface="Poppins"/>
              </a:rPr>
              <a:t>People living at Mt. Fuji are at risk because…</a:t>
            </a:r>
            <a:endParaRPr sz="1600" dirty="0">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endParaRPr sz="600" dirty="0">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sz="1600" b="1" dirty="0">
                <a:solidFill>
                  <a:schemeClr val="dk1"/>
                </a:solidFill>
                <a:latin typeface="Poppins"/>
                <a:ea typeface="Poppins"/>
                <a:cs typeface="Poppins"/>
                <a:sym typeface="Poppins"/>
              </a:rPr>
              <a:t>Evidence</a:t>
            </a:r>
            <a:endParaRPr sz="1600" b="1" dirty="0">
              <a:solidFill>
                <a:schemeClr val="dk1"/>
              </a:solidFill>
              <a:latin typeface="Poppins"/>
              <a:ea typeface="Poppins"/>
              <a:cs typeface="Poppins"/>
              <a:sym typeface="Poppins"/>
            </a:endParaRPr>
          </a:p>
          <a:p>
            <a:pPr marL="457200" lvl="0" indent="-330200" algn="l" rtl="0">
              <a:lnSpc>
                <a:spcPct val="115000"/>
              </a:lnSpc>
              <a:spcBef>
                <a:spcPts val="0"/>
              </a:spcBef>
              <a:spcAft>
                <a:spcPts val="0"/>
              </a:spcAft>
              <a:buClr>
                <a:schemeClr val="dk1"/>
              </a:buClr>
              <a:buSzPts val="1600"/>
              <a:buFont typeface="Poppins"/>
              <a:buChar char="●"/>
            </a:pPr>
            <a:r>
              <a:rPr lang="en" sz="1600" dirty="0">
                <a:solidFill>
                  <a:schemeClr val="dk1"/>
                </a:solidFill>
                <a:latin typeface="Poppins"/>
                <a:ea typeface="Poppins"/>
                <a:cs typeface="Poppins"/>
                <a:sym typeface="Poppins"/>
              </a:rPr>
              <a:t>For example, a potential hazard if Mount Fuji erupts is… </a:t>
            </a:r>
            <a:r>
              <a:rPr lang="en" dirty="0">
                <a:solidFill>
                  <a:srgbClr val="980000"/>
                </a:solidFill>
                <a:latin typeface="Patrick Hand"/>
                <a:ea typeface="Patrick Hand"/>
                <a:cs typeface="Patrick Hand"/>
                <a:sym typeface="Patrick Hand"/>
              </a:rPr>
              <a:t>(choose from the list)</a:t>
            </a:r>
            <a:endParaRPr dirty="0">
              <a:solidFill>
                <a:srgbClr val="980000"/>
              </a:solidFill>
              <a:latin typeface="Patrick Hand"/>
              <a:ea typeface="Patrick Hand"/>
              <a:cs typeface="Patrick Hand"/>
              <a:sym typeface="Patrick Hand"/>
            </a:endParaRPr>
          </a:p>
          <a:p>
            <a:pPr marL="457200" lvl="0" indent="-330200" algn="l" rtl="0">
              <a:lnSpc>
                <a:spcPct val="115000"/>
              </a:lnSpc>
              <a:spcBef>
                <a:spcPts val="0"/>
              </a:spcBef>
              <a:spcAft>
                <a:spcPts val="0"/>
              </a:spcAft>
              <a:buClr>
                <a:schemeClr val="dk1"/>
              </a:buClr>
              <a:buSzPts val="1600"/>
              <a:buFont typeface="Poppins"/>
              <a:buChar char="●"/>
            </a:pPr>
            <a:r>
              <a:rPr lang="en" sz="1600" dirty="0">
                <a:solidFill>
                  <a:schemeClr val="dk1"/>
                </a:solidFill>
                <a:latin typeface="Poppins"/>
                <a:ea typeface="Poppins"/>
                <a:cs typeface="Poppins"/>
                <a:sym typeface="Poppins"/>
              </a:rPr>
              <a:t>Another potential hazard is… </a:t>
            </a:r>
            <a:r>
              <a:rPr lang="en" dirty="0">
                <a:solidFill>
                  <a:srgbClr val="980000"/>
                </a:solidFill>
                <a:latin typeface="Patrick Hand"/>
                <a:ea typeface="Patrick Hand"/>
                <a:cs typeface="Patrick Hand"/>
                <a:sym typeface="Patrick Hand"/>
              </a:rPr>
              <a:t>(choose from the list)</a:t>
            </a:r>
            <a:endParaRPr dirty="0">
              <a:solidFill>
                <a:srgbClr val="980000"/>
              </a:solidFill>
              <a:latin typeface="Patrick Hand"/>
              <a:ea typeface="Patrick Hand"/>
              <a:cs typeface="Patrick Hand"/>
              <a:sym typeface="Patrick Hand"/>
            </a:endParaRPr>
          </a:p>
          <a:p>
            <a:pPr marL="0" lvl="0" indent="0" algn="l" rtl="0">
              <a:lnSpc>
                <a:spcPct val="115000"/>
              </a:lnSpc>
              <a:spcBef>
                <a:spcPts val="0"/>
              </a:spcBef>
              <a:spcAft>
                <a:spcPts val="0"/>
              </a:spcAft>
              <a:buNone/>
            </a:pPr>
            <a:endParaRPr sz="600" dirty="0">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sz="1600" b="1" dirty="0">
                <a:solidFill>
                  <a:schemeClr val="dk1"/>
                </a:solidFill>
                <a:latin typeface="Poppins"/>
                <a:ea typeface="Poppins"/>
                <a:cs typeface="Poppins"/>
                <a:sym typeface="Poppins"/>
              </a:rPr>
              <a:t>Explain</a:t>
            </a:r>
            <a:endParaRPr sz="1600" b="1" dirty="0">
              <a:solidFill>
                <a:schemeClr val="dk1"/>
              </a:solidFill>
              <a:latin typeface="Poppins"/>
              <a:ea typeface="Poppins"/>
              <a:cs typeface="Poppins"/>
              <a:sym typeface="Poppins"/>
            </a:endParaRPr>
          </a:p>
          <a:p>
            <a:pPr marL="457200" lvl="0" indent="-330200" algn="l" rtl="0">
              <a:lnSpc>
                <a:spcPct val="115000"/>
              </a:lnSpc>
              <a:spcBef>
                <a:spcPts val="0"/>
              </a:spcBef>
              <a:spcAft>
                <a:spcPts val="0"/>
              </a:spcAft>
              <a:buClr>
                <a:schemeClr val="dk1"/>
              </a:buClr>
              <a:buSzPts val="1600"/>
              <a:buFont typeface="Poppins"/>
              <a:buChar char="●"/>
            </a:pPr>
            <a:r>
              <a:rPr lang="en" sz="1600" dirty="0">
                <a:solidFill>
                  <a:schemeClr val="dk1"/>
                </a:solidFill>
                <a:latin typeface="Poppins"/>
                <a:ea typeface="Poppins"/>
                <a:cs typeface="Poppins"/>
                <a:sym typeface="Poppins"/>
              </a:rPr>
              <a:t>This is dangerous because…</a:t>
            </a:r>
            <a:endParaRPr sz="1600" dirty="0">
              <a:solidFill>
                <a:schemeClr val="dk1"/>
              </a:solidFill>
              <a:latin typeface="Poppins"/>
              <a:ea typeface="Poppins"/>
              <a:cs typeface="Poppins"/>
              <a:sym typeface="Poppins"/>
            </a:endParaRPr>
          </a:p>
          <a:p>
            <a:pPr marL="457200" lvl="0" indent="-330200" algn="l" rtl="0">
              <a:lnSpc>
                <a:spcPct val="115000"/>
              </a:lnSpc>
              <a:spcBef>
                <a:spcPts val="0"/>
              </a:spcBef>
              <a:spcAft>
                <a:spcPts val="0"/>
              </a:spcAft>
              <a:buClr>
                <a:schemeClr val="dk1"/>
              </a:buClr>
              <a:buSzPts val="1600"/>
              <a:buFont typeface="Poppins"/>
              <a:buChar char="●"/>
            </a:pPr>
            <a:r>
              <a:rPr lang="en" sz="1600" dirty="0">
                <a:solidFill>
                  <a:schemeClr val="dk1"/>
                </a:solidFill>
                <a:latin typeface="Poppins"/>
                <a:ea typeface="Poppins"/>
                <a:cs typeface="Poppins"/>
                <a:sym typeface="Poppins"/>
              </a:rPr>
              <a:t>As a result, people/buildings…</a:t>
            </a:r>
            <a:endParaRPr sz="1600" dirty="0">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endParaRPr sz="600" dirty="0">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sz="1600" b="1" dirty="0">
                <a:solidFill>
                  <a:schemeClr val="dk1"/>
                </a:solidFill>
                <a:latin typeface="Poppins"/>
                <a:ea typeface="Poppins"/>
                <a:cs typeface="Poppins"/>
                <a:sym typeface="Poppins"/>
              </a:rPr>
              <a:t>Link</a:t>
            </a:r>
            <a:endParaRPr sz="1600" b="1" dirty="0">
              <a:solidFill>
                <a:schemeClr val="dk1"/>
              </a:solidFill>
              <a:latin typeface="Poppins"/>
              <a:ea typeface="Poppins"/>
              <a:cs typeface="Poppins"/>
              <a:sym typeface="Poppins"/>
            </a:endParaRPr>
          </a:p>
          <a:p>
            <a:pPr marL="457200" lvl="0" indent="-330200" algn="l" rtl="0">
              <a:lnSpc>
                <a:spcPct val="115000"/>
              </a:lnSpc>
              <a:spcBef>
                <a:spcPts val="0"/>
              </a:spcBef>
              <a:spcAft>
                <a:spcPts val="0"/>
              </a:spcAft>
              <a:buClr>
                <a:schemeClr val="dk1"/>
              </a:buClr>
              <a:buSzPts val="1600"/>
              <a:buFont typeface="Poppins"/>
              <a:buChar char="●"/>
            </a:pPr>
            <a:r>
              <a:rPr lang="en" sz="1600" dirty="0">
                <a:solidFill>
                  <a:schemeClr val="dk1"/>
                </a:solidFill>
                <a:latin typeface="Poppins"/>
                <a:ea typeface="Poppins"/>
                <a:cs typeface="Poppins"/>
                <a:sym typeface="Poppins"/>
              </a:rPr>
              <a:t>Therefore, Mount Fuji is a serious danger to…</a:t>
            </a:r>
            <a:endParaRPr sz="1600" dirty="0">
              <a:solidFill>
                <a:schemeClr val="dk1"/>
              </a:solidFill>
              <a:latin typeface="Poppins"/>
              <a:ea typeface="Poppins"/>
              <a:cs typeface="Poppins"/>
              <a:sym typeface="Poppins"/>
            </a:endParaRPr>
          </a:p>
          <a:p>
            <a:pPr marL="457200" lvl="0" indent="-330200" algn="l" rtl="0">
              <a:lnSpc>
                <a:spcPct val="115000"/>
              </a:lnSpc>
              <a:spcBef>
                <a:spcPts val="0"/>
              </a:spcBef>
              <a:spcAft>
                <a:spcPts val="0"/>
              </a:spcAft>
              <a:buClr>
                <a:schemeClr val="dk1"/>
              </a:buClr>
              <a:buSzPts val="1600"/>
              <a:buFont typeface="Poppins"/>
              <a:buChar char="●"/>
            </a:pPr>
            <a:r>
              <a:rPr lang="en" sz="1600" dirty="0">
                <a:solidFill>
                  <a:schemeClr val="dk1"/>
                </a:solidFill>
                <a:latin typeface="Poppins"/>
                <a:ea typeface="Poppins"/>
                <a:cs typeface="Poppins"/>
                <a:sym typeface="Poppins"/>
              </a:rPr>
              <a:t>This shows that Mount Fuji is potentially harmful to people and buildings because…</a:t>
            </a:r>
            <a:endParaRPr sz="1600" dirty="0">
              <a:solidFill>
                <a:schemeClr val="dk1"/>
              </a:solidFill>
              <a:latin typeface="Poppins"/>
              <a:ea typeface="Poppins"/>
              <a:cs typeface="Poppins"/>
              <a:sym typeface="Poppins"/>
            </a:endParaRPr>
          </a:p>
        </p:txBody>
      </p:sp>
      <p:sp>
        <p:nvSpPr>
          <p:cNvPr id="147" name="Google Shape;147;p22"/>
          <p:cNvSpPr txBox="1"/>
          <p:nvPr/>
        </p:nvSpPr>
        <p:spPr>
          <a:xfrm>
            <a:off x="6651250" y="3276750"/>
            <a:ext cx="2361000" cy="184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latin typeface="Baumans"/>
                <a:ea typeface="Baumans"/>
                <a:cs typeface="Baumans"/>
                <a:sym typeface="Baumans"/>
              </a:rPr>
              <a:t>Make your paragraph </a:t>
            </a:r>
            <a:r>
              <a:rPr lang="en" sz="1600" b="1">
                <a:solidFill>
                  <a:srgbClr val="373743"/>
                </a:solidFill>
                <a:latin typeface="Finger Paint"/>
                <a:ea typeface="Finger Paint"/>
                <a:cs typeface="Finger Paint"/>
                <a:sym typeface="Finger Paint"/>
              </a:rPr>
              <a:t>Extra Hot</a:t>
            </a:r>
            <a:r>
              <a:rPr lang="en" sz="1600">
                <a:latin typeface="Baumans"/>
                <a:ea typeface="Baumans"/>
                <a:cs typeface="Baumans"/>
                <a:sym typeface="Baumans"/>
              </a:rPr>
              <a:t> by adding in the values people living near Mount Fuji might need to show.</a:t>
            </a:r>
            <a:endParaRPr sz="1800">
              <a:latin typeface="Baumans"/>
              <a:ea typeface="Baumans"/>
              <a:cs typeface="Baumans"/>
              <a:sym typeface="Baumans"/>
            </a:endParaRPr>
          </a:p>
          <a:p>
            <a:pPr marL="0" lvl="0" indent="0" algn="l" rtl="0">
              <a:spcBef>
                <a:spcPts val="0"/>
              </a:spcBef>
              <a:spcAft>
                <a:spcPts val="0"/>
              </a:spcAft>
              <a:buNone/>
            </a:pPr>
            <a:r>
              <a:rPr lang="en">
                <a:latin typeface="Patrick Hand"/>
                <a:ea typeface="Patrick Hand"/>
                <a:cs typeface="Patrick Hand"/>
                <a:sym typeface="Patrick Hand"/>
              </a:rPr>
              <a:t>(E.g. Resilience, preparedness, or responsibility).</a:t>
            </a:r>
            <a:endParaRPr sz="1000">
              <a:latin typeface="Patrick Hand"/>
              <a:ea typeface="Patrick Hand"/>
              <a:cs typeface="Patrick Hand"/>
              <a:sym typeface="Patrick Hand"/>
            </a:endParaRPr>
          </a:p>
        </p:txBody>
      </p:sp>
      <p:pic>
        <p:nvPicPr>
          <p:cNvPr id="148" name="Google Shape;148;p22"/>
          <p:cNvPicPr preferRelativeResize="0"/>
          <p:nvPr/>
        </p:nvPicPr>
        <p:blipFill>
          <a:blip r:embed="rId3">
            <a:alphaModFix/>
          </a:blip>
          <a:stretch>
            <a:fillRect/>
          </a:stretch>
        </p:blipFill>
        <p:spPr>
          <a:xfrm>
            <a:off x="5531950" y="3429063"/>
            <a:ext cx="971550" cy="1265275"/>
          </a:xfrm>
          <a:prstGeom prst="rect">
            <a:avLst/>
          </a:prstGeom>
          <a:noFill/>
          <a:ln>
            <a:noFill/>
          </a:ln>
        </p:spPr>
      </p:pic>
      <p:pic>
        <p:nvPicPr>
          <p:cNvPr id="149" name="Google Shape;149;p22" title="Screenshot 2025-09-09 at 2.56.30 PM.png"/>
          <p:cNvPicPr preferRelativeResize="0"/>
          <p:nvPr/>
        </p:nvPicPr>
        <p:blipFill>
          <a:blip r:embed="rId4">
            <a:alphaModFix/>
          </a:blip>
          <a:stretch>
            <a:fillRect/>
          </a:stretch>
        </p:blipFill>
        <p:spPr>
          <a:xfrm>
            <a:off x="5492856" y="278075"/>
            <a:ext cx="1049750" cy="2393800"/>
          </a:xfrm>
          <a:prstGeom prst="rect">
            <a:avLst/>
          </a:prstGeom>
          <a:noFill/>
          <a:ln>
            <a:noFill/>
          </a:ln>
        </p:spPr>
      </p:pic>
      <p:sp>
        <p:nvSpPr>
          <p:cNvPr id="150" name="Google Shape;150;p22"/>
          <p:cNvSpPr txBox="1"/>
          <p:nvPr/>
        </p:nvSpPr>
        <p:spPr>
          <a:xfrm>
            <a:off x="6542600" y="328375"/>
            <a:ext cx="25032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a:solidFill>
                  <a:schemeClr val="dk1"/>
                </a:solidFill>
                <a:latin typeface="Baumans"/>
                <a:ea typeface="Baumans"/>
                <a:cs typeface="Baumans"/>
                <a:sym typeface="Baumans"/>
              </a:rPr>
              <a:t>Make a clear statement about why Mount Fuji is dangerous.</a:t>
            </a:r>
            <a:endParaRPr sz="1200" b="1">
              <a:solidFill>
                <a:schemeClr val="dk1"/>
              </a:solidFill>
              <a:latin typeface="Baumans"/>
              <a:ea typeface="Baumans"/>
              <a:cs typeface="Baumans"/>
              <a:sym typeface="Baumans"/>
            </a:endParaRPr>
          </a:p>
        </p:txBody>
      </p:sp>
      <p:sp>
        <p:nvSpPr>
          <p:cNvPr id="151" name="Google Shape;151;p22"/>
          <p:cNvSpPr txBox="1"/>
          <p:nvPr/>
        </p:nvSpPr>
        <p:spPr>
          <a:xfrm>
            <a:off x="6542600" y="2131725"/>
            <a:ext cx="25032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a:solidFill>
                  <a:schemeClr val="dk1"/>
                </a:solidFill>
                <a:latin typeface="Baumans"/>
                <a:ea typeface="Baumans"/>
                <a:cs typeface="Baumans"/>
                <a:sym typeface="Baumans"/>
              </a:rPr>
              <a:t>Link back to the overall question about Mount Fuji’s dangers.</a:t>
            </a:r>
            <a:endParaRPr sz="1500" b="1">
              <a:latin typeface="Baumans"/>
              <a:ea typeface="Baumans"/>
              <a:cs typeface="Baumans"/>
              <a:sym typeface="Baumans"/>
            </a:endParaRPr>
          </a:p>
        </p:txBody>
      </p:sp>
      <p:sp>
        <p:nvSpPr>
          <p:cNvPr id="152" name="Google Shape;152;p22"/>
          <p:cNvSpPr txBox="1"/>
          <p:nvPr/>
        </p:nvSpPr>
        <p:spPr>
          <a:xfrm>
            <a:off x="6551075" y="922600"/>
            <a:ext cx="25032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a:solidFill>
                  <a:schemeClr val="dk1"/>
                </a:solidFill>
                <a:latin typeface="Baumans"/>
                <a:ea typeface="Baumans"/>
                <a:cs typeface="Baumans"/>
                <a:sym typeface="Baumans"/>
              </a:rPr>
              <a:t>Use </a:t>
            </a:r>
            <a:r>
              <a:rPr lang="en" sz="1200" b="1">
                <a:solidFill>
                  <a:srgbClr val="980000"/>
                </a:solidFill>
                <a:latin typeface="Baumans"/>
                <a:ea typeface="Baumans"/>
                <a:cs typeface="Baumans"/>
                <a:sym typeface="Baumans"/>
              </a:rPr>
              <a:t>two of the key features </a:t>
            </a:r>
            <a:r>
              <a:rPr lang="en" sz="1200" b="1">
                <a:solidFill>
                  <a:schemeClr val="dk1"/>
                </a:solidFill>
                <a:latin typeface="Baumans"/>
                <a:ea typeface="Baumans"/>
                <a:cs typeface="Baumans"/>
                <a:sym typeface="Baumans"/>
              </a:rPr>
              <a:t>(from the list) to describe Mount Fuji.</a:t>
            </a:r>
            <a:endParaRPr sz="1500" b="1">
              <a:latin typeface="Baumans"/>
              <a:ea typeface="Baumans"/>
              <a:cs typeface="Baumans"/>
              <a:sym typeface="Baumans"/>
            </a:endParaRPr>
          </a:p>
        </p:txBody>
      </p:sp>
      <p:sp>
        <p:nvSpPr>
          <p:cNvPr id="153" name="Google Shape;153;p22"/>
          <p:cNvSpPr txBox="1"/>
          <p:nvPr/>
        </p:nvSpPr>
        <p:spPr>
          <a:xfrm>
            <a:off x="6542600" y="1516775"/>
            <a:ext cx="25032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a:solidFill>
                  <a:schemeClr val="dk1"/>
                </a:solidFill>
                <a:latin typeface="Baumans"/>
                <a:ea typeface="Baumans"/>
                <a:cs typeface="Baumans"/>
                <a:sym typeface="Baumans"/>
              </a:rPr>
              <a:t>Explain why those features make it dangerous for people or buildings.</a:t>
            </a:r>
            <a:endParaRPr sz="1500" b="1">
              <a:latin typeface="Baumans"/>
              <a:ea typeface="Baumans"/>
              <a:cs typeface="Baumans"/>
              <a:sym typeface="Baumans"/>
            </a:endParaRPr>
          </a:p>
        </p:txBody>
      </p:sp>
      <p:pic>
        <p:nvPicPr>
          <p:cNvPr id="154" name="Google Shape;154;p22" descr="a cartoon drawing of a fire with a flame coming out of it (Provided by Tenor)"/>
          <p:cNvPicPr preferRelativeResize="0"/>
          <p:nvPr/>
        </p:nvPicPr>
        <p:blipFill>
          <a:blip r:embed="rId5">
            <a:alphaModFix/>
          </a:blip>
          <a:stretch>
            <a:fillRect/>
          </a:stretch>
        </p:blipFill>
        <p:spPr>
          <a:xfrm>
            <a:off x="5871875" y="3152550"/>
            <a:ext cx="440225" cy="4402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5">
          <a:extLst>
            <a:ext uri="{FF2B5EF4-FFF2-40B4-BE49-F238E27FC236}">
              <a16:creationId xmlns:a16="http://schemas.microsoft.com/office/drawing/2014/main" id="{C40C7BFC-1702-BAFD-6C40-B305457D108B}"/>
            </a:ext>
          </a:extLst>
        </p:cNvPr>
        <p:cNvGrpSpPr/>
        <p:nvPr/>
      </p:nvGrpSpPr>
      <p:grpSpPr>
        <a:xfrm>
          <a:off x="0" y="0"/>
          <a:ext cx="0" cy="0"/>
          <a:chOff x="0" y="0"/>
          <a:chExt cx="0" cy="0"/>
        </a:xfrm>
      </p:grpSpPr>
      <p:sp>
        <p:nvSpPr>
          <p:cNvPr id="146" name="Google Shape;146;p22">
            <a:extLst>
              <a:ext uri="{FF2B5EF4-FFF2-40B4-BE49-F238E27FC236}">
                <a16:creationId xmlns:a16="http://schemas.microsoft.com/office/drawing/2014/main" id="{4975D95E-B199-6E39-0DE5-96FCB97464A5}"/>
              </a:ext>
            </a:extLst>
          </p:cNvPr>
          <p:cNvSpPr txBox="1"/>
          <p:nvPr/>
        </p:nvSpPr>
        <p:spPr>
          <a:xfrm>
            <a:off x="123100" y="90316"/>
            <a:ext cx="5261100" cy="4962867"/>
          </a:xfrm>
          <a:prstGeom prst="rect">
            <a:avLst/>
          </a:prstGeom>
          <a:solidFill>
            <a:srgbClr val="FFF2CC"/>
          </a:solid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lvl="0">
              <a:lnSpc>
                <a:spcPct val="115000"/>
              </a:lnSpc>
            </a:pPr>
            <a:r>
              <a:rPr lang="ja-JP" altLang="en-US" sz="1800" b="1">
                <a:solidFill>
                  <a:schemeClr val="dk1"/>
                </a:solidFill>
                <a:latin typeface="Poppins"/>
                <a:ea typeface="Poppins"/>
                <a:cs typeface="Poppins"/>
                <a:sym typeface="Poppins"/>
              </a:rPr>
              <a:t>富士山</a:t>
            </a:r>
            <a:r>
              <a:rPr lang="en-GB" sz="1800" b="1" dirty="0">
                <a:solidFill>
                  <a:schemeClr val="dk1"/>
                </a:solidFill>
                <a:latin typeface="Poppins"/>
                <a:ea typeface="Poppins"/>
                <a:cs typeface="Poppins"/>
                <a:sym typeface="Poppins"/>
              </a:rPr>
              <a:t>PEEL</a:t>
            </a:r>
            <a:r>
              <a:rPr lang="ja-JP" altLang="en-US" sz="1800" b="1">
                <a:solidFill>
                  <a:schemeClr val="dk1"/>
                </a:solidFill>
                <a:latin typeface="Poppins"/>
                <a:ea typeface="Poppins"/>
                <a:cs typeface="Poppins"/>
                <a:sym typeface="Poppins"/>
              </a:rPr>
              <a:t>结构
</a:t>
            </a:r>
            <a:r>
              <a:rPr lang="ja-JP" altLang="en-US" sz="1800" u="sng">
                <a:solidFill>
                  <a:schemeClr val="dk1"/>
                </a:solidFill>
                <a:latin typeface="Poppins"/>
                <a:ea typeface="Poppins"/>
                <a:cs typeface="Poppins"/>
                <a:sym typeface="Poppins"/>
              </a:rPr>
              <a:t>要点</a:t>
            </a:r>
            <a:r>
              <a:rPr lang="ja-JP" altLang="en-US" sz="1800" b="1">
                <a:solidFill>
                  <a:schemeClr val="dk1"/>
                </a:solidFill>
                <a:latin typeface="Poppins"/>
                <a:ea typeface="Poppins"/>
                <a:cs typeface="Poppins"/>
                <a:sym typeface="Poppins"/>
              </a:rPr>
              <a:t>
富士山危险是因为</a:t>
            </a:r>
            <a:r>
              <a:rPr lang="en-US" altLang="ja-JP" sz="1800" b="1" dirty="0">
                <a:solidFill>
                  <a:schemeClr val="dk1"/>
                </a:solidFill>
                <a:latin typeface="Poppins"/>
                <a:ea typeface="Poppins"/>
                <a:cs typeface="Poppins"/>
                <a:sym typeface="Poppins"/>
              </a:rPr>
              <a:t>......
</a:t>
            </a:r>
            <a:r>
              <a:rPr lang="ja-JP" altLang="en-US" sz="1800" b="1">
                <a:solidFill>
                  <a:schemeClr val="dk1"/>
                </a:solidFill>
                <a:latin typeface="Poppins"/>
                <a:ea typeface="Poppins"/>
                <a:cs typeface="Poppins"/>
                <a:sym typeface="Poppins"/>
              </a:rPr>
              <a:t>住在富士山的人正处于危险之中，因为</a:t>
            </a:r>
            <a:r>
              <a:rPr lang="en-US" altLang="ja-JP" sz="1800" b="1" dirty="0">
                <a:solidFill>
                  <a:schemeClr val="dk1"/>
                </a:solidFill>
                <a:latin typeface="Poppins"/>
                <a:ea typeface="Poppins"/>
                <a:cs typeface="Poppins"/>
                <a:sym typeface="Poppins"/>
              </a:rPr>
              <a:t>......
</a:t>
            </a:r>
            <a:r>
              <a:rPr lang="ja-JP" altLang="en-US" sz="1800" b="1" u="sng">
                <a:solidFill>
                  <a:schemeClr val="dk1"/>
                </a:solidFill>
                <a:latin typeface="Poppins"/>
                <a:ea typeface="Poppins"/>
                <a:cs typeface="Poppins"/>
                <a:sym typeface="Poppins"/>
              </a:rPr>
              <a:t>证据</a:t>
            </a:r>
            <a:r>
              <a:rPr lang="ja-JP" altLang="en-US" sz="1800" b="1">
                <a:solidFill>
                  <a:schemeClr val="dk1"/>
                </a:solidFill>
                <a:latin typeface="Poppins"/>
                <a:ea typeface="Poppins"/>
                <a:cs typeface="Poppins"/>
                <a:sym typeface="Poppins"/>
              </a:rPr>
              <a:t>
比如，如果富士山爆发，潜在的危险是</a:t>
            </a:r>
            <a:r>
              <a:rPr lang="en-US" altLang="ja-JP" sz="1800" b="1" dirty="0">
                <a:solidFill>
                  <a:schemeClr val="dk1"/>
                </a:solidFill>
                <a:latin typeface="Poppins"/>
                <a:ea typeface="Poppins"/>
                <a:cs typeface="Poppins"/>
                <a:sym typeface="Poppins"/>
              </a:rPr>
              <a:t>......</a:t>
            </a:r>
            <a:r>
              <a:rPr lang="ja-JP" altLang="en-US" sz="1800" b="1">
                <a:solidFill>
                  <a:schemeClr val="dk1"/>
                </a:solidFill>
                <a:latin typeface="Poppins"/>
                <a:ea typeface="Poppins"/>
                <a:cs typeface="Poppins"/>
                <a:sym typeface="Poppins"/>
              </a:rPr>
              <a:t>（从列表中选择）
另一个潜在危险是</a:t>
            </a:r>
            <a:r>
              <a:rPr lang="en-US" altLang="ja-JP" sz="1800" b="1" dirty="0">
                <a:solidFill>
                  <a:schemeClr val="dk1"/>
                </a:solidFill>
                <a:latin typeface="Poppins"/>
                <a:ea typeface="Poppins"/>
                <a:cs typeface="Poppins"/>
                <a:sym typeface="Poppins"/>
              </a:rPr>
              <a:t>......</a:t>
            </a:r>
            <a:r>
              <a:rPr lang="ja-JP" altLang="en-US" sz="1800" b="1">
                <a:solidFill>
                  <a:schemeClr val="dk1"/>
                </a:solidFill>
                <a:latin typeface="Poppins"/>
                <a:ea typeface="Poppins"/>
                <a:cs typeface="Poppins"/>
                <a:sym typeface="Poppins"/>
              </a:rPr>
              <a:t>（从列表中选择）
</a:t>
            </a:r>
            <a:r>
              <a:rPr lang="ja-JP" altLang="en-US" sz="1800" b="1" u="sng">
                <a:solidFill>
                  <a:schemeClr val="dk1"/>
                </a:solidFill>
                <a:latin typeface="Poppins"/>
                <a:ea typeface="Poppins"/>
                <a:cs typeface="Poppins"/>
                <a:sym typeface="Poppins"/>
              </a:rPr>
              <a:t>解释一下</a:t>
            </a:r>
            <a:r>
              <a:rPr lang="ja-JP" altLang="en-US" sz="1800" b="1">
                <a:solidFill>
                  <a:schemeClr val="dk1"/>
                </a:solidFill>
                <a:latin typeface="Poppins"/>
                <a:ea typeface="Poppins"/>
                <a:cs typeface="Poppins"/>
                <a:sym typeface="Poppins"/>
              </a:rPr>
              <a:t>
这很危险，因为</a:t>
            </a:r>
            <a:r>
              <a:rPr lang="en-US" altLang="ja-JP" sz="1800" b="1" dirty="0">
                <a:solidFill>
                  <a:schemeClr val="dk1"/>
                </a:solidFill>
                <a:latin typeface="Poppins"/>
                <a:ea typeface="Poppins"/>
                <a:cs typeface="Poppins"/>
                <a:sym typeface="Poppins"/>
              </a:rPr>
              <a:t>......
</a:t>
            </a:r>
            <a:r>
              <a:rPr lang="ja-JP" altLang="en-US" sz="1800" b="1">
                <a:solidFill>
                  <a:schemeClr val="dk1"/>
                </a:solidFill>
                <a:latin typeface="Poppins"/>
                <a:ea typeface="Poppins"/>
                <a:cs typeface="Poppins"/>
                <a:sym typeface="Poppins"/>
              </a:rPr>
              <a:t>因此，人们和建筑</a:t>
            </a:r>
            <a:r>
              <a:rPr lang="en-US" altLang="ja-JP" sz="1800" b="1" dirty="0">
                <a:solidFill>
                  <a:schemeClr val="dk1"/>
                </a:solidFill>
                <a:latin typeface="Poppins"/>
                <a:ea typeface="Poppins"/>
                <a:cs typeface="Poppins"/>
                <a:sym typeface="Poppins"/>
              </a:rPr>
              <a:t>......
</a:t>
            </a:r>
            <a:r>
              <a:rPr lang="ja-JP" altLang="en-US" sz="1800" b="1" u="sng">
                <a:solidFill>
                  <a:schemeClr val="dk1"/>
                </a:solidFill>
                <a:latin typeface="Poppins"/>
                <a:ea typeface="Poppins"/>
                <a:cs typeface="Poppins"/>
                <a:sym typeface="Poppins"/>
              </a:rPr>
              <a:t>链接</a:t>
            </a:r>
            <a:r>
              <a:rPr lang="ja-JP" altLang="en-US" sz="1800" b="1">
                <a:solidFill>
                  <a:schemeClr val="dk1"/>
                </a:solidFill>
                <a:latin typeface="Poppins"/>
                <a:ea typeface="Poppins"/>
                <a:cs typeface="Poppins"/>
                <a:sym typeface="Poppins"/>
              </a:rPr>
              <a:t>
因此，富士山对</a:t>
            </a:r>
            <a:r>
              <a:rPr lang="en-US" altLang="ja-JP" sz="1800" b="1" dirty="0">
                <a:solidFill>
                  <a:schemeClr val="dk1"/>
                </a:solidFill>
                <a:latin typeface="Poppins"/>
                <a:ea typeface="Poppins"/>
                <a:cs typeface="Poppins"/>
                <a:sym typeface="Poppins"/>
              </a:rPr>
              <a:t>......
</a:t>
            </a:r>
            <a:r>
              <a:rPr lang="ja-JP" altLang="en-US" sz="1800" b="1">
                <a:solidFill>
                  <a:schemeClr val="dk1"/>
                </a:solidFill>
                <a:latin typeface="Poppins"/>
                <a:ea typeface="Poppins"/>
                <a:cs typeface="Poppins"/>
                <a:sym typeface="Poppins"/>
              </a:rPr>
              <a:t>这表明富士山对人和建筑都有潜在的危害，因为</a:t>
            </a:r>
            <a:r>
              <a:rPr lang="en-US" altLang="ja-JP" sz="1800" b="1" dirty="0">
                <a:solidFill>
                  <a:schemeClr val="dk1"/>
                </a:solidFill>
                <a:latin typeface="Poppins"/>
                <a:ea typeface="Poppins"/>
                <a:cs typeface="Poppins"/>
                <a:sym typeface="Poppins"/>
              </a:rPr>
              <a:t>......</a:t>
            </a:r>
            <a:endParaRPr sz="1800" dirty="0">
              <a:solidFill>
                <a:schemeClr val="dk1"/>
              </a:solidFill>
              <a:latin typeface="Poppins"/>
              <a:ea typeface="Poppins"/>
              <a:cs typeface="Poppins"/>
              <a:sym typeface="Poppins"/>
            </a:endParaRPr>
          </a:p>
        </p:txBody>
      </p:sp>
      <p:sp>
        <p:nvSpPr>
          <p:cNvPr id="147" name="Google Shape;147;p22">
            <a:extLst>
              <a:ext uri="{FF2B5EF4-FFF2-40B4-BE49-F238E27FC236}">
                <a16:creationId xmlns:a16="http://schemas.microsoft.com/office/drawing/2014/main" id="{7244FB9D-FE84-1D69-FF7B-B56379E7090F}"/>
              </a:ext>
            </a:extLst>
          </p:cNvPr>
          <p:cNvSpPr txBox="1"/>
          <p:nvPr/>
        </p:nvSpPr>
        <p:spPr>
          <a:xfrm>
            <a:off x="6651250" y="3276750"/>
            <a:ext cx="2361000" cy="184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latin typeface="Baumans"/>
                <a:ea typeface="Baumans"/>
                <a:cs typeface="Baumans"/>
                <a:sym typeface="Baumans"/>
              </a:rPr>
              <a:t>Make your paragraph </a:t>
            </a:r>
            <a:r>
              <a:rPr lang="en" sz="1600" b="1">
                <a:solidFill>
                  <a:srgbClr val="373743"/>
                </a:solidFill>
                <a:latin typeface="Finger Paint"/>
                <a:ea typeface="Finger Paint"/>
                <a:cs typeface="Finger Paint"/>
                <a:sym typeface="Finger Paint"/>
              </a:rPr>
              <a:t>Extra Hot</a:t>
            </a:r>
            <a:r>
              <a:rPr lang="en" sz="1600">
                <a:latin typeface="Baumans"/>
                <a:ea typeface="Baumans"/>
                <a:cs typeface="Baumans"/>
                <a:sym typeface="Baumans"/>
              </a:rPr>
              <a:t> by adding in the values people living near Mount Fuji might need to show.</a:t>
            </a:r>
            <a:endParaRPr sz="1800">
              <a:latin typeface="Baumans"/>
              <a:ea typeface="Baumans"/>
              <a:cs typeface="Baumans"/>
              <a:sym typeface="Baumans"/>
            </a:endParaRPr>
          </a:p>
          <a:p>
            <a:pPr marL="0" lvl="0" indent="0" algn="l" rtl="0">
              <a:spcBef>
                <a:spcPts val="0"/>
              </a:spcBef>
              <a:spcAft>
                <a:spcPts val="0"/>
              </a:spcAft>
              <a:buNone/>
            </a:pPr>
            <a:r>
              <a:rPr lang="en">
                <a:latin typeface="Patrick Hand"/>
                <a:ea typeface="Patrick Hand"/>
                <a:cs typeface="Patrick Hand"/>
                <a:sym typeface="Patrick Hand"/>
              </a:rPr>
              <a:t>(E.g. Resilience, preparedness, or responsibility).</a:t>
            </a:r>
            <a:endParaRPr sz="1000">
              <a:latin typeface="Patrick Hand"/>
              <a:ea typeface="Patrick Hand"/>
              <a:cs typeface="Patrick Hand"/>
              <a:sym typeface="Patrick Hand"/>
            </a:endParaRPr>
          </a:p>
        </p:txBody>
      </p:sp>
      <p:pic>
        <p:nvPicPr>
          <p:cNvPr id="148" name="Google Shape;148;p22">
            <a:extLst>
              <a:ext uri="{FF2B5EF4-FFF2-40B4-BE49-F238E27FC236}">
                <a16:creationId xmlns:a16="http://schemas.microsoft.com/office/drawing/2014/main" id="{32DE32EB-C337-A953-073C-F0C74AC955F5}"/>
              </a:ext>
            </a:extLst>
          </p:cNvPr>
          <p:cNvPicPr preferRelativeResize="0"/>
          <p:nvPr/>
        </p:nvPicPr>
        <p:blipFill>
          <a:blip r:embed="rId3">
            <a:alphaModFix/>
          </a:blip>
          <a:stretch>
            <a:fillRect/>
          </a:stretch>
        </p:blipFill>
        <p:spPr>
          <a:xfrm>
            <a:off x="5531950" y="3429063"/>
            <a:ext cx="971550" cy="1265275"/>
          </a:xfrm>
          <a:prstGeom prst="rect">
            <a:avLst/>
          </a:prstGeom>
          <a:noFill/>
          <a:ln>
            <a:noFill/>
          </a:ln>
        </p:spPr>
      </p:pic>
      <p:pic>
        <p:nvPicPr>
          <p:cNvPr id="149" name="Google Shape;149;p22" title="Screenshot 2025-09-09 at 2.56.30 PM.png">
            <a:extLst>
              <a:ext uri="{FF2B5EF4-FFF2-40B4-BE49-F238E27FC236}">
                <a16:creationId xmlns:a16="http://schemas.microsoft.com/office/drawing/2014/main" id="{6FFB1BDF-3697-F791-F216-578FD1D66777}"/>
              </a:ext>
            </a:extLst>
          </p:cNvPr>
          <p:cNvPicPr preferRelativeResize="0"/>
          <p:nvPr/>
        </p:nvPicPr>
        <p:blipFill>
          <a:blip r:embed="rId4">
            <a:alphaModFix/>
          </a:blip>
          <a:stretch>
            <a:fillRect/>
          </a:stretch>
        </p:blipFill>
        <p:spPr>
          <a:xfrm>
            <a:off x="5492856" y="278075"/>
            <a:ext cx="1049750" cy="2393800"/>
          </a:xfrm>
          <a:prstGeom prst="rect">
            <a:avLst/>
          </a:prstGeom>
          <a:noFill/>
          <a:ln>
            <a:noFill/>
          </a:ln>
        </p:spPr>
      </p:pic>
      <p:sp>
        <p:nvSpPr>
          <p:cNvPr id="150" name="Google Shape;150;p22">
            <a:extLst>
              <a:ext uri="{FF2B5EF4-FFF2-40B4-BE49-F238E27FC236}">
                <a16:creationId xmlns:a16="http://schemas.microsoft.com/office/drawing/2014/main" id="{BFDC6D99-1EEC-BE61-0A10-862E3DC0968F}"/>
              </a:ext>
            </a:extLst>
          </p:cNvPr>
          <p:cNvSpPr txBox="1"/>
          <p:nvPr/>
        </p:nvSpPr>
        <p:spPr>
          <a:xfrm>
            <a:off x="6542600" y="328375"/>
            <a:ext cx="25032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a:solidFill>
                  <a:schemeClr val="dk1"/>
                </a:solidFill>
                <a:latin typeface="Baumans"/>
                <a:ea typeface="Baumans"/>
                <a:cs typeface="Baumans"/>
                <a:sym typeface="Baumans"/>
              </a:rPr>
              <a:t>Make a clear statement about why Mount Fuji is dangerous.</a:t>
            </a:r>
            <a:endParaRPr sz="1200" b="1">
              <a:solidFill>
                <a:schemeClr val="dk1"/>
              </a:solidFill>
              <a:latin typeface="Baumans"/>
              <a:ea typeface="Baumans"/>
              <a:cs typeface="Baumans"/>
              <a:sym typeface="Baumans"/>
            </a:endParaRPr>
          </a:p>
        </p:txBody>
      </p:sp>
      <p:sp>
        <p:nvSpPr>
          <p:cNvPr id="151" name="Google Shape;151;p22">
            <a:extLst>
              <a:ext uri="{FF2B5EF4-FFF2-40B4-BE49-F238E27FC236}">
                <a16:creationId xmlns:a16="http://schemas.microsoft.com/office/drawing/2014/main" id="{7E63B688-1174-A66B-141D-AC2D9724F8B9}"/>
              </a:ext>
            </a:extLst>
          </p:cNvPr>
          <p:cNvSpPr txBox="1"/>
          <p:nvPr/>
        </p:nvSpPr>
        <p:spPr>
          <a:xfrm>
            <a:off x="6542600" y="2131725"/>
            <a:ext cx="25032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a:solidFill>
                  <a:schemeClr val="dk1"/>
                </a:solidFill>
                <a:latin typeface="Baumans"/>
                <a:ea typeface="Baumans"/>
                <a:cs typeface="Baumans"/>
                <a:sym typeface="Baumans"/>
              </a:rPr>
              <a:t>Link back to the overall question about Mount Fuji’s dangers.</a:t>
            </a:r>
            <a:endParaRPr sz="1500" b="1">
              <a:latin typeface="Baumans"/>
              <a:ea typeface="Baumans"/>
              <a:cs typeface="Baumans"/>
              <a:sym typeface="Baumans"/>
            </a:endParaRPr>
          </a:p>
        </p:txBody>
      </p:sp>
      <p:sp>
        <p:nvSpPr>
          <p:cNvPr id="152" name="Google Shape;152;p22">
            <a:extLst>
              <a:ext uri="{FF2B5EF4-FFF2-40B4-BE49-F238E27FC236}">
                <a16:creationId xmlns:a16="http://schemas.microsoft.com/office/drawing/2014/main" id="{DB83B08B-69B6-4031-A665-EDFC7853ADBD}"/>
              </a:ext>
            </a:extLst>
          </p:cNvPr>
          <p:cNvSpPr txBox="1"/>
          <p:nvPr/>
        </p:nvSpPr>
        <p:spPr>
          <a:xfrm>
            <a:off x="6551075" y="922600"/>
            <a:ext cx="25032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a:solidFill>
                  <a:schemeClr val="dk1"/>
                </a:solidFill>
                <a:latin typeface="Baumans"/>
                <a:ea typeface="Baumans"/>
                <a:cs typeface="Baumans"/>
                <a:sym typeface="Baumans"/>
              </a:rPr>
              <a:t>Use </a:t>
            </a:r>
            <a:r>
              <a:rPr lang="en" sz="1200" b="1">
                <a:solidFill>
                  <a:srgbClr val="980000"/>
                </a:solidFill>
                <a:latin typeface="Baumans"/>
                <a:ea typeface="Baumans"/>
                <a:cs typeface="Baumans"/>
                <a:sym typeface="Baumans"/>
              </a:rPr>
              <a:t>two of the key features </a:t>
            </a:r>
            <a:r>
              <a:rPr lang="en" sz="1200" b="1">
                <a:solidFill>
                  <a:schemeClr val="dk1"/>
                </a:solidFill>
                <a:latin typeface="Baumans"/>
                <a:ea typeface="Baumans"/>
                <a:cs typeface="Baumans"/>
                <a:sym typeface="Baumans"/>
              </a:rPr>
              <a:t>(from the list) to describe Mount Fuji.</a:t>
            </a:r>
            <a:endParaRPr sz="1500" b="1">
              <a:latin typeface="Baumans"/>
              <a:ea typeface="Baumans"/>
              <a:cs typeface="Baumans"/>
              <a:sym typeface="Baumans"/>
            </a:endParaRPr>
          </a:p>
        </p:txBody>
      </p:sp>
      <p:sp>
        <p:nvSpPr>
          <p:cNvPr id="153" name="Google Shape;153;p22">
            <a:extLst>
              <a:ext uri="{FF2B5EF4-FFF2-40B4-BE49-F238E27FC236}">
                <a16:creationId xmlns:a16="http://schemas.microsoft.com/office/drawing/2014/main" id="{D0F6ECB2-6ACB-0976-17F7-232799EB466D}"/>
              </a:ext>
            </a:extLst>
          </p:cNvPr>
          <p:cNvSpPr txBox="1"/>
          <p:nvPr/>
        </p:nvSpPr>
        <p:spPr>
          <a:xfrm>
            <a:off x="6542600" y="1516775"/>
            <a:ext cx="25032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a:solidFill>
                  <a:schemeClr val="dk1"/>
                </a:solidFill>
                <a:latin typeface="Baumans"/>
                <a:ea typeface="Baumans"/>
                <a:cs typeface="Baumans"/>
                <a:sym typeface="Baumans"/>
              </a:rPr>
              <a:t>Explain why those features make it dangerous for people or buildings.</a:t>
            </a:r>
            <a:endParaRPr sz="1500" b="1">
              <a:latin typeface="Baumans"/>
              <a:ea typeface="Baumans"/>
              <a:cs typeface="Baumans"/>
              <a:sym typeface="Baumans"/>
            </a:endParaRPr>
          </a:p>
        </p:txBody>
      </p:sp>
      <p:pic>
        <p:nvPicPr>
          <p:cNvPr id="154" name="Google Shape;154;p22" descr="a cartoon drawing of a fire with a flame coming out of it (Provided by Tenor)">
            <a:extLst>
              <a:ext uri="{FF2B5EF4-FFF2-40B4-BE49-F238E27FC236}">
                <a16:creationId xmlns:a16="http://schemas.microsoft.com/office/drawing/2014/main" id="{12330EA8-5934-8429-E945-6E3BC135AA41}"/>
              </a:ext>
            </a:extLst>
          </p:cNvPr>
          <p:cNvPicPr preferRelativeResize="0"/>
          <p:nvPr/>
        </p:nvPicPr>
        <p:blipFill>
          <a:blip r:embed="rId5">
            <a:alphaModFix/>
          </a:blip>
          <a:stretch>
            <a:fillRect/>
          </a:stretch>
        </p:blipFill>
        <p:spPr>
          <a:xfrm>
            <a:off x="5871875" y="3152550"/>
            <a:ext cx="440225" cy="440225"/>
          </a:xfrm>
          <a:prstGeom prst="rect">
            <a:avLst/>
          </a:prstGeom>
          <a:noFill/>
          <a:ln>
            <a:noFill/>
          </a:ln>
        </p:spPr>
      </p:pic>
    </p:spTree>
    <p:extLst>
      <p:ext uri="{BB962C8B-B14F-4D97-AF65-F5344CB8AC3E}">
        <p14:creationId xmlns:p14="http://schemas.microsoft.com/office/powerpoint/2010/main" val="11703537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pic>
        <p:nvPicPr>
          <p:cNvPr id="159" name="Google Shape;159;p23"/>
          <p:cNvPicPr preferRelativeResize="0"/>
          <p:nvPr/>
        </p:nvPicPr>
        <p:blipFill rotWithShape="1">
          <a:blip r:embed="rId3">
            <a:alphaModFix/>
          </a:blip>
          <a:srcRect l="30711" t="5130" r="3174" b="5807"/>
          <a:stretch/>
        </p:blipFill>
        <p:spPr>
          <a:xfrm>
            <a:off x="115349" y="782519"/>
            <a:ext cx="1246475" cy="661131"/>
          </a:xfrm>
          <a:prstGeom prst="rect">
            <a:avLst/>
          </a:prstGeom>
          <a:noFill/>
          <a:ln>
            <a:noFill/>
          </a:ln>
        </p:spPr>
      </p:pic>
      <p:sp>
        <p:nvSpPr>
          <p:cNvPr id="160" name="Google Shape;160;p23"/>
          <p:cNvSpPr txBox="1"/>
          <p:nvPr/>
        </p:nvSpPr>
        <p:spPr>
          <a:xfrm>
            <a:off x="115335" y="1532275"/>
            <a:ext cx="8840100" cy="2539800"/>
          </a:xfrm>
          <a:prstGeom prst="rect">
            <a:avLst/>
          </a:prstGeom>
          <a:noFill/>
          <a:ln>
            <a:noFill/>
          </a:ln>
        </p:spPr>
        <p:txBody>
          <a:bodyPr spcFirstLastPara="1" wrap="square" lIns="91425" tIns="91425" rIns="91425" bIns="91425" anchor="t" anchorCtr="0">
            <a:spAutoFit/>
          </a:bodyPr>
          <a:lstStyle/>
          <a:p>
            <a:pPr marL="457200" lvl="0" indent="-342900" algn="l" rtl="0">
              <a:lnSpc>
                <a:spcPct val="150000"/>
              </a:lnSpc>
              <a:spcBef>
                <a:spcPts val="0"/>
              </a:spcBef>
              <a:spcAft>
                <a:spcPts val="0"/>
              </a:spcAft>
              <a:buClr>
                <a:schemeClr val="dk1"/>
              </a:buClr>
              <a:buSzPts val="1800"/>
              <a:buFont typeface="Poppins"/>
              <a:buAutoNum type="arabicPeriod"/>
            </a:pPr>
            <a:r>
              <a:rPr lang="en" sz="1800" b="1">
                <a:solidFill>
                  <a:schemeClr val="dk1"/>
                </a:solidFill>
                <a:latin typeface="Poppins"/>
                <a:ea typeface="Poppins"/>
                <a:cs typeface="Poppins"/>
                <a:sym typeface="Poppins"/>
              </a:rPr>
              <a:t>What is one main reason shield volcanoes are usually less dangerous than composite volcanoes?</a:t>
            </a:r>
            <a:endParaRPr b="1">
              <a:solidFill>
                <a:srgbClr val="980000"/>
              </a:solidFill>
              <a:latin typeface="Patrick Hand"/>
              <a:ea typeface="Patrick Hand"/>
              <a:cs typeface="Patrick Hand"/>
              <a:sym typeface="Patrick Hand"/>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A) Their lava is runny and flows gently away</a:t>
            </a:r>
            <a:endParaRPr sz="1800">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B) They explode violently with lots of gas</a:t>
            </a:r>
            <a:endParaRPr sz="1800">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C) They trap sticky lava and ash inside</a:t>
            </a:r>
            <a:endParaRPr sz="1800">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D) They always form very tall cone shapes</a:t>
            </a:r>
            <a:endParaRPr sz="1800">
              <a:solidFill>
                <a:schemeClr val="dk1"/>
              </a:solidFill>
              <a:latin typeface="Poppins"/>
              <a:ea typeface="Poppins"/>
              <a:cs typeface="Poppins"/>
              <a:sym typeface="Poppins"/>
            </a:endParaRPr>
          </a:p>
        </p:txBody>
      </p:sp>
      <p:sp>
        <p:nvSpPr>
          <p:cNvPr id="161" name="Google Shape;161;p23"/>
          <p:cNvSpPr txBox="1"/>
          <p:nvPr/>
        </p:nvSpPr>
        <p:spPr>
          <a:xfrm>
            <a:off x="1361825" y="882225"/>
            <a:ext cx="30000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None/>
            </a:pPr>
            <a:r>
              <a:rPr lang="en" sz="1800" b="1">
                <a:solidFill>
                  <a:schemeClr val="dk1"/>
                </a:solidFill>
                <a:latin typeface="Baumans"/>
                <a:ea typeface="Baumans"/>
                <a:cs typeface="Baumans"/>
                <a:sym typeface="Baumans"/>
              </a:rPr>
              <a:t>Odd One Out</a:t>
            </a:r>
            <a:endParaRPr sz="1800">
              <a:latin typeface="Baumans"/>
              <a:ea typeface="Baumans"/>
              <a:cs typeface="Baumans"/>
              <a:sym typeface="Baumans"/>
            </a:endParaRPr>
          </a:p>
        </p:txBody>
      </p:sp>
      <p:sp>
        <p:nvSpPr>
          <p:cNvPr id="162" name="Google Shape;162;p23"/>
          <p:cNvSpPr/>
          <p:nvPr/>
        </p:nvSpPr>
        <p:spPr>
          <a:xfrm>
            <a:off x="134675" y="2375400"/>
            <a:ext cx="8801400" cy="3927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3" name="Google Shape;163;p23"/>
          <p:cNvSpPr txBox="1"/>
          <p:nvPr/>
        </p:nvSpPr>
        <p:spPr>
          <a:xfrm>
            <a:off x="151950" y="4071550"/>
            <a:ext cx="8840100" cy="850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300" b="1">
                <a:solidFill>
                  <a:srgbClr val="980000"/>
                </a:solidFill>
                <a:latin typeface="Baumans"/>
                <a:ea typeface="Baumans"/>
                <a:cs typeface="Baumans"/>
                <a:sym typeface="Baumans"/>
              </a:rPr>
              <a:t>What value do people show when they prepare for eruptions, even if the volcano is usually gentle?</a:t>
            </a:r>
            <a:endParaRPr sz="2300" b="1">
              <a:solidFill>
                <a:srgbClr val="980000"/>
              </a:solidFill>
              <a:latin typeface="Baumans"/>
              <a:ea typeface="Baumans"/>
              <a:cs typeface="Baumans"/>
              <a:sym typeface="Baumans"/>
            </a:endParaRPr>
          </a:p>
        </p:txBody>
      </p:sp>
      <p:sp>
        <p:nvSpPr>
          <p:cNvPr id="164" name="Google Shape;164;p23"/>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What makes volcanoes hazardous?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Analyse different volcanic hazards in order to assess which is most dangerous</a:t>
            </a:r>
            <a:endParaRPr sz="1200" b="1" i="0" u="none" strike="noStrike" cap="none">
              <a:solidFill>
                <a:srgbClr val="980000"/>
              </a:solidFill>
              <a:latin typeface="Delius"/>
              <a:ea typeface="Delius"/>
              <a:cs typeface="Delius"/>
              <a:sym typeface="Deliu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pic>
        <p:nvPicPr>
          <p:cNvPr id="169" name="Google Shape;169;p24"/>
          <p:cNvPicPr preferRelativeResize="0"/>
          <p:nvPr/>
        </p:nvPicPr>
        <p:blipFill rotWithShape="1">
          <a:blip r:embed="rId3">
            <a:alphaModFix/>
          </a:blip>
          <a:srcRect l="30711" t="5130" r="3174" b="5807"/>
          <a:stretch/>
        </p:blipFill>
        <p:spPr>
          <a:xfrm>
            <a:off x="115349" y="782519"/>
            <a:ext cx="1246475" cy="661131"/>
          </a:xfrm>
          <a:prstGeom prst="rect">
            <a:avLst/>
          </a:prstGeom>
          <a:noFill/>
          <a:ln>
            <a:noFill/>
          </a:ln>
        </p:spPr>
      </p:pic>
      <p:sp>
        <p:nvSpPr>
          <p:cNvPr id="170" name="Google Shape;170;p24"/>
          <p:cNvSpPr txBox="1"/>
          <p:nvPr/>
        </p:nvSpPr>
        <p:spPr>
          <a:xfrm>
            <a:off x="115335" y="1532275"/>
            <a:ext cx="8840100" cy="2539800"/>
          </a:xfrm>
          <a:prstGeom prst="rect">
            <a:avLst/>
          </a:prstGeom>
          <a:noFill/>
          <a:ln>
            <a:noFill/>
          </a:ln>
        </p:spPr>
        <p:txBody>
          <a:bodyPr spcFirstLastPara="1" wrap="square" lIns="91425" tIns="91425" rIns="91425" bIns="91425" anchor="t" anchorCtr="0">
            <a:spAutoFit/>
          </a:bodyPr>
          <a:lstStyle/>
          <a:p>
            <a:pPr marL="457200" lvl="0" indent="-342900" algn="l" rtl="0">
              <a:lnSpc>
                <a:spcPct val="150000"/>
              </a:lnSpc>
              <a:spcBef>
                <a:spcPts val="0"/>
              </a:spcBef>
              <a:spcAft>
                <a:spcPts val="0"/>
              </a:spcAft>
              <a:buClr>
                <a:schemeClr val="dk1"/>
              </a:buClr>
              <a:buSzPts val="1800"/>
              <a:buFont typeface="Poppins"/>
              <a:buAutoNum type="arabicPeriod" startAt="2"/>
            </a:pPr>
            <a:r>
              <a:rPr lang="en" sz="1800" b="1">
                <a:solidFill>
                  <a:schemeClr val="dk1"/>
                </a:solidFill>
                <a:latin typeface="Poppins"/>
                <a:ea typeface="Poppins"/>
                <a:cs typeface="Poppins"/>
                <a:sym typeface="Poppins"/>
              </a:rPr>
              <a:t>What is one main reason composite volcanoes can cause more destruction?</a:t>
            </a:r>
            <a:endParaRPr sz="1800" b="1">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A) They have gentle slopes and thin lava</a:t>
            </a:r>
            <a:endParaRPr sz="1800">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B) Their sticky lava traps gas, causing violent eruptions</a:t>
            </a:r>
            <a:endParaRPr sz="1800">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C) They only produce harmless steam and smoke</a:t>
            </a:r>
            <a:endParaRPr sz="1800">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D) They never release ash or volcanic bombs</a:t>
            </a:r>
            <a:endParaRPr sz="1800">
              <a:solidFill>
                <a:schemeClr val="dk1"/>
              </a:solidFill>
              <a:latin typeface="Poppins"/>
              <a:ea typeface="Poppins"/>
              <a:cs typeface="Poppins"/>
              <a:sym typeface="Poppins"/>
            </a:endParaRPr>
          </a:p>
        </p:txBody>
      </p:sp>
      <p:sp>
        <p:nvSpPr>
          <p:cNvPr id="171" name="Google Shape;171;p24"/>
          <p:cNvSpPr txBox="1"/>
          <p:nvPr/>
        </p:nvSpPr>
        <p:spPr>
          <a:xfrm>
            <a:off x="1361825" y="882225"/>
            <a:ext cx="30000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None/>
            </a:pPr>
            <a:r>
              <a:rPr lang="en" sz="1800" b="1">
                <a:solidFill>
                  <a:schemeClr val="dk1"/>
                </a:solidFill>
                <a:latin typeface="Baumans"/>
                <a:ea typeface="Baumans"/>
                <a:cs typeface="Baumans"/>
                <a:sym typeface="Baumans"/>
              </a:rPr>
              <a:t>Odd One Out</a:t>
            </a:r>
            <a:endParaRPr sz="1800">
              <a:latin typeface="Baumans"/>
              <a:ea typeface="Baumans"/>
              <a:cs typeface="Baumans"/>
              <a:sym typeface="Baumans"/>
            </a:endParaRPr>
          </a:p>
        </p:txBody>
      </p:sp>
      <p:sp>
        <p:nvSpPr>
          <p:cNvPr id="172" name="Google Shape;172;p24"/>
          <p:cNvSpPr/>
          <p:nvPr/>
        </p:nvSpPr>
        <p:spPr>
          <a:xfrm>
            <a:off x="115350" y="2787725"/>
            <a:ext cx="6651000" cy="3927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3" name="Google Shape;173;p24"/>
          <p:cNvSpPr txBox="1"/>
          <p:nvPr/>
        </p:nvSpPr>
        <p:spPr>
          <a:xfrm>
            <a:off x="115325" y="4071550"/>
            <a:ext cx="8840100" cy="850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300" b="1">
                <a:solidFill>
                  <a:srgbClr val="980000"/>
                </a:solidFill>
                <a:latin typeface="Baumans"/>
                <a:ea typeface="Baumans"/>
                <a:cs typeface="Baumans"/>
                <a:sym typeface="Baumans"/>
              </a:rPr>
              <a:t>What value is important for scientists studying dangerous volcanoes so they can protect others?</a:t>
            </a:r>
            <a:endParaRPr sz="2300" b="1">
              <a:solidFill>
                <a:srgbClr val="980000"/>
              </a:solidFill>
              <a:latin typeface="Baumans"/>
              <a:ea typeface="Baumans"/>
              <a:cs typeface="Baumans"/>
              <a:sym typeface="Baumans"/>
            </a:endParaRPr>
          </a:p>
        </p:txBody>
      </p:sp>
      <p:sp>
        <p:nvSpPr>
          <p:cNvPr id="174" name="Google Shape;174;p24"/>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What makes volcanoes hazardous?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Analyse different volcanic hazards in order to assess which is most dangerous</a:t>
            </a:r>
            <a:endParaRPr sz="1200" b="1" i="0" u="none" strike="noStrike" cap="none">
              <a:solidFill>
                <a:srgbClr val="980000"/>
              </a:solidFill>
              <a:latin typeface="Delius"/>
              <a:ea typeface="Delius"/>
              <a:cs typeface="Delius"/>
              <a:sym typeface="Deliu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pic>
        <p:nvPicPr>
          <p:cNvPr id="179" name="Google Shape;179;p25"/>
          <p:cNvPicPr preferRelativeResize="0"/>
          <p:nvPr/>
        </p:nvPicPr>
        <p:blipFill rotWithShape="1">
          <a:blip r:embed="rId3">
            <a:alphaModFix/>
          </a:blip>
          <a:srcRect l="30711" t="5130" r="3174" b="5807"/>
          <a:stretch/>
        </p:blipFill>
        <p:spPr>
          <a:xfrm>
            <a:off x="115349" y="782519"/>
            <a:ext cx="1246475" cy="661131"/>
          </a:xfrm>
          <a:prstGeom prst="rect">
            <a:avLst/>
          </a:prstGeom>
          <a:noFill/>
          <a:ln>
            <a:noFill/>
          </a:ln>
        </p:spPr>
      </p:pic>
      <p:sp>
        <p:nvSpPr>
          <p:cNvPr id="180" name="Google Shape;180;p25"/>
          <p:cNvSpPr txBox="1"/>
          <p:nvPr/>
        </p:nvSpPr>
        <p:spPr>
          <a:xfrm>
            <a:off x="115335" y="1532275"/>
            <a:ext cx="8840100" cy="2539800"/>
          </a:xfrm>
          <a:prstGeom prst="rect">
            <a:avLst/>
          </a:prstGeom>
          <a:noFill/>
          <a:ln>
            <a:noFill/>
          </a:ln>
        </p:spPr>
        <p:txBody>
          <a:bodyPr spcFirstLastPara="1" wrap="square" lIns="91425" tIns="91425" rIns="91425" bIns="91425" anchor="t" anchorCtr="0">
            <a:spAutoFit/>
          </a:bodyPr>
          <a:lstStyle/>
          <a:p>
            <a:pPr marL="457200" lvl="0" indent="-342900" algn="l" rtl="0">
              <a:lnSpc>
                <a:spcPct val="150000"/>
              </a:lnSpc>
              <a:spcBef>
                <a:spcPts val="0"/>
              </a:spcBef>
              <a:spcAft>
                <a:spcPts val="0"/>
              </a:spcAft>
              <a:buClr>
                <a:schemeClr val="dk1"/>
              </a:buClr>
              <a:buSzPts val="1800"/>
              <a:buFont typeface="Poppins"/>
              <a:buAutoNum type="arabicPeriod" startAt="3"/>
            </a:pPr>
            <a:r>
              <a:rPr lang="en" sz="1800" b="1">
                <a:solidFill>
                  <a:schemeClr val="dk1"/>
                </a:solidFill>
                <a:latin typeface="Poppins"/>
                <a:ea typeface="Poppins"/>
                <a:cs typeface="Poppins"/>
                <a:sym typeface="Poppins"/>
              </a:rPr>
              <a:t>What happens when lots of gas and pressure build up inside a volcano?</a:t>
            </a:r>
            <a:endParaRPr b="1">
              <a:solidFill>
                <a:srgbClr val="980000"/>
              </a:solidFill>
              <a:latin typeface="Patrick Hand"/>
              <a:ea typeface="Patrick Hand"/>
              <a:cs typeface="Patrick Hand"/>
              <a:sym typeface="Patrick Hand"/>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A) A slow, gentle lava flow moves safely away</a:t>
            </a:r>
            <a:endParaRPr sz="1800">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B) The volcano stays quiet and inactive</a:t>
            </a:r>
            <a:endParaRPr sz="1800">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C) An explosive eruption blasts out ash and rocks</a:t>
            </a:r>
            <a:endParaRPr sz="1800">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D) The magma cools before reaching the surface</a:t>
            </a:r>
            <a:endParaRPr sz="1800">
              <a:solidFill>
                <a:schemeClr val="dk1"/>
              </a:solidFill>
              <a:latin typeface="Poppins"/>
              <a:ea typeface="Poppins"/>
              <a:cs typeface="Poppins"/>
              <a:sym typeface="Poppins"/>
            </a:endParaRPr>
          </a:p>
        </p:txBody>
      </p:sp>
      <p:sp>
        <p:nvSpPr>
          <p:cNvPr id="181" name="Google Shape;181;p25"/>
          <p:cNvSpPr txBox="1"/>
          <p:nvPr/>
        </p:nvSpPr>
        <p:spPr>
          <a:xfrm>
            <a:off x="1361825" y="882225"/>
            <a:ext cx="30000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None/>
            </a:pPr>
            <a:r>
              <a:rPr lang="en" sz="1800" b="1">
                <a:solidFill>
                  <a:schemeClr val="dk1"/>
                </a:solidFill>
                <a:latin typeface="Baumans"/>
                <a:ea typeface="Baumans"/>
                <a:cs typeface="Baumans"/>
                <a:sym typeface="Baumans"/>
              </a:rPr>
              <a:t>Odd One Out</a:t>
            </a:r>
            <a:endParaRPr sz="1800">
              <a:latin typeface="Baumans"/>
              <a:ea typeface="Baumans"/>
              <a:cs typeface="Baumans"/>
              <a:sym typeface="Baumans"/>
            </a:endParaRPr>
          </a:p>
        </p:txBody>
      </p:sp>
      <p:sp>
        <p:nvSpPr>
          <p:cNvPr id="182" name="Google Shape;182;p25"/>
          <p:cNvSpPr/>
          <p:nvPr/>
        </p:nvSpPr>
        <p:spPr>
          <a:xfrm>
            <a:off x="116975" y="3222900"/>
            <a:ext cx="5835300" cy="3927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3" name="Google Shape;183;p25"/>
          <p:cNvSpPr txBox="1"/>
          <p:nvPr/>
        </p:nvSpPr>
        <p:spPr>
          <a:xfrm>
            <a:off x="115325" y="4071550"/>
            <a:ext cx="8840100" cy="850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300" b="1">
                <a:solidFill>
                  <a:srgbClr val="980000"/>
                </a:solidFill>
                <a:latin typeface="Baumans"/>
                <a:ea typeface="Baumans"/>
                <a:cs typeface="Baumans"/>
                <a:sym typeface="Baumans"/>
              </a:rPr>
              <a:t>What value do communities need when they have to evacuate quickly and follow safety rules?</a:t>
            </a:r>
            <a:endParaRPr sz="2300" b="1">
              <a:solidFill>
                <a:srgbClr val="980000"/>
              </a:solidFill>
              <a:latin typeface="Baumans"/>
              <a:ea typeface="Baumans"/>
              <a:cs typeface="Baumans"/>
              <a:sym typeface="Baumans"/>
            </a:endParaRPr>
          </a:p>
        </p:txBody>
      </p:sp>
      <p:sp>
        <p:nvSpPr>
          <p:cNvPr id="184" name="Google Shape;184;p25"/>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What makes volcanoes hazardous?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Analyse different volcanic hazards in order to assess which is most dangerous</a:t>
            </a:r>
            <a:endParaRPr sz="1200" b="1" i="0" u="none" strike="noStrike" cap="none">
              <a:solidFill>
                <a:srgbClr val="980000"/>
              </a:solidFill>
              <a:latin typeface="Delius"/>
              <a:ea typeface="Delius"/>
              <a:cs typeface="Delius"/>
              <a:sym typeface="Deliu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pic>
        <p:nvPicPr>
          <p:cNvPr id="189" name="Google Shape;189;p26"/>
          <p:cNvPicPr preferRelativeResize="0"/>
          <p:nvPr/>
        </p:nvPicPr>
        <p:blipFill rotWithShape="1">
          <a:blip r:embed="rId3">
            <a:alphaModFix/>
          </a:blip>
          <a:srcRect l="30711" t="5130" r="3174" b="5807"/>
          <a:stretch/>
        </p:blipFill>
        <p:spPr>
          <a:xfrm>
            <a:off x="115349" y="782519"/>
            <a:ext cx="1246475" cy="661131"/>
          </a:xfrm>
          <a:prstGeom prst="rect">
            <a:avLst/>
          </a:prstGeom>
          <a:noFill/>
          <a:ln>
            <a:noFill/>
          </a:ln>
        </p:spPr>
      </p:pic>
      <p:sp>
        <p:nvSpPr>
          <p:cNvPr id="190" name="Google Shape;190;p26"/>
          <p:cNvSpPr txBox="1"/>
          <p:nvPr/>
        </p:nvSpPr>
        <p:spPr>
          <a:xfrm>
            <a:off x="115335" y="1532275"/>
            <a:ext cx="8840100" cy="2539800"/>
          </a:xfrm>
          <a:prstGeom prst="rect">
            <a:avLst/>
          </a:prstGeom>
          <a:noFill/>
          <a:ln>
            <a:noFill/>
          </a:ln>
        </p:spPr>
        <p:txBody>
          <a:bodyPr spcFirstLastPara="1" wrap="square" lIns="91425" tIns="91425" rIns="91425" bIns="91425" anchor="t" anchorCtr="0">
            <a:spAutoFit/>
          </a:bodyPr>
          <a:lstStyle/>
          <a:p>
            <a:pPr marL="457200" lvl="0" indent="-342900" algn="l" rtl="0">
              <a:lnSpc>
                <a:spcPct val="150000"/>
              </a:lnSpc>
              <a:spcBef>
                <a:spcPts val="0"/>
              </a:spcBef>
              <a:spcAft>
                <a:spcPts val="0"/>
              </a:spcAft>
              <a:buClr>
                <a:schemeClr val="dk1"/>
              </a:buClr>
              <a:buSzPts val="1800"/>
              <a:buFont typeface="Poppins"/>
              <a:buAutoNum type="arabicPeriod" startAt="4"/>
            </a:pPr>
            <a:r>
              <a:rPr lang="en" sz="1800" b="1">
                <a:solidFill>
                  <a:schemeClr val="dk1"/>
                </a:solidFill>
                <a:latin typeface="Poppins"/>
                <a:ea typeface="Poppins"/>
                <a:cs typeface="Poppins"/>
                <a:sym typeface="Poppins"/>
              </a:rPr>
              <a:t>What is one main reason pyroclastic flows are so deadly?</a:t>
            </a:r>
            <a:endParaRPr b="1">
              <a:solidFill>
                <a:srgbClr val="980000"/>
              </a:solidFill>
              <a:latin typeface="Patrick Hand"/>
              <a:ea typeface="Patrick Hand"/>
              <a:cs typeface="Patrick Hand"/>
              <a:sym typeface="Patrick Hand"/>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A) They move slowly so people can escape</a:t>
            </a:r>
            <a:endParaRPr sz="1800">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B) They are made of harmless steam</a:t>
            </a:r>
            <a:endParaRPr sz="1800">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C) They are fast, hot clouds of gas and ash that burn everything in their path</a:t>
            </a:r>
            <a:endParaRPr sz="1800">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D) They only happen far away from towns and cities</a:t>
            </a:r>
            <a:endParaRPr sz="1800">
              <a:solidFill>
                <a:schemeClr val="dk1"/>
              </a:solidFill>
              <a:latin typeface="Poppins"/>
              <a:ea typeface="Poppins"/>
              <a:cs typeface="Poppins"/>
              <a:sym typeface="Poppins"/>
            </a:endParaRPr>
          </a:p>
        </p:txBody>
      </p:sp>
      <p:sp>
        <p:nvSpPr>
          <p:cNvPr id="191" name="Google Shape;191;p26"/>
          <p:cNvSpPr txBox="1"/>
          <p:nvPr/>
        </p:nvSpPr>
        <p:spPr>
          <a:xfrm>
            <a:off x="1361825" y="882225"/>
            <a:ext cx="30000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None/>
            </a:pPr>
            <a:r>
              <a:rPr lang="en" sz="1800" b="1">
                <a:solidFill>
                  <a:schemeClr val="dk1"/>
                </a:solidFill>
                <a:latin typeface="Baumans"/>
                <a:ea typeface="Baumans"/>
                <a:cs typeface="Baumans"/>
                <a:sym typeface="Baumans"/>
              </a:rPr>
              <a:t>Odd One Out</a:t>
            </a:r>
            <a:endParaRPr sz="1800">
              <a:latin typeface="Baumans"/>
              <a:ea typeface="Baumans"/>
              <a:cs typeface="Baumans"/>
              <a:sym typeface="Baumans"/>
            </a:endParaRPr>
          </a:p>
        </p:txBody>
      </p:sp>
      <p:sp>
        <p:nvSpPr>
          <p:cNvPr id="192" name="Google Shape;192;p26"/>
          <p:cNvSpPr/>
          <p:nvPr/>
        </p:nvSpPr>
        <p:spPr>
          <a:xfrm>
            <a:off x="115350" y="2861550"/>
            <a:ext cx="8353500" cy="7476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93" name="Google Shape;193;p26">
            <a:hlinkClick r:id="rId4"/>
          </p:cNvPr>
          <p:cNvPicPr preferRelativeResize="0"/>
          <p:nvPr/>
        </p:nvPicPr>
        <p:blipFill>
          <a:blip r:embed="rId5">
            <a:alphaModFix/>
          </a:blip>
          <a:stretch>
            <a:fillRect/>
          </a:stretch>
        </p:blipFill>
        <p:spPr>
          <a:xfrm>
            <a:off x="6749974" y="559391"/>
            <a:ext cx="2287226" cy="676200"/>
          </a:xfrm>
          <a:prstGeom prst="rect">
            <a:avLst/>
          </a:prstGeom>
          <a:noFill/>
          <a:ln>
            <a:noFill/>
          </a:ln>
        </p:spPr>
      </p:pic>
      <p:sp>
        <p:nvSpPr>
          <p:cNvPr id="194" name="Google Shape;194;p26"/>
          <p:cNvSpPr txBox="1"/>
          <p:nvPr/>
        </p:nvSpPr>
        <p:spPr>
          <a:xfrm>
            <a:off x="115325" y="4071550"/>
            <a:ext cx="8840100" cy="850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300" b="1">
                <a:solidFill>
                  <a:srgbClr val="980000"/>
                </a:solidFill>
                <a:latin typeface="Baumans"/>
                <a:ea typeface="Baumans"/>
                <a:cs typeface="Baumans"/>
                <a:sym typeface="Baumans"/>
              </a:rPr>
              <a:t>What value do rescuers show when they risk their lives to help people after an eruption?</a:t>
            </a:r>
            <a:endParaRPr sz="2300" b="1">
              <a:solidFill>
                <a:srgbClr val="980000"/>
              </a:solidFill>
              <a:latin typeface="Baumans"/>
              <a:ea typeface="Baumans"/>
              <a:cs typeface="Baumans"/>
              <a:sym typeface="Baumans"/>
            </a:endParaRPr>
          </a:p>
        </p:txBody>
      </p:sp>
      <p:sp>
        <p:nvSpPr>
          <p:cNvPr id="195" name="Google Shape;195;p26"/>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What makes volcanoes hazardous?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Analyse different volcanic hazards in order to assess which is most dangerous</a:t>
            </a:r>
            <a:endParaRPr sz="1200" b="1" i="0" u="none" strike="noStrike" cap="none">
              <a:solidFill>
                <a:srgbClr val="980000"/>
              </a:solidFill>
              <a:latin typeface="Delius"/>
              <a:ea typeface="Delius"/>
              <a:cs typeface="Delius"/>
              <a:sym typeface="Deliu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1684</Words>
  <Application>Microsoft Macintosh PowerPoint</Application>
  <PresentationFormat>On-screen Show (16:9)</PresentationFormat>
  <Paragraphs>163</Paragraphs>
  <Slides>14</Slides>
  <Notes>14</Notes>
  <HiddenSlides>0</HiddenSlides>
  <MMClips>2</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14</vt:i4>
      </vt:variant>
    </vt:vector>
  </HeadingPairs>
  <TitlesOfParts>
    <vt:vector size="25" baseType="lpstr">
      <vt:lpstr>Arial</vt:lpstr>
      <vt:lpstr>Luckiest Guy</vt:lpstr>
      <vt:lpstr>Delius</vt:lpstr>
      <vt:lpstr>Fugaz One</vt:lpstr>
      <vt:lpstr>Baumans</vt:lpstr>
      <vt:lpstr>Poppins</vt:lpstr>
      <vt:lpstr>Calibri</vt:lpstr>
      <vt:lpstr>Finger Paint</vt:lpstr>
      <vt:lpstr>Patrick Hand</vt:lpstr>
      <vt:lpstr>Aladin</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Douglas Lawrence</cp:lastModifiedBy>
  <cp:revision>9</cp:revision>
  <dcterms:modified xsi:type="dcterms:W3CDTF">2026-08-27T04:06:46Z</dcterms:modified>
</cp:coreProperties>
</file>