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14"/>
  </p:notesMasterIdLst>
  <p:sldIdLst>
    <p:sldId id="256" r:id="rId2"/>
    <p:sldId id="257" r:id="rId3"/>
    <p:sldId id="258" r:id="rId4"/>
    <p:sldId id="259" r:id="rId5"/>
    <p:sldId id="260" r:id="rId6"/>
    <p:sldId id="261" r:id="rId7"/>
    <p:sldId id="264" r:id="rId8"/>
    <p:sldId id="263" r:id="rId9"/>
    <p:sldId id="262" r:id="rId10"/>
    <p:sldId id="265" r:id="rId11"/>
    <p:sldId id="267" r:id="rId12"/>
    <p:sldId id="266" r:id="rId13"/>
  </p:sldIdLst>
  <p:sldSz cx="9144000" cy="5143500" type="screen16x9"/>
  <p:notesSz cx="6858000" cy="9144000"/>
  <p:embeddedFontLst>
    <p:embeddedFont>
      <p:font typeface="Baumans" panose="02000506020000020003" pitchFamily="2" charset="0"/>
      <p:regular r:id="rId15"/>
    </p:embeddedFont>
    <p:embeddedFont>
      <p:font typeface="Delius" panose="02000603000000000000" pitchFamily="2" charset="0"/>
      <p:regular r:id="rId16"/>
    </p:embeddedFont>
    <p:embeddedFont>
      <p:font typeface="Fugaz One" pitchFamily="2" charset="0"/>
      <p:regular r:id="rId17"/>
    </p:embeddedFont>
    <p:embeddedFont>
      <p:font typeface="Luckiest Guy" panose="02000506000000020004" pitchFamily="2" charset="0"/>
      <p:regular r:id="rId18"/>
    </p:embeddedFont>
    <p:embeddedFont>
      <p:font typeface="Patrick Hand" pitchFamily="2" charset="77"/>
      <p:regular r:id="rId19"/>
    </p:embeddedFont>
    <p:embeddedFont>
      <p:font typeface="Poppins" pitchFamily="2" charset="77"/>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681585-EF78-406C-A2D1-2F160A66B46A}">
  <a:tblStyle styleId="{34681585-EF78-406C-A2D1-2F160A66B4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93"/>
  </p:normalViewPr>
  <p:slideViewPr>
    <p:cSldViewPr snapToGrid="0">
      <p:cViewPr varScale="1">
        <p:scale>
          <a:sx n="157" d="100"/>
          <a:sy n="157" d="100"/>
        </p:scale>
        <p:origin x="344"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9953d91a12_1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39953d91a12_1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9953d91a12_1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9953d91a12_1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9953d91a12_1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9953d91a12_1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995401b97a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995401b97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995401b97a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995401b97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https://www.youtube.com/watch?v=YIZ4aSKT3mo</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995401b97a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995401b97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https://www.youtube.com/watch?v=KClQk17F4pY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995401b97a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995401b97a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995401b97a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995401b97a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http://www.youtube.com/watch?v=5Hb_ONJUA9I</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995401b97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995401b97a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995401b97a_0_2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995401b97a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https://www.youtube.com/watch?v=xuBheRSfa_k</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4047967B-6483-D1F1-2F8A-3FDFA28FFCAB}"/>
            </a:ext>
          </a:extLst>
        </p:cNvPr>
        <p:cNvGrpSpPr/>
        <p:nvPr/>
      </p:nvGrpSpPr>
      <p:grpSpPr>
        <a:xfrm>
          <a:off x="0" y="0"/>
          <a:ext cx="0" cy="0"/>
          <a:chOff x="0" y="0"/>
          <a:chExt cx="0" cy="0"/>
        </a:xfrm>
      </p:grpSpPr>
      <p:sp>
        <p:nvSpPr>
          <p:cNvPr id="74" name="Google Shape;74;g3a2e9d1f17b_0_36:notes">
            <a:extLst>
              <a:ext uri="{FF2B5EF4-FFF2-40B4-BE49-F238E27FC236}">
                <a16:creationId xmlns:a16="http://schemas.microsoft.com/office/drawing/2014/main" id="{DECAA825-E6A3-5312-F68E-38371FA345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2e9d1f17b_0_36:notes">
            <a:extLst>
              <a:ext uri="{FF2B5EF4-FFF2-40B4-BE49-F238E27FC236}">
                <a16:creationId xmlns:a16="http://schemas.microsoft.com/office/drawing/2014/main" id="{209B4044-A95C-F1D2-700F-69862E245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48145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95401b97a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995401b97a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https://dashboard.blooket.com/set/69157c94ade2e3b964a0bff5</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 name="Google Shape;11;p2"/>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2" name="Google Shape;12;p2"/>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 name="Google Shape;13;p2"/>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 name="Google Shape;14;p2"/>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5" name="Google Shape;15;p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6" name="Google Shape;16;p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7" name="Google Shape;17;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2" name="Google Shape;22;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3" name="Google Shape;23;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6" name="Google Shape;26;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3" name="Google Shape;33;p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1" name="Google Shape;41;p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5" name="Google Shape;45;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1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1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9" name="Google Shape;49;p1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1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4" name="Google Shape;54;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7" name="Google Shape;57;p1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8" name="Google Shape;58;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1" name="Google Shape;61;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2" name="Google Shape;6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gif"/><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YIZ4aSKT3mo"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8" Type="http://schemas.openxmlformats.org/officeDocument/2006/relationships/hyperlink" Target="http://www.youtube.com/watch?v=KClQk17F4pY" TargetMode="External"/><Relationship Id="rId3" Type="http://schemas.openxmlformats.org/officeDocument/2006/relationships/image" Target="../media/image11.png"/><Relationship Id="rId7" Type="http://schemas.openxmlformats.org/officeDocument/2006/relationships/image" Target="../media/image15.gif"/><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gif"/><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jp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5Hb_ONJUA9I"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19.jp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jpg"/><Relationship Id="rId4" Type="http://schemas.openxmlformats.org/officeDocument/2006/relationships/hyperlink" Target="http://www.youtube.com/watch?v=xuBheRSfa_k"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hyperlink" Target="https://dashboard.blooket.com/set/69157c94ade2e3b964a0bff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132250" y="707150"/>
            <a:ext cx="5481600" cy="7110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600" b="1" i="0" strike="noStrike" cap="none" dirty="0">
                <a:solidFill>
                  <a:schemeClr val="dk1"/>
                </a:solidFill>
                <a:latin typeface="Poppins"/>
                <a:ea typeface="Poppins"/>
                <a:cs typeface="Poppins"/>
                <a:sym typeface="Poppins"/>
              </a:rPr>
              <a:t>Title: </a:t>
            </a:r>
            <a:r>
              <a:rPr lang="en" sz="1600" b="1" dirty="0">
                <a:solidFill>
                  <a:schemeClr val="dk1"/>
                </a:solidFill>
                <a:latin typeface="Poppins"/>
                <a:ea typeface="Poppins"/>
                <a:cs typeface="Poppins"/>
                <a:sym typeface="Poppins"/>
              </a:rPr>
              <a:t>Living with Tectonic Hazards</a:t>
            </a:r>
            <a:endParaRPr sz="1600" b="1" i="0" strike="noStrike" cap="none" dirty="0">
              <a:solidFill>
                <a:schemeClr val="dk1"/>
              </a:solidFill>
              <a:latin typeface="Poppins"/>
              <a:ea typeface="Poppins"/>
              <a:cs typeface="Poppins"/>
              <a:sym typeface="Poppins"/>
            </a:endParaRPr>
          </a:p>
        </p:txBody>
      </p:sp>
      <p:sp>
        <p:nvSpPr>
          <p:cNvPr id="68" name="Google Shape;68;p15"/>
          <p:cNvSpPr txBox="1"/>
          <p:nvPr/>
        </p:nvSpPr>
        <p:spPr>
          <a:xfrm>
            <a:off x="132250" y="1565900"/>
            <a:ext cx="5481600" cy="34239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8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900"/>
              <a:buFont typeface="Arial"/>
              <a:buNone/>
            </a:pPr>
            <a:endParaRPr sz="1800" b="1" i="0" u="none" strike="noStrike" cap="none">
              <a:solidFill>
                <a:schemeClr val="dk1"/>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900"/>
              <a:buFont typeface="Arial"/>
              <a:buNone/>
            </a:pPr>
            <a:r>
              <a:rPr lang="en" sz="1800" b="1">
                <a:solidFill>
                  <a:schemeClr val="dk1"/>
                </a:solidFill>
                <a:latin typeface="Poppins"/>
                <a:ea typeface="Poppins"/>
                <a:cs typeface="Poppins"/>
                <a:sym typeface="Poppins"/>
              </a:rPr>
              <a:t>Last Lesson: </a:t>
            </a:r>
            <a:r>
              <a:rPr lang="en" sz="1800">
                <a:solidFill>
                  <a:schemeClr val="dk1"/>
                </a:solidFill>
                <a:latin typeface="Poppins"/>
                <a:ea typeface="Poppins"/>
                <a:cs typeface="Poppins"/>
                <a:sym typeface="Poppins"/>
              </a:rPr>
              <a:t>Name one way Japan prepares for earthquakes.</a:t>
            </a:r>
            <a:endParaRPr sz="180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900"/>
              <a:buFont typeface="Arial"/>
              <a:buNone/>
            </a:pPr>
            <a:endParaRPr sz="1000" b="1">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900"/>
              <a:buFont typeface="Arial"/>
              <a:buNone/>
            </a:pPr>
            <a:r>
              <a:rPr lang="en" sz="1800" b="1">
                <a:solidFill>
                  <a:schemeClr val="dk1"/>
                </a:solidFill>
                <a:latin typeface="Poppins"/>
                <a:ea typeface="Poppins"/>
                <a:cs typeface="Poppins"/>
                <a:sym typeface="Poppins"/>
              </a:rPr>
              <a:t>Two Lessons Ago: </a:t>
            </a:r>
            <a:r>
              <a:rPr lang="en" sz="1800">
                <a:solidFill>
                  <a:schemeClr val="dk1"/>
                </a:solidFill>
                <a:latin typeface="Poppins"/>
                <a:ea typeface="Poppins"/>
                <a:cs typeface="Poppins"/>
                <a:sym typeface="Poppins"/>
              </a:rPr>
              <a:t>Describe the difference between a social and an economic impact.</a:t>
            </a:r>
            <a:endParaRPr sz="1800">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900"/>
              <a:buFont typeface="Arial"/>
              <a:buNone/>
            </a:pPr>
            <a:endParaRPr sz="1000" b="1">
              <a:solidFill>
                <a:schemeClr val="dk1"/>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900"/>
              <a:buFont typeface="Arial"/>
              <a:buNone/>
            </a:pPr>
            <a:r>
              <a:rPr lang="en" sz="1800" b="1">
                <a:solidFill>
                  <a:schemeClr val="dk1"/>
                </a:solidFill>
                <a:latin typeface="Poppins"/>
                <a:ea typeface="Poppins"/>
                <a:cs typeface="Poppins"/>
                <a:sym typeface="Poppins"/>
              </a:rPr>
              <a:t>Three Lessons Ago: </a:t>
            </a:r>
            <a:r>
              <a:rPr lang="en" sz="1800">
                <a:solidFill>
                  <a:schemeClr val="dk1"/>
                </a:solidFill>
                <a:latin typeface="Poppins"/>
                <a:ea typeface="Poppins"/>
                <a:cs typeface="Poppins"/>
                <a:sym typeface="Poppins"/>
              </a:rPr>
              <a:t>Explain why the secondary impacts were bigger than the primary impacts in the 2010 Iceland eruption.</a:t>
            </a:r>
            <a:endParaRPr sz="1800">
              <a:solidFill>
                <a:schemeClr val="dk1"/>
              </a:solidFill>
              <a:latin typeface="Poppins"/>
              <a:ea typeface="Poppins"/>
              <a:cs typeface="Poppins"/>
              <a:sym typeface="Poppins"/>
            </a:endParaRPr>
          </a:p>
        </p:txBody>
      </p:sp>
      <p:pic>
        <p:nvPicPr>
          <p:cNvPr id="69" name="Google Shape;69;p15"/>
          <p:cNvPicPr preferRelativeResize="0"/>
          <p:nvPr/>
        </p:nvPicPr>
        <p:blipFill>
          <a:blip r:embed="rId3">
            <a:alphaModFix/>
          </a:blip>
          <a:stretch>
            <a:fillRect/>
          </a:stretch>
        </p:blipFill>
        <p:spPr>
          <a:xfrm>
            <a:off x="165876" y="1565900"/>
            <a:ext cx="756925" cy="543250"/>
          </a:xfrm>
          <a:prstGeom prst="rect">
            <a:avLst/>
          </a:prstGeom>
          <a:noFill/>
          <a:ln>
            <a:noFill/>
          </a:ln>
        </p:spPr>
      </p:pic>
      <p:sp>
        <p:nvSpPr>
          <p:cNvPr id="70" name="Google Shape;70;p1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pic>
        <p:nvPicPr>
          <p:cNvPr id="71" name="Google Shape;71;p15"/>
          <p:cNvPicPr preferRelativeResize="0"/>
          <p:nvPr/>
        </p:nvPicPr>
        <p:blipFill rotWithShape="1">
          <a:blip r:embed="rId4">
            <a:alphaModFix/>
          </a:blip>
          <a:srcRect/>
          <a:stretch/>
        </p:blipFill>
        <p:spPr>
          <a:xfrm>
            <a:off x="6029704" y="971325"/>
            <a:ext cx="2600986" cy="1957586"/>
          </a:xfrm>
          <a:prstGeom prst="rect">
            <a:avLst/>
          </a:prstGeom>
          <a:noFill/>
          <a:ln>
            <a:noFill/>
          </a:ln>
        </p:spPr>
      </p:pic>
      <p:pic>
        <p:nvPicPr>
          <p:cNvPr id="72" name="Google Shape;72;p15"/>
          <p:cNvPicPr preferRelativeResize="0"/>
          <p:nvPr/>
        </p:nvPicPr>
        <p:blipFill rotWithShape="1">
          <a:blip r:embed="rId5">
            <a:alphaModFix/>
          </a:blip>
          <a:srcRect/>
          <a:stretch/>
        </p:blipFill>
        <p:spPr>
          <a:xfrm>
            <a:off x="6029700" y="3144543"/>
            <a:ext cx="2600990" cy="14630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p:nvPr/>
        </p:nvSpPr>
        <p:spPr>
          <a:xfrm>
            <a:off x="132250" y="1418150"/>
            <a:ext cx="5290800" cy="326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Meeting:</a:t>
            </a:r>
            <a:r>
              <a:rPr lang="en" sz="1600">
                <a:solidFill>
                  <a:schemeClr val="dk1"/>
                </a:solidFill>
                <a:latin typeface="Baumans"/>
                <a:ea typeface="Baumans"/>
                <a:cs typeface="Baumans"/>
                <a:sym typeface="Baumans"/>
              </a:rPr>
              <a:t> Can describe where tectonic hazards occur and identify some reasons why people live near them.</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Exceeding:</a:t>
            </a:r>
            <a:r>
              <a:rPr lang="en" sz="1600">
                <a:solidFill>
                  <a:schemeClr val="dk1"/>
                </a:solidFill>
                <a:latin typeface="Baumans"/>
                <a:ea typeface="Baumans"/>
                <a:cs typeface="Baumans"/>
                <a:sym typeface="Baumans"/>
              </a:rPr>
              <a:t> Can explain why people choose to live near tectonic hazards, using clear examples of benefits and risks.</a:t>
            </a: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endParaRPr sz="1600">
              <a:solidFill>
                <a:schemeClr val="dk1"/>
              </a:solidFill>
              <a:latin typeface="Baumans"/>
              <a:ea typeface="Baumans"/>
              <a:cs typeface="Baumans"/>
              <a:sym typeface="Baumans"/>
            </a:endParaRPr>
          </a:p>
          <a:p>
            <a:pPr marL="0" lvl="0" indent="0" algn="l" rtl="0">
              <a:lnSpc>
                <a:spcPct val="115000"/>
              </a:lnSpc>
              <a:spcBef>
                <a:spcPts val="0"/>
              </a:spcBef>
              <a:spcAft>
                <a:spcPts val="0"/>
              </a:spcAft>
              <a:buNone/>
            </a:pPr>
            <a:r>
              <a:rPr lang="en" sz="1600">
                <a:solidFill>
                  <a:schemeClr val="dk1"/>
                </a:solidFill>
                <a:latin typeface="Baumans"/>
                <a:ea typeface="Baumans"/>
                <a:cs typeface="Baumans"/>
                <a:sym typeface="Baumans"/>
              </a:rPr>
              <a:t>🧠 </a:t>
            </a:r>
            <a:r>
              <a:rPr lang="en" sz="1600" b="1">
                <a:solidFill>
                  <a:schemeClr val="dk1"/>
                </a:solidFill>
                <a:latin typeface="Baumans"/>
                <a:ea typeface="Baumans"/>
                <a:cs typeface="Baumans"/>
                <a:sym typeface="Baumans"/>
              </a:rPr>
              <a:t>Mastering:</a:t>
            </a:r>
            <a:r>
              <a:rPr lang="en" sz="1600">
                <a:solidFill>
                  <a:schemeClr val="dk1"/>
                </a:solidFill>
                <a:latin typeface="Baumans"/>
                <a:ea typeface="Baumans"/>
                <a:cs typeface="Baumans"/>
                <a:sym typeface="Baumans"/>
              </a:rPr>
              <a:t> Can analyse why people continue to live in hazardous areas and evaluate how advantages and management strategies outweigh the dangers.</a:t>
            </a:r>
            <a:endParaRPr sz="1600">
              <a:solidFill>
                <a:schemeClr val="dk1"/>
              </a:solidFill>
              <a:latin typeface="Baumans"/>
              <a:ea typeface="Baumans"/>
              <a:cs typeface="Baumans"/>
              <a:sym typeface="Baumans"/>
            </a:endParaRPr>
          </a:p>
        </p:txBody>
      </p:sp>
      <p:sp>
        <p:nvSpPr>
          <p:cNvPr id="78" name="Google Shape;78;p1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pic>
        <p:nvPicPr>
          <p:cNvPr id="79" name="Google Shape;79;p16"/>
          <p:cNvPicPr preferRelativeResize="0"/>
          <p:nvPr/>
        </p:nvPicPr>
        <p:blipFill>
          <a:blip r:embed="rId3">
            <a:alphaModFix/>
          </a:blip>
          <a:stretch>
            <a:fillRect/>
          </a:stretch>
        </p:blipFill>
        <p:spPr>
          <a:xfrm>
            <a:off x="5423050" y="1970750"/>
            <a:ext cx="3642000" cy="2185200"/>
          </a:xfrm>
          <a:prstGeom prst="rect">
            <a:avLst/>
          </a:prstGeom>
          <a:noFill/>
          <a:ln>
            <a:noFill/>
          </a:ln>
        </p:spPr>
      </p:pic>
      <p:sp>
        <p:nvSpPr>
          <p:cNvPr id="80" name="Google Shape;80;p16"/>
          <p:cNvSpPr txBox="1"/>
          <p:nvPr/>
        </p:nvSpPr>
        <p:spPr>
          <a:xfrm>
            <a:off x="132250" y="707150"/>
            <a:ext cx="5481600" cy="7110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600" b="1" i="0" strike="noStrike" cap="none">
                <a:solidFill>
                  <a:schemeClr val="dk1"/>
                </a:solidFill>
                <a:latin typeface="Poppins"/>
                <a:ea typeface="Poppins"/>
                <a:cs typeface="Poppins"/>
                <a:sym typeface="Poppins"/>
              </a:rPr>
              <a:t>Date: </a:t>
            </a:r>
            <a:r>
              <a:rPr lang="en" sz="1600" b="1">
                <a:solidFill>
                  <a:schemeClr val="dk1"/>
                </a:solidFill>
                <a:latin typeface="Poppins"/>
                <a:ea typeface="Poppins"/>
                <a:cs typeface="Poppins"/>
                <a:sym typeface="Poppins"/>
              </a:rPr>
              <a:t>Tuesday 25th November</a:t>
            </a:r>
            <a:r>
              <a:rPr lang="en" sz="1600" b="1" i="0" strike="noStrike" cap="none">
                <a:solidFill>
                  <a:schemeClr val="dk1"/>
                </a:solidFill>
                <a:latin typeface="Poppins"/>
                <a:ea typeface="Poppins"/>
                <a:cs typeface="Poppins"/>
                <a:sym typeface="Poppins"/>
              </a:rPr>
              <a:t> 202</a:t>
            </a:r>
            <a:r>
              <a:rPr lang="en" sz="1600" b="1">
                <a:solidFill>
                  <a:schemeClr val="dk1"/>
                </a:solidFill>
                <a:latin typeface="Poppins"/>
                <a:ea typeface="Poppins"/>
                <a:cs typeface="Poppins"/>
                <a:sym typeface="Poppins"/>
              </a:rPr>
              <a:t>5</a:t>
            </a:r>
            <a:endParaRPr sz="1600" i="0" strike="noStrike" cap="none">
              <a:solidFill>
                <a:schemeClr val="dk1"/>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800"/>
              <a:buFont typeface="Arial"/>
              <a:buNone/>
            </a:pPr>
            <a:r>
              <a:rPr lang="en" sz="1600" b="1" i="0" strike="noStrike" cap="none">
                <a:solidFill>
                  <a:schemeClr val="dk1"/>
                </a:solidFill>
                <a:latin typeface="Poppins"/>
                <a:ea typeface="Poppins"/>
                <a:cs typeface="Poppins"/>
                <a:sym typeface="Poppins"/>
              </a:rPr>
              <a:t>Title: </a:t>
            </a:r>
            <a:r>
              <a:rPr lang="en" sz="1600" b="1">
                <a:solidFill>
                  <a:schemeClr val="dk1"/>
                </a:solidFill>
                <a:latin typeface="Poppins"/>
                <a:ea typeface="Poppins"/>
                <a:cs typeface="Poppins"/>
                <a:sym typeface="Poppins"/>
              </a:rPr>
              <a:t>Living with Tectonic Hazards</a:t>
            </a:r>
            <a:endParaRPr sz="1600" b="1" i="0" strike="noStrike" cap="none">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86" name="Google Shape;86;p17"/>
          <p:cNvSpPr/>
          <p:nvPr/>
        </p:nvSpPr>
        <p:spPr>
          <a:xfrm>
            <a:off x="125350" y="661400"/>
            <a:ext cx="58812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Key Terms</a:t>
            </a:r>
            <a:endParaRPr sz="2000" i="0" u="none" strike="noStrike" cap="none">
              <a:solidFill>
                <a:schemeClr val="dk1"/>
              </a:solidFill>
              <a:highlight>
                <a:schemeClr val="lt1"/>
              </a:highlight>
              <a:latin typeface="Luckiest Guy"/>
              <a:ea typeface="Luckiest Guy"/>
              <a:cs typeface="Luckiest Guy"/>
              <a:sym typeface="Luckiest Guy"/>
            </a:endParaRPr>
          </a:p>
        </p:txBody>
      </p:sp>
      <p:graphicFrame>
        <p:nvGraphicFramePr>
          <p:cNvPr id="87" name="Google Shape;87;p17"/>
          <p:cNvGraphicFramePr/>
          <p:nvPr/>
        </p:nvGraphicFramePr>
        <p:xfrm>
          <a:off x="125350" y="1165700"/>
          <a:ext cx="8911875" cy="2743125"/>
        </p:xfrm>
        <a:graphic>
          <a:graphicData uri="http://schemas.openxmlformats.org/drawingml/2006/table">
            <a:tbl>
              <a:tblPr>
                <a:noFill/>
                <a:tableStyleId>{34681585-EF78-406C-A2D1-2F160A66B46A}</a:tableStyleId>
              </a:tblPr>
              <a:tblGrid>
                <a:gridCol w="2038425">
                  <a:extLst>
                    <a:ext uri="{9D8B030D-6E8A-4147-A177-3AD203B41FA5}">
                      <a16:colId xmlns:a16="http://schemas.microsoft.com/office/drawing/2014/main" val="20000"/>
                    </a:ext>
                  </a:extLst>
                </a:gridCol>
                <a:gridCol w="1204325">
                  <a:extLst>
                    <a:ext uri="{9D8B030D-6E8A-4147-A177-3AD203B41FA5}">
                      <a16:colId xmlns:a16="http://schemas.microsoft.com/office/drawing/2014/main" val="20001"/>
                    </a:ext>
                  </a:extLst>
                </a:gridCol>
                <a:gridCol w="5669125">
                  <a:extLst>
                    <a:ext uri="{9D8B030D-6E8A-4147-A177-3AD203B41FA5}">
                      <a16:colId xmlns:a16="http://schemas.microsoft.com/office/drawing/2014/main" val="20002"/>
                    </a:ext>
                  </a:extLst>
                </a:gridCol>
              </a:tblGrid>
              <a:tr h="914375">
                <a:tc>
                  <a:txBody>
                    <a:bodyPr/>
                    <a:lstStyle/>
                    <a:p>
                      <a:pPr marL="0" lvl="0" indent="0" algn="l" rtl="0">
                        <a:spcBef>
                          <a:spcPts val="0"/>
                        </a:spcBef>
                        <a:spcAft>
                          <a:spcPts val="0"/>
                        </a:spcAft>
                        <a:buNone/>
                      </a:pPr>
                      <a:r>
                        <a:rPr lang="en" sz="1600" b="1">
                          <a:latin typeface="Poppins"/>
                          <a:ea typeface="Poppins"/>
                          <a:cs typeface="Poppins"/>
                          <a:sym typeface="Poppins"/>
                        </a:rPr>
                        <a:t>Hazard</a:t>
                      </a:r>
                      <a:endParaRPr sz="1600" b="1">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Poppins"/>
                          <a:ea typeface="Poppins"/>
                          <a:cs typeface="Poppins"/>
                          <a:sym typeface="Poppins"/>
                        </a:rPr>
                        <a:t>A natural event, like an earthquake or volcano, that can cause damage or danger to people.</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914375">
                <a:tc>
                  <a:txBody>
                    <a:bodyPr/>
                    <a:lstStyle/>
                    <a:p>
                      <a:pPr marL="0" lvl="0" indent="0" algn="l" rtl="0">
                        <a:spcBef>
                          <a:spcPts val="0"/>
                        </a:spcBef>
                        <a:spcAft>
                          <a:spcPts val="0"/>
                        </a:spcAft>
                        <a:buClr>
                          <a:schemeClr val="dk1"/>
                        </a:buClr>
                        <a:buSzPts val="1100"/>
                        <a:buFont typeface="Arial"/>
                        <a:buNone/>
                      </a:pPr>
                      <a:r>
                        <a:rPr lang="en" sz="1600" b="1">
                          <a:solidFill>
                            <a:schemeClr val="dk1"/>
                          </a:solidFill>
                          <a:latin typeface="Poppins"/>
                          <a:ea typeface="Poppins"/>
                          <a:cs typeface="Poppins"/>
                          <a:sym typeface="Poppins"/>
                        </a:rPr>
                        <a:t>Risk</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Poppins"/>
                          <a:ea typeface="Poppins"/>
                          <a:cs typeface="Poppins"/>
                          <a:sym typeface="Poppins"/>
                        </a:rPr>
                        <a:t>The chance of people being harmed or losing property because of a hazard.</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4375">
                <a:tc>
                  <a:txBody>
                    <a:bodyPr/>
                    <a:lstStyle/>
                    <a:p>
                      <a:pPr marL="0" lvl="0" indent="0" algn="l" rtl="0">
                        <a:spcBef>
                          <a:spcPts val="0"/>
                        </a:spcBef>
                        <a:spcAft>
                          <a:spcPts val="0"/>
                        </a:spcAft>
                        <a:buNone/>
                      </a:pPr>
                      <a:r>
                        <a:rPr lang="en" sz="1600" b="1">
                          <a:solidFill>
                            <a:schemeClr val="dk1"/>
                          </a:solidFill>
                          <a:latin typeface="Poppins"/>
                          <a:ea typeface="Poppins"/>
                          <a:cs typeface="Poppins"/>
                          <a:sym typeface="Poppins"/>
                        </a:rPr>
                        <a:t>Benefit</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sz="1600">
                        <a:latin typeface="Poppins"/>
                        <a:ea typeface="Poppins"/>
                        <a:cs typeface="Poppins"/>
                        <a:sym typeface="Poppins"/>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solidFill>
                            <a:schemeClr val="dk1"/>
                          </a:solidFill>
                          <a:latin typeface="Poppins"/>
                          <a:ea typeface="Poppins"/>
                          <a:cs typeface="Poppins"/>
                          <a:sym typeface="Poppins"/>
                        </a:rPr>
                        <a:t>A positive reason why people might choose to live in a risky area, like fertile land or jobs.</a:t>
                      </a:r>
                      <a:endParaRPr sz="16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88" name="Google Shape;88;p17"/>
          <p:cNvPicPr preferRelativeResize="0"/>
          <p:nvPr/>
        </p:nvPicPr>
        <p:blipFill>
          <a:blip r:embed="rId3">
            <a:alphaModFix/>
          </a:blip>
          <a:stretch>
            <a:fillRect/>
          </a:stretch>
        </p:blipFill>
        <p:spPr>
          <a:xfrm>
            <a:off x="2334800" y="1217700"/>
            <a:ext cx="801350" cy="801350"/>
          </a:xfrm>
          <a:prstGeom prst="rect">
            <a:avLst/>
          </a:prstGeom>
          <a:noFill/>
          <a:ln>
            <a:noFill/>
          </a:ln>
        </p:spPr>
      </p:pic>
      <p:pic>
        <p:nvPicPr>
          <p:cNvPr id="89" name="Google Shape;89;p17"/>
          <p:cNvPicPr preferRelativeResize="0"/>
          <p:nvPr/>
        </p:nvPicPr>
        <p:blipFill>
          <a:blip r:embed="rId4">
            <a:alphaModFix/>
          </a:blip>
          <a:stretch>
            <a:fillRect/>
          </a:stretch>
        </p:blipFill>
        <p:spPr>
          <a:xfrm>
            <a:off x="2334800" y="2136588"/>
            <a:ext cx="801350" cy="801350"/>
          </a:xfrm>
          <a:prstGeom prst="rect">
            <a:avLst/>
          </a:prstGeom>
          <a:noFill/>
          <a:ln>
            <a:noFill/>
          </a:ln>
        </p:spPr>
      </p:pic>
      <p:pic>
        <p:nvPicPr>
          <p:cNvPr id="90" name="Google Shape;90;p17"/>
          <p:cNvPicPr preferRelativeResize="0"/>
          <p:nvPr/>
        </p:nvPicPr>
        <p:blipFill>
          <a:blip r:embed="rId5">
            <a:alphaModFix/>
          </a:blip>
          <a:stretch>
            <a:fillRect/>
          </a:stretch>
        </p:blipFill>
        <p:spPr>
          <a:xfrm>
            <a:off x="2334800" y="3055500"/>
            <a:ext cx="801350" cy="801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96" name="Google Shape;96;p18"/>
          <p:cNvSpPr txBox="1"/>
          <p:nvPr/>
        </p:nvSpPr>
        <p:spPr>
          <a:xfrm>
            <a:off x="106800" y="1180875"/>
            <a:ext cx="4419600" cy="141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In AD 79, Mount Vesuvius in southern Italy erupted. The volcano buried the nearby cities of Pompeii and Herculaneum in ash and killed thousands of people. </a:t>
            </a:r>
            <a:endParaRPr sz="2000">
              <a:solidFill>
                <a:schemeClr val="dk1"/>
              </a:solidFill>
              <a:latin typeface="Baumans"/>
              <a:ea typeface="Baumans"/>
              <a:cs typeface="Baumans"/>
              <a:sym typeface="Baumans"/>
            </a:endParaRPr>
          </a:p>
        </p:txBody>
      </p:sp>
      <p:sp>
        <p:nvSpPr>
          <p:cNvPr id="97" name="Google Shape;97;p18"/>
          <p:cNvSpPr txBox="1"/>
          <p:nvPr/>
        </p:nvSpPr>
        <p:spPr>
          <a:xfrm>
            <a:off x="2822325" y="3127125"/>
            <a:ext cx="6142200" cy="141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a:solidFill>
                  <a:schemeClr val="dk1"/>
                </a:solidFill>
                <a:latin typeface="Baumans"/>
                <a:ea typeface="Baumans"/>
                <a:cs typeface="Baumans"/>
                <a:sym typeface="Baumans"/>
              </a:rPr>
              <a:t>Today, over one million people live near Vesuvius, mostly in the city of Naples. Vesuvius last erupted in 1944, but in the past it erupted about every 20 years. Many people believe it is now long overdue for another eruption.</a:t>
            </a:r>
            <a:endParaRPr sz="1600"/>
          </a:p>
        </p:txBody>
      </p:sp>
      <p:sp>
        <p:nvSpPr>
          <p:cNvPr id="98" name="Google Shape;98;p18"/>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Living in the Shadow of a Volcano: Mount Vesuvius - Italy</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99" name="Google Shape;99;p18"/>
          <p:cNvPicPr preferRelativeResize="0"/>
          <p:nvPr/>
        </p:nvPicPr>
        <p:blipFill rotWithShape="1">
          <a:blip r:embed="rId3">
            <a:alphaModFix/>
          </a:blip>
          <a:srcRect/>
          <a:stretch/>
        </p:blipFill>
        <p:spPr>
          <a:xfrm>
            <a:off x="4572000" y="1165710"/>
            <a:ext cx="4419600" cy="1556837"/>
          </a:xfrm>
          <a:prstGeom prst="rect">
            <a:avLst/>
          </a:prstGeom>
          <a:noFill/>
          <a:ln>
            <a:noFill/>
          </a:ln>
        </p:spPr>
      </p:pic>
      <p:pic>
        <p:nvPicPr>
          <p:cNvPr id="100" name="Google Shape;100;p18"/>
          <p:cNvPicPr preferRelativeResize="0"/>
          <p:nvPr/>
        </p:nvPicPr>
        <p:blipFill>
          <a:blip r:embed="rId4">
            <a:alphaModFix/>
          </a:blip>
          <a:stretch>
            <a:fillRect/>
          </a:stretch>
        </p:blipFill>
        <p:spPr>
          <a:xfrm>
            <a:off x="125350" y="2916550"/>
            <a:ext cx="2544575" cy="16932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06" name="Google Shape;106;p19"/>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Living in the Shadow of a Volcano: Mount Vesuvius - Italy</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107" name="Google Shape;107;p19" descr="Find even more volcano content with Twig Science Reporter — watch now! 👉 https://bit.ly/3we8ooE&#10;&#10;In 79 AD, Pompeii was a thriving Roman city. Little did the people know that nearby Mount Vesuvius was about to erupt, destroying the entire city and encasing it in ash for nearly 1500 years.&#10;&#10;Watch this video to find out more about what happened when Mount Vesuvius erupted, and learn terms like pyroclastic surge, pumice and asphyxiation." title="Geography Lesson: Pompeii Volcano Eruption | Twig">
            <a:hlinkClick r:id="rId3"/>
          </p:cNvPr>
          <p:cNvPicPr preferRelativeResize="0"/>
          <p:nvPr/>
        </p:nvPicPr>
        <p:blipFill>
          <a:blip r:embed="rId4">
            <a:alphaModFix/>
          </a:blip>
          <a:stretch>
            <a:fillRect/>
          </a:stretch>
        </p:blipFill>
        <p:spPr>
          <a:xfrm>
            <a:off x="125350" y="1411625"/>
            <a:ext cx="3886675" cy="2186250"/>
          </a:xfrm>
          <a:prstGeom prst="rect">
            <a:avLst/>
          </a:prstGeom>
          <a:noFill/>
          <a:ln>
            <a:noFill/>
          </a:ln>
        </p:spPr>
      </p:pic>
      <p:sp>
        <p:nvSpPr>
          <p:cNvPr id="108" name="Google Shape;108;p19"/>
          <p:cNvSpPr txBox="1"/>
          <p:nvPr/>
        </p:nvSpPr>
        <p:spPr>
          <a:xfrm>
            <a:off x="4178575" y="1165700"/>
            <a:ext cx="4858500" cy="26781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Font typeface="Baumans"/>
              <a:buAutoNum type="arabicPeriod"/>
            </a:pPr>
            <a:r>
              <a:rPr lang="en" sz="1800">
                <a:latin typeface="Baumans"/>
                <a:ea typeface="Baumans"/>
                <a:cs typeface="Baumans"/>
                <a:sym typeface="Baumans"/>
              </a:rPr>
              <a:t>What was the Roman city of Pompeii like before the eruption of Mount Vesuvius in AD 79?</a:t>
            </a:r>
            <a:br>
              <a:rPr lang="en" sz="1800">
                <a:latin typeface="Baumans"/>
                <a:ea typeface="Baumans"/>
                <a:cs typeface="Baumans"/>
                <a:sym typeface="Baumans"/>
              </a:rPr>
            </a:br>
            <a:endParaRPr sz="1800">
              <a:latin typeface="Baumans"/>
              <a:ea typeface="Baumans"/>
              <a:cs typeface="Baumans"/>
              <a:sym typeface="Baumans"/>
            </a:endParaRPr>
          </a:p>
          <a:p>
            <a:pPr marL="457200" lvl="0" indent="-342900" algn="l" rtl="0">
              <a:spcBef>
                <a:spcPts val="0"/>
              </a:spcBef>
              <a:spcAft>
                <a:spcPts val="0"/>
              </a:spcAft>
              <a:buSzPts val="1800"/>
              <a:buFont typeface="Baumans"/>
              <a:buAutoNum type="arabicPeriod"/>
            </a:pPr>
            <a:r>
              <a:rPr lang="en" sz="1800">
                <a:latin typeface="Baumans"/>
                <a:ea typeface="Baumans"/>
                <a:cs typeface="Baumans"/>
                <a:sym typeface="Baumans"/>
              </a:rPr>
              <a:t>How did the first pyroclastic surge affect Pompeii and its people?</a:t>
            </a:r>
            <a:br>
              <a:rPr lang="en" sz="1800">
                <a:latin typeface="Baumans"/>
                <a:ea typeface="Baumans"/>
                <a:cs typeface="Baumans"/>
                <a:sym typeface="Baumans"/>
              </a:rPr>
            </a:br>
            <a:endParaRPr sz="1800">
              <a:latin typeface="Baumans"/>
              <a:ea typeface="Baumans"/>
              <a:cs typeface="Baumans"/>
              <a:sym typeface="Baumans"/>
            </a:endParaRPr>
          </a:p>
          <a:p>
            <a:pPr marL="457200" lvl="0" indent="-342900" algn="l" rtl="0">
              <a:spcBef>
                <a:spcPts val="0"/>
              </a:spcBef>
              <a:spcAft>
                <a:spcPts val="0"/>
              </a:spcAft>
              <a:buSzPts val="1800"/>
              <a:buFont typeface="Baumans"/>
              <a:buAutoNum type="arabicPeriod"/>
            </a:pPr>
            <a:r>
              <a:rPr lang="en" sz="1800">
                <a:latin typeface="Baumans"/>
                <a:ea typeface="Baumans"/>
                <a:cs typeface="Baumans"/>
                <a:sym typeface="Baumans"/>
              </a:rPr>
              <a:t>How was Pompeii preserved and when was it rediscovered?</a:t>
            </a:r>
            <a:endParaRPr sz="1800">
              <a:latin typeface="Baumans"/>
              <a:ea typeface="Baumans"/>
              <a:cs typeface="Baumans"/>
              <a:sym typeface="Baumans"/>
            </a:endParaRPr>
          </a:p>
        </p:txBody>
      </p:sp>
      <p:sp>
        <p:nvSpPr>
          <p:cNvPr id="109" name="Google Shape;109;p19"/>
          <p:cNvSpPr txBox="1"/>
          <p:nvPr/>
        </p:nvSpPr>
        <p:spPr>
          <a:xfrm>
            <a:off x="125350" y="3843800"/>
            <a:ext cx="89118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AutoNum type="arabicPeriod"/>
            </a:pPr>
            <a:r>
              <a:rPr lang="en" b="1">
                <a:solidFill>
                  <a:schemeClr val="dk1"/>
                </a:solidFill>
                <a:highlight>
                  <a:schemeClr val="lt1"/>
                </a:highlight>
                <a:latin typeface="Poppins"/>
                <a:ea typeface="Poppins"/>
                <a:cs typeface="Poppins"/>
                <a:sym typeface="Poppins"/>
              </a:rPr>
              <a:t>A wealthy, busy city near Mount Vesuvius, which people thought was safe.</a:t>
            </a:r>
            <a:endParaRPr b="1">
              <a:solidFill>
                <a:schemeClr val="dk1"/>
              </a:solidFill>
              <a:highlight>
                <a:schemeClr val="lt1"/>
              </a:highlight>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b="1">
                <a:solidFill>
                  <a:schemeClr val="dk1"/>
                </a:solidFill>
                <a:highlight>
                  <a:schemeClr val="lt1"/>
                </a:highlight>
                <a:latin typeface="Poppins"/>
                <a:ea typeface="Poppins"/>
                <a:cs typeface="Poppins"/>
                <a:sym typeface="Poppins"/>
              </a:rPr>
              <a:t>Killed many people with toxic gas and ash.</a:t>
            </a:r>
            <a:endParaRPr b="1">
              <a:solidFill>
                <a:schemeClr val="dk1"/>
              </a:solidFill>
              <a:highlight>
                <a:schemeClr val="lt1"/>
              </a:highlight>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AutoNum type="arabicPeriod"/>
            </a:pPr>
            <a:r>
              <a:rPr lang="en" b="1">
                <a:solidFill>
                  <a:schemeClr val="dk1"/>
                </a:solidFill>
                <a:highlight>
                  <a:schemeClr val="lt1"/>
                </a:highlight>
                <a:latin typeface="Poppins"/>
                <a:ea typeface="Poppins"/>
                <a:cs typeface="Poppins"/>
                <a:sym typeface="Poppins"/>
              </a:rPr>
              <a:t>Under ash and rock and rediscovered in 1594.</a:t>
            </a:r>
            <a:endParaRPr b="1">
              <a:solidFill>
                <a:schemeClr val="dk1"/>
              </a:solidFill>
              <a:highlight>
                <a:schemeClr val="lt1"/>
              </a:highlight>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1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15" name="Google Shape;115;p20"/>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Living in the Shadow of a Volcano: Mount Vesuvius - Italy</a:t>
            </a:r>
            <a:endParaRPr sz="2000" i="0" u="none" strike="noStrike" cap="none">
              <a:solidFill>
                <a:schemeClr val="dk1"/>
              </a:solidFill>
              <a:highlight>
                <a:schemeClr val="lt1"/>
              </a:highlight>
              <a:latin typeface="Luckiest Guy"/>
              <a:ea typeface="Luckiest Guy"/>
              <a:cs typeface="Luckiest Guy"/>
              <a:sym typeface="Luckiest Guy"/>
            </a:endParaRPr>
          </a:p>
        </p:txBody>
      </p:sp>
      <p:sp>
        <p:nvSpPr>
          <p:cNvPr id="116" name="Google Shape;116;p20"/>
          <p:cNvSpPr txBox="1"/>
          <p:nvPr/>
        </p:nvSpPr>
        <p:spPr>
          <a:xfrm>
            <a:off x="168750" y="1165700"/>
            <a:ext cx="53955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a:solidFill>
                  <a:schemeClr val="dk1"/>
                </a:solidFill>
                <a:highlight>
                  <a:srgbClr val="00FF00"/>
                </a:highlight>
                <a:latin typeface="Baumans"/>
                <a:ea typeface="Baumans"/>
                <a:cs typeface="Baumans"/>
                <a:sym typeface="Baumans"/>
              </a:rPr>
              <a:t>Activity:</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Use your device to research and answer the questions in ‘</a:t>
            </a:r>
            <a:r>
              <a:rPr lang="en" sz="1800" b="1">
                <a:solidFill>
                  <a:schemeClr val="dk1"/>
                </a:solidFill>
                <a:latin typeface="Baumans"/>
                <a:ea typeface="Baumans"/>
                <a:cs typeface="Baumans"/>
                <a:sym typeface="Baumans"/>
              </a:rPr>
              <a:t>Living in the Shadow of Vesuvius.</a:t>
            </a:r>
            <a:r>
              <a:rPr lang="en" sz="1800">
                <a:solidFill>
                  <a:schemeClr val="dk1"/>
                </a:solidFill>
                <a:latin typeface="Baumans"/>
                <a:ea typeface="Baumans"/>
                <a:cs typeface="Baumans"/>
                <a:sym typeface="Baumans"/>
              </a:rPr>
              <a:t>’</a:t>
            </a:r>
            <a:endParaRPr sz="1800">
              <a:solidFill>
                <a:schemeClr val="dk1"/>
              </a:solidFill>
              <a:latin typeface="Baumans"/>
              <a:ea typeface="Baumans"/>
              <a:cs typeface="Baumans"/>
              <a:sym typeface="Baumans"/>
            </a:endParaRPr>
          </a:p>
        </p:txBody>
      </p:sp>
      <p:pic>
        <p:nvPicPr>
          <p:cNvPr id="117" name="Google Shape;117;p20" title="Screenshot 2025-11-13 at 8.55.56 AM.png"/>
          <p:cNvPicPr preferRelativeResize="0"/>
          <p:nvPr/>
        </p:nvPicPr>
        <p:blipFill>
          <a:blip r:embed="rId3">
            <a:alphaModFix/>
          </a:blip>
          <a:stretch>
            <a:fillRect/>
          </a:stretch>
        </p:blipFill>
        <p:spPr>
          <a:xfrm>
            <a:off x="5814601" y="1100012"/>
            <a:ext cx="2704377" cy="1762176"/>
          </a:xfrm>
          <a:prstGeom prst="rect">
            <a:avLst/>
          </a:prstGeom>
          <a:noFill/>
          <a:ln>
            <a:noFill/>
          </a:ln>
        </p:spPr>
      </p:pic>
      <p:grpSp>
        <p:nvGrpSpPr>
          <p:cNvPr id="118" name="Google Shape;118;p20"/>
          <p:cNvGrpSpPr/>
          <p:nvPr/>
        </p:nvGrpSpPr>
        <p:grpSpPr>
          <a:xfrm>
            <a:off x="202908" y="3576497"/>
            <a:ext cx="825518" cy="1004624"/>
            <a:chOff x="5426175" y="139294"/>
            <a:chExt cx="946695" cy="1152356"/>
          </a:xfrm>
        </p:grpSpPr>
        <p:pic>
          <p:nvPicPr>
            <p:cNvPr id="119" name="Google Shape;119;p20"/>
            <p:cNvPicPr preferRelativeResize="0"/>
            <p:nvPr/>
          </p:nvPicPr>
          <p:blipFill>
            <a:blip r:embed="rId4">
              <a:alphaModFix/>
            </a:blip>
            <a:stretch>
              <a:fillRect/>
            </a:stretch>
          </p:blipFill>
          <p:spPr>
            <a:xfrm>
              <a:off x="5469469" y="139300"/>
              <a:ext cx="903401" cy="1152350"/>
            </a:xfrm>
            <a:prstGeom prst="rect">
              <a:avLst/>
            </a:prstGeom>
            <a:noFill/>
            <a:ln>
              <a:noFill/>
            </a:ln>
          </p:spPr>
        </p:pic>
        <p:pic>
          <p:nvPicPr>
            <p:cNvPr id="120" name="Google Shape;120;p20" descr="a cartoon drawing of a fire with a flame coming out of it (Provided by Tenor)"/>
            <p:cNvPicPr preferRelativeResize="0"/>
            <p:nvPr/>
          </p:nvPicPr>
          <p:blipFill>
            <a:blip r:embed="rId5">
              <a:alphaModFix/>
            </a:blip>
            <a:stretch>
              <a:fillRect/>
            </a:stretch>
          </p:blipFill>
          <p:spPr>
            <a:xfrm>
              <a:off x="5426175" y="139294"/>
              <a:ext cx="341075" cy="391706"/>
            </a:xfrm>
            <a:prstGeom prst="rect">
              <a:avLst/>
            </a:prstGeom>
            <a:noFill/>
            <a:ln>
              <a:noFill/>
            </a:ln>
          </p:spPr>
        </p:pic>
      </p:grpSp>
      <p:grpSp>
        <p:nvGrpSpPr>
          <p:cNvPr id="121" name="Google Shape;121;p20"/>
          <p:cNvGrpSpPr/>
          <p:nvPr/>
        </p:nvGrpSpPr>
        <p:grpSpPr>
          <a:xfrm>
            <a:off x="168745" y="2084705"/>
            <a:ext cx="893829" cy="1046685"/>
            <a:chOff x="5313625" y="1569463"/>
            <a:chExt cx="1136175" cy="1330475"/>
          </a:xfrm>
        </p:grpSpPr>
        <p:pic>
          <p:nvPicPr>
            <p:cNvPr id="122" name="Google Shape;122;p20"/>
            <p:cNvPicPr preferRelativeResize="0"/>
            <p:nvPr/>
          </p:nvPicPr>
          <p:blipFill>
            <a:blip r:embed="rId6">
              <a:alphaModFix/>
            </a:blip>
            <a:stretch>
              <a:fillRect/>
            </a:stretch>
          </p:blipFill>
          <p:spPr>
            <a:xfrm>
              <a:off x="5392550" y="1569463"/>
              <a:ext cx="1057250" cy="1330475"/>
            </a:xfrm>
            <a:prstGeom prst="rect">
              <a:avLst/>
            </a:prstGeom>
            <a:noFill/>
            <a:ln>
              <a:noFill/>
            </a:ln>
          </p:spPr>
        </p:pic>
        <p:pic>
          <p:nvPicPr>
            <p:cNvPr id="123" name="Google Shape;123;p20" descr="smoke is coming out of a hole in the ground on a white background . (Provided by Tenor)"/>
            <p:cNvPicPr preferRelativeResize="0"/>
            <p:nvPr/>
          </p:nvPicPr>
          <p:blipFill rotWithShape="1">
            <a:blip r:embed="rId7">
              <a:alphaModFix/>
            </a:blip>
            <a:srcRect l="42413" t="17925"/>
            <a:stretch/>
          </p:blipFill>
          <p:spPr>
            <a:xfrm>
              <a:off x="5313625" y="1650525"/>
              <a:ext cx="418000" cy="604725"/>
            </a:xfrm>
            <a:prstGeom prst="rect">
              <a:avLst/>
            </a:prstGeom>
            <a:noFill/>
            <a:ln>
              <a:noFill/>
            </a:ln>
          </p:spPr>
        </p:pic>
      </p:grpSp>
      <p:sp>
        <p:nvSpPr>
          <p:cNvPr id="124" name="Google Shape;124;p20"/>
          <p:cNvSpPr txBox="1"/>
          <p:nvPr/>
        </p:nvSpPr>
        <p:spPr>
          <a:xfrm>
            <a:off x="1224711" y="1995300"/>
            <a:ext cx="4214700" cy="1225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600" b="1">
                <a:highlight>
                  <a:srgbClr val="FAA500"/>
                </a:highlight>
                <a:latin typeface="Poppins"/>
                <a:ea typeface="Poppins"/>
                <a:cs typeface="Poppins"/>
                <a:sym typeface="Poppins"/>
              </a:rPr>
              <a:t>If you were in charge of disaster planning for Naples, which long-term actions  </a:t>
            </a:r>
            <a:r>
              <a:rPr lang="en" b="1">
                <a:highlight>
                  <a:srgbClr val="FAA500"/>
                </a:highlight>
                <a:latin typeface="Patrick Hand"/>
                <a:ea typeface="Patrick Hand"/>
                <a:cs typeface="Patrick Hand"/>
                <a:sym typeface="Patrick Hand"/>
              </a:rPr>
              <a:t>(monitoring, planning or community strategies)</a:t>
            </a:r>
            <a:r>
              <a:rPr lang="en" sz="1600" b="1">
                <a:highlight>
                  <a:srgbClr val="FAA500"/>
                </a:highlight>
                <a:latin typeface="Poppins"/>
                <a:ea typeface="Poppins"/>
                <a:cs typeface="Poppins"/>
                <a:sym typeface="Poppins"/>
              </a:rPr>
              <a:t> would you prioritise to save lives and protect property and why?</a:t>
            </a:r>
            <a:endParaRPr sz="1600" b="1">
              <a:highlight>
                <a:srgbClr val="FAA500"/>
              </a:highlight>
              <a:latin typeface="Poppins"/>
              <a:ea typeface="Poppins"/>
              <a:cs typeface="Poppins"/>
              <a:sym typeface="Poppins"/>
            </a:endParaRPr>
          </a:p>
        </p:txBody>
      </p:sp>
      <p:sp>
        <p:nvSpPr>
          <p:cNvPr id="125" name="Google Shape;125;p20"/>
          <p:cNvSpPr txBox="1"/>
          <p:nvPr/>
        </p:nvSpPr>
        <p:spPr>
          <a:xfrm>
            <a:off x="1148100" y="3370800"/>
            <a:ext cx="43344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FFFFFF"/>
                </a:solidFill>
                <a:highlight>
                  <a:srgbClr val="CE0925"/>
                </a:highlight>
                <a:latin typeface="Poppins"/>
                <a:ea typeface="Poppins"/>
                <a:cs typeface="Poppins"/>
                <a:sym typeface="Poppins"/>
              </a:rPr>
              <a:t>If a major eruption of Mount Vesuvius was predicted tomorrow, which decisions would you make first to protect people, and why would these be the most important?</a:t>
            </a:r>
            <a:endParaRPr sz="1600" b="1">
              <a:solidFill>
                <a:srgbClr val="FFFFFF"/>
              </a:solidFill>
              <a:highlight>
                <a:srgbClr val="CE0925"/>
              </a:highlight>
              <a:latin typeface="Poppins"/>
              <a:ea typeface="Poppins"/>
              <a:cs typeface="Poppins"/>
              <a:sym typeface="Poppins"/>
            </a:endParaRPr>
          </a:p>
        </p:txBody>
      </p:sp>
      <p:pic>
        <p:nvPicPr>
          <p:cNvPr id="126" name="Google Shape;126;p20" descr="Countdown ten minute timer with Super Mario inspired font, graphics and music. &#10;Try to count how  many mushrooms pop up over the  countdown? Bright colors and high vibe music for this fun ten minutes task timer countdown. #timer #countdown #10minutes.  Use at work, classroom, office, tasks.&#10;&#10;0:03 Ten Minutes Starting Now&#10;1:03 Nine Minutes Countdown&#10;2:03 Eight Minutes Countdown&#10;3:03 Seven Minutes Countdown&#10;4:03 Six Minutes Countdown&#10;5:03 Five Minutes Countdown&#10;6:03 Four Minutes Countdown&#10;7:03 Three Minutes Countdown&#10;8:03 Two Minutes Countdown&#10;9:03 One Minute Countdown&#10;10:03 : Timer Countdown Ended" title="10 Minute Timer Countdown Mario Inspired Gaming | Countdown ends with Game Over | Super Ideas Lab">
            <a:hlinkClick r:id="rId8"/>
          </p:cNvPr>
          <p:cNvPicPr preferRelativeResize="0"/>
          <p:nvPr/>
        </p:nvPicPr>
        <p:blipFill>
          <a:blip r:embed="rId9">
            <a:alphaModFix/>
          </a:blip>
          <a:stretch>
            <a:fillRect/>
          </a:stretch>
        </p:blipFill>
        <p:spPr>
          <a:xfrm>
            <a:off x="7581575" y="83900"/>
            <a:ext cx="1455625" cy="818763"/>
          </a:xfrm>
          <a:prstGeom prst="rect">
            <a:avLst/>
          </a:prstGeom>
          <a:noFill/>
          <a:ln>
            <a:noFill/>
          </a:ln>
        </p:spPr>
      </p:pic>
      <p:pic>
        <p:nvPicPr>
          <p:cNvPr id="127" name="Google Shape;127;p20"/>
          <p:cNvPicPr preferRelativeResize="0"/>
          <p:nvPr/>
        </p:nvPicPr>
        <p:blipFill>
          <a:blip r:embed="rId10">
            <a:alphaModFix/>
          </a:blip>
          <a:stretch>
            <a:fillRect/>
          </a:stretch>
        </p:blipFill>
        <p:spPr>
          <a:xfrm>
            <a:off x="5488298" y="2898500"/>
            <a:ext cx="3357003" cy="18883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p:nvPr/>
        </p:nvSpPr>
        <p:spPr>
          <a:xfrm>
            <a:off x="5541300" y="1316700"/>
            <a:ext cx="3495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52" name="Google Shape;152;p23"/>
          <p:cNvSpPr txBox="1"/>
          <p:nvPr/>
        </p:nvSpPr>
        <p:spPr>
          <a:xfrm>
            <a:off x="125350" y="1063700"/>
            <a:ext cx="5475600" cy="4112700"/>
          </a:xfrm>
          <a:prstGeom prst="rect">
            <a:avLst/>
          </a:prstGeom>
          <a:noFill/>
          <a:ln>
            <a:noFill/>
          </a:ln>
        </p:spPr>
        <p:txBody>
          <a:bodyPr spcFirstLastPara="1" wrap="square" lIns="91425" tIns="91425" rIns="91425" bIns="91425" anchor="t" anchorCtr="0">
            <a:spAutoFit/>
          </a:bodyPr>
          <a:lstStyle/>
          <a:p>
            <a:pPr marL="762000" lvl="0" indent="-330200" algn="l" rtl="0">
              <a:lnSpc>
                <a:spcPct val="115000"/>
              </a:lnSpc>
              <a:spcBef>
                <a:spcPts val="90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Geothermal energy from the mantle</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300 degrees Celsius</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Engineers drill a well into hot, permeable rock</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To create an open loop that recycles the water</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1.5 meters</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They provide more energy than the electricity used to run them</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c) Need for very high temperatures deep underground and high drilling costs</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a) They are near active volcanoes and tectonic plate boundaries</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d) All of the above</a:t>
            </a:r>
            <a:endParaRPr sz="1600" b="1">
              <a:solidFill>
                <a:srgbClr val="38761D"/>
              </a:solidFill>
              <a:latin typeface="Delius"/>
              <a:ea typeface="Delius"/>
              <a:cs typeface="Delius"/>
              <a:sym typeface="Delius"/>
            </a:endParaRPr>
          </a:p>
          <a:p>
            <a:pPr marL="762000" lvl="0" indent="-330200" algn="l" rtl="0">
              <a:lnSpc>
                <a:spcPct val="115000"/>
              </a:lnSpc>
              <a:spcBef>
                <a:spcPts val="0"/>
              </a:spcBef>
              <a:spcAft>
                <a:spcPts val="0"/>
              </a:spcAft>
              <a:buClr>
                <a:srgbClr val="38761D"/>
              </a:buClr>
              <a:buSzPts val="1600"/>
              <a:buFont typeface="Delius"/>
              <a:buAutoNum type="arabicPeriod"/>
            </a:pPr>
            <a:r>
              <a:rPr lang="en" sz="1600" b="1">
                <a:solidFill>
                  <a:srgbClr val="38761D"/>
                </a:solidFill>
                <a:latin typeface="Delius"/>
                <a:ea typeface="Delius"/>
                <a:cs typeface="Delius"/>
                <a:sym typeface="Delius"/>
              </a:rPr>
              <a:t>b) By capturing pollutants and monitoring seismic risks</a:t>
            </a:r>
            <a:endParaRPr sz="1600" b="1">
              <a:solidFill>
                <a:srgbClr val="38761D"/>
              </a:solidFill>
              <a:latin typeface="Delius"/>
              <a:ea typeface="Delius"/>
              <a:cs typeface="Delius"/>
              <a:sym typeface="Delius"/>
            </a:endParaRPr>
          </a:p>
        </p:txBody>
      </p:sp>
      <p:pic>
        <p:nvPicPr>
          <p:cNvPr id="153" name="Google Shape;153;p23" title="Screenshot 2025-11-13 at 11.11.24 AM.png"/>
          <p:cNvPicPr preferRelativeResize="0"/>
          <p:nvPr/>
        </p:nvPicPr>
        <p:blipFill>
          <a:blip r:embed="rId3">
            <a:alphaModFix/>
          </a:blip>
          <a:stretch>
            <a:fillRect/>
          </a:stretch>
        </p:blipFill>
        <p:spPr>
          <a:xfrm>
            <a:off x="5793850" y="2036200"/>
            <a:ext cx="3174502" cy="2348027"/>
          </a:xfrm>
          <a:prstGeom prst="rect">
            <a:avLst/>
          </a:prstGeom>
          <a:noFill/>
          <a:ln>
            <a:noFill/>
          </a:ln>
        </p:spPr>
      </p:pic>
      <p:sp>
        <p:nvSpPr>
          <p:cNvPr id="154" name="Google Shape;154;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55" name="Google Shape;155;p23"/>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Life on the Mid Atlantic Ridge: Iceland</a:t>
            </a:r>
            <a:endParaRPr sz="2000" i="0" u="none" strike="noStrike" cap="none">
              <a:solidFill>
                <a:schemeClr val="dk1"/>
              </a:solidFill>
              <a:highlight>
                <a:schemeClr val="lt1"/>
              </a:highlight>
              <a:latin typeface="Luckiest Guy"/>
              <a:ea typeface="Luckiest Guy"/>
              <a:cs typeface="Luckiest Guy"/>
              <a:sym typeface="Luckiest Gu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p:nvPr/>
        </p:nvSpPr>
        <p:spPr>
          <a:xfrm>
            <a:off x="4574975" y="1316700"/>
            <a:ext cx="4401900" cy="102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1:</a:t>
            </a:r>
            <a:r>
              <a:rPr lang="en" sz="1800">
                <a:solidFill>
                  <a:schemeClr val="dk1"/>
                </a:solidFill>
                <a:latin typeface="Baumans"/>
                <a:ea typeface="Baumans"/>
                <a:cs typeface="Baumans"/>
                <a:sym typeface="Baumans"/>
              </a:rPr>
              <a:t> Complete the multiple choice questions whilst watching the video: </a:t>
            </a:r>
            <a:endParaRPr sz="1800" b="1">
              <a:solidFill>
                <a:schemeClr val="dk1"/>
              </a:solidFill>
              <a:latin typeface="Baumans"/>
              <a:ea typeface="Baumans"/>
              <a:cs typeface="Baumans"/>
              <a:sym typeface="Baumans"/>
            </a:endParaRPr>
          </a:p>
          <a:p>
            <a:pPr marL="0" lvl="0" indent="0" algn="l" rtl="0">
              <a:spcBef>
                <a:spcPts val="0"/>
              </a:spcBef>
              <a:spcAft>
                <a:spcPts val="0"/>
              </a:spcAft>
              <a:buNone/>
            </a:pPr>
            <a:r>
              <a:rPr lang="en" sz="1800" b="1">
                <a:solidFill>
                  <a:schemeClr val="dk1"/>
                </a:solidFill>
                <a:latin typeface="Baumans"/>
                <a:ea typeface="Baumans"/>
                <a:cs typeface="Baumans"/>
                <a:sym typeface="Baumans"/>
              </a:rPr>
              <a:t>Iceland's Secret Power!</a:t>
            </a:r>
            <a:endParaRPr sz="1800" b="1">
              <a:solidFill>
                <a:schemeClr val="dk1"/>
              </a:solidFill>
              <a:latin typeface="Baumans"/>
              <a:ea typeface="Baumans"/>
              <a:cs typeface="Baumans"/>
              <a:sym typeface="Baumans"/>
            </a:endParaRPr>
          </a:p>
        </p:txBody>
      </p:sp>
      <p:sp>
        <p:nvSpPr>
          <p:cNvPr id="143" name="Google Shape;143;p22"/>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44" name="Google Shape;144;p22"/>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Life on the Mid Atlantic Ridge: Iceland</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145" name="Google Shape;145;p22" descr="Explore how geothermal energy— the heat in the Earth’s crust— is being used to create renewable electricity and power.&#10;&#10;--&#10;&#10;While the weather in Iceland is often cold, wet, and windy, a nearly endless supply of heat bubbles away below the surface. In fact, almost every building in the country is heated by geothermal energy in a process with virtually no carbon emissions. So how exactly does this renewable energy work? Jean-Baptiste P. Koehl explores the two primary models for harnessing the planet's natural heat.&#10;&#10;Lesson by Jean-Baptiste P. Koehl, directed by Charlotte Arene.&#10;&#10;Support Our Non-Profit Mission&#10;----------------------------------------------&#10;Support us on Patreon: http://bit.ly/TEDEdPatreon&#10;Check out our merch: http://bit.ly/TEDEDShop&#10;----------------------------------------------&#10;&#10;Connect With Us&#10;----------------------------------------------&#10;Sign up for our newsletter: http://bit.ly/TEDEdNewsletter&#10;Follow us on Facebook: http://bit.ly/TEDEdFacebook&#10;Find us on Twitter: http://bit.ly/TEDEdTwitter&#10;Peep us on Instagram: http://bit.ly/TEDEdInstagram&#10;----------------------------------------------&#10;&#10;Keep Learning&#10;----------------------------------------------&#10;View full lesson: https://ed.ted.com/lessons/iceland-s-superpowered-underground-volcanoes-jean-baptiste-p-koehl&#10;Dig deeper with additional resources: https://ed.ted.com/lessons/iceland-s-superpowered-underground-volcanoes-jean-baptiste-p-koehl#digdeeper&#10;&#10;Animator's website: https://vimeo.com/charlottearene&#10;Music: https://soundcloud.com/aim-music&#10;----------------------------------------------&#10;&#10;Thank you so much to our patrons for your support! Without you this video would not be possible! Geoffrey Bultitude, Mi Mi , Thomas Rothert, Christopher McVay, Izhari Ishak Aksa, Declan Manning, Javier Aldavaz, Ivan Yeung, Jaime Camacho, Irene Au, Роман Валесюк, LunarQueen, Iza, Brian Elieson, Paul, Grayson Garbarino, Oge O, Weronika Falkowska, Stefano Esposito, Nevin Spoljaric, Yvonne Feijoo, Sid Chanpuriya, Arjay Arcinue Dineros, Anoom Yasmin, Laura Johnson, Anoop Varghese, David Yastremski, Zoë Tulip, B, Jason Harrison, Erica Guerrero, Richard Manklow, Roberto Chena, Oliver Koo, Luke Pisano, Andrea Gordon, Aleksandar Donev, Nicole Klau Ibarra, Milo Vermeulen, Ryan Weiler, Jesse Lira, Ezekiel Raui, Itay Levi, Zongpu Kou, Cameron Chakraverty, Petr Vacek, Rhys Patterson, Dennis, Olivia Fu and Katrina Adams." title="Iceland's secret power - Jean-Baptiste P. Koehl">
            <a:hlinkClick r:id="rId3"/>
          </p:cNvPr>
          <p:cNvPicPr preferRelativeResize="0"/>
          <p:nvPr/>
        </p:nvPicPr>
        <p:blipFill>
          <a:blip r:embed="rId4">
            <a:alphaModFix/>
          </a:blip>
          <a:stretch>
            <a:fillRect/>
          </a:stretch>
        </p:blipFill>
        <p:spPr>
          <a:xfrm>
            <a:off x="152400" y="1216100"/>
            <a:ext cx="4401911" cy="2476075"/>
          </a:xfrm>
          <a:prstGeom prst="rect">
            <a:avLst/>
          </a:prstGeom>
          <a:noFill/>
          <a:ln>
            <a:noFill/>
          </a:ln>
        </p:spPr>
      </p:pic>
      <p:pic>
        <p:nvPicPr>
          <p:cNvPr id="146" name="Google Shape;146;p22" title="Screenshot 2025-11-13 at 11.11.24 AM.png"/>
          <p:cNvPicPr preferRelativeResize="0"/>
          <p:nvPr/>
        </p:nvPicPr>
        <p:blipFill>
          <a:blip r:embed="rId5">
            <a:alphaModFix/>
          </a:blip>
          <a:stretch>
            <a:fillRect/>
          </a:stretch>
        </p:blipFill>
        <p:spPr>
          <a:xfrm>
            <a:off x="5062400" y="2339700"/>
            <a:ext cx="3439374" cy="254394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33" name="Google Shape;133;p21"/>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dirty="0">
                <a:solidFill>
                  <a:schemeClr val="dk1"/>
                </a:solidFill>
                <a:highlight>
                  <a:schemeClr val="lt1"/>
                </a:highlight>
                <a:latin typeface="Fugaz One"/>
                <a:ea typeface="Fugaz One"/>
                <a:cs typeface="Fugaz One"/>
                <a:sym typeface="Fugaz One"/>
              </a:rPr>
              <a:t>Life on the Mid Atlantic Ridge: Iceland</a:t>
            </a:r>
          </a:p>
          <a:p>
            <a:pPr marL="0" lvl="0" indent="0" algn="l" rtl="0">
              <a:spcBef>
                <a:spcPts val="0"/>
              </a:spcBef>
              <a:spcAft>
                <a:spcPts val="0"/>
              </a:spcAft>
              <a:buClr>
                <a:schemeClr val="dk1"/>
              </a:buClr>
              <a:buSzPts val="990"/>
              <a:buFont typeface="Arial"/>
              <a:buNone/>
            </a:pPr>
            <a:r>
              <a:rPr lang="en" sz="2020" dirty="0">
                <a:solidFill>
                  <a:schemeClr val="dk1"/>
                </a:solidFill>
                <a:highlight>
                  <a:schemeClr val="lt1"/>
                </a:highlight>
                <a:latin typeface="Fugaz One"/>
                <a:ea typeface="Fugaz One"/>
                <a:cs typeface="Fugaz One"/>
                <a:sym typeface="Fugaz One"/>
              </a:rPr>
              <a:t>Read the case study on Iceland</a:t>
            </a:r>
          </a:p>
        </p:txBody>
      </p:sp>
      <p:sp>
        <p:nvSpPr>
          <p:cNvPr id="134" name="Google Shape;134;p21"/>
          <p:cNvSpPr txBox="1"/>
          <p:nvPr/>
        </p:nvSpPr>
        <p:spPr>
          <a:xfrm>
            <a:off x="106800" y="1223000"/>
            <a:ext cx="7125600" cy="109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1"/>
                </a:solidFill>
                <a:latin typeface="Baumans"/>
                <a:ea typeface="Baumans"/>
                <a:cs typeface="Baumans"/>
                <a:sym typeface="Baumans"/>
              </a:rPr>
              <a:t>Iceland sits on the Mid-Atlantic Ridge, where two tectonic plates are moving apart. There are several active volcanoes, and a big eruption happens about every 5 years. Earthquakes also happen often.</a:t>
            </a:r>
            <a:endParaRPr sz="2000" dirty="0">
              <a:latin typeface="Baumans"/>
              <a:ea typeface="Baumans"/>
              <a:cs typeface="Baumans"/>
              <a:sym typeface="Baumans"/>
            </a:endParaRPr>
          </a:p>
        </p:txBody>
      </p:sp>
      <p:pic>
        <p:nvPicPr>
          <p:cNvPr id="135" name="Google Shape;135;p21"/>
          <p:cNvPicPr preferRelativeResize="0"/>
          <p:nvPr/>
        </p:nvPicPr>
        <p:blipFill rotWithShape="1">
          <a:blip r:embed="rId3">
            <a:alphaModFix/>
          </a:blip>
          <a:srcRect/>
          <a:stretch/>
        </p:blipFill>
        <p:spPr>
          <a:xfrm>
            <a:off x="7276704" y="858425"/>
            <a:ext cx="1760496" cy="1828050"/>
          </a:xfrm>
          <a:prstGeom prst="rect">
            <a:avLst/>
          </a:prstGeom>
          <a:noFill/>
          <a:ln>
            <a:noFill/>
          </a:ln>
        </p:spPr>
      </p:pic>
      <p:sp>
        <p:nvSpPr>
          <p:cNvPr id="136" name="Google Shape;136;p21"/>
          <p:cNvSpPr txBox="1"/>
          <p:nvPr/>
        </p:nvSpPr>
        <p:spPr>
          <a:xfrm>
            <a:off x="3135600" y="2846900"/>
            <a:ext cx="59016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Baumans"/>
                <a:ea typeface="Baumans"/>
                <a:cs typeface="Baumans"/>
                <a:sym typeface="Baumans"/>
              </a:rPr>
              <a:t>Over 320,000 people live in Iceland, and more than 1 million visit each year. Even though earthquakes and volcanoes are a threat, people think the risk is low. This is because scientists carefully monitor the activity, and people know the dangers. In fact, the volcanic activity also brings many benefits to the country.</a:t>
            </a:r>
            <a:endParaRPr sz="1800">
              <a:latin typeface="Baumans"/>
              <a:ea typeface="Baumans"/>
              <a:cs typeface="Baumans"/>
              <a:sym typeface="Baumans"/>
            </a:endParaRPr>
          </a:p>
        </p:txBody>
      </p:sp>
      <p:pic>
        <p:nvPicPr>
          <p:cNvPr id="137" name="Google Shape;137;p21"/>
          <p:cNvPicPr preferRelativeResize="0"/>
          <p:nvPr/>
        </p:nvPicPr>
        <p:blipFill>
          <a:blip r:embed="rId4">
            <a:alphaModFix/>
          </a:blip>
          <a:stretch>
            <a:fillRect/>
          </a:stretch>
        </p:blipFill>
        <p:spPr>
          <a:xfrm>
            <a:off x="106800" y="2793150"/>
            <a:ext cx="2944800" cy="1954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62" name="Google Shape;162;p24"/>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How does Iceland benefit from it’s tectonic plate boundary?</a:t>
            </a:r>
            <a:endParaRPr sz="2000" i="0" u="none" strike="noStrike" cap="none">
              <a:solidFill>
                <a:schemeClr val="dk1"/>
              </a:solidFill>
              <a:highlight>
                <a:schemeClr val="lt1"/>
              </a:highlight>
              <a:latin typeface="Luckiest Guy"/>
              <a:ea typeface="Luckiest Guy"/>
              <a:cs typeface="Luckiest Guy"/>
              <a:sym typeface="Luckiest Guy"/>
            </a:endParaRPr>
          </a:p>
        </p:txBody>
      </p:sp>
      <p:sp>
        <p:nvSpPr>
          <p:cNvPr id="163" name="Google Shape;163;p24"/>
          <p:cNvSpPr txBox="1"/>
          <p:nvPr/>
        </p:nvSpPr>
        <p:spPr>
          <a:xfrm>
            <a:off x="125350" y="1066350"/>
            <a:ext cx="30348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b="1" dirty="0">
                <a:solidFill>
                  <a:schemeClr val="dk1"/>
                </a:solidFill>
                <a:highlight>
                  <a:srgbClr val="00FF00"/>
                </a:highlight>
                <a:latin typeface="Baumans"/>
                <a:ea typeface="Baumans"/>
                <a:cs typeface="Baumans"/>
                <a:sym typeface="Baumans"/>
              </a:rPr>
              <a:t>Activity:</a:t>
            </a:r>
            <a:r>
              <a:rPr lang="en" sz="1800" dirty="0">
                <a:solidFill>
                  <a:schemeClr val="dk1"/>
                </a:solidFill>
                <a:latin typeface="Baumans"/>
                <a:ea typeface="Baumans"/>
                <a:cs typeface="Baumans"/>
                <a:sym typeface="Baumans"/>
              </a:rPr>
              <a:t> Stick the strip in the middle of your page.</a:t>
            </a:r>
            <a:endParaRPr sz="1800" dirty="0">
              <a:solidFill>
                <a:schemeClr val="dk1"/>
              </a:solidFill>
              <a:latin typeface="Baumans"/>
              <a:ea typeface="Baumans"/>
              <a:cs typeface="Baumans"/>
              <a:sym typeface="Baumans"/>
            </a:endParaRPr>
          </a:p>
        </p:txBody>
      </p:sp>
      <p:pic>
        <p:nvPicPr>
          <p:cNvPr id="165" name="Google Shape;165;p24"/>
          <p:cNvPicPr preferRelativeResize="0"/>
          <p:nvPr/>
        </p:nvPicPr>
        <p:blipFill rotWithShape="1">
          <a:blip r:embed="rId3">
            <a:alphaModFix/>
          </a:blip>
          <a:srcRect l="9466" t="2470" r="9973" b="21293"/>
          <a:stretch/>
        </p:blipFill>
        <p:spPr>
          <a:xfrm>
            <a:off x="3160150" y="1306675"/>
            <a:ext cx="578975" cy="547925"/>
          </a:xfrm>
          <a:prstGeom prst="rect">
            <a:avLst/>
          </a:prstGeom>
          <a:noFill/>
          <a:ln>
            <a:noFill/>
          </a:ln>
        </p:spPr>
      </p:pic>
      <p:sp>
        <p:nvSpPr>
          <p:cNvPr id="167" name="Google Shape;167;p24"/>
          <p:cNvSpPr txBox="1"/>
          <p:nvPr/>
        </p:nvSpPr>
        <p:spPr>
          <a:xfrm>
            <a:off x="106800" y="1846650"/>
            <a:ext cx="3632400" cy="780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800" dirty="0">
                <a:solidFill>
                  <a:schemeClr val="dk1"/>
                </a:solidFill>
                <a:latin typeface="Baumans"/>
                <a:ea typeface="Baumans"/>
                <a:cs typeface="Baumans"/>
                <a:sym typeface="Baumans"/>
              </a:rPr>
              <a:t>Using ‘</a:t>
            </a:r>
            <a:r>
              <a:rPr lang="en" sz="1800" b="1" dirty="0">
                <a:solidFill>
                  <a:schemeClr val="dk1"/>
                </a:solidFill>
                <a:latin typeface="Baumans"/>
                <a:ea typeface="Baumans"/>
                <a:cs typeface="Baumans"/>
                <a:sym typeface="Baumans"/>
              </a:rPr>
              <a:t>Life and Energy in Iceland</a:t>
            </a:r>
            <a:r>
              <a:rPr lang="en" sz="1800" dirty="0">
                <a:solidFill>
                  <a:schemeClr val="dk1"/>
                </a:solidFill>
                <a:latin typeface="Baumans"/>
                <a:ea typeface="Baumans"/>
                <a:cs typeface="Baumans"/>
                <a:sym typeface="Baumans"/>
              </a:rPr>
              <a:t>’ information for each box:</a:t>
            </a:r>
            <a:endParaRPr dirty="0"/>
          </a:p>
        </p:txBody>
      </p:sp>
      <p:pic>
        <p:nvPicPr>
          <p:cNvPr id="170" name="Google Shape;170;p24" descr="Countdown Timers For Everyone&#10;&#10;🔔 Subscribe now with all notifications on for more  work timers, funny timers and countdown video's.&#10;&#10;📺 Watch the entire video for more information!&#10;_________________________________________________________________&#10;About Mrs. Countdown.&#10;🎥 Videos about funny timers, work timers and many more.&#10;🎨 Written, voiced and produced by Mrs. Countdown.&#10;🔔 Subscribe now for more countdown timers, 10 minute timers, classroom timer videos&#10;&#10;Watch More from Mrs. Countdown.&#10;🟢 &#10;🟠 &#10;🔴 &#10;_____________________________________________________&#10;💼 Business Inquiries and Contact&#10;• For business inquiries, copyright matters or other inquiries please contact us&#10;at: mrs.countdown@gmail.com .&#10;❓ Copyright Questions&#10;• If you have any copyright questions or issues you can contact us at mrs.countdown@gmail.com .&#10;⚠️ Copyright Disclaimers&#10;• We use images and content in accordance with the YouTube Fair Use copyright guidelines&#10;• Section 107 of the U.S. Copyright Act states: “Notwithstanding the provisions of sections 106 and 106A, the fair use of a copyrighted work, including such use by reproduction in copies or phonorecords or by any other means specified by that section, for purposes such as criticism, comment, news reporting, teaching (including multiple copies for classroom use), scholarship, or research, is not an infringement of copyright.”&#10;• This video could contain certain copyrighted video clips, pictures, or photographs that were not specifically authorized to be used by the copyright holder(s), but which we believe in good faith are protected by federal law and the fair use doctrine for one or more of the reasons noted above." title="15 Minute Timer Super Mario | Happy - Classroom - Game |">
            <a:hlinkClick r:id="rId4"/>
          </p:cNvPr>
          <p:cNvPicPr preferRelativeResize="0"/>
          <p:nvPr/>
        </p:nvPicPr>
        <p:blipFill>
          <a:blip r:embed="rId5">
            <a:alphaModFix/>
          </a:blip>
          <a:stretch>
            <a:fillRect/>
          </a:stretch>
        </p:blipFill>
        <p:spPr>
          <a:xfrm>
            <a:off x="7581575" y="45425"/>
            <a:ext cx="1524000" cy="857250"/>
          </a:xfrm>
          <a:prstGeom prst="rect">
            <a:avLst/>
          </a:prstGeom>
          <a:noFill/>
          <a:ln>
            <a:noFill/>
          </a:ln>
        </p:spPr>
      </p:pic>
      <p:graphicFrame>
        <p:nvGraphicFramePr>
          <p:cNvPr id="2" name="Google Shape;79;p16">
            <a:extLst>
              <a:ext uri="{FF2B5EF4-FFF2-40B4-BE49-F238E27FC236}">
                <a16:creationId xmlns:a16="http://schemas.microsoft.com/office/drawing/2014/main" id="{2D9D49A3-30F9-2620-C8E1-3312152460F1}"/>
              </a:ext>
            </a:extLst>
          </p:cNvPr>
          <p:cNvGraphicFramePr/>
          <p:nvPr>
            <p:extLst>
              <p:ext uri="{D42A27DB-BD31-4B8C-83A1-F6EECF244321}">
                <p14:modId xmlns:p14="http://schemas.microsoft.com/office/powerpoint/2010/main" val="4110952180"/>
              </p:ext>
            </p:extLst>
          </p:nvPr>
        </p:nvGraphicFramePr>
        <p:xfrm>
          <a:off x="4481013" y="1165700"/>
          <a:ext cx="4260674" cy="3883193"/>
        </p:xfrm>
        <a:graphic>
          <a:graphicData uri="http://schemas.openxmlformats.org/drawingml/2006/table">
            <a:tbl>
              <a:tblPr>
                <a:noFill/>
              </a:tblPr>
              <a:tblGrid>
                <a:gridCol w="2130337">
                  <a:extLst>
                    <a:ext uri="{9D8B030D-6E8A-4147-A177-3AD203B41FA5}">
                      <a16:colId xmlns:a16="http://schemas.microsoft.com/office/drawing/2014/main" val="20000"/>
                    </a:ext>
                  </a:extLst>
                </a:gridCol>
                <a:gridCol w="2130337">
                  <a:extLst>
                    <a:ext uri="{9D8B030D-6E8A-4147-A177-3AD203B41FA5}">
                      <a16:colId xmlns:a16="http://schemas.microsoft.com/office/drawing/2014/main" val="1411111909"/>
                    </a:ext>
                  </a:extLst>
                </a:gridCol>
              </a:tblGrid>
              <a:tr h="366547">
                <a:tc>
                  <a:txBody>
                    <a:bodyPr/>
                    <a:lstStyle/>
                    <a:p>
                      <a:pPr marL="0" marR="0" lvl="0" indent="0" algn="ctr" defTabSz="914400" rtl="0" eaLnBrk="1" fontAlgn="auto" latinLnBrk="0" hangingPunct="1">
                        <a:lnSpc>
                          <a:spcPct val="115000"/>
                        </a:lnSpc>
                        <a:spcBef>
                          <a:spcPts val="0"/>
                        </a:spcBef>
                        <a:spcAft>
                          <a:spcPts val="0"/>
                        </a:spcAft>
                        <a:buClr>
                          <a:srgbClr val="000000"/>
                        </a:buClr>
                        <a:buSzPts val="1300"/>
                        <a:buFont typeface="Arial"/>
                        <a:buNone/>
                        <a:tabLst/>
                        <a:defRPr/>
                      </a:pPr>
                      <a:r>
                        <a:rPr lang="en-GB" sz="700" b="1" dirty="0">
                          <a:solidFill>
                            <a:schemeClr val="dk1"/>
                          </a:solidFill>
                          <a:latin typeface="Patrick Hand"/>
                          <a:ea typeface="Patrick Hand"/>
                          <a:cs typeface="Patrick Hand"/>
                          <a:sym typeface="Patrick Hand"/>
                        </a:rPr>
                        <a:t>How Iceland benefits from it’s tectonic plate boundary?</a:t>
                      </a:r>
                    </a:p>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700" dirty="0">
                          <a:latin typeface="Poppins"/>
                          <a:ea typeface="Poppins"/>
                          <a:cs typeface="Poppins"/>
                          <a:sym typeface="Poppins"/>
                        </a:rPr>
                        <a:t>Explanation</a:t>
                      </a:r>
                      <a:endParaRPr sz="700" dirty="0">
                        <a:latin typeface="Poppins"/>
                        <a:ea typeface="Poppins"/>
                        <a:cs typeface="Poppins"/>
                        <a:sym typeface="Poppins"/>
                      </a:endParaRPr>
                    </a:p>
                  </a:txBody>
                  <a:tcPr marL="68569" marR="68569" marT="68569" marB="6856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977266579"/>
                  </a:ext>
                </a:extLst>
              </a:tr>
              <a:tr h="686837">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dirty="0">
                          <a:solidFill>
                            <a:srgbClr val="000000"/>
                          </a:solidFill>
                          <a:latin typeface="Poppins"/>
                          <a:ea typeface="Poppins"/>
                          <a:cs typeface="Poppins"/>
                          <a:sym typeface="Poppins"/>
                        </a:rPr>
                        <a:t>Hot water from within the earth's crust provides heat and hot water to nearly </a:t>
                      </a:r>
                      <a:endParaRPr sz="700" u="none" strike="noStrike" cap="none" dirty="0">
                        <a:solidFill>
                          <a:srgbClr val="000000"/>
                        </a:solidFill>
                        <a:latin typeface="Poppins"/>
                        <a:ea typeface="Poppins"/>
                        <a:cs typeface="Poppins"/>
                        <a:sym typeface="Poppins"/>
                      </a:endParaRPr>
                    </a:p>
                    <a:p>
                      <a:pPr marL="0" marR="0" lvl="0" indent="0" algn="ctr" rtl="0">
                        <a:lnSpc>
                          <a:spcPct val="115000"/>
                        </a:lnSpc>
                        <a:spcBef>
                          <a:spcPts val="0"/>
                        </a:spcBef>
                        <a:spcAft>
                          <a:spcPts val="0"/>
                        </a:spcAft>
                        <a:buClr>
                          <a:srgbClr val="000000"/>
                        </a:buClr>
                        <a:buSzPts val="1300"/>
                        <a:buFont typeface="Arial"/>
                        <a:buNone/>
                      </a:pPr>
                      <a:r>
                        <a:rPr lang="en" sz="700" u="none" strike="noStrike" cap="none" dirty="0">
                          <a:solidFill>
                            <a:srgbClr val="000000"/>
                          </a:solidFill>
                          <a:latin typeface="Poppins"/>
                          <a:ea typeface="Poppins"/>
                          <a:cs typeface="Poppins"/>
                          <a:sym typeface="Poppins"/>
                        </a:rPr>
                        <a:t>90% of all buildings in Iceland</a:t>
                      </a: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300"/>
                        <a:buFont typeface="Arial"/>
                        <a:buNone/>
                        <a:tabLst/>
                        <a:defRPr/>
                      </a:pPr>
                      <a:r>
                        <a:rPr lang="en-GB" sz="700" b="0" dirty="0">
                          <a:latin typeface="Patrick Hand"/>
                          <a:ea typeface="Patrick Hand"/>
                          <a:cs typeface="Patrick Hand"/>
                          <a:sym typeface="Patrick Hand"/>
                        </a:rPr>
                        <a:t>Making heat the usual way costs a lot and uses a lot of energy. Using geothermal heat saves money over time and does not produce carbon emissions.</a:t>
                      </a:r>
                    </a:p>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542443">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dirty="0">
                          <a:solidFill>
                            <a:srgbClr val="000000"/>
                          </a:solidFill>
                          <a:latin typeface="Poppins"/>
                          <a:ea typeface="Poppins"/>
                          <a:cs typeface="Poppins"/>
                          <a:sym typeface="Poppins"/>
                        </a:rPr>
                        <a:t>Volcanic rocks are used in construction of roads and buildings.</a:t>
                      </a: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542443">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dirty="0">
                          <a:solidFill>
                            <a:srgbClr val="000000"/>
                          </a:solidFill>
                          <a:latin typeface="Poppins"/>
                          <a:ea typeface="Poppins"/>
                          <a:cs typeface="Poppins"/>
                          <a:sym typeface="Poppins"/>
                        </a:rPr>
                        <a:t>The dramatic landscape with waterfalls, volcanoes and glaciers draw many tourists to Iceland.</a:t>
                      </a: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542443">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a:solidFill>
                            <a:srgbClr val="000000"/>
                          </a:solidFill>
                          <a:latin typeface="Poppins"/>
                          <a:ea typeface="Poppins"/>
                          <a:cs typeface="Poppins"/>
                          <a:sym typeface="Poppins"/>
                        </a:rPr>
                        <a:t>Naturally occurring hot water is used to heat greenhouses and swimming pools.</a:t>
                      </a:r>
                      <a:endParaRPr sz="70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r h="542443">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a:solidFill>
                            <a:srgbClr val="000000"/>
                          </a:solidFill>
                          <a:latin typeface="Poppins"/>
                          <a:ea typeface="Poppins"/>
                          <a:cs typeface="Poppins"/>
                          <a:sym typeface="Poppins"/>
                        </a:rPr>
                        <a:t>Geothermal electricity is used to generate 25% of the country’s electricity</a:t>
                      </a:r>
                      <a:r>
                        <a:rPr lang="en" sz="700">
                          <a:latin typeface="Poppins"/>
                          <a:ea typeface="Poppins"/>
                          <a:cs typeface="Poppins"/>
                          <a:sym typeface="Poppins"/>
                        </a:rPr>
                        <a:t>.</a:t>
                      </a:r>
                      <a:endParaRPr sz="70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4"/>
                  </a:ext>
                </a:extLst>
              </a:tr>
              <a:tr h="648082">
                <a:tc>
                  <a:txBody>
                    <a:bodyPr/>
                    <a:lstStyle/>
                    <a:p>
                      <a:pPr marL="0" marR="0" lvl="0" indent="0" algn="ctr" rtl="0">
                        <a:lnSpc>
                          <a:spcPct val="115000"/>
                        </a:lnSpc>
                        <a:spcBef>
                          <a:spcPts val="0"/>
                        </a:spcBef>
                        <a:spcAft>
                          <a:spcPts val="0"/>
                        </a:spcAft>
                        <a:buClr>
                          <a:srgbClr val="000000"/>
                        </a:buClr>
                        <a:buSzPts val="1300"/>
                        <a:buFont typeface="Arial"/>
                        <a:buNone/>
                      </a:pPr>
                      <a:r>
                        <a:rPr lang="en" sz="700" u="none" strike="noStrike" cap="none" dirty="0">
                          <a:solidFill>
                            <a:srgbClr val="000000"/>
                          </a:solidFill>
                          <a:latin typeface="Poppins"/>
                          <a:ea typeface="Poppins"/>
                          <a:cs typeface="Poppins"/>
                          <a:sym typeface="Poppins"/>
                        </a:rPr>
                        <a:t>The eruption of Eyjafjallajökull in 2010 made world headlines and drew attention to Iceland's volcanoes.</a:t>
                      </a: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endParaRPr sz="7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89CC85CF-842D-6788-5208-7EA76C3E2135}"/>
            </a:ext>
          </a:extLst>
        </p:cNvPr>
        <p:cNvGrpSpPr/>
        <p:nvPr/>
      </p:nvGrpSpPr>
      <p:grpSpPr>
        <a:xfrm>
          <a:off x="0" y="0"/>
          <a:ext cx="0" cy="0"/>
          <a:chOff x="0" y="0"/>
          <a:chExt cx="0" cy="0"/>
        </a:xfrm>
      </p:grpSpPr>
      <p:graphicFrame>
        <p:nvGraphicFramePr>
          <p:cNvPr id="79" name="Google Shape;79;p16">
            <a:extLst>
              <a:ext uri="{FF2B5EF4-FFF2-40B4-BE49-F238E27FC236}">
                <a16:creationId xmlns:a16="http://schemas.microsoft.com/office/drawing/2014/main" id="{409C6BAF-1A8A-5033-9929-FB51814E795E}"/>
              </a:ext>
            </a:extLst>
          </p:cNvPr>
          <p:cNvGraphicFramePr/>
          <p:nvPr>
            <p:extLst>
              <p:ext uri="{D42A27DB-BD31-4B8C-83A1-F6EECF244321}">
                <p14:modId xmlns:p14="http://schemas.microsoft.com/office/powerpoint/2010/main" val="951614019"/>
              </p:ext>
            </p:extLst>
          </p:nvPr>
        </p:nvGraphicFramePr>
        <p:xfrm>
          <a:off x="1326655" y="93969"/>
          <a:ext cx="6445744" cy="5010764"/>
        </p:xfrm>
        <a:graphic>
          <a:graphicData uri="http://schemas.openxmlformats.org/drawingml/2006/table">
            <a:tbl>
              <a:tblPr>
                <a:noFill/>
              </a:tblPr>
              <a:tblGrid>
                <a:gridCol w="3222872">
                  <a:extLst>
                    <a:ext uri="{9D8B030D-6E8A-4147-A177-3AD203B41FA5}">
                      <a16:colId xmlns:a16="http://schemas.microsoft.com/office/drawing/2014/main" val="20000"/>
                    </a:ext>
                  </a:extLst>
                </a:gridCol>
                <a:gridCol w="3222872">
                  <a:extLst>
                    <a:ext uri="{9D8B030D-6E8A-4147-A177-3AD203B41FA5}">
                      <a16:colId xmlns:a16="http://schemas.microsoft.com/office/drawing/2014/main" val="1411111909"/>
                    </a:ext>
                  </a:extLst>
                </a:gridCol>
              </a:tblGrid>
              <a:tr h="447462">
                <a:tc>
                  <a:txBody>
                    <a:bodyPr/>
                    <a:lstStyle/>
                    <a:p>
                      <a:pPr marL="0" marR="0" lvl="0" indent="0" algn="ctr" defTabSz="914400" rtl="0" eaLnBrk="1" fontAlgn="auto" latinLnBrk="0" hangingPunct="1">
                        <a:lnSpc>
                          <a:spcPct val="115000"/>
                        </a:lnSpc>
                        <a:spcBef>
                          <a:spcPts val="0"/>
                        </a:spcBef>
                        <a:spcAft>
                          <a:spcPts val="0"/>
                        </a:spcAft>
                        <a:buClr>
                          <a:srgbClr val="000000"/>
                        </a:buClr>
                        <a:buSzPts val="1300"/>
                        <a:buFont typeface="Arial"/>
                        <a:buNone/>
                        <a:tabLst/>
                        <a:defRPr/>
                      </a:pPr>
                      <a:r>
                        <a:rPr lang="en-GB" sz="900" b="1" dirty="0">
                          <a:solidFill>
                            <a:schemeClr val="dk1"/>
                          </a:solidFill>
                          <a:latin typeface="Patrick Hand"/>
                          <a:ea typeface="Patrick Hand"/>
                          <a:cs typeface="Patrick Hand"/>
                          <a:sym typeface="Patrick Hand"/>
                        </a:rPr>
                        <a:t>How Iceland benefits from it’s tectonic plate boundary?</a:t>
                      </a:r>
                    </a:p>
                    <a:p>
                      <a:pPr marL="0" marR="0" lvl="0" indent="0" algn="ctr" rtl="0">
                        <a:lnSpc>
                          <a:spcPct val="115000"/>
                        </a:lnSpc>
                        <a:spcBef>
                          <a:spcPts val="0"/>
                        </a:spcBef>
                        <a:spcAft>
                          <a:spcPts val="0"/>
                        </a:spcAft>
                        <a:buClr>
                          <a:srgbClr val="000000"/>
                        </a:buClr>
                        <a:buSzPts val="1300"/>
                        <a:buFont typeface="Arial"/>
                        <a:buNone/>
                      </a:pP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900" dirty="0">
                          <a:latin typeface="Poppins"/>
                          <a:ea typeface="Poppins"/>
                          <a:cs typeface="Poppins"/>
                          <a:sym typeface="Poppins"/>
                        </a:rPr>
                        <a:t>Explanation</a:t>
                      </a:r>
                      <a:endParaRPr sz="900" dirty="0">
                        <a:latin typeface="Poppins"/>
                        <a:ea typeface="Poppins"/>
                        <a:cs typeface="Poppins"/>
                        <a:sym typeface="Poppins"/>
                      </a:endParaRPr>
                    </a:p>
                  </a:txBody>
                  <a:tcPr marL="68569" marR="68569" marT="68569" marB="6856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977266579"/>
                  </a:ext>
                </a:extLst>
              </a:tr>
              <a:tr h="862725">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dirty="0">
                          <a:solidFill>
                            <a:srgbClr val="000000"/>
                          </a:solidFill>
                          <a:latin typeface="Poppins"/>
                          <a:ea typeface="Poppins"/>
                          <a:cs typeface="Poppins"/>
                          <a:sym typeface="Poppins"/>
                        </a:rPr>
                        <a:t>Hot water from within the earth's crust provides heat and hot water to nearly </a:t>
                      </a:r>
                      <a:endParaRPr sz="900" u="none" strike="noStrike" cap="none" dirty="0">
                        <a:solidFill>
                          <a:srgbClr val="000000"/>
                        </a:solidFill>
                        <a:latin typeface="Poppins"/>
                        <a:ea typeface="Poppins"/>
                        <a:cs typeface="Poppins"/>
                        <a:sym typeface="Poppins"/>
                      </a:endParaRPr>
                    </a:p>
                    <a:p>
                      <a:pPr marL="0" marR="0" lvl="0" indent="0" algn="ctr" rtl="0">
                        <a:lnSpc>
                          <a:spcPct val="115000"/>
                        </a:lnSpc>
                        <a:spcBef>
                          <a:spcPts val="0"/>
                        </a:spcBef>
                        <a:spcAft>
                          <a:spcPts val="0"/>
                        </a:spcAft>
                        <a:buClr>
                          <a:srgbClr val="000000"/>
                        </a:buClr>
                        <a:buSzPts val="1300"/>
                        <a:buFont typeface="Arial"/>
                        <a:buNone/>
                      </a:pPr>
                      <a:r>
                        <a:rPr lang="en" sz="900" u="none" strike="noStrike" cap="none" dirty="0">
                          <a:solidFill>
                            <a:srgbClr val="000000"/>
                          </a:solidFill>
                          <a:latin typeface="Poppins"/>
                          <a:ea typeface="Poppins"/>
                          <a:cs typeface="Poppins"/>
                          <a:sym typeface="Poppins"/>
                        </a:rPr>
                        <a:t>90% of all buildings in Iceland</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Pts val="1300"/>
                        <a:buFont typeface="Arial"/>
                        <a:buNone/>
                        <a:tabLst/>
                        <a:defRPr/>
                      </a:pPr>
                      <a:r>
                        <a:rPr lang="en-GB" sz="900" b="0" dirty="0">
                          <a:latin typeface="Patrick Hand"/>
                          <a:ea typeface="Patrick Hand"/>
                          <a:cs typeface="Patrick Hand"/>
                          <a:sym typeface="Patrick Hand"/>
                        </a:rPr>
                        <a:t>Making heat the usual way costs a lot and uses a lot of energy. Using geothermal heat saves money over time and does not produce carbon emissions.</a:t>
                      </a:r>
                    </a:p>
                    <a:p>
                      <a:pPr marL="0" marR="0" lvl="0" indent="0" algn="ctr" rtl="0">
                        <a:lnSpc>
                          <a:spcPct val="115000"/>
                        </a:lnSpc>
                        <a:spcBef>
                          <a:spcPts val="0"/>
                        </a:spcBef>
                        <a:spcAft>
                          <a:spcPts val="0"/>
                        </a:spcAft>
                        <a:buClr>
                          <a:srgbClr val="000000"/>
                        </a:buClr>
                        <a:buSzPts val="1300"/>
                        <a:buFont typeface="Arial"/>
                        <a:buNone/>
                      </a:pP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712369">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dirty="0">
                          <a:solidFill>
                            <a:srgbClr val="000000"/>
                          </a:solidFill>
                          <a:latin typeface="Poppins"/>
                          <a:ea typeface="Poppins"/>
                          <a:cs typeface="Poppins"/>
                          <a:sym typeface="Poppins"/>
                        </a:rPr>
                        <a:t>Volcanic rocks are used in construction of roads and buildings.</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900" dirty="0"/>
                        <a:t>Using abundant local rock saves money because Iceland does not need to import expensive building materials from other countries, providing a cheap and durable supply for roads and structures.</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712369">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a:solidFill>
                            <a:srgbClr val="000000"/>
                          </a:solidFill>
                          <a:latin typeface="Poppins"/>
                          <a:ea typeface="Poppins"/>
                          <a:cs typeface="Poppins"/>
                          <a:sym typeface="Poppins"/>
                        </a:rPr>
                        <a:t>The dramatic landscape with waterfalls, volcanoes and glaciers draw many tourists to Iceland.</a:t>
                      </a:r>
                      <a:endParaRPr sz="90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900" dirty="0"/>
                        <a:t>Tourism brings a large amount of money into the local economy, creating jobs in hotels, restaurants, and tour companies, and helping the country grow financially.</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712369">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a:solidFill>
                            <a:srgbClr val="000000"/>
                          </a:solidFill>
                          <a:latin typeface="Poppins"/>
                          <a:ea typeface="Poppins"/>
                          <a:cs typeface="Poppins"/>
                          <a:sym typeface="Poppins"/>
                        </a:rPr>
                        <a:t>Naturally occurring hot water is used to heat greenhouses and swimming pools.</a:t>
                      </a:r>
                      <a:endParaRPr sz="90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900" dirty="0"/>
                        <a:t>Heated greenhouses allow Iceland to grow its own fresh fruit and vegetables year-round despite the cold climate, while heated outdoor pools provide affordable social and health spaces for locals and tourists.</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r h="712369">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a:solidFill>
                            <a:srgbClr val="000000"/>
                          </a:solidFill>
                          <a:latin typeface="Poppins"/>
                          <a:ea typeface="Poppins"/>
                          <a:cs typeface="Poppins"/>
                          <a:sym typeface="Poppins"/>
                        </a:rPr>
                        <a:t>Geothermal electricity is used to generate 25% of the country’s electricity</a:t>
                      </a:r>
                      <a:r>
                        <a:rPr lang="en" sz="900">
                          <a:latin typeface="Poppins"/>
                          <a:ea typeface="Poppins"/>
                          <a:cs typeface="Poppins"/>
                          <a:sym typeface="Poppins"/>
                        </a:rPr>
                        <a:t>.</a:t>
                      </a:r>
                      <a:endParaRPr sz="90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900" dirty="0"/>
                        <a:t>It provides a reliable, clean, and renewable source of energy that reduces reliance on imported fossil fuels and helps keep energy prices stable and green.</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4"/>
                  </a:ext>
                </a:extLst>
              </a:tr>
              <a:tr h="851100">
                <a:tc>
                  <a:txBody>
                    <a:bodyPr/>
                    <a:lstStyle/>
                    <a:p>
                      <a:pPr marL="0" marR="0" lvl="0" indent="0" algn="ctr" rtl="0">
                        <a:lnSpc>
                          <a:spcPct val="115000"/>
                        </a:lnSpc>
                        <a:spcBef>
                          <a:spcPts val="0"/>
                        </a:spcBef>
                        <a:spcAft>
                          <a:spcPts val="0"/>
                        </a:spcAft>
                        <a:buClr>
                          <a:srgbClr val="000000"/>
                        </a:buClr>
                        <a:buSzPts val="1300"/>
                        <a:buFont typeface="Arial"/>
                        <a:buNone/>
                      </a:pPr>
                      <a:r>
                        <a:rPr lang="en" sz="900" u="none" strike="noStrike" cap="none" dirty="0">
                          <a:solidFill>
                            <a:srgbClr val="000000"/>
                          </a:solidFill>
                          <a:latin typeface="Poppins"/>
                          <a:ea typeface="Poppins"/>
                          <a:cs typeface="Poppins"/>
                          <a:sym typeface="Poppins"/>
                        </a:rPr>
                        <a:t>The eruption of Eyjafjallajökull in 2010 made world headlines and drew attention to Iceland's volcanoes.</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GB" sz="900" dirty="0"/>
                        <a:t>The worldwide news coverage put Iceland on the map, sparking global curiosity that led to a massive long-term surge in international tourism and geological research.</a:t>
                      </a:r>
                      <a:endParaRPr sz="900" dirty="0">
                        <a:latin typeface="Poppins"/>
                        <a:ea typeface="Poppins"/>
                        <a:cs typeface="Poppins"/>
                        <a:sym typeface="Poppins"/>
                      </a:endParaRPr>
                    </a:p>
                  </a:txBody>
                  <a:tcPr marL="68569" marR="68569" marT="68569" marB="6856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32851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5"/>
          <p:cNvSpPr txBox="1"/>
          <p:nvPr/>
        </p:nvSpPr>
        <p:spPr>
          <a:xfrm>
            <a:off x="106800" y="1643650"/>
            <a:ext cx="8930400" cy="3016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300">
                <a:solidFill>
                  <a:schemeClr val="dk1"/>
                </a:solidFill>
                <a:latin typeface="Baumans"/>
                <a:ea typeface="Baumans"/>
                <a:cs typeface="Baumans"/>
                <a:sym typeface="Baumans"/>
              </a:rPr>
              <a:t>🌋 What are some benefits of living near volcanoes or earthquake zones?</a:t>
            </a:r>
            <a:br>
              <a:rPr lang="en" sz="2300">
                <a:solidFill>
                  <a:schemeClr val="dk1"/>
                </a:solidFill>
                <a:latin typeface="Baumans"/>
                <a:ea typeface="Baumans"/>
                <a:cs typeface="Baumans"/>
                <a:sym typeface="Baumans"/>
              </a:rPr>
            </a:br>
            <a:endParaRPr sz="2300">
              <a:solidFill>
                <a:schemeClr val="dk1"/>
              </a:solidFill>
              <a:latin typeface="Baumans"/>
              <a:ea typeface="Baumans"/>
              <a:cs typeface="Baumans"/>
              <a:sym typeface="Baumans"/>
            </a:endParaRPr>
          </a:p>
          <a:p>
            <a:pPr marL="0" lvl="0" indent="0" algn="ctr" rtl="0">
              <a:spcBef>
                <a:spcPts val="0"/>
              </a:spcBef>
              <a:spcAft>
                <a:spcPts val="0"/>
              </a:spcAft>
              <a:buNone/>
            </a:pPr>
            <a:r>
              <a:rPr lang="en" sz="2300">
                <a:solidFill>
                  <a:schemeClr val="dk1"/>
                </a:solidFill>
                <a:latin typeface="Baumans"/>
                <a:ea typeface="Baumans"/>
                <a:cs typeface="Baumans"/>
                <a:sym typeface="Baumans"/>
              </a:rPr>
              <a:t>🏠 Why do people choose to stay in these areas even though they know the risks?</a:t>
            </a:r>
            <a:br>
              <a:rPr lang="en" sz="2300">
                <a:solidFill>
                  <a:schemeClr val="dk1"/>
                </a:solidFill>
                <a:latin typeface="Baumans"/>
                <a:ea typeface="Baumans"/>
                <a:cs typeface="Baumans"/>
                <a:sym typeface="Baumans"/>
              </a:rPr>
            </a:br>
            <a:endParaRPr sz="2300">
              <a:solidFill>
                <a:schemeClr val="dk1"/>
              </a:solidFill>
              <a:latin typeface="Baumans"/>
              <a:ea typeface="Baumans"/>
              <a:cs typeface="Baumans"/>
              <a:sym typeface="Baumans"/>
            </a:endParaRPr>
          </a:p>
          <a:p>
            <a:pPr marL="0" lvl="0" indent="0" algn="ctr" rtl="0">
              <a:spcBef>
                <a:spcPts val="0"/>
              </a:spcBef>
              <a:spcAft>
                <a:spcPts val="0"/>
              </a:spcAft>
              <a:buNone/>
            </a:pPr>
            <a:r>
              <a:rPr lang="en" sz="2300">
                <a:solidFill>
                  <a:schemeClr val="dk1"/>
                </a:solidFill>
                <a:latin typeface="Baumans"/>
                <a:ea typeface="Baumans"/>
                <a:cs typeface="Baumans"/>
                <a:sym typeface="Baumans"/>
              </a:rPr>
              <a:t>🌱 Why is Iceland a good example of how humans can live sustainably with their environment?</a:t>
            </a:r>
            <a:endParaRPr sz="2300">
              <a:solidFill>
                <a:schemeClr val="dk1"/>
              </a:solidFill>
              <a:latin typeface="Baumans"/>
              <a:ea typeface="Baumans"/>
              <a:cs typeface="Baumans"/>
              <a:sym typeface="Baumans"/>
            </a:endParaRPr>
          </a:p>
        </p:txBody>
      </p:sp>
      <p:sp>
        <p:nvSpPr>
          <p:cNvPr id="184" name="Google Shape;184;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Title: Living with Tectonic Hazards</a:t>
            </a:r>
            <a:endParaRPr sz="1200" b="1">
              <a:solidFill>
                <a:srgbClr val="980000"/>
              </a:solidFill>
              <a:latin typeface="Delius"/>
              <a:ea typeface="Delius"/>
              <a:cs typeface="Delius"/>
              <a:sym typeface="Delius"/>
            </a:endParaRPr>
          </a:p>
          <a:p>
            <a:pPr marL="0" lvl="0" indent="0" algn="l" rtl="0">
              <a:spcBef>
                <a:spcPts val="0"/>
              </a:spcBef>
              <a:spcAft>
                <a:spcPts val="0"/>
              </a:spcAft>
              <a:buClr>
                <a:schemeClr val="dk1"/>
              </a:buClr>
              <a:buSzPts val="1100"/>
              <a:buFont typeface="Arial"/>
              <a:buNone/>
            </a:pPr>
            <a:r>
              <a:rPr lang="en" sz="1200" b="1">
                <a:solidFill>
                  <a:srgbClr val="980000"/>
                </a:solidFill>
                <a:latin typeface="Delius"/>
                <a:ea typeface="Delius"/>
                <a:cs typeface="Delius"/>
                <a:sym typeface="Delius"/>
              </a:rPr>
              <a:t>LO: Why do people choose to live near tectonic hazards?</a:t>
            </a:r>
            <a:endParaRPr sz="1200" b="1">
              <a:solidFill>
                <a:srgbClr val="980000"/>
              </a:solidFill>
              <a:latin typeface="Delius"/>
              <a:ea typeface="Delius"/>
              <a:cs typeface="Delius"/>
              <a:sym typeface="Delius"/>
            </a:endParaRPr>
          </a:p>
        </p:txBody>
      </p:sp>
      <p:sp>
        <p:nvSpPr>
          <p:cNvPr id="185" name="Google Shape;185;p25"/>
          <p:cNvSpPr/>
          <p:nvPr/>
        </p:nvSpPr>
        <p:spPr>
          <a:xfrm>
            <a:off x="125350" y="661400"/>
            <a:ext cx="8301000" cy="4023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990"/>
              <a:buFont typeface="Arial"/>
              <a:buNone/>
            </a:pPr>
            <a:r>
              <a:rPr lang="en" sz="2020">
                <a:solidFill>
                  <a:schemeClr val="dk1"/>
                </a:solidFill>
                <a:highlight>
                  <a:schemeClr val="lt1"/>
                </a:highlight>
                <a:latin typeface="Fugaz One"/>
                <a:ea typeface="Fugaz One"/>
                <a:cs typeface="Fugaz One"/>
                <a:sym typeface="Fugaz One"/>
              </a:rPr>
              <a:t>Why do people choose to live near tectonic hazards?</a:t>
            </a:r>
            <a:endParaRPr sz="2000" i="0" u="none" strike="noStrike" cap="none">
              <a:solidFill>
                <a:schemeClr val="dk1"/>
              </a:solidFill>
              <a:highlight>
                <a:schemeClr val="lt1"/>
              </a:highlight>
              <a:latin typeface="Luckiest Guy"/>
              <a:ea typeface="Luckiest Guy"/>
              <a:cs typeface="Luckiest Guy"/>
              <a:sym typeface="Luckiest Guy"/>
            </a:endParaRPr>
          </a:p>
        </p:txBody>
      </p:sp>
      <p:pic>
        <p:nvPicPr>
          <p:cNvPr id="186" name="Google Shape;186;p25"/>
          <p:cNvPicPr preferRelativeResize="0"/>
          <p:nvPr/>
        </p:nvPicPr>
        <p:blipFill rotWithShape="1">
          <a:blip r:embed="rId3">
            <a:alphaModFix/>
          </a:blip>
          <a:srcRect l="30711" t="5130" r="3174" b="5807"/>
          <a:stretch/>
        </p:blipFill>
        <p:spPr>
          <a:xfrm>
            <a:off x="125350" y="1063688"/>
            <a:ext cx="975600" cy="517450"/>
          </a:xfrm>
          <a:prstGeom prst="rect">
            <a:avLst/>
          </a:prstGeom>
          <a:noFill/>
          <a:ln>
            <a:noFill/>
          </a:ln>
        </p:spPr>
      </p:pic>
      <p:pic>
        <p:nvPicPr>
          <p:cNvPr id="187" name="Google Shape;187;p25">
            <a:hlinkClick r:id="rId4"/>
          </p:cNvPr>
          <p:cNvPicPr preferRelativeResize="0"/>
          <p:nvPr/>
        </p:nvPicPr>
        <p:blipFill>
          <a:blip r:embed="rId5">
            <a:alphaModFix/>
          </a:blip>
          <a:stretch>
            <a:fillRect/>
          </a:stretch>
        </p:blipFill>
        <p:spPr>
          <a:xfrm>
            <a:off x="8252025" y="4263050"/>
            <a:ext cx="813425" cy="8134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1463</Words>
  <Application>Microsoft Macintosh PowerPoint</Application>
  <PresentationFormat>On-screen Show (16:9)</PresentationFormat>
  <Paragraphs>115</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Fugaz One</vt:lpstr>
      <vt:lpstr>Calibri</vt:lpstr>
      <vt:lpstr>Arial</vt:lpstr>
      <vt:lpstr>Baumans</vt:lpstr>
      <vt:lpstr>Delius</vt:lpstr>
      <vt:lpstr>Poppins</vt:lpstr>
      <vt:lpstr>Luckiest Guy</vt:lpstr>
      <vt:lpstr>Patrick Hand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2</cp:revision>
  <dcterms:modified xsi:type="dcterms:W3CDTF">2026-09-24T00:51:21Z</dcterms:modified>
</cp:coreProperties>
</file>