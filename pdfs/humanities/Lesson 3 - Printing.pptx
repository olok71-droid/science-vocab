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58" r:id="rId6"/>
    <p:sldId id="259" r:id="rId7"/>
  </p:sldIdLst>
  <p:sldSz cx="9144000" cy="6858000" type="screen4x3"/>
  <p:notesSz cx="6858000" cy="9144000"/>
  <p:embeddedFontLst>
    <p:embeddedFont>
      <p:font typeface="Aladin" panose="02000506000000020004" pitchFamily="2" charset="77"/>
      <p:regular r:id="rId9"/>
    </p:embeddedFont>
    <p:embeddedFont>
      <p:font typeface="Edu TAS Beginner" pitchFamily="2" charset="0"/>
      <p:regular r:id="rId10"/>
      <p:bold r:id="rId11"/>
    </p:embeddedFont>
    <p:embeddedFont>
      <p:font typeface="Poppins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4E8D59-CCF2-4D68-817E-9F0116BE6574}">
  <a:tblStyle styleId="{3A4E8D59-CCF2-4D68-817E-9F0116BE65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28"/>
    <p:restoredTop sz="94675"/>
  </p:normalViewPr>
  <p:slideViewPr>
    <p:cSldViewPr snapToGrid="0">
      <p:cViewPr varScale="1">
        <p:scale>
          <a:sx n="119" d="100"/>
          <a:sy n="119" d="100"/>
        </p:scale>
        <p:origin x="39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88267198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88267198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521562be6bedfda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521562be6bedfda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88267198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882671982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521562be6bedfda7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521562be6bedfda7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87500" y="135150"/>
            <a:ext cx="8938200" cy="6587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t="17179" b="24290"/>
          <a:stretch/>
        </p:blipFill>
        <p:spPr>
          <a:xfrm>
            <a:off x="7820408" y="6521809"/>
            <a:ext cx="1128285" cy="40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778600" y="227853"/>
            <a:ext cx="55560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chemeClr val="dk1"/>
                </a:solidFill>
                <a:latin typeface="Edu TAS Beginner"/>
                <a:ea typeface="Edu TAS Beginner"/>
                <a:cs typeface="Edu TAS Beginner"/>
                <a:sym typeface="Edu TAS Beginner"/>
              </a:rPr>
              <a:t>5 Major Treaties &amp; Alliances in the Build Up to World War One</a:t>
            </a:r>
            <a:endParaRPr b="1" u="sng">
              <a:solidFill>
                <a:schemeClr val="dk1"/>
              </a:solidFill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7500" y="627450"/>
            <a:ext cx="4482900" cy="58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1. What were the two main alliances before World War I?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Triple Entente (France, Britain, Russia) and Dual Alliance (Germany, Austria-Hungary)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Triple Alliance (France, Britain, Russia) and Dual Entente (Germany, Austria-Hungary)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NATO and Warsaw Pact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United Nations and League of Nations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2. What did the Treaty of London (1839) guarantee?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Germany would invade Belgium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Belgium’s neutrality and independence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France would attack Germany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Austria-Hungary could control Serbia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3. Who signed the Dual Alliance in 1879?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Britain and France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Italy and Belgium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Russia and France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Germany and Austria-Hungary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4. Which country joined the Triple Alliance in 1882?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Russia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Italy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Britain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Belgium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5. Why did Germany sign the Reinsurance Treaty with Russia in 1887?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A) To prevent Russia forming an alliance with France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To attack Britain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To invade Belgium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To declare war on Austria-Hungary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572000" y="627450"/>
            <a:ext cx="3808800" cy="14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6. What did the Franco-Russian Alliance of 1894 promise?</a:t>
            </a:r>
            <a:endParaRPr sz="1000" b="1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)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Russia would attack Britain 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B) France would give land to Germany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C) </a:t>
            </a: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 If the Triple Alliance attacked one, the other would help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D) Italy would join Britain in war</a:t>
            </a:r>
            <a:endParaRPr sz="1000">
              <a:solidFill>
                <a:srgbClr val="364152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572000" y="2028150"/>
            <a:ext cx="4376700" cy="47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7. What was the Entente Cordiale of 1904?</a:t>
            </a: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A) A trade deal between Russia and Japan 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B) An alliance between Germany and Austria-Hungary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C) A treaty between Britain and France to settle disagreements, especially in Africa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D) A plan to attack Belgium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8. What was the Triple Entente of 1907?</a:t>
            </a: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A) An agreement between Britain, France, and Russia against the Triple Alliance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B) A secret treaty with Germany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C) A trade deal in Europe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D) A military plan between Austria-Hungary and Italy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9. Why did Britain declare war on Germany in August 1914?</a:t>
            </a: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A) Germany attacked France only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B) Britain wanted to help Austria-Hungary 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C) Germany signed a treaty with Russia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D) Germany crossed Belgian border, breaking the Treaty of London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10. Why was the Triple Entente not truly a “triple” agreement?</a:t>
            </a:r>
            <a:endParaRPr sz="1000" b="1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A) It was mainly a treaty between Britain and Russia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B) It included Germany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C) France refused to join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4152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D) Italy was part of it</a:t>
            </a:r>
            <a:endParaRPr sz="1000">
              <a:solidFill>
                <a:srgbClr val="364152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9863" y="187013"/>
            <a:ext cx="649676" cy="649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9144002" cy="6869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083FFF-95E5-CDD0-75E0-DEAC39C2328F}"/>
              </a:ext>
            </a:extLst>
          </p:cNvPr>
          <p:cNvSpPr txBox="1"/>
          <p:nvPr/>
        </p:nvSpPr>
        <p:spPr>
          <a:xfrm>
            <a:off x="2286000" y="327780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F2928-737B-F80A-857A-38F7F327E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44000" cy="68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37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35B0DB-283A-2F51-0CD3-C65E3E218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8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65625" y="180200"/>
            <a:ext cx="8979000" cy="6324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t="17179" b="24290"/>
          <a:stretch/>
        </p:blipFill>
        <p:spPr>
          <a:xfrm>
            <a:off x="7833606" y="6366108"/>
            <a:ext cx="1133418" cy="26591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25850" y="253075"/>
            <a:ext cx="8892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European Aims in 1913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134550" y="991925"/>
          <a:ext cx="8841150" cy="3137114"/>
        </p:xfrm>
        <a:graphic>
          <a:graphicData uri="http://schemas.openxmlformats.org/drawingml/2006/table">
            <a:tbl>
              <a:tblPr>
                <a:noFill/>
                <a:tableStyleId>{3A4E8D59-CCF2-4D68-817E-9F0116BE6574}</a:tableStyleId>
              </a:tblPr>
              <a:tblGrid>
                <a:gridCol w="294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Britain</a:t>
                      </a:r>
                      <a:endParaRPr sz="1000" b="1" u="sng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is the thing they want the most?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Who stands in the way of this? 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France</a:t>
                      </a:r>
                      <a:endParaRPr sz="10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is the thing they want the most?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Who stands in the way of this? 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000" b="1" u="sng" strike="noStrike" cap="non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Austr</a:t>
                      </a:r>
                      <a:r>
                        <a:rPr lang="en" sz="1000" b="1" u="sng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</a:t>
                      </a:r>
                      <a:r>
                        <a:rPr lang="en" sz="1000" b="1" u="sng" strike="noStrike" cap="non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-Hungary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is the thing they want the most?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Who stands in the way of this? 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000" b="1" u="sng" strike="noStrike" cap="non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Russia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is the thing they want the most?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Who stands in the way of this? 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000" b="1" u="sng" strike="noStrike" cap="non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Serbia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is the thing they want the most?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Who stands in the way of this? 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 u="none" strike="noStrike" cap="none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Germany</a:t>
                      </a:r>
                      <a:endParaRPr sz="10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is the thing they want the most?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6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Who stands in the way of this? 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__________________________________________________________</a:t>
                      </a:r>
                      <a:endParaRPr sz="100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68575" marB="6857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4" name="Google Shape;74;p15"/>
          <p:cNvGraphicFramePr/>
          <p:nvPr/>
        </p:nvGraphicFramePr>
        <p:xfrm>
          <a:off x="4313988" y="4486325"/>
          <a:ext cx="4653000" cy="1325850"/>
        </p:xfrm>
        <a:graphic>
          <a:graphicData uri="http://schemas.openxmlformats.org/drawingml/2006/table">
            <a:tbl>
              <a:tblPr>
                <a:noFill/>
                <a:tableStyleId>{3A4E8D59-CCF2-4D68-817E-9F0116BE6574}</a:tableStyleId>
              </a:tblPr>
              <a:tblGrid>
                <a:gridCol w="15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Britain</a:t>
                      </a:r>
                      <a:endParaRPr sz="10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France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Austro-Hungary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Russia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Germany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Serbia</a:t>
                      </a:r>
                      <a:endParaRPr b="1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5" name="Google Shape;75;p15"/>
          <p:cNvSpPr txBox="1"/>
          <p:nvPr/>
        </p:nvSpPr>
        <p:spPr>
          <a:xfrm>
            <a:off x="125850" y="653275"/>
            <a:ext cx="4699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Complete the table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314025" y="4121175"/>
            <a:ext cx="4653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Poppins"/>
                <a:ea typeface="Poppins"/>
                <a:cs typeface="Poppins"/>
                <a:sym typeface="Poppins"/>
              </a:rPr>
              <a:t>Draw arrows to show the links between countries ‘Friend or Foe’</a:t>
            </a:r>
            <a:endParaRPr sz="10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5786600" y="5875063"/>
            <a:ext cx="348900" cy="265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78" name="Google Shape;78;p15"/>
          <p:cNvSpPr txBox="1"/>
          <p:nvPr/>
        </p:nvSpPr>
        <p:spPr>
          <a:xfrm>
            <a:off x="6032100" y="5838613"/>
            <a:ext cx="53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adin"/>
                <a:ea typeface="Aladin"/>
                <a:cs typeface="Aladin"/>
                <a:sym typeface="Aladin"/>
              </a:rPr>
              <a:t>Friend</a:t>
            </a:r>
            <a:endParaRPr b="1">
              <a:latin typeface="Aladin"/>
              <a:ea typeface="Aladin"/>
              <a:cs typeface="Aladin"/>
              <a:sym typeface="Aladin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6714625" y="5875063"/>
            <a:ext cx="348900" cy="265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80" name="Google Shape;80;p15"/>
          <p:cNvSpPr txBox="1"/>
          <p:nvPr/>
        </p:nvSpPr>
        <p:spPr>
          <a:xfrm>
            <a:off x="6935700" y="5838613"/>
            <a:ext cx="53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Aladin"/>
                <a:ea typeface="Aladin"/>
                <a:cs typeface="Aladin"/>
                <a:sym typeface="Aladin"/>
              </a:rPr>
              <a:t>Foe</a:t>
            </a:r>
            <a:endParaRPr b="1">
              <a:latin typeface="Aladin"/>
              <a:ea typeface="Aladin"/>
              <a:cs typeface="Aladin"/>
              <a:sym typeface="Aladin"/>
            </a:endParaRPr>
          </a:p>
        </p:txBody>
      </p:sp>
      <p:pic>
        <p:nvPicPr>
          <p:cNvPr id="81" name="Google Shape;81;p15" descr="The Main Causes of World War I - WorldAtla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184" y="4206701"/>
            <a:ext cx="3450141" cy="2159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2700" y="253075"/>
            <a:ext cx="534300" cy="53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686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590</Words>
  <Application>Microsoft Macintosh PowerPoint</Application>
  <PresentationFormat>On-screen Show (4:3)</PresentationFormat>
  <Paragraphs>113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Edu TAS Beginner</vt:lpstr>
      <vt:lpstr>Arial</vt:lpstr>
      <vt:lpstr>Aladin</vt:lpstr>
      <vt:lpstr>Poppins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Douglas Lawrence</cp:lastModifiedBy>
  <cp:revision>2</cp:revision>
  <dcterms:modified xsi:type="dcterms:W3CDTF">2026-10-06T08:41:02Z</dcterms:modified>
</cp:coreProperties>
</file>