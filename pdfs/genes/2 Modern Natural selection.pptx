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14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98" r:id="rId2"/>
    <p:sldId id="257" r:id="rId3"/>
    <p:sldId id="299" r:id="rId4"/>
    <p:sldId id="272" r:id="rId5"/>
    <p:sldId id="291" r:id="rId6"/>
    <p:sldId id="278" r:id="rId7"/>
    <p:sldId id="275" r:id="rId8"/>
    <p:sldId id="276" r:id="rId9"/>
    <p:sldId id="277" r:id="rId10"/>
    <p:sldId id="281" r:id="rId11"/>
    <p:sldId id="280" r:id="rId12"/>
    <p:sldId id="282" r:id="rId13"/>
    <p:sldId id="279" r:id="rId14"/>
    <p:sldId id="283" r:id="rId15"/>
    <p:sldId id="286" r:id="rId16"/>
    <p:sldId id="261" r:id="rId17"/>
    <p:sldId id="300" r:id="rId18"/>
    <p:sldId id="297" r:id="rId19"/>
    <p:sldId id="301" r:id="rId20"/>
    <p:sldId id="29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7074" autoAdjust="0"/>
  </p:normalViewPr>
  <p:slideViewPr>
    <p:cSldViewPr snapToGrid="0">
      <p:cViewPr varScale="1">
        <p:scale>
          <a:sx n="97" d="100"/>
          <a:sy n="97" d="100"/>
        </p:scale>
        <p:origin x="14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22B24-BB37-4FB2-80D8-425A4FC4644E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44846D-7A99-4761-AFB0-4E2751BAD0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14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586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396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381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501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066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395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645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460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217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316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46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259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5280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713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Please note that were more steps in the diagram to help illustrate natural selection but they need to summarise the process in 8 steps</a:t>
            </a:r>
            <a:r>
              <a:rPr lang="en-GB" baseline="0" dirty="0" smtClean="0"/>
              <a:t> to be able to do their prep.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3261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Get</a:t>
            </a:r>
            <a:r>
              <a:rPr lang="en-GB" baseline="0" dirty="0" smtClean="0"/>
              <a:t> pupils to improve answers and then use that to do prep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620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Get</a:t>
            </a:r>
            <a:r>
              <a:rPr lang="en-GB" baseline="0" dirty="0" smtClean="0"/>
              <a:t> pupils to improve answers and then use that to do prep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3338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1039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041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Get</a:t>
            </a:r>
            <a:r>
              <a:rPr lang="en-GB" baseline="0" dirty="0" smtClean="0"/>
              <a:t> pupils to improve answers and then use that to do prep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39BDD-A609-495F-A311-8C0AB6AFCA0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359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07F7-A42F-426C-8568-8359B05028A1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FCBE-2C14-4321-8FFC-CD25392C2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659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07F7-A42F-426C-8568-8359B05028A1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FCBE-2C14-4321-8FFC-CD25392C2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14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07F7-A42F-426C-8568-8359B05028A1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FCBE-2C14-4321-8FFC-CD25392C2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10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07F7-A42F-426C-8568-8359B05028A1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FCBE-2C14-4321-8FFC-CD25392C2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117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07F7-A42F-426C-8568-8359B05028A1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FCBE-2C14-4321-8FFC-CD25392C2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359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07F7-A42F-426C-8568-8359B05028A1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FCBE-2C14-4321-8FFC-CD25392C2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768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07F7-A42F-426C-8568-8359B05028A1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FCBE-2C14-4321-8FFC-CD25392C2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638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07F7-A42F-426C-8568-8359B05028A1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FCBE-2C14-4321-8FFC-CD25392C2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52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07F7-A42F-426C-8568-8359B05028A1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FCBE-2C14-4321-8FFC-CD25392C2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78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07F7-A42F-426C-8568-8359B05028A1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FCBE-2C14-4321-8FFC-CD25392C2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74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07F7-A42F-426C-8568-8359B05028A1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FCBE-2C14-4321-8FFC-CD25392C2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665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A07F7-A42F-426C-8568-8359B05028A1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4FCBE-2C14-4321-8FFC-CD25392C2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63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14357" y="480042"/>
            <a:ext cx="8829643" cy="39126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u="sng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To give examples of natural selection occurring in modern 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460" y="893406"/>
            <a:ext cx="8973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00B050"/>
                </a:solidFill>
              </a:rPr>
              <a:t>Copy and </a:t>
            </a:r>
            <a:r>
              <a:rPr lang="en-GB" sz="2800" dirty="0" smtClean="0">
                <a:solidFill>
                  <a:srgbClr val="00B050"/>
                </a:solidFill>
              </a:rPr>
              <a:t>complete the passage below</a:t>
            </a:r>
            <a:endParaRPr lang="en-GB" sz="2800" dirty="0">
              <a:solidFill>
                <a:srgbClr val="00B05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5799045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/>
              <a:t>Bronze: Describe what MRSA is</a:t>
            </a:r>
          </a:p>
          <a:p>
            <a:r>
              <a:rPr lang="en-GB"/>
              <a:t>Silver: Use the process of natural selection to describe how the MRSA crisis has occurred.</a:t>
            </a:r>
          </a:p>
          <a:p>
            <a:r>
              <a:rPr lang="en-GB"/>
              <a:t>Gold; Suggest ways we could overcome the problem of antibiotic resistance</a:t>
            </a:r>
            <a:endParaRPr lang="en-GB" dirty="0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152400" y="1904675"/>
            <a:ext cx="8929579" cy="4393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GB" dirty="0" smtClean="0"/>
              <a:t>	_________________is where characteristics of an organism favours its___________, promoting that trait in _______ __________. The ‘fitter’ the organism the ________ chance it has of survival and passing on its alleles. This is known as survival of the _______</a:t>
            </a:r>
            <a:endParaRPr lang="en-US" dirty="0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251987" y="1815741"/>
            <a:ext cx="3505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Natural selection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3757187" y="2178376"/>
            <a:ext cx="2057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survival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793513" y="2997456"/>
            <a:ext cx="11368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higher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6318478" y="3345763"/>
            <a:ext cx="10729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fittest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487552" y="2604182"/>
            <a:ext cx="11135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future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1752600" y="2573266"/>
            <a:ext cx="19409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generations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5576779" y="4817299"/>
            <a:ext cx="3505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800" b="1">
                <a:solidFill>
                  <a:srgbClr val="FF0000"/>
                </a:solidFill>
              </a:rPr>
              <a:t>natural selection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1752600" y="5285791"/>
            <a:ext cx="2057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survival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4217462" y="4057623"/>
            <a:ext cx="11368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higher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1064666" y="4688292"/>
            <a:ext cx="10729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fittest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2426650" y="4072181"/>
            <a:ext cx="11135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future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7" name="Rectangle 15"/>
          <p:cNvSpPr>
            <a:spLocks noChangeArrowheads="1"/>
          </p:cNvSpPr>
          <p:nvPr/>
        </p:nvSpPr>
        <p:spPr bwMode="auto">
          <a:xfrm>
            <a:off x="3247004" y="4886794"/>
            <a:ext cx="19409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generations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29117" y="16372"/>
            <a:ext cx="41761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b="1" u="sng" dirty="0">
                <a:uFill>
                  <a:solidFill>
                    <a:srgbClr val="FF0000"/>
                  </a:solidFill>
                </a:uFill>
              </a:rPr>
              <a:t>Title: </a:t>
            </a:r>
            <a:r>
              <a:rPr lang="en-GB" sz="2400" b="1" u="sng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Modern Natural selection</a:t>
            </a:r>
          </a:p>
        </p:txBody>
      </p:sp>
    </p:spTree>
    <p:extLst>
      <p:ext uri="{BB962C8B-B14F-4D97-AF65-F5344CB8AC3E}">
        <p14:creationId xmlns:p14="http://schemas.microsoft.com/office/powerpoint/2010/main" val="41998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9119" y="1268608"/>
            <a:ext cx="8772041" cy="3662541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sz="2800" dirty="0"/>
              <a:t>Bronze: Describe what MRSA is</a:t>
            </a:r>
          </a:p>
          <a:p>
            <a:r>
              <a:rPr lang="en-GB" sz="2800" dirty="0"/>
              <a:t>Silver: Use the process of natural selection to describe how the MRSA crisis has occurred.</a:t>
            </a:r>
          </a:p>
          <a:p>
            <a:r>
              <a:rPr lang="en-GB" sz="2800" dirty="0"/>
              <a:t>Gold; Suggest ways we could overcome the problem of antibiotic </a:t>
            </a:r>
            <a:r>
              <a:rPr lang="en-GB" sz="2800" dirty="0" smtClean="0"/>
              <a:t>resistance</a:t>
            </a:r>
          </a:p>
          <a:p>
            <a:endParaRPr lang="en-GB" sz="2800" dirty="0"/>
          </a:p>
          <a:p>
            <a:r>
              <a:rPr lang="en-GB" sz="2800" b="1" dirty="0" smtClean="0"/>
              <a:t>Spec </a:t>
            </a:r>
            <a:r>
              <a:rPr lang="en-GB" sz="2800" b="1" dirty="0" smtClean="0"/>
              <a:t>point </a:t>
            </a:r>
            <a:r>
              <a:rPr lang="en-GB" sz="2800" b="1" dirty="0" smtClean="0"/>
              <a:t>4.3</a:t>
            </a:r>
          </a:p>
          <a:p>
            <a:r>
              <a:rPr lang="en-GB" dirty="0"/>
              <a:t>4.3 Explain how the emergence of resistant organisms supports Darwin’s theory of evolution including antibiotic resistance in bacteria</a:t>
            </a:r>
            <a:endParaRPr lang="en-GB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170481" y="124903"/>
            <a:ext cx="8890679" cy="49502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u="sng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To give examples of natural selection occurring in modern times</a:t>
            </a:r>
          </a:p>
        </p:txBody>
      </p:sp>
    </p:spTree>
    <p:extLst>
      <p:ext uri="{BB962C8B-B14F-4D97-AF65-F5344CB8AC3E}">
        <p14:creationId xmlns:p14="http://schemas.microsoft.com/office/powerpoint/2010/main" val="86857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24" b="25451"/>
          <a:stretch/>
        </p:blipFill>
        <p:spPr>
          <a:xfrm>
            <a:off x="0" y="5270856"/>
            <a:ext cx="2271471" cy="5897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9944" y="1117600"/>
            <a:ext cx="81068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For each of the following slides, write down one word to represent what is happening</a:t>
            </a:r>
            <a:endParaRPr lang="en-GB" sz="28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81" y="2589600"/>
            <a:ext cx="2996771" cy="2062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71471" y="5355881"/>
            <a:ext cx="664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does MRSA stand for?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007" y="5801794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4398" y="124903"/>
            <a:ext cx="8266762" cy="916116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u="sng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To give examples of natural selection occurring in modern times</a:t>
            </a:r>
          </a:p>
        </p:txBody>
      </p:sp>
    </p:spTree>
    <p:extLst>
      <p:ext uri="{BB962C8B-B14F-4D97-AF65-F5344CB8AC3E}">
        <p14:creationId xmlns:p14="http://schemas.microsoft.com/office/powerpoint/2010/main" val="374296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223" y="1087023"/>
            <a:ext cx="6253547" cy="4150625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185977" y="5237648"/>
            <a:ext cx="8772041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/>
              <a:t>A population of bacteria with natural </a:t>
            </a:r>
            <a:r>
              <a:rPr lang="en-GB" b="1" dirty="0" smtClean="0"/>
              <a:t>variation </a:t>
            </a:r>
            <a:r>
              <a:rPr lang="en-GB" dirty="0" smtClean="0"/>
              <a:t>where some bacteria that are susceptible and some that are resistant. 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5977" y="5857783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238875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223" y="1087023"/>
            <a:ext cx="6253547" cy="4150625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196129" y="5206325"/>
            <a:ext cx="8958021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The bacteria </a:t>
            </a:r>
            <a:r>
              <a:rPr lang="en-GB" b="1" dirty="0"/>
              <a:t>over-produced</a:t>
            </a:r>
            <a:r>
              <a:rPr lang="en-GB" dirty="0"/>
              <a:t> so there are more bacteria </a:t>
            </a:r>
            <a:r>
              <a:rPr lang="en-GB" dirty="0" smtClean="0"/>
              <a:t>than needed to continue to population.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5979" y="5821332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417212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809" y="1094862"/>
            <a:ext cx="6276963" cy="41437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5979" y="5339776"/>
            <a:ext cx="302647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You start taking an antibiotic…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5977" y="5857783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399256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224" y="1094862"/>
            <a:ext cx="6253547" cy="40307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5979" y="5359401"/>
            <a:ext cx="689291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And the susceptible (weak) bacteria die first – </a:t>
            </a:r>
            <a:r>
              <a:rPr lang="en-GB" b="1" dirty="0" smtClean="0"/>
              <a:t>the struggle for existence</a:t>
            </a:r>
            <a:endParaRPr lang="en-GB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5977" y="5857783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398203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86" y="1094861"/>
            <a:ext cx="5312228" cy="403073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85979" y="5359400"/>
            <a:ext cx="472449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You keep taking the </a:t>
            </a:r>
            <a:r>
              <a:rPr lang="en-GB" dirty="0"/>
              <a:t>antibiotic, </a:t>
            </a:r>
            <a:r>
              <a:rPr lang="en-GB" dirty="0" smtClean="0"/>
              <a:t>more </a:t>
            </a:r>
            <a:r>
              <a:rPr lang="en-GB" dirty="0"/>
              <a:t>bacteria die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5977" y="5857783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311829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86" y="1000017"/>
            <a:ext cx="5312228" cy="41255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5979" y="5378258"/>
            <a:ext cx="877204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/>
              <a:t>Until eventually only the resistant bacteria are left - </a:t>
            </a:r>
            <a:r>
              <a:rPr lang="en-GB" b="1" dirty="0" smtClean="0"/>
              <a:t>survival</a:t>
            </a:r>
            <a:endParaRPr lang="en-GB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5977" y="5857783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6370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87" y="1000017"/>
            <a:ext cx="5312228" cy="412558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185978" y="5283251"/>
            <a:ext cx="877204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/>
              <a:t>You stop taking the antibiotic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5977" y="5857783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46473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87" y="1000016"/>
            <a:ext cx="5312228" cy="42645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5979" y="5352731"/>
            <a:ext cx="322985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The resistant bacteria reproduce</a:t>
            </a:r>
            <a:endParaRPr lang="en-GB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5977" y="5857783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155012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772" y="923704"/>
            <a:ext cx="5428343" cy="43408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5979" y="5378258"/>
            <a:ext cx="322985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The resistant bacteria reproduce</a:t>
            </a: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5977" y="5857783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374620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5979" y="5747590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Define mutation</a:t>
            </a:r>
          </a:p>
          <a:p>
            <a:r>
              <a:rPr lang="en-GB" dirty="0"/>
              <a:t>Silver: Describe what is meant by survival of the fittest (natural selection)</a:t>
            </a:r>
          </a:p>
          <a:p>
            <a:r>
              <a:rPr lang="en-GB" dirty="0"/>
              <a:t>Gold: Explain why survival of the fittest leads to evolution by natural selection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882" y="1018014"/>
            <a:ext cx="6618516" cy="46352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5979" y="5762522"/>
            <a:ext cx="8772041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/>
              <a:t>Now there are lots of resistant </a:t>
            </a:r>
            <a:r>
              <a:rPr lang="en-GB" dirty="0"/>
              <a:t>bacteria– the </a:t>
            </a:r>
            <a:r>
              <a:rPr lang="en-GB" b="1" dirty="0"/>
              <a:t>useful </a:t>
            </a:r>
            <a:r>
              <a:rPr lang="en-GB" b="1" dirty="0" smtClean="0"/>
              <a:t>characteristic </a:t>
            </a:r>
            <a:r>
              <a:rPr lang="en-GB" dirty="0" smtClean="0"/>
              <a:t>(coded for by an allele)</a:t>
            </a:r>
            <a:r>
              <a:rPr lang="en-GB" b="1" dirty="0" smtClean="0"/>
              <a:t> </a:t>
            </a:r>
            <a:r>
              <a:rPr lang="en-GB" dirty="0"/>
              <a:t>that </a:t>
            </a:r>
            <a:r>
              <a:rPr lang="en-GB" dirty="0" smtClean="0"/>
              <a:t>was </a:t>
            </a:r>
            <a:r>
              <a:rPr lang="en-GB" dirty="0"/>
              <a:t>passed onto offspring in this case in antibiotic resistance</a:t>
            </a:r>
          </a:p>
          <a:p>
            <a:r>
              <a:rPr lang="en-GB" dirty="0" smtClean="0"/>
              <a:t> </a:t>
            </a:r>
            <a:endParaRPr lang="en-GB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7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882" y="831371"/>
            <a:ext cx="6618516" cy="46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5979" y="5182665"/>
            <a:ext cx="8772041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/>
              <a:t>If I take the antibiotic again, what happens? Or in other words, what was the </a:t>
            </a:r>
            <a:r>
              <a:rPr lang="en-GB" b="1" dirty="0" smtClean="0"/>
              <a:t>gradual change </a:t>
            </a:r>
            <a:r>
              <a:rPr lang="en-GB" dirty="0" smtClean="0"/>
              <a:t>you observed in this population?  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5977" y="5857783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71713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192" y="843443"/>
            <a:ext cx="8131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/>
              <a:t>Use what you wrote on your MWBs and your notes to write what happens at each stage (there are 8 in total)</a:t>
            </a:r>
            <a:endParaRPr lang="en-GB" sz="2400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03" y="1006464"/>
            <a:ext cx="585216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5303" y="1729466"/>
            <a:ext cx="8682715" cy="3588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000" dirty="0" smtClean="0"/>
              <a:t>There is natural variation in a population of bacteria (some have genes that are mean they are resistant to antibiotics and some do not).</a:t>
            </a:r>
            <a:endParaRPr lang="en-GB" sz="2000" dirty="0"/>
          </a:p>
          <a:p>
            <a:r>
              <a:rPr lang="en-GB" sz="2000" dirty="0" smtClean="0"/>
              <a:t>2.</a:t>
            </a:r>
          </a:p>
          <a:p>
            <a:r>
              <a:rPr lang="en-GB" sz="2000" dirty="0" smtClean="0"/>
              <a:t>3.</a:t>
            </a:r>
          </a:p>
          <a:p>
            <a:r>
              <a:rPr lang="en-GB" sz="2000" dirty="0" smtClean="0"/>
              <a:t>4.</a:t>
            </a:r>
          </a:p>
          <a:p>
            <a:r>
              <a:rPr lang="en-GB" sz="2000" dirty="0" smtClean="0"/>
              <a:t>5.</a:t>
            </a:r>
          </a:p>
          <a:p>
            <a:r>
              <a:rPr lang="en-GB" sz="2000" dirty="0" smtClean="0"/>
              <a:t>6.</a:t>
            </a:r>
          </a:p>
          <a:p>
            <a:r>
              <a:rPr lang="en-GB" sz="2000" dirty="0" smtClean="0"/>
              <a:t>7.</a:t>
            </a:r>
          </a:p>
          <a:p>
            <a:r>
              <a:rPr lang="en-GB" sz="2000" dirty="0" smtClean="0"/>
              <a:t>8.</a:t>
            </a:r>
          </a:p>
          <a:p>
            <a:pPr marL="342900" indent="-342900">
              <a:buFont typeface="+mj-lt"/>
              <a:buAutoNum type="arabicPeriod"/>
            </a:pPr>
            <a:endParaRPr lang="en-GB" sz="2000" dirty="0" smtClean="0"/>
          </a:p>
          <a:p>
            <a:pPr marL="342900" indent="-342900">
              <a:buFont typeface="+mj-lt"/>
              <a:buAutoNum type="arabicPeriod"/>
            </a:pPr>
            <a:endParaRPr lang="en-GB" sz="2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24" b="25451"/>
          <a:stretch/>
        </p:blipFill>
        <p:spPr>
          <a:xfrm>
            <a:off x="144997" y="5220512"/>
            <a:ext cx="2271471" cy="58972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534653" y="5327491"/>
            <a:ext cx="6423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Include all the keywords (words in bold) from </a:t>
            </a:r>
            <a:r>
              <a:rPr lang="en-GB" dirty="0" smtClean="0"/>
              <a:t>last lesson</a:t>
            </a:r>
            <a:endParaRPr lang="en-GB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85977" y="5857783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27679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72822" y="906964"/>
            <a:ext cx="8241704" cy="1180913"/>
          </a:xfrm>
          <a:prstGeom prst="rect">
            <a:avLst/>
          </a:prstGeom>
          <a:solidFill>
            <a:srgbClr val="66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GB" sz="2400" b="1" dirty="0">
                <a:solidFill>
                  <a:sysClr val="windowText" lastClr="000000"/>
                </a:solidFill>
              </a:rPr>
              <a:t>Read</a:t>
            </a:r>
            <a:r>
              <a:rPr lang="en-GB" sz="2400" dirty="0">
                <a:solidFill>
                  <a:sysClr val="windowText" lastClr="000000"/>
                </a:solidFill>
              </a:rPr>
              <a:t> your/ your partner’s work and </a:t>
            </a:r>
            <a:r>
              <a:rPr lang="en-GB" sz="2400" b="1" dirty="0">
                <a:solidFill>
                  <a:sysClr val="windowText" lastClr="000000"/>
                </a:solidFill>
              </a:rPr>
              <a:t>edit</a:t>
            </a:r>
            <a:r>
              <a:rPr lang="en-GB" sz="2400" dirty="0">
                <a:solidFill>
                  <a:sysClr val="windowText" lastClr="000000"/>
                </a:solidFill>
              </a:rPr>
              <a:t> any silly mistakes.</a:t>
            </a:r>
          </a:p>
          <a:p>
            <a:pPr marL="342900" indent="-342900">
              <a:buAutoNum type="arabicPeriod"/>
            </a:pPr>
            <a:r>
              <a:rPr lang="en-GB" sz="2400" b="1" dirty="0" smtClean="0">
                <a:solidFill>
                  <a:sysClr val="windowText" lastClr="000000"/>
                </a:solidFill>
              </a:rPr>
              <a:t>Identify</a:t>
            </a:r>
            <a:r>
              <a:rPr lang="en-GB" sz="2400" dirty="0" smtClean="0">
                <a:solidFill>
                  <a:sysClr val="windowText" lastClr="000000"/>
                </a:solidFill>
              </a:rPr>
              <a:t> what medal is </a:t>
            </a:r>
            <a:r>
              <a:rPr lang="en-GB" sz="2400" dirty="0">
                <a:solidFill>
                  <a:sysClr val="windowText" lastClr="000000"/>
                </a:solidFill>
              </a:rPr>
              <a:t>achieved and </a:t>
            </a:r>
            <a:r>
              <a:rPr lang="en-GB" sz="2400" b="1" dirty="0" smtClean="0">
                <a:solidFill>
                  <a:schemeClr val="tx1"/>
                </a:solidFill>
              </a:rPr>
              <a:t>highlight</a:t>
            </a:r>
            <a:r>
              <a:rPr lang="en-GB" sz="2400" dirty="0" smtClean="0">
                <a:solidFill>
                  <a:schemeClr val="tx1"/>
                </a:solidFill>
              </a:rPr>
              <a:t> </a:t>
            </a:r>
            <a:r>
              <a:rPr lang="en-GB" sz="2400" b="1" dirty="0" smtClean="0">
                <a:solidFill>
                  <a:schemeClr val="tx1"/>
                </a:solidFill>
              </a:rPr>
              <a:t>the evidence</a:t>
            </a:r>
            <a:r>
              <a:rPr lang="en-GB" sz="24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GB" sz="2400" b="1" dirty="0" smtClean="0">
                <a:solidFill>
                  <a:sysClr val="windowText" lastClr="000000"/>
                </a:solidFill>
              </a:rPr>
              <a:t>Assess</a:t>
            </a:r>
            <a:r>
              <a:rPr lang="en-GB" sz="2400" dirty="0" smtClean="0">
                <a:solidFill>
                  <a:sysClr val="windowText" lastClr="000000"/>
                </a:solidFill>
              </a:rPr>
              <a:t> the work by writing one of the below comments.</a:t>
            </a:r>
            <a:endParaRPr lang="en-GB" sz="2400" dirty="0">
              <a:solidFill>
                <a:sysClr val="windowText" lastClr="0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0" y="2256099"/>
            <a:ext cx="685061" cy="137012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513" y="2133784"/>
            <a:ext cx="8121013" cy="37177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85977" y="5857783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351571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72822" y="906964"/>
            <a:ext cx="8241704" cy="1180913"/>
          </a:xfrm>
          <a:prstGeom prst="rect">
            <a:avLst/>
          </a:prstGeom>
          <a:solidFill>
            <a:srgbClr val="66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GB" sz="2400" b="1" dirty="0">
                <a:solidFill>
                  <a:sysClr val="windowText" lastClr="000000"/>
                </a:solidFill>
              </a:rPr>
              <a:t>Read</a:t>
            </a:r>
            <a:r>
              <a:rPr lang="en-GB" sz="2400" dirty="0">
                <a:solidFill>
                  <a:sysClr val="windowText" lastClr="000000"/>
                </a:solidFill>
              </a:rPr>
              <a:t> your/ your partner’s work and </a:t>
            </a:r>
            <a:r>
              <a:rPr lang="en-GB" sz="2400" b="1" dirty="0">
                <a:solidFill>
                  <a:sysClr val="windowText" lastClr="000000"/>
                </a:solidFill>
              </a:rPr>
              <a:t>edit</a:t>
            </a:r>
            <a:r>
              <a:rPr lang="en-GB" sz="2400" dirty="0">
                <a:solidFill>
                  <a:sysClr val="windowText" lastClr="000000"/>
                </a:solidFill>
              </a:rPr>
              <a:t> any silly mistakes.</a:t>
            </a:r>
          </a:p>
          <a:p>
            <a:pPr marL="342900" indent="-342900">
              <a:buAutoNum type="arabicPeriod"/>
            </a:pPr>
            <a:r>
              <a:rPr lang="en-GB" sz="2400" b="1" dirty="0" smtClean="0">
                <a:solidFill>
                  <a:sysClr val="windowText" lastClr="000000"/>
                </a:solidFill>
              </a:rPr>
              <a:t>Identify</a:t>
            </a:r>
            <a:r>
              <a:rPr lang="en-GB" sz="2400" dirty="0" smtClean="0">
                <a:solidFill>
                  <a:sysClr val="windowText" lastClr="000000"/>
                </a:solidFill>
              </a:rPr>
              <a:t> what medal is </a:t>
            </a:r>
            <a:r>
              <a:rPr lang="en-GB" sz="2400" dirty="0">
                <a:solidFill>
                  <a:sysClr val="windowText" lastClr="000000"/>
                </a:solidFill>
              </a:rPr>
              <a:t>achieved and </a:t>
            </a:r>
            <a:r>
              <a:rPr lang="en-GB" sz="2400" b="1" dirty="0" smtClean="0">
                <a:solidFill>
                  <a:schemeClr val="tx1"/>
                </a:solidFill>
              </a:rPr>
              <a:t>highlight</a:t>
            </a:r>
            <a:r>
              <a:rPr lang="en-GB" sz="2400" dirty="0" smtClean="0">
                <a:solidFill>
                  <a:schemeClr val="tx1"/>
                </a:solidFill>
              </a:rPr>
              <a:t> </a:t>
            </a:r>
            <a:r>
              <a:rPr lang="en-GB" sz="2400" b="1" dirty="0" smtClean="0">
                <a:solidFill>
                  <a:schemeClr val="tx1"/>
                </a:solidFill>
              </a:rPr>
              <a:t>the evidence</a:t>
            </a:r>
            <a:r>
              <a:rPr lang="en-GB" sz="24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GB" sz="2400" b="1" dirty="0" smtClean="0">
                <a:solidFill>
                  <a:sysClr val="windowText" lastClr="000000"/>
                </a:solidFill>
              </a:rPr>
              <a:t>Assess</a:t>
            </a:r>
            <a:r>
              <a:rPr lang="en-GB" sz="2400" dirty="0" smtClean="0">
                <a:solidFill>
                  <a:sysClr val="windowText" lastClr="000000"/>
                </a:solidFill>
              </a:rPr>
              <a:t> the work by writing one of the below comments.</a:t>
            </a:r>
            <a:endParaRPr lang="en-GB" sz="2400" dirty="0">
              <a:solidFill>
                <a:sysClr val="windowText" lastClr="0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0" y="2256099"/>
            <a:ext cx="685061" cy="137012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513" y="2133784"/>
            <a:ext cx="8121013" cy="37177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0" y="124903"/>
            <a:ext cx="688908" cy="74377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85977" y="5857783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95307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24" b="25451"/>
          <a:stretch/>
        </p:blipFill>
        <p:spPr>
          <a:xfrm>
            <a:off x="130133" y="6104667"/>
            <a:ext cx="2271471" cy="5897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" y="619932"/>
            <a:ext cx="906116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Watch the video</a:t>
            </a:r>
          </a:p>
          <a:p>
            <a:pPr algn="ctr"/>
            <a:r>
              <a:rPr lang="en-GB" sz="2400" dirty="0" smtClean="0">
                <a:solidFill>
                  <a:srgbClr val="00B050"/>
                </a:solidFill>
              </a:rPr>
              <a:t>If you were director of the NHS, state what you would insist your nurses, doctors and patients do to reduce the MRSA spread </a:t>
            </a:r>
            <a:endParaRPr lang="en-GB" sz="2400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24334" y="6178373"/>
            <a:ext cx="579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Where coul</a:t>
            </a:r>
            <a:r>
              <a:rPr lang="en-US" dirty="0" smtClean="0"/>
              <a:t>d we find alternatives for antibiotics?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70481" y="124903"/>
            <a:ext cx="8890679" cy="49502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u="sng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To give examples of natural selection occurring in modern times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32619" y="2312703"/>
            <a:ext cx="8298426" cy="367514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 smtClean="0"/>
              <a:t>Doctors</a:t>
            </a:r>
          </a:p>
          <a:p>
            <a:r>
              <a:rPr lang="en-GB" dirty="0" smtClean="0"/>
              <a:t>Stop over prescribing antibiotics</a:t>
            </a:r>
          </a:p>
          <a:p>
            <a:r>
              <a:rPr lang="en-GB" dirty="0" smtClean="0"/>
              <a:t>Instruct all hospital staff to follow strict hygiene rules in hospital and GP surgery</a:t>
            </a:r>
          </a:p>
          <a:p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Nurses</a:t>
            </a:r>
          </a:p>
          <a:p>
            <a:r>
              <a:rPr lang="en-GB" dirty="0" smtClean="0"/>
              <a:t>Always wash hand between seeing patients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smtClean="0"/>
              <a:t>Patients</a:t>
            </a:r>
          </a:p>
          <a:p>
            <a:r>
              <a:rPr lang="en-GB" dirty="0" smtClean="0"/>
              <a:t>Only take antibiotics when urgently needed</a:t>
            </a:r>
          </a:p>
          <a:p>
            <a:r>
              <a:rPr lang="en-GB" dirty="0" smtClean="0"/>
              <a:t>Take the full course of antibiotics</a:t>
            </a:r>
          </a:p>
          <a:p>
            <a:r>
              <a:rPr lang="en-GB" dirty="0" smtClean="0"/>
              <a:t>Wash your hands </a:t>
            </a:r>
            <a:r>
              <a:rPr lang="en-GB" dirty="0" err="1" smtClean="0"/>
              <a:t>regularily</a:t>
            </a:r>
            <a:r>
              <a:rPr lang="en-GB" dirty="0" smtClean="0"/>
              <a:t> when in hospital</a:t>
            </a:r>
          </a:p>
        </p:txBody>
      </p:sp>
    </p:spTree>
    <p:extLst>
      <p:ext uri="{BB962C8B-B14F-4D97-AF65-F5344CB8AC3E}">
        <p14:creationId xmlns:p14="http://schemas.microsoft.com/office/powerpoint/2010/main" val="203065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24" b="25451"/>
          <a:stretch/>
        </p:blipFill>
        <p:spPr>
          <a:xfrm>
            <a:off x="130133" y="6104667"/>
            <a:ext cx="2271471" cy="5897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6231" y="1225386"/>
            <a:ext cx="4076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Self asses as a class</a:t>
            </a:r>
            <a:endParaRPr lang="en-GB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624333" y="6178373"/>
            <a:ext cx="664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does MRSA stand for?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70481" y="124903"/>
            <a:ext cx="8890679" cy="49502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u="sng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To give examples of natural selection occurring in modern times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458" y="704957"/>
            <a:ext cx="3844719" cy="54991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604" y="2466622"/>
            <a:ext cx="685061" cy="137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2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92863" y="4947388"/>
            <a:ext cx="8360999" cy="5191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u="sng" dirty="0">
                <a:solidFill>
                  <a:schemeClr val="tx1"/>
                </a:solidFill>
              </a:rPr>
              <a:t>PREP TASK</a:t>
            </a:r>
            <a:r>
              <a:rPr lang="en-GB" sz="2400" b="1" u="sng" dirty="0" smtClean="0">
                <a:solidFill>
                  <a:schemeClr val="tx1"/>
                </a:solidFill>
              </a:rPr>
              <a:t>:</a:t>
            </a:r>
            <a:r>
              <a:rPr lang="en-GB" sz="2400" b="1" dirty="0" smtClean="0">
                <a:solidFill>
                  <a:schemeClr val="tx1"/>
                </a:solidFill>
              </a:rPr>
              <a:t> Complete the exam questions</a:t>
            </a:r>
            <a:endParaRPr lang="en-GB" sz="2400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" y="4986291"/>
            <a:ext cx="709850" cy="6557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2822" y="906964"/>
            <a:ext cx="8241704" cy="1180913"/>
          </a:xfrm>
          <a:prstGeom prst="rect">
            <a:avLst/>
          </a:prstGeom>
          <a:solidFill>
            <a:srgbClr val="66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GB" sz="2400" b="1" dirty="0">
                <a:solidFill>
                  <a:sysClr val="windowText" lastClr="000000"/>
                </a:solidFill>
              </a:rPr>
              <a:t>Read</a:t>
            </a:r>
            <a:r>
              <a:rPr lang="en-GB" sz="2400" dirty="0">
                <a:solidFill>
                  <a:sysClr val="windowText" lastClr="000000"/>
                </a:solidFill>
              </a:rPr>
              <a:t> your/ your partner’s work and </a:t>
            </a:r>
            <a:r>
              <a:rPr lang="en-GB" sz="2400" b="1" dirty="0">
                <a:solidFill>
                  <a:sysClr val="windowText" lastClr="000000"/>
                </a:solidFill>
              </a:rPr>
              <a:t>edit</a:t>
            </a:r>
            <a:r>
              <a:rPr lang="en-GB" sz="2400" dirty="0">
                <a:solidFill>
                  <a:sysClr val="windowText" lastClr="000000"/>
                </a:solidFill>
              </a:rPr>
              <a:t> any silly mistakes.</a:t>
            </a:r>
          </a:p>
          <a:p>
            <a:pPr marL="342900" indent="-342900">
              <a:buAutoNum type="arabicPeriod"/>
            </a:pPr>
            <a:r>
              <a:rPr lang="en-GB" sz="2400" b="1" dirty="0" smtClean="0">
                <a:solidFill>
                  <a:sysClr val="windowText" lastClr="000000"/>
                </a:solidFill>
              </a:rPr>
              <a:t>Identify</a:t>
            </a:r>
            <a:r>
              <a:rPr lang="en-GB" sz="2400" dirty="0" smtClean="0">
                <a:solidFill>
                  <a:sysClr val="windowText" lastClr="000000"/>
                </a:solidFill>
              </a:rPr>
              <a:t> what medal is </a:t>
            </a:r>
            <a:r>
              <a:rPr lang="en-GB" sz="2400" dirty="0">
                <a:solidFill>
                  <a:sysClr val="windowText" lastClr="000000"/>
                </a:solidFill>
              </a:rPr>
              <a:t>achieved and </a:t>
            </a:r>
            <a:r>
              <a:rPr lang="en-GB" sz="2400" b="1" dirty="0" smtClean="0">
                <a:solidFill>
                  <a:schemeClr val="tx1"/>
                </a:solidFill>
              </a:rPr>
              <a:t>highlight</a:t>
            </a:r>
            <a:r>
              <a:rPr lang="en-GB" sz="2400" dirty="0" smtClean="0">
                <a:solidFill>
                  <a:schemeClr val="tx1"/>
                </a:solidFill>
              </a:rPr>
              <a:t> </a:t>
            </a:r>
            <a:r>
              <a:rPr lang="en-GB" sz="2400" b="1" dirty="0" smtClean="0">
                <a:solidFill>
                  <a:schemeClr val="tx1"/>
                </a:solidFill>
              </a:rPr>
              <a:t>the evidence</a:t>
            </a:r>
            <a:r>
              <a:rPr lang="en-GB" sz="24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GB" sz="2400" b="1" dirty="0" smtClean="0">
                <a:solidFill>
                  <a:sysClr val="windowText" lastClr="000000"/>
                </a:solidFill>
              </a:rPr>
              <a:t>Assess</a:t>
            </a:r>
            <a:r>
              <a:rPr lang="en-GB" sz="2400" dirty="0" smtClean="0">
                <a:solidFill>
                  <a:sysClr val="windowText" lastClr="000000"/>
                </a:solidFill>
              </a:rPr>
              <a:t> the work by writing one of the below comments.</a:t>
            </a:r>
            <a:endParaRPr lang="en-GB" sz="2400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3513" y="124903"/>
            <a:ext cx="7763255" cy="73615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LO: </a:t>
            </a:r>
            <a:r>
              <a:rPr lang="en-GB" sz="2400" dirty="0" smtClean="0">
                <a:solidFill>
                  <a:sysClr val="windowText" lastClr="000000"/>
                </a:solidFill>
                <a:uFill>
                  <a:solidFill>
                    <a:srgbClr val="FF0000"/>
                  </a:solidFill>
                </a:uFill>
              </a:rPr>
              <a:t>To learn how evolution happens through natural selection</a:t>
            </a:r>
            <a:endParaRPr lang="en-GB" sz="2400" dirty="0">
              <a:solidFill>
                <a:sysClr val="windowText" lastClr="000000"/>
              </a:solidFill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85977" y="5857783"/>
            <a:ext cx="8772041" cy="923330"/>
          </a:xfrm>
          <a:prstGeom prst="rect">
            <a:avLst/>
          </a:prstGeom>
          <a:solidFill>
            <a:srgbClr val="CC99FF"/>
          </a:solidFill>
        </p:spPr>
        <p:txBody>
          <a:bodyPr wrap="square">
            <a:spAutoFit/>
          </a:bodyPr>
          <a:lstStyle/>
          <a:p>
            <a:r>
              <a:rPr lang="en-GB" dirty="0"/>
              <a:t>Bronze: Describe what is meant by survival of the fittest (natural selection)</a:t>
            </a:r>
          </a:p>
          <a:p>
            <a:r>
              <a:rPr lang="en-GB" dirty="0"/>
              <a:t>Silver: Explain why survival of the fittest leads to evolution by natural selection</a:t>
            </a:r>
          </a:p>
          <a:p>
            <a:r>
              <a:rPr lang="en-GB" dirty="0"/>
              <a:t>Gold: Explain </a:t>
            </a:r>
            <a:r>
              <a:rPr lang="en-GB" dirty="0" smtClean="0"/>
              <a:t>the impact </a:t>
            </a:r>
            <a:r>
              <a:rPr lang="en-GB" dirty="0"/>
              <a:t>of the idea of evolution on modern biology</a:t>
            </a:r>
          </a:p>
        </p:txBody>
      </p:sp>
    </p:spTree>
    <p:extLst>
      <p:ext uri="{BB962C8B-B14F-4D97-AF65-F5344CB8AC3E}">
        <p14:creationId xmlns:p14="http://schemas.microsoft.com/office/powerpoint/2010/main" val="20447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A3BDA4A5DB7149A6F59F0ABD4A1502" ma:contentTypeVersion="12" ma:contentTypeDescription="Create a new document." ma:contentTypeScope="" ma:versionID="2e333e161bbc31ba2f34358b986c736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fefa9bea55d2fa40d32303509fe1c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34B2ED-BEDB-43D2-9CCE-7DC9419E3BBA}"/>
</file>

<file path=customXml/itemProps2.xml><?xml version="1.0" encoding="utf-8"?>
<ds:datastoreItem xmlns:ds="http://schemas.openxmlformats.org/officeDocument/2006/customXml" ds:itemID="{04D87977-CE1E-440C-98FF-8774E68F46A4}"/>
</file>

<file path=customXml/itemProps3.xml><?xml version="1.0" encoding="utf-8"?>
<ds:datastoreItem xmlns:ds="http://schemas.openxmlformats.org/officeDocument/2006/customXml" ds:itemID="{ABE53C18-3442-4BA4-8FFB-7B4AF58F295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21020</TotalTime>
  <Words>1516</Words>
  <Application>Microsoft Office PowerPoint</Application>
  <PresentationFormat>On-screen Show (4:3)</PresentationFormat>
  <Paragraphs>166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Drace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Camilla DENBY</dc:creator>
  <cp:lastModifiedBy>Amy Simpson</cp:lastModifiedBy>
  <cp:revision>81</cp:revision>
  <dcterms:created xsi:type="dcterms:W3CDTF">2014-09-26T09:08:59Z</dcterms:created>
  <dcterms:modified xsi:type="dcterms:W3CDTF">2016-10-21T12:16:30Z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0x0101003AA3BDA4A5DB7149A6F59F0ABD4A1502</vt:lpwstr>
  </property>
</Properties>
</file>