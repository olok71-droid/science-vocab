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jrug0U+DUZBOrfHDg1L0H4dKJe0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51DBA09-A5EB-4DB1-9AE9-297DF39F1A6C}">
  <a:tblStyle styleId="{651DBA09-A5EB-4DB1-9AE9-297DF39F1A6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/>
    </a:band2H>
    <a:band1V>
      <a:tcTxStyle/>
      <a:tcStyle>
        <a:tcBdr>
          <a:lef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/>
      <a:tcStyle>
        <a:tcBdr>
          <a:lef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3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8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8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104928" y="1182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{651DBA09-A5EB-4DB1-9AE9-297DF39F1A6C}</a:tableStyleId>
              </a:tblPr>
              <a:tblGrid>
                <a:gridCol w="4306950"/>
              </a:tblGrid>
              <a:tr h="444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/>
                        <a:t>Constructive Plate Margin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C000"/>
                    </a:solidFill>
                  </a:tcPr>
                </a:tc>
              </a:tr>
              <a:tr h="42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500" u="none" cap="none" strike="noStrike"/>
                        <a:t>Where two plates move apart from each other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839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500" u="sng" cap="none" strike="noStrike"/>
                        <a:t>Description</a:t>
                      </a:r>
                      <a:r>
                        <a:rPr b="0" lang="en-GB" sz="1500" u="none" cap="none" strike="noStrike"/>
                        <a:t>: At constructive plate margins two plates are moving away from each other, this is what is happening at the </a:t>
                      </a:r>
                      <a:r>
                        <a:rPr b="1" lang="en-GB" sz="1500" u="none" cap="none" strike="noStrike">
                          <a:solidFill>
                            <a:srgbClr val="FF0000"/>
                          </a:solidFill>
                        </a:rPr>
                        <a:t>Mid-Atlantic Ridge</a:t>
                      </a:r>
                      <a:r>
                        <a:rPr b="0" lang="en-GB" sz="1500" u="none" cap="none" strike="noStrike"/>
                        <a:t>. Magma here is forcing its way up to the surface. As it breaks through the overlying crust it causes earthquakes and on reaching the surface it forms volcanoes such as </a:t>
                      </a:r>
                      <a:r>
                        <a:rPr b="1" lang="en-GB" sz="1600" u="none" cap="none" strike="noStrike">
                          <a:solidFill>
                            <a:srgbClr val="FF0000"/>
                          </a:solidFill>
                        </a:rPr>
                        <a:t>Eyjafjallajökull</a:t>
                      </a:r>
                      <a:endParaRPr b="0" sz="15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5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500" u="none" cap="none" strike="noStrike"/>
                        <a:t>The magma at constructive plate boundaries </a:t>
                      </a:r>
                      <a:r>
                        <a:rPr b="1" lang="en-GB" sz="1500" u="none" cap="none" strike="noStrike">
                          <a:solidFill>
                            <a:srgbClr val="FF0000"/>
                          </a:solidFill>
                        </a:rPr>
                        <a:t>is very hot and fluid</a:t>
                      </a:r>
                      <a:r>
                        <a:rPr b="0" lang="en-GB" sz="1500" u="none" cap="none" strike="noStrike"/>
                        <a:t> and lava erupting from a volcano will travel a long way before cooling. </a:t>
                      </a:r>
                      <a:r>
                        <a:rPr b="1" lang="en-GB" sz="1500" u="none" cap="none" strike="noStrike">
                          <a:solidFill>
                            <a:srgbClr val="FF0000"/>
                          </a:solidFill>
                        </a:rPr>
                        <a:t>This results in typically broad and flat shield volcanoes.</a:t>
                      </a:r>
                      <a:endParaRPr b="1" sz="15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2815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85" name="Google Shape;85;p1"/>
          <p:cNvSpPr/>
          <p:nvPr/>
        </p:nvSpPr>
        <p:spPr>
          <a:xfrm>
            <a:off x="266645" y="6377729"/>
            <a:ext cx="254909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 of Aquifer Storage and Recovery</a:t>
            </a:r>
            <a:endParaRPr/>
          </a:p>
        </p:txBody>
      </p:sp>
      <p:graphicFrame>
        <p:nvGraphicFramePr>
          <p:cNvPr id="86" name="Google Shape;86;p1"/>
          <p:cNvGraphicFramePr/>
          <p:nvPr/>
        </p:nvGraphicFramePr>
        <p:xfrm>
          <a:off x="4592754" y="1082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{651DBA09-A5EB-4DB1-9AE9-297DF39F1A6C}</a:tableStyleId>
              </a:tblPr>
              <a:tblGrid>
                <a:gridCol w="4306950"/>
              </a:tblGrid>
              <a:tr h="45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cap="none" strike="noStrike"/>
                        <a:t>Destructive Plate Margin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C000"/>
                    </a:solidFill>
                  </a:tcPr>
                </a:tc>
              </a:tr>
              <a:tr h="431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 u="none" cap="none" strike="noStrike"/>
                        <a:t>Where two plates move towards one another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765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400" u="sng" cap="none" strike="noStrike"/>
                        <a:t>Description</a:t>
                      </a:r>
                      <a:r>
                        <a:rPr b="0" lang="en-GB" sz="1400" u="none" cap="none" strike="noStrike"/>
                        <a:t>: At a destructive plate margin two plates move towards one another such as the </a:t>
                      </a:r>
                      <a:r>
                        <a:rPr b="1" lang="en-GB" sz="1400" u="none" cap="none" strike="noStrike">
                          <a:solidFill>
                            <a:srgbClr val="FF0000"/>
                          </a:solidFill>
                        </a:rPr>
                        <a:t>west coast of South America</a:t>
                      </a:r>
                      <a:r>
                        <a:rPr b="0" lang="en-GB" sz="1400" u="none" cap="none" strike="noStrike"/>
                        <a:t>. Here, two plates meet and a </a:t>
                      </a:r>
                      <a:r>
                        <a:rPr b="1" lang="en-GB" sz="1400" u="none" cap="none" strike="noStrike">
                          <a:solidFill>
                            <a:srgbClr val="FF0000"/>
                          </a:solidFill>
                        </a:rPr>
                        <a:t>deep ocean trench is formed</a:t>
                      </a:r>
                      <a:r>
                        <a:rPr b="0" lang="en-GB" sz="1400" u="none" cap="none" strike="noStrike"/>
                        <a:t>. The oceanic (Nazca) plate which is denser, </a:t>
                      </a:r>
                      <a:r>
                        <a:rPr b="1" lang="en-GB" sz="1400" u="none" cap="none" strike="noStrike">
                          <a:solidFill>
                            <a:srgbClr val="FF0000"/>
                          </a:solidFill>
                        </a:rPr>
                        <a:t>is subducted </a:t>
                      </a:r>
                      <a:r>
                        <a:rPr b="0" lang="en-GB" sz="1400" u="none" cap="none" strike="noStrike"/>
                        <a:t>beneath the less dense continental  (South American) plate. Friction between the two plates causes </a:t>
                      </a:r>
                      <a:r>
                        <a:rPr b="1" i="0" lang="en-GB" sz="1400" u="none" cap="none" strike="noStrike">
                          <a:solidFill>
                            <a:srgbClr val="FF0000"/>
                          </a:solidFill>
                        </a:rPr>
                        <a:t>strong earthquakes</a:t>
                      </a:r>
                      <a:r>
                        <a:rPr b="0" lang="en-GB" sz="1400" u="none" cap="none" strike="noStrike"/>
                        <a:t>. As the oceanic plate moves downwards it melts. This creates magma which is less fluid than that at a constructive plate margin. It is forced to the surface to form </a:t>
                      </a:r>
                      <a:r>
                        <a:rPr b="1" lang="en-GB" sz="1400" u="none" cap="none" strike="noStrike">
                          <a:solidFill>
                            <a:srgbClr val="FF0000"/>
                          </a:solidFill>
                        </a:rPr>
                        <a:t>explosive composite volcanoes</a:t>
                      </a:r>
                      <a:r>
                        <a:rPr b="0" lang="en-GB" sz="1400" u="none" cap="none" strike="noStrike"/>
                        <a:t>. These erupt in a violent and unpredictable way.</a:t>
                      </a:r>
                      <a:endParaRPr b="1" sz="1400" u="none" cap="none" strike="noStrike"/>
                    </a:p>
                  </a:txBody>
                  <a:tcPr marT="45725" marB="45725" marR="91450" marL="91450"/>
                </a:tc>
              </a:tr>
              <a:tr h="288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87" name="Google Shape;87;p1"/>
          <p:cNvPicPr preferRelativeResize="0"/>
          <p:nvPr/>
        </p:nvPicPr>
        <p:blipFill rotWithShape="1">
          <a:blip r:embed="rId3">
            <a:alphaModFix/>
          </a:blip>
          <a:srcRect b="58571" l="1146" r="51751" t="3862"/>
          <a:stretch/>
        </p:blipFill>
        <p:spPr>
          <a:xfrm>
            <a:off x="199006" y="3942047"/>
            <a:ext cx="4118799" cy="2425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54053" l="47219" r="0" t="4486"/>
          <a:stretch/>
        </p:blipFill>
        <p:spPr>
          <a:xfrm>
            <a:off x="4638039" y="3964105"/>
            <a:ext cx="4261671" cy="2413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/>
          <p:cNvPicPr preferRelativeResize="0"/>
          <p:nvPr/>
        </p:nvPicPr>
        <p:blipFill rotWithShape="1">
          <a:blip r:embed="rId4">
            <a:alphaModFix/>
          </a:blip>
          <a:srcRect b="8159" l="0" r="0" t="0"/>
          <a:stretch/>
        </p:blipFill>
        <p:spPr>
          <a:xfrm>
            <a:off x="2913448" y="130556"/>
            <a:ext cx="497302" cy="387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55007" y="118269"/>
            <a:ext cx="497891" cy="412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4">
            <a:alphaModFix/>
          </a:blip>
          <a:srcRect b="8159" l="0" r="0" t="0"/>
          <a:stretch/>
        </p:blipFill>
        <p:spPr>
          <a:xfrm>
            <a:off x="7302977" y="120564"/>
            <a:ext cx="497302" cy="387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44536" y="108277"/>
            <a:ext cx="497891" cy="412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/>
          <p:cNvPicPr preferRelativeResize="0"/>
          <p:nvPr/>
        </p:nvPicPr>
        <p:blipFill rotWithShape="1">
          <a:blip r:embed="rId6">
            <a:alphaModFix/>
          </a:blip>
          <a:srcRect b="9259" l="0" r="0" t="0"/>
          <a:stretch/>
        </p:blipFill>
        <p:spPr>
          <a:xfrm>
            <a:off x="8372417" y="130556"/>
            <a:ext cx="497302" cy="4183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8" name="Google Shape;98;p2"/>
          <p:cNvGraphicFramePr/>
          <p:nvPr/>
        </p:nvGraphicFramePr>
        <p:xfrm>
          <a:off x="104928" y="1182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{651DBA09-A5EB-4DB1-9AE9-297DF39F1A6C}</a:tableStyleId>
              </a:tblPr>
              <a:tblGrid>
                <a:gridCol w="4306950"/>
              </a:tblGrid>
              <a:tr h="444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/>
                        <a:t>Collision Plate Margin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C000"/>
                    </a:solidFill>
                  </a:tcPr>
                </a:tc>
              </a:tr>
              <a:tr h="42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500" u="none" cap="none" strike="noStrike"/>
                        <a:t>Where two continental plates move together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839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500" u="sng" cap="none" strike="noStrike"/>
                        <a:t>Description</a:t>
                      </a:r>
                      <a:r>
                        <a:rPr b="0" lang="en-GB" sz="1500" u="none" cap="none" strike="noStrike"/>
                        <a:t>: Where two continental plates meet they are </a:t>
                      </a:r>
                      <a:r>
                        <a:rPr b="1" lang="en-GB" sz="1500" u="none" cap="none" strike="noStrike">
                          <a:solidFill>
                            <a:srgbClr val="FF0000"/>
                          </a:solidFill>
                        </a:rPr>
                        <a:t>both of a similar density </a:t>
                      </a:r>
                      <a:r>
                        <a:rPr b="0" lang="en-GB" sz="1500" u="none" cap="none" strike="noStrike"/>
                        <a:t>so no plate is subducted. Instead, the two plates collide and the crust of both plates becomes </a:t>
                      </a:r>
                      <a:r>
                        <a:rPr b="1" lang="en-GB" sz="1500" u="none" cap="none" strike="noStrike">
                          <a:solidFill>
                            <a:srgbClr val="FF0000"/>
                          </a:solidFill>
                        </a:rPr>
                        <a:t>crumpled and uplifted. </a:t>
                      </a:r>
                      <a:r>
                        <a:rPr b="0" lang="en-GB" sz="1500" u="none" cap="none" strike="noStrike"/>
                        <a:t>This collision forms </a:t>
                      </a:r>
                      <a:r>
                        <a:rPr b="1" lang="en-GB" sz="1500" u="none" cap="none" strike="noStrike">
                          <a:solidFill>
                            <a:srgbClr val="FF0000"/>
                          </a:solidFill>
                        </a:rPr>
                        <a:t>fold mountains such as the Himalayas</a:t>
                      </a:r>
                      <a:r>
                        <a:rPr b="0" lang="en-GB" sz="1500" u="none" cap="none" strike="noStrike"/>
                        <a:t>. These mountain-building processes cause earthquakes. There are no volcanoes at these plate margins as no new magma is formed or forced to rise to the surface.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500" u="none" cap="none" strike="noStrike"/>
                    </a:p>
                  </a:txBody>
                  <a:tcPr marT="45725" marB="45725" marR="91450" marL="91450"/>
                </a:tc>
              </a:tr>
              <a:tr h="2815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99" name="Google Shape;99;p2"/>
          <p:cNvSpPr/>
          <p:nvPr/>
        </p:nvSpPr>
        <p:spPr>
          <a:xfrm>
            <a:off x="266645" y="6377729"/>
            <a:ext cx="254909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 of Aquifer Storage and Recovery</a:t>
            </a:r>
            <a:endParaRPr/>
          </a:p>
        </p:txBody>
      </p:sp>
      <p:graphicFrame>
        <p:nvGraphicFramePr>
          <p:cNvPr id="100" name="Google Shape;100;p2"/>
          <p:cNvGraphicFramePr/>
          <p:nvPr/>
        </p:nvGraphicFramePr>
        <p:xfrm>
          <a:off x="4592754" y="1082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{651DBA09-A5EB-4DB1-9AE9-297DF39F1A6C}</a:tableStyleId>
              </a:tblPr>
              <a:tblGrid>
                <a:gridCol w="4306950"/>
              </a:tblGrid>
              <a:tr h="45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cap="none" strike="noStrike"/>
                        <a:t>Conservative Plate Margin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C000"/>
                    </a:solidFill>
                  </a:tcPr>
                </a:tc>
              </a:tr>
              <a:tr h="431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 u="none" cap="none" strike="noStrike"/>
                        <a:t>Where two plates are moving past each other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765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400" u="sng" cap="none" strike="noStrike"/>
                        <a:t>Description</a:t>
                      </a:r>
                      <a:r>
                        <a:rPr b="0" lang="en-GB" sz="1400" u="none" cap="none" strike="noStrike"/>
                        <a:t>: At conservative plate margins, two plates are moving past each other. </a:t>
                      </a:r>
                      <a:r>
                        <a:rPr b="1" lang="en-GB" sz="1400" u="none" cap="none" strike="noStrike">
                          <a:solidFill>
                            <a:srgbClr val="FF0000"/>
                          </a:solidFill>
                        </a:rPr>
                        <a:t>Friction </a:t>
                      </a:r>
                      <a:r>
                        <a:rPr b="0" lang="en-GB" sz="1400" u="none" cap="none" strike="noStrike"/>
                        <a:t>between the plates then causes earthquakes. A well-known example is the </a:t>
                      </a:r>
                      <a:r>
                        <a:rPr b="1" lang="en-GB" sz="1400" u="none" cap="none" strike="noStrike">
                          <a:solidFill>
                            <a:srgbClr val="FF0000"/>
                          </a:solidFill>
                        </a:rPr>
                        <a:t>San Andreas Fault in California, USA</a:t>
                      </a:r>
                      <a:r>
                        <a:rPr b="0" lang="en-GB" sz="1400" u="none" cap="none" strike="noStrike">
                          <a:solidFill>
                            <a:srgbClr val="FF0000"/>
                          </a:solidFill>
                        </a:rPr>
                        <a:t>. </a:t>
                      </a:r>
                      <a:r>
                        <a:rPr b="0" lang="en-GB" sz="1400" u="none" cap="none" strike="noStrike"/>
                        <a:t>The faster moving Pacific Plate is moving in the same direction as the slower moving North American Plate.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400" u="none" cap="none" strike="noStrike"/>
                        <a:t>  Earthquakes happen along conservative plate margins as </a:t>
                      </a:r>
                      <a:r>
                        <a:rPr b="1" lang="en-GB" sz="1400" u="none" cap="none" strike="noStrike">
                          <a:solidFill>
                            <a:srgbClr val="FF0000"/>
                          </a:solidFill>
                        </a:rPr>
                        <a:t>stress gradually builds up in the crust </a:t>
                      </a:r>
                      <a:r>
                        <a:rPr b="0" lang="en-GB" sz="1400" u="none" cap="none" strike="noStrike"/>
                        <a:t>over many years. They can be destructive as they </a:t>
                      </a:r>
                      <a:r>
                        <a:rPr b="1" lang="en-GB" sz="1400" u="none" cap="none" strike="noStrike">
                          <a:solidFill>
                            <a:srgbClr val="FF0000"/>
                          </a:solidFill>
                        </a:rPr>
                        <a:t>are close to the earth’s surface</a:t>
                      </a:r>
                      <a:r>
                        <a:rPr b="0" lang="en-GB" sz="1400" u="none" cap="none" strike="noStrike"/>
                        <a:t>. This stress is released suddenly when the plates slip and shift. There are no volcanoes as there is no magma.</a:t>
                      </a:r>
                      <a:endParaRPr b="1" sz="1400" u="none" cap="none" strike="noStrike"/>
                    </a:p>
                  </a:txBody>
                  <a:tcPr marT="45725" marB="45725" marR="91450" marL="91450"/>
                </a:tc>
              </a:tr>
              <a:tr h="288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101" name="Google Shape;101;p2"/>
          <p:cNvPicPr preferRelativeResize="0"/>
          <p:nvPr/>
        </p:nvPicPr>
        <p:blipFill rotWithShape="1">
          <a:blip r:embed="rId3">
            <a:alphaModFix/>
          </a:blip>
          <a:srcRect b="4323" l="50722" r="2175" t="55389"/>
          <a:stretch/>
        </p:blipFill>
        <p:spPr>
          <a:xfrm>
            <a:off x="4675436" y="4000440"/>
            <a:ext cx="4141592" cy="2638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"/>
          <p:cNvPicPr preferRelativeResize="0"/>
          <p:nvPr/>
        </p:nvPicPr>
        <p:blipFill rotWithShape="1">
          <a:blip r:embed="rId3">
            <a:alphaModFix/>
          </a:blip>
          <a:srcRect b="4323" l="0" r="48869" t="54362"/>
          <a:stretch/>
        </p:blipFill>
        <p:spPr>
          <a:xfrm>
            <a:off x="180160" y="4000440"/>
            <a:ext cx="4148898" cy="2366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"/>
          <p:cNvPicPr preferRelativeResize="0"/>
          <p:nvPr/>
        </p:nvPicPr>
        <p:blipFill rotWithShape="1">
          <a:blip r:embed="rId4">
            <a:alphaModFix/>
          </a:blip>
          <a:srcRect b="8159" l="0" r="0" t="0"/>
          <a:stretch/>
        </p:blipFill>
        <p:spPr>
          <a:xfrm>
            <a:off x="2913448" y="130556"/>
            <a:ext cx="497302" cy="387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"/>
          <p:cNvPicPr preferRelativeResize="0"/>
          <p:nvPr/>
        </p:nvPicPr>
        <p:blipFill rotWithShape="1">
          <a:blip r:embed="rId4">
            <a:alphaModFix/>
          </a:blip>
          <a:srcRect b="8159" l="0" r="0" t="0"/>
          <a:stretch/>
        </p:blipFill>
        <p:spPr>
          <a:xfrm>
            <a:off x="7439065" y="130556"/>
            <a:ext cx="497302" cy="387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"/>
          <p:cNvPicPr preferRelativeResize="0"/>
          <p:nvPr/>
        </p:nvPicPr>
        <p:blipFill rotWithShape="1">
          <a:blip r:embed="rId5">
            <a:alphaModFix/>
          </a:blip>
          <a:srcRect b="9259" l="0" r="0" t="0"/>
          <a:stretch/>
        </p:blipFill>
        <p:spPr>
          <a:xfrm>
            <a:off x="3523674" y="139209"/>
            <a:ext cx="497302" cy="4183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2019-11-12T20:30:06Z</dcterms:created>
  <dc:creator>Sarah Blackwell</dc:creator>
</cp:coreProperties>
</file>