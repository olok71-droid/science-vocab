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atrick Hand"/>
      <p:regular r:id="rId8"/>
    </p:embeddedFont>
    <p:embeddedFont>
      <p:font typeface="Poppins"/>
      <p:regular r:id="rId9"/>
      <p:bold r:id="rId10"/>
      <p:italic r:id="rId11"/>
      <p:boldItalic r:id="rId12"/>
    </p:embeddedFont>
    <p:embeddedFont>
      <p:font typeface="Fugaz One"/>
      <p:regular r:id="rId13"/>
    </p:embeddedFont>
    <p:embeddedFont>
      <p:font typeface="Baumans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94163B-2FEE-4194-B6DF-2A926FAC809A}">
  <a:tblStyle styleId="{D694163B-2FEE-4194-B6DF-2A926FAC80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FugazOne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Poppins-regular.fntdata"/><Relationship Id="rId14" Type="http://schemas.openxmlformats.org/officeDocument/2006/relationships/font" Target="fonts/Baum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atrickH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bd8c3df1_0_35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bd8c3df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13" Type="http://schemas.openxmlformats.org/officeDocument/2006/relationships/image" Target="../media/image11.gif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gif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9037" y="123300"/>
            <a:ext cx="6621000" cy="889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502" y="3234011"/>
            <a:ext cx="1249628" cy="77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24290" l="0" r="0" t="17179"/>
          <a:stretch/>
        </p:blipFill>
        <p:spPr>
          <a:xfrm rot="5400000">
            <a:off x="6202537" y="8421775"/>
            <a:ext cx="995550" cy="2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6537" y="123300"/>
            <a:ext cx="66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Baumans"/>
                <a:ea typeface="Baumans"/>
                <a:cs typeface="Baumans"/>
                <a:sym typeface="Baumans"/>
              </a:rPr>
              <a:t>Volcanic Hazards</a:t>
            </a:r>
            <a:endParaRPr b="1">
              <a:solidFill>
                <a:srgbClr val="00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graphicFrame>
        <p:nvGraphicFramePr>
          <p:cNvPr id="58" name="Google Shape;58;p13"/>
          <p:cNvGraphicFramePr/>
          <p:nvPr/>
        </p:nvGraphicFramePr>
        <p:xfrm>
          <a:off x="157375" y="48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{D694163B-2FEE-4194-B6DF-2A926FAC809A}</a:tableStyleId>
              </a:tblPr>
              <a:tblGrid>
                <a:gridCol w="1082350"/>
                <a:gridCol w="4490025"/>
                <a:gridCol w="869375"/>
              </a:tblGrid>
              <a:tr h="31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Hazard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Description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Picture</a:t>
                      </a:r>
                      <a:endParaRPr b="1"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Volcanic bombs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Large pieces of rock and lava thrown out of a volcano at high speeds during an eruption.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Volcanic ash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Tiny pieces of rock and volcanic glass thrown into the air during an eruption. They can be inhaled and damage lungs, buildings and power lines.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Pyroclastic flow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fast-moving, extremely hot cloud of gas, ash and volcanic material that can destroy everything in its path.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Lahar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A mix of water, mud, ash and rocks that rushes quickly down the side of a volcano or river valley.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Tsunami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Huge ocean waves caused by underwater volcanic eruptions that can travel across oceans and destroy coastal areas.</a:t>
                      </a:r>
                      <a:endParaRPr b="1" sz="100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3750" y="153313"/>
            <a:ext cx="305375" cy="3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52525" y="4045025"/>
            <a:ext cx="64416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Activity 2: Fill in the blanks with the correct words below: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(social, economic,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kill,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bridges, 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environmental,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buildings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 volcanic bombs, lahar,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flood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, pyroclastic flow,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breathing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, volcanic ash, tsunami,  roads, </a:t>
            </a:r>
            <a:r>
              <a:rPr b="1" lang="en" sz="1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habitats, homes</a:t>
            </a:r>
            <a:r>
              <a:rPr b="1" lang="en" sz="1000"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 b="1" sz="1000"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A __________________ is a mixture of water, mud, ash and rocks that flows quickly down the side of a volcano. It can destroy _________ and __________. This is mainly an __________________ impact.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A __________________ is a huge ocean wave caused by an underwater volcanic eruption. It can _____coastal areas and destroy __________. This is an __________________ impact.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__________________ is made up of tiny pieces of rock and volcanic glass. It can be breathed in and cause __________ problems. This is a __________________ impact.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____________________ are large pieces of rock or lava thrown out of a volcano. They can damage _____________ and vehicles. This is mainly an __________________ impact.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A __________________ is a very hot, fast-moving mixture of gas, ash and volcanic material. It can _______ people and destroy ________. This is mainly a __________________ impact.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07613" y="7559525"/>
            <a:ext cx="5889900" cy="65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Volcanic hazards have a greater social/ economic/ environmental impact because </a:t>
            </a:r>
            <a:endParaRPr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__________________________________________________________________________________________________________________________</a:t>
            </a:r>
            <a:endParaRPr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2" name="Google Shape;62;p13"/>
          <p:cNvGrpSpPr/>
          <p:nvPr/>
        </p:nvGrpSpPr>
        <p:grpSpPr>
          <a:xfrm>
            <a:off x="109486" y="7592416"/>
            <a:ext cx="517869" cy="590332"/>
            <a:chOff x="5313625" y="1569463"/>
            <a:chExt cx="1136175" cy="1330475"/>
          </a:xfrm>
        </p:grpSpPr>
        <p:pic>
          <p:nvPicPr>
            <p:cNvPr id="63" name="Google Shape;6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92550" y="1569463"/>
              <a:ext cx="1057250" cy="1330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moke is coming out of a hole in the ground on a white background . (Provided by Tenor)" id="64" name="Google Shape;64;p13"/>
            <p:cNvPicPr preferRelativeResize="0"/>
            <p:nvPr/>
          </p:nvPicPr>
          <p:blipFill rotWithShape="1">
            <a:blip r:embed="rId7">
              <a:alphaModFix/>
            </a:blip>
            <a:srcRect b="0" l="42413" r="0" t="17925"/>
            <a:stretch/>
          </p:blipFill>
          <p:spPr>
            <a:xfrm>
              <a:off x="5313625" y="1650525"/>
              <a:ext cx="418000" cy="604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" name="Google Shape;6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0338" y="3233974"/>
            <a:ext cx="1253873" cy="77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4837" y="3233982"/>
            <a:ext cx="1253876" cy="77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52588" y="3233989"/>
            <a:ext cx="1253875" cy="77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Hot_lahar_at_Santiaguito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98719" y="3231320"/>
            <a:ext cx="1253864" cy="7836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244833" y="3234003"/>
            <a:ext cx="24720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Fugaz One"/>
                <a:ea typeface="Fugaz One"/>
                <a:cs typeface="Fugaz One"/>
                <a:sym typeface="Fugaz One"/>
              </a:rPr>
              <a:t>A</a:t>
            </a:r>
            <a:endParaRPr i="0" sz="1200" u="none" cap="none" strike="noStrike">
              <a:solidFill>
                <a:srgbClr val="000000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498721" y="3234003"/>
            <a:ext cx="24720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Fugaz One"/>
                <a:ea typeface="Fugaz One"/>
                <a:cs typeface="Fugaz One"/>
                <a:sym typeface="Fugaz One"/>
              </a:rPr>
              <a:t>B</a:t>
            </a:r>
            <a:endParaRPr i="0" sz="1200" u="none" cap="none" strike="noStrike">
              <a:solidFill>
                <a:srgbClr val="000000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752608" y="3234003"/>
            <a:ext cx="24720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Fugaz One"/>
                <a:ea typeface="Fugaz One"/>
                <a:cs typeface="Fugaz One"/>
                <a:sym typeface="Fugaz One"/>
              </a:rPr>
              <a:t>C</a:t>
            </a:r>
            <a:endParaRPr i="0" sz="1200" u="none" cap="none" strike="noStrike">
              <a:solidFill>
                <a:srgbClr val="000000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006483" y="3234003"/>
            <a:ext cx="24720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Fugaz One"/>
                <a:ea typeface="Fugaz One"/>
                <a:cs typeface="Fugaz One"/>
                <a:sym typeface="Fugaz One"/>
              </a:rPr>
              <a:t>D</a:t>
            </a:r>
            <a:endParaRPr i="0" sz="1200" u="none" cap="none" strike="noStrike">
              <a:solidFill>
                <a:srgbClr val="000000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260358" y="3234003"/>
            <a:ext cx="247200" cy="25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Fugaz One"/>
                <a:ea typeface="Fugaz One"/>
                <a:cs typeface="Fugaz One"/>
                <a:sym typeface="Fugaz One"/>
              </a:rPr>
              <a:t>E</a:t>
            </a:r>
            <a:endParaRPr i="0" sz="1200" u="none" cap="none" strike="noStrike">
              <a:solidFill>
                <a:srgbClr val="000000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grpSp>
        <p:nvGrpSpPr>
          <p:cNvPr id="74" name="Google Shape;74;p13"/>
          <p:cNvGrpSpPr/>
          <p:nvPr/>
        </p:nvGrpSpPr>
        <p:grpSpPr>
          <a:xfrm>
            <a:off x="6076197" y="8284203"/>
            <a:ext cx="517937" cy="590352"/>
            <a:chOff x="5426175" y="139294"/>
            <a:chExt cx="946695" cy="1152356"/>
          </a:xfrm>
        </p:grpSpPr>
        <p:pic>
          <p:nvPicPr>
            <p:cNvPr id="75" name="Google Shape;75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469469" y="139300"/>
              <a:ext cx="903401" cy="1152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artoon drawing of a fire with a flame coming out of it (Provided by Tenor)" id="76" name="Google Shape;76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426175" y="139294"/>
              <a:ext cx="341075" cy="3917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3"/>
          <p:cNvSpPr txBox="1"/>
          <p:nvPr/>
        </p:nvSpPr>
        <p:spPr>
          <a:xfrm>
            <a:off x="152525" y="8251325"/>
            <a:ext cx="5889900" cy="65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The most dangerous volcanic hazard is __________________________________</a:t>
            </a:r>
            <a:endParaRPr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This is because __________________________________________________</a:t>
            </a:r>
            <a:endParaRPr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</a:t>
            </a:r>
            <a:endParaRPr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