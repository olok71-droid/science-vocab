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9" r:id="rId4"/>
    <p:sldId id="260" r:id="rId5"/>
    <p:sldId id="258" r:id="rId6"/>
  </p:sldIdLst>
  <p:sldSz cx="6858000" cy="9144000" type="screen4x3"/>
  <p:notesSz cx="6858000" cy="9144000"/>
  <p:embeddedFontLst>
    <p:embeddedFont>
      <p:font typeface="Edu TAS Beginner" pitchFamily="2" charset="0"/>
      <p:regular r:id="rId8"/>
      <p:bold r:id="rId9"/>
    </p:embeddedFont>
    <p:embeddedFont>
      <p:font typeface="Patrick Hand" pitchFamily="2" charset="77"/>
      <p:regular r:id="rId10"/>
    </p:embeddedFont>
    <p:embeddedFont>
      <p:font typeface="Poppins" pitchFamily="2" charset="77"/>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747775"/>
          </p15:clr>
        </p15:guide>
        <p15:guide id="2" pos="21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7C2CB3-2275-416A-9CFA-9788671744E1}">
  <a:tblStyle styleId="{297C2CB3-2275-416A-9CFA-9788671744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p:restoredTop sz="94675"/>
  </p:normalViewPr>
  <p:slideViewPr>
    <p:cSldViewPr snapToGrid="0">
      <p:cViewPr varScale="1">
        <p:scale>
          <a:sx n="89" d="100"/>
          <a:sy n="89" d="100"/>
        </p:scale>
        <p:origin x="2416" y="17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43447" y="685800"/>
            <a:ext cx="2571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143447" y="685800"/>
            <a:ext cx="25719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h70b16cd940ddf040_0_0:notes"/>
          <p:cNvSpPr>
            <a:spLocks noGrp="1" noRot="1" noChangeAspect="1"/>
          </p:cNvSpPr>
          <p:nvPr>
            <p:ph type="sldImg" idx="2"/>
          </p:nvPr>
        </p:nvSpPr>
        <p:spPr>
          <a:xfrm>
            <a:off x="2143447" y="685800"/>
            <a:ext cx="25719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h70b16cd940ddf0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7f9d2492d2_0_0: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7f9d2492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33781" y="1323689"/>
            <a:ext cx="6390300" cy="36492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33775" y="5038444"/>
            <a:ext cx="6390300" cy="1409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775" y="3823733"/>
            <a:ext cx="6390300" cy="1496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33775" y="791156"/>
            <a:ext cx="6390300" cy="10182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33775" y="2048844"/>
            <a:ext cx="6390300" cy="60735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33775" y="791156"/>
            <a:ext cx="6390300" cy="10182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33775" y="2048844"/>
            <a:ext cx="3000000" cy="6073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3624300" y="2048844"/>
            <a:ext cx="3000000" cy="6073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33775" y="791156"/>
            <a:ext cx="6390300" cy="10182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33775" y="987733"/>
            <a:ext cx="2106000" cy="134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33775" y="2470400"/>
            <a:ext cx="2106000" cy="5652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67688" y="800267"/>
            <a:ext cx="4776000" cy="7272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429000" y="-222"/>
            <a:ext cx="3429000" cy="9144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199125" y="2192311"/>
            <a:ext cx="3033900" cy="2635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199125" y="4983244"/>
            <a:ext cx="3033900" cy="2195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3704625" y="1287244"/>
            <a:ext cx="2877900" cy="6569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33775" y="7521022"/>
            <a:ext cx="4499100" cy="1075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33775" y="1966444"/>
            <a:ext cx="6390300" cy="34908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33775" y="5603956"/>
            <a:ext cx="6390300" cy="23124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6354343" y="8290163"/>
            <a:ext cx="411600" cy="699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91156"/>
            <a:ext cx="6390300" cy="1018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33775" y="2048844"/>
            <a:ext cx="6390300" cy="60735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6354343" y="8290163"/>
            <a:ext cx="411600" cy="699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25725" y="59775"/>
            <a:ext cx="6610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u="sng">
                <a:solidFill>
                  <a:schemeClr val="dk1"/>
                </a:solidFill>
                <a:latin typeface="Poppins"/>
                <a:ea typeface="Poppins"/>
                <a:cs typeface="Poppins"/>
                <a:sym typeface="Poppins"/>
              </a:rPr>
              <a:t>Germany’s Militarism and Preventative War</a:t>
            </a:r>
            <a:endParaRPr sz="1200">
              <a:latin typeface="Poppins"/>
              <a:ea typeface="Poppins"/>
              <a:cs typeface="Poppins"/>
              <a:sym typeface="Poppins"/>
            </a:endParaRPr>
          </a:p>
        </p:txBody>
      </p:sp>
      <p:sp>
        <p:nvSpPr>
          <p:cNvPr id="55" name="Google Shape;55;p13"/>
          <p:cNvSpPr txBox="1"/>
          <p:nvPr/>
        </p:nvSpPr>
        <p:spPr>
          <a:xfrm>
            <a:off x="123925" y="429063"/>
            <a:ext cx="54444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Poppins"/>
                <a:ea typeface="Poppins"/>
                <a:cs typeface="Poppins"/>
                <a:sym typeface="Poppins"/>
              </a:rPr>
              <a:t>In 1914, Germany planned to use preventive war, which means attacking first to stop others from attacking them. This strategy actually made war more likely, because other countries saw the threat and started preparing their armies, making an arms race worse.</a:t>
            </a:r>
            <a:endParaRPr sz="1200" dirty="0">
              <a:latin typeface="Poppins"/>
              <a:ea typeface="Poppins"/>
              <a:cs typeface="Poppins"/>
              <a:sym typeface="Poppins"/>
            </a:endParaRPr>
          </a:p>
        </p:txBody>
      </p:sp>
      <p:sp>
        <p:nvSpPr>
          <p:cNvPr id="56" name="Google Shape;56;p13"/>
          <p:cNvSpPr txBox="1"/>
          <p:nvPr/>
        </p:nvSpPr>
        <p:spPr>
          <a:xfrm>
            <a:off x="1374613" y="1592538"/>
            <a:ext cx="5361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Poppins"/>
                <a:ea typeface="Poppins"/>
                <a:cs typeface="Poppins"/>
                <a:sym typeface="Poppins"/>
              </a:rPr>
              <a:t>Germany was worried about being surrounded by strong neighbors like France and Russia, especially since Russia was modernising its army with help from France. Thinking war was unavoidable and time was running out, Germany’s use of preventive war increased tensions in Europe.</a:t>
            </a:r>
            <a:endParaRPr sz="1200">
              <a:latin typeface="Poppins"/>
              <a:ea typeface="Poppins"/>
              <a:cs typeface="Poppins"/>
              <a:sym typeface="Poppins"/>
            </a:endParaRPr>
          </a:p>
        </p:txBody>
      </p:sp>
      <p:pic>
        <p:nvPicPr>
          <p:cNvPr id="57" name="Google Shape;57;p13" title="Gemini_Generated_Image_r4j35kr4j35kr4j3.png"/>
          <p:cNvPicPr preferRelativeResize="0"/>
          <p:nvPr/>
        </p:nvPicPr>
        <p:blipFill>
          <a:blip r:embed="rId3">
            <a:alphaModFix/>
          </a:blip>
          <a:stretch>
            <a:fillRect/>
          </a:stretch>
        </p:blipFill>
        <p:spPr>
          <a:xfrm>
            <a:off x="5568453" y="400339"/>
            <a:ext cx="1165624" cy="1165650"/>
          </a:xfrm>
          <a:prstGeom prst="rect">
            <a:avLst/>
          </a:prstGeom>
          <a:noFill/>
          <a:ln>
            <a:noFill/>
          </a:ln>
        </p:spPr>
      </p:pic>
      <p:sp>
        <p:nvSpPr>
          <p:cNvPr id="58" name="Google Shape;58;p13"/>
          <p:cNvSpPr txBox="1"/>
          <p:nvPr/>
        </p:nvSpPr>
        <p:spPr>
          <a:xfrm>
            <a:off x="123925" y="2729450"/>
            <a:ext cx="54444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Poppins"/>
                <a:ea typeface="Poppins"/>
                <a:cs typeface="Poppins"/>
                <a:sym typeface="Poppins"/>
              </a:rPr>
              <a:t>Germany’s militarism under Kaiser Wilhelm II showed how aggressive the country was. The </a:t>
            </a:r>
            <a:r>
              <a:rPr lang="en" sz="1200" dirty="0" err="1">
                <a:latin typeface="Poppins"/>
                <a:ea typeface="Poppins"/>
                <a:cs typeface="Poppins"/>
                <a:sym typeface="Poppins"/>
              </a:rPr>
              <a:t>Zabern</a:t>
            </a:r>
            <a:r>
              <a:rPr lang="en" sz="1200" dirty="0">
                <a:latin typeface="Poppins"/>
                <a:ea typeface="Poppins"/>
                <a:cs typeface="Poppins"/>
                <a:sym typeface="Poppins"/>
              </a:rPr>
              <a:t> affair in 1913, when a German officer in Alsace treated civilians badly without punishment, showed how powerful the military was. The army could act on its own, even breaking the law. </a:t>
            </a:r>
            <a:endParaRPr sz="1200" dirty="0">
              <a:latin typeface="Poppins"/>
              <a:ea typeface="Poppins"/>
              <a:cs typeface="Poppins"/>
              <a:sym typeface="Poppins"/>
            </a:endParaRPr>
          </a:p>
        </p:txBody>
      </p:sp>
      <p:sp>
        <p:nvSpPr>
          <p:cNvPr id="59" name="Google Shape;59;p13"/>
          <p:cNvSpPr txBox="1"/>
          <p:nvPr/>
        </p:nvSpPr>
        <p:spPr>
          <a:xfrm>
            <a:off x="1291500" y="3892888"/>
            <a:ext cx="54444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Poppins"/>
                <a:ea typeface="Poppins"/>
                <a:cs typeface="Poppins"/>
                <a:sym typeface="Poppins"/>
              </a:rPr>
              <a:t>Unlike in France and Britain, where governments controlled the army, Germany’s leaders allowed the military to act independently. Combined with Wilhelm’s impulsive and undiplomatic behaviour, Germany’s focus on preventive war was a major reason Europe moved closer to World War I.</a:t>
            </a:r>
            <a:endParaRPr sz="1200">
              <a:solidFill>
                <a:schemeClr val="dk1"/>
              </a:solidFill>
              <a:latin typeface="Poppins"/>
              <a:ea typeface="Poppins"/>
              <a:cs typeface="Poppins"/>
              <a:sym typeface="Poppins"/>
            </a:endParaRPr>
          </a:p>
        </p:txBody>
      </p:sp>
      <p:pic>
        <p:nvPicPr>
          <p:cNvPr id="60" name="Google Shape;60;p13" title="Gemini_Generated_Image_g81dmxg81dmxg81d.png"/>
          <p:cNvPicPr preferRelativeResize="0"/>
          <p:nvPr/>
        </p:nvPicPr>
        <p:blipFill>
          <a:blip r:embed="rId4">
            <a:alphaModFix/>
          </a:blip>
          <a:stretch>
            <a:fillRect/>
          </a:stretch>
        </p:blipFill>
        <p:spPr>
          <a:xfrm>
            <a:off x="125739" y="1563814"/>
            <a:ext cx="1165624" cy="1165624"/>
          </a:xfrm>
          <a:prstGeom prst="rect">
            <a:avLst/>
          </a:prstGeom>
          <a:noFill/>
          <a:ln>
            <a:noFill/>
          </a:ln>
        </p:spPr>
      </p:pic>
      <p:pic>
        <p:nvPicPr>
          <p:cNvPr id="61" name="Google Shape;61;p13" title="Gemini_Generated_Image_wejnirwejnirwejn.png"/>
          <p:cNvPicPr preferRelativeResize="0"/>
          <p:nvPr/>
        </p:nvPicPr>
        <p:blipFill>
          <a:blip r:embed="rId5">
            <a:alphaModFix/>
          </a:blip>
          <a:stretch>
            <a:fillRect/>
          </a:stretch>
        </p:blipFill>
        <p:spPr>
          <a:xfrm>
            <a:off x="5568450" y="2702925"/>
            <a:ext cx="1165624" cy="1165650"/>
          </a:xfrm>
          <a:prstGeom prst="rect">
            <a:avLst/>
          </a:prstGeom>
          <a:noFill/>
          <a:ln>
            <a:noFill/>
          </a:ln>
        </p:spPr>
      </p:pic>
      <p:pic>
        <p:nvPicPr>
          <p:cNvPr id="62" name="Google Shape;62;p13" title="Gemini_Generated_Image_1xlzdj1xlzdj1xlz.png"/>
          <p:cNvPicPr preferRelativeResize="0"/>
          <p:nvPr/>
        </p:nvPicPr>
        <p:blipFill>
          <a:blip r:embed="rId6">
            <a:alphaModFix/>
          </a:blip>
          <a:stretch>
            <a:fillRect/>
          </a:stretch>
        </p:blipFill>
        <p:spPr>
          <a:xfrm>
            <a:off x="125750" y="3864175"/>
            <a:ext cx="1165624" cy="1165624"/>
          </a:xfrm>
          <a:prstGeom prst="rect">
            <a:avLst/>
          </a:prstGeom>
          <a:noFill/>
          <a:ln>
            <a:noFill/>
          </a:ln>
        </p:spPr>
      </p:pic>
      <p:sp>
        <p:nvSpPr>
          <p:cNvPr id="63" name="Google Shape;63;p13"/>
          <p:cNvSpPr txBox="1"/>
          <p:nvPr/>
        </p:nvSpPr>
        <p:spPr>
          <a:xfrm>
            <a:off x="160875" y="5327000"/>
            <a:ext cx="53613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oppins"/>
                <a:ea typeface="Poppins"/>
                <a:cs typeface="Poppins"/>
                <a:sym typeface="Poppins"/>
              </a:rPr>
              <a:t>Before WWI, European countries used a system called conscription, which meant men had to serve in the army for a set amount of time. This gave the main powers in Europe large, trained armies. In the years leading up to the war, France and Russia made men serve for longer, which made their armies even bigger. Germany also passed new laws to increase the number of soldiers in its army.</a:t>
            </a:r>
            <a:endParaRPr sz="1200">
              <a:latin typeface="Poppins"/>
              <a:ea typeface="Poppins"/>
              <a:cs typeface="Poppins"/>
              <a:sym typeface="Poppins"/>
            </a:endParaRPr>
          </a:p>
        </p:txBody>
      </p:sp>
      <p:pic>
        <p:nvPicPr>
          <p:cNvPr id="64" name="Google Shape;64;p13" title="Gemini_Generated_Image_1lgajb1lgajb1lga.png"/>
          <p:cNvPicPr preferRelativeResize="0"/>
          <p:nvPr/>
        </p:nvPicPr>
        <p:blipFill>
          <a:blip r:embed="rId7">
            <a:alphaModFix/>
          </a:blip>
          <a:stretch>
            <a:fillRect/>
          </a:stretch>
        </p:blipFill>
        <p:spPr>
          <a:xfrm>
            <a:off x="5592563" y="5419401"/>
            <a:ext cx="1108198" cy="1108198"/>
          </a:xfrm>
          <a:prstGeom prst="rect">
            <a:avLst/>
          </a:prstGeom>
          <a:noFill/>
          <a:ln>
            <a:noFill/>
          </a:ln>
        </p:spPr>
      </p:pic>
      <p:sp>
        <p:nvSpPr>
          <p:cNvPr id="65" name="Google Shape;65;p13"/>
          <p:cNvSpPr txBox="1"/>
          <p:nvPr/>
        </p:nvSpPr>
        <p:spPr>
          <a:xfrm>
            <a:off x="140125" y="6629550"/>
            <a:ext cx="65814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Poppins"/>
                <a:ea typeface="Poppins"/>
                <a:cs typeface="Poppins"/>
                <a:sym typeface="Poppins"/>
              </a:rPr>
              <a:t>These armies could grow much larger in wartime. Most countries kept big groups of trained men in reserve, ready to be called up if needed. This meant that during war, countries could increase the size of their armies by as much as four times, creating a huge military force across Europe.</a:t>
            </a:r>
            <a:endParaRPr sz="1200">
              <a:latin typeface="Poppins"/>
              <a:ea typeface="Poppins"/>
              <a:cs typeface="Poppins"/>
              <a:sym typeface="Poppins"/>
            </a:endParaRPr>
          </a:p>
        </p:txBody>
      </p:sp>
      <p:sp>
        <p:nvSpPr>
          <p:cNvPr id="66" name="Google Shape;66;p13"/>
          <p:cNvSpPr txBox="1"/>
          <p:nvPr/>
        </p:nvSpPr>
        <p:spPr>
          <a:xfrm>
            <a:off x="140125" y="5039350"/>
            <a:ext cx="3257100" cy="27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2"/>
                </a:solidFill>
                <a:latin typeface="Poppins"/>
                <a:ea typeface="Poppins"/>
                <a:cs typeface="Poppins"/>
                <a:sym typeface="Poppins"/>
              </a:rPr>
              <a:t>The Arms Race</a:t>
            </a:r>
            <a:endParaRPr sz="1200" b="1">
              <a:solidFill>
                <a:schemeClr val="dk2"/>
              </a:solidFill>
              <a:latin typeface="Poppins"/>
              <a:ea typeface="Poppins"/>
              <a:cs typeface="Poppins"/>
              <a:sym typeface="Poppins"/>
            </a:endParaRPr>
          </a:p>
        </p:txBody>
      </p:sp>
      <p:sp>
        <p:nvSpPr>
          <p:cNvPr id="67" name="Google Shape;67;p13"/>
          <p:cNvSpPr txBox="1"/>
          <p:nvPr/>
        </p:nvSpPr>
        <p:spPr>
          <a:xfrm>
            <a:off x="140125" y="7552950"/>
            <a:ext cx="65814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Poppins"/>
                <a:ea typeface="Poppins"/>
                <a:cs typeface="Poppins"/>
                <a:sym typeface="Poppins"/>
              </a:rPr>
              <a:t>Glossary</a:t>
            </a:r>
            <a:endParaRPr sz="1200" b="1">
              <a:latin typeface="Poppins"/>
              <a:ea typeface="Poppins"/>
              <a:cs typeface="Poppins"/>
              <a:sym typeface="Poppins"/>
            </a:endParaRPr>
          </a:p>
          <a:p>
            <a:pPr marL="457200" lvl="0" indent="-304800" algn="l" rtl="0">
              <a:spcBef>
                <a:spcPts val="0"/>
              </a:spcBef>
              <a:spcAft>
                <a:spcPts val="0"/>
              </a:spcAft>
              <a:buSzPts val="1200"/>
              <a:buFont typeface="Poppins"/>
              <a:buChar char="●"/>
            </a:pPr>
            <a:r>
              <a:rPr lang="en" sz="1200" b="1">
                <a:latin typeface="Poppins"/>
                <a:ea typeface="Poppins"/>
                <a:cs typeface="Poppins"/>
                <a:sym typeface="Poppins"/>
              </a:rPr>
              <a:t>Preventive war</a:t>
            </a:r>
            <a:r>
              <a:rPr lang="en" sz="1200">
                <a:latin typeface="Poppins"/>
                <a:ea typeface="Poppins"/>
                <a:cs typeface="Poppins"/>
                <a:sym typeface="Poppins"/>
              </a:rPr>
              <a:t> – Attacking first to stop others from attacking you.</a:t>
            </a:r>
            <a:endParaRPr sz="1200">
              <a:latin typeface="Poppins"/>
              <a:ea typeface="Poppins"/>
              <a:cs typeface="Poppins"/>
              <a:sym typeface="Poppins"/>
            </a:endParaRPr>
          </a:p>
          <a:p>
            <a:pPr marL="457200" lvl="0" indent="-304800" algn="l" rtl="0">
              <a:spcBef>
                <a:spcPts val="0"/>
              </a:spcBef>
              <a:spcAft>
                <a:spcPts val="0"/>
              </a:spcAft>
              <a:buSzPts val="1200"/>
              <a:buFont typeface="Poppins"/>
              <a:buChar char="●"/>
            </a:pPr>
            <a:r>
              <a:rPr lang="en" sz="1200" b="1">
                <a:latin typeface="Poppins"/>
                <a:ea typeface="Poppins"/>
                <a:cs typeface="Poppins"/>
                <a:sym typeface="Poppins"/>
              </a:rPr>
              <a:t>Military</a:t>
            </a:r>
            <a:r>
              <a:rPr lang="en" sz="1200">
                <a:latin typeface="Poppins"/>
                <a:ea typeface="Poppins"/>
                <a:cs typeface="Poppins"/>
                <a:sym typeface="Poppins"/>
              </a:rPr>
              <a:t> – The army, navy, and other armed forces of a country.</a:t>
            </a:r>
            <a:endParaRPr sz="1200">
              <a:latin typeface="Poppins"/>
              <a:ea typeface="Poppins"/>
              <a:cs typeface="Poppins"/>
              <a:sym typeface="Poppins"/>
            </a:endParaRPr>
          </a:p>
          <a:p>
            <a:pPr marL="457200" lvl="0" indent="-304800" algn="l" rtl="0">
              <a:spcBef>
                <a:spcPts val="0"/>
              </a:spcBef>
              <a:spcAft>
                <a:spcPts val="0"/>
              </a:spcAft>
              <a:buSzPts val="1200"/>
              <a:buFont typeface="Poppins"/>
              <a:buChar char="●"/>
            </a:pPr>
            <a:r>
              <a:rPr lang="en" sz="1200" b="1">
                <a:latin typeface="Poppins"/>
                <a:ea typeface="Poppins"/>
                <a:cs typeface="Poppins"/>
                <a:sym typeface="Poppins"/>
              </a:rPr>
              <a:t>Impulsive</a:t>
            </a:r>
            <a:r>
              <a:rPr lang="en" sz="1200">
                <a:latin typeface="Poppins"/>
                <a:ea typeface="Poppins"/>
                <a:cs typeface="Poppins"/>
                <a:sym typeface="Poppins"/>
              </a:rPr>
              <a:t> – Doing things quickly without thinking carefully.</a:t>
            </a:r>
            <a:endParaRPr sz="1200">
              <a:latin typeface="Poppins"/>
              <a:ea typeface="Poppins"/>
              <a:cs typeface="Poppins"/>
              <a:sym typeface="Poppins"/>
            </a:endParaRPr>
          </a:p>
          <a:p>
            <a:pPr marL="457200" lvl="0" indent="-304800" algn="l" rtl="0">
              <a:spcBef>
                <a:spcPts val="0"/>
              </a:spcBef>
              <a:spcAft>
                <a:spcPts val="0"/>
              </a:spcAft>
              <a:buSzPts val="1200"/>
              <a:buFont typeface="Poppins"/>
              <a:buChar char="●"/>
            </a:pPr>
            <a:r>
              <a:rPr lang="en" sz="1200" b="1">
                <a:latin typeface="Poppins"/>
                <a:ea typeface="Poppins"/>
                <a:cs typeface="Poppins"/>
                <a:sym typeface="Poppins"/>
              </a:rPr>
              <a:t>Diplomatic</a:t>
            </a:r>
            <a:r>
              <a:rPr lang="en" sz="1200">
                <a:latin typeface="Poppins"/>
                <a:ea typeface="Poppins"/>
                <a:cs typeface="Poppins"/>
                <a:sym typeface="Poppins"/>
              </a:rPr>
              <a:t> – Being careful with words and actions to keep good relations between countries.</a:t>
            </a:r>
            <a:endParaRPr sz="1200">
              <a:latin typeface="Poppins"/>
              <a:ea typeface="Poppins"/>
              <a:cs typeface="Poppins"/>
              <a:sym typeface="Poppins"/>
            </a:endParaRPr>
          </a:p>
          <a:p>
            <a:pPr marL="457200" lvl="0" indent="-304800" algn="l" rtl="0">
              <a:spcBef>
                <a:spcPts val="0"/>
              </a:spcBef>
              <a:spcAft>
                <a:spcPts val="0"/>
              </a:spcAft>
              <a:buSzPts val="1200"/>
              <a:buFont typeface="Poppins"/>
              <a:buChar char="●"/>
            </a:pPr>
            <a:r>
              <a:rPr lang="en" sz="1200" b="1">
                <a:latin typeface="Poppins"/>
                <a:ea typeface="Poppins"/>
                <a:cs typeface="Poppins"/>
                <a:sym typeface="Poppins"/>
              </a:rPr>
              <a:t>Undiplomatic</a:t>
            </a:r>
            <a:r>
              <a:rPr lang="en" sz="1200">
                <a:latin typeface="Poppins"/>
                <a:ea typeface="Poppins"/>
                <a:cs typeface="Poppins"/>
                <a:sym typeface="Poppins"/>
              </a:rPr>
              <a:t> – Saying or doing things in a way that upsets others or causes problems between countries.</a:t>
            </a:r>
            <a:endParaRPr sz="120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14"/>
          <p:cNvPicPr preferRelativeResize="0"/>
          <p:nvPr/>
        </p:nvPicPr>
        <p:blipFill>
          <a:blip r:embed="rId3">
            <a:alphaModFix/>
          </a:blip>
          <a:stretch>
            <a:fillRect/>
          </a:stretch>
        </p:blipFill>
        <p:spPr>
          <a:xfrm>
            <a:off x="0" y="0"/>
            <a:ext cx="6857999" cy="9144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60B5D-85A6-2A12-FACB-DD3C9B45CB0E}"/>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7AA25988-FFAE-75CC-C7B3-004BE68E2471}"/>
              </a:ext>
            </a:extLst>
          </p:cNvPr>
          <p:cNvPicPr>
            <a:picLocks noChangeAspect="1"/>
          </p:cNvPicPr>
          <p:nvPr/>
        </p:nvPicPr>
        <p:blipFill>
          <a:blip r:embed="rId2"/>
          <a:stretch>
            <a:fillRect/>
          </a:stretch>
        </p:blipFill>
        <p:spPr>
          <a:xfrm>
            <a:off x="0" y="0"/>
            <a:ext cx="6858000" cy="9144000"/>
          </a:xfrm>
          <a:prstGeom prst="rect">
            <a:avLst/>
          </a:prstGeom>
        </p:spPr>
      </p:pic>
    </p:spTree>
    <p:extLst>
      <p:ext uri="{BB962C8B-B14F-4D97-AF65-F5344CB8AC3E}">
        <p14:creationId xmlns:p14="http://schemas.microsoft.com/office/powerpoint/2010/main" val="344670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D80E7-70A8-E199-1892-04E160FC11B7}"/>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37D44CDE-4E9E-3038-3545-F208A4B03161}"/>
              </a:ext>
            </a:extLst>
          </p:cNvPr>
          <p:cNvPicPr>
            <a:picLocks noChangeAspect="1"/>
          </p:cNvPicPr>
          <p:nvPr/>
        </p:nvPicPr>
        <p:blipFill>
          <a:blip r:embed="rId2"/>
          <a:stretch>
            <a:fillRect/>
          </a:stretch>
        </p:blipFill>
        <p:spPr>
          <a:xfrm>
            <a:off x="0" y="0"/>
            <a:ext cx="6858000" cy="9144000"/>
          </a:xfrm>
          <a:prstGeom prst="rect">
            <a:avLst/>
          </a:prstGeom>
        </p:spPr>
      </p:pic>
    </p:spTree>
    <p:extLst>
      <p:ext uri="{BB962C8B-B14F-4D97-AF65-F5344CB8AC3E}">
        <p14:creationId xmlns:p14="http://schemas.microsoft.com/office/powerpoint/2010/main" val="1951775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p:nvPr/>
        </p:nvSpPr>
        <p:spPr>
          <a:xfrm>
            <a:off x="65625" y="180200"/>
            <a:ext cx="6703800" cy="8783700"/>
          </a:xfrm>
          <a:prstGeom prst="rect">
            <a:avLst/>
          </a:prstGeom>
          <a:noFill/>
          <a:ln w="9525" cap="flat" cmpd="sng">
            <a:solidFill>
              <a:srgbClr val="00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 name="Google Shape;78;p15"/>
          <p:cNvPicPr preferRelativeResize="0"/>
          <p:nvPr/>
        </p:nvPicPr>
        <p:blipFill rotWithShape="1">
          <a:blip r:embed="rId3">
            <a:alphaModFix/>
          </a:blip>
          <a:srcRect t="17179" b="24290"/>
          <a:stretch/>
        </p:blipFill>
        <p:spPr>
          <a:xfrm>
            <a:off x="5865300" y="8771073"/>
            <a:ext cx="846225" cy="369300"/>
          </a:xfrm>
          <a:prstGeom prst="rect">
            <a:avLst/>
          </a:prstGeom>
          <a:noFill/>
          <a:ln>
            <a:noFill/>
          </a:ln>
        </p:spPr>
      </p:pic>
      <p:sp>
        <p:nvSpPr>
          <p:cNvPr id="79" name="Google Shape;79;p15"/>
          <p:cNvSpPr txBox="1"/>
          <p:nvPr/>
        </p:nvSpPr>
        <p:spPr>
          <a:xfrm>
            <a:off x="1333950" y="303801"/>
            <a:ext cx="4167000" cy="41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u="sng">
                <a:latin typeface="Edu TAS Beginner"/>
                <a:ea typeface="Edu TAS Beginner"/>
                <a:cs typeface="Edu TAS Beginner"/>
                <a:sym typeface="Edu TAS Beginner"/>
              </a:rPr>
              <a:t>Germany’s Militarism and Preventative War</a:t>
            </a:r>
            <a:endParaRPr b="1" u="sng">
              <a:solidFill>
                <a:srgbClr val="000000"/>
              </a:solidFill>
              <a:latin typeface="Edu TAS Beginner"/>
              <a:ea typeface="Edu TAS Beginner"/>
              <a:cs typeface="Edu TAS Beginner"/>
              <a:sym typeface="Edu TAS Beginner"/>
            </a:endParaRPr>
          </a:p>
        </p:txBody>
      </p:sp>
      <p:sp>
        <p:nvSpPr>
          <p:cNvPr id="80" name="Google Shape;80;p15"/>
          <p:cNvSpPr txBox="1"/>
          <p:nvPr/>
        </p:nvSpPr>
        <p:spPr>
          <a:xfrm>
            <a:off x="152519" y="723075"/>
            <a:ext cx="6482400" cy="2993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latin typeface="Poppins"/>
                <a:ea typeface="Poppins"/>
                <a:cs typeface="Poppins"/>
                <a:sym typeface="Poppins"/>
              </a:rPr>
              <a:t>1. In 1914, Germany planned a preventive war, which meant 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___________________________________________________________________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2. Germany feared being surrounded by France and Russia because 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________________________________________________________</a:t>
            </a:r>
            <a:r>
              <a:rPr lang="en" sz="1000">
                <a:solidFill>
                  <a:schemeClr val="dk1"/>
                </a:solidFill>
                <a:latin typeface="Poppins"/>
                <a:ea typeface="Poppins"/>
                <a:cs typeface="Poppins"/>
                <a:sym typeface="Poppins"/>
              </a:rPr>
              <a:t>______________________________________________________________________________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3. The Zabern affair in 1913 showed that  ________________________________________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________________________________________________________</a:t>
            </a:r>
            <a:r>
              <a:rPr lang="en" sz="1000">
                <a:solidFill>
                  <a:schemeClr val="dk1"/>
                </a:solidFill>
                <a:latin typeface="Poppins"/>
                <a:ea typeface="Poppins"/>
                <a:cs typeface="Poppins"/>
                <a:sym typeface="Poppins"/>
              </a:rPr>
              <a:t>______________________________________________________________________________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4. Unlike France and Britain, Germany’s military was 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___________________________________________________________________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5. Kaiser Wilhelm II’s impulsive and undiplomatic behaviour meant that  __________________</a:t>
            </a:r>
            <a:endParaRPr sz="1000">
              <a:latin typeface="Poppins"/>
              <a:ea typeface="Poppins"/>
              <a:cs typeface="Poppins"/>
              <a:sym typeface="Poppins"/>
            </a:endParaRPr>
          </a:p>
          <a:p>
            <a:pPr marL="0" lvl="0" indent="0" algn="l" rtl="0">
              <a:lnSpc>
                <a:spcPct val="115000"/>
              </a:lnSpc>
              <a:spcBef>
                <a:spcPts val="0"/>
              </a:spcBef>
              <a:spcAft>
                <a:spcPts val="0"/>
              </a:spcAft>
              <a:buNone/>
            </a:pPr>
            <a:r>
              <a:rPr lang="en" sz="1000">
                <a:latin typeface="Poppins"/>
                <a:ea typeface="Poppins"/>
                <a:cs typeface="Poppins"/>
                <a:sym typeface="Poppins"/>
              </a:rPr>
              <a:t>___________________________________________________________________</a:t>
            </a:r>
            <a:endParaRPr sz="1000">
              <a:latin typeface="Poppins"/>
              <a:ea typeface="Poppins"/>
              <a:cs typeface="Poppins"/>
              <a:sym typeface="Poppins"/>
            </a:endParaRPr>
          </a:p>
        </p:txBody>
      </p:sp>
      <p:pic>
        <p:nvPicPr>
          <p:cNvPr id="81" name="Google Shape;81;p15"/>
          <p:cNvPicPr preferRelativeResize="0"/>
          <p:nvPr/>
        </p:nvPicPr>
        <p:blipFill>
          <a:blip r:embed="rId4">
            <a:alphaModFix/>
          </a:blip>
          <a:stretch>
            <a:fillRect/>
          </a:stretch>
        </p:blipFill>
        <p:spPr>
          <a:xfrm>
            <a:off x="6313875" y="334800"/>
            <a:ext cx="369300" cy="369300"/>
          </a:xfrm>
          <a:prstGeom prst="rect">
            <a:avLst/>
          </a:prstGeom>
          <a:noFill/>
          <a:ln>
            <a:noFill/>
          </a:ln>
        </p:spPr>
      </p:pic>
      <p:sp>
        <p:nvSpPr>
          <p:cNvPr id="82" name="Google Shape;82;p15"/>
          <p:cNvSpPr txBox="1"/>
          <p:nvPr/>
        </p:nvSpPr>
        <p:spPr>
          <a:xfrm>
            <a:off x="152525" y="3716950"/>
            <a:ext cx="65307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latin typeface="Poppins"/>
                <a:ea typeface="Poppins"/>
                <a:cs typeface="Poppins"/>
                <a:sym typeface="Poppins"/>
              </a:rPr>
              <a:t>Army and Navy numbers of the main powers before WWI – shown in thousands</a:t>
            </a:r>
            <a:endParaRPr sz="1000" b="1">
              <a:latin typeface="Poppins"/>
              <a:ea typeface="Poppins"/>
              <a:cs typeface="Poppins"/>
              <a:sym typeface="Poppins"/>
            </a:endParaRPr>
          </a:p>
        </p:txBody>
      </p:sp>
      <p:graphicFrame>
        <p:nvGraphicFramePr>
          <p:cNvPr id="83" name="Google Shape;83;p15"/>
          <p:cNvGraphicFramePr/>
          <p:nvPr/>
        </p:nvGraphicFramePr>
        <p:xfrm>
          <a:off x="152525" y="4055650"/>
          <a:ext cx="3291600" cy="3632200"/>
        </p:xfrm>
        <a:graphic>
          <a:graphicData uri="http://schemas.openxmlformats.org/drawingml/2006/table">
            <a:tbl>
              <a:tblPr>
                <a:noFill/>
                <a:tableStyleId>{297C2CB3-2275-416A-9CFA-9788671744E1}</a:tableStyleId>
              </a:tblPr>
              <a:tblGrid>
                <a:gridCol w="822900">
                  <a:extLst>
                    <a:ext uri="{9D8B030D-6E8A-4147-A177-3AD203B41FA5}">
                      <a16:colId xmlns:a16="http://schemas.microsoft.com/office/drawing/2014/main" val="20000"/>
                    </a:ext>
                  </a:extLst>
                </a:gridCol>
                <a:gridCol w="822900">
                  <a:extLst>
                    <a:ext uri="{9D8B030D-6E8A-4147-A177-3AD203B41FA5}">
                      <a16:colId xmlns:a16="http://schemas.microsoft.com/office/drawing/2014/main" val="20001"/>
                    </a:ext>
                  </a:extLst>
                </a:gridCol>
                <a:gridCol w="822900">
                  <a:extLst>
                    <a:ext uri="{9D8B030D-6E8A-4147-A177-3AD203B41FA5}">
                      <a16:colId xmlns:a16="http://schemas.microsoft.com/office/drawing/2014/main" val="20002"/>
                    </a:ext>
                  </a:extLst>
                </a:gridCol>
                <a:gridCol w="8229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n" sz="1000" b="1">
                          <a:latin typeface="Poppins"/>
                          <a:ea typeface="Poppins"/>
                          <a:cs typeface="Poppins"/>
                          <a:sym typeface="Poppins"/>
                        </a:rPr>
                        <a:t>Country</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1890</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1914</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Poppins"/>
                          <a:ea typeface="Poppins"/>
                          <a:cs typeface="Poppins"/>
                          <a:sym typeface="Poppins"/>
                        </a:rPr>
                        <a:t>% increase 1890 - 1914</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Russia</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677</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1352</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chemeClr val="dk1"/>
                          </a:solidFill>
                          <a:latin typeface="Poppins"/>
                          <a:ea typeface="Poppins"/>
                          <a:cs typeface="Poppins"/>
                          <a:sym typeface="Poppins"/>
                        </a:rPr>
                        <a:t>99.7%</a:t>
                      </a:r>
                      <a:endParaRPr sz="1000" b="1">
                        <a:solidFill>
                          <a:schemeClr val="dk1"/>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France</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542</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910</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Germany</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426</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891</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Britain</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367</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532</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Aus-Hung</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246</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444</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Italy</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216</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345</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Japan</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71</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306</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81000">
                <a:tc>
                  <a:txBody>
                    <a:bodyPr/>
                    <a:lstStyle/>
                    <a:p>
                      <a:pPr marL="0" lvl="0" indent="0" algn="ctr" rtl="0">
                        <a:spcBef>
                          <a:spcPts val="0"/>
                        </a:spcBef>
                        <a:spcAft>
                          <a:spcPts val="0"/>
                        </a:spcAft>
                        <a:buNone/>
                      </a:pPr>
                      <a:r>
                        <a:rPr lang="en" sz="1000" b="1">
                          <a:latin typeface="Poppins"/>
                          <a:ea typeface="Poppins"/>
                          <a:cs typeface="Poppins"/>
                          <a:sym typeface="Poppins"/>
                        </a:rPr>
                        <a:t>USA</a:t>
                      </a:r>
                      <a:endParaRPr sz="1000" b="1">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34</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Poppins"/>
                          <a:ea typeface="Poppins"/>
                          <a:cs typeface="Poppins"/>
                          <a:sym typeface="Poppins"/>
                        </a:rPr>
                        <a:t>164</a:t>
                      </a:r>
                      <a:endParaRPr sz="1000">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000">
                        <a:solidFill>
                          <a:srgbClr val="1155CC"/>
                        </a:solidFill>
                        <a:latin typeface="Poppins"/>
                        <a:ea typeface="Poppins"/>
                        <a:cs typeface="Poppins"/>
                        <a:sym typeface="Poppins"/>
                      </a:endParaRPr>
                    </a:p>
                  </a:txBody>
                  <a:tcPr marL="63500" marR="63500" marT="63500" marB="635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4" name="Google Shape;84;p15"/>
          <p:cNvSpPr txBox="1"/>
          <p:nvPr/>
        </p:nvSpPr>
        <p:spPr>
          <a:xfrm>
            <a:off x="3487500" y="4055650"/>
            <a:ext cx="3147300" cy="1046700"/>
          </a:xfrm>
          <a:prstGeom prst="rect">
            <a:avLst/>
          </a:prstGeom>
          <a:noFill/>
          <a:ln>
            <a:noFill/>
          </a:ln>
        </p:spPr>
        <p:txBody>
          <a:bodyPr spcFirstLastPara="1" wrap="square" lIns="91425" tIns="91425" rIns="91425" bIns="91425" anchor="t" anchorCtr="0">
            <a:spAutoFit/>
          </a:bodyPr>
          <a:lstStyle/>
          <a:p>
            <a:pPr marL="457200" lvl="0" indent="-292100" algn="l" rtl="0">
              <a:lnSpc>
                <a:spcPct val="115000"/>
              </a:lnSpc>
              <a:spcBef>
                <a:spcPts val="0"/>
              </a:spcBef>
              <a:spcAft>
                <a:spcPts val="0"/>
              </a:spcAft>
              <a:buClr>
                <a:schemeClr val="dk1"/>
              </a:buClr>
              <a:buSzPts val="1000"/>
              <a:buFont typeface="Patrick Hand"/>
              <a:buAutoNum type="arabicPeriod"/>
            </a:pPr>
            <a:r>
              <a:rPr lang="en" sz="1000" b="1">
                <a:solidFill>
                  <a:schemeClr val="dk1"/>
                </a:solidFill>
                <a:latin typeface="Patrick Hand"/>
                <a:ea typeface="Patrick Hand"/>
                <a:cs typeface="Patrick Hand"/>
                <a:sym typeface="Patrick Hand"/>
              </a:rPr>
              <a:t>% Change = (1914 number - 1890 number)  / 1890 number  x 100</a:t>
            </a:r>
            <a:endParaRPr sz="1000" b="1">
              <a:solidFill>
                <a:schemeClr val="dk1"/>
              </a:solidFill>
              <a:latin typeface="Patrick Hand"/>
              <a:ea typeface="Patrick Hand"/>
              <a:cs typeface="Patrick Hand"/>
              <a:sym typeface="Patrick Hand"/>
            </a:endParaRPr>
          </a:p>
          <a:p>
            <a:pPr marL="457200" lvl="0" indent="-292100" algn="l" rtl="0">
              <a:lnSpc>
                <a:spcPct val="115000"/>
              </a:lnSpc>
              <a:spcBef>
                <a:spcPts val="0"/>
              </a:spcBef>
              <a:spcAft>
                <a:spcPts val="0"/>
              </a:spcAft>
              <a:buClr>
                <a:schemeClr val="dk1"/>
              </a:buClr>
              <a:buSzPts val="1000"/>
              <a:buFont typeface="Patrick Hand"/>
              <a:buAutoNum type="arabicPeriod"/>
            </a:pPr>
            <a:r>
              <a:rPr lang="en" sz="1000" b="1">
                <a:solidFill>
                  <a:schemeClr val="dk1"/>
                </a:solidFill>
                <a:latin typeface="Patrick Hand"/>
                <a:ea typeface="Patrick Hand"/>
                <a:cs typeface="Patrick Hand"/>
                <a:sym typeface="Patrick Hand"/>
              </a:rPr>
              <a:t>Change = 1352 - 677 = 675</a:t>
            </a:r>
            <a:endParaRPr sz="1000" b="1">
              <a:solidFill>
                <a:schemeClr val="dk1"/>
              </a:solidFill>
              <a:latin typeface="Patrick Hand"/>
              <a:ea typeface="Patrick Hand"/>
              <a:cs typeface="Patrick Hand"/>
              <a:sym typeface="Patrick Hand"/>
            </a:endParaRPr>
          </a:p>
          <a:p>
            <a:pPr marL="457200" lvl="0" indent="-292100" algn="l" rtl="0">
              <a:lnSpc>
                <a:spcPct val="115000"/>
              </a:lnSpc>
              <a:spcBef>
                <a:spcPts val="0"/>
              </a:spcBef>
              <a:spcAft>
                <a:spcPts val="0"/>
              </a:spcAft>
              <a:buClr>
                <a:schemeClr val="dk1"/>
              </a:buClr>
              <a:buSzPts val="1000"/>
              <a:buFont typeface="Patrick Hand"/>
              <a:buAutoNum type="arabicPeriod"/>
            </a:pPr>
            <a:r>
              <a:rPr lang="en" sz="1000" b="1">
                <a:solidFill>
                  <a:schemeClr val="dk1"/>
                </a:solidFill>
                <a:latin typeface="Patrick Hand"/>
                <a:ea typeface="Patrick Hand"/>
                <a:cs typeface="Patrick Hand"/>
                <a:sym typeface="Patrick Hand"/>
              </a:rPr>
              <a:t>Original starting number = 677           </a:t>
            </a:r>
            <a:endParaRPr sz="1000" b="1">
              <a:solidFill>
                <a:schemeClr val="dk1"/>
              </a:solidFill>
              <a:latin typeface="Patrick Hand"/>
              <a:ea typeface="Patrick Hand"/>
              <a:cs typeface="Patrick Hand"/>
              <a:sym typeface="Patrick Hand"/>
            </a:endParaRPr>
          </a:p>
          <a:p>
            <a:pPr marL="457200" lvl="0" indent="-292100" algn="l" rtl="0">
              <a:lnSpc>
                <a:spcPct val="115000"/>
              </a:lnSpc>
              <a:spcBef>
                <a:spcPts val="0"/>
              </a:spcBef>
              <a:spcAft>
                <a:spcPts val="0"/>
              </a:spcAft>
              <a:buClr>
                <a:schemeClr val="dk1"/>
              </a:buClr>
              <a:buSzPts val="1000"/>
              <a:buFont typeface="Patrick Hand"/>
              <a:buAutoNum type="arabicPeriod"/>
            </a:pPr>
            <a:r>
              <a:rPr lang="en" sz="1000" b="1">
                <a:solidFill>
                  <a:schemeClr val="dk1"/>
                </a:solidFill>
                <a:latin typeface="Patrick Hand"/>
                <a:ea typeface="Patrick Hand"/>
                <a:cs typeface="Patrick Hand"/>
                <a:sym typeface="Patrick Hand"/>
              </a:rPr>
              <a:t>(675 / 677) x 100 = 0.997 x 100 = 99.7% (Round Up!)</a:t>
            </a:r>
            <a:endParaRPr sz="1300" b="1">
              <a:solidFill>
                <a:schemeClr val="dk1"/>
              </a:solidFill>
              <a:latin typeface="Patrick Hand"/>
              <a:ea typeface="Patrick Hand"/>
              <a:cs typeface="Patrick Hand"/>
              <a:sym typeface="Patrick Hand"/>
            </a:endParaRPr>
          </a:p>
        </p:txBody>
      </p:sp>
      <p:sp>
        <p:nvSpPr>
          <p:cNvPr id="85" name="Google Shape;85;p15"/>
          <p:cNvSpPr txBox="1"/>
          <p:nvPr/>
        </p:nvSpPr>
        <p:spPr>
          <a:xfrm>
            <a:off x="3543375" y="5176000"/>
            <a:ext cx="3091500" cy="1368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b="1">
                <a:solidFill>
                  <a:schemeClr val="dk2"/>
                </a:solidFill>
                <a:latin typeface="Poppins"/>
                <a:ea typeface="Poppins"/>
                <a:cs typeface="Poppins"/>
                <a:sym typeface="Poppins"/>
              </a:rPr>
              <a:t>Germany, France, and Russia show bigger percentage increases because </a:t>
            </a:r>
            <a:r>
              <a:rPr lang="en" sz="1000">
                <a:solidFill>
                  <a:schemeClr val="dk2"/>
                </a:solidFill>
                <a:latin typeface="Poppins"/>
                <a:ea typeface="Poppins"/>
                <a:cs typeface="Poppins"/>
                <a:sym typeface="Poppins"/>
              </a:rPr>
              <a:t>_________</a:t>
            </a:r>
            <a:endParaRPr sz="1000">
              <a:solidFill>
                <a:schemeClr val="dk2"/>
              </a:solidFill>
              <a:latin typeface="Poppins"/>
              <a:ea typeface="Poppins"/>
              <a:cs typeface="Poppins"/>
              <a:sym typeface="Poppins"/>
            </a:endParaRPr>
          </a:p>
          <a:p>
            <a:pPr marL="0" lvl="0" indent="0" algn="l" rtl="0">
              <a:lnSpc>
                <a:spcPct val="115000"/>
              </a:lnSpc>
              <a:spcBef>
                <a:spcPts val="0"/>
              </a:spcBef>
              <a:spcAft>
                <a:spcPts val="0"/>
              </a:spcAft>
              <a:buNone/>
            </a:pPr>
            <a:r>
              <a:rPr lang="en" sz="1000">
                <a:solidFill>
                  <a:schemeClr val="dk2"/>
                </a:solidFill>
                <a:latin typeface="Poppins"/>
                <a:ea typeface="Poppins"/>
                <a:cs typeface="Poppins"/>
                <a:sym typeface="Poppins"/>
              </a:rPr>
              <a:t>___________________________________________________________________________________________________________________________________________________________</a:t>
            </a:r>
            <a:endParaRPr sz="1000">
              <a:solidFill>
                <a:schemeClr val="dk2"/>
              </a:solidFill>
              <a:latin typeface="Poppins"/>
              <a:ea typeface="Poppins"/>
              <a:cs typeface="Poppins"/>
              <a:sym typeface="Poppins"/>
            </a:endParaRPr>
          </a:p>
        </p:txBody>
      </p:sp>
      <p:sp>
        <p:nvSpPr>
          <p:cNvPr id="86" name="Google Shape;86;p15"/>
          <p:cNvSpPr txBox="1"/>
          <p:nvPr/>
        </p:nvSpPr>
        <p:spPr>
          <a:xfrm>
            <a:off x="3543375" y="6618550"/>
            <a:ext cx="3091500" cy="1069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b="1">
                <a:solidFill>
                  <a:schemeClr val="dk2"/>
                </a:solidFill>
                <a:latin typeface="Poppins"/>
                <a:ea typeface="Poppins"/>
                <a:cs typeface="Poppins"/>
                <a:sym typeface="Poppins"/>
              </a:rPr>
              <a:t>Percentage change helps us understand the data because </a:t>
            </a:r>
            <a:r>
              <a:rPr lang="en" sz="1000">
                <a:solidFill>
                  <a:schemeClr val="dk2"/>
                </a:solidFill>
                <a:latin typeface="Poppins"/>
                <a:ea typeface="Poppins"/>
                <a:cs typeface="Poppins"/>
                <a:sym typeface="Poppins"/>
              </a:rPr>
              <a:t>_____________________</a:t>
            </a:r>
            <a:endParaRPr sz="1000">
              <a:solidFill>
                <a:schemeClr val="dk2"/>
              </a:solidFill>
              <a:latin typeface="Poppins"/>
              <a:ea typeface="Poppins"/>
              <a:cs typeface="Poppins"/>
              <a:sym typeface="Poppins"/>
            </a:endParaRPr>
          </a:p>
          <a:p>
            <a:pPr marL="0" lvl="0" indent="0" algn="l" rtl="0">
              <a:lnSpc>
                <a:spcPct val="115000"/>
              </a:lnSpc>
              <a:spcBef>
                <a:spcPts val="0"/>
              </a:spcBef>
              <a:spcAft>
                <a:spcPts val="0"/>
              </a:spcAft>
              <a:buNone/>
            </a:pPr>
            <a:r>
              <a:rPr lang="en" sz="1000">
                <a:solidFill>
                  <a:schemeClr val="dk2"/>
                </a:solidFill>
                <a:latin typeface="Poppins"/>
                <a:ea typeface="Poppins"/>
                <a:cs typeface="Poppins"/>
                <a:sym typeface="Poppins"/>
              </a:rPr>
              <a:t>_____________________________________________________________________________________________</a:t>
            </a:r>
            <a:endParaRPr sz="1000">
              <a:solidFill>
                <a:schemeClr val="dk2"/>
              </a:solidFill>
              <a:latin typeface="Poppins"/>
              <a:ea typeface="Poppins"/>
              <a:cs typeface="Poppins"/>
              <a:sym typeface="Poppins"/>
            </a:endParaRPr>
          </a:p>
        </p:txBody>
      </p:sp>
      <p:sp>
        <p:nvSpPr>
          <p:cNvPr id="87" name="Google Shape;87;p15"/>
          <p:cNvSpPr txBox="1"/>
          <p:nvPr/>
        </p:nvSpPr>
        <p:spPr>
          <a:xfrm>
            <a:off x="703275" y="7761400"/>
            <a:ext cx="5931600" cy="1069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b="1">
                <a:solidFill>
                  <a:schemeClr val="dk2"/>
                </a:solidFill>
                <a:latin typeface="Poppins"/>
                <a:ea typeface="Poppins"/>
                <a:cs typeface="Poppins"/>
                <a:sym typeface="Poppins"/>
              </a:rPr>
              <a:t>The arms race made tensions in Europe worse before WWI because  </a:t>
            </a:r>
            <a:r>
              <a:rPr lang="en" sz="1000">
                <a:solidFill>
                  <a:schemeClr val="dk2"/>
                </a:solidFill>
                <a:latin typeface="Poppins"/>
                <a:ea typeface="Poppins"/>
                <a:cs typeface="Poppins"/>
                <a:sym typeface="Poppins"/>
              </a:rPr>
              <a:t>______________</a:t>
            </a:r>
            <a:endParaRPr sz="1000">
              <a:solidFill>
                <a:schemeClr val="dk2"/>
              </a:solidFill>
              <a:latin typeface="Poppins"/>
              <a:ea typeface="Poppins"/>
              <a:cs typeface="Poppins"/>
              <a:sym typeface="Poppins"/>
            </a:endParaRPr>
          </a:p>
          <a:p>
            <a:pPr marL="0" lvl="0" indent="0" algn="l" rtl="0">
              <a:lnSpc>
                <a:spcPct val="115000"/>
              </a:lnSpc>
              <a:spcBef>
                <a:spcPts val="0"/>
              </a:spcBef>
              <a:spcAft>
                <a:spcPts val="0"/>
              </a:spcAft>
              <a:buNone/>
            </a:pPr>
            <a:r>
              <a:rPr lang="en" sz="1000">
                <a:solidFill>
                  <a:schemeClr val="dk2"/>
                </a:solidFill>
                <a:latin typeface="Poppins"/>
                <a:ea typeface="Poppins"/>
                <a:cs typeface="Poppins"/>
                <a:sym typeface="Poppins"/>
              </a:rPr>
              <a:t>____________________________________________________________________________________________________________________________________________________________________________________________________________________________________________________</a:t>
            </a:r>
            <a:endParaRPr sz="1000">
              <a:solidFill>
                <a:schemeClr val="dk2"/>
              </a:solidFill>
              <a:latin typeface="Poppins"/>
              <a:ea typeface="Poppins"/>
              <a:cs typeface="Poppins"/>
              <a:sym typeface="Poppins"/>
            </a:endParaRPr>
          </a:p>
        </p:txBody>
      </p:sp>
      <p:pic>
        <p:nvPicPr>
          <p:cNvPr id="88" name="Google Shape;88;p15" descr="Evans Hall, Cal Football Stats &amp; Analysis: Introducing the Nando's Heat  Scale"/>
          <p:cNvPicPr preferRelativeResize="0"/>
          <p:nvPr/>
        </p:nvPicPr>
        <p:blipFill rotWithShape="1">
          <a:blip r:embed="rId5">
            <a:alphaModFix/>
          </a:blip>
          <a:srcRect l="17922" t="12815" r="15103" b="12110"/>
          <a:stretch/>
        </p:blipFill>
        <p:spPr>
          <a:xfrm>
            <a:off x="152525" y="7974588"/>
            <a:ext cx="510775" cy="6428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602</Words>
  <Application>Microsoft Macintosh PowerPoint</Application>
  <PresentationFormat>On-screen Show (4:3)</PresentationFormat>
  <Paragraphs>69</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Edu TAS Beginner</vt:lpstr>
      <vt:lpstr>Patrick Hand</vt:lpstr>
      <vt:lpstr>Poppins</vt:lpstr>
      <vt:lpstr>Arial</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2026-10-19T23:17:20Z</dcterms:modified>
</cp:coreProperties>
</file>