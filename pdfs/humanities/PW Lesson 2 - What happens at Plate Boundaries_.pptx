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59" r:id="rId6"/>
    <p:sldId id="265" r:id="rId7"/>
    <p:sldId id="267" r:id="rId8"/>
    <p:sldId id="268" r:id="rId9"/>
    <p:sldId id="269" r:id="rId10"/>
    <p:sldId id="270" r:id="rId11"/>
    <p:sldId id="271" r:id="rId12"/>
    <p:sldId id="260" r:id="rId13"/>
    <p:sldId id="261" r:id="rId14"/>
    <p:sldId id="262" r:id="rId15"/>
    <p:sldId id="266" r:id="rId16"/>
    <p:sldId id="263" r:id="rId17"/>
  </p:sldIdLst>
  <p:sldSz cx="9144000" cy="5143500" type="screen16x9"/>
  <p:notesSz cx="6858000" cy="9144000"/>
  <p:embeddedFontLst>
    <p:embeddedFont>
      <p:font typeface="Alfa Slab One" pitchFamily="2" charset="77"/>
      <p:regular r:id="rId19"/>
    </p:embeddedFont>
    <p:embeddedFont>
      <p:font typeface="Baumans" panose="02000506020000020003" pitchFamily="2" charset="0"/>
      <p:regular r:id="rId20"/>
    </p:embeddedFont>
    <p:embeddedFont>
      <p:font typeface="Delius" panose="02000603000000000000" pitchFamily="2" charset="0"/>
      <p:regular r:id="rId21"/>
    </p:embeddedFont>
    <p:embeddedFont>
      <p:font typeface="Finger Paint" panose="020B0506040000020004" pitchFamily="34" charset="0"/>
      <p:regular r:id="rId22"/>
    </p:embeddedFont>
    <p:embeddedFont>
      <p:font typeface="Patrick Hand" pitchFamily="2" charset="77"/>
      <p:regular r:id="rId23"/>
    </p:embeddedFon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Quicksand" panose="020F05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631"/>
  </p:normalViewPr>
  <p:slideViewPr>
    <p:cSldViewPr snapToGrid="0">
      <p:cViewPr varScale="1">
        <p:scale>
          <a:sx n="156" d="100"/>
          <a:sy n="156" d="100"/>
        </p:scale>
        <p:origin x="192" y="2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02f5c0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02f5c0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https://</a:t>
            </a:r>
            <a:r>
              <a:rPr lang="en" dirty="0" err="1"/>
              <a:t>www.youtube.com</a:t>
            </a:r>
            <a:r>
              <a:rPr lang="en" dirty="0"/>
              <a:t>/</a:t>
            </a:r>
            <a:r>
              <a:rPr lang="en" dirty="0" err="1"/>
              <a:t>watch?v</a:t>
            </a:r>
            <a:r>
              <a:rPr lang="en" dirty="0"/>
              <a:t>=xhcovHLA90s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E063672-9C43-7184-D572-03B106FF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02f5c02b_0_0:notes">
            <a:extLst>
              <a:ext uri="{FF2B5EF4-FFF2-40B4-BE49-F238E27FC236}">
                <a16:creationId xmlns:a16="http://schemas.microsoft.com/office/drawing/2014/main" id="{5909125A-267D-7F05-D19E-FB4574A6A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02f5c02b_0_0:notes">
            <a:extLst>
              <a:ext uri="{FF2B5EF4-FFF2-40B4-BE49-F238E27FC236}">
                <a16:creationId xmlns:a16="http://schemas.microsoft.com/office/drawing/2014/main" id="{AE3D322A-ACDE-9D67-930D-0A8BF756A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https://www.youtube.com/watch?v=xhcovHLA90s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332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302f5c02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302f5c02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A91CA3C2-8B6F-232A-4D2E-FED2321B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850C6A6D-9F4C-26EA-776D-ED7EF87C3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CC46D87-227E-1AF4-80C3-18D3FFA4A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242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5082bbb2a_0_145:notes"/>
          <p:cNvSpPr txBox="1">
            <a:spLocks noGrp="1"/>
          </p:cNvSpPr>
          <p:nvPr>
            <p:ph type="body" idx="1"/>
          </p:nvPr>
        </p:nvSpPr>
        <p:spPr>
          <a:xfrm>
            <a:off x="672667" y="4343150"/>
            <a:ext cx="5376600" cy="4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2f5082bbb2a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24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5082bbb2a_0_154:notes"/>
          <p:cNvSpPr txBox="1">
            <a:spLocks noGrp="1"/>
          </p:cNvSpPr>
          <p:nvPr>
            <p:ph type="body" idx="1"/>
          </p:nvPr>
        </p:nvSpPr>
        <p:spPr>
          <a:xfrm>
            <a:off x="672667" y="4343150"/>
            <a:ext cx="5376600" cy="4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2f5082bbb2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24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5082bbb2a_0_162:notes"/>
          <p:cNvSpPr txBox="1">
            <a:spLocks noGrp="1"/>
          </p:cNvSpPr>
          <p:nvPr>
            <p:ph type="body" idx="1"/>
          </p:nvPr>
        </p:nvSpPr>
        <p:spPr>
          <a:xfrm>
            <a:off x="672667" y="4343150"/>
            <a:ext cx="5376600" cy="4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f5082bbb2a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24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5082bbb2a_0_170:notes"/>
          <p:cNvSpPr txBox="1">
            <a:spLocks noGrp="1"/>
          </p:cNvSpPr>
          <p:nvPr>
            <p:ph type="body" idx="1"/>
          </p:nvPr>
        </p:nvSpPr>
        <p:spPr>
          <a:xfrm>
            <a:off x="672667" y="4343150"/>
            <a:ext cx="5376600" cy="4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2f5082bbb2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24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5082bbb2a_0_179:notes"/>
          <p:cNvSpPr txBox="1">
            <a:spLocks noGrp="1"/>
          </p:cNvSpPr>
          <p:nvPr>
            <p:ph type="body" idx="1"/>
          </p:nvPr>
        </p:nvSpPr>
        <p:spPr>
          <a:xfrm>
            <a:off x="672667" y="4343150"/>
            <a:ext cx="5376600" cy="4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f5082bbb2a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24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6022" y="1143550"/>
            <a:ext cx="6006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6022" y="1143550"/>
            <a:ext cx="6006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9387" y="357504"/>
            <a:ext cx="87852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179388" y="897731"/>
            <a:ext cx="8785200" cy="2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xhcovHLA90s?feature=oembed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xhcovHLA90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QO2OO1r_tFg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hyperlink" Target="https://dashboard.blooket.com/set/68afe0784612b334ac51fd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153525" y="624775"/>
            <a:ext cx="4891500" cy="630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 i="0" u="sng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Date:</a:t>
            </a:r>
            <a:r>
              <a:rPr lang="en" sz="1600" b="1" i="0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600" b="1" u="sng">
                <a:latin typeface="Poppins"/>
                <a:ea typeface="Poppins"/>
                <a:cs typeface="Poppins"/>
                <a:sym typeface="Poppins"/>
              </a:rPr>
              <a:t>Thursday 9th September</a:t>
            </a:r>
            <a:r>
              <a:rPr lang="en" sz="1600" b="1" i="0" u="sng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202</a:t>
            </a:r>
            <a:r>
              <a:rPr lang="en" sz="1600" b="1" u="sng">
                <a:latin typeface="Poppins"/>
                <a:ea typeface="Poppins"/>
                <a:cs typeface="Poppins"/>
                <a:sym typeface="Poppins"/>
              </a:rPr>
              <a:t>5</a:t>
            </a:r>
            <a:endParaRPr sz="1600" b="1" i="0" u="sng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 i="0" u="sng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Title: What happens at plate boundaries?</a:t>
            </a:r>
            <a:endParaRPr sz="1600" b="1" i="0" u="sng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186450" y="1403775"/>
            <a:ext cx="4858500" cy="3475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AutoNum type="arabicPeriod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What are the 4 layers of the Earth called?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AutoNum type="arabicPeriod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Which layer of the Earth is thought to be completely solid? Why do scientists think this?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AutoNum type="arabicPeriod"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How are continental plates different from oceanic plates?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1100" y="1805638"/>
            <a:ext cx="3794250" cy="26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576" y="1442250"/>
            <a:ext cx="756925" cy="5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10150" y="554375"/>
            <a:ext cx="5595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Tectonic Hazards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353475" y="1066775"/>
            <a:ext cx="46797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 dirty="0">
                <a:latin typeface="Baumans"/>
                <a:ea typeface="Baumans"/>
                <a:cs typeface="Baumans"/>
                <a:sym typeface="Baumans"/>
              </a:rPr>
              <a:t>Earth looks peaceful from space, but plates shift below. Why is curiosity important for asking questions about Earth’s hidden forces?</a:t>
            </a:r>
            <a:endParaRPr sz="1600" dirty="0">
              <a:latin typeface="Baumans"/>
              <a:ea typeface="Baumans"/>
              <a:cs typeface="Baumans"/>
              <a:sym typeface="Baum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 dirty="0">
                <a:latin typeface="Baumans"/>
                <a:ea typeface="Baumans"/>
                <a:cs typeface="Baumans"/>
                <a:sym typeface="Baumans"/>
              </a:rPr>
              <a:t>Wegener’s idea of drifting continents took decades to prove. How does this show perseverance is needed for scientists to discover the truth?</a:t>
            </a:r>
            <a:endParaRPr sz="1600" dirty="0">
              <a:latin typeface="Baumans"/>
              <a:ea typeface="Baumans"/>
              <a:cs typeface="Baumans"/>
              <a:sym typeface="Baum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 dirty="0">
                <a:latin typeface="Baumans"/>
                <a:ea typeface="Baumans"/>
                <a:cs typeface="Baumans"/>
                <a:sym typeface="Baumans"/>
              </a:rPr>
              <a:t>Plates crash, separate and slide, shaping mountains and oceans. How can this remind us of the value of working together?</a:t>
            </a:r>
            <a:endParaRPr sz="1600" dirty="0"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52400" y="3582275"/>
            <a:ext cx="42012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umans"/>
              <a:buAutoNum type="arabicPeriod" startAt="4"/>
            </a:pPr>
            <a:r>
              <a:rPr lang="en" sz="1600" dirty="0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Volcanoes, earthquakes, and mountains show Earth is always changing. Why is responsibility important for how we live on our planet?</a:t>
            </a:r>
            <a:endParaRPr dirty="0"/>
          </a:p>
        </p:txBody>
      </p:sp>
      <p:pic>
        <p:nvPicPr>
          <p:cNvPr id="3" name="Online Media 2" descr="How Plate Tectonics Works (and why it matters!)">
            <a:hlinkClick r:id="" action="ppaction://media"/>
            <a:extLst>
              <a:ext uri="{FF2B5EF4-FFF2-40B4-BE49-F238E27FC236}">
                <a16:creationId xmlns:a16="http://schemas.microsoft.com/office/drawing/2014/main" id="{CCFC21B5-D6CD-2C2F-3FBA-98ABE0ADAF9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0150" y="1066775"/>
            <a:ext cx="4267630" cy="2411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6595BC5-CDE8-E60B-D64C-C84285D1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CC74DBB3-B82D-9E08-BA3B-8F4E18F141D8}"/>
              </a:ext>
            </a:extLst>
          </p:cNvPr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2A4528B-6448-0DE4-A9D1-7C41F216428E}"/>
              </a:ext>
            </a:extLst>
          </p:cNvPr>
          <p:cNvSpPr txBox="1"/>
          <p:nvPr/>
        </p:nvSpPr>
        <p:spPr>
          <a:xfrm>
            <a:off x="110150" y="554375"/>
            <a:ext cx="5595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Tectonic Hazards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E1A6732-1CDE-7469-D1DD-314DB4DF1884}"/>
              </a:ext>
            </a:extLst>
          </p:cNvPr>
          <p:cNvSpPr txBox="1"/>
          <p:nvPr/>
        </p:nvSpPr>
        <p:spPr>
          <a:xfrm>
            <a:off x="4353475" y="1066775"/>
            <a:ext cx="4679700" cy="244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>
              <a:lnSpc>
                <a:spcPct val="115000"/>
              </a:lnSpc>
              <a:buSzPts val="1600"/>
              <a:buFont typeface="Baumans"/>
              <a:buAutoNum type="arabicPeriod"/>
            </a:pPr>
            <a:r>
              <a:rPr lang="ja-JP" altLang="en-US" sz="1600">
                <a:latin typeface="Baumans"/>
                <a:ea typeface="Baumans"/>
                <a:cs typeface="Baumans"/>
                <a:sym typeface="Baumans"/>
              </a:rPr>
              <a:t>从太空看地球看似平静，但下面的板块却在移动。为什么好奇心对于提问地球隐秘力量很重要？
韦格纳关于漂移大陆的观点花了几十年才被证明。这表明科学家发现真相需要坚持不懈是如何必要的？
板块碰撞、分离、滑动，塑造山脉和海洋。这如何提醒我们合作的价值？</a:t>
            </a:r>
            <a:endParaRPr sz="1600" dirty="0">
              <a:latin typeface="Baumans"/>
              <a:ea typeface="Baumans"/>
              <a:cs typeface="Baumans"/>
              <a:sym typeface="Baumans"/>
            </a:endParaRPr>
          </a:p>
        </p:txBody>
      </p:sp>
      <p:pic>
        <p:nvPicPr>
          <p:cNvPr id="69" name="Google Shape;69;p15" descr="Join us on an exciting journey beneath Earth's surface to uncover the secrets of plate tectonics!&#10;We'll dive into Earth's layers and discover how they work together.&#10;&#10;Learn about the three types of plate boundaries:&#10;Divergent: where plates move apart&#10;Convergent: where plates come together&#10;Transform: where plates slide past each other&#10;&#10;See how these massive plates move and shape our planet, and find out why Earth doesn't get any bigger or smaller despite all this activity.&#10;We'll also look at the cool clues scientists have found that prove plate tectonics is real.&#10;&#10;This video is perfect for middle schoolers in the U.S. and KS3 students in the U.K.&#10;Let's make geology fun and easy to understand!&#10;&#10;Chapters:&#10;0:00 Introduction to Plate Tectonics&#10;0:23 Where are tectonic plates found?&#10;1:12 What are the two types of lithosphere/crust?&#10;1:44 What are the three plate boundaries?&#10;3:21 What causes tectonic plates to move?&#10;4:11 What evidence is there for plate tectonics?&#10;4:48 What keeps the Earth the same size?&#10;&#10;&#10;#geology #science #platetectonics &#10;&#10;&#10;&#10;SOCIAL MEDIA&#10;▀▀▀▀▀▀▀▀▀▀▀▀▀▀▀▀▀▀▀▀▀▀▀▀▀▀&#10;TikTok:           https://www.tiktok.com/@earthxplained&#10;Instagram:     https://www.instagram.com/earthxplained/" title="How Plate Tectonics Works (and why it matters)">
            <a:hlinkClick r:id="rId3"/>
            <a:extLst>
              <a:ext uri="{FF2B5EF4-FFF2-40B4-BE49-F238E27FC236}">
                <a16:creationId xmlns:a16="http://schemas.microsoft.com/office/drawing/2014/main" id="{751F8074-E000-D3D5-1265-4BC855D9F8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9175"/>
            <a:ext cx="4201075" cy="236310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E0EC0A96-92CF-E7B1-631C-1EA60413DA51}"/>
              </a:ext>
            </a:extLst>
          </p:cNvPr>
          <p:cNvSpPr txBox="1"/>
          <p:nvPr/>
        </p:nvSpPr>
        <p:spPr>
          <a:xfrm>
            <a:off x="152400" y="3582275"/>
            <a:ext cx="42012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>
              <a:lnSpc>
                <a:spcPct val="115000"/>
              </a:lnSpc>
              <a:buClr>
                <a:schemeClr val="dk1"/>
              </a:buClr>
              <a:buSzPts val="1600"/>
              <a:buFont typeface="Baumans"/>
              <a:buAutoNum type="arabicPeriod" startAt="4"/>
            </a:pPr>
            <a:r>
              <a:rPr lang="ja-JP" altLang="en-US" sz="1600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火山、地震和山脉都显示地球在不断变化。为什么责任对我们在地球上的生活很重要？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29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10150" y="554375"/>
            <a:ext cx="5595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Tectonic Hazards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353475" y="1066775"/>
            <a:ext cx="4679700" cy="41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>
                <a:latin typeface="Baumans"/>
                <a:ea typeface="Baumans"/>
                <a:cs typeface="Baumans"/>
                <a:sym typeface="Baumans"/>
              </a:rPr>
              <a:t>Curiosity - It’s important to stay curious because Earth’s forces are hidden beneath the surface. Asking questions helps us understand earthquakes, volcanoes, and how our planet works.</a:t>
            </a:r>
            <a:endParaRPr sz="1600">
              <a:latin typeface="Baumans"/>
              <a:ea typeface="Baumans"/>
              <a:cs typeface="Baumans"/>
              <a:sym typeface="Baum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>
                <a:latin typeface="Baumans"/>
                <a:ea typeface="Baumans"/>
                <a:cs typeface="Baumans"/>
                <a:sym typeface="Baumans"/>
              </a:rPr>
              <a:t>Perseverance - Wegener’s idea was rejected at first, but he didn’t give up. Scientists had to persevere for decades to prove plate tectonics was real.</a:t>
            </a:r>
            <a:endParaRPr sz="1600">
              <a:latin typeface="Baumans"/>
              <a:ea typeface="Baumans"/>
              <a:cs typeface="Baumans"/>
              <a:sym typeface="Baum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umans"/>
              <a:buAutoNum type="arabicPeriod"/>
            </a:pPr>
            <a:r>
              <a:rPr lang="en" sz="1600">
                <a:latin typeface="Baumans"/>
                <a:ea typeface="Baumans"/>
                <a:cs typeface="Baumans"/>
                <a:sym typeface="Baumans"/>
              </a:rPr>
              <a:t>Collaboration - Tectonic plates work together to form mountains, oceans and valleys. Like them, people achieve more when they cooperate, even when there are challenges or disagreements.</a:t>
            </a:r>
            <a:endParaRPr sz="1600"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10150" y="3513025"/>
            <a:ext cx="41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10150" y="3571775"/>
            <a:ext cx="4138500" cy="1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umans"/>
              <a:buAutoNum type="arabicPeriod" startAt="4"/>
            </a:pPr>
            <a:r>
              <a:rPr lang="en" sz="1600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Responsibility - Earthquakes, volcanoes, and plate movements can cause danger. We must take responsibility by preparing wisely and caring for the planet we all share.</a:t>
            </a:r>
            <a:endParaRPr/>
          </a:p>
        </p:txBody>
      </p:sp>
      <p:pic>
        <p:nvPicPr>
          <p:cNvPr id="80" name="Google Shape;80;p16" title="Screenshot 2025-08-28 at 3.27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175"/>
            <a:ext cx="4201074" cy="235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70850" y="2499675"/>
            <a:ext cx="5018700" cy="233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717625" y="2460225"/>
            <a:ext cx="4371900" cy="24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Point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I think the most dangerous plate boundary is the…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Evidence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One example of this is… Another example is…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Explain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This shows it is dangerous because… Some people might argue that another plate boundary is more dangerous because…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Link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Overall, I believe the most dangerous plate boundary is the… because…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149775" y="2471000"/>
            <a:ext cx="3917100" cy="236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17"/>
          <p:cNvGrpSpPr/>
          <p:nvPr/>
        </p:nvGrpSpPr>
        <p:grpSpPr>
          <a:xfrm>
            <a:off x="5988462" y="1418498"/>
            <a:ext cx="733874" cy="779782"/>
            <a:chOff x="4713801" y="2288379"/>
            <a:chExt cx="2437311" cy="2588919"/>
          </a:xfrm>
        </p:grpSpPr>
        <p:pic>
          <p:nvPicPr>
            <p:cNvPr id="89" name="Google Shape;89;p17"/>
            <p:cNvPicPr preferRelativeResize="0"/>
            <p:nvPr/>
          </p:nvPicPr>
          <p:blipFill rotWithShape="1">
            <a:blip r:embed="rId3">
              <a:alphaModFix/>
            </a:blip>
            <a:srcRect r="49650"/>
            <a:stretch/>
          </p:blipFill>
          <p:spPr>
            <a:xfrm>
              <a:off x="4818582" y="2414445"/>
              <a:ext cx="1431731" cy="2132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7"/>
            <p:cNvPicPr preferRelativeResize="0"/>
            <p:nvPr/>
          </p:nvPicPr>
          <p:blipFill rotWithShape="1">
            <a:blip r:embed="rId3">
              <a:alphaModFix/>
            </a:blip>
            <a:srcRect r="49650"/>
            <a:stretch/>
          </p:blipFill>
          <p:spPr>
            <a:xfrm rot="723819">
              <a:off x="4920850" y="2414445"/>
              <a:ext cx="1431730" cy="2132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7"/>
            <p:cNvPicPr preferRelativeResize="0"/>
            <p:nvPr/>
          </p:nvPicPr>
          <p:blipFill rotWithShape="1">
            <a:blip r:embed="rId3">
              <a:alphaModFix/>
            </a:blip>
            <a:srcRect r="49650"/>
            <a:stretch/>
          </p:blipFill>
          <p:spPr>
            <a:xfrm rot="1881938">
              <a:off x="5268982" y="2527891"/>
              <a:ext cx="1431730" cy="213262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7"/>
          <p:cNvSpPr/>
          <p:nvPr/>
        </p:nvSpPr>
        <p:spPr>
          <a:xfrm>
            <a:off x="110800" y="1104875"/>
            <a:ext cx="89223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 1</a:t>
            </a:r>
            <a:r>
              <a:rPr lang="en" sz="1800" i="0" u="none" strike="noStrike" cap="none">
                <a:solidFill>
                  <a:srgbClr val="000000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:</a:t>
            </a:r>
            <a:r>
              <a:rPr lang="en" sz="1800" i="0" u="none" strike="noStrike" cap="none">
                <a:solidFill>
                  <a:srgbClr val="000000"/>
                </a:solidFill>
                <a:latin typeface="Baumans"/>
                <a:ea typeface="Baumans"/>
                <a:cs typeface="Baumans"/>
                <a:sym typeface="Baumans"/>
              </a:rPr>
              <a:t> Using the information sheets, c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ompete your “</a:t>
            </a:r>
            <a:r>
              <a:rPr lang="en" sz="1800" b="1">
                <a:solidFill>
                  <a:srgbClr val="980000"/>
                </a:solidFill>
                <a:latin typeface="Baumans"/>
                <a:ea typeface="Baumans"/>
                <a:cs typeface="Baumans"/>
                <a:sym typeface="Baumans"/>
              </a:rPr>
              <a:t>Plate Boundaries Factfile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”</a:t>
            </a:r>
            <a:endParaRPr sz="1100" i="0" u="none" strike="noStrike" cap="none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10850" y="1587050"/>
            <a:ext cx="57609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 2</a:t>
            </a:r>
            <a:r>
              <a:rPr lang="en" sz="1800" i="0" u="none" strike="noStrike" cap="none">
                <a:solidFill>
                  <a:srgbClr val="000000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:</a:t>
            </a:r>
            <a:r>
              <a:rPr lang="en" sz="1800" i="0" u="none" strike="noStrike" cap="none">
                <a:solidFill>
                  <a:srgbClr val="000000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Write a PEEL paragraph to answer this question: “</a:t>
            </a:r>
            <a:r>
              <a:rPr lang="en" sz="1800" b="1">
                <a:latin typeface="Baumans"/>
                <a:ea typeface="Baumans"/>
                <a:cs typeface="Baumans"/>
                <a:sym typeface="Baumans"/>
              </a:rPr>
              <a:t>Which type of plate boundary do you think is the most dangerous, and why?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”</a:t>
            </a:r>
            <a:endParaRPr sz="1100" i="0" u="none" strike="noStrike" cap="none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10150" y="554375"/>
            <a:ext cx="53331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What happens at plate boundaries?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96" name="Google Shape;96;p17" title="Screenshot 2025-08-28 at 11.53.4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2544" y="1418524"/>
            <a:ext cx="1024733" cy="77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Screenshot 2025-08-28 at 12.01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700" y="2908375"/>
            <a:ext cx="607125" cy="16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7812275" y="1456625"/>
            <a:ext cx="12546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rPr>
              <a:t>Don't forget to add a sketch!</a:t>
            </a:r>
            <a:endParaRPr sz="1300">
              <a:solidFill>
                <a:schemeClr val="dk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99" name="Google Shape;99;p17" title="Screenshot 2025-07-01 at 9.18.3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8123" y="3078151"/>
            <a:ext cx="557347" cy="55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5847875" y="2449450"/>
            <a:ext cx="3218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 dirty="0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GCSE Exam question </a:t>
            </a:r>
            <a:r>
              <a:rPr lang="en" sz="1600" b="1" u="sng" dirty="0" err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practise</a:t>
            </a:r>
            <a:r>
              <a:rPr lang="en" sz="1600" b="1" u="sng" dirty="0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:</a:t>
            </a:r>
            <a:endParaRPr sz="1600" u="sng" dirty="0">
              <a:solidFill>
                <a:schemeClr val="dk1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Explain the physical processes that happen at constructive plate boundaries.</a:t>
            </a:r>
            <a:endParaRPr sz="1600" dirty="0">
              <a:latin typeface="Delius"/>
              <a:ea typeface="Delius"/>
              <a:cs typeface="Delius"/>
              <a:sym typeface="Deliu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7">
            <a:alphaModFix/>
          </a:blip>
          <a:srcRect r="50335"/>
          <a:stretch/>
        </p:blipFill>
        <p:spPr>
          <a:xfrm>
            <a:off x="5240750" y="3745399"/>
            <a:ext cx="607125" cy="916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5944325" y="3571725"/>
            <a:ext cx="3039300" cy="12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Word Bank: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plates, move apart / separate, gap / space, magma, crust, rises / pushes up, lava, erupt / eruption, earthquakes, volcanoes, shield volcanoes, hot, runny / fluid, flows far, cools</a:t>
            </a:r>
            <a:endParaRPr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103" name="Google Shape;103;p17" title="Screenshot 2025-07-01 at 9.18.3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716" y="2536873"/>
            <a:ext cx="339882" cy="33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33" y="2539863"/>
            <a:ext cx="266775" cy="34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8125" y="2518150"/>
            <a:ext cx="557350" cy="5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A6B96652-BE0D-D9C5-C028-05690CC0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A9EA950F-C146-E17C-B840-937660C614B0}"/>
              </a:ext>
            </a:extLst>
          </p:cNvPr>
          <p:cNvSpPr/>
          <p:nvPr/>
        </p:nvSpPr>
        <p:spPr>
          <a:xfrm>
            <a:off x="70850" y="2499675"/>
            <a:ext cx="5018700" cy="233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7F741F18-CD34-1FD5-122B-0591C2304D97}"/>
              </a:ext>
            </a:extLst>
          </p:cNvPr>
          <p:cNvSpPr txBox="1"/>
          <p:nvPr/>
        </p:nvSpPr>
        <p:spPr>
          <a:xfrm>
            <a:off x="717625" y="2460225"/>
            <a:ext cx="4371900" cy="24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Point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I think the most dangerous plate boundary is the…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Evidence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One example of this is… Another example is…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Explain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This shows it is dangerous because… Some people might argue that another plate boundary is more dangerous because…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Link – </a:t>
            </a:r>
            <a:r>
              <a:rPr lang="en" sz="1600" b="1" i="1" dirty="0">
                <a:solidFill>
                  <a:srgbClr val="0000FF"/>
                </a:solidFill>
                <a:latin typeface="Patrick Hand"/>
                <a:ea typeface="Patrick Hand"/>
                <a:cs typeface="Patrick Hand"/>
                <a:sym typeface="Patrick Hand"/>
              </a:rPr>
              <a:t>Overall, I believe the most dangerous plate boundary is the… because…</a:t>
            </a:r>
            <a:endParaRPr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FD17F070-1F11-C629-628A-3495B4DF3704}"/>
              </a:ext>
            </a:extLst>
          </p:cNvPr>
          <p:cNvSpPr/>
          <p:nvPr/>
        </p:nvSpPr>
        <p:spPr>
          <a:xfrm>
            <a:off x="110800" y="1104875"/>
            <a:ext cx="89223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 1</a:t>
            </a:r>
            <a:r>
              <a:rPr lang="en" sz="1800" i="0" u="none" strike="noStrike" cap="none">
                <a:solidFill>
                  <a:srgbClr val="000000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:</a:t>
            </a:r>
            <a:r>
              <a:rPr lang="en" sz="1800" i="0" u="none" strike="noStrike" cap="none">
                <a:solidFill>
                  <a:srgbClr val="000000"/>
                </a:solidFill>
                <a:latin typeface="Baumans"/>
                <a:ea typeface="Baumans"/>
                <a:cs typeface="Baumans"/>
                <a:sym typeface="Baumans"/>
              </a:rPr>
              <a:t> Using the information sheets, c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ompete your “</a:t>
            </a:r>
            <a:r>
              <a:rPr lang="en" sz="1800" b="1">
                <a:solidFill>
                  <a:srgbClr val="980000"/>
                </a:solidFill>
                <a:latin typeface="Baumans"/>
                <a:ea typeface="Baumans"/>
                <a:cs typeface="Baumans"/>
                <a:sym typeface="Baumans"/>
              </a:rPr>
              <a:t>Plate Boundaries Factfile</a:t>
            </a: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”</a:t>
            </a:r>
            <a:endParaRPr sz="1100" i="0" u="none" strike="noStrike" cap="none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9C8B81F5-FF71-9AFD-88C2-E54AB3B288F2}"/>
              </a:ext>
            </a:extLst>
          </p:cNvPr>
          <p:cNvSpPr/>
          <p:nvPr/>
        </p:nvSpPr>
        <p:spPr>
          <a:xfrm>
            <a:off x="110849" y="1587050"/>
            <a:ext cx="8872775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buSzPts val="1800"/>
            </a:pPr>
            <a:r>
              <a:rPr lang="en" sz="1800" dirty="0"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 2</a:t>
            </a:r>
            <a:r>
              <a:rPr lang="en" sz="180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: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 dirty="0">
                <a:latin typeface="Baumans"/>
                <a:ea typeface="Baumans"/>
                <a:cs typeface="Baumans"/>
                <a:sym typeface="Baumans"/>
              </a:rPr>
              <a:t>Write a PEEL paragraph to answer this question: “</a:t>
            </a:r>
            <a:r>
              <a:rPr lang="en" sz="1800" b="1" dirty="0">
                <a:latin typeface="Baumans"/>
                <a:ea typeface="Baumans"/>
                <a:cs typeface="Baumans"/>
                <a:sym typeface="Baumans"/>
              </a:rPr>
              <a:t>Which type of plate boundary do you think is the most dangerous, and why?</a:t>
            </a:r>
            <a:r>
              <a:rPr lang="en" sz="1800" dirty="0">
                <a:latin typeface="Baumans"/>
                <a:ea typeface="Baumans"/>
                <a:cs typeface="Baumans"/>
                <a:sym typeface="Baumans"/>
              </a:rPr>
              <a:t>”</a:t>
            </a:r>
            <a:r>
              <a:rPr lang="ja-JP" altLang="en-US" sz="1800">
                <a:latin typeface="Baumans"/>
                <a:ea typeface="Baumans"/>
                <a:cs typeface="Baumans"/>
                <a:sym typeface="Baumans"/>
              </a:rPr>
              <a:t> </a:t>
            </a:r>
            <a:endParaRPr lang="en-US" altLang="ja-JP" sz="1800" dirty="0">
              <a:latin typeface="Baumans"/>
              <a:ea typeface="Baumans"/>
              <a:cs typeface="Baumans"/>
              <a:sym typeface="Baumans"/>
            </a:endParaRPr>
          </a:p>
          <a:p>
            <a:pPr lvl="0">
              <a:buSzPts val="1800"/>
            </a:pPr>
            <a:r>
              <a:rPr lang="ja-JP" altLang="en-US" sz="1800">
                <a:latin typeface="Baumans"/>
                <a:ea typeface="Baumans"/>
                <a:cs typeface="Baumans"/>
                <a:sym typeface="Baumans"/>
              </a:rPr>
              <a:t>“你认为哪种板块边界最危险，为什么？”</a:t>
            </a:r>
            <a:endParaRPr sz="1100" i="0" u="none" strike="noStrike" cap="none" dirty="0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4ADB5BCA-3307-16C1-69A6-2ECF791235D4}"/>
              </a:ext>
            </a:extLst>
          </p:cNvPr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EAF3C07B-D98B-61B7-F1D9-6EDA7053B7B6}"/>
              </a:ext>
            </a:extLst>
          </p:cNvPr>
          <p:cNvSpPr txBox="1"/>
          <p:nvPr/>
        </p:nvSpPr>
        <p:spPr>
          <a:xfrm>
            <a:off x="110150" y="554375"/>
            <a:ext cx="53331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What happens at plate boundaries?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97" name="Google Shape;97;p17" title="Screenshot 2025-08-28 at 12.01.03 PM.png">
            <a:extLst>
              <a:ext uri="{FF2B5EF4-FFF2-40B4-BE49-F238E27FC236}">
                <a16:creationId xmlns:a16="http://schemas.microsoft.com/office/drawing/2014/main" id="{5441226C-1C77-0EA5-F05F-4EDE600C8D4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00" y="2908375"/>
            <a:ext cx="607125" cy="16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7543149C-1E4E-F130-2215-D68E4D3313E1}"/>
              </a:ext>
            </a:extLst>
          </p:cNvPr>
          <p:cNvSpPr txBox="1"/>
          <p:nvPr/>
        </p:nvSpPr>
        <p:spPr>
          <a:xfrm>
            <a:off x="5129375" y="4038625"/>
            <a:ext cx="4014599" cy="12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Word Bank: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plates, move apart / separate, gap / space, magma, crust, rises / pushes up, lava, erupt / eruption, earthquakes, volcanoes, shield volcanoes, hot, runny / fluid, flows far, cools</a:t>
            </a:r>
            <a:endParaRPr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103" name="Google Shape;103;p17" title="Screenshot 2025-07-01 at 9.18.39 AM.png">
            <a:extLst>
              <a:ext uri="{FF2B5EF4-FFF2-40B4-BE49-F238E27FC236}">
                <a16:creationId xmlns:a16="http://schemas.microsoft.com/office/drawing/2014/main" id="{36D4D37F-FD78-E309-92D0-249EBD508A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16" y="2536873"/>
            <a:ext cx="339882" cy="33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>
            <a:extLst>
              <a:ext uri="{FF2B5EF4-FFF2-40B4-BE49-F238E27FC236}">
                <a16:creationId xmlns:a16="http://schemas.microsoft.com/office/drawing/2014/main" id="{404F37FD-F31D-646D-1063-CCB3F59B528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33" y="2539863"/>
            <a:ext cx="266775" cy="3402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DCBAD6-DE6C-F7AD-CE48-E2761CA30507}"/>
              </a:ext>
            </a:extLst>
          </p:cNvPr>
          <p:cNvSpPr txBox="1"/>
          <p:nvPr/>
        </p:nvSpPr>
        <p:spPr>
          <a:xfrm>
            <a:off x="5129400" y="2337632"/>
            <a:ext cx="4014600" cy="1772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重点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——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我认为最危险的板块边界是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
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证据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——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一个例子是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另一个例子是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
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解释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——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这说明它危险，因为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有人可能会说，另一个板块边界更危险，因为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
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林克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——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总体来说，我认为最危险的板块边界是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</a:t>
            </a:r>
            <a:r>
              <a:rPr lang="ja-JP" altLang="en-US" sz="16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因为</a:t>
            </a:r>
            <a:r>
              <a:rPr lang="en-US" altLang="ja-JP" sz="1600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......</a:t>
            </a:r>
            <a:endParaRPr lang="en-GB" sz="1600" b="1" i="1" dirty="0">
              <a:solidFill>
                <a:srgbClr val="0000FF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  <p:extLst>
      <p:ext uri="{BB962C8B-B14F-4D97-AF65-F5344CB8AC3E}">
        <p14:creationId xmlns:p14="http://schemas.microsoft.com/office/powerpoint/2010/main" val="4492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139148" y="96901"/>
            <a:ext cx="6486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b="1">
                <a:latin typeface="Quicksand"/>
                <a:ea typeface="Quicksand"/>
                <a:cs typeface="Quicksand"/>
                <a:sym typeface="Quicksand"/>
              </a:rPr>
              <a:t>Destructive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" name="Google Shape;144;p22"/>
          <p:cNvSpPr/>
          <p:nvPr/>
        </p:nvSpPr>
        <p:spPr>
          <a:xfrm rot="-1700626">
            <a:off x="5433353" y="890471"/>
            <a:ext cx="514365" cy="257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183183" y="1019422"/>
            <a:ext cx="45720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Types of plate: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Oceanic and continental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Direction of plates: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Towards each other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happens here: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denser oceanic crust is forced (subducted) under the continental plate. This generates huge amounts of heat from the mantle &amp; friction which causes the oceanic plate to melt. This magma rises through the continental crust and forms volcanoes on the surface.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Tectonic Hazards: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Earthquakes and volcanoes (also tsunamis if the earthquakes occur at sea).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Examples: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New Zealand, Japan</a:t>
            </a:r>
            <a:endParaRPr sz="1800" b="1" i="0" u="none" strike="noStrike" cap="none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1717" y="123472"/>
            <a:ext cx="4236133" cy="4236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3988190" y="4423352"/>
            <a:ext cx="5079600" cy="6234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Challenge: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Rate how dangerous this plate boundary is out of 5. Explain your answer.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5071746" y="1318696"/>
            <a:ext cx="3756300" cy="21009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</a:rPr>
              <a:t>Subduction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</a:rPr>
              <a:t>Where an oceanic plate is forced under a continental plate into the mantle. </a:t>
            </a:r>
            <a:r>
              <a:rPr lang="en" sz="21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happens at destructive plate boundaries.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139148" y="96901"/>
            <a:ext cx="6486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b="1">
                <a:latin typeface="Quicksand"/>
                <a:ea typeface="Quicksand"/>
                <a:cs typeface="Quicksand"/>
                <a:sym typeface="Quicksand"/>
              </a:rPr>
              <a:t>Destructive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4" name="Google Shape;154;p23"/>
          <p:cNvSpPr/>
          <p:nvPr/>
        </p:nvSpPr>
        <p:spPr>
          <a:xfrm rot="-1700626">
            <a:off x="5433353" y="890471"/>
            <a:ext cx="514365" cy="257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183183" y="1019422"/>
            <a:ext cx="45720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Types of plate: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Oceanic and continental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Direction of plates: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Towards each other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happens here: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denser oceanic crust is forced (subducted) under the continental plate. This generates huge amounts of heat from the mantle &amp; friction which causes the oceanic plate to melt. This magma rises through the continental crust and forms volcanoes on the surface.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Tectonic Hazards: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Earthquakes and volcanoes (also tsunamis if the earthquakes occur at sea).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Examples: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New Zealand, Japan</a:t>
            </a:r>
            <a:endParaRPr sz="1800" b="1" i="0" u="none" strike="noStrike" cap="none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1717" y="123472"/>
            <a:ext cx="4236133" cy="4236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/>
          <p:nvPr/>
        </p:nvSpPr>
        <p:spPr>
          <a:xfrm>
            <a:off x="3988190" y="4423352"/>
            <a:ext cx="5079600" cy="6234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Challenge: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Rate how dangerous this plate boundary is out of 5. Explain your answer.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139148" y="96901"/>
            <a:ext cx="6486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b="1">
                <a:latin typeface="Quicksand"/>
                <a:ea typeface="Quicksand"/>
                <a:cs typeface="Quicksand"/>
                <a:sym typeface="Quicksand"/>
              </a:rPr>
              <a:t>Constructive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3" name="Google Shape;163;p24"/>
          <p:cNvSpPr/>
          <p:nvPr/>
        </p:nvSpPr>
        <p:spPr>
          <a:xfrm rot="-1700626">
            <a:off x="5433353" y="890471"/>
            <a:ext cx="514365" cy="257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183183" y="882262"/>
            <a:ext cx="42060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Types of plate: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Oceanic-oceanic, or continental-continental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Direction of plates: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Away from each other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happens here: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As the plates move apart magma breaks through the crust and rises to the surface and solidifies forming shield volcanoes on the surface.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Tectonic Hazards: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Earthquakes (small) and shield volcanoes (not very powerful).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Examples: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Iceland, East African Rift Valley</a:t>
            </a:r>
            <a:endParaRPr sz="1800" b="1" i="0" u="none" strike="noStrike" cap="none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7152" y="96901"/>
            <a:ext cx="44577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/>
          <p:nvPr/>
        </p:nvSpPr>
        <p:spPr>
          <a:xfrm>
            <a:off x="4273061" y="4423352"/>
            <a:ext cx="4794600" cy="6234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Challenge: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Rate how dangerous this plate boundary is out of 5. Explain your answer.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139148" y="96901"/>
            <a:ext cx="6486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b="1">
                <a:latin typeface="Quicksand"/>
                <a:ea typeface="Quicksand"/>
                <a:cs typeface="Quicksand"/>
                <a:sym typeface="Quicksand"/>
              </a:rPr>
              <a:t>Conservative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2" name="Google Shape;172;p25"/>
          <p:cNvSpPr/>
          <p:nvPr/>
        </p:nvSpPr>
        <p:spPr>
          <a:xfrm rot="-1700626">
            <a:off x="5433353" y="890471"/>
            <a:ext cx="514365" cy="257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183183" y="882262"/>
            <a:ext cx="42060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Types of plate: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Oceanic-oceanic, continental-continental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Direction of plates: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Side by side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happens here: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Two plates are moving past each other (side by side) in either opposite directions or the same direction but at different speeds. This can cause a huge build up of pressure which is released as an earthquake.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Tectonic Hazards: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Earthquakes (can be very powerful)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Examples: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San Andreas fault (California).</a:t>
            </a:r>
            <a:endParaRPr sz="1800" b="1" i="0" u="none" strike="noStrike" cap="none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3117" y="157567"/>
            <a:ext cx="4457700" cy="2507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 descr="Transform fault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0" y="3291350"/>
            <a:ext cx="2637081" cy="148335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7111219" y="2985868"/>
            <a:ext cx="1956600" cy="17310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Challenge: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Rate how dangerous this plate boundary is out of 5. Explain your answer.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>
            <a:spLocks noGrp="1"/>
          </p:cNvSpPr>
          <p:nvPr>
            <p:ph type="title"/>
          </p:nvPr>
        </p:nvSpPr>
        <p:spPr>
          <a:xfrm>
            <a:off x="139148" y="96901"/>
            <a:ext cx="6486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b="1">
                <a:latin typeface="Quicksand"/>
                <a:ea typeface="Quicksand"/>
                <a:cs typeface="Quicksand"/>
                <a:sym typeface="Quicksand"/>
              </a:rPr>
              <a:t>Collision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" name="Google Shape;182;p26"/>
          <p:cNvSpPr/>
          <p:nvPr/>
        </p:nvSpPr>
        <p:spPr>
          <a:xfrm rot="-1700626">
            <a:off x="5433353" y="890471"/>
            <a:ext cx="514365" cy="2579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183183" y="882262"/>
            <a:ext cx="4206000" cy="3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Types of plate: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Continental-continental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Direction of plates: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Towards each other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 happens here: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Two continental plates are moving towards each other, but because neither is more or less dense they fold up creating mountains.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Tectonic Hazards: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Earthquakes (can be very powerful)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Examples: </a:t>
            </a:r>
            <a:r>
              <a:rPr lang="en" sz="18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Himalayan mountain range (Mt Everast)</a:t>
            </a:r>
            <a:endParaRPr sz="1800" b="1" i="0" u="none" strike="noStrike" cap="none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84" name="Google Shape;184;p26" descr="Collision Plate Boundary Illustration - Twink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3993" y="54697"/>
            <a:ext cx="4500562" cy="225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 descr="Understanding plate motions [This Dynamic Earth, USGS]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4274" y="2357424"/>
            <a:ext cx="2479390" cy="2748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 descr="The Himalaya 'breathes,' with mountains growing and shrinking in cycles"/>
          <p:cNvPicPr preferRelativeResize="0"/>
          <p:nvPr/>
        </p:nvPicPr>
        <p:blipFill rotWithShape="1">
          <a:blip r:embed="rId5">
            <a:alphaModFix/>
          </a:blip>
          <a:srcRect t="27149" b="16421"/>
          <a:stretch/>
        </p:blipFill>
        <p:spPr>
          <a:xfrm>
            <a:off x="4470702" y="2357424"/>
            <a:ext cx="2061991" cy="15509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/>
          <p:nvPr/>
        </p:nvSpPr>
        <p:spPr>
          <a:xfrm>
            <a:off x="3881666" y="4041818"/>
            <a:ext cx="2627100" cy="9924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Challenge:</a:t>
            </a:r>
            <a:r>
              <a:rPr lang="en" sz="1500" b="0" i="0" u="none" strike="noStrike" cap="non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Rate how dangerous this plate boundary is out of 5. Explain your answer.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110150" y="554375"/>
            <a:ext cx="7659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Geo skills: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he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nomalies </a:t>
            </a:r>
            <a:r>
              <a:rPr lang="en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</a:t>
            </a:r>
            <a:r>
              <a:rPr lang="en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Unusual</a:t>
            </a:r>
            <a:r>
              <a:rPr lang="en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Patter</a:t>
            </a:r>
            <a:r>
              <a:rPr lang="en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</a:t>
            </a:r>
            <a:r>
              <a:rPr lang="en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11" name="Google Shape;111;p18" descr="http://planetolog.com/maps/map-world/big/volcanic-world-map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0853" y="1104984"/>
            <a:ext cx="6435776" cy="29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10850" y="1125175"/>
            <a:ext cx="2341800" cy="29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i="1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M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ost earthquakes volcanoes</a:t>
            </a:r>
            <a:r>
              <a:rPr lang="en" sz="1800" i="1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are created along tectonic plate boundaries, there are anomalies. Islands such as Hawaii </a:t>
            </a:r>
            <a:r>
              <a:rPr lang="en" sz="1200" b="1" u="none" strike="noStrike" cap="non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(1)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, </a:t>
            </a:r>
            <a:r>
              <a:rPr lang="en" sz="1800" i="1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Pitcairn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200" b="1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(2) 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and Samoa </a:t>
            </a:r>
            <a:r>
              <a:rPr lang="en" sz="1200" b="1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(3)</a:t>
            </a:r>
            <a:r>
              <a:rPr lang="en" sz="1200" i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" sz="1800" i="1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are known as hotspot volcanoes.</a:t>
            </a:r>
            <a:endParaRPr sz="1800" i="1" u="none" strike="noStrike" cap="none">
              <a:solidFill>
                <a:schemeClr val="dk1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794250" y="2066750"/>
            <a:ext cx="210000" cy="2268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4938225" y="2571750"/>
            <a:ext cx="293100" cy="285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5123150" y="2967150"/>
            <a:ext cx="210000" cy="2268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572000" y="1995500"/>
            <a:ext cx="29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sz="1200" b="1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887800" y="2895900"/>
            <a:ext cx="29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sz="1200" b="1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711150" y="2529600"/>
            <a:ext cx="29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sz="1200" b="1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10850" y="4078875"/>
            <a:ext cx="8825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Where do you see most of the earthquakes and volcanoes on the map? Are they spread out or grouped in certain places?</a:t>
            </a:r>
            <a:endParaRPr sz="1600" b="1">
              <a:solidFill>
                <a:schemeClr val="dk1"/>
              </a:solidFill>
              <a:latin typeface="Baumans"/>
              <a:ea typeface="Baumans"/>
              <a:cs typeface="Baumans"/>
              <a:sym typeface="Baum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What do you notice about their location compared to the edges of the continents and oceans?</a:t>
            </a:r>
            <a:endParaRPr sz="1600" b="1">
              <a:solidFill>
                <a:schemeClr val="dk1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3800" y="1826825"/>
            <a:ext cx="2248188" cy="147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112751" y="1104875"/>
            <a:ext cx="4459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The Hawaiian islands</a:t>
            </a:r>
            <a:r>
              <a:rPr lang="en" sz="1800" i="0" u="none" strike="noStrike" cap="none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 i="0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in the Pacific Ocean are a good example of a hot spot.</a:t>
            </a:r>
            <a:endParaRPr sz="1800" i="0" u="none" strike="noStrike" cap="none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10150" y="554375"/>
            <a:ext cx="7659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Geo skills: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he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nomalies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(Unusual Pattern)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 Hotspots!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750" y="1826825"/>
            <a:ext cx="2059650" cy="147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 descr="Image result for hotspot volcanoes"/>
          <p:cNvPicPr preferRelativeResize="0"/>
          <p:nvPr/>
        </p:nvPicPr>
        <p:blipFill rotWithShape="1">
          <a:blip r:embed="rId5">
            <a:alphaModFix/>
          </a:blip>
          <a:srcRect l="6039" t="25677" r="9494" b="16855"/>
          <a:stretch/>
        </p:blipFill>
        <p:spPr>
          <a:xfrm>
            <a:off x="110150" y="3665275"/>
            <a:ext cx="2756874" cy="141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>
            <a:off x="3738225" y="3951675"/>
            <a:ext cx="52950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 i="0" u="none" strike="noStrike" cap="none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As the movement of the plate moves the islands away from the hotspot a volcanic chain of islands is formed.</a:t>
            </a:r>
            <a:endParaRPr sz="1700" i="0" u="none" strike="noStrike" cap="none">
              <a:solidFill>
                <a:srgbClr val="00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cxnSp>
        <p:nvCxnSpPr>
          <p:cNvPr id="132" name="Google Shape;132;p19"/>
          <p:cNvCxnSpPr/>
          <p:nvPr/>
        </p:nvCxnSpPr>
        <p:spPr>
          <a:xfrm flipH="1">
            <a:off x="2449575" y="4268700"/>
            <a:ext cx="1420200" cy="437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3" name="Google Shape;133;p19" descr="Find out what causes the volcanic hotspots in our world! Part of our Active Earth unit:&#10;https://stileapp.com/au/library/publishers/stile/compilations/science/5b287776-2beb-4338-b2e5-64f7d8ba03d8" title="What causes volcanic hotspots?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7999" y="1294748"/>
            <a:ext cx="4015150" cy="225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2851" y="1025625"/>
            <a:ext cx="39135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</a:t>
            </a:r>
            <a:r>
              <a:rPr lang="en" sz="1800" i="0" u="none" strike="noStrike" cap="none">
                <a:solidFill>
                  <a:schemeClr val="dk1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>
                <a:solidFill>
                  <a:schemeClr val="dk1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3</a:t>
            </a:r>
            <a:r>
              <a:rPr lang="en" sz="1800" i="0" u="none" strike="noStrike" cap="none">
                <a:solidFill>
                  <a:schemeClr val="dk1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:</a:t>
            </a:r>
            <a:r>
              <a:rPr lang="en" sz="1800" i="0" u="none" strike="noStrike" cap="none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r>
              <a:rPr lang="en" sz="1800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Use latitude and longitude to mark the major volcanic eruptions and earthquakes on your map.</a:t>
            </a:r>
            <a:endParaRPr sz="1800" i="0" u="none" strike="noStrike" cap="none">
              <a:solidFill>
                <a:schemeClr val="dk1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7525" y="2169225"/>
            <a:ext cx="4755775" cy="27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10150" y="554375"/>
            <a:ext cx="5595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Geo skills: </a:t>
            </a: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</a:t>
            </a:r>
            <a:r>
              <a:rPr lang="en" sz="2400" b="1" i="0" u="none" strike="noStrike" cap="non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lotting Tectonic Hazards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197400" y="1011525"/>
            <a:ext cx="47559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Latitude: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Imaginary lines that run</a:t>
            </a: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east–west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around the Earth, showing how far north or south a place is from the Equator.</a:t>
            </a:r>
            <a:endParaRPr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Longitude: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Imaginary lines that run </a:t>
            </a:r>
            <a:r>
              <a:rPr lang="en" b="1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north–south</a:t>
            </a:r>
            <a:r>
              <a:rPr lang="en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 showing how far east or west a place is from the Prime Meridian.</a:t>
            </a:r>
            <a:endParaRPr dirty="0"/>
          </a:p>
        </p:txBody>
      </p:sp>
      <p:pic>
        <p:nvPicPr>
          <p:cNvPr id="143" name="Google Shape;143;p20" title="Screenshot 2025-07-01 at 9.18.3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0" y="3361275"/>
            <a:ext cx="1028425" cy="10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110150" y="1925250"/>
            <a:ext cx="3913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00FF00"/>
                </a:highlight>
                <a:latin typeface="Baumans"/>
                <a:ea typeface="Baumans"/>
                <a:cs typeface="Baumans"/>
                <a:sym typeface="Baumans"/>
              </a:rPr>
              <a:t>Activity 4:</a:t>
            </a:r>
            <a:r>
              <a:rPr lang="en" sz="1800">
                <a:solidFill>
                  <a:schemeClr val="dk1"/>
                </a:solidFill>
                <a:latin typeface="Baumans"/>
                <a:ea typeface="Baumans"/>
                <a:cs typeface="Baumans"/>
                <a:sym typeface="Baumans"/>
              </a:rPr>
              <a:t> Describe the global pattern of tectonic hazards. Use the word bank to help you.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1139275" y="3361275"/>
            <a:ext cx="2974200" cy="1015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umans"/>
                <a:ea typeface="Baumans"/>
                <a:cs typeface="Baumans"/>
                <a:sym typeface="Baumans"/>
              </a:rPr>
              <a:t>Explain why earthquakes and volcanoes are often found in these places.</a:t>
            </a:r>
            <a:endParaRPr sz="1800">
              <a:latin typeface="Baumans"/>
              <a:ea typeface="Baumans"/>
              <a:cs typeface="Baumans"/>
              <a:sym typeface="Baum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9;p20">
            <a:extLst>
              <a:ext uri="{FF2B5EF4-FFF2-40B4-BE49-F238E27FC236}">
                <a16:creationId xmlns:a16="http://schemas.microsoft.com/office/drawing/2014/main" id="{83D34ECA-C120-E68B-E0F3-2F4FFF2108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47159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36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110850" y="31775"/>
            <a:ext cx="8922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Title: What happens at plate boundaries? </a:t>
            </a:r>
            <a:endParaRPr sz="1000" b="1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980000"/>
                </a:solidFill>
                <a:latin typeface="Delius"/>
                <a:ea typeface="Delius"/>
                <a:cs typeface="Delius"/>
                <a:sym typeface="Delius"/>
              </a:rPr>
              <a:t>LO: Locate tectonic activity globally and describe the distribution of volcanoes and earthquakes; Explain the hazards found at each type of plate boundary</a:t>
            </a:r>
            <a:endParaRPr sz="1000" b="1" i="0" u="none" strike="noStrike" cap="none">
              <a:solidFill>
                <a:srgbClr val="980000"/>
              </a:solidFill>
              <a:latin typeface="Delius"/>
              <a:ea typeface="Delius"/>
              <a:cs typeface="Delius"/>
              <a:sym typeface="Delius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l="30711" t="5130" r="3174" b="5807"/>
          <a:stretch/>
        </p:blipFill>
        <p:spPr>
          <a:xfrm>
            <a:off x="132700" y="713175"/>
            <a:ext cx="975600" cy="51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1108300" y="696650"/>
            <a:ext cx="53331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Odd One Out?</a:t>
            </a:r>
            <a:endParaRPr sz="2400" b="1" i="0" u="none" strike="noStrike" cap="non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108300" y="1247150"/>
            <a:ext cx="28167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1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Magma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Lava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Fold mountains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Shield volcano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405875" y="1247150"/>
            <a:ext cx="36273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2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Subduction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Ocean trench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Composite volcano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Earthquake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1108300" y="2999775"/>
            <a:ext cx="28167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3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Constructive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Destructive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Collision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Conservative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405875" y="2999775"/>
            <a:ext cx="36273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4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San Andreas Fault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Himalayas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Mid-Atlantic Ridge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nger Paint"/>
              <a:buAutoNum type="alphaLcPeriod"/>
            </a:pPr>
            <a:r>
              <a:rPr lang="en" sz="1800" b="1">
                <a:solidFill>
                  <a:schemeClr val="dk1"/>
                </a:solidFill>
                <a:latin typeface="Finger Paint"/>
                <a:ea typeface="Finger Paint"/>
                <a:cs typeface="Finger Paint"/>
                <a:sym typeface="Finger Paint"/>
              </a:rPr>
              <a:t>Andes Mountains</a:t>
            </a:r>
            <a:endParaRPr sz="1800" b="1">
              <a:solidFill>
                <a:schemeClr val="dk1"/>
              </a:solidFill>
              <a:latin typeface="Finger Paint"/>
              <a:ea typeface="Finger Paint"/>
              <a:cs typeface="Finger Paint"/>
              <a:sym typeface="Finger Paint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5405875" y="3381625"/>
            <a:ext cx="2975400" cy="327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108300" y="3381625"/>
            <a:ext cx="2160600" cy="327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5405875" y="2571750"/>
            <a:ext cx="2160600" cy="327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1148150" y="2244450"/>
            <a:ext cx="2416800" cy="327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2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1525" y="588753"/>
            <a:ext cx="1862049" cy="5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1911</Words>
  <Application>Microsoft Macintosh PowerPoint</Application>
  <PresentationFormat>On-screen Show (16:9)</PresentationFormat>
  <Paragraphs>137</Paragraphs>
  <Slides>16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Patrick Hand</vt:lpstr>
      <vt:lpstr>Poppins</vt:lpstr>
      <vt:lpstr>Calibri</vt:lpstr>
      <vt:lpstr>Arial</vt:lpstr>
      <vt:lpstr>Alfa Slab One</vt:lpstr>
      <vt:lpstr>Delius</vt:lpstr>
      <vt:lpstr>Finger Paint</vt:lpstr>
      <vt:lpstr>Quicksand</vt:lpstr>
      <vt:lpstr>Baumans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Destructive</vt:lpstr>
      <vt:lpstr>Destructive</vt:lpstr>
      <vt:lpstr>Constructive</vt:lpstr>
      <vt:lpstr>Conservative</vt:lpstr>
      <vt:lpstr>Collision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Douglas Lawrence</cp:lastModifiedBy>
  <cp:revision>7</cp:revision>
  <dcterms:modified xsi:type="dcterms:W3CDTF">2026-08-26T00:56:34Z</dcterms:modified>
</cp:coreProperties>
</file>