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8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85" r:id="rId24"/>
    <p:sldId id="277" r:id="rId25"/>
    <p:sldId id="278" r:id="rId26"/>
    <p:sldId id="279" r:id="rId27"/>
    <p:sldId id="280" r:id="rId28"/>
    <p:sldId id="281" r:id="rId29"/>
    <p:sldId id="282" r:id="rId30"/>
    <p:sldId id="283" r:id="rId31"/>
  </p:sldIdLst>
  <p:sldSz cx="9144000" cy="5143500" type="screen16x9"/>
  <p:notesSz cx="6858000" cy="9144000"/>
  <p:embeddedFontLst>
    <p:embeddedFont>
      <p:font typeface="Baumans" panose="02000506020000020003"/>
      <p:regular r:id="rId33"/>
    </p:embeddedFont>
    <p:embeddedFont>
      <p:font typeface="Caveat" pitchFamily="2" charset="0"/>
      <p:regular r:id="rId34"/>
      <p:bold r:id="rId35"/>
    </p:embeddedFont>
    <p:embeddedFont>
      <p:font typeface="Delius" panose="02000603000000000000" pitchFamily="2" charset="0"/>
      <p:regular r:id="rId36"/>
    </p:embeddedFont>
    <p:embeddedFont>
      <p:font typeface="Edu TAS Beginner" panose="020F0502020204030204" pitchFamily="34" charset="0"/>
      <p:regular r:id="rId37"/>
      <p:bold r:id="rId38"/>
      <p:italic r:id="rId39"/>
      <p:boldItalic r:id="rId40"/>
    </p:embeddedFont>
    <p:embeddedFont>
      <p:font typeface="Finger Paint" panose="020B0506040000020004" pitchFamily="34" charset="0"/>
      <p:regular r:id="rId41"/>
    </p:embeddedFont>
    <p:embeddedFont>
      <p:font typeface="Luckiest Guy" panose="02000506000000020004" pitchFamily="2" charset="0"/>
      <p:regular r:id="rId42"/>
    </p:embeddedFont>
    <p:embeddedFont>
      <p:font typeface="Patrick Hand" pitchFamily="2" charset="77"/>
      <p:regular r:id="rId43"/>
    </p:embeddedFont>
    <p:embeddedFont>
      <p:font typeface="Patrick Hand SC" pitchFamily="2" charset="77"/>
      <p:regular r:id="rId44"/>
    </p:embeddedFont>
    <p:embeddedFont>
      <p:font typeface="Poppins" pitchFamily="2" charset="77"/>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15:clr>
            <a:srgbClr val="747775"/>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F5D31DA-D247-41EE-9E47-7AEE27247059}">
  <a:tblStyle styleId="{AF5D31DA-D247-41EE-9E47-7AEE27247059}"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FA634A70-2CFB-42BB-8579-4DAF9E0485C4}"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185"/>
    <p:restoredTop sz="94691"/>
  </p:normalViewPr>
  <p:slideViewPr>
    <p:cSldViewPr snapToGrid="0">
      <p:cViewPr varScale="1">
        <p:scale>
          <a:sx n="116" d="100"/>
          <a:sy n="116" d="100"/>
        </p:scale>
        <p:origin x="192" y="952"/>
      </p:cViewPr>
      <p:guideLst>
        <p:guide orient="horz"/>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font" Target="fonts/font15.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font" Target="fonts/font1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2.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font" Target="fonts/font11.fntdata"/><Relationship Id="rId48" Type="http://schemas.openxmlformats.org/officeDocument/2006/relationships/font" Target="fonts/font16.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font" Target="fonts/font14.fntdata"/><Relationship Id="rId20" Type="http://schemas.openxmlformats.org/officeDocument/2006/relationships/slide" Target="slides/slide19.xml"/><Relationship Id="rId41"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7f980411e5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g37f980411e5_0_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h3202b981eab1d699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 name="Google Shape;75;h3202b981eab1d699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h3202b981eab1d699_0_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h3202b981eab1d699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 name="Google Shape;9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6" name="Google Shape;106;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8" name="Google Shape;118;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7f980411e5_2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7f980411e5_2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7f980411e5_0_1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7f980411e5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https://www.youtube.com/watch?v=hrc6FdWY-9s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37f9d2492d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7f9d2492d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5" name="Google Shape;165;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7f980411e5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7f980411e5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h3202b981eab1d699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400"/>
              <a:buFont typeface="Arial"/>
              <a:buNone/>
            </a:pPr>
            <a:r>
              <a:rPr lang="en">
                <a:solidFill>
                  <a:schemeClr val="dk1"/>
                </a:solidFill>
              </a:rPr>
              <a:t>https://dashboard.blooket.com/set/68b8d0887ef53e8c73be158f</a:t>
            </a:r>
            <a:endParaRPr/>
          </a:p>
        </p:txBody>
      </p:sp>
      <p:sp>
        <p:nvSpPr>
          <p:cNvPr id="183" name="Google Shape;183;h3202b981eab1d699_0_1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h3202b981eab1d699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h3202b981eab1d69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https://dashboard.blooket.com/set/68c90d70bd693d7aec34c3c3</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h3202b981eab1d699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9" name="Google Shape;209;h3202b981eab1d699_0_1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h3202b981eab1d699_0_1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h3202b981eab1d699_0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h3202b981eab1d699_0_1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8" name="Google Shape;228;h3202b981eab1d699_0_1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7f980411e5_2_1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37f980411e5_2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https://www.youtube.com/watch?v=cLR-bgx-Egs</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37f980411e5_2_1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37f980411e5_2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382092ab0c7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 name="Google Shape;259;g382092ab0c7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h3202b981eab1d699_0_3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h3202b981eab1d699_0_3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h3202b981eab1d699_0_2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h3202b981eab1d699_0_2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https://www.youtube.com/watch?v=pqs0SCW1_xI</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h3202b981eab1d699_0_3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5" name="Google Shape;295;h3202b981eab1d699_0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h3202b981eab1d699_0_3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h3202b981eab1d699_0_3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h3202b981eab1d699_0_3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 name="Google Shape;315;h3202b981eab1d699_0_3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37f980411e5_2_2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3" name="Google Shape;323;g37f980411e5_2_2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https://dashboard.blooket.com/set/68b116266e3af35fc52bd327</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37f980411e5_2_2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37f980411e5_2_2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https://dashboard.blooket.com/set/68b116266e3af35fc52bd327</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37f980411e5_2_2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 name="Google Shape;341;g37f980411e5_2_2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https://dashboard.blooket.com/set/68b116266e3af35fc52bd327</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g37f980411e5_2_2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0" name="Google Shape;350;g37f980411e5_2_2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https://dashboard.blooket.com/set/68c90d70bd693d7aec34c3c3</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
        <p:cNvGrpSpPr/>
        <p:nvPr/>
      </p:nvGrpSpPr>
      <p:grpSpPr>
        <a:xfrm>
          <a:off x="0" y="0"/>
          <a:ext cx="0" cy="0"/>
          <a:chOff x="0" y="0"/>
          <a:chExt cx="0" cy="0"/>
        </a:xfrm>
      </p:grpSpPr>
      <p:sp>
        <p:nvSpPr>
          <p:cNvPr id="17" name="Google Shape;17;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8"/>
        <p:cNvGrpSpPr/>
        <p:nvPr/>
      </p:nvGrpSpPr>
      <p:grpSpPr>
        <a:xfrm>
          <a:off x="0" y="0"/>
          <a:ext cx="0" cy="0"/>
          <a:chOff x="0" y="0"/>
          <a:chExt cx="0" cy="0"/>
        </a:xfrm>
      </p:grpSpPr>
      <p:sp>
        <p:nvSpPr>
          <p:cNvPr id="19" name="Google Shape;19;p5"/>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0" name="Google Shape;20;p5"/>
          <p:cNvSpPr txBox="1">
            <a:spLocks noGrp="1"/>
          </p:cNvSpPr>
          <p:nvPr>
            <p:ph type="body" idx="1"/>
          </p:nvPr>
        </p:nvSpPr>
        <p:spPr>
          <a:xfrm>
            <a:off x="457200" y="1200150"/>
            <a:ext cx="8229600" cy="3394500"/>
          </a:xfrm>
          <a:prstGeom prst="rect">
            <a:avLst/>
          </a:prstGeom>
          <a:noFill/>
          <a:ln>
            <a:noFill/>
          </a:ln>
        </p:spPr>
        <p:txBody>
          <a:bodyPr spcFirstLastPara="1" wrap="square" lIns="91425" tIns="45700" rIns="91425" bIns="45700" anchor="t" anchorCtr="0">
            <a:normAutofit/>
          </a:bodyPr>
          <a:lstStyle>
            <a:lvl1pPr marL="457200" lvl="0" indent="-342900" algn="l">
              <a:lnSpc>
                <a:spcPct val="115000"/>
              </a:lnSpc>
              <a:spcBef>
                <a:spcPts val="360"/>
              </a:spcBef>
              <a:spcAft>
                <a:spcPts val="0"/>
              </a:spcAft>
              <a:buClr>
                <a:schemeClr val="dk1"/>
              </a:buClr>
              <a:buSzPts val="1800"/>
              <a:buChar char="●"/>
              <a:defRPr/>
            </a:lvl1pPr>
            <a:lvl2pPr marL="914400" lvl="1" indent="-342900" algn="l">
              <a:lnSpc>
                <a:spcPct val="115000"/>
              </a:lnSpc>
              <a:spcBef>
                <a:spcPts val="1200"/>
              </a:spcBef>
              <a:spcAft>
                <a:spcPts val="0"/>
              </a:spcAft>
              <a:buClr>
                <a:schemeClr val="dk1"/>
              </a:buClr>
              <a:buSzPts val="1800"/>
              <a:buChar char="○"/>
              <a:defRPr/>
            </a:lvl2pPr>
            <a:lvl3pPr marL="1371600" lvl="2" indent="-342900" algn="l">
              <a:lnSpc>
                <a:spcPct val="115000"/>
              </a:lnSpc>
              <a:spcBef>
                <a:spcPts val="1200"/>
              </a:spcBef>
              <a:spcAft>
                <a:spcPts val="0"/>
              </a:spcAft>
              <a:buClr>
                <a:schemeClr val="dk1"/>
              </a:buClr>
              <a:buSzPts val="1800"/>
              <a:buChar char="■"/>
              <a:defRPr/>
            </a:lvl3pPr>
            <a:lvl4pPr marL="1828800" lvl="3" indent="-342900" algn="l">
              <a:lnSpc>
                <a:spcPct val="115000"/>
              </a:lnSpc>
              <a:spcBef>
                <a:spcPts val="1200"/>
              </a:spcBef>
              <a:spcAft>
                <a:spcPts val="0"/>
              </a:spcAft>
              <a:buClr>
                <a:schemeClr val="dk1"/>
              </a:buClr>
              <a:buSzPts val="1800"/>
              <a:buChar char="●"/>
              <a:defRPr/>
            </a:lvl4pPr>
            <a:lvl5pPr marL="2286000" lvl="4" indent="-342900" algn="l">
              <a:lnSpc>
                <a:spcPct val="115000"/>
              </a:lnSpc>
              <a:spcBef>
                <a:spcPts val="1200"/>
              </a:spcBef>
              <a:spcAft>
                <a:spcPts val="0"/>
              </a:spcAft>
              <a:buClr>
                <a:schemeClr val="dk1"/>
              </a:buClr>
              <a:buSzPts val="1800"/>
              <a:buChar char="○"/>
              <a:defRPr/>
            </a:lvl5pPr>
            <a:lvl6pPr marL="2743200" lvl="5" indent="-342900" algn="l">
              <a:lnSpc>
                <a:spcPct val="115000"/>
              </a:lnSpc>
              <a:spcBef>
                <a:spcPts val="1200"/>
              </a:spcBef>
              <a:spcAft>
                <a:spcPts val="0"/>
              </a:spcAft>
              <a:buClr>
                <a:schemeClr val="dk1"/>
              </a:buClr>
              <a:buSzPts val="1800"/>
              <a:buChar char="■"/>
              <a:defRPr/>
            </a:lvl6pPr>
            <a:lvl7pPr marL="3200400" lvl="6" indent="-342900" algn="l">
              <a:lnSpc>
                <a:spcPct val="115000"/>
              </a:lnSpc>
              <a:spcBef>
                <a:spcPts val="1200"/>
              </a:spcBef>
              <a:spcAft>
                <a:spcPts val="0"/>
              </a:spcAft>
              <a:buClr>
                <a:schemeClr val="dk1"/>
              </a:buClr>
              <a:buSzPts val="1800"/>
              <a:buChar char="●"/>
              <a:defRPr/>
            </a:lvl7pPr>
            <a:lvl8pPr marL="3657600" lvl="7" indent="-342900" algn="l">
              <a:lnSpc>
                <a:spcPct val="115000"/>
              </a:lnSpc>
              <a:spcBef>
                <a:spcPts val="1200"/>
              </a:spcBef>
              <a:spcAft>
                <a:spcPts val="0"/>
              </a:spcAft>
              <a:buClr>
                <a:schemeClr val="dk1"/>
              </a:buClr>
              <a:buSzPts val="1800"/>
              <a:buChar char="○"/>
              <a:defRPr/>
            </a:lvl8pPr>
            <a:lvl9pPr marL="4114800" lvl="8" indent="-342900" algn="l">
              <a:lnSpc>
                <a:spcPct val="115000"/>
              </a:lnSpc>
              <a:spcBef>
                <a:spcPts val="1200"/>
              </a:spcBef>
              <a:spcAft>
                <a:spcPts val="1200"/>
              </a:spcAft>
              <a:buClr>
                <a:schemeClr val="dk1"/>
              </a:buClr>
              <a:buSzPts val="1800"/>
              <a:buChar char="■"/>
              <a:defRPr/>
            </a:lvl9pPr>
          </a:lstStyle>
          <a:p>
            <a:endParaRPr/>
          </a:p>
        </p:txBody>
      </p:sp>
      <p:sp>
        <p:nvSpPr>
          <p:cNvPr id="21" name="Google Shape;21;p5"/>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2" name="Google Shape;22;p5"/>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3" name="Google Shape;23;p5"/>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
        <p:cNvGrpSpPr/>
        <p:nvPr/>
      </p:nvGrpSpPr>
      <p:grpSpPr>
        <a:xfrm>
          <a:off x="0" y="0"/>
          <a:ext cx="0" cy="0"/>
          <a:chOff x="0" y="0"/>
          <a:chExt cx="0" cy="0"/>
        </a:xfrm>
      </p:grpSpPr>
      <p:sp>
        <p:nvSpPr>
          <p:cNvPr id="25" name="Google Shape;25;p6"/>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6" name="Google Shape;26;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7"/>
        <p:cNvGrpSpPr/>
        <p:nvPr/>
      </p:nvGrpSpPr>
      <p:grpSpPr>
        <a:xfrm>
          <a:off x="0" y="0"/>
          <a:ext cx="0" cy="0"/>
          <a:chOff x="0" y="0"/>
          <a:chExt cx="0" cy="0"/>
        </a:xfrm>
      </p:grpSpPr>
      <p:sp>
        <p:nvSpPr>
          <p:cNvPr id="28" name="Google Shape;28;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9" name="Google Shape;29;p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0" name="Google Shape;30;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3" name="Google Shape;33;p8"/>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4" name="Google Shape;34;p8"/>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5" name="Google Shape;35;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p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8" name="Google Shape;38;p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9" name="Google Shape;39;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0"/>
        <p:cNvGrpSpPr/>
        <p:nvPr/>
      </p:nvGrpSpPr>
      <p:grpSpPr>
        <a:xfrm>
          <a:off x="0" y="0"/>
          <a:ext cx="0" cy="0"/>
          <a:chOff x="0" y="0"/>
          <a:chExt cx="0" cy="0"/>
        </a:xfrm>
      </p:grpSpPr>
      <p:sp>
        <p:nvSpPr>
          <p:cNvPr id="41" name="Google Shape;41;p1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2" name="Google Shape;42;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3"/>
        <p:cNvGrpSpPr/>
        <p:nvPr/>
      </p:nvGrpSpPr>
      <p:grpSpPr>
        <a:xfrm>
          <a:off x="0" y="0"/>
          <a:ext cx="0" cy="0"/>
          <a:chOff x="0" y="0"/>
          <a:chExt cx="0" cy="0"/>
        </a:xfrm>
      </p:grpSpPr>
      <p:sp>
        <p:nvSpPr>
          <p:cNvPr id="44" name="Google Shape;44;p1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1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6" name="Google Shape;46;p1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7" name="Google Shape;47;p1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8" name="Google Shape;48;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9"/>
        <p:cNvGrpSpPr/>
        <p:nvPr/>
      </p:nvGrpSpPr>
      <p:grpSpPr>
        <a:xfrm>
          <a:off x="0" y="0"/>
          <a:ext cx="0" cy="0"/>
          <a:chOff x="0" y="0"/>
          <a:chExt cx="0" cy="0"/>
        </a:xfrm>
      </p:grpSpPr>
      <p:sp>
        <p:nvSpPr>
          <p:cNvPr id="50" name="Google Shape;50;p1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1" name="Google Shape;51;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2"/>
        <p:cNvGrpSpPr/>
        <p:nvPr/>
      </p:nvGrpSpPr>
      <p:grpSpPr>
        <a:xfrm>
          <a:off x="0" y="0"/>
          <a:ext cx="0" cy="0"/>
          <a:chOff x="0" y="0"/>
          <a:chExt cx="0" cy="0"/>
        </a:xfrm>
      </p:grpSpPr>
      <p:sp>
        <p:nvSpPr>
          <p:cNvPr id="53" name="Google Shape;53;p1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4" name="Google Shape;54;p1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55" name="Google Shape;55;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1">
  <p:cSld name="Blank">
    <p:spTree>
      <p:nvGrpSpPr>
        <p:cNvPr id="1" name="Shape 56"/>
        <p:cNvGrpSpPr/>
        <p:nvPr/>
      </p:nvGrpSpPr>
      <p:grpSpPr>
        <a:xfrm>
          <a:off x="0" y="0"/>
          <a:ext cx="0" cy="0"/>
          <a:chOff x="0" y="0"/>
          <a:chExt cx="0" cy="0"/>
        </a:xfrm>
      </p:grpSpPr>
      <p:sp>
        <p:nvSpPr>
          <p:cNvPr id="57" name="Google Shape;57;p14"/>
          <p:cNvSpPr txBox="1">
            <a:spLocks noGrp="1"/>
          </p:cNvSpPr>
          <p:nvPr>
            <p:ph type="sldNum" idx="12"/>
          </p:nvPr>
        </p:nvSpPr>
        <p:spPr>
          <a:xfrm>
            <a:off x="8422818" y="4803219"/>
            <a:ext cx="264000" cy="201900"/>
          </a:xfrm>
          <a:prstGeom prst="rect">
            <a:avLst/>
          </a:prstGeom>
          <a:noFill/>
          <a:ln>
            <a:noFill/>
          </a:ln>
        </p:spPr>
        <p:txBody>
          <a:bodyPr spcFirstLastPara="1" wrap="square" lIns="45700" tIns="45700" rIns="45700" bIns="45700" anchor="ctr" anchorCtr="0">
            <a:normAutofit/>
          </a:bodyPr>
          <a:lstStyle>
            <a:lvl1pPr marL="0" marR="0" lvl="0" indent="0" algn="r">
              <a:lnSpc>
                <a:spcPct val="100000"/>
              </a:lnSpc>
              <a:spcBef>
                <a:spcPts val="0"/>
              </a:spcBef>
              <a:spcAft>
                <a:spcPts val="0"/>
              </a:spcAft>
              <a:buClr>
                <a:srgbClr val="888888"/>
              </a:buClr>
              <a:buSzPts val="1714"/>
              <a:buFont typeface="Calibri"/>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888888"/>
              </a:buClr>
              <a:buSzPts val="1714"/>
              <a:buFont typeface="Calibri"/>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888888"/>
              </a:buClr>
              <a:buSzPts val="1714"/>
              <a:buFont typeface="Calibri"/>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888888"/>
              </a:buClr>
              <a:buSzPts val="1714"/>
              <a:buFont typeface="Calibri"/>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888888"/>
              </a:buClr>
              <a:buSzPts val="1714"/>
              <a:buFont typeface="Calibri"/>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888888"/>
              </a:buClr>
              <a:buSzPts val="1714"/>
              <a:buFont typeface="Calibri"/>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888888"/>
              </a:buClr>
              <a:buSzPts val="1714"/>
              <a:buFont typeface="Calibri"/>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888888"/>
              </a:buClr>
              <a:buSzPts val="1714"/>
              <a:buFont typeface="Calibri"/>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888888"/>
              </a:buClr>
              <a:buSzPts val="1714"/>
              <a:buFont typeface="Calibri"/>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sz="1000">
              <a:solidFill>
                <a:schemeClr val="dk2"/>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_1">
  <p:cSld name="TITLE_1">
    <p:spTree>
      <p:nvGrpSpPr>
        <p:cNvPr id="1" name="Shape 58"/>
        <p:cNvGrpSpPr/>
        <p:nvPr/>
      </p:nvGrpSpPr>
      <p:grpSpPr>
        <a:xfrm>
          <a:off x="0" y="0"/>
          <a:ext cx="0" cy="0"/>
          <a:chOff x="0" y="0"/>
          <a:chExt cx="0" cy="0"/>
        </a:xfrm>
      </p:grpSpPr>
      <p:sp>
        <p:nvSpPr>
          <p:cNvPr id="59" name="Google Shape;59;p15"/>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60" name="Google Shape;60;p15"/>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61" name="Google Shape;61;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EFEFE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6.jpg"/></Relationships>
</file>

<file path=ppt/slides/_rels/slide9.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hyperlink" Target="http://www.youtube.com/watch?v=hrc6FdWY-9s" TargetMode="External"/><Relationship Id="rId7" Type="http://schemas.openxmlformats.org/officeDocument/2006/relationships/image" Target="../media/image20.gif"/><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jpg"/><Relationship Id="rId9" Type="http://schemas.openxmlformats.org/officeDocument/2006/relationships/image" Target="../media/image22.gif"/></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hyperlink" Target="https://dashboard.blooket.com/set/68c90d70bd693d7aec34c3c3"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hyperlink" Target="http://www.youtube.com/watch?v=cLR-bgx-Egs" TargetMode="External"/><Relationship Id="rId2" Type="http://schemas.openxmlformats.org/officeDocument/2006/relationships/notesSlide" Target="../notesSlides/notesSlide18.xml"/><Relationship Id="rId1" Type="http://schemas.openxmlformats.org/officeDocument/2006/relationships/slideLayout" Target="../slideLayouts/slideLayout14.xml"/><Relationship Id="rId5" Type="http://schemas.openxmlformats.org/officeDocument/2006/relationships/image" Target="../media/image32.png"/><Relationship Id="rId4" Type="http://schemas.openxmlformats.org/officeDocument/2006/relationships/image" Target="../media/image31.jpg"/></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14.xml"/><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35.jpg"/><Relationship Id="rId5" Type="http://schemas.openxmlformats.org/officeDocument/2006/relationships/hyperlink" Target="http://www.youtube.com/watch?v=pqs0SCW1_xI" TargetMode="External"/><Relationship Id="rId4" Type="http://schemas.openxmlformats.org/officeDocument/2006/relationships/image" Target="../media/image20.gi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hyperlink" Target="https://dashboard.blooket.com/set/68c90d70bd693d7aec34c3c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6"/>
          <p:cNvSpPr txBox="1"/>
          <p:nvPr/>
        </p:nvSpPr>
        <p:spPr>
          <a:xfrm>
            <a:off x="142875" y="582500"/>
            <a:ext cx="4813800" cy="694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u="sng" dirty="0">
                <a:solidFill>
                  <a:schemeClr val="dk1"/>
                </a:solidFill>
                <a:latin typeface="Delius"/>
                <a:ea typeface="Delius"/>
                <a:cs typeface="Delius"/>
                <a:sym typeface="Delius"/>
              </a:rPr>
              <a:t>Title:</a:t>
            </a:r>
            <a:r>
              <a:rPr lang="en" sz="1800" b="1" dirty="0">
                <a:solidFill>
                  <a:schemeClr val="dk1"/>
                </a:solidFill>
                <a:latin typeface="Delius"/>
                <a:ea typeface="Delius"/>
                <a:cs typeface="Delius"/>
                <a:sym typeface="Delius"/>
              </a:rPr>
              <a:t> Militarism and the Arms Race</a:t>
            </a:r>
            <a:endParaRPr sz="1800" b="1" dirty="0">
              <a:solidFill>
                <a:schemeClr val="dk1"/>
              </a:solidFill>
              <a:latin typeface="Delius"/>
              <a:ea typeface="Delius"/>
              <a:cs typeface="Delius"/>
              <a:sym typeface="Delius"/>
            </a:endParaRPr>
          </a:p>
        </p:txBody>
      </p:sp>
      <p:sp>
        <p:nvSpPr>
          <p:cNvPr id="67" name="Google Shape;67;p16"/>
          <p:cNvSpPr txBox="1"/>
          <p:nvPr/>
        </p:nvSpPr>
        <p:spPr>
          <a:xfrm>
            <a:off x="253425" y="1276700"/>
            <a:ext cx="4934700" cy="3571800"/>
          </a:xfrm>
          <a:prstGeom prst="rect">
            <a:avLst/>
          </a:prstGeom>
          <a:solidFill>
            <a:srgbClr val="FFE599"/>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800"/>
              <a:buFont typeface="Arial"/>
              <a:buNone/>
            </a:pPr>
            <a:r>
              <a:rPr lang="en" sz="1800" b="1">
                <a:solidFill>
                  <a:schemeClr val="dk1"/>
                </a:solidFill>
                <a:latin typeface="Delius"/>
                <a:ea typeface="Delius"/>
                <a:cs typeface="Delius"/>
                <a:sym typeface="Delius"/>
              </a:rPr>
              <a:t>Last Lesson:</a:t>
            </a:r>
            <a:r>
              <a:rPr lang="en" sz="1800">
                <a:solidFill>
                  <a:schemeClr val="dk1"/>
                </a:solidFill>
                <a:latin typeface="Delius"/>
                <a:ea typeface="Delius"/>
                <a:cs typeface="Delius"/>
                <a:sym typeface="Delius"/>
              </a:rPr>
              <a:t> Name 2 ways the Triple Entente and the Triple Alliance were the same, and 2 ways they were different.</a:t>
            </a:r>
            <a:endParaRPr sz="1800" b="0" i="0" u="none" strike="noStrike" cap="none">
              <a:solidFill>
                <a:schemeClr val="dk1"/>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800"/>
              <a:buFont typeface="Arial"/>
              <a:buNone/>
            </a:pPr>
            <a:r>
              <a:rPr lang="en" sz="1800" b="1">
                <a:solidFill>
                  <a:schemeClr val="dk1"/>
                </a:solidFill>
                <a:latin typeface="Delius"/>
                <a:ea typeface="Delius"/>
                <a:cs typeface="Delius"/>
                <a:sym typeface="Delius"/>
              </a:rPr>
              <a:t>Two Lesson</a:t>
            </a:r>
            <a:r>
              <a:rPr lang="en" sz="1800" b="1" i="0" u="none" strike="noStrike" cap="none">
                <a:solidFill>
                  <a:schemeClr val="dk1"/>
                </a:solidFill>
                <a:latin typeface="Delius"/>
                <a:ea typeface="Delius"/>
                <a:cs typeface="Delius"/>
                <a:sym typeface="Delius"/>
              </a:rPr>
              <a:t>s Ago: </a:t>
            </a:r>
            <a:r>
              <a:rPr lang="en" sz="1800">
                <a:solidFill>
                  <a:schemeClr val="dk1"/>
                </a:solidFill>
                <a:latin typeface="Delius"/>
                <a:ea typeface="Delius"/>
                <a:cs typeface="Delius"/>
                <a:sym typeface="Delius"/>
              </a:rPr>
              <a:t>What does the term ‘</a:t>
            </a:r>
            <a:r>
              <a:rPr lang="en" sz="1800" b="1">
                <a:solidFill>
                  <a:srgbClr val="980000"/>
                </a:solidFill>
                <a:latin typeface="Delius"/>
                <a:ea typeface="Delius"/>
                <a:cs typeface="Delius"/>
                <a:sym typeface="Delius"/>
              </a:rPr>
              <a:t>imperialism</a:t>
            </a:r>
            <a:r>
              <a:rPr lang="en" sz="1800">
                <a:solidFill>
                  <a:schemeClr val="dk1"/>
                </a:solidFill>
                <a:latin typeface="Delius"/>
                <a:ea typeface="Delius"/>
                <a:cs typeface="Delius"/>
                <a:sym typeface="Delius"/>
              </a:rPr>
              <a:t>’ mean?</a:t>
            </a:r>
            <a:endParaRPr sz="1800">
              <a:solidFill>
                <a:schemeClr val="dk1"/>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800"/>
              <a:buFont typeface="Arial"/>
              <a:buNone/>
            </a:pPr>
            <a:r>
              <a:rPr lang="en" sz="1800" b="1">
                <a:solidFill>
                  <a:schemeClr val="dk1"/>
                </a:solidFill>
                <a:latin typeface="Delius"/>
                <a:ea typeface="Delius"/>
                <a:cs typeface="Delius"/>
                <a:sym typeface="Delius"/>
              </a:rPr>
              <a:t>Three Lessons Ago</a:t>
            </a:r>
            <a:r>
              <a:rPr lang="en" sz="1800" b="1" i="0" u="none" strike="noStrike" cap="none">
                <a:solidFill>
                  <a:schemeClr val="dk1"/>
                </a:solidFill>
                <a:latin typeface="Delius"/>
                <a:ea typeface="Delius"/>
                <a:cs typeface="Delius"/>
                <a:sym typeface="Delius"/>
              </a:rPr>
              <a:t>:</a:t>
            </a:r>
            <a:r>
              <a:rPr lang="en" sz="1800" b="0" i="0" u="none" strike="noStrike" cap="none">
                <a:solidFill>
                  <a:schemeClr val="dk1"/>
                </a:solidFill>
                <a:latin typeface="Delius"/>
                <a:ea typeface="Delius"/>
                <a:cs typeface="Delius"/>
                <a:sym typeface="Delius"/>
              </a:rPr>
              <a:t> </a:t>
            </a:r>
            <a:r>
              <a:rPr lang="en" sz="1800">
                <a:solidFill>
                  <a:schemeClr val="dk1"/>
                </a:solidFill>
                <a:latin typeface="Delius"/>
                <a:ea typeface="Delius"/>
                <a:cs typeface="Delius"/>
                <a:sym typeface="Delius"/>
              </a:rPr>
              <a:t>What were some of the main tensions in Europe before 1914 that made war more likely?</a:t>
            </a:r>
            <a:endParaRPr sz="1800" b="0" i="0" u="none" strike="noStrike" cap="none">
              <a:solidFill>
                <a:schemeClr val="dk1"/>
              </a:solidFill>
              <a:latin typeface="Delius"/>
              <a:ea typeface="Delius"/>
              <a:cs typeface="Delius"/>
              <a:sym typeface="Delius"/>
            </a:endParaRPr>
          </a:p>
        </p:txBody>
      </p:sp>
      <p:sp>
        <p:nvSpPr>
          <p:cNvPr id="68" name="Google Shape;68;p16"/>
          <p:cNvSpPr txBox="1"/>
          <p:nvPr/>
        </p:nvSpPr>
        <p:spPr>
          <a:xfrm>
            <a:off x="5330325" y="505600"/>
            <a:ext cx="3637800" cy="1465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200"/>
              <a:buFont typeface="Arial"/>
              <a:buNone/>
            </a:pPr>
            <a:r>
              <a:rPr lang="en" sz="2000" b="1" i="0" u="none" strike="noStrike" cap="none">
                <a:solidFill>
                  <a:srgbClr val="000000"/>
                </a:solidFill>
                <a:highlight>
                  <a:srgbClr val="FFFF00"/>
                </a:highlight>
                <a:latin typeface="Caveat"/>
                <a:ea typeface="Caveat"/>
                <a:cs typeface="Caveat"/>
                <a:sym typeface="Caveat"/>
              </a:rPr>
              <a:t>Key Enquiry Question: </a:t>
            </a:r>
            <a:r>
              <a:rPr lang="en" sz="2000" b="1" i="0" u="none" strike="noStrike" cap="none">
                <a:solidFill>
                  <a:srgbClr val="1F1F1F"/>
                </a:solidFill>
                <a:highlight>
                  <a:srgbClr val="FFFF00"/>
                </a:highlight>
                <a:latin typeface="Caveat"/>
                <a:ea typeface="Caveat"/>
                <a:cs typeface="Caveat"/>
                <a:sym typeface="Caveat"/>
              </a:rPr>
              <a:t>What were the causes of WW1, and how did different factors contribute to the outbreak of the conflict?</a:t>
            </a:r>
            <a:endParaRPr sz="2000" b="1" i="0" u="none" strike="noStrike" cap="none">
              <a:solidFill>
                <a:srgbClr val="000000"/>
              </a:solidFill>
              <a:highlight>
                <a:srgbClr val="FFFF00"/>
              </a:highlight>
              <a:latin typeface="Caveat"/>
              <a:ea typeface="Caveat"/>
              <a:cs typeface="Caveat"/>
              <a:sym typeface="Caveat"/>
            </a:endParaRPr>
          </a:p>
        </p:txBody>
      </p:sp>
      <p:pic>
        <p:nvPicPr>
          <p:cNvPr id="69" name="Google Shape;69;p16"/>
          <p:cNvPicPr preferRelativeResize="0"/>
          <p:nvPr/>
        </p:nvPicPr>
        <p:blipFill>
          <a:blip r:embed="rId3">
            <a:alphaModFix/>
          </a:blip>
          <a:stretch>
            <a:fillRect/>
          </a:stretch>
        </p:blipFill>
        <p:spPr>
          <a:xfrm>
            <a:off x="253425" y="1276700"/>
            <a:ext cx="764550" cy="623526"/>
          </a:xfrm>
          <a:prstGeom prst="rect">
            <a:avLst/>
          </a:prstGeom>
          <a:noFill/>
          <a:ln>
            <a:noFill/>
          </a:ln>
        </p:spPr>
      </p:pic>
      <p:pic>
        <p:nvPicPr>
          <p:cNvPr id="70" name="Google Shape;70;p16" descr="a black and white drawing of a plane with a cross on it (Provided by Tenor)"/>
          <p:cNvPicPr preferRelativeResize="0"/>
          <p:nvPr/>
        </p:nvPicPr>
        <p:blipFill rotWithShape="1">
          <a:blip r:embed="rId4">
            <a:alphaModFix/>
          </a:blip>
          <a:srcRect/>
          <a:stretch/>
        </p:blipFill>
        <p:spPr>
          <a:xfrm>
            <a:off x="5972027" y="2035850"/>
            <a:ext cx="2354400" cy="1323750"/>
          </a:xfrm>
          <a:prstGeom prst="rect">
            <a:avLst/>
          </a:prstGeom>
          <a:noFill/>
          <a:ln>
            <a:noFill/>
          </a:ln>
        </p:spPr>
      </p:pic>
      <p:pic>
        <p:nvPicPr>
          <p:cNvPr id="71" name="Google Shape;71;p16" descr="The Main Causes of World War I - WorldAtlas"/>
          <p:cNvPicPr preferRelativeResize="0"/>
          <p:nvPr/>
        </p:nvPicPr>
        <p:blipFill rotWithShape="1">
          <a:blip r:embed="rId5">
            <a:alphaModFix/>
          </a:blip>
          <a:srcRect/>
          <a:stretch/>
        </p:blipFill>
        <p:spPr>
          <a:xfrm>
            <a:off x="5941150" y="3483950"/>
            <a:ext cx="2416150" cy="1512250"/>
          </a:xfrm>
          <a:prstGeom prst="rect">
            <a:avLst/>
          </a:prstGeom>
          <a:noFill/>
          <a:ln>
            <a:noFill/>
          </a:ln>
        </p:spPr>
      </p:pic>
      <p:sp>
        <p:nvSpPr>
          <p:cNvPr id="72" name="Google Shape;72;p16"/>
          <p:cNvSpPr txBox="1"/>
          <p:nvPr/>
        </p:nvSpPr>
        <p:spPr>
          <a:xfrm>
            <a:off x="104400" y="77000"/>
            <a:ext cx="8919300" cy="50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1200" b="1" dirty="0">
                <a:solidFill>
                  <a:srgbClr val="980000"/>
                </a:solidFill>
                <a:latin typeface="Delius"/>
                <a:ea typeface="Delius"/>
                <a:cs typeface="Delius"/>
                <a:sym typeface="Delius"/>
              </a:rPr>
              <a:t>Title: Militarism and the Arms Race </a:t>
            </a:r>
            <a:endParaRPr sz="1200" b="1" dirty="0">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r>
              <a:rPr lang="en" sz="1200" b="1" dirty="0">
                <a:solidFill>
                  <a:srgbClr val="980000"/>
                </a:solidFill>
                <a:latin typeface="Delius"/>
                <a:ea typeface="Delius"/>
                <a:cs typeface="Delius"/>
                <a:sym typeface="Delius"/>
              </a:rPr>
              <a:t>LO: How did militarism and the arms race increase tensions in Europe before 1914?</a:t>
            </a:r>
            <a:endParaRPr sz="1200" b="1" dirty="0">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endParaRPr sz="1200" b="1" dirty="0">
              <a:solidFill>
                <a:srgbClr val="980000"/>
              </a:solidFill>
              <a:latin typeface="Delius"/>
              <a:ea typeface="Delius"/>
              <a:cs typeface="Delius"/>
              <a:sym typeface="Deliu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7"/>
          <p:cNvSpPr txBox="1"/>
          <p:nvPr/>
        </p:nvSpPr>
        <p:spPr>
          <a:xfrm>
            <a:off x="104400" y="1322300"/>
            <a:ext cx="5290800" cy="32985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600"/>
              <a:buFont typeface="Arial"/>
              <a:buNone/>
            </a:pPr>
            <a:r>
              <a:rPr lang="en" sz="1600" b="1" i="0" u="none" strike="noStrike" cap="none">
                <a:solidFill>
                  <a:schemeClr val="dk1"/>
                </a:solidFill>
                <a:latin typeface="Baumans"/>
                <a:ea typeface="Baumans"/>
                <a:cs typeface="Baumans"/>
                <a:sym typeface="Baumans"/>
              </a:rPr>
              <a:t>Success Criteria:</a:t>
            </a:r>
            <a:endParaRPr sz="1600" b="1" i="0" u="none" strike="noStrike" cap="none">
              <a:solidFill>
                <a:schemeClr val="dk1"/>
              </a:solidFill>
              <a:latin typeface="Baumans"/>
              <a:ea typeface="Baumans"/>
              <a:cs typeface="Baumans"/>
              <a:sym typeface="Baumans"/>
            </a:endParaRPr>
          </a:p>
          <a:p>
            <a:pPr marL="0" marR="0" lvl="0" indent="0" algn="l" rtl="0">
              <a:lnSpc>
                <a:spcPct val="115000"/>
              </a:lnSpc>
              <a:spcBef>
                <a:spcPts val="0"/>
              </a:spcBef>
              <a:spcAft>
                <a:spcPts val="0"/>
              </a:spcAft>
              <a:buClr>
                <a:srgbClr val="000000"/>
              </a:buClr>
              <a:buSzPts val="1600"/>
              <a:buFont typeface="Arial"/>
              <a:buNone/>
            </a:pPr>
            <a:endParaRPr sz="600" b="1">
              <a:solidFill>
                <a:schemeClr val="dk1"/>
              </a:solidFill>
              <a:latin typeface="Baumans"/>
              <a:ea typeface="Baumans"/>
              <a:cs typeface="Baumans"/>
              <a:sym typeface="Baumans"/>
            </a:endParaRPr>
          </a:p>
          <a:p>
            <a:pPr marL="0" lvl="0" indent="0" algn="l" rtl="0">
              <a:lnSpc>
                <a:spcPct val="115000"/>
              </a:lnSpc>
              <a:spcBef>
                <a:spcPts val="0"/>
              </a:spcBef>
              <a:spcAft>
                <a:spcPts val="0"/>
              </a:spcAft>
              <a:buClr>
                <a:schemeClr val="dk1"/>
              </a:buClr>
              <a:buSzPts val="1100"/>
              <a:buFont typeface="Arial"/>
              <a:buNone/>
            </a:pPr>
            <a:r>
              <a:rPr lang="en" sz="1600" b="1">
                <a:solidFill>
                  <a:schemeClr val="dk1"/>
                </a:solidFill>
                <a:latin typeface="Baumans"/>
                <a:ea typeface="Baumans"/>
                <a:cs typeface="Baumans"/>
                <a:sym typeface="Baumans"/>
              </a:rPr>
              <a:t>🧭 Meeting: </a:t>
            </a:r>
            <a:endParaRPr sz="1600" b="1">
              <a:solidFill>
                <a:schemeClr val="dk1"/>
              </a:solidFill>
              <a:latin typeface="Baumans"/>
              <a:ea typeface="Baumans"/>
              <a:cs typeface="Baumans"/>
              <a:sym typeface="Baumans"/>
            </a:endParaRPr>
          </a:p>
          <a:p>
            <a:pPr marL="0" lvl="0" indent="0" algn="l" rtl="0">
              <a:lnSpc>
                <a:spcPct val="115000"/>
              </a:lnSpc>
              <a:spcBef>
                <a:spcPts val="0"/>
              </a:spcBef>
              <a:spcAft>
                <a:spcPts val="0"/>
              </a:spcAft>
              <a:buClr>
                <a:schemeClr val="dk1"/>
              </a:buClr>
              <a:buSzPts val="1100"/>
              <a:buFont typeface="Arial"/>
              <a:buNone/>
            </a:pPr>
            <a:r>
              <a:rPr lang="en" sz="1600">
                <a:solidFill>
                  <a:schemeClr val="dk1"/>
                </a:solidFill>
                <a:latin typeface="Baumans"/>
                <a:ea typeface="Baumans"/>
                <a:cs typeface="Baumans"/>
                <a:sym typeface="Baumans"/>
              </a:rPr>
              <a:t>Can </a:t>
            </a:r>
            <a:r>
              <a:rPr lang="en" sz="1600" b="1">
                <a:solidFill>
                  <a:schemeClr val="dk1"/>
                </a:solidFill>
                <a:latin typeface="Baumans"/>
                <a:ea typeface="Baumans"/>
                <a:cs typeface="Baumans"/>
                <a:sym typeface="Baumans"/>
              </a:rPr>
              <a:t>identify key features</a:t>
            </a:r>
            <a:r>
              <a:rPr lang="en" sz="1600">
                <a:solidFill>
                  <a:schemeClr val="dk1"/>
                </a:solidFill>
                <a:latin typeface="Baumans"/>
                <a:ea typeface="Baumans"/>
                <a:cs typeface="Baumans"/>
                <a:sym typeface="Baumans"/>
              </a:rPr>
              <a:t> of militarism, preventive war and conscription before 1914.</a:t>
            </a:r>
            <a:endParaRPr sz="1600">
              <a:solidFill>
                <a:schemeClr val="dk1"/>
              </a:solidFill>
              <a:latin typeface="Baumans"/>
              <a:ea typeface="Baumans"/>
              <a:cs typeface="Baumans"/>
              <a:sym typeface="Baumans"/>
            </a:endParaRPr>
          </a:p>
          <a:p>
            <a:pPr marL="0" lvl="0" indent="0" algn="l" rtl="0">
              <a:lnSpc>
                <a:spcPct val="115000"/>
              </a:lnSpc>
              <a:spcBef>
                <a:spcPts val="0"/>
              </a:spcBef>
              <a:spcAft>
                <a:spcPts val="0"/>
              </a:spcAft>
              <a:buClr>
                <a:schemeClr val="dk1"/>
              </a:buClr>
              <a:buSzPts val="1100"/>
              <a:buFont typeface="Arial"/>
              <a:buNone/>
            </a:pPr>
            <a:endParaRPr sz="600">
              <a:solidFill>
                <a:schemeClr val="dk1"/>
              </a:solidFill>
              <a:latin typeface="Baumans"/>
              <a:ea typeface="Baumans"/>
              <a:cs typeface="Baumans"/>
              <a:sym typeface="Baumans"/>
            </a:endParaRPr>
          </a:p>
          <a:p>
            <a:pPr marL="0" lvl="0" indent="0" algn="l" rtl="0">
              <a:lnSpc>
                <a:spcPct val="115000"/>
              </a:lnSpc>
              <a:spcBef>
                <a:spcPts val="0"/>
              </a:spcBef>
              <a:spcAft>
                <a:spcPts val="0"/>
              </a:spcAft>
              <a:buClr>
                <a:schemeClr val="dk1"/>
              </a:buClr>
              <a:buSzPts val="1100"/>
              <a:buFont typeface="Arial"/>
              <a:buNone/>
            </a:pPr>
            <a:r>
              <a:rPr lang="en" sz="1600" b="1">
                <a:solidFill>
                  <a:schemeClr val="dk1"/>
                </a:solidFill>
                <a:latin typeface="Baumans"/>
                <a:ea typeface="Baumans"/>
                <a:cs typeface="Baumans"/>
                <a:sym typeface="Baumans"/>
              </a:rPr>
              <a:t>🔎 Exceeding:</a:t>
            </a:r>
            <a:endParaRPr sz="1600" b="1">
              <a:solidFill>
                <a:schemeClr val="dk1"/>
              </a:solidFill>
              <a:latin typeface="Baumans"/>
              <a:ea typeface="Baumans"/>
              <a:cs typeface="Baumans"/>
              <a:sym typeface="Baumans"/>
            </a:endParaRPr>
          </a:p>
          <a:p>
            <a:pPr marL="0" lvl="0" indent="0" algn="l" rtl="0">
              <a:lnSpc>
                <a:spcPct val="115000"/>
              </a:lnSpc>
              <a:spcBef>
                <a:spcPts val="0"/>
              </a:spcBef>
              <a:spcAft>
                <a:spcPts val="0"/>
              </a:spcAft>
              <a:buClr>
                <a:schemeClr val="dk1"/>
              </a:buClr>
              <a:buSzPts val="1100"/>
              <a:buFont typeface="Arial"/>
              <a:buNone/>
            </a:pPr>
            <a:r>
              <a:rPr lang="en" sz="1600">
                <a:solidFill>
                  <a:schemeClr val="dk1"/>
                </a:solidFill>
                <a:latin typeface="Baumans"/>
                <a:ea typeface="Baumans"/>
                <a:cs typeface="Baumans"/>
                <a:sym typeface="Baumans"/>
              </a:rPr>
              <a:t>Can </a:t>
            </a:r>
            <a:r>
              <a:rPr lang="en" sz="1600" b="1">
                <a:solidFill>
                  <a:schemeClr val="dk1"/>
                </a:solidFill>
                <a:latin typeface="Baumans"/>
                <a:ea typeface="Baumans"/>
                <a:cs typeface="Baumans"/>
                <a:sym typeface="Baumans"/>
              </a:rPr>
              <a:t>explain how</a:t>
            </a:r>
            <a:r>
              <a:rPr lang="en" sz="1600">
                <a:solidFill>
                  <a:schemeClr val="dk1"/>
                </a:solidFill>
                <a:latin typeface="Baumans"/>
                <a:ea typeface="Baumans"/>
                <a:cs typeface="Baumans"/>
                <a:sym typeface="Baumans"/>
              </a:rPr>
              <a:t> military expansion and preventive war increased tensions between European countries.</a:t>
            </a:r>
            <a:endParaRPr sz="1600">
              <a:solidFill>
                <a:schemeClr val="dk1"/>
              </a:solidFill>
              <a:latin typeface="Baumans"/>
              <a:ea typeface="Baumans"/>
              <a:cs typeface="Baumans"/>
              <a:sym typeface="Baumans"/>
            </a:endParaRPr>
          </a:p>
          <a:p>
            <a:pPr marL="0" lvl="0" indent="0" algn="l" rtl="0">
              <a:lnSpc>
                <a:spcPct val="115000"/>
              </a:lnSpc>
              <a:spcBef>
                <a:spcPts val="0"/>
              </a:spcBef>
              <a:spcAft>
                <a:spcPts val="0"/>
              </a:spcAft>
              <a:buClr>
                <a:schemeClr val="dk1"/>
              </a:buClr>
              <a:buSzPts val="1100"/>
              <a:buFont typeface="Arial"/>
              <a:buNone/>
            </a:pPr>
            <a:endParaRPr sz="600" b="1">
              <a:solidFill>
                <a:schemeClr val="dk1"/>
              </a:solidFill>
              <a:latin typeface="Baumans"/>
              <a:ea typeface="Baumans"/>
              <a:cs typeface="Baumans"/>
              <a:sym typeface="Baumans"/>
            </a:endParaRPr>
          </a:p>
          <a:p>
            <a:pPr marL="0" lvl="0" indent="0" algn="l" rtl="0">
              <a:lnSpc>
                <a:spcPct val="115000"/>
              </a:lnSpc>
              <a:spcBef>
                <a:spcPts val="0"/>
              </a:spcBef>
              <a:spcAft>
                <a:spcPts val="0"/>
              </a:spcAft>
              <a:buClr>
                <a:schemeClr val="dk1"/>
              </a:buClr>
              <a:buSzPts val="1100"/>
              <a:buFont typeface="Arial"/>
              <a:buNone/>
            </a:pPr>
            <a:r>
              <a:rPr lang="en" sz="1600" b="1">
                <a:solidFill>
                  <a:schemeClr val="dk1"/>
                </a:solidFill>
                <a:latin typeface="Baumans"/>
                <a:ea typeface="Baumans"/>
                <a:cs typeface="Baumans"/>
                <a:sym typeface="Baumans"/>
              </a:rPr>
              <a:t>🧠 Mastering:</a:t>
            </a:r>
            <a:endParaRPr sz="1600" b="1">
              <a:solidFill>
                <a:schemeClr val="dk1"/>
              </a:solidFill>
              <a:latin typeface="Baumans"/>
              <a:ea typeface="Baumans"/>
              <a:cs typeface="Baumans"/>
              <a:sym typeface="Baumans"/>
            </a:endParaRPr>
          </a:p>
          <a:p>
            <a:pPr marL="0" lvl="0" indent="0" algn="l" rtl="0">
              <a:lnSpc>
                <a:spcPct val="115000"/>
              </a:lnSpc>
              <a:spcBef>
                <a:spcPts val="0"/>
              </a:spcBef>
              <a:spcAft>
                <a:spcPts val="0"/>
              </a:spcAft>
              <a:buClr>
                <a:schemeClr val="dk1"/>
              </a:buClr>
              <a:buSzPts val="1100"/>
              <a:buFont typeface="Arial"/>
              <a:buNone/>
            </a:pPr>
            <a:r>
              <a:rPr lang="en" sz="1600">
                <a:solidFill>
                  <a:schemeClr val="dk1"/>
                </a:solidFill>
                <a:latin typeface="Baumans"/>
                <a:ea typeface="Baumans"/>
                <a:cs typeface="Baumans"/>
                <a:sym typeface="Baumans"/>
              </a:rPr>
              <a:t>Can i</a:t>
            </a:r>
            <a:r>
              <a:rPr lang="en" sz="1600" b="1">
                <a:solidFill>
                  <a:schemeClr val="dk1"/>
                </a:solidFill>
                <a:latin typeface="Baumans"/>
                <a:ea typeface="Baumans"/>
                <a:cs typeface="Baumans"/>
                <a:sym typeface="Baumans"/>
              </a:rPr>
              <a:t>nterpret military statistics</a:t>
            </a:r>
            <a:r>
              <a:rPr lang="en" sz="1600">
                <a:solidFill>
                  <a:schemeClr val="dk1"/>
                </a:solidFill>
                <a:latin typeface="Baumans"/>
                <a:ea typeface="Baumans"/>
                <a:cs typeface="Baumans"/>
                <a:sym typeface="Baumans"/>
              </a:rPr>
              <a:t> to analyse how the arms race increased tensions in Europe before 1914.</a:t>
            </a:r>
            <a:endParaRPr sz="1600">
              <a:solidFill>
                <a:schemeClr val="dk1"/>
              </a:solidFill>
              <a:latin typeface="Baumans"/>
              <a:ea typeface="Baumans"/>
              <a:cs typeface="Baumans"/>
              <a:sym typeface="Baumans"/>
            </a:endParaRPr>
          </a:p>
        </p:txBody>
      </p:sp>
      <p:sp>
        <p:nvSpPr>
          <p:cNvPr id="78" name="Google Shape;78;p17"/>
          <p:cNvSpPr txBox="1"/>
          <p:nvPr/>
        </p:nvSpPr>
        <p:spPr>
          <a:xfrm>
            <a:off x="5330325" y="702213"/>
            <a:ext cx="3637800" cy="1465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200"/>
              <a:buFont typeface="Arial"/>
              <a:buNone/>
            </a:pPr>
            <a:r>
              <a:rPr lang="en" sz="2000" b="1" i="0" u="none" strike="noStrike" cap="none">
                <a:solidFill>
                  <a:srgbClr val="000000"/>
                </a:solidFill>
                <a:highlight>
                  <a:srgbClr val="FFFF00"/>
                </a:highlight>
                <a:latin typeface="Caveat"/>
                <a:ea typeface="Caveat"/>
                <a:cs typeface="Caveat"/>
                <a:sym typeface="Caveat"/>
              </a:rPr>
              <a:t>Key Enquiry Question: </a:t>
            </a:r>
            <a:r>
              <a:rPr lang="en" sz="2000" b="1" i="0" u="none" strike="noStrike" cap="none">
                <a:solidFill>
                  <a:srgbClr val="1F1F1F"/>
                </a:solidFill>
                <a:highlight>
                  <a:srgbClr val="FFFF00"/>
                </a:highlight>
                <a:latin typeface="Caveat"/>
                <a:ea typeface="Caveat"/>
                <a:cs typeface="Caveat"/>
                <a:sym typeface="Caveat"/>
              </a:rPr>
              <a:t>What were the causes of WW1, and how did different factors contribute to the outbreak of the conflict?</a:t>
            </a:r>
            <a:endParaRPr sz="2000" b="1" i="0" u="none" strike="noStrike" cap="none">
              <a:solidFill>
                <a:srgbClr val="000000"/>
              </a:solidFill>
              <a:highlight>
                <a:srgbClr val="FFFF00"/>
              </a:highlight>
              <a:latin typeface="Caveat"/>
              <a:ea typeface="Caveat"/>
              <a:cs typeface="Caveat"/>
              <a:sym typeface="Caveat"/>
            </a:endParaRPr>
          </a:p>
        </p:txBody>
      </p:sp>
      <p:pic>
        <p:nvPicPr>
          <p:cNvPr id="79" name="Google Shape;79;p17"/>
          <p:cNvPicPr preferRelativeResize="0"/>
          <p:nvPr/>
        </p:nvPicPr>
        <p:blipFill>
          <a:blip r:embed="rId3">
            <a:alphaModFix/>
          </a:blip>
          <a:stretch>
            <a:fillRect/>
          </a:stretch>
        </p:blipFill>
        <p:spPr>
          <a:xfrm>
            <a:off x="5330326" y="2393938"/>
            <a:ext cx="3637800" cy="2047350"/>
          </a:xfrm>
          <a:prstGeom prst="rect">
            <a:avLst/>
          </a:prstGeom>
          <a:noFill/>
          <a:ln>
            <a:noFill/>
          </a:ln>
        </p:spPr>
      </p:pic>
      <p:sp>
        <p:nvSpPr>
          <p:cNvPr id="80" name="Google Shape;80;p17"/>
          <p:cNvSpPr txBox="1"/>
          <p:nvPr/>
        </p:nvSpPr>
        <p:spPr>
          <a:xfrm>
            <a:off x="104400" y="582500"/>
            <a:ext cx="4813800" cy="739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u="sng">
                <a:solidFill>
                  <a:schemeClr val="dk1"/>
                </a:solidFill>
                <a:latin typeface="Delius"/>
                <a:ea typeface="Delius"/>
                <a:cs typeface="Delius"/>
                <a:sym typeface="Delius"/>
              </a:rPr>
              <a:t>Date: Monday 19th October 2026</a:t>
            </a:r>
            <a:endParaRPr sz="1800" b="1" u="sng">
              <a:solidFill>
                <a:schemeClr val="dk1"/>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800"/>
              <a:buFont typeface="Arial"/>
              <a:buNone/>
            </a:pPr>
            <a:r>
              <a:rPr lang="en" sz="1800" b="1" u="sng">
                <a:solidFill>
                  <a:schemeClr val="dk1"/>
                </a:solidFill>
                <a:latin typeface="Delius"/>
                <a:ea typeface="Delius"/>
                <a:cs typeface="Delius"/>
                <a:sym typeface="Delius"/>
              </a:rPr>
              <a:t>Title: Militarism and the Arms Race</a:t>
            </a:r>
            <a:endParaRPr sz="1800" b="1" u="sng">
              <a:solidFill>
                <a:schemeClr val="dk1"/>
              </a:solidFill>
              <a:latin typeface="Delius"/>
              <a:ea typeface="Delius"/>
              <a:cs typeface="Delius"/>
              <a:sym typeface="Delius"/>
            </a:endParaRPr>
          </a:p>
        </p:txBody>
      </p:sp>
      <p:sp>
        <p:nvSpPr>
          <p:cNvPr id="81" name="Google Shape;81;p17"/>
          <p:cNvSpPr txBox="1"/>
          <p:nvPr/>
        </p:nvSpPr>
        <p:spPr>
          <a:xfrm>
            <a:off x="104400" y="77000"/>
            <a:ext cx="8919300" cy="50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Title: Militarism and the Arms Race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LO: How did militarism and the arms race increase tensions in Europe before 1914?</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endParaRPr sz="1200" b="1">
              <a:solidFill>
                <a:srgbClr val="980000"/>
              </a:solidFill>
              <a:latin typeface="Delius"/>
              <a:ea typeface="Delius"/>
              <a:cs typeface="Delius"/>
              <a:sym typeface="Deliu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8"/>
          <p:cNvSpPr txBox="1"/>
          <p:nvPr/>
        </p:nvSpPr>
        <p:spPr>
          <a:xfrm>
            <a:off x="33900" y="1453000"/>
            <a:ext cx="5901900" cy="461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200">
              <a:solidFill>
                <a:schemeClr val="dk1"/>
              </a:solidFill>
              <a:latin typeface="Luckiest Guy"/>
              <a:ea typeface="Luckiest Guy"/>
              <a:cs typeface="Luckiest Guy"/>
              <a:sym typeface="Luckiest Guy"/>
            </a:endParaRPr>
          </a:p>
        </p:txBody>
      </p:sp>
      <p:sp>
        <p:nvSpPr>
          <p:cNvPr id="87" name="Google Shape;87;p18"/>
          <p:cNvSpPr txBox="1"/>
          <p:nvPr/>
        </p:nvSpPr>
        <p:spPr>
          <a:xfrm>
            <a:off x="115350" y="1306625"/>
            <a:ext cx="5124300" cy="27705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2400">
                <a:latin typeface="Baumans"/>
                <a:ea typeface="Baumans"/>
                <a:cs typeface="Baumans"/>
                <a:sym typeface="Baumans"/>
              </a:rPr>
              <a:t>Remember the acronym </a:t>
            </a:r>
            <a:r>
              <a:rPr lang="en" sz="2400" b="1">
                <a:solidFill>
                  <a:srgbClr val="980000"/>
                </a:solidFill>
                <a:latin typeface="Baumans"/>
                <a:ea typeface="Baumans"/>
                <a:cs typeface="Baumans"/>
                <a:sym typeface="Baumans"/>
              </a:rPr>
              <a:t>MAINS</a:t>
            </a:r>
            <a:r>
              <a:rPr lang="en" sz="2400">
                <a:latin typeface="Baumans"/>
                <a:ea typeface="Baumans"/>
                <a:cs typeface="Baumans"/>
                <a:sym typeface="Baumans"/>
              </a:rPr>
              <a:t>: </a:t>
            </a:r>
            <a:endParaRPr sz="2400">
              <a:latin typeface="Baumans"/>
              <a:ea typeface="Baumans"/>
              <a:cs typeface="Baumans"/>
              <a:sym typeface="Baumans"/>
            </a:endParaRPr>
          </a:p>
          <a:p>
            <a:pPr marL="0" lvl="0" indent="0" algn="l" rtl="0">
              <a:spcBef>
                <a:spcPts val="0"/>
              </a:spcBef>
              <a:spcAft>
                <a:spcPts val="0"/>
              </a:spcAft>
              <a:buNone/>
            </a:pPr>
            <a:endParaRPr sz="2400">
              <a:latin typeface="Baumans"/>
              <a:ea typeface="Baumans"/>
              <a:cs typeface="Baumans"/>
              <a:sym typeface="Baumans"/>
            </a:endParaRPr>
          </a:p>
          <a:p>
            <a:pPr marL="0" lvl="0" indent="0" algn="l" rtl="0">
              <a:spcBef>
                <a:spcPts val="0"/>
              </a:spcBef>
              <a:spcAft>
                <a:spcPts val="0"/>
              </a:spcAft>
              <a:buNone/>
            </a:pPr>
            <a:r>
              <a:rPr lang="en" sz="2400" b="1">
                <a:solidFill>
                  <a:srgbClr val="980000"/>
                </a:solidFill>
                <a:latin typeface="Baumans"/>
                <a:ea typeface="Baumans"/>
                <a:cs typeface="Baumans"/>
                <a:sym typeface="Baumans"/>
              </a:rPr>
              <a:t>M</a:t>
            </a:r>
            <a:r>
              <a:rPr lang="en" sz="2400">
                <a:latin typeface="Baumans"/>
                <a:ea typeface="Baumans"/>
                <a:cs typeface="Baumans"/>
                <a:sym typeface="Baumans"/>
              </a:rPr>
              <a:t> is for </a:t>
            </a:r>
            <a:r>
              <a:rPr lang="en" sz="2400" b="1">
                <a:solidFill>
                  <a:srgbClr val="980000"/>
                </a:solidFill>
                <a:latin typeface="Baumans"/>
                <a:ea typeface="Baumans"/>
                <a:cs typeface="Baumans"/>
                <a:sym typeface="Baumans"/>
              </a:rPr>
              <a:t>M</a:t>
            </a:r>
            <a:r>
              <a:rPr lang="en" sz="2400">
                <a:latin typeface="Baumans"/>
                <a:ea typeface="Baumans"/>
                <a:cs typeface="Baumans"/>
                <a:sym typeface="Baumans"/>
              </a:rPr>
              <a:t>ilitarism </a:t>
            </a:r>
            <a:endParaRPr sz="2400">
              <a:latin typeface="Baumans"/>
              <a:ea typeface="Baumans"/>
              <a:cs typeface="Baumans"/>
              <a:sym typeface="Baumans"/>
            </a:endParaRPr>
          </a:p>
          <a:p>
            <a:pPr marL="0" lvl="0" indent="0" algn="l" rtl="0">
              <a:spcBef>
                <a:spcPts val="0"/>
              </a:spcBef>
              <a:spcAft>
                <a:spcPts val="0"/>
              </a:spcAft>
              <a:buNone/>
            </a:pPr>
            <a:r>
              <a:rPr lang="en" sz="2400" b="1">
                <a:solidFill>
                  <a:srgbClr val="980000"/>
                </a:solidFill>
                <a:latin typeface="Baumans"/>
                <a:ea typeface="Baumans"/>
                <a:cs typeface="Baumans"/>
                <a:sym typeface="Baumans"/>
              </a:rPr>
              <a:t>A</a:t>
            </a:r>
            <a:r>
              <a:rPr lang="en" sz="2400" b="1">
                <a:latin typeface="Baumans"/>
                <a:ea typeface="Baumans"/>
                <a:cs typeface="Baumans"/>
                <a:sym typeface="Baumans"/>
              </a:rPr>
              <a:t> </a:t>
            </a:r>
            <a:r>
              <a:rPr lang="en" sz="2400">
                <a:latin typeface="Baumans"/>
                <a:ea typeface="Baumans"/>
                <a:cs typeface="Baumans"/>
                <a:sym typeface="Baumans"/>
              </a:rPr>
              <a:t>is for the </a:t>
            </a:r>
            <a:r>
              <a:rPr lang="en" sz="2400" b="1">
                <a:solidFill>
                  <a:srgbClr val="980000"/>
                </a:solidFill>
                <a:latin typeface="Baumans"/>
                <a:ea typeface="Baumans"/>
                <a:cs typeface="Baumans"/>
                <a:sym typeface="Baumans"/>
              </a:rPr>
              <a:t>A</a:t>
            </a:r>
            <a:r>
              <a:rPr lang="en" sz="2400">
                <a:latin typeface="Baumans"/>
                <a:ea typeface="Baumans"/>
                <a:cs typeface="Baumans"/>
                <a:sym typeface="Baumans"/>
              </a:rPr>
              <a:t>lliance System </a:t>
            </a:r>
            <a:endParaRPr sz="2400">
              <a:latin typeface="Baumans"/>
              <a:ea typeface="Baumans"/>
              <a:cs typeface="Baumans"/>
              <a:sym typeface="Baumans"/>
            </a:endParaRPr>
          </a:p>
          <a:p>
            <a:pPr marL="0" lvl="0" indent="0" algn="l" rtl="0">
              <a:spcBef>
                <a:spcPts val="0"/>
              </a:spcBef>
              <a:spcAft>
                <a:spcPts val="0"/>
              </a:spcAft>
              <a:buNone/>
            </a:pPr>
            <a:r>
              <a:rPr lang="en" sz="2400" b="1">
                <a:solidFill>
                  <a:srgbClr val="980000"/>
                </a:solidFill>
                <a:latin typeface="Baumans"/>
                <a:ea typeface="Baumans"/>
                <a:cs typeface="Baumans"/>
                <a:sym typeface="Baumans"/>
              </a:rPr>
              <a:t>I</a:t>
            </a:r>
            <a:r>
              <a:rPr lang="en" sz="2400">
                <a:latin typeface="Baumans"/>
                <a:ea typeface="Baumans"/>
                <a:cs typeface="Baumans"/>
                <a:sym typeface="Baumans"/>
              </a:rPr>
              <a:t> is for </a:t>
            </a:r>
            <a:r>
              <a:rPr lang="en" sz="2400" b="1">
                <a:solidFill>
                  <a:srgbClr val="980000"/>
                </a:solidFill>
                <a:latin typeface="Baumans"/>
                <a:ea typeface="Baumans"/>
                <a:cs typeface="Baumans"/>
                <a:sym typeface="Baumans"/>
              </a:rPr>
              <a:t>I</a:t>
            </a:r>
            <a:r>
              <a:rPr lang="en" sz="2400">
                <a:latin typeface="Baumans"/>
                <a:ea typeface="Baumans"/>
                <a:cs typeface="Baumans"/>
                <a:sym typeface="Baumans"/>
              </a:rPr>
              <a:t>mperialism </a:t>
            </a:r>
            <a:endParaRPr sz="2400">
              <a:latin typeface="Baumans"/>
              <a:ea typeface="Baumans"/>
              <a:cs typeface="Baumans"/>
              <a:sym typeface="Baumans"/>
            </a:endParaRPr>
          </a:p>
          <a:p>
            <a:pPr marL="0" lvl="0" indent="0" algn="l" rtl="0">
              <a:spcBef>
                <a:spcPts val="0"/>
              </a:spcBef>
              <a:spcAft>
                <a:spcPts val="0"/>
              </a:spcAft>
              <a:buNone/>
            </a:pPr>
            <a:r>
              <a:rPr lang="en" sz="2400" b="1">
                <a:solidFill>
                  <a:srgbClr val="980000"/>
                </a:solidFill>
                <a:latin typeface="Baumans"/>
                <a:ea typeface="Baumans"/>
                <a:cs typeface="Baumans"/>
                <a:sym typeface="Baumans"/>
              </a:rPr>
              <a:t>N</a:t>
            </a:r>
            <a:r>
              <a:rPr lang="en" sz="2400">
                <a:latin typeface="Baumans"/>
                <a:ea typeface="Baumans"/>
                <a:cs typeface="Baumans"/>
                <a:sym typeface="Baumans"/>
              </a:rPr>
              <a:t> is for </a:t>
            </a:r>
            <a:r>
              <a:rPr lang="en" sz="2400" b="1">
                <a:solidFill>
                  <a:srgbClr val="980000"/>
                </a:solidFill>
                <a:latin typeface="Baumans"/>
                <a:ea typeface="Baumans"/>
                <a:cs typeface="Baumans"/>
                <a:sym typeface="Baumans"/>
              </a:rPr>
              <a:t>N</a:t>
            </a:r>
            <a:r>
              <a:rPr lang="en" sz="2400">
                <a:latin typeface="Baumans"/>
                <a:ea typeface="Baumans"/>
                <a:cs typeface="Baumans"/>
                <a:sym typeface="Baumans"/>
              </a:rPr>
              <a:t>ationalism </a:t>
            </a:r>
            <a:endParaRPr sz="2400">
              <a:latin typeface="Baumans"/>
              <a:ea typeface="Baumans"/>
              <a:cs typeface="Baumans"/>
              <a:sym typeface="Baumans"/>
            </a:endParaRPr>
          </a:p>
          <a:p>
            <a:pPr marL="0" lvl="0" indent="0" algn="l" rtl="0">
              <a:spcBef>
                <a:spcPts val="0"/>
              </a:spcBef>
              <a:spcAft>
                <a:spcPts val="0"/>
              </a:spcAft>
              <a:buNone/>
            </a:pPr>
            <a:r>
              <a:rPr lang="en" sz="2400" b="1">
                <a:solidFill>
                  <a:srgbClr val="980000"/>
                </a:solidFill>
                <a:latin typeface="Baumans"/>
                <a:ea typeface="Baumans"/>
                <a:cs typeface="Baumans"/>
                <a:sym typeface="Baumans"/>
              </a:rPr>
              <a:t>S</a:t>
            </a:r>
            <a:r>
              <a:rPr lang="en" sz="2400">
                <a:latin typeface="Baumans"/>
                <a:ea typeface="Baumans"/>
                <a:cs typeface="Baumans"/>
                <a:sym typeface="Baumans"/>
              </a:rPr>
              <a:t> is for </a:t>
            </a:r>
            <a:r>
              <a:rPr lang="en" sz="2400">
                <a:solidFill>
                  <a:srgbClr val="980000"/>
                </a:solidFill>
                <a:latin typeface="Baumans"/>
                <a:ea typeface="Baumans"/>
                <a:cs typeface="Baumans"/>
                <a:sym typeface="Baumans"/>
              </a:rPr>
              <a:t>S</a:t>
            </a:r>
            <a:r>
              <a:rPr lang="en" sz="2400">
                <a:latin typeface="Baumans"/>
                <a:ea typeface="Baumans"/>
                <a:cs typeface="Baumans"/>
                <a:sym typeface="Baumans"/>
              </a:rPr>
              <a:t>ignificant Individuals</a:t>
            </a:r>
            <a:endParaRPr sz="2400">
              <a:latin typeface="Baumans"/>
              <a:ea typeface="Baumans"/>
              <a:cs typeface="Baumans"/>
              <a:sym typeface="Baumans"/>
            </a:endParaRPr>
          </a:p>
        </p:txBody>
      </p:sp>
      <p:pic>
        <p:nvPicPr>
          <p:cNvPr id="88" name="Google Shape;88;p18" descr="The Main Causes of World War I - WorldAtlas"/>
          <p:cNvPicPr preferRelativeResize="0"/>
          <p:nvPr/>
        </p:nvPicPr>
        <p:blipFill rotWithShape="1">
          <a:blip r:embed="rId3">
            <a:alphaModFix/>
          </a:blip>
          <a:srcRect/>
          <a:stretch/>
        </p:blipFill>
        <p:spPr>
          <a:xfrm>
            <a:off x="5426950" y="1815625"/>
            <a:ext cx="3601800" cy="2254339"/>
          </a:xfrm>
          <a:prstGeom prst="rect">
            <a:avLst/>
          </a:prstGeom>
          <a:noFill/>
          <a:ln>
            <a:noFill/>
          </a:ln>
        </p:spPr>
      </p:pic>
      <p:sp>
        <p:nvSpPr>
          <p:cNvPr id="89" name="Google Shape;89;p18"/>
          <p:cNvSpPr txBox="1"/>
          <p:nvPr/>
        </p:nvSpPr>
        <p:spPr>
          <a:xfrm>
            <a:off x="104400" y="582500"/>
            <a:ext cx="5447400" cy="52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en" sz="2400" b="1" u="sng">
                <a:latin typeface="Patrick Hand"/>
                <a:ea typeface="Patrick Hand"/>
                <a:cs typeface="Patrick Hand"/>
                <a:sym typeface="Patrick Hand"/>
              </a:rPr>
              <a:t>What were the main causes of WW1?</a:t>
            </a:r>
            <a:endParaRPr sz="2400" b="1" u="sng">
              <a:solidFill>
                <a:srgbClr val="000000"/>
              </a:solidFill>
              <a:latin typeface="Patrick Hand SC"/>
              <a:ea typeface="Patrick Hand SC"/>
              <a:cs typeface="Patrick Hand SC"/>
              <a:sym typeface="Patrick Hand SC"/>
            </a:endParaRPr>
          </a:p>
        </p:txBody>
      </p:sp>
      <p:sp>
        <p:nvSpPr>
          <p:cNvPr id="90" name="Google Shape;90;p18"/>
          <p:cNvSpPr txBox="1"/>
          <p:nvPr/>
        </p:nvSpPr>
        <p:spPr>
          <a:xfrm>
            <a:off x="5426950" y="782525"/>
            <a:ext cx="3601800" cy="877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600" b="1">
                <a:solidFill>
                  <a:schemeClr val="dk1"/>
                </a:solidFill>
                <a:highlight>
                  <a:srgbClr val="FFFF00"/>
                </a:highlight>
                <a:latin typeface="Caveat"/>
                <a:ea typeface="Caveat"/>
                <a:cs typeface="Caveat"/>
                <a:sym typeface="Caveat"/>
              </a:rPr>
              <a:t>Key Enquiry Question: What were the causes of WW1, and how did different factors contribute to the outbreak of the conflict?</a:t>
            </a:r>
            <a:endParaRPr sz="1600" b="1">
              <a:solidFill>
                <a:schemeClr val="dk1"/>
              </a:solidFill>
              <a:highlight>
                <a:srgbClr val="FFFF00"/>
              </a:highlight>
              <a:latin typeface="Caveat"/>
              <a:ea typeface="Caveat"/>
              <a:cs typeface="Caveat"/>
              <a:sym typeface="Caveat"/>
            </a:endParaRPr>
          </a:p>
        </p:txBody>
      </p:sp>
      <p:sp>
        <p:nvSpPr>
          <p:cNvPr id="91" name="Google Shape;91;p18"/>
          <p:cNvSpPr txBox="1"/>
          <p:nvPr/>
        </p:nvSpPr>
        <p:spPr>
          <a:xfrm>
            <a:off x="104400" y="77000"/>
            <a:ext cx="8919300" cy="50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Title: Militarism and the Arms Race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LO: How did militarism and the arms race increase tensions in Europe before 1914?</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endParaRPr sz="1200" b="1">
              <a:solidFill>
                <a:srgbClr val="980000"/>
              </a:solidFill>
              <a:latin typeface="Delius"/>
              <a:ea typeface="Delius"/>
              <a:cs typeface="Delius"/>
              <a:sym typeface="Deliu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9"/>
          <p:cNvSpPr txBox="1"/>
          <p:nvPr/>
        </p:nvSpPr>
        <p:spPr>
          <a:xfrm>
            <a:off x="100788" y="582500"/>
            <a:ext cx="2615700" cy="571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1" i="0" u="sng" strike="noStrike" cap="none">
                <a:solidFill>
                  <a:schemeClr val="dk1"/>
                </a:solidFill>
                <a:latin typeface="Patrick Hand"/>
                <a:ea typeface="Patrick Hand"/>
                <a:cs typeface="Patrick Hand"/>
                <a:sym typeface="Patrick Hand"/>
              </a:rPr>
              <a:t>Keywords:</a:t>
            </a:r>
            <a:endParaRPr sz="2400" b="1" i="0" u="sng" strike="noStrike" cap="none">
              <a:solidFill>
                <a:schemeClr val="dk1"/>
              </a:solidFill>
              <a:latin typeface="Patrick Hand"/>
              <a:ea typeface="Patrick Hand"/>
              <a:cs typeface="Patrick Hand"/>
              <a:sym typeface="Patrick Hand"/>
            </a:endParaRPr>
          </a:p>
        </p:txBody>
      </p:sp>
      <p:graphicFrame>
        <p:nvGraphicFramePr>
          <p:cNvPr id="97" name="Google Shape;97;p19"/>
          <p:cNvGraphicFramePr/>
          <p:nvPr>
            <p:extLst>
              <p:ext uri="{D42A27DB-BD31-4B8C-83A1-F6EECF244321}">
                <p14:modId xmlns:p14="http://schemas.microsoft.com/office/powerpoint/2010/main" val="3108464"/>
              </p:ext>
            </p:extLst>
          </p:nvPr>
        </p:nvGraphicFramePr>
        <p:xfrm>
          <a:off x="157476" y="1258688"/>
          <a:ext cx="8829025" cy="3657500"/>
        </p:xfrm>
        <a:graphic>
          <a:graphicData uri="http://schemas.openxmlformats.org/drawingml/2006/table">
            <a:tbl>
              <a:tblPr>
                <a:noFill/>
                <a:tableStyleId>{AF5D31DA-D247-41EE-9E47-7AEE27247059}</a:tableStyleId>
              </a:tblPr>
              <a:tblGrid>
                <a:gridCol w="1726275">
                  <a:extLst>
                    <a:ext uri="{9D8B030D-6E8A-4147-A177-3AD203B41FA5}">
                      <a16:colId xmlns:a16="http://schemas.microsoft.com/office/drawing/2014/main" val="20000"/>
                    </a:ext>
                  </a:extLst>
                </a:gridCol>
                <a:gridCol w="971225">
                  <a:extLst>
                    <a:ext uri="{9D8B030D-6E8A-4147-A177-3AD203B41FA5}">
                      <a16:colId xmlns:a16="http://schemas.microsoft.com/office/drawing/2014/main" val="20001"/>
                    </a:ext>
                  </a:extLst>
                </a:gridCol>
                <a:gridCol w="6131525">
                  <a:extLst>
                    <a:ext uri="{9D8B030D-6E8A-4147-A177-3AD203B41FA5}">
                      <a16:colId xmlns:a16="http://schemas.microsoft.com/office/drawing/2014/main" val="20002"/>
                    </a:ext>
                  </a:extLst>
                </a:gridCol>
              </a:tblGrid>
              <a:tr h="914375">
                <a:tc>
                  <a:txBody>
                    <a:bodyPr/>
                    <a:lstStyle/>
                    <a:p>
                      <a:pPr marL="0" marR="0" lvl="0" indent="0" algn="l" rtl="0">
                        <a:lnSpc>
                          <a:spcPct val="100000"/>
                        </a:lnSpc>
                        <a:spcBef>
                          <a:spcPts val="0"/>
                        </a:spcBef>
                        <a:spcAft>
                          <a:spcPts val="0"/>
                        </a:spcAft>
                        <a:buClr>
                          <a:srgbClr val="000000"/>
                        </a:buClr>
                        <a:buSzPts val="1700"/>
                        <a:buFont typeface="Arial"/>
                        <a:buNone/>
                      </a:pPr>
                      <a:r>
                        <a:rPr lang="en" b="1" u="none" strike="noStrike" cap="none" dirty="0">
                          <a:solidFill>
                            <a:schemeClr val="dk1"/>
                          </a:solidFill>
                          <a:latin typeface="Poppins"/>
                          <a:ea typeface="Poppins"/>
                          <a:cs typeface="Poppins"/>
                          <a:sym typeface="Poppins"/>
                        </a:rPr>
                        <a:t>Arms Race</a:t>
                      </a:r>
                    </a:p>
                    <a:p>
                      <a:pPr marL="0" marR="0" lvl="0" indent="0" algn="l" rtl="0">
                        <a:lnSpc>
                          <a:spcPct val="100000"/>
                        </a:lnSpc>
                        <a:spcBef>
                          <a:spcPts val="0"/>
                        </a:spcBef>
                        <a:spcAft>
                          <a:spcPts val="0"/>
                        </a:spcAft>
                        <a:buClr>
                          <a:srgbClr val="000000"/>
                        </a:buClr>
                        <a:buSzPts val="1700"/>
                        <a:buFont typeface="Arial"/>
                        <a:buNone/>
                      </a:pPr>
                      <a:r>
                        <a:rPr lang="ja-JP" altLang="en-US" b="1" u="none" strike="noStrike" cap="none">
                          <a:solidFill>
                            <a:schemeClr val="dk1"/>
                          </a:solidFill>
                          <a:latin typeface="Poppins"/>
                          <a:ea typeface="Poppins"/>
                          <a:cs typeface="Poppins"/>
                          <a:sym typeface="Poppins"/>
                        </a:rPr>
                        <a:t>军备竞赛</a:t>
                      </a:r>
                      <a:endParaRPr lang="en" b="1" u="none" strike="noStrike" cap="none" dirty="0">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700"/>
                        <a:buFont typeface="Arial"/>
                        <a:buNone/>
                      </a:pPr>
                      <a:r>
                        <a:rPr lang="ko-KR" altLang="en-US" b="1" u="none" strike="noStrike" cap="none" dirty="0">
                          <a:solidFill>
                            <a:schemeClr val="dk1"/>
                          </a:solidFill>
                          <a:latin typeface="Poppins"/>
                          <a:ea typeface="Poppins"/>
                          <a:cs typeface="Poppins"/>
                          <a:sym typeface="Poppins"/>
                        </a:rPr>
                        <a:t>무기 경쟁</a:t>
                      </a:r>
                      <a:endParaRPr b="1" u="none" strike="noStrike" cap="none" dirty="0">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Arial"/>
                        <a:buNone/>
                      </a:pPr>
                      <a:r>
                        <a:rPr lang="en">
                          <a:solidFill>
                            <a:schemeClr val="dk1"/>
                          </a:solidFill>
                          <a:latin typeface="Poppins"/>
                          <a:ea typeface="Poppins"/>
                          <a:cs typeface="Poppins"/>
                          <a:sym typeface="Poppins"/>
                        </a:rPr>
                        <a:t>When </a:t>
                      </a:r>
                      <a:r>
                        <a:rPr lang="en" b="1">
                          <a:solidFill>
                            <a:schemeClr val="dk1"/>
                          </a:solidFill>
                          <a:latin typeface="Poppins"/>
                          <a:ea typeface="Poppins"/>
                          <a:cs typeface="Poppins"/>
                          <a:sym typeface="Poppins"/>
                        </a:rPr>
                        <a:t>two or more countries try to make their armies stronger</a:t>
                      </a:r>
                      <a:r>
                        <a:rPr lang="en">
                          <a:solidFill>
                            <a:schemeClr val="dk1"/>
                          </a:solidFill>
                          <a:latin typeface="Poppins"/>
                          <a:ea typeface="Poppins"/>
                          <a:cs typeface="Poppins"/>
                          <a:sym typeface="Poppins"/>
                        </a:rPr>
                        <a:t> by getting more soldiers, weapons and new technology to gain power over each other.</a:t>
                      </a:r>
                      <a:endParaRPr u="none" strike="noStrike" cap="none">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914375">
                <a:tc>
                  <a:txBody>
                    <a:bodyPr/>
                    <a:lstStyle/>
                    <a:p>
                      <a:pPr marL="0" marR="0" lvl="0" indent="0" algn="l" rtl="0">
                        <a:lnSpc>
                          <a:spcPct val="100000"/>
                        </a:lnSpc>
                        <a:spcBef>
                          <a:spcPts val="0"/>
                        </a:spcBef>
                        <a:spcAft>
                          <a:spcPts val="0"/>
                        </a:spcAft>
                        <a:buClr>
                          <a:schemeClr val="dk1"/>
                        </a:buClr>
                        <a:buSzPts val="1100"/>
                        <a:buFont typeface="Arial"/>
                        <a:buNone/>
                      </a:pPr>
                      <a:r>
                        <a:rPr lang="en" b="1" u="none" strike="noStrike" cap="none" dirty="0">
                          <a:solidFill>
                            <a:schemeClr val="dk1"/>
                          </a:solidFill>
                          <a:latin typeface="Poppins"/>
                          <a:ea typeface="Poppins"/>
                          <a:cs typeface="Poppins"/>
                          <a:sym typeface="Poppins"/>
                        </a:rPr>
                        <a:t>Dreadnought</a:t>
                      </a:r>
                    </a:p>
                    <a:p>
                      <a:pPr marL="0" marR="0" lvl="0" indent="0" algn="l" rtl="0">
                        <a:lnSpc>
                          <a:spcPct val="100000"/>
                        </a:lnSpc>
                        <a:spcBef>
                          <a:spcPts val="0"/>
                        </a:spcBef>
                        <a:spcAft>
                          <a:spcPts val="0"/>
                        </a:spcAft>
                        <a:buClr>
                          <a:schemeClr val="dk1"/>
                        </a:buClr>
                        <a:buSzPts val="1100"/>
                        <a:buFont typeface="Arial"/>
                        <a:buNone/>
                      </a:pPr>
                      <a:r>
                        <a:rPr lang="ko-KR" altLang="en-US" b="1" u="none" strike="noStrike" cap="none" dirty="0" err="1">
                          <a:solidFill>
                            <a:schemeClr val="dk1"/>
                          </a:solidFill>
                          <a:latin typeface="Poppins"/>
                          <a:ea typeface="Poppins"/>
                          <a:cs typeface="Poppins"/>
                          <a:sym typeface="Poppins"/>
                        </a:rPr>
                        <a:t>드레드노트</a:t>
                      </a:r>
                      <a:endParaRPr b="1" u="none" strike="noStrike" cap="none" dirty="0">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700"/>
                        <a:buFont typeface="Arial"/>
                        <a:buNone/>
                      </a:pPr>
                      <a:r>
                        <a:rPr lang="en">
                          <a:solidFill>
                            <a:schemeClr val="dk1"/>
                          </a:solidFill>
                          <a:latin typeface="Poppins"/>
                          <a:ea typeface="Poppins"/>
                          <a:cs typeface="Poppins"/>
                          <a:sym typeface="Poppins"/>
                        </a:rPr>
                        <a:t>A </a:t>
                      </a:r>
                      <a:r>
                        <a:rPr lang="en" b="1">
                          <a:solidFill>
                            <a:schemeClr val="dk1"/>
                          </a:solidFill>
                          <a:latin typeface="Poppins"/>
                          <a:ea typeface="Poppins"/>
                          <a:cs typeface="Poppins"/>
                          <a:sym typeface="Poppins"/>
                        </a:rPr>
                        <a:t>battleship with oil-powered </a:t>
                      </a:r>
                      <a:r>
                        <a:rPr lang="en">
                          <a:solidFill>
                            <a:schemeClr val="dk1"/>
                          </a:solidFill>
                          <a:latin typeface="Poppins"/>
                          <a:ea typeface="Poppins"/>
                          <a:cs typeface="Poppins"/>
                          <a:sym typeface="Poppins"/>
                        </a:rPr>
                        <a:t>(diesel) </a:t>
                      </a:r>
                      <a:r>
                        <a:rPr lang="en" b="1">
                          <a:solidFill>
                            <a:schemeClr val="dk1"/>
                          </a:solidFill>
                          <a:latin typeface="Poppins"/>
                          <a:ea typeface="Poppins"/>
                          <a:cs typeface="Poppins"/>
                          <a:sym typeface="Poppins"/>
                        </a:rPr>
                        <a:t>engines</a:t>
                      </a:r>
                      <a:r>
                        <a:rPr lang="en">
                          <a:solidFill>
                            <a:schemeClr val="dk1"/>
                          </a:solidFill>
                          <a:latin typeface="Poppins"/>
                          <a:ea typeface="Poppins"/>
                          <a:cs typeface="Poppins"/>
                          <a:sym typeface="Poppins"/>
                        </a:rPr>
                        <a:t> that made it faster and more powerful than any other battleship at the time.</a:t>
                      </a:r>
                      <a:endParaRPr u="none" strike="noStrike" cap="none">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914375">
                <a:tc>
                  <a:txBody>
                    <a:bodyPr/>
                    <a:lstStyle/>
                    <a:p>
                      <a:pPr marL="0" marR="0" lvl="0" indent="0" algn="l" rtl="0">
                        <a:lnSpc>
                          <a:spcPct val="100000"/>
                        </a:lnSpc>
                        <a:spcBef>
                          <a:spcPts val="0"/>
                        </a:spcBef>
                        <a:spcAft>
                          <a:spcPts val="0"/>
                        </a:spcAft>
                        <a:buClr>
                          <a:srgbClr val="000000"/>
                        </a:buClr>
                        <a:buSzPts val="1700"/>
                        <a:buFont typeface="Arial"/>
                        <a:buNone/>
                      </a:pPr>
                      <a:r>
                        <a:rPr lang="en" b="1" u="none" strike="noStrike" cap="none" dirty="0">
                          <a:solidFill>
                            <a:schemeClr val="dk1"/>
                          </a:solidFill>
                          <a:latin typeface="Poppins"/>
                          <a:ea typeface="Poppins"/>
                          <a:cs typeface="Poppins"/>
                          <a:sym typeface="Poppins"/>
                        </a:rPr>
                        <a:t>Militarism</a:t>
                      </a:r>
                    </a:p>
                    <a:p>
                      <a:pPr marL="0" marR="0" lvl="0" indent="0" algn="l" rtl="0">
                        <a:lnSpc>
                          <a:spcPct val="100000"/>
                        </a:lnSpc>
                        <a:spcBef>
                          <a:spcPts val="0"/>
                        </a:spcBef>
                        <a:spcAft>
                          <a:spcPts val="0"/>
                        </a:spcAft>
                        <a:buClr>
                          <a:srgbClr val="000000"/>
                        </a:buClr>
                        <a:buSzPts val="1700"/>
                        <a:buFont typeface="Arial"/>
                        <a:buNone/>
                      </a:pPr>
                      <a:r>
                        <a:rPr lang="ja-JP" altLang="en-US" b="1" u="none" strike="noStrike" cap="none">
                          <a:solidFill>
                            <a:schemeClr val="dk1"/>
                          </a:solidFill>
                          <a:latin typeface="Poppins"/>
                          <a:ea typeface="Poppins"/>
                          <a:cs typeface="Poppins"/>
                          <a:sym typeface="Poppins"/>
                        </a:rPr>
                        <a:t>军国主义</a:t>
                      </a:r>
                      <a:endParaRPr lang="en" b="1" u="none" strike="noStrike" cap="none" dirty="0">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700"/>
                        <a:buFont typeface="Arial"/>
                        <a:buNone/>
                      </a:pPr>
                      <a:r>
                        <a:rPr lang="ko-KR" altLang="en-US" b="1" u="none" strike="noStrike" cap="none" dirty="0">
                          <a:solidFill>
                            <a:schemeClr val="dk1"/>
                          </a:solidFill>
                          <a:latin typeface="Poppins"/>
                          <a:ea typeface="Poppins"/>
                          <a:cs typeface="Poppins"/>
                          <a:sym typeface="Poppins"/>
                        </a:rPr>
                        <a:t>군국주의</a:t>
                      </a:r>
                      <a:endParaRPr b="1" u="none" strike="noStrike" cap="none" dirty="0">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15000"/>
                        </a:lnSpc>
                        <a:spcBef>
                          <a:spcPts val="0"/>
                        </a:spcBef>
                        <a:spcAft>
                          <a:spcPts val="0"/>
                        </a:spcAft>
                        <a:buNone/>
                      </a:pPr>
                      <a:endParaRPr>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700"/>
                        <a:buFont typeface="Arial"/>
                        <a:buNone/>
                      </a:pPr>
                      <a:r>
                        <a:rPr lang="en">
                          <a:solidFill>
                            <a:schemeClr val="dk1"/>
                          </a:solidFill>
                          <a:latin typeface="Poppins"/>
                          <a:ea typeface="Poppins"/>
                          <a:cs typeface="Poppins"/>
                          <a:sym typeface="Poppins"/>
                        </a:rPr>
                        <a:t>The idea that a </a:t>
                      </a:r>
                      <a:r>
                        <a:rPr lang="en" b="1">
                          <a:solidFill>
                            <a:schemeClr val="dk1"/>
                          </a:solidFill>
                          <a:latin typeface="Poppins"/>
                          <a:ea typeface="Poppins"/>
                          <a:cs typeface="Poppins"/>
                          <a:sym typeface="Poppins"/>
                        </a:rPr>
                        <a:t>country should have a strong army and be ready to use it</a:t>
                      </a:r>
                      <a:r>
                        <a:rPr lang="en">
                          <a:solidFill>
                            <a:schemeClr val="dk1"/>
                          </a:solidFill>
                          <a:latin typeface="Poppins"/>
                          <a:ea typeface="Poppins"/>
                          <a:cs typeface="Poppins"/>
                          <a:sym typeface="Poppins"/>
                        </a:rPr>
                        <a:t> to protect or improve its interests.</a:t>
                      </a:r>
                      <a:endParaRPr u="none" strike="noStrike" cap="none">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914375">
                <a:tc>
                  <a:txBody>
                    <a:bodyPr/>
                    <a:lstStyle/>
                    <a:p>
                      <a:pPr marL="0" marR="0" lvl="0" indent="0" algn="l" rtl="0">
                        <a:lnSpc>
                          <a:spcPct val="100000"/>
                        </a:lnSpc>
                        <a:spcBef>
                          <a:spcPts val="0"/>
                        </a:spcBef>
                        <a:spcAft>
                          <a:spcPts val="0"/>
                        </a:spcAft>
                        <a:buNone/>
                      </a:pPr>
                      <a:r>
                        <a:rPr lang="en" b="1" dirty="0">
                          <a:solidFill>
                            <a:schemeClr val="dk1"/>
                          </a:solidFill>
                          <a:latin typeface="Poppins"/>
                          <a:ea typeface="Poppins"/>
                          <a:cs typeface="Poppins"/>
                          <a:sym typeface="Poppins"/>
                        </a:rPr>
                        <a:t>Conscription</a:t>
                      </a:r>
                    </a:p>
                    <a:p>
                      <a:pPr marL="0" marR="0" lvl="0" indent="0" algn="l" rtl="0">
                        <a:lnSpc>
                          <a:spcPct val="100000"/>
                        </a:lnSpc>
                        <a:spcBef>
                          <a:spcPts val="0"/>
                        </a:spcBef>
                        <a:spcAft>
                          <a:spcPts val="0"/>
                        </a:spcAft>
                        <a:buNone/>
                      </a:pPr>
                      <a:r>
                        <a:rPr lang="ja-JP" altLang="en-US" b="1">
                          <a:solidFill>
                            <a:schemeClr val="dk1"/>
                          </a:solidFill>
                          <a:latin typeface="Poppins"/>
                          <a:ea typeface="Poppins"/>
                          <a:cs typeface="Poppins"/>
                          <a:sym typeface="Poppins"/>
                        </a:rPr>
                        <a:t>征兵</a:t>
                      </a:r>
                      <a:endParaRPr lang="en" b="1" dirty="0">
                        <a:solidFill>
                          <a:schemeClr val="dk1"/>
                        </a:solidFill>
                        <a:latin typeface="Poppins"/>
                        <a:ea typeface="Poppins"/>
                        <a:cs typeface="Poppins"/>
                        <a:sym typeface="Poppins"/>
                      </a:endParaRPr>
                    </a:p>
                    <a:p>
                      <a:pPr marL="0" marR="0" lvl="0" indent="0" algn="l" rtl="0">
                        <a:lnSpc>
                          <a:spcPct val="100000"/>
                        </a:lnSpc>
                        <a:spcBef>
                          <a:spcPts val="0"/>
                        </a:spcBef>
                        <a:spcAft>
                          <a:spcPts val="0"/>
                        </a:spcAft>
                        <a:buNone/>
                      </a:pPr>
                      <a:r>
                        <a:rPr lang="ko-KR" altLang="en-US" b="1" u="none" strike="noStrike" cap="none" dirty="0">
                          <a:solidFill>
                            <a:schemeClr val="dk1"/>
                          </a:solidFill>
                          <a:latin typeface="Poppins"/>
                          <a:ea typeface="Poppins"/>
                          <a:cs typeface="Poppins"/>
                          <a:sym typeface="Poppins"/>
                        </a:rPr>
                        <a:t>징병</a:t>
                      </a:r>
                      <a:endParaRPr b="1" u="none" strike="noStrike" cap="none" dirty="0">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15000"/>
                        </a:lnSpc>
                        <a:spcBef>
                          <a:spcPts val="0"/>
                        </a:spcBef>
                        <a:spcAft>
                          <a:spcPts val="0"/>
                        </a:spcAft>
                        <a:buNone/>
                      </a:pPr>
                      <a:endParaRPr>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15000"/>
                        </a:lnSpc>
                        <a:spcBef>
                          <a:spcPts val="0"/>
                        </a:spcBef>
                        <a:spcAft>
                          <a:spcPts val="0"/>
                        </a:spcAft>
                        <a:buNone/>
                      </a:pPr>
                      <a:r>
                        <a:rPr lang="en" dirty="0">
                          <a:solidFill>
                            <a:schemeClr val="dk1"/>
                          </a:solidFill>
                          <a:latin typeface="Poppins"/>
                          <a:ea typeface="Poppins"/>
                          <a:cs typeface="Poppins"/>
                          <a:sym typeface="Poppins"/>
                        </a:rPr>
                        <a:t>A system requiring </a:t>
                      </a:r>
                      <a:r>
                        <a:rPr lang="en" b="1" dirty="0">
                          <a:solidFill>
                            <a:schemeClr val="dk1"/>
                          </a:solidFill>
                          <a:latin typeface="Poppins"/>
                          <a:ea typeface="Poppins"/>
                          <a:cs typeface="Poppins"/>
                          <a:sym typeface="Poppins"/>
                        </a:rPr>
                        <a:t>men to serve in the armed forces</a:t>
                      </a:r>
                      <a:r>
                        <a:rPr lang="en" dirty="0">
                          <a:solidFill>
                            <a:schemeClr val="dk1"/>
                          </a:solidFill>
                          <a:latin typeface="Poppins"/>
                          <a:ea typeface="Poppins"/>
                          <a:cs typeface="Poppins"/>
                          <a:sym typeface="Poppins"/>
                        </a:rPr>
                        <a:t> for a set period of time.</a:t>
                      </a:r>
                      <a:endParaRPr dirty="0">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pic>
        <p:nvPicPr>
          <p:cNvPr id="98" name="Google Shape;98;p19"/>
          <p:cNvPicPr preferRelativeResize="0"/>
          <p:nvPr/>
        </p:nvPicPr>
        <p:blipFill>
          <a:blip r:embed="rId3">
            <a:alphaModFix/>
          </a:blip>
          <a:stretch>
            <a:fillRect/>
          </a:stretch>
        </p:blipFill>
        <p:spPr>
          <a:xfrm>
            <a:off x="2011888" y="1325275"/>
            <a:ext cx="766600" cy="766600"/>
          </a:xfrm>
          <a:prstGeom prst="rect">
            <a:avLst/>
          </a:prstGeom>
          <a:noFill/>
          <a:ln>
            <a:noFill/>
          </a:ln>
        </p:spPr>
      </p:pic>
      <p:sp>
        <p:nvSpPr>
          <p:cNvPr id="99" name="Google Shape;99;p19"/>
          <p:cNvSpPr txBox="1"/>
          <p:nvPr/>
        </p:nvSpPr>
        <p:spPr>
          <a:xfrm>
            <a:off x="3212400" y="582500"/>
            <a:ext cx="5811300" cy="676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600" b="1">
                <a:solidFill>
                  <a:srgbClr val="000000"/>
                </a:solidFill>
                <a:highlight>
                  <a:srgbClr val="FFFF00"/>
                </a:highlight>
                <a:latin typeface="Caveat"/>
                <a:ea typeface="Caveat"/>
                <a:cs typeface="Caveat"/>
                <a:sym typeface="Caveat"/>
              </a:rPr>
              <a:t>Key Enquiry Question: What were the causes of WW1, and how did different factors contribute to the outbreak of the conflict?</a:t>
            </a:r>
            <a:endParaRPr sz="1600" b="1">
              <a:solidFill>
                <a:srgbClr val="000000"/>
              </a:solidFill>
              <a:highlight>
                <a:srgbClr val="FFFF00"/>
              </a:highlight>
              <a:latin typeface="Caveat"/>
              <a:ea typeface="Caveat"/>
              <a:cs typeface="Caveat"/>
              <a:sym typeface="Caveat"/>
            </a:endParaRPr>
          </a:p>
        </p:txBody>
      </p:sp>
      <p:pic>
        <p:nvPicPr>
          <p:cNvPr id="100" name="Google Shape;100;p19"/>
          <p:cNvPicPr preferRelativeResize="0"/>
          <p:nvPr/>
        </p:nvPicPr>
        <p:blipFill>
          <a:blip r:embed="rId4">
            <a:alphaModFix/>
          </a:blip>
          <a:stretch>
            <a:fillRect/>
          </a:stretch>
        </p:blipFill>
        <p:spPr>
          <a:xfrm>
            <a:off x="2011888" y="2246963"/>
            <a:ext cx="766600" cy="766600"/>
          </a:xfrm>
          <a:prstGeom prst="rect">
            <a:avLst/>
          </a:prstGeom>
          <a:noFill/>
          <a:ln>
            <a:noFill/>
          </a:ln>
        </p:spPr>
      </p:pic>
      <p:pic>
        <p:nvPicPr>
          <p:cNvPr id="101" name="Google Shape;101;p19"/>
          <p:cNvPicPr preferRelativeResize="0"/>
          <p:nvPr/>
        </p:nvPicPr>
        <p:blipFill>
          <a:blip r:embed="rId5">
            <a:alphaModFix/>
          </a:blip>
          <a:stretch>
            <a:fillRect/>
          </a:stretch>
        </p:blipFill>
        <p:spPr>
          <a:xfrm>
            <a:off x="2011888" y="3168650"/>
            <a:ext cx="766600" cy="766600"/>
          </a:xfrm>
          <a:prstGeom prst="rect">
            <a:avLst/>
          </a:prstGeom>
          <a:noFill/>
          <a:ln>
            <a:noFill/>
          </a:ln>
        </p:spPr>
      </p:pic>
      <p:sp>
        <p:nvSpPr>
          <p:cNvPr id="102" name="Google Shape;102;p19"/>
          <p:cNvSpPr txBox="1"/>
          <p:nvPr/>
        </p:nvSpPr>
        <p:spPr>
          <a:xfrm>
            <a:off x="104400" y="77000"/>
            <a:ext cx="8919300" cy="50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Title: Militarism and the Arms Race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LO: How did militarism and the arms race increase tensions in Europe before 1914?</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endParaRPr sz="1200" b="1">
              <a:solidFill>
                <a:srgbClr val="980000"/>
              </a:solidFill>
              <a:latin typeface="Delius"/>
              <a:ea typeface="Delius"/>
              <a:cs typeface="Delius"/>
              <a:sym typeface="Delius"/>
            </a:endParaRPr>
          </a:p>
        </p:txBody>
      </p:sp>
      <p:pic>
        <p:nvPicPr>
          <p:cNvPr id="103" name="Google Shape;103;p19"/>
          <p:cNvPicPr preferRelativeResize="0"/>
          <p:nvPr/>
        </p:nvPicPr>
        <p:blipFill>
          <a:blip r:embed="rId6">
            <a:alphaModFix/>
          </a:blip>
          <a:stretch>
            <a:fillRect/>
          </a:stretch>
        </p:blipFill>
        <p:spPr>
          <a:xfrm>
            <a:off x="2011900" y="4090350"/>
            <a:ext cx="766575" cy="7665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0"/>
          <p:cNvSpPr txBox="1"/>
          <p:nvPr/>
        </p:nvSpPr>
        <p:spPr>
          <a:xfrm>
            <a:off x="100801" y="582500"/>
            <a:ext cx="6557174" cy="571500"/>
          </a:xfrm>
          <a:prstGeom prst="rect">
            <a:avLst/>
          </a:prstGeom>
          <a:noFill/>
          <a:ln>
            <a:noFill/>
          </a:ln>
        </p:spPr>
        <p:txBody>
          <a:bodyPr spcFirstLastPara="1" wrap="square" lIns="91425" tIns="91425" rIns="91425" bIns="91425" anchor="t" anchorCtr="0">
            <a:noAutofit/>
          </a:bodyPr>
          <a:lstStyle/>
          <a:p>
            <a:pPr lvl="0">
              <a:buSzPts val="2400"/>
            </a:pPr>
            <a:r>
              <a:rPr lang="en" sz="2400" b="1" u="sng" dirty="0">
                <a:solidFill>
                  <a:schemeClr val="dk1"/>
                </a:solidFill>
                <a:latin typeface="Patrick Hand"/>
                <a:ea typeface="Patrick Hand"/>
                <a:cs typeface="Patrick Hand"/>
                <a:sym typeface="Patrick Hand"/>
              </a:rPr>
              <a:t>A Preventative War? </a:t>
            </a:r>
            <a:r>
              <a:rPr lang="ko-KR" altLang="en-US" sz="2400" b="1" u="sng" dirty="0">
                <a:solidFill>
                  <a:schemeClr val="dk1"/>
                </a:solidFill>
                <a:latin typeface="Patrick Hand"/>
                <a:ea typeface="Patrick Hand"/>
                <a:cs typeface="Patrick Hand"/>
                <a:sym typeface="Patrick Hand"/>
              </a:rPr>
              <a:t>예방 전쟁</a:t>
            </a:r>
            <a:r>
              <a:rPr lang="en-US" altLang="ko-KR" sz="2400" b="1" u="sng" dirty="0">
                <a:solidFill>
                  <a:schemeClr val="dk1"/>
                </a:solidFill>
                <a:latin typeface="Patrick Hand"/>
                <a:ea typeface="Patrick Hand"/>
                <a:cs typeface="Patrick Hand"/>
                <a:sym typeface="Patrick Hand"/>
              </a:rPr>
              <a:t>?</a:t>
            </a:r>
            <a:r>
              <a:rPr lang="en" sz="2400" b="1" u="sng" dirty="0">
                <a:solidFill>
                  <a:schemeClr val="dk1"/>
                </a:solidFill>
                <a:latin typeface="Patrick Hand"/>
                <a:ea typeface="Patrick Hand"/>
                <a:cs typeface="Patrick Hand"/>
                <a:sym typeface="Patrick Hand"/>
              </a:rPr>
              <a:t> </a:t>
            </a:r>
            <a:r>
              <a:rPr lang="ja-JP" altLang="en-US" sz="2400" b="1" u="sng">
                <a:solidFill>
                  <a:schemeClr val="dk1"/>
                </a:solidFill>
                <a:latin typeface="Patrick Hand"/>
                <a:ea typeface="Patrick Hand"/>
                <a:cs typeface="Patrick Hand"/>
                <a:sym typeface="Patrick Hand"/>
              </a:rPr>
              <a:t>预防性战争？</a:t>
            </a:r>
            <a:endParaRPr sz="2400" b="1" i="0" u="sng" strike="noStrike" cap="none" dirty="0">
              <a:solidFill>
                <a:schemeClr val="dk1"/>
              </a:solidFill>
              <a:latin typeface="Patrick Hand"/>
              <a:ea typeface="Patrick Hand"/>
              <a:cs typeface="Patrick Hand"/>
              <a:sym typeface="Patrick Hand"/>
            </a:endParaRPr>
          </a:p>
        </p:txBody>
      </p:sp>
      <p:sp>
        <p:nvSpPr>
          <p:cNvPr id="109" name="Google Shape;109;p20"/>
          <p:cNvSpPr txBox="1"/>
          <p:nvPr/>
        </p:nvSpPr>
        <p:spPr>
          <a:xfrm>
            <a:off x="1533350" y="1154000"/>
            <a:ext cx="7509900" cy="1280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600" dirty="0">
                <a:solidFill>
                  <a:srgbClr val="191919"/>
                </a:solidFill>
                <a:latin typeface="Baumans"/>
                <a:ea typeface="Baumans"/>
                <a:cs typeface="Baumans"/>
                <a:sym typeface="Baumans"/>
              </a:rPr>
              <a:t>Before WWI, </a:t>
            </a:r>
            <a:r>
              <a:rPr lang="en" sz="1600" b="1" dirty="0">
                <a:solidFill>
                  <a:srgbClr val="191919"/>
                </a:solidFill>
                <a:latin typeface="Baumans"/>
                <a:ea typeface="Baumans"/>
                <a:cs typeface="Baumans"/>
                <a:sym typeface="Baumans"/>
              </a:rPr>
              <a:t>all major European countries</a:t>
            </a:r>
            <a:r>
              <a:rPr lang="en" sz="1600" dirty="0">
                <a:solidFill>
                  <a:srgbClr val="191919"/>
                </a:solidFill>
                <a:latin typeface="Baumans"/>
                <a:ea typeface="Baumans"/>
                <a:cs typeface="Baumans"/>
                <a:sym typeface="Baumans"/>
              </a:rPr>
              <a:t> had plans to attack their enemies. Leaders were confident they could win quickly. </a:t>
            </a:r>
            <a:r>
              <a:rPr lang="en" sz="1600" b="1" dirty="0">
                <a:solidFill>
                  <a:srgbClr val="191919"/>
                </a:solidFill>
                <a:latin typeface="Baumans"/>
                <a:ea typeface="Baumans"/>
                <a:cs typeface="Baumans"/>
                <a:sym typeface="Baumans"/>
              </a:rPr>
              <a:t>Military leaders expected their armies to succeed</a:t>
            </a:r>
            <a:r>
              <a:rPr lang="en" sz="1600" dirty="0">
                <a:solidFill>
                  <a:srgbClr val="191919"/>
                </a:solidFill>
                <a:latin typeface="Baumans"/>
                <a:ea typeface="Baumans"/>
                <a:cs typeface="Baumans"/>
                <a:sym typeface="Baumans"/>
              </a:rPr>
              <a:t>, so </a:t>
            </a:r>
            <a:r>
              <a:rPr lang="en" sz="1600" b="1" dirty="0">
                <a:solidFill>
                  <a:srgbClr val="191919"/>
                </a:solidFill>
                <a:latin typeface="Baumans"/>
                <a:ea typeface="Baumans"/>
                <a:cs typeface="Baumans"/>
                <a:sym typeface="Baumans"/>
              </a:rPr>
              <a:t>governments did not do enough to maintain peace</a:t>
            </a:r>
            <a:r>
              <a:rPr lang="en" sz="1600" dirty="0">
                <a:solidFill>
                  <a:srgbClr val="191919"/>
                </a:solidFill>
                <a:latin typeface="Baumans"/>
                <a:ea typeface="Baumans"/>
                <a:cs typeface="Baumans"/>
                <a:sym typeface="Baumans"/>
              </a:rPr>
              <a:t>. As a result, </a:t>
            </a:r>
            <a:r>
              <a:rPr lang="en" sz="1600" b="1" dirty="0">
                <a:solidFill>
                  <a:srgbClr val="191919"/>
                </a:solidFill>
                <a:latin typeface="Baumans"/>
                <a:ea typeface="Baumans"/>
                <a:cs typeface="Baumans"/>
                <a:sym typeface="Baumans"/>
              </a:rPr>
              <a:t>small disagreements between countries were allowed to become more serious</a:t>
            </a:r>
            <a:r>
              <a:rPr lang="en" sz="1600" dirty="0">
                <a:solidFill>
                  <a:srgbClr val="191919"/>
                </a:solidFill>
                <a:latin typeface="Baumans"/>
                <a:ea typeface="Baumans"/>
                <a:cs typeface="Baumans"/>
                <a:sym typeface="Baumans"/>
              </a:rPr>
              <a:t>.</a:t>
            </a:r>
            <a:endParaRPr sz="1600" dirty="0">
              <a:solidFill>
                <a:srgbClr val="191919"/>
              </a:solidFill>
              <a:latin typeface="Baumans"/>
              <a:ea typeface="Baumans"/>
              <a:cs typeface="Baumans"/>
              <a:sym typeface="Baumans"/>
            </a:endParaRPr>
          </a:p>
          <a:p>
            <a:pPr marL="0" marR="0" lvl="0" indent="0" algn="l" rtl="0">
              <a:lnSpc>
                <a:spcPct val="115000"/>
              </a:lnSpc>
              <a:spcBef>
                <a:spcPts val="800"/>
              </a:spcBef>
              <a:spcAft>
                <a:spcPts val="0"/>
              </a:spcAft>
              <a:buClr>
                <a:schemeClr val="dk1"/>
              </a:buClr>
              <a:buSzPts val="1100"/>
              <a:buFont typeface="Arial"/>
              <a:buNone/>
            </a:pPr>
            <a:endParaRPr sz="1600" dirty="0">
              <a:solidFill>
                <a:schemeClr val="dk1"/>
              </a:solidFill>
              <a:latin typeface="Baumans"/>
              <a:ea typeface="Baumans"/>
              <a:cs typeface="Baumans"/>
              <a:sym typeface="Baumans"/>
            </a:endParaRPr>
          </a:p>
        </p:txBody>
      </p:sp>
      <p:sp>
        <p:nvSpPr>
          <p:cNvPr id="110" name="Google Shape;110;p20"/>
          <p:cNvSpPr txBox="1"/>
          <p:nvPr/>
        </p:nvSpPr>
        <p:spPr>
          <a:xfrm>
            <a:off x="100800" y="2434700"/>
            <a:ext cx="7509900" cy="1280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800"/>
              </a:spcAft>
              <a:buNone/>
            </a:pPr>
            <a:r>
              <a:rPr lang="en" sz="1600">
                <a:solidFill>
                  <a:srgbClr val="191919"/>
                </a:solidFill>
                <a:latin typeface="Baumans"/>
                <a:ea typeface="Baumans"/>
                <a:cs typeface="Baumans"/>
                <a:sym typeface="Baumans"/>
              </a:rPr>
              <a:t>Military leaders </a:t>
            </a:r>
            <a:r>
              <a:rPr lang="en" sz="1600" b="1">
                <a:solidFill>
                  <a:srgbClr val="191919"/>
                </a:solidFill>
                <a:latin typeface="Baumans"/>
                <a:ea typeface="Baumans"/>
                <a:cs typeface="Baumans"/>
                <a:sym typeface="Baumans"/>
              </a:rPr>
              <a:t>did not fully understand modern warfare</a:t>
            </a:r>
            <a:r>
              <a:rPr lang="en" sz="1600">
                <a:solidFill>
                  <a:srgbClr val="191919"/>
                </a:solidFill>
                <a:latin typeface="Baumans"/>
                <a:ea typeface="Baumans"/>
                <a:cs typeface="Baumans"/>
                <a:sym typeface="Baumans"/>
              </a:rPr>
              <a:t>. They failed to realise that new weapons made both attacking and defending stronger, meaning wars could last much longer. They also </a:t>
            </a:r>
            <a:r>
              <a:rPr lang="en" sz="1600" b="1">
                <a:solidFill>
                  <a:srgbClr val="191919"/>
                </a:solidFill>
                <a:latin typeface="Baumans"/>
                <a:ea typeface="Baumans"/>
                <a:cs typeface="Baumans"/>
                <a:sym typeface="Baumans"/>
              </a:rPr>
              <a:t>underestimated the damage a long war could cause to a country's economy</a:t>
            </a:r>
            <a:r>
              <a:rPr lang="en" sz="1600">
                <a:solidFill>
                  <a:srgbClr val="191919"/>
                </a:solidFill>
                <a:latin typeface="Baumans"/>
                <a:ea typeface="Baumans"/>
                <a:cs typeface="Baumans"/>
                <a:sym typeface="Baumans"/>
              </a:rPr>
              <a:t>.</a:t>
            </a:r>
            <a:endParaRPr sz="1600">
              <a:solidFill>
                <a:schemeClr val="dk1"/>
              </a:solidFill>
              <a:latin typeface="Baumans"/>
              <a:ea typeface="Baumans"/>
              <a:cs typeface="Baumans"/>
              <a:sym typeface="Baumans"/>
            </a:endParaRPr>
          </a:p>
        </p:txBody>
      </p:sp>
      <p:sp>
        <p:nvSpPr>
          <p:cNvPr id="111" name="Google Shape;111;p20"/>
          <p:cNvSpPr txBox="1"/>
          <p:nvPr/>
        </p:nvSpPr>
        <p:spPr>
          <a:xfrm>
            <a:off x="1533350" y="3715400"/>
            <a:ext cx="7509900" cy="1280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800"/>
              </a:spcAft>
              <a:buNone/>
            </a:pPr>
            <a:r>
              <a:rPr lang="en" sz="1600">
                <a:solidFill>
                  <a:srgbClr val="191919"/>
                </a:solidFill>
                <a:latin typeface="Baumans"/>
                <a:ea typeface="Baumans"/>
                <a:cs typeface="Baumans"/>
                <a:sym typeface="Baumans"/>
              </a:rPr>
              <a:t>Many historians argue that Germany's military plans aimed at a </a:t>
            </a:r>
            <a:r>
              <a:rPr lang="en" sz="1600" b="1">
                <a:solidFill>
                  <a:srgbClr val="191919"/>
                </a:solidFill>
                <a:latin typeface="Baumans"/>
                <a:ea typeface="Baumans"/>
                <a:cs typeface="Baumans"/>
                <a:sym typeface="Baumans"/>
              </a:rPr>
              <a:t>preventive war</a:t>
            </a:r>
            <a:r>
              <a:rPr lang="en" sz="1600">
                <a:solidFill>
                  <a:srgbClr val="191919"/>
                </a:solidFill>
                <a:latin typeface="Baumans"/>
                <a:ea typeface="Baumans"/>
                <a:cs typeface="Baumans"/>
                <a:sym typeface="Baumans"/>
              </a:rPr>
              <a:t>. This meant attacking first to stop another country from attacking. However, this approach </a:t>
            </a:r>
            <a:r>
              <a:rPr lang="en" sz="1600" b="1">
                <a:solidFill>
                  <a:srgbClr val="191919"/>
                </a:solidFill>
                <a:latin typeface="Baumans"/>
                <a:ea typeface="Baumans"/>
                <a:cs typeface="Baumans"/>
                <a:sym typeface="Baumans"/>
              </a:rPr>
              <a:t>made war more likely</a:t>
            </a:r>
            <a:r>
              <a:rPr lang="en" sz="1600">
                <a:solidFill>
                  <a:srgbClr val="191919"/>
                </a:solidFill>
                <a:latin typeface="Baumans"/>
                <a:ea typeface="Baumans"/>
                <a:cs typeface="Baumans"/>
                <a:sym typeface="Baumans"/>
              </a:rPr>
              <a:t>, because other countries feared a German attack and began </a:t>
            </a:r>
            <a:r>
              <a:rPr lang="en" sz="1600" b="1">
                <a:solidFill>
                  <a:srgbClr val="191919"/>
                </a:solidFill>
                <a:latin typeface="Baumans"/>
                <a:ea typeface="Baumans"/>
                <a:cs typeface="Baumans"/>
                <a:sym typeface="Baumans"/>
              </a:rPr>
              <a:t>building up their own armies to protect themselves</a:t>
            </a:r>
            <a:r>
              <a:rPr lang="en" sz="1600">
                <a:solidFill>
                  <a:srgbClr val="191919"/>
                </a:solidFill>
                <a:latin typeface="Baumans"/>
                <a:ea typeface="Baumans"/>
                <a:cs typeface="Baumans"/>
                <a:sym typeface="Baumans"/>
              </a:rPr>
              <a:t>.</a:t>
            </a:r>
            <a:endParaRPr sz="1600">
              <a:solidFill>
                <a:schemeClr val="dk1"/>
              </a:solidFill>
              <a:latin typeface="Baumans"/>
              <a:ea typeface="Baumans"/>
              <a:cs typeface="Baumans"/>
              <a:sym typeface="Baumans"/>
            </a:endParaRPr>
          </a:p>
        </p:txBody>
      </p:sp>
      <p:pic>
        <p:nvPicPr>
          <p:cNvPr id="112" name="Google Shape;112;p20" title="Gemini_Generated_Image_f9rmdcf9rmdcf9rm.png"/>
          <p:cNvPicPr preferRelativeResize="0"/>
          <p:nvPr/>
        </p:nvPicPr>
        <p:blipFill>
          <a:blip r:embed="rId3">
            <a:alphaModFix/>
          </a:blip>
          <a:stretch>
            <a:fillRect/>
          </a:stretch>
        </p:blipFill>
        <p:spPr>
          <a:xfrm>
            <a:off x="252650" y="1154000"/>
            <a:ext cx="1280701" cy="1280701"/>
          </a:xfrm>
          <a:prstGeom prst="rect">
            <a:avLst/>
          </a:prstGeom>
          <a:noFill/>
          <a:ln>
            <a:noFill/>
          </a:ln>
        </p:spPr>
      </p:pic>
      <p:pic>
        <p:nvPicPr>
          <p:cNvPr id="113" name="Google Shape;113;p20" title="Gemini_Generated_Image_2d93t2d93t2d93t2.png"/>
          <p:cNvPicPr preferRelativeResize="0"/>
          <p:nvPr/>
        </p:nvPicPr>
        <p:blipFill>
          <a:blip r:embed="rId4">
            <a:alphaModFix/>
          </a:blip>
          <a:stretch>
            <a:fillRect/>
          </a:stretch>
        </p:blipFill>
        <p:spPr>
          <a:xfrm>
            <a:off x="252650" y="3715400"/>
            <a:ext cx="1280701" cy="1280701"/>
          </a:xfrm>
          <a:prstGeom prst="rect">
            <a:avLst/>
          </a:prstGeom>
          <a:noFill/>
          <a:ln>
            <a:noFill/>
          </a:ln>
        </p:spPr>
      </p:pic>
      <p:pic>
        <p:nvPicPr>
          <p:cNvPr id="114" name="Google Shape;114;p20" title="Gemini_Generated_Image_kjyvr2kjyvr2kjyv.png"/>
          <p:cNvPicPr preferRelativeResize="0"/>
          <p:nvPr/>
        </p:nvPicPr>
        <p:blipFill>
          <a:blip r:embed="rId5">
            <a:alphaModFix/>
          </a:blip>
          <a:stretch>
            <a:fillRect/>
          </a:stretch>
        </p:blipFill>
        <p:spPr>
          <a:xfrm>
            <a:off x="7610701" y="2434701"/>
            <a:ext cx="1280701" cy="1280701"/>
          </a:xfrm>
          <a:prstGeom prst="rect">
            <a:avLst/>
          </a:prstGeom>
          <a:noFill/>
          <a:ln>
            <a:noFill/>
          </a:ln>
        </p:spPr>
      </p:pic>
      <p:sp>
        <p:nvSpPr>
          <p:cNvPr id="115" name="Google Shape;115;p20"/>
          <p:cNvSpPr txBox="1"/>
          <p:nvPr/>
        </p:nvSpPr>
        <p:spPr>
          <a:xfrm>
            <a:off x="104400" y="77000"/>
            <a:ext cx="8919300" cy="50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Title: Militarism and the Arms Race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LO: How did militarism and the arms race increase tensions in Europe before 1914?</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endParaRPr sz="1200" b="1">
              <a:solidFill>
                <a:srgbClr val="980000"/>
              </a:solidFill>
              <a:latin typeface="Delius"/>
              <a:ea typeface="Delius"/>
              <a:cs typeface="Delius"/>
              <a:sym typeface="Deliu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1"/>
          <p:cNvSpPr txBox="1"/>
          <p:nvPr/>
        </p:nvSpPr>
        <p:spPr>
          <a:xfrm>
            <a:off x="100803" y="582500"/>
            <a:ext cx="8526300" cy="571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1" u="sng">
                <a:solidFill>
                  <a:schemeClr val="dk1"/>
                </a:solidFill>
                <a:latin typeface="Patrick Hand"/>
                <a:ea typeface="Patrick Hand"/>
                <a:cs typeface="Patrick Hand"/>
                <a:sym typeface="Patrick Hand"/>
              </a:rPr>
              <a:t>Why Did Britain Need A Strong Navy?</a:t>
            </a:r>
            <a:endParaRPr sz="2400" b="1" i="0" u="sng" strike="noStrike" cap="none">
              <a:solidFill>
                <a:schemeClr val="dk1"/>
              </a:solidFill>
              <a:latin typeface="Patrick Hand"/>
              <a:ea typeface="Patrick Hand"/>
              <a:cs typeface="Patrick Hand"/>
              <a:sym typeface="Patrick Hand"/>
            </a:endParaRPr>
          </a:p>
        </p:txBody>
      </p:sp>
      <p:pic>
        <p:nvPicPr>
          <p:cNvPr id="121" name="Google Shape;121;p21"/>
          <p:cNvPicPr preferRelativeResize="0"/>
          <p:nvPr/>
        </p:nvPicPr>
        <p:blipFill rotWithShape="1">
          <a:blip r:embed="rId3">
            <a:alphaModFix/>
          </a:blip>
          <a:srcRect/>
          <a:stretch/>
        </p:blipFill>
        <p:spPr>
          <a:xfrm>
            <a:off x="266400" y="1097100"/>
            <a:ext cx="4074000" cy="1988625"/>
          </a:xfrm>
          <a:prstGeom prst="rect">
            <a:avLst/>
          </a:prstGeom>
          <a:noFill/>
          <a:ln>
            <a:noFill/>
          </a:ln>
        </p:spPr>
      </p:pic>
      <p:sp>
        <p:nvSpPr>
          <p:cNvPr id="122" name="Google Shape;122;p21"/>
          <p:cNvSpPr txBox="1"/>
          <p:nvPr/>
        </p:nvSpPr>
        <p:spPr>
          <a:xfrm>
            <a:off x="100800" y="3217850"/>
            <a:ext cx="4267500" cy="1662300"/>
          </a:xfrm>
          <a:prstGeom prst="rect">
            <a:avLst/>
          </a:prstGeom>
          <a:noFill/>
          <a:ln>
            <a:noFill/>
          </a:ln>
        </p:spPr>
        <p:txBody>
          <a:bodyPr spcFirstLastPara="1" wrap="square" lIns="91425" tIns="91425" rIns="91425" bIns="91425" anchor="t" anchorCtr="0">
            <a:spAutoFit/>
          </a:bodyPr>
          <a:lstStyle/>
          <a:p>
            <a:pPr marL="457200" marR="0" lvl="0" indent="-330200" algn="l" rtl="0">
              <a:lnSpc>
                <a:spcPct val="100000"/>
              </a:lnSpc>
              <a:spcBef>
                <a:spcPts val="0"/>
              </a:spcBef>
              <a:spcAft>
                <a:spcPts val="0"/>
              </a:spcAft>
              <a:buClr>
                <a:srgbClr val="38761D"/>
              </a:buClr>
              <a:buSzPts val="1600"/>
              <a:buFont typeface="Baumans"/>
              <a:buChar char="-"/>
            </a:pPr>
            <a:r>
              <a:rPr lang="en" sz="1600" b="1" i="0" u="none" strike="noStrike" cap="none">
                <a:solidFill>
                  <a:srgbClr val="38761D"/>
                </a:solidFill>
                <a:latin typeface="Baumans"/>
                <a:ea typeface="Baumans"/>
                <a:cs typeface="Baumans"/>
                <a:sym typeface="Baumans"/>
              </a:rPr>
              <a:t>Britain was an island – it needed a navy to protect its coastline</a:t>
            </a:r>
            <a:endParaRPr sz="1600" b="1" i="0" u="none" strike="noStrike" cap="none">
              <a:solidFill>
                <a:srgbClr val="38761D"/>
              </a:solidFill>
              <a:latin typeface="Baumans"/>
              <a:ea typeface="Baumans"/>
              <a:cs typeface="Baumans"/>
              <a:sym typeface="Baumans"/>
            </a:endParaRPr>
          </a:p>
          <a:p>
            <a:pPr marL="457200" marR="0" lvl="0" indent="-330200" algn="l" rtl="0">
              <a:lnSpc>
                <a:spcPct val="100000"/>
              </a:lnSpc>
              <a:spcBef>
                <a:spcPts val="0"/>
              </a:spcBef>
              <a:spcAft>
                <a:spcPts val="0"/>
              </a:spcAft>
              <a:buClr>
                <a:srgbClr val="38761D"/>
              </a:buClr>
              <a:buSzPts val="1600"/>
              <a:buFont typeface="Baumans"/>
              <a:buChar char="-"/>
            </a:pPr>
            <a:r>
              <a:rPr lang="en" sz="1600" b="1" i="0" u="none" strike="noStrike" cap="none">
                <a:solidFill>
                  <a:srgbClr val="38761D"/>
                </a:solidFill>
                <a:latin typeface="Baumans"/>
                <a:ea typeface="Baumans"/>
                <a:cs typeface="Baumans"/>
                <a:sym typeface="Baumans"/>
              </a:rPr>
              <a:t>To protect her vast overseas Empire</a:t>
            </a:r>
            <a:endParaRPr sz="1600" b="1" i="0" u="none" strike="noStrike" cap="none">
              <a:solidFill>
                <a:srgbClr val="38761D"/>
              </a:solidFill>
              <a:latin typeface="Baumans"/>
              <a:ea typeface="Baumans"/>
              <a:cs typeface="Baumans"/>
              <a:sym typeface="Baumans"/>
            </a:endParaRPr>
          </a:p>
          <a:p>
            <a:pPr marL="457200" marR="0" lvl="0" indent="-330200" algn="l" rtl="0">
              <a:lnSpc>
                <a:spcPct val="100000"/>
              </a:lnSpc>
              <a:spcBef>
                <a:spcPts val="0"/>
              </a:spcBef>
              <a:spcAft>
                <a:spcPts val="0"/>
              </a:spcAft>
              <a:buClr>
                <a:srgbClr val="38761D"/>
              </a:buClr>
              <a:buSzPts val="1600"/>
              <a:buFont typeface="Baumans"/>
              <a:buChar char="-"/>
            </a:pPr>
            <a:r>
              <a:rPr lang="en" sz="1600" b="1" i="0" u="none" strike="noStrike" cap="none">
                <a:solidFill>
                  <a:srgbClr val="38761D"/>
                </a:solidFill>
                <a:latin typeface="Baumans"/>
                <a:ea typeface="Baumans"/>
                <a:cs typeface="Baumans"/>
                <a:sym typeface="Baumans"/>
              </a:rPr>
              <a:t>Britain relied on trade with other nations – it needed the navy to protect its trade ships</a:t>
            </a:r>
            <a:endParaRPr sz="1600" b="1" i="0" u="none" strike="noStrike" cap="none">
              <a:solidFill>
                <a:srgbClr val="38761D"/>
              </a:solidFill>
              <a:latin typeface="Baumans"/>
              <a:ea typeface="Baumans"/>
              <a:cs typeface="Baumans"/>
              <a:sym typeface="Baumans"/>
            </a:endParaRPr>
          </a:p>
        </p:txBody>
      </p:sp>
      <p:sp>
        <p:nvSpPr>
          <p:cNvPr id="123" name="Google Shape;123;p21"/>
          <p:cNvSpPr txBox="1"/>
          <p:nvPr/>
        </p:nvSpPr>
        <p:spPr>
          <a:xfrm>
            <a:off x="4487700" y="786150"/>
            <a:ext cx="4498800" cy="144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600" b="1">
                <a:solidFill>
                  <a:schemeClr val="dk1"/>
                </a:solidFill>
                <a:highlight>
                  <a:srgbClr val="00FF00"/>
                </a:highlight>
                <a:latin typeface="Baumans"/>
                <a:ea typeface="Baumans"/>
                <a:cs typeface="Baumans"/>
                <a:sym typeface="Baumans"/>
              </a:rPr>
              <a:t>Activity</a:t>
            </a:r>
            <a:r>
              <a:rPr lang="en" sz="1600" b="1" i="0" u="none" strike="noStrike" cap="none">
                <a:solidFill>
                  <a:schemeClr val="dk1"/>
                </a:solidFill>
                <a:highlight>
                  <a:srgbClr val="00FF00"/>
                </a:highlight>
                <a:latin typeface="Baumans"/>
                <a:ea typeface="Baumans"/>
                <a:cs typeface="Baumans"/>
                <a:sym typeface="Baumans"/>
              </a:rPr>
              <a:t>:</a:t>
            </a:r>
            <a:endParaRPr sz="1600" b="1" i="0" u="none" strike="noStrike" cap="none">
              <a:solidFill>
                <a:schemeClr val="dk1"/>
              </a:solidFill>
              <a:highlight>
                <a:srgbClr val="00FF00"/>
              </a:highlight>
              <a:latin typeface="Baumans"/>
              <a:ea typeface="Baumans"/>
              <a:cs typeface="Baumans"/>
              <a:sym typeface="Baumans"/>
            </a:endParaRPr>
          </a:p>
          <a:p>
            <a:pPr marL="457200" marR="0" lvl="0" indent="-330200" algn="l" rtl="0">
              <a:lnSpc>
                <a:spcPct val="100000"/>
              </a:lnSpc>
              <a:spcBef>
                <a:spcPts val="0"/>
              </a:spcBef>
              <a:spcAft>
                <a:spcPts val="0"/>
              </a:spcAft>
              <a:buClr>
                <a:schemeClr val="dk1"/>
              </a:buClr>
              <a:buSzPts val="1600"/>
              <a:buFont typeface="Baumans"/>
              <a:buAutoNum type="arabicPeriod"/>
            </a:pPr>
            <a:r>
              <a:rPr lang="en" sz="1600" b="1" i="0" u="none" strike="noStrike" cap="none">
                <a:solidFill>
                  <a:schemeClr val="dk1"/>
                </a:solidFill>
                <a:latin typeface="Baumans"/>
                <a:ea typeface="Baumans"/>
                <a:cs typeface="Baumans"/>
                <a:sym typeface="Baumans"/>
              </a:rPr>
              <a:t>One minute to think about your answer</a:t>
            </a:r>
            <a:endParaRPr sz="1600" b="1" i="0" u="none" strike="noStrike" cap="none">
              <a:solidFill>
                <a:schemeClr val="dk1"/>
              </a:solidFill>
              <a:latin typeface="Baumans"/>
              <a:ea typeface="Baumans"/>
              <a:cs typeface="Baumans"/>
              <a:sym typeface="Baumans"/>
            </a:endParaRPr>
          </a:p>
          <a:p>
            <a:pPr marL="457200" marR="0" lvl="0" indent="-330200" algn="l" rtl="0">
              <a:lnSpc>
                <a:spcPct val="100000"/>
              </a:lnSpc>
              <a:spcBef>
                <a:spcPts val="0"/>
              </a:spcBef>
              <a:spcAft>
                <a:spcPts val="0"/>
              </a:spcAft>
              <a:buClr>
                <a:schemeClr val="dk1"/>
              </a:buClr>
              <a:buSzPts val="1600"/>
              <a:buFont typeface="Baumans"/>
              <a:buAutoNum type="arabicPeriod"/>
            </a:pPr>
            <a:r>
              <a:rPr lang="en" sz="1600" b="1" i="0" u="none" strike="noStrike" cap="none">
                <a:solidFill>
                  <a:schemeClr val="dk1"/>
                </a:solidFill>
                <a:latin typeface="Baumans"/>
                <a:ea typeface="Baumans"/>
                <a:cs typeface="Baumans"/>
                <a:sym typeface="Baumans"/>
              </a:rPr>
              <a:t>One minute to discuss with your partner</a:t>
            </a:r>
            <a:endParaRPr sz="1600" b="1" i="0" u="none" strike="noStrike" cap="none">
              <a:solidFill>
                <a:schemeClr val="dk1"/>
              </a:solidFill>
              <a:latin typeface="Baumans"/>
              <a:ea typeface="Baumans"/>
              <a:cs typeface="Baumans"/>
              <a:sym typeface="Baumans"/>
            </a:endParaRPr>
          </a:p>
          <a:p>
            <a:pPr marL="457200" marR="0" lvl="0" indent="-330200" algn="l" rtl="0">
              <a:lnSpc>
                <a:spcPct val="100000"/>
              </a:lnSpc>
              <a:spcBef>
                <a:spcPts val="0"/>
              </a:spcBef>
              <a:spcAft>
                <a:spcPts val="0"/>
              </a:spcAft>
              <a:buClr>
                <a:schemeClr val="dk1"/>
              </a:buClr>
              <a:buSzPts val="1600"/>
              <a:buFont typeface="Baumans"/>
              <a:buAutoNum type="arabicPeriod"/>
            </a:pPr>
            <a:r>
              <a:rPr lang="en" sz="1600" b="1" i="0" u="none" strike="noStrike" cap="none">
                <a:solidFill>
                  <a:schemeClr val="dk1"/>
                </a:solidFill>
                <a:latin typeface="Baumans"/>
                <a:ea typeface="Baumans"/>
                <a:cs typeface="Baumans"/>
                <a:sym typeface="Baumans"/>
              </a:rPr>
              <a:t>One minute to note your answer before feeding back to the class</a:t>
            </a:r>
            <a:endParaRPr sz="1600" b="1" i="0" u="none" strike="noStrike" cap="none">
              <a:solidFill>
                <a:schemeClr val="dk1"/>
              </a:solidFill>
              <a:latin typeface="Baumans"/>
              <a:ea typeface="Baumans"/>
              <a:cs typeface="Baumans"/>
              <a:sym typeface="Baumans"/>
            </a:endParaRPr>
          </a:p>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chemeClr val="dk1"/>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chemeClr val="dk1"/>
              </a:solidFill>
              <a:latin typeface="Delius"/>
              <a:ea typeface="Delius"/>
              <a:cs typeface="Delius"/>
              <a:sym typeface="Delius"/>
            </a:endParaRPr>
          </a:p>
        </p:txBody>
      </p:sp>
      <p:pic>
        <p:nvPicPr>
          <p:cNvPr id="124" name="Google Shape;124;p21"/>
          <p:cNvPicPr preferRelativeResize="0"/>
          <p:nvPr/>
        </p:nvPicPr>
        <p:blipFill>
          <a:blip r:embed="rId4">
            <a:alphaModFix/>
          </a:blip>
          <a:stretch>
            <a:fillRect/>
          </a:stretch>
        </p:blipFill>
        <p:spPr>
          <a:xfrm>
            <a:off x="4487700" y="2466325"/>
            <a:ext cx="4498800" cy="2322603"/>
          </a:xfrm>
          <a:prstGeom prst="rect">
            <a:avLst/>
          </a:prstGeom>
          <a:noFill/>
          <a:ln>
            <a:noFill/>
          </a:ln>
        </p:spPr>
      </p:pic>
      <p:sp>
        <p:nvSpPr>
          <p:cNvPr id="125" name="Google Shape;125;p21"/>
          <p:cNvSpPr txBox="1"/>
          <p:nvPr/>
        </p:nvSpPr>
        <p:spPr>
          <a:xfrm>
            <a:off x="104400" y="77000"/>
            <a:ext cx="8919300" cy="50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Title: Militarism and the Arms Race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LO: How did militarism and the arms race increase tensions in Europe before 1914?</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endParaRPr sz="1200" b="1">
              <a:solidFill>
                <a:srgbClr val="980000"/>
              </a:solidFill>
              <a:latin typeface="Delius"/>
              <a:ea typeface="Delius"/>
              <a:cs typeface="Delius"/>
              <a:sym typeface="Deliu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2"/>
          <p:cNvSpPr txBox="1"/>
          <p:nvPr/>
        </p:nvSpPr>
        <p:spPr>
          <a:xfrm>
            <a:off x="100803" y="582500"/>
            <a:ext cx="8526300" cy="571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1" u="sng">
                <a:solidFill>
                  <a:schemeClr val="dk1"/>
                </a:solidFill>
                <a:latin typeface="Patrick Hand"/>
                <a:ea typeface="Patrick Hand"/>
                <a:cs typeface="Patrick Hand"/>
                <a:sym typeface="Patrick Hand"/>
              </a:rPr>
              <a:t>Why Did Germany Expand Their Navy?</a:t>
            </a:r>
            <a:endParaRPr sz="2400" b="1" i="0" u="sng" strike="noStrike" cap="none">
              <a:solidFill>
                <a:schemeClr val="dk1"/>
              </a:solidFill>
              <a:latin typeface="Patrick Hand"/>
              <a:ea typeface="Patrick Hand"/>
              <a:cs typeface="Patrick Hand"/>
              <a:sym typeface="Patrick Hand"/>
            </a:endParaRPr>
          </a:p>
        </p:txBody>
      </p:sp>
      <p:sp>
        <p:nvSpPr>
          <p:cNvPr id="131" name="Google Shape;131;p22"/>
          <p:cNvSpPr txBox="1"/>
          <p:nvPr/>
        </p:nvSpPr>
        <p:spPr>
          <a:xfrm>
            <a:off x="100800" y="3382550"/>
            <a:ext cx="4315200" cy="1725900"/>
          </a:xfrm>
          <a:prstGeom prst="rect">
            <a:avLst/>
          </a:prstGeom>
          <a:noFill/>
          <a:ln>
            <a:noFill/>
          </a:ln>
        </p:spPr>
        <p:txBody>
          <a:bodyPr spcFirstLastPara="1" wrap="square" lIns="91425" tIns="91425" rIns="91425" bIns="91425" anchor="t" anchorCtr="0">
            <a:spAutoFit/>
          </a:bodyPr>
          <a:lstStyle/>
          <a:p>
            <a:pPr marL="457200" marR="0" lvl="0" indent="-330200" algn="l" rtl="0">
              <a:lnSpc>
                <a:spcPct val="100000"/>
              </a:lnSpc>
              <a:spcBef>
                <a:spcPts val="0"/>
              </a:spcBef>
              <a:spcAft>
                <a:spcPts val="0"/>
              </a:spcAft>
              <a:buClr>
                <a:srgbClr val="38761D"/>
              </a:buClr>
              <a:buSzPts val="1600"/>
              <a:buFont typeface="Baumans"/>
              <a:buChar char="-"/>
            </a:pPr>
            <a:r>
              <a:rPr lang="en" sz="1600" b="1" i="0" u="none" strike="noStrike" cap="none">
                <a:solidFill>
                  <a:srgbClr val="38761D"/>
                </a:solidFill>
                <a:latin typeface="Baumans"/>
                <a:ea typeface="Baumans"/>
                <a:cs typeface="Baumans"/>
                <a:sym typeface="Baumans"/>
              </a:rPr>
              <a:t>Wilhelm II was jealous of Britain’s power and Empire – he wanted Germany to become just as powerful</a:t>
            </a:r>
            <a:endParaRPr sz="1600" b="1" i="0" u="none" strike="noStrike" cap="none">
              <a:solidFill>
                <a:srgbClr val="38761D"/>
              </a:solidFill>
              <a:latin typeface="Baumans"/>
              <a:ea typeface="Baumans"/>
              <a:cs typeface="Baumans"/>
              <a:sym typeface="Baumans"/>
            </a:endParaRPr>
          </a:p>
          <a:p>
            <a:pPr marL="457200" marR="0" lvl="0" indent="-330200" algn="l" rtl="0">
              <a:lnSpc>
                <a:spcPct val="100000"/>
              </a:lnSpc>
              <a:spcBef>
                <a:spcPts val="496"/>
              </a:spcBef>
              <a:spcAft>
                <a:spcPts val="0"/>
              </a:spcAft>
              <a:buClr>
                <a:srgbClr val="38761D"/>
              </a:buClr>
              <a:buSzPts val="1600"/>
              <a:buFont typeface="Baumans"/>
              <a:buChar char="-"/>
            </a:pPr>
            <a:r>
              <a:rPr lang="en" sz="1600" b="1" i="0" u="none" strike="noStrike" cap="none">
                <a:solidFill>
                  <a:srgbClr val="38761D"/>
                </a:solidFill>
                <a:latin typeface="Baumans"/>
                <a:ea typeface="Baumans"/>
                <a:cs typeface="Baumans"/>
                <a:sym typeface="Baumans"/>
              </a:rPr>
              <a:t>He claimed that since Germany had an Empire, </a:t>
            </a:r>
            <a:r>
              <a:rPr lang="en" sz="1600" b="1">
                <a:solidFill>
                  <a:srgbClr val="38761D"/>
                </a:solidFill>
                <a:latin typeface="Baumans"/>
                <a:ea typeface="Baumans"/>
                <a:cs typeface="Baumans"/>
                <a:sym typeface="Baumans"/>
              </a:rPr>
              <a:t>it</a:t>
            </a:r>
            <a:r>
              <a:rPr lang="en" sz="1600" b="1" i="0" u="none" strike="noStrike" cap="none">
                <a:solidFill>
                  <a:srgbClr val="38761D"/>
                </a:solidFill>
                <a:latin typeface="Baumans"/>
                <a:ea typeface="Baumans"/>
                <a:cs typeface="Baumans"/>
                <a:sym typeface="Baumans"/>
              </a:rPr>
              <a:t> needed a large navy to protect it</a:t>
            </a:r>
            <a:r>
              <a:rPr lang="en" sz="1600" b="1">
                <a:solidFill>
                  <a:srgbClr val="38761D"/>
                </a:solidFill>
                <a:latin typeface="Baumans"/>
                <a:ea typeface="Baumans"/>
                <a:cs typeface="Baumans"/>
                <a:sym typeface="Baumans"/>
              </a:rPr>
              <a:t>.</a:t>
            </a:r>
            <a:endParaRPr sz="1600" b="1" i="0" u="none" strike="noStrike" cap="none">
              <a:solidFill>
                <a:srgbClr val="38761D"/>
              </a:solidFill>
              <a:highlight>
                <a:srgbClr val="FFE599"/>
              </a:highlight>
              <a:latin typeface="Baumans"/>
              <a:ea typeface="Baumans"/>
              <a:cs typeface="Baumans"/>
              <a:sym typeface="Baumans"/>
            </a:endParaRPr>
          </a:p>
        </p:txBody>
      </p:sp>
      <p:pic>
        <p:nvPicPr>
          <p:cNvPr id="132" name="Google Shape;132;p22"/>
          <p:cNvPicPr preferRelativeResize="0"/>
          <p:nvPr/>
        </p:nvPicPr>
        <p:blipFill rotWithShape="1">
          <a:blip r:embed="rId3">
            <a:alphaModFix/>
          </a:blip>
          <a:srcRect/>
          <a:stretch/>
        </p:blipFill>
        <p:spPr>
          <a:xfrm>
            <a:off x="245950" y="1097100"/>
            <a:ext cx="3977601" cy="2222775"/>
          </a:xfrm>
          <a:prstGeom prst="rect">
            <a:avLst/>
          </a:prstGeom>
          <a:noFill/>
          <a:ln>
            <a:noFill/>
          </a:ln>
        </p:spPr>
      </p:pic>
      <p:pic>
        <p:nvPicPr>
          <p:cNvPr id="133" name="Google Shape;133;p22"/>
          <p:cNvPicPr preferRelativeResize="0"/>
          <p:nvPr/>
        </p:nvPicPr>
        <p:blipFill>
          <a:blip r:embed="rId4">
            <a:alphaModFix/>
          </a:blip>
          <a:stretch>
            <a:fillRect/>
          </a:stretch>
        </p:blipFill>
        <p:spPr>
          <a:xfrm>
            <a:off x="4487700" y="2466325"/>
            <a:ext cx="4498800" cy="2322603"/>
          </a:xfrm>
          <a:prstGeom prst="rect">
            <a:avLst/>
          </a:prstGeom>
          <a:noFill/>
          <a:ln>
            <a:noFill/>
          </a:ln>
        </p:spPr>
      </p:pic>
      <p:sp>
        <p:nvSpPr>
          <p:cNvPr id="134" name="Google Shape;134;p22"/>
          <p:cNvSpPr txBox="1"/>
          <p:nvPr/>
        </p:nvSpPr>
        <p:spPr>
          <a:xfrm>
            <a:off x="4487700" y="786150"/>
            <a:ext cx="4498800" cy="144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600" b="1">
                <a:solidFill>
                  <a:schemeClr val="dk1"/>
                </a:solidFill>
                <a:highlight>
                  <a:srgbClr val="00FF00"/>
                </a:highlight>
                <a:latin typeface="Baumans"/>
                <a:ea typeface="Baumans"/>
                <a:cs typeface="Baumans"/>
                <a:sym typeface="Baumans"/>
              </a:rPr>
              <a:t>Activity</a:t>
            </a:r>
            <a:r>
              <a:rPr lang="en" sz="1600" b="1" i="0" u="none" strike="noStrike" cap="none">
                <a:solidFill>
                  <a:schemeClr val="dk1"/>
                </a:solidFill>
                <a:highlight>
                  <a:srgbClr val="00FF00"/>
                </a:highlight>
                <a:latin typeface="Baumans"/>
                <a:ea typeface="Baumans"/>
                <a:cs typeface="Baumans"/>
                <a:sym typeface="Baumans"/>
              </a:rPr>
              <a:t>:</a:t>
            </a:r>
            <a:endParaRPr sz="1600" b="1" i="0" u="none" strike="noStrike" cap="none">
              <a:solidFill>
                <a:schemeClr val="dk1"/>
              </a:solidFill>
              <a:highlight>
                <a:srgbClr val="00FF00"/>
              </a:highlight>
              <a:latin typeface="Baumans"/>
              <a:ea typeface="Baumans"/>
              <a:cs typeface="Baumans"/>
              <a:sym typeface="Baumans"/>
            </a:endParaRPr>
          </a:p>
          <a:p>
            <a:pPr marL="457200" marR="0" lvl="0" indent="-330200" algn="l" rtl="0">
              <a:lnSpc>
                <a:spcPct val="100000"/>
              </a:lnSpc>
              <a:spcBef>
                <a:spcPts val="0"/>
              </a:spcBef>
              <a:spcAft>
                <a:spcPts val="0"/>
              </a:spcAft>
              <a:buClr>
                <a:schemeClr val="dk1"/>
              </a:buClr>
              <a:buSzPts val="1600"/>
              <a:buFont typeface="Baumans"/>
              <a:buAutoNum type="arabicPeriod"/>
            </a:pPr>
            <a:r>
              <a:rPr lang="en" sz="1600" b="1" i="0" u="none" strike="noStrike" cap="none">
                <a:solidFill>
                  <a:schemeClr val="dk1"/>
                </a:solidFill>
                <a:latin typeface="Baumans"/>
                <a:ea typeface="Baumans"/>
                <a:cs typeface="Baumans"/>
                <a:sym typeface="Baumans"/>
              </a:rPr>
              <a:t>One minute to think about your answer</a:t>
            </a:r>
            <a:endParaRPr sz="1600" b="1" i="0" u="none" strike="noStrike" cap="none">
              <a:solidFill>
                <a:schemeClr val="dk1"/>
              </a:solidFill>
              <a:latin typeface="Baumans"/>
              <a:ea typeface="Baumans"/>
              <a:cs typeface="Baumans"/>
              <a:sym typeface="Baumans"/>
            </a:endParaRPr>
          </a:p>
          <a:p>
            <a:pPr marL="457200" marR="0" lvl="0" indent="-330200" algn="l" rtl="0">
              <a:lnSpc>
                <a:spcPct val="100000"/>
              </a:lnSpc>
              <a:spcBef>
                <a:spcPts val="0"/>
              </a:spcBef>
              <a:spcAft>
                <a:spcPts val="0"/>
              </a:spcAft>
              <a:buClr>
                <a:schemeClr val="dk1"/>
              </a:buClr>
              <a:buSzPts val="1600"/>
              <a:buFont typeface="Baumans"/>
              <a:buAutoNum type="arabicPeriod"/>
            </a:pPr>
            <a:r>
              <a:rPr lang="en" sz="1600" b="1" i="0" u="none" strike="noStrike" cap="none">
                <a:solidFill>
                  <a:schemeClr val="dk1"/>
                </a:solidFill>
                <a:latin typeface="Baumans"/>
                <a:ea typeface="Baumans"/>
                <a:cs typeface="Baumans"/>
                <a:sym typeface="Baumans"/>
              </a:rPr>
              <a:t>One minute to discuss with your partner</a:t>
            </a:r>
            <a:endParaRPr sz="1600" b="1" i="0" u="none" strike="noStrike" cap="none">
              <a:solidFill>
                <a:schemeClr val="dk1"/>
              </a:solidFill>
              <a:latin typeface="Baumans"/>
              <a:ea typeface="Baumans"/>
              <a:cs typeface="Baumans"/>
              <a:sym typeface="Baumans"/>
            </a:endParaRPr>
          </a:p>
          <a:p>
            <a:pPr marL="457200" marR="0" lvl="0" indent="-330200" algn="l" rtl="0">
              <a:lnSpc>
                <a:spcPct val="100000"/>
              </a:lnSpc>
              <a:spcBef>
                <a:spcPts val="0"/>
              </a:spcBef>
              <a:spcAft>
                <a:spcPts val="0"/>
              </a:spcAft>
              <a:buClr>
                <a:schemeClr val="dk1"/>
              </a:buClr>
              <a:buSzPts val="1600"/>
              <a:buFont typeface="Baumans"/>
              <a:buAutoNum type="arabicPeriod"/>
            </a:pPr>
            <a:r>
              <a:rPr lang="en" sz="1600" b="1" i="0" u="none" strike="noStrike" cap="none">
                <a:solidFill>
                  <a:schemeClr val="dk1"/>
                </a:solidFill>
                <a:latin typeface="Baumans"/>
                <a:ea typeface="Baumans"/>
                <a:cs typeface="Baumans"/>
                <a:sym typeface="Baumans"/>
              </a:rPr>
              <a:t>One minute to note your answer before feeding back to the class</a:t>
            </a:r>
            <a:endParaRPr sz="1600" b="1" i="0" u="none" strike="noStrike" cap="none">
              <a:solidFill>
                <a:schemeClr val="dk1"/>
              </a:solidFill>
              <a:latin typeface="Baumans"/>
              <a:ea typeface="Baumans"/>
              <a:cs typeface="Baumans"/>
              <a:sym typeface="Baumans"/>
            </a:endParaRPr>
          </a:p>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chemeClr val="dk1"/>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chemeClr val="dk1"/>
              </a:solidFill>
              <a:latin typeface="Delius"/>
              <a:ea typeface="Delius"/>
              <a:cs typeface="Delius"/>
              <a:sym typeface="Delius"/>
            </a:endParaRPr>
          </a:p>
        </p:txBody>
      </p:sp>
      <p:sp>
        <p:nvSpPr>
          <p:cNvPr id="135" name="Google Shape;135;p22"/>
          <p:cNvSpPr txBox="1"/>
          <p:nvPr/>
        </p:nvSpPr>
        <p:spPr>
          <a:xfrm>
            <a:off x="104400" y="77000"/>
            <a:ext cx="8919300" cy="50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Title: Militarism and the Arms Race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LO: How did militarism and the arms race increase tensions in Europe before 1914?</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endParaRPr sz="1200" b="1">
              <a:solidFill>
                <a:srgbClr val="980000"/>
              </a:solidFill>
              <a:latin typeface="Delius"/>
              <a:ea typeface="Delius"/>
              <a:cs typeface="Delius"/>
              <a:sym typeface="Deliu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3"/>
          <p:cNvSpPr txBox="1"/>
          <p:nvPr/>
        </p:nvSpPr>
        <p:spPr>
          <a:xfrm>
            <a:off x="100800" y="582500"/>
            <a:ext cx="5412600" cy="571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1" u="sng">
                <a:solidFill>
                  <a:schemeClr val="dk1"/>
                </a:solidFill>
                <a:latin typeface="Patrick Hand"/>
                <a:ea typeface="Patrick Hand"/>
                <a:cs typeface="Patrick Hand"/>
                <a:sym typeface="Patrick Hand"/>
              </a:rPr>
              <a:t>Dreadnoughts &amp; Dazzle Ships</a:t>
            </a:r>
            <a:endParaRPr sz="2400" b="1" u="sng">
              <a:solidFill>
                <a:schemeClr val="dk1"/>
              </a:solidFill>
              <a:latin typeface="Patrick Hand"/>
              <a:ea typeface="Patrick Hand"/>
              <a:cs typeface="Patrick Hand"/>
              <a:sym typeface="Patrick Hand"/>
            </a:endParaRPr>
          </a:p>
        </p:txBody>
      </p:sp>
      <p:sp>
        <p:nvSpPr>
          <p:cNvPr id="141" name="Google Shape;141;p23"/>
          <p:cNvSpPr txBox="1"/>
          <p:nvPr/>
        </p:nvSpPr>
        <p:spPr>
          <a:xfrm>
            <a:off x="100800" y="1364000"/>
            <a:ext cx="6929100" cy="997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600">
                <a:solidFill>
                  <a:srgbClr val="191919"/>
                </a:solidFill>
                <a:latin typeface="Baumans"/>
                <a:ea typeface="Baumans"/>
                <a:cs typeface="Baumans"/>
                <a:sym typeface="Baumans"/>
              </a:rPr>
              <a:t>In 1906, the British military launched the </a:t>
            </a:r>
            <a:r>
              <a:rPr lang="en" sz="1600" b="1">
                <a:solidFill>
                  <a:srgbClr val="191919"/>
                </a:solidFill>
                <a:latin typeface="Baumans"/>
                <a:ea typeface="Baumans"/>
                <a:cs typeface="Baumans"/>
                <a:sym typeface="Baumans"/>
              </a:rPr>
              <a:t>HMS Dreadnought</a:t>
            </a:r>
            <a:r>
              <a:rPr lang="en" sz="1600">
                <a:solidFill>
                  <a:srgbClr val="191919"/>
                </a:solidFill>
                <a:latin typeface="Baumans"/>
                <a:ea typeface="Baumans"/>
                <a:cs typeface="Baumans"/>
                <a:sym typeface="Baumans"/>
              </a:rPr>
              <a:t>, the most powerful navy ship ever made. Germany considered this ship to be a threat and rapidly developed its own powerful ships to rival those of Britain’s navy.</a:t>
            </a:r>
            <a:endParaRPr sz="1600">
              <a:solidFill>
                <a:schemeClr val="dk1"/>
              </a:solidFill>
              <a:latin typeface="Baumans"/>
              <a:ea typeface="Baumans"/>
              <a:cs typeface="Baumans"/>
              <a:sym typeface="Baumans"/>
            </a:endParaRPr>
          </a:p>
        </p:txBody>
      </p:sp>
      <p:pic>
        <p:nvPicPr>
          <p:cNvPr id="142" name="Google Shape;142;p23"/>
          <p:cNvPicPr preferRelativeResize="0"/>
          <p:nvPr/>
        </p:nvPicPr>
        <p:blipFill rotWithShape="1">
          <a:blip r:embed="rId3">
            <a:alphaModFix/>
          </a:blip>
          <a:srcRect/>
          <a:stretch/>
        </p:blipFill>
        <p:spPr>
          <a:xfrm>
            <a:off x="7209996" y="1172256"/>
            <a:ext cx="1833200" cy="1381000"/>
          </a:xfrm>
          <a:prstGeom prst="rect">
            <a:avLst/>
          </a:prstGeom>
          <a:noFill/>
          <a:ln>
            <a:noFill/>
          </a:ln>
        </p:spPr>
      </p:pic>
      <p:sp>
        <p:nvSpPr>
          <p:cNvPr id="143" name="Google Shape;143;p23"/>
          <p:cNvSpPr txBox="1"/>
          <p:nvPr/>
        </p:nvSpPr>
        <p:spPr>
          <a:xfrm>
            <a:off x="2634325" y="2647400"/>
            <a:ext cx="6408900" cy="2130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600">
                <a:solidFill>
                  <a:srgbClr val="191919"/>
                </a:solidFill>
                <a:latin typeface="Baumans"/>
                <a:ea typeface="Baumans"/>
                <a:cs typeface="Baumans"/>
                <a:sym typeface="Baumans"/>
              </a:rPr>
              <a:t>During World War I, German U-boats </a:t>
            </a:r>
            <a:r>
              <a:rPr lang="en" sz="1600" b="1">
                <a:solidFill>
                  <a:srgbClr val="191919"/>
                </a:solidFill>
                <a:latin typeface="Patrick Hand"/>
                <a:ea typeface="Patrick Hand"/>
                <a:cs typeface="Patrick Hand"/>
                <a:sym typeface="Patrick Hand"/>
              </a:rPr>
              <a:t>(submarines)</a:t>
            </a:r>
            <a:r>
              <a:rPr lang="en" sz="1600">
                <a:solidFill>
                  <a:srgbClr val="191919"/>
                </a:solidFill>
                <a:latin typeface="Baumans"/>
                <a:ea typeface="Baumans"/>
                <a:cs typeface="Baumans"/>
                <a:sym typeface="Baumans"/>
              </a:rPr>
              <a:t> threatened Britain’s merchant ships carrying food and supplies. In 1917, artist and naval volunteer Norman Wilkinson invented </a:t>
            </a:r>
            <a:r>
              <a:rPr lang="en" sz="1600" b="1">
                <a:solidFill>
                  <a:srgbClr val="191919"/>
                </a:solidFill>
                <a:latin typeface="Baumans"/>
                <a:ea typeface="Baumans"/>
                <a:cs typeface="Baumans"/>
                <a:sym typeface="Baumans"/>
              </a:rPr>
              <a:t>"dazzle camouflage,"</a:t>
            </a:r>
            <a:r>
              <a:rPr lang="en" sz="1600">
                <a:solidFill>
                  <a:srgbClr val="191919"/>
                </a:solidFill>
                <a:latin typeface="Baumans"/>
                <a:ea typeface="Baumans"/>
                <a:cs typeface="Baumans"/>
                <a:sym typeface="Baumans"/>
              </a:rPr>
              <a:t> painting ships in bold patterns and bright colours to confuse enemies about their speed and direction. Although there was </a:t>
            </a:r>
            <a:r>
              <a:rPr lang="en" sz="1600" b="1">
                <a:solidFill>
                  <a:srgbClr val="191919"/>
                </a:solidFill>
                <a:latin typeface="Baumans"/>
                <a:ea typeface="Baumans"/>
                <a:cs typeface="Baumans"/>
                <a:sym typeface="Baumans"/>
              </a:rPr>
              <a:t>no clear proof it worked, crews felt safer </a:t>
            </a:r>
            <a:r>
              <a:rPr lang="en" sz="1600">
                <a:solidFill>
                  <a:srgbClr val="191919"/>
                </a:solidFill>
                <a:latin typeface="Baumans"/>
                <a:ea typeface="Baumans"/>
                <a:cs typeface="Baumans"/>
                <a:sym typeface="Baumans"/>
              </a:rPr>
              <a:t>and while Britain stopped using it after the war, the US used dazzle ships again in World War II.</a:t>
            </a:r>
            <a:endParaRPr sz="1600">
              <a:latin typeface="Baumans"/>
              <a:ea typeface="Baumans"/>
              <a:cs typeface="Baumans"/>
              <a:sym typeface="Baumans"/>
            </a:endParaRPr>
          </a:p>
        </p:txBody>
      </p:sp>
      <p:pic>
        <p:nvPicPr>
          <p:cNvPr id="144" name="Google Shape;144;p23" descr="http://www.retronaut.com/wp-content/uploads/2010/07/USS-Leviathan-1918.jpg"/>
          <p:cNvPicPr preferRelativeResize="0"/>
          <p:nvPr/>
        </p:nvPicPr>
        <p:blipFill rotWithShape="1">
          <a:blip r:embed="rId4">
            <a:alphaModFix/>
          </a:blip>
          <a:srcRect/>
          <a:stretch/>
        </p:blipFill>
        <p:spPr>
          <a:xfrm>
            <a:off x="100794" y="2922994"/>
            <a:ext cx="2466635" cy="1646646"/>
          </a:xfrm>
          <a:prstGeom prst="rect">
            <a:avLst/>
          </a:prstGeom>
          <a:noFill/>
          <a:ln>
            <a:noFill/>
          </a:ln>
        </p:spPr>
      </p:pic>
      <p:sp>
        <p:nvSpPr>
          <p:cNvPr id="145" name="Google Shape;145;p23"/>
          <p:cNvSpPr txBox="1"/>
          <p:nvPr/>
        </p:nvSpPr>
        <p:spPr>
          <a:xfrm>
            <a:off x="104400" y="77000"/>
            <a:ext cx="8919300" cy="50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Title: Militarism and the Arms Race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LO: How did militarism and the arms race increase tensions in Europe before 1914?</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endParaRPr sz="1200" b="1">
              <a:solidFill>
                <a:srgbClr val="980000"/>
              </a:solidFill>
              <a:latin typeface="Delius"/>
              <a:ea typeface="Delius"/>
              <a:cs typeface="Delius"/>
              <a:sym typeface="Deliu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4"/>
          <p:cNvSpPr txBox="1"/>
          <p:nvPr/>
        </p:nvSpPr>
        <p:spPr>
          <a:xfrm>
            <a:off x="100800" y="582500"/>
            <a:ext cx="5412600" cy="571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1" u="sng">
                <a:solidFill>
                  <a:schemeClr val="dk1"/>
                </a:solidFill>
                <a:latin typeface="Patrick Hand"/>
                <a:ea typeface="Patrick Hand"/>
                <a:cs typeface="Patrick Hand"/>
                <a:sym typeface="Patrick Hand"/>
              </a:rPr>
              <a:t>Germany’s Militarism and Preventative War</a:t>
            </a:r>
            <a:endParaRPr sz="2400" b="1" u="sng">
              <a:solidFill>
                <a:schemeClr val="dk1"/>
              </a:solidFill>
              <a:latin typeface="Patrick Hand"/>
              <a:ea typeface="Patrick Hand"/>
              <a:cs typeface="Patrick Hand"/>
              <a:sym typeface="Patrick Hand"/>
            </a:endParaRPr>
          </a:p>
        </p:txBody>
      </p:sp>
      <p:sp>
        <p:nvSpPr>
          <p:cNvPr id="151" name="Google Shape;151;p24"/>
          <p:cNvSpPr txBox="1"/>
          <p:nvPr/>
        </p:nvSpPr>
        <p:spPr>
          <a:xfrm>
            <a:off x="100800" y="1154000"/>
            <a:ext cx="8942400" cy="714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600" b="1">
                <a:solidFill>
                  <a:schemeClr val="dk1"/>
                </a:solidFill>
                <a:highlight>
                  <a:srgbClr val="00FF00"/>
                </a:highlight>
                <a:latin typeface="Baumans"/>
                <a:ea typeface="Baumans"/>
                <a:cs typeface="Baumans"/>
                <a:sym typeface="Baumans"/>
              </a:rPr>
              <a:t>Activity:</a:t>
            </a:r>
            <a:r>
              <a:rPr lang="en" sz="1600" b="1">
                <a:solidFill>
                  <a:schemeClr val="dk1"/>
                </a:solidFill>
                <a:latin typeface="Baumans"/>
                <a:ea typeface="Baumans"/>
                <a:cs typeface="Baumans"/>
                <a:sym typeface="Baumans"/>
              </a:rPr>
              <a:t> Guided Reading - </a:t>
            </a:r>
            <a:r>
              <a:rPr lang="en" sz="1600">
                <a:solidFill>
                  <a:schemeClr val="dk1"/>
                </a:solidFill>
                <a:latin typeface="Baumans"/>
                <a:ea typeface="Baumans"/>
                <a:cs typeface="Baumans"/>
                <a:sym typeface="Baumans"/>
              </a:rPr>
              <a:t>Read the source on ‘</a:t>
            </a:r>
            <a:r>
              <a:rPr lang="en" sz="1600" b="1">
                <a:solidFill>
                  <a:schemeClr val="dk1"/>
                </a:solidFill>
                <a:latin typeface="Baumans"/>
                <a:ea typeface="Baumans"/>
                <a:cs typeface="Baumans"/>
                <a:sym typeface="Baumans"/>
              </a:rPr>
              <a:t>Germany’s Militarism and Preventative War</a:t>
            </a:r>
            <a:r>
              <a:rPr lang="en" sz="1600">
                <a:solidFill>
                  <a:schemeClr val="dk1"/>
                </a:solidFill>
                <a:latin typeface="Baumans"/>
                <a:ea typeface="Baumans"/>
                <a:cs typeface="Baumans"/>
                <a:sym typeface="Baumans"/>
              </a:rPr>
              <a:t>‘ to answer the questions on your activity sheet.</a:t>
            </a:r>
            <a:endParaRPr sz="1600">
              <a:solidFill>
                <a:schemeClr val="dk1"/>
              </a:solidFill>
              <a:latin typeface="Baumans"/>
              <a:ea typeface="Baumans"/>
              <a:cs typeface="Baumans"/>
              <a:sym typeface="Baumans"/>
            </a:endParaRPr>
          </a:p>
        </p:txBody>
      </p:sp>
      <p:sp>
        <p:nvSpPr>
          <p:cNvPr id="152" name="Google Shape;152;p24"/>
          <p:cNvSpPr txBox="1"/>
          <p:nvPr/>
        </p:nvSpPr>
        <p:spPr>
          <a:xfrm>
            <a:off x="104400" y="77000"/>
            <a:ext cx="8919300" cy="50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Title: Militarism and the Arms Race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LO: How did militarism and the arms race increase tensions in Europe before 1914?</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endParaRPr sz="1200" b="1">
              <a:solidFill>
                <a:srgbClr val="980000"/>
              </a:solidFill>
              <a:latin typeface="Delius"/>
              <a:ea typeface="Delius"/>
              <a:cs typeface="Delius"/>
              <a:sym typeface="Delius"/>
            </a:endParaRPr>
          </a:p>
        </p:txBody>
      </p:sp>
      <p:pic>
        <p:nvPicPr>
          <p:cNvPr id="153" name="Google Shape;153;p24" descr="The perfect classroom visual timer for kids — just press play and let the countdown begin! ⏳&#10;Watch as the sand steadily flows from the top chamber to the bottom, grain by grain. As the top empties and the bottom fills, kids get a clear, familiar visual cue of exactly how much time is left — when the last grain falls, time is up!&#10;&#10;⏱️ More timers from KidsTimerCo:&#10;▶ Dinosaur Timers → https://www.youtube.com/playlist?list=PLsbtulJiPFUgeeikUikoSwZ5cxFQDxBsT&#10;▶ Race Car Timers →&#10;https://www.youtube.com/playlist?list=PLsbtulJiPFUim5fA1kZ6IJmp2MiFgBge6&#10;▶ Sand Glass Timers →&#10;https://www.youtube.com/playlist?list=PLsbtulJiPFUi4mk0QDXJDZPhVDlNW-_pr&#10;&#10;&#10;—&#10;&#10;🏫 The timers are for everyone!&#10;Timers for classrooms!&#10;Timers for home!&#10;Timers for doing homework!&#10;Timers for getting ready!&#10;Timers just for fun!&#10;&#10;New timers dropping all the time — subscribe so you never miss one! → https://youtube.com/@KidsTimerCo?sub_confirmation=1&#10;Keep an eye on our YT Shorts and Instagram to see what’s coming next!&#10;https://www.instagram.com/kidstimer.co/&#10;&#10;#kidstimerco&#10;&#10;[KTC]&#10;Categories: Transitions, Sensory Friendly, Solo Work, Group Work&#10;Theme: Sand Glass&#10;[/KTC]" title="20 Minute Sand Glass Timer - Kids Sensory Friendly Visual Timer">
            <a:hlinkClick r:id="rId3"/>
          </p:cNvPr>
          <p:cNvPicPr preferRelativeResize="0"/>
          <p:nvPr/>
        </p:nvPicPr>
        <p:blipFill>
          <a:blip r:embed="rId4">
            <a:alphaModFix/>
          </a:blip>
          <a:stretch>
            <a:fillRect/>
          </a:stretch>
        </p:blipFill>
        <p:spPr>
          <a:xfrm>
            <a:off x="7303289" y="77000"/>
            <a:ext cx="1739911" cy="978700"/>
          </a:xfrm>
          <a:prstGeom prst="rect">
            <a:avLst/>
          </a:prstGeom>
          <a:noFill/>
          <a:ln>
            <a:noFill/>
          </a:ln>
        </p:spPr>
      </p:pic>
      <p:sp>
        <p:nvSpPr>
          <p:cNvPr id="154" name="Google Shape;154;p24"/>
          <p:cNvSpPr txBox="1"/>
          <p:nvPr/>
        </p:nvSpPr>
        <p:spPr>
          <a:xfrm>
            <a:off x="104375" y="2608550"/>
            <a:ext cx="4362000" cy="1856400"/>
          </a:xfrm>
          <a:prstGeom prst="rect">
            <a:avLst/>
          </a:prstGeom>
          <a:solidFill>
            <a:srgbClr val="FAA500"/>
          </a:solid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200" b="1">
                <a:latin typeface="Poppins"/>
                <a:ea typeface="Poppins"/>
                <a:cs typeface="Poppins"/>
                <a:sym typeface="Poppins"/>
              </a:rPr>
              <a:t>Look carefully at your completed table.</a:t>
            </a:r>
            <a:endParaRPr sz="1200" b="1">
              <a:latin typeface="Poppins"/>
              <a:ea typeface="Poppins"/>
              <a:cs typeface="Poppins"/>
              <a:sym typeface="Poppins"/>
            </a:endParaRPr>
          </a:p>
          <a:p>
            <a:pPr marL="457200" lvl="0" indent="-285750" algn="l" rtl="0">
              <a:lnSpc>
                <a:spcPct val="115000"/>
              </a:lnSpc>
              <a:spcBef>
                <a:spcPts val="0"/>
              </a:spcBef>
              <a:spcAft>
                <a:spcPts val="0"/>
              </a:spcAft>
              <a:buClr>
                <a:schemeClr val="dk1"/>
              </a:buClr>
              <a:buSzPts val="900"/>
              <a:buFont typeface="Poppins"/>
              <a:buAutoNum type="arabicPeriod"/>
            </a:pPr>
            <a:r>
              <a:rPr lang="en" sz="1200" b="1">
                <a:latin typeface="Poppins"/>
                <a:ea typeface="Poppins"/>
                <a:cs typeface="Poppins"/>
                <a:sym typeface="Poppins"/>
              </a:rPr>
              <a:t>Which European country had the </a:t>
            </a:r>
            <a:r>
              <a:rPr lang="en" sz="1200" b="1">
                <a:solidFill>
                  <a:schemeClr val="lt1"/>
                </a:solidFill>
                <a:latin typeface="Poppins"/>
                <a:ea typeface="Poppins"/>
                <a:cs typeface="Poppins"/>
                <a:sym typeface="Poppins"/>
              </a:rPr>
              <a:t>largest percentage increase</a:t>
            </a:r>
            <a:r>
              <a:rPr lang="en" sz="1200" b="1">
                <a:latin typeface="Poppins"/>
                <a:ea typeface="Poppins"/>
                <a:cs typeface="Poppins"/>
                <a:sym typeface="Poppins"/>
              </a:rPr>
              <a:t> in army and navy numbers between 1890 and 1914?</a:t>
            </a:r>
            <a:endParaRPr sz="1200" b="1">
              <a:latin typeface="Poppins"/>
              <a:ea typeface="Poppins"/>
              <a:cs typeface="Poppins"/>
              <a:sym typeface="Poppins"/>
            </a:endParaRPr>
          </a:p>
          <a:p>
            <a:pPr marL="457200" lvl="0" indent="-285750" algn="l" rtl="0">
              <a:lnSpc>
                <a:spcPct val="115000"/>
              </a:lnSpc>
              <a:spcBef>
                <a:spcPts val="0"/>
              </a:spcBef>
              <a:spcAft>
                <a:spcPts val="0"/>
              </a:spcAft>
              <a:buClr>
                <a:schemeClr val="dk1"/>
              </a:buClr>
              <a:buSzPts val="900"/>
              <a:buFont typeface="Poppins"/>
              <a:buAutoNum type="arabicPeriod"/>
            </a:pPr>
            <a:r>
              <a:rPr lang="en" sz="1200" b="1">
                <a:latin typeface="Poppins"/>
                <a:ea typeface="Poppins"/>
                <a:cs typeface="Poppins"/>
                <a:sym typeface="Poppins"/>
              </a:rPr>
              <a:t>Choose </a:t>
            </a:r>
            <a:r>
              <a:rPr lang="en" sz="1200" b="1">
                <a:solidFill>
                  <a:schemeClr val="lt1"/>
                </a:solidFill>
                <a:latin typeface="Poppins"/>
                <a:ea typeface="Poppins"/>
                <a:cs typeface="Poppins"/>
                <a:sym typeface="Poppins"/>
              </a:rPr>
              <a:t>two countries and compare</a:t>
            </a:r>
            <a:r>
              <a:rPr lang="en" sz="1200" b="1">
                <a:latin typeface="Poppins"/>
                <a:ea typeface="Poppins"/>
                <a:cs typeface="Poppins"/>
                <a:sym typeface="Poppins"/>
              </a:rPr>
              <a:t> their percentage increases.</a:t>
            </a:r>
            <a:endParaRPr sz="1200" b="1">
              <a:latin typeface="Poppins"/>
              <a:ea typeface="Poppins"/>
              <a:cs typeface="Poppins"/>
              <a:sym typeface="Poppins"/>
            </a:endParaRPr>
          </a:p>
          <a:p>
            <a:pPr marL="457200" lvl="0" indent="-285750" algn="l" rtl="0">
              <a:lnSpc>
                <a:spcPct val="115000"/>
              </a:lnSpc>
              <a:spcBef>
                <a:spcPts val="0"/>
              </a:spcBef>
              <a:spcAft>
                <a:spcPts val="0"/>
              </a:spcAft>
              <a:buClr>
                <a:schemeClr val="dk1"/>
              </a:buClr>
              <a:buSzPts val="900"/>
              <a:buFont typeface="Poppins"/>
              <a:buAutoNum type="arabicPeriod"/>
            </a:pPr>
            <a:r>
              <a:rPr lang="en" sz="1200" b="1">
                <a:latin typeface="Poppins"/>
                <a:ea typeface="Poppins"/>
                <a:cs typeface="Poppins"/>
                <a:sym typeface="Poppins"/>
              </a:rPr>
              <a:t>Explain </a:t>
            </a:r>
            <a:r>
              <a:rPr lang="en" sz="1200" b="1">
                <a:solidFill>
                  <a:schemeClr val="lt1"/>
                </a:solidFill>
                <a:latin typeface="Poppins"/>
                <a:ea typeface="Poppins"/>
                <a:cs typeface="Poppins"/>
                <a:sym typeface="Poppins"/>
              </a:rPr>
              <a:t>one reason why</a:t>
            </a:r>
            <a:r>
              <a:rPr lang="en" sz="1200" b="1">
                <a:latin typeface="Poppins"/>
                <a:ea typeface="Poppins"/>
                <a:cs typeface="Poppins"/>
                <a:sym typeface="Poppins"/>
              </a:rPr>
              <a:t> countries might have wanted to</a:t>
            </a:r>
            <a:r>
              <a:rPr lang="en" sz="1200" b="1">
                <a:solidFill>
                  <a:schemeClr val="lt1"/>
                </a:solidFill>
                <a:latin typeface="Poppins"/>
                <a:ea typeface="Poppins"/>
                <a:cs typeface="Poppins"/>
                <a:sym typeface="Poppins"/>
              </a:rPr>
              <a:t> increase the size of their militaries</a:t>
            </a:r>
            <a:r>
              <a:rPr lang="en" sz="1200" b="1">
                <a:latin typeface="Poppins"/>
                <a:ea typeface="Poppins"/>
                <a:cs typeface="Poppins"/>
                <a:sym typeface="Poppins"/>
              </a:rPr>
              <a:t>.</a:t>
            </a:r>
            <a:endParaRPr sz="1200" b="1">
              <a:latin typeface="Poppins"/>
              <a:ea typeface="Poppins"/>
              <a:cs typeface="Poppins"/>
              <a:sym typeface="Poppins"/>
            </a:endParaRPr>
          </a:p>
        </p:txBody>
      </p:sp>
      <p:sp>
        <p:nvSpPr>
          <p:cNvPr id="155" name="Google Shape;155;p24"/>
          <p:cNvSpPr txBox="1"/>
          <p:nvPr/>
        </p:nvSpPr>
        <p:spPr>
          <a:xfrm>
            <a:off x="4609500" y="2608550"/>
            <a:ext cx="4414200" cy="2281200"/>
          </a:xfrm>
          <a:prstGeom prst="rect">
            <a:avLst/>
          </a:prstGeom>
          <a:solidFill>
            <a:srgbClr val="CE0925"/>
          </a:solid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200" b="1">
                <a:solidFill>
                  <a:schemeClr val="lt1"/>
                </a:solidFill>
                <a:latin typeface="Poppins"/>
                <a:ea typeface="Poppins"/>
                <a:cs typeface="Poppins"/>
                <a:sym typeface="Poppins"/>
              </a:rPr>
              <a:t>“Building a stronger military made European countries safer, not more likely to go to war.”</a:t>
            </a:r>
            <a:endParaRPr sz="1200" b="1">
              <a:solidFill>
                <a:schemeClr val="lt1"/>
              </a:solidFill>
              <a:latin typeface="Poppins"/>
              <a:ea typeface="Poppins"/>
              <a:cs typeface="Poppins"/>
              <a:sym typeface="Poppins"/>
            </a:endParaRPr>
          </a:p>
          <a:p>
            <a:pPr marL="0" lvl="0" indent="0" algn="l" rtl="0">
              <a:lnSpc>
                <a:spcPct val="115000"/>
              </a:lnSpc>
              <a:spcBef>
                <a:spcPts val="0"/>
              </a:spcBef>
              <a:spcAft>
                <a:spcPts val="0"/>
              </a:spcAft>
              <a:buNone/>
            </a:pPr>
            <a:r>
              <a:rPr lang="en" sz="1200" b="1">
                <a:solidFill>
                  <a:srgbClr val="FFFF00"/>
                </a:solidFill>
                <a:latin typeface="Poppins"/>
                <a:ea typeface="Poppins"/>
                <a:cs typeface="Poppins"/>
                <a:sym typeface="Poppins"/>
              </a:rPr>
              <a:t>How far do you agree?</a:t>
            </a:r>
            <a:endParaRPr sz="1200" b="1">
              <a:solidFill>
                <a:srgbClr val="FFFF00"/>
              </a:solidFill>
              <a:latin typeface="Poppins"/>
              <a:ea typeface="Poppins"/>
              <a:cs typeface="Poppins"/>
              <a:sym typeface="Poppins"/>
            </a:endParaRPr>
          </a:p>
          <a:p>
            <a:pPr marL="0" lvl="0" indent="0" algn="l" rtl="0">
              <a:lnSpc>
                <a:spcPct val="115000"/>
              </a:lnSpc>
              <a:spcBef>
                <a:spcPts val="0"/>
              </a:spcBef>
              <a:spcAft>
                <a:spcPts val="0"/>
              </a:spcAft>
              <a:buNone/>
            </a:pPr>
            <a:r>
              <a:rPr lang="en" sz="1200" b="1">
                <a:solidFill>
                  <a:schemeClr val="lt1"/>
                </a:solidFill>
                <a:latin typeface="Poppins"/>
                <a:ea typeface="Poppins"/>
                <a:cs typeface="Poppins"/>
                <a:sym typeface="Poppins"/>
              </a:rPr>
              <a:t>In your answer:</a:t>
            </a:r>
            <a:endParaRPr sz="1200" b="1">
              <a:solidFill>
                <a:schemeClr val="lt1"/>
              </a:solidFill>
              <a:latin typeface="Poppins"/>
              <a:ea typeface="Poppins"/>
              <a:cs typeface="Poppins"/>
              <a:sym typeface="Poppins"/>
            </a:endParaRPr>
          </a:p>
          <a:p>
            <a:pPr marL="457200" lvl="0" indent="-285750" algn="l" rtl="0">
              <a:lnSpc>
                <a:spcPct val="115000"/>
              </a:lnSpc>
              <a:spcBef>
                <a:spcPts val="0"/>
              </a:spcBef>
              <a:spcAft>
                <a:spcPts val="0"/>
              </a:spcAft>
              <a:buClr>
                <a:schemeClr val="lt1"/>
              </a:buClr>
              <a:buSzPts val="900"/>
              <a:buFont typeface="Poppins"/>
              <a:buChar char="●"/>
            </a:pPr>
            <a:r>
              <a:rPr lang="en" sz="1200" b="1">
                <a:solidFill>
                  <a:schemeClr val="lt1"/>
                </a:solidFill>
                <a:latin typeface="Poppins"/>
                <a:ea typeface="Poppins"/>
                <a:cs typeface="Poppins"/>
                <a:sym typeface="Poppins"/>
              </a:rPr>
              <a:t>Use </a:t>
            </a:r>
            <a:r>
              <a:rPr lang="en" sz="1200" b="1">
                <a:solidFill>
                  <a:srgbClr val="FFFF00"/>
                </a:solidFill>
                <a:latin typeface="Poppins"/>
                <a:ea typeface="Poppins"/>
                <a:cs typeface="Poppins"/>
                <a:sym typeface="Poppins"/>
              </a:rPr>
              <a:t>evidence</a:t>
            </a:r>
            <a:r>
              <a:rPr lang="en" sz="1200" b="1">
                <a:solidFill>
                  <a:schemeClr val="lt1"/>
                </a:solidFill>
                <a:latin typeface="Poppins"/>
                <a:ea typeface="Poppins"/>
                <a:cs typeface="Poppins"/>
                <a:sym typeface="Poppins"/>
              </a:rPr>
              <a:t> from your percentage-change table.</a:t>
            </a:r>
            <a:endParaRPr sz="1200" b="1">
              <a:solidFill>
                <a:schemeClr val="lt1"/>
              </a:solidFill>
              <a:latin typeface="Poppins"/>
              <a:ea typeface="Poppins"/>
              <a:cs typeface="Poppins"/>
              <a:sym typeface="Poppins"/>
            </a:endParaRPr>
          </a:p>
          <a:p>
            <a:pPr marL="457200" lvl="0" indent="-285750" algn="l" rtl="0">
              <a:lnSpc>
                <a:spcPct val="115000"/>
              </a:lnSpc>
              <a:spcBef>
                <a:spcPts val="0"/>
              </a:spcBef>
              <a:spcAft>
                <a:spcPts val="0"/>
              </a:spcAft>
              <a:buClr>
                <a:schemeClr val="lt1"/>
              </a:buClr>
              <a:buSzPts val="900"/>
              <a:buFont typeface="Poppins"/>
              <a:buChar char="●"/>
            </a:pPr>
            <a:r>
              <a:rPr lang="en" sz="1200" b="1">
                <a:solidFill>
                  <a:schemeClr val="lt1"/>
                </a:solidFill>
                <a:latin typeface="Poppins"/>
                <a:ea typeface="Poppins"/>
                <a:cs typeface="Poppins"/>
                <a:sym typeface="Poppins"/>
              </a:rPr>
              <a:t>Explain </a:t>
            </a:r>
            <a:r>
              <a:rPr lang="en" sz="1200" b="1">
                <a:solidFill>
                  <a:srgbClr val="FFFF00"/>
                </a:solidFill>
                <a:latin typeface="Poppins"/>
                <a:ea typeface="Poppins"/>
                <a:cs typeface="Poppins"/>
                <a:sym typeface="Poppins"/>
              </a:rPr>
              <a:t>why</a:t>
            </a:r>
            <a:r>
              <a:rPr lang="en" sz="1200" b="1">
                <a:solidFill>
                  <a:schemeClr val="lt1"/>
                </a:solidFill>
                <a:latin typeface="Poppins"/>
                <a:ea typeface="Poppins"/>
                <a:cs typeface="Poppins"/>
                <a:sym typeface="Poppins"/>
              </a:rPr>
              <a:t> countries wanted stronger armies.</a:t>
            </a:r>
            <a:endParaRPr sz="1200" b="1">
              <a:solidFill>
                <a:schemeClr val="lt1"/>
              </a:solidFill>
              <a:latin typeface="Poppins"/>
              <a:ea typeface="Poppins"/>
              <a:cs typeface="Poppins"/>
              <a:sym typeface="Poppins"/>
            </a:endParaRPr>
          </a:p>
          <a:p>
            <a:pPr marL="457200" lvl="0" indent="-285750" algn="l" rtl="0">
              <a:lnSpc>
                <a:spcPct val="115000"/>
              </a:lnSpc>
              <a:spcBef>
                <a:spcPts val="0"/>
              </a:spcBef>
              <a:spcAft>
                <a:spcPts val="0"/>
              </a:spcAft>
              <a:buClr>
                <a:schemeClr val="lt1"/>
              </a:buClr>
              <a:buSzPts val="900"/>
              <a:buFont typeface="Poppins"/>
              <a:buChar char="●"/>
            </a:pPr>
            <a:r>
              <a:rPr lang="en" sz="1200" b="1">
                <a:solidFill>
                  <a:schemeClr val="lt1"/>
                </a:solidFill>
                <a:latin typeface="Poppins"/>
                <a:ea typeface="Poppins"/>
                <a:cs typeface="Poppins"/>
                <a:sym typeface="Poppins"/>
              </a:rPr>
              <a:t>Explain </a:t>
            </a:r>
            <a:r>
              <a:rPr lang="en" sz="1200" b="1">
                <a:solidFill>
                  <a:srgbClr val="FFFF00"/>
                </a:solidFill>
                <a:latin typeface="Poppins"/>
                <a:ea typeface="Poppins"/>
                <a:cs typeface="Poppins"/>
                <a:sym typeface="Poppins"/>
              </a:rPr>
              <a:t>how</a:t>
            </a:r>
            <a:r>
              <a:rPr lang="en" sz="1200" b="1">
                <a:solidFill>
                  <a:schemeClr val="lt1"/>
                </a:solidFill>
                <a:latin typeface="Poppins"/>
                <a:ea typeface="Poppins"/>
                <a:cs typeface="Poppins"/>
                <a:sym typeface="Poppins"/>
              </a:rPr>
              <a:t> military expansion could make other countries feel threatened.</a:t>
            </a:r>
            <a:endParaRPr sz="1200" b="1">
              <a:solidFill>
                <a:schemeClr val="lt1"/>
              </a:solidFill>
              <a:latin typeface="Poppins"/>
              <a:ea typeface="Poppins"/>
              <a:cs typeface="Poppins"/>
              <a:sym typeface="Poppins"/>
            </a:endParaRPr>
          </a:p>
          <a:p>
            <a:pPr marL="457200" lvl="0" indent="-285750" algn="l" rtl="0">
              <a:lnSpc>
                <a:spcPct val="115000"/>
              </a:lnSpc>
              <a:spcBef>
                <a:spcPts val="0"/>
              </a:spcBef>
              <a:spcAft>
                <a:spcPts val="0"/>
              </a:spcAft>
              <a:buClr>
                <a:schemeClr val="lt1"/>
              </a:buClr>
              <a:buSzPts val="900"/>
              <a:buFont typeface="Poppins"/>
              <a:buChar char="●"/>
            </a:pPr>
            <a:r>
              <a:rPr lang="en" sz="1200" b="1">
                <a:solidFill>
                  <a:schemeClr val="lt1"/>
                </a:solidFill>
                <a:latin typeface="Poppins"/>
                <a:ea typeface="Poppins"/>
                <a:cs typeface="Poppins"/>
                <a:sym typeface="Poppins"/>
              </a:rPr>
              <a:t>Reach a </a:t>
            </a:r>
            <a:r>
              <a:rPr lang="en" sz="1200" b="1">
                <a:solidFill>
                  <a:srgbClr val="FFFF00"/>
                </a:solidFill>
                <a:latin typeface="Poppins"/>
                <a:ea typeface="Poppins"/>
                <a:cs typeface="Poppins"/>
                <a:sym typeface="Poppins"/>
              </a:rPr>
              <a:t>justified conclusion</a:t>
            </a:r>
            <a:r>
              <a:rPr lang="en" sz="1200" b="1">
                <a:solidFill>
                  <a:schemeClr val="lt1"/>
                </a:solidFill>
                <a:latin typeface="Poppins"/>
                <a:ea typeface="Poppins"/>
                <a:cs typeface="Poppins"/>
                <a:sym typeface="Poppins"/>
              </a:rPr>
              <a:t>.</a:t>
            </a:r>
            <a:endParaRPr sz="1200" b="1">
              <a:solidFill>
                <a:schemeClr val="lt1"/>
              </a:solidFill>
              <a:latin typeface="Poppins"/>
              <a:ea typeface="Poppins"/>
              <a:cs typeface="Poppins"/>
              <a:sym typeface="Poppins"/>
            </a:endParaRPr>
          </a:p>
        </p:txBody>
      </p:sp>
      <p:pic>
        <p:nvPicPr>
          <p:cNvPr id="156" name="Google Shape;156;p24"/>
          <p:cNvPicPr preferRelativeResize="0"/>
          <p:nvPr/>
        </p:nvPicPr>
        <p:blipFill>
          <a:blip r:embed="rId5">
            <a:alphaModFix/>
          </a:blip>
          <a:stretch>
            <a:fillRect/>
          </a:stretch>
        </p:blipFill>
        <p:spPr>
          <a:xfrm>
            <a:off x="4194884" y="2006172"/>
            <a:ext cx="712250" cy="464500"/>
          </a:xfrm>
          <a:prstGeom prst="rect">
            <a:avLst/>
          </a:prstGeom>
          <a:noFill/>
          <a:ln>
            <a:noFill/>
          </a:ln>
        </p:spPr>
      </p:pic>
      <p:grpSp>
        <p:nvGrpSpPr>
          <p:cNvPr id="157" name="Google Shape;157;p24"/>
          <p:cNvGrpSpPr/>
          <p:nvPr/>
        </p:nvGrpSpPr>
        <p:grpSpPr>
          <a:xfrm>
            <a:off x="6520637" y="1868308"/>
            <a:ext cx="591968" cy="674820"/>
            <a:chOff x="5426175" y="139294"/>
            <a:chExt cx="946695" cy="1152356"/>
          </a:xfrm>
        </p:grpSpPr>
        <p:pic>
          <p:nvPicPr>
            <p:cNvPr id="158" name="Google Shape;158;p24"/>
            <p:cNvPicPr preferRelativeResize="0"/>
            <p:nvPr/>
          </p:nvPicPr>
          <p:blipFill>
            <a:blip r:embed="rId6">
              <a:alphaModFix/>
            </a:blip>
            <a:stretch>
              <a:fillRect/>
            </a:stretch>
          </p:blipFill>
          <p:spPr>
            <a:xfrm>
              <a:off x="5469469" y="139300"/>
              <a:ext cx="903401" cy="1152350"/>
            </a:xfrm>
            <a:prstGeom prst="rect">
              <a:avLst/>
            </a:prstGeom>
            <a:noFill/>
            <a:ln>
              <a:noFill/>
            </a:ln>
          </p:spPr>
        </p:pic>
        <p:pic>
          <p:nvPicPr>
            <p:cNvPr id="159" name="Google Shape;159;p24" descr="a cartoon drawing of a fire with a flame coming out of it (Provided by Tenor)"/>
            <p:cNvPicPr preferRelativeResize="0"/>
            <p:nvPr/>
          </p:nvPicPr>
          <p:blipFill>
            <a:blip r:embed="rId7">
              <a:alphaModFix/>
            </a:blip>
            <a:stretch>
              <a:fillRect/>
            </a:stretch>
          </p:blipFill>
          <p:spPr>
            <a:xfrm>
              <a:off x="5426175" y="139294"/>
              <a:ext cx="341075" cy="391706"/>
            </a:xfrm>
            <a:prstGeom prst="rect">
              <a:avLst/>
            </a:prstGeom>
            <a:noFill/>
            <a:ln>
              <a:noFill/>
            </a:ln>
          </p:spPr>
        </p:pic>
      </p:grpSp>
      <p:grpSp>
        <p:nvGrpSpPr>
          <p:cNvPr id="160" name="Google Shape;160;p24"/>
          <p:cNvGrpSpPr/>
          <p:nvPr/>
        </p:nvGrpSpPr>
        <p:grpSpPr>
          <a:xfrm>
            <a:off x="1989431" y="1868301"/>
            <a:ext cx="591947" cy="674817"/>
            <a:chOff x="5313625" y="1569463"/>
            <a:chExt cx="1136175" cy="1330475"/>
          </a:xfrm>
        </p:grpSpPr>
        <p:pic>
          <p:nvPicPr>
            <p:cNvPr id="161" name="Google Shape;161;p24"/>
            <p:cNvPicPr preferRelativeResize="0"/>
            <p:nvPr/>
          </p:nvPicPr>
          <p:blipFill>
            <a:blip r:embed="rId8">
              <a:alphaModFix/>
            </a:blip>
            <a:stretch>
              <a:fillRect/>
            </a:stretch>
          </p:blipFill>
          <p:spPr>
            <a:xfrm>
              <a:off x="5392550" y="1569463"/>
              <a:ext cx="1057250" cy="1330475"/>
            </a:xfrm>
            <a:prstGeom prst="rect">
              <a:avLst/>
            </a:prstGeom>
            <a:noFill/>
            <a:ln>
              <a:noFill/>
            </a:ln>
          </p:spPr>
        </p:pic>
        <p:pic>
          <p:nvPicPr>
            <p:cNvPr id="162" name="Google Shape;162;p24" descr="smoke is coming out of a hole in the ground on a white background . (Provided by Tenor)"/>
            <p:cNvPicPr preferRelativeResize="0"/>
            <p:nvPr/>
          </p:nvPicPr>
          <p:blipFill rotWithShape="1">
            <a:blip r:embed="rId9">
              <a:alphaModFix/>
            </a:blip>
            <a:srcRect l="42413" t="17925"/>
            <a:stretch/>
          </p:blipFill>
          <p:spPr>
            <a:xfrm>
              <a:off x="5313625" y="1650525"/>
              <a:ext cx="418000" cy="604725"/>
            </a:xfrm>
            <a:prstGeom prst="rect">
              <a:avLst/>
            </a:prstGeom>
            <a:no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3"/>
                                        </p:tgtEl>
                                        <p:attrNameLst>
                                          <p:attrName>style.visibility</p:attrName>
                                        </p:attrNameLst>
                                      </p:cBhvr>
                                      <p:to>
                                        <p:strVal val="visible"/>
                                      </p:to>
                                    </p:set>
                                    <p:animEffect transition="in" filter="fade">
                                      <p:cBhvr>
                                        <p:cTn id="7" dur="1000"/>
                                        <p:tgtEl>
                                          <p:spTgt spid="15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54"/>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156"/>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157"/>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160"/>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1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5"/>
          <p:cNvSpPr/>
          <p:nvPr/>
        </p:nvSpPr>
        <p:spPr>
          <a:xfrm>
            <a:off x="2680101" y="101363"/>
            <a:ext cx="3770888" cy="4940831"/>
          </a:xfrm>
          <a:prstGeom prst="rect">
            <a:avLst/>
          </a:prstGeom>
          <a:noFill/>
          <a:ln w="9525" cap="flat" cmpd="sng">
            <a:solidFill>
              <a:srgbClr val="000000"/>
            </a:solidFill>
            <a:prstDash val="lgDash"/>
            <a:round/>
            <a:headEnd type="none" w="sm" len="sm"/>
            <a:tailEnd type="none" w="sm" len="sm"/>
          </a:ln>
        </p:spPr>
        <p:txBody>
          <a:bodyPr spcFirstLastPara="1" wrap="square" lIns="51427" tIns="51427" rIns="51427" bIns="51427" anchor="ctr" anchorCtr="0">
            <a:noAutofit/>
          </a:bodyPr>
          <a:lstStyle/>
          <a:p>
            <a:endParaRPr sz="788"/>
          </a:p>
        </p:txBody>
      </p:sp>
      <p:pic>
        <p:nvPicPr>
          <p:cNvPr id="78" name="Google Shape;78;p15"/>
          <p:cNvPicPr preferRelativeResize="0"/>
          <p:nvPr/>
        </p:nvPicPr>
        <p:blipFill rotWithShape="1">
          <a:blip r:embed="rId3">
            <a:alphaModFix/>
          </a:blip>
          <a:srcRect t="17179" b="24290"/>
          <a:stretch/>
        </p:blipFill>
        <p:spPr>
          <a:xfrm>
            <a:off x="5942419" y="4933729"/>
            <a:ext cx="476002" cy="207731"/>
          </a:xfrm>
          <a:prstGeom prst="rect">
            <a:avLst/>
          </a:prstGeom>
          <a:noFill/>
          <a:ln>
            <a:noFill/>
          </a:ln>
        </p:spPr>
      </p:pic>
      <p:sp>
        <p:nvSpPr>
          <p:cNvPr id="79" name="Google Shape;79;p15"/>
          <p:cNvSpPr txBox="1"/>
          <p:nvPr/>
        </p:nvSpPr>
        <p:spPr>
          <a:xfrm>
            <a:off x="3393534" y="170888"/>
            <a:ext cx="2343938" cy="235744"/>
          </a:xfrm>
          <a:prstGeom prst="rect">
            <a:avLst/>
          </a:prstGeom>
          <a:noFill/>
          <a:ln>
            <a:noFill/>
          </a:ln>
        </p:spPr>
        <p:txBody>
          <a:bodyPr spcFirstLastPara="1" wrap="square" lIns="51427" tIns="51427" rIns="51427" bIns="51427" anchor="t" anchorCtr="0">
            <a:noAutofit/>
          </a:bodyPr>
          <a:lstStyle/>
          <a:p>
            <a:pPr algn="ctr"/>
            <a:r>
              <a:rPr lang="en" sz="788" b="1" u="sng">
                <a:latin typeface="Edu TAS Beginner"/>
                <a:ea typeface="Edu TAS Beginner"/>
                <a:cs typeface="Edu TAS Beginner"/>
                <a:sym typeface="Edu TAS Beginner"/>
              </a:rPr>
              <a:t>Germany’s Militarism and Preventative War</a:t>
            </a:r>
            <a:endParaRPr sz="788" b="1" u="sng">
              <a:latin typeface="Edu TAS Beginner"/>
              <a:ea typeface="Edu TAS Beginner"/>
              <a:cs typeface="Edu TAS Beginner"/>
              <a:sym typeface="Edu TAS Beginner"/>
            </a:endParaRPr>
          </a:p>
        </p:txBody>
      </p:sp>
      <p:sp>
        <p:nvSpPr>
          <p:cNvPr id="80" name="Google Shape;80;p15"/>
          <p:cNvSpPr txBox="1"/>
          <p:nvPr/>
        </p:nvSpPr>
        <p:spPr>
          <a:xfrm>
            <a:off x="2728979" y="406730"/>
            <a:ext cx="3646350" cy="1698141"/>
          </a:xfrm>
          <a:prstGeom prst="rect">
            <a:avLst/>
          </a:prstGeom>
          <a:noFill/>
          <a:ln>
            <a:noFill/>
          </a:ln>
        </p:spPr>
        <p:txBody>
          <a:bodyPr spcFirstLastPara="1" wrap="square" lIns="51427" tIns="51427" rIns="51427" bIns="51427" anchor="t" anchorCtr="0">
            <a:spAutoFit/>
          </a:bodyPr>
          <a:lstStyle/>
          <a:p>
            <a:pPr>
              <a:lnSpc>
                <a:spcPct val="115000"/>
              </a:lnSpc>
            </a:pPr>
            <a:r>
              <a:rPr lang="en" sz="563">
                <a:latin typeface="Poppins"/>
                <a:ea typeface="Poppins"/>
                <a:cs typeface="Poppins"/>
                <a:sym typeface="Poppins"/>
              </a:rPr>
              <a:t>1. In 1914, Germany planned a preventive war, which meant ___________________________</a:t>
            </a:r>
            <a:endParaRPr sz="563">
              <a:latin typeface="Poppins"/>
              <a:ea typeface="Poppins"/>
              <a:cs typeface="Poppins"/>
              <a:sym typeface="Poppins"/>
            </a:endParaRPr>
          </a:p>
          <a:p>
            <a:pPr>
              <a:lnSpc>
                <a:spcPct val="115000"/>
              </a:lnSpc>
            </a:pPr>
            <a:r>
              <a:rPr lang="en" sz="563">
                <a:latin typeface="Poppins"/>
                <a:ea typeface="Poppins"/>
                <a:cs typeface="Poppins"/>
                <a:sym typeface="Poppins"/>
              </a:rPr>
              <a:t>___________________________________________________________________</a:t>
            </a:r>
            <a:endParaRPr sz="563">
              <a:latin typeface="Poppins"/>
              <a:ea typeface="Poppins"/>
              <a:cs typeface="Poppins"/>
              <a:sym typeface="Poppins"/>
            </a:endParaRPr>
          </a:p>
          <a:p>
            <a:pPr>
              <a:lnSpc>
                <a:spcPct val="115000"/>
              </a:lnSpc>
            </a:pPr>
            <a:endParaRPr sz="563">
              <a:latin typeface="Poppins"/>
              <a:ea typeface="Poppins"/>
              <a:cs typeface="Poppins"/>
              <a:sym typeface="Poppins"/>
            </a:endParaRPr>
          </a:p>
          <a:p>
            <a:pPr>
              <a:lnSpc>
                <a:spcPct val="115000"/>
              </a:lnSpc>
            </a:pPr>
            <a:r>
              <a:rPr lang="en" sz="563">
                <a:latin typeface="Poppins"/>
                <a:ea typeface="Poppins"/>
                <a:cs typeface="Poppins"/>
                <a:sym typeface="Poppins"/>
              </a:rPr>
              <a:t>2. Germany feared being surrounded by France and Russia because ____________________</a:t>
            </a:r>
            <a:endParaRPr sz="563">
              <a:latin typeface="Poppins"/>
              <a:ea typeface="Poppins"/>
              <a:cs typeface="Poppins"/>
              <a:sym typeface="Poppins"/>
            </a:endParaRPr>
          </a:p>
          <a:p>
            <a:pPr>
              <a:lnSpc>
                <a:spcPct val="115000"/>
              </a:lnSpc>
            </a:pPr>
            <a:r>
              <a:rPr lang="en" sz="563">
                <a:latin typeface="Poppins"/>
                <a:ea typeface="Poppins"/>
                <a:cs typeface="Poppins"/>
                <a:sym typeface="Poppins"/>
              </a:rPr>
              <a:t>________________________________________________________</a:t>
            </a:r>
            <a:r>
              <a:rPr lang="en" sz="563">
                <a:solidFill>
                  <a:schemeClr val="dk1"/>
                </a:solidFill>
                <a:latin typeface="Poppins"/>
                <a:ea typeface="Poppins"/>
                <a:cs typeface="Poppins"/>
                <a:sym typeface="Poppins"/>
              </a:rPr>
              <a:t>______________________________________________________________________________</a:t>
            </a:r>
            <a:endParaRPr sz="563">
              <a:latin typeface="Poppins"/>
              <a:ea typeface="Poppins"/>
              <a:cs typeface="Poppins"/>
              <a:sym typeface="Poppins"/>
            </a:endParaRPr>
          </a:p>
          <a:p>
            <a:pPr>
              <a:lnSpc>
                <a:spcPct val="115000"/>
              </a:lnSpc>
            </a:pPr>
            <a:endParaRPr sz="563">
              <a:latin typeface="Poppins"/>
              <a:ea typeface="Poppins"/>
              <a:cs typeface="Poppins"/>
              <a:sym typeface="Poppins"/>
            </a:endParaRPr>
          </a:p>
          <a:p>
            <a:pPr>
              <a:lnSpc>
                <a:spcPct val="115000"/>
              </a:lnSpc>
            </a:pPr>
            <a:r>
              <a:rPr lang="en" sz="563">
                <a:latin typeface="Poppins"/>
                <a:ea typeface="Poppins"/>
                <a:cs typeface="Poppins"/>
                <a:sym typeface="Poppins"/>
              </a:rPr>
              <a:t>3. The Zabern affair in 1913 showed that  ________________________________________</a:t>
            </a:r>
            <a:endParaRPr sz="563">
              <a:latin typeface="Poppins"/>
              <a:ea typeface="Poppins"/>
              <a:cs typeface="Poppins"/>
              <a:sym typeface="Poppins"/>
            </a:endParaRPr>
          </a:p>
          <a:p>
            <a:pPr>
              <a:lnSpc>
                <a:spcPct val="115000"/>
              </a:lnSpc>
            </a:pPr>
            <a:r>
              <a:rPr lang="en" sz="563">
                <a:latin typeface="Poppins"/>
                <a:ea typeface="Poppins"/>
                <a:cs typeface="Poppins"/>
                <a:sym typeface="Poppins"/>
              </a:rPr>
              <a:t>________________________________________________________</a:t>
            </a:r>
            <a:r>
              <a:rPr lang="en" sz="563">
                <a:solidFill>
                  <a:schemeClr val="dk1"/>
                </a:solidFill>
                <a:latin typeface="Poppins"/>
                <a:ea typeface="Poppins"/>
                <a:cs typeface="Poppins"/>
                <a:sym typeface="Poppins"/>
              </a:rPr>
              <a:t>______________________________________________________________________________</a:t>
            </a:r>
            <a:endParaRPr sz="563">
              <a:latin typeface="Poppins"/>
              <a:ea typeface="Poppins"/>
              <a:cs typeface="Poppins"/>
              <a:sym typeface="Poppins"/>
            </a:endParaRPr>
          </a:p>
          <a:p>
            <a:pPr>
              <a:lnSpc>
                <a:spcPct val="115000"/>
              </a:lnSpc>
            </a:pPr>
            <a:endParaRPr sz="563">
              <a:latin typeface="Poppins"/>
              <a:ea typeface="Poppins"/>
              <a:cs typeface="Poppins"/>
              <a:sym typeface="Poppins"/>
            </a:endParaRPr>
          </a:p>
          <a:p>
            <a:pPr>
              <a:lnSpc>
                <a:spcPct val="115000"/>
              </a:lnSpc>
            </a:pPr>
            <a:r>
              <a:rPr lang="en" sz="563">
                <a:latin typeface="Poppins"/>
                <a:ea typeface="Poppins"/>
                <a:cs typeface="Poppins"/>
                <a:sym typeface="Poppins"/>
              </a:rPr>
              <a:t>4. Unlike France and Britain, Germany’s military was ________________________________</a:t>
            </a:r>
            <a:endParaRPr sz="563">
              <a:latin typeface="Poppins"/>
              <a:ea typeface="Poppins"/>
              <a:cs typeface="Poppins"/>
              <a:sym typeface="Poppins"/>
            </a:endParaRPr>
          </a:p>
          <a:p>
            <a:pPr>
              <a:lnSpc>
                <a:spcPct val="115000"/>
              </a:lnSpc>
            </a:pPr>
            <a:r>
              <a:rPr lang="en" sz="563">
                <a:latin typeface="Poppins"/>
                <a:ea typeface="Poppins"/>
                <a:cs typeface="Poppins"/>
                <a:sym typeface="Poppins"/>
              </a:rPr>
              <a:t>___________________________________________________________________</a:t>
            </a:r>
            <a:endParaRPr sz="563">
              <a:latin typeface="Poppins"/>
              <a:ea typeface="Poppins"/>
              <a:cs typeface="Poppins"/>
              <a:sym typeface="Poppins"/>
            </a:endParaRPr>
          </a:p>
          <a:p>
            <a:pPr>
              <a:lnSpc>
                <a:spcPct val="115000"/>
              </a:lnSpc>
            </a:pPr>
            <a:endParaRPr sz="563">
              <a:latin typeface="Poppins"/>
              <a:ea typeface="Poppins"/>
              <a:cs typeface="Poppins"/>
              <a:sym typeface="Poppins"/>
            </a:endParaRPr>
          </a:p>
          <a:p>
            <a:pPr>
              <a:lnSpc>
                <a:spcPct val="115000"/>
              </a:lnSpc>
            </a:pPr>
            <a:r>
              <a:rPr lang="en" sz="563">
                <a:latin typeface="Poppins"/>
                <a:ea typeface="Poppins"/>
                <a:cs typeface="Poppins"/>
                <a:sym typeface="Poppins"/>
              </a:rPr>
              <a:t>5. Kaiser Wilhelm II’s impulsive and undiplomatic behaviour meant that  __________________</a:t>
            </a:r>
            <a:endParaRPr sz="563">
              <a:latin typeface="Poppins"/>
              <a:ea typeface="Poppins"/>
              <a:cs typeface="Poppins"/>
              <a:sym typeface="Poppins"/>
            </a:endParaRPr>
          </a:p>
          <a:p>
            <a:pPr>
              <a:lnSpc>
                <a:spcPct val="115000"/>
              </a:lnSpc>
            </a:pPr>
            <a:r>
              <a:rPr lang="en" sz="563">
                <a:latin typeface="Poppins"/>
                <a:ea typeface="Poppins"/>
                <a:cs typeface="Poppins"/>
                <a:sym typeface="Poppins"/>
              </a:rPr>
              <a:t>___________________________________________________________________</a:t>
            </a:r>
            <a:endParaRPr sz="563">
              <a:latin typeface="Poppins"/>
              <a:ea typeface="Poppins"/>
              <a:cs typeface="Poppins"/>
              <a:sym typeface="Poppins"/>
            </a:endParaRPr>
          </a:p>
        </p:txBody>
      </p:sp>
      <p:pic>
        <p:nvPicPr>
          <p:cNvPr id="81" name="Google Shape;81;p15"/>
          <p:cNvPicPr preferRelativeResize="0"/>
          <p:nvPr/>
        </p:nvPicPr>
        <p:blipFill>
          <a:blip r:embed="rId4">
            <a:alphaModFix/>
          </a:blip>
          <a:stretch>
            <a:fillRect/>
          </a:stretch>
        </p:blipFill>
        <p:spPr>
          <a:xfrm>
            <a:off x="6194742" y="188325"/>
            <a:ext cx="207731" cy="207731"/>
          </a:xfrm>
          <a:prstGeom prst="rect">
            <a:avLst/>
          </a:prstGeom>
          <a:noFill/>
          <a:ln>
            <a:noFill/>
          </a:ln>
        </p:spPr>
      </p:pic>
      <p:sp>
        <p:nvSpPr>
          <p:cNvPr id="82" name="Google Shape;82;p15"/>
          <p:cNvSpPr txBox="1"/>
          <p:nvPr/>
        </p:nvSpPr>
        <p:spPr>
          <a:xfrm>
            <a:off x="2728983" y="2090784"/>
            <a:ext cx="3673519" cy="190485"/>
          </a:xfrm>
          <a:prstGeom prst="rect">
            <a:avLst/>
          </a:prstGeom>
          <a:noFill/>
          <a:ln>
            <a:noFill/>
          </a:ln>
        </p:spPr>
        <p:txBody>
          <a:bodyPr spcFirstLastPara="1" wrap="square" lIns="51427" tIns="51427" rIns="51427" bIns="51427" anchor="t" anchorCtr="0">
            <a:spAutoFit/>
          </a:bodyPr>
          <a:lstStyle/>
          <a:p>
            <a:r>
              <a:rPr lang="en" sz="563" b="1">
                <a:latin typeface="Poppins"/>
                <a:ea typeface="Poppins"/>
                <a:cs typeface="Poppins"/>
                <a:sym typeface="Poppins"/>
              </a:rPr>
              <a:t>Army and Navy numbers of the main powers before WWI – shown in thousands</a:t>
            </a:r>
            <a:endParaRPr sz="563" b="1">
              <a:latin typeface="Poppins"/>
              <a:ea typeface="Poppins"/>
              <a:cs typeface="Poppins"/>
              <a:sym typeface="Poppins"/>
            </a:endParaRPr>
          </a:p>
        </p:txBody>
      </p:sp>
      <p:graphicFrame>
        <p:nvGraphicFramePr>
          <p:cNvPr id="83" name="Google Shape;83;p15"/>
          <p:cNvGraphicFramePr/>
          <p:nvPr/>
        </p:nvGraphicFramePr>
        <p:xfrm>
          <a:off x="2728983" y="2281303"/>
          <a:ext cx="1851524" cy="2191707"/>
        </p:xfrm>
        <a:graphic>
          <a:graphicData uri="http://schemas.openxmlformats.org/drawingml/2006/table">
            <a:tbl>
              <a:tblPr>
                <a:noFill/>
              </a:tblPr>
              <a:tblGrid>
                <a:gridCol w="462881">
                  <a:extLst>
                    <a:ext uri="{9D8B030D-6E8A-4147-A177-3AD203B41FA5}">
                      <a16:colId xmlns:a16="http://schemas.microsoft.com/office/drawing/2014/main" val="20000"/>
                    </a:ext>
                  </a:extLst>
                </a:gridCol>
                <a:gridCol w="462881">
                  <a:extLst>
                    <a:ext uri="{9D8B030D-6E8A-4147-A177-3AD203B41FA5}">
                      <a16:colId xmlns:a16="http://schemas.microsoft.com/office/drawing/2014/main" val="20001"/>
                    </a:ext>
                  </a:extLst>
                </a:gridCol>
                <a:gridCol w="462881">
                  <a:extLst>
                    <a:ext uri="{9D8B030D-6E8A-4147-A177-3AD203B41FA5}">
                      <a16:colId xmlns:a16="http://schemas.microsoft.com/office/drawing/2014/main" val="20002"/>
                    </a:ext>
                  </a:extLst>
                </a:gridCol>
                <a:gridCol w="462881">
                  <a:extLst>
                    <a:ext uri="{9D8B030D-6E8A-4147-A177-3AD203B41FA5}">
                      <a16:colId xmlns:a16="http://schemas.microsoft.com/office/drawing/2014/main" val="20003"/>
                    </a:ext>
                  </a:extLst>
                </a:gridCol>
              </a:tblGrid>
              <a:tr h="328613">
                <a:tc>
                  <a:txBody>
                    <a:bodyPr/>
                    <a:lstStyle/>
                    <a:p>
                      <a:pPr marL="0" lvl="0" indent="0" algn="ctr" rtl="0">
                        <a:spcBef>
                          <a:spcPts val="0"/>
                        </a:spcBef>
                        <a:spcAft>
                          <a:spcPts val="0"/>
                        </a:spcAft>
                        <a:buNone/>
                      </a:pPr>
                      <a:r>
                        <a:rPr lang="en" sz="600" b="1">
                          <a:latin typeface="Poppins"/>
                          <a:ea typeface="Poppins"/>
                          <a:cs typeface="Poppins"/>
                          <a:sym typeface="Poppins"/>
                        </a:rPr>
                        <a:t>Country</a:t>
                      </a:r>
                      <a:endParaRPr sz="600" b="1">
                        <a:latin typeface="Poppins"/>
                        <a:ea typeface="Poppins"/>
                        <a:cs typeface="Poppins"/>
                        <a:sym typeface="Poppins"/>
                      </a:endParaRPr>
                    </a:p>
                  </a:txBody>
                  <a:tcPr marL="35719" marR="35719" marT="35719" marB="35719"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600" b="1">
                          <a:latin typeface="Poppins"/>
                          <a:ea typeface="Poppins"/>
                          <a:cs typeface="Poppins"/>
                          <a:sym typeface="Poppins"/>
                        </a:rPr>
                        <a:t>1890</a:t>
                      </a:r>
                      <a:endParaRPr sz="600" b="1">
                        <a:latin typeface="Poppins"/>
                        <a:ea typeface="Poppins"/>
                        <a:cs typeface="Poppins"/>
                        <a:sym typeface="Poppins"/>
                      </a:endParaRPr>
                    </a:p>
                  </a:txBody>
                  <a:tcPr marL="35719" marR="35719" marT="35719" marB="35719"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600" b="1">
                          <a:latin typeface="Poppins"/>
                          <a:ea typeface="Poppins"/>
                          <a:cs typeface="Poppins"/>
                          <a:sym typeface="Poppins"/>
                        </a:rPr>
                        <a:t>1914</a:t>
                      </a:r>
                      <a:endParaRPr sz="600" b="1">
                        <a:latin typeface="Poppins"/>
                        <a:ea typeface="Poppins"/>
                        <a:cs typeface="Poppins"/>
                        <a:sym typeface="Poppins"/>
                      </a:endParaRPr>
                    </a:p>
                  </a:txBody>
                  <a:tcPr marL="35719" marR="35719" marT="35719" marB="35719"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600" b="1">
                          <a:latin typeface="Poppins"/>
                          <a:ea typeface="Poppins"/>
                          <a:cs typeface="Poppins"/>
                          <a:sym typeface="Poppins"/>
                        </a:rPr>
                        <a:t>% increase 1890 - 1914</a:t>
                      </a:r>
                      <a:endParaRPr sz="600" b="1">
                        <a:latin typeface="Poppins"/>
                        <a:ea typeface="Poppins"/>
                        <a:cs typeface="Poppins"/>
                        <a:sym typeface="Poppins"/>
                      </a:endParaRPr>
                    </a:p>
                  </a:txBody>
                  <a:tcPr marL="35719" marR="35719" marT="35719" marB="35719"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214313">
                <a:tc>
                  <a:txBody>
                    <a:bodyPr/>
                    <a:lstStyle/>
                    <a:p>
                      <a:pPr marL="0" lvl="0" indent="0" algn="ctr" rtl="0">
                        <a:spcBef>
                          <a:spcPts val="0"/>
                        </a:spcBef>
                        <a:spcAft>
                          <a:spcPts val="0"/>
                        </a:spcAft>
                        <a:buNone/>
                      </a:pPr>
                      <a:r>
                        <a:rPr lang="en" sz="600" b="1">
                          <a:latin typeface="Poppins"/>
                          <a:ea typeface="Poppins"/>
                          <a:cs typeface="Poppins"/>
                          <a:sym typeface="Poppins"/>
                        </a:rPr>
                        <a:t>Russia</a:t>
                      </a:r>
                      <a:endParaRPr sz="600" b="1">
                        <a:latin typeface="Poppins"/>
                        <a:ea typeface="Poppins"/>
                        <a:cs typeface="Poppins"/>
                        <a:sym typeface="Poppins"/>
                      </a:endParaRPr>
                    </a:p>
                  </a:txBody>
                  <a:tcPr marL="35719" marR="35719" marT="35719" marB="35719"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600">
                          <a:latin typeface="Poppins"/>
                          <a:ea typeface="Poppins"/>
                          <a:cs typeface="Poppins"/>
                          <a:sym typeface="Poppins"/>
                        </a:rPr>
                        <a:t>677</a:t>
                      </a:r>
                      <a:endParaRPr sz="600">
                        <a:latin typeface="Poppins"/>
                        <a:ea typeface="Poppins"/>
                        <a:cs typeface="Poppins"/>
                        <a:sym typeface="Poppins"/>
                      </a:endParaRPr>
                    </a:p>
                  </a:txBody>
                  <a:tcPr marL="35719" marR="35719" marT="35719" marB="35719"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600">
                          <a:latin typeface="Poppins"/>
                          <a:ea typeface="Poppins"/>
                          <a:cs typeface="Poppins"/>
                          <a:sym typeface="Poppins"/>
                        </a:rPr>
                        <a:t>1352</a:t>
                      </a:r>
                      <a:endParaRPr sz="600">
                        <a:latin typeface="Poppins"/>
                        <a:ea typeface="Poppins"/>
                        <a:cs typeface="Poppins"/>
                        <a:sym typeface="Poppins"/>
                      </a:endParaRPr>
                    </a:p>
                  </a:txBody>
                  <a:tcPr marL="35719" marR="35719" marT="35719" marB="35719"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600" b="1">
                          <a:solidFill>
                            <a:schemeClr val="dk1"/>
                          </a:solidFill>
                          <a:latin typeface="Poppins"/>
                          <a:ea typeface="Poppins"/>
                          <a:cs typeface="Poppins"/>
                          <a:sym typeface="Poppins"/>
                        </a:rPr>
                        <a:t>99.7%</a:t>
                      </a:r>
                      <a:endParaRPr sz="600" b="1">
                        <a:solidFill>
                          <a:schemeClr val="dk1"/>
                        </a:solidFill>
                        <a:latin typeface="Poppins"/>
                        <a:ea typeface="Poppins"/>
                        <a:cs typeface="Poppins"/>
                        <a:sym typeface="Poppins"/>
                      </a:endParaRPr>
                    </a:p>
                  </a:txBody>
                  <a:tcPr marL="35719" marR="35719" marT="35719" marB="35719"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214313">
                <a:tc>
                  <a:txBody>
                    <a:bodyPr/>
                    <a:lstStyle/>
                    <a:p>
                      <a:pPr marL="0" lvl="0" indent="0" algn="ctr" rtl="0">
                        <a:spcBef>
                          <a:spcPts val="0"/>
                        </a:spcBef>
                        <a:spcAft>
                          <a:spcPts val="0"/>
                        </a:spcAft>
                        <a:buNone/>
                      </a:pPr>
                      <a:r>
                        <a:rPr lang="en" sz="600" b="1">
                          <a:latin typeface="Poppins"/>
                          <a:ea typeface="Poppins"/>
                          <a:cs typeface="Poppins"/>
                          <a:sym typeface="Poppins"/>
                        </a:rPr>
                        <a:t>France</a:t>
                      </a:r>
                      <a:endParaRPr sz="600" b="1">
                        <a:latin typeface="Poppins"/>
                        <a:ea typeface="Poppins"/>
                        <a:cs typeface="Poppins"/>
                        <a:sym typeface="Poppins"/>
                      </a:endParaRPr>
                    </a:p>
                  </a:txBody>
                  <a:tcPr marL="35719" marR="35719" marT="35719" marB="35719"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600">
                          <a:latin typeface="Poppins"/>
                          <a:ea typeface="Poppins"/>
                          <a:cs typeface="Poppins"/>
                          <a:sym typeface="Poppins"/>
                        </a:rPr>
                        <a:t>542</a:t>
                      </a:r>
                      <a:endParaRPr sz="600">
                        <a:latin typeface="Poppins"/>
                        <a:ea typeface="Poppins"/>
                        <a:cs typeface="Poppins"/>
                        <a:sym typeface="Poppins"/>
                      </a:endParaRPr>
                    </a:p>
                  </a:txBody>
                  <a:tcPr marL="35719" marR="35719" marT="35719" marB="35719"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600">
                          <a:latin typeface="Poppins"/>
                          <a:ea typeface="Poppins"/>
                          <a:cs typeface="Poppins"/>
                          <a:sym typeface="Poppins"/>
                        </a:rPr>
                        <a:t>910</a:t>
                      </a:r>
                      <a:endParaRPr sz="600">
                        <a:latin typeface="Poppins"/>
                        <a:ea typeface="Poppins"/>
                        <a:cs typeface="Poppins"/>
                        <a:sym typeface="Poppins"/>
                      </a:endParaRPr>
                    </a:p>
                  </a:txBody>
                  <a:tcPr marL="35719" marR="35719" marT="35719" marB="35719"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600">
                        <a:solidFill>
                          <a:srgbClr val="1155CC"/>
                        </a:solidFill>
                        <a:latin typeface="Poppins"/>
                        <a:ea typeface="Poppins"/>
                        <a:cs typeface="Poppins"/>
                        <a:sym typeface="Poppins"/>
                      </a:endParaRPr>
                    </a:p>
                  </a:txBody>
                  <a:tcPr marL="35719" marR="35719" marT="35719" marB="35719"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214313">
                <a:tc>
                  <a:txBody>
                    <a:bodyPr/>
                    <a:lstStyle/>
                    <a:p>
                      <a:pPr marL="0" lvl="0" indent="0" algn="ctr" rtl="0">
                        <a:spcBef>
                          <a:spcPts val="0"/>
                        </a:spcBef>
                        <a:spcAft>
                          <a:spcPts val="0"/>
                        </a:spcAft>
                        <a:buNone/>
                      </a:pPr>
                      <a:r>
                        <a:rPr lang="en" sz="600" b="1">
                          <a:latin typeface="Poppins"/>
                          <a:ea typeface="Poppins"/>
                          <a:cs typeface="Poppins"/>
                          <a:sym typeface="Poppins"/>
                        </a:rPr>
                        <a:t>Germany</a:t>
                      </a:r>
                      <a:endParaRPr sz="600" b="1">
                        <a:latin typeface="Poppins"/>
                        <a:ea typeface="Poppins"/>
                        <a:cs typeface="Poppins"/>
                        <a:sym typeface="Poppins"/>
                      </a:endParaRPr>
                    </a:p>
                  </a:txBody>
                  <a:tcPr marL="35719" marR="35719" marT="35719" marB="35719"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600">
                          <a:latin typeface="Poppins"/>
                          <a:ea typeface="Poppins"/>
                          <a:cs typeface="Poppins"/>
                          <a:sym typeface="Poppins"/>
                        </a:rPr>
                        <a:t>426</a:t>
                      </a:r>
                      <a:endParaRPr sz="600">
                        <a:latin typeface="Poppins"/>
                        <a:ea typeface="Poppins"/>
                        <a:cs typeface="Poppins"/>
                        <a:sym typeface="Poppins"/>
                      </a:endParaRPr>
                    </a:p>
                  </a:txBody>
                  <a:tcPr marL="35719" marR="35719" marT="35719" marB="35719"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600">
                          <a:latin typeface="Poppins"/>
                          <a:ea typeface="Poppins"/>
                          <a:cs typeface="Poppins"/>
                          <a:sym typeface="Poppins"/>
                        </a:rPr>
                        <a:t>891</a:t>
                      </a:r>
                      <a:endParaRPr sz="600">
                        <a:latin typeface="Poppins"/>
                        <a:ea typeface="Poppins"/>
                        <a:cs typeface="Poppins"/>
                        <a:sym typeface="Poppins"/>
                      </a:endParaRPr>
                    </a:p>
                  </a:txBody>
                  <a:tcPr marL="35719" marR="35719" marT="35719" marB="35719"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600">
                        <a:solidFill>
                          <a:srgbClr val="1155CC"/>
                        </a:solidFill>
                        <a:latin typeface="Poppins"/>
                        <a:ea typeface="Poppins"/>
                        <a:cs typeface="Poppins"/>
                        <a:sym typeface="Poppins"/>
                      </a:endParaRPr>
                    </a:p>
                  </a:txBody>
                  <a:tcPr marL="35719" marR="35719" marT="35719" marB="35719"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214313">
                <a:tc>
                  <a:txBody>
                    <a:bodyPr/>
                    <a:lstStyle/>
                    <a:p>
                      <a:pPr marL="0" lvl="0" indent="0" algn="ctr" rtl="0">
                        <a:spcBef>
                          <a:spcPts val="0"/>
                        </a:spcBef>
                        <a:spcAft>
                          <a:spcPts val="0"/>
                        </a:spcAft>
                        <a:buNone/>
                      </a:pPr>
                      <a:r>
                        <a:rPr lang="en" sz="600" b="1">
                          <a:latin typeface="Poppins"/>
                          <a:ea typeface="Poppins"/>
                          <a:cs typeface="Poppins"/>
                          <a:sym typeface="Poppins"/>
                        </a:rPr>
                        <a:t>Britain</a:t>
                      </a:r>
                      <a:endParaRPr sz="600" b="1">
                        <a:latin typeface="Poppins"/>
                        <a:ea typeface="Poppins"/>
                        <a:cs typeface="Poppins"/>
                        <a:sym typeface="Poppins"/>
                      </a:endParaRPr>
                    </a:p>
                  </a:txBody>
                  <a:tcPr marL="35719" marR="35719" marT="35719" marB="35719"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600">
                          <a:latin typeface="Poppins"/>
                          <a:ea typeface="Poppins"/>
                          <a:cs typeface="Poppins"/>
                          <a:sym typeface="Poppins"/>
                        </a:rPr>
                        <a:t>367</a:t>
                      </a:r>
                      <a:endParaRPr sz="600">
                        <a:latin typeface="Poppins"/>
                        <a:ea typeface="Poppins"/>
                        <a:cs typeface="Poppins"/>
                        <a:sym typeface="Poppins"/>
                      </a:endParaRPr>
                    </a:p>
                  </a:txBody>
                  <a:tcPr marL="35719" marR="35719" marT="35719" marB="35719"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600">
                          <a:latin typeface="Poppins"/>
                          <a:ea typeface="Poppins"/>
                          <a:cs typeface="Poppins"/>
                          <a:sym typeface="Poppins"/>
                        </a:rPr>
                        <a:t>532</a:t>
                      </a:r>
                      <a:endParaRPr sz="600">
                        <a:latin typeface="Poppins"/>
                        <a:ea typeface="Poppins"/>
                        <a:cs typeface="Poppins"/>
                        <a:sym typeface="Poppins"/>
                      </a:endParaRPr>
                    </a:p>
                  </a:txBody>
                  <a:tcPr marL="35719" marR="35719" marT="35719" marB="35719"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600">
                        <a:solidFill>
                          <a:srgbClr val="1155CC"/>
                        </a:solidFill>
                        <a:latin typeface="Poppins"/>
                        <a:ea typeface="Poppins"/>
                        <a:cs typeface="Poppins"/>
                        <a:sym typeface="Poppins"/>
                      </a:endParaRPr>
                    </a:p>
                  </a:txBody>
                  <a:tcPr marL="35719" marR="35719" marT="35719" marB="35719"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214313">
                <a:tc>
                  <a:txBody>
                    <a:bodyPr/>
                    <a:lstStyle/>
                    <a:p>
                      <a:pPr marL="0" lvl="0" indent="0" algn="ctr" rtl="0">
                        <a:spcBef>
                          <a:spcPts val="0"/>
                        </a:spcBef>
                        <a:spcAft>
                          <a:spcPts val="0"/>
                        </a:spcAft>
                        <a:buNone/>
                      </a:pPr>
                      <a:r>
                        <a:rPr lang="en" sz="600" b="1">
                          <a:latin typeface="Poppins"/>
                          <a:ea typeface="Poppins"/>
                          <a:cs typeface="Poppins"/>
                          <a:sym typeface="Poppins"/>
                        </a:rPr>
                        <a:t>Aus-Hung</a:t>
                      </a:r>
                      <a:endParaRPr sz="600" b="1">
                        <a:latin typeface="Poppins"/>
                        <a:ea typeface="Poppins"/>
                        <a:cs typeface="Poppins"/>
                        <a:sym typeface="Poppins"/>
                      </a:endParaRPr>
                    </a:p>
                  </a:txBody>
                  <a:tcPr marL="35719" marR="35719" marT="35719" marB="35719"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600">
                          <a:latin typeface="Poppins"/>
                          <a:ea typeface="Poppins"/>
                          <a:cs typeface="Poppins"/>
                          <a:sym typeface="Poppins"/>
                        </a:rPr>
                        <a:t>246</a:t>
                      </a:r>
                      <a:endParaRPr sz="600">
                        <a:latin typeface="Poppins"/>
                        <a:ea typeface="Poppins"/>
                        <a:cs typeface="Poppins"/>
                        <a:sym typeface="Poppins"/>
                      </a:endParaRPr>
                    </a:p>
                  </a:txBody>
                  <a:tcPr marL="35719" marR="35719" marT="35719" marB="35719"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600">
                          <a:latin typeface="Poppins"/>
                          <a:ea typeface="Poppins"/>
                          <a:cs typeface="Poppins"/>
                          <a:sym typeface="Poppins"/>
                        </a:rPr>
                        <a:t>444</a:t>
                      </a:r>
                      <a:endParaRPr sz="600">
                        <a:latin typeface="Poppins"/>
                        <a:ea typeface="Poppins"/>
                        <a:cs typeface="Poppins"/>
                        <a:sym typeface="Poppins"/>
                      </a:endParaRPr>
                    </a:p>
                  </a:txBody>
                  <a:tcPr marL="35719" marR="35719" marT="35719" marB="35719"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600">
                        <a:solidFill>
                          <a:srgbClr val="1155CC"/>
                        </a:solidFill>
                        <a:latin typeface="Poppins"/>
                        <a:ea typeface="Poppins"/>
                        <a:cs typeface="Poppins"/>
                        <a:sym typeface="Poppins"/>
                      </a:endParaRPr>
                    </a:p>
                  </a:txBody>
                  <a:tcPr marL="35719" marR="35719" marT="35719" marB="35719"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214313">
                <a:tc>
                  <a:txBody>
                    <a:bodyPr/>
                    <a:lstStyle/>
                    <a:p>
                      <a:pPr marL="0" lvl="0" indent="0" algn="ctr" rtl="0">
                        <a:spcBef>
                          <a:spcPts val="0"/>
                        </a:spcBef>
                        <a:spcAft>
                          <a:spcPts val="0"/>
                        </a:spcAft>
                        <a:buNone/>
                      </a:pPr>
                      <a:r>
                        <a:rPr lang="en" sz="600" b="1">
                          <a:latin typeface="Poppins"/>
                          <a:ea typeface="Poppins"/>
                          <a:cs typeface="Poppins"/>
                          <a:sym typeface="Poppins"/>
                        </a:rPr>
                        <a:t>Italy</a:t>
                      </a:r>
                      <a:endParaRPr sz="600" b="1">
                        <a:latin typeface="Poppins"/>
                        <a:ea typeface="Poppins"/>
                        <a:cs typeface="Poppins"/>
                        <a:sym typeface="Poppins"/>
                      </a:endParaRPr>
                    </a:p>
                  </a:txBody>
                  <a:tcPr marL="35719" marR="35719" marT="35719" marB="35719"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600">
                          <a:latin typeface="Poppins"/>
                          <a:ea typeface="Poppins"/>
                          <a:cs typeface="Poppins"/>
                          <a:sym typeface="Poppins"/>
                        </a:rPr>
                        <a:t>216</a:t>
                      </a:r>
                      <a:endParaRPr sz="600">
                        <a:latin typeface="Poppins"/>
                        <a:ea typeface="Poppins"/>
                        <a:cs typeface="Poppins"/>
                        <a:sym typeface="Poppins"/>
                      </a:endParaRPr>
                    </a:p>
                  </a:txBody>
                  <a:tcPr marL="35719" marR="35719" marT="35719" marB="35719"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600">
                          <a:latin typeface="Poppins"/>
                          <a:ea typeface="Poppins"/>
                          <a:cs typeface="Poppins"/>
                          <a:sym typeface="Poppins"/>
                        </a:rPr>
                        <a:t>345</a:t>
                      </a:r>
                      <a:endParaRPr sz="600">
                        <a:latin typeface="Poppins"/>
                        <a:ea typeface="Poppins"/>
                        <a:cs typeface="Poppins"/>
                        <a:sym typeface="Poppins"/>
                      </a:endParaRPr>
                    </a:p>
                  </a:txBody>
                  <a:tcPr marL="35719" marR="35719" marT="35719" marB="35719"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600">
                        <a:solidFill>
                          <a:srgbClr val="1155CC"/>
                        </a:solidFill>
                        <a:latin typeface="Poppins"/>
                        <a:ea typeface="Poppins"/>
                        <a:cs typeface="Poppins"/>
                        <a:sym typeface="Poppins"/>
                      </a:endParaRPr>
                    </a:p>
                  </a:txBody>
                  <a:tcPr marL="35719" marR="35719" marT="35719" marB="35719"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214313">
                <a:tc>
                  <a:txBody>
                    <a:bodyPr/>
                    <a:lstStyle/>
                    <a:p>
                      <a:pPr marL="0" lvl="0" indent="0" algn="ctr" rtl="0">
                        <a:spcBef>
                          <a:spcPts val="0"/>
                        </a:spcBef>
                        <a:spcAft>
                          <a:spcPts val="0"/>
                        </a:spcAft>
                        <a:buNone/>
                      </a:pPr>
                      <a:r>
                        <a:rPr lang="en" sz="600" b="1">
                          <a:latin typeface="Poppins"/>
                          <a:ea typeface="Poppins"/>
                          <a:cs typeface="Poppins"/>
                          <a:sym typeface="Poppins"/>
                        </a:rPr>
                        <a:t>Japan</a:t>
                      </a:r>
                      <a:endParaRPr sz="600" b="1">
                        <a:latin typeface="Poppins"/>
                        <a:ea typeface="Poppins"/>
                        <a:cs typeface="Poppins"/>
                        <a:sym typeface="Poppins"/>
                      </a:endParaRPr>
                    </a:p>
                  </a:txBody>
                  <a:tcPr marL="35719" marR="35719" marT="35719" marB="35719"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600">
                          <a:latin typeface="Poppins"/>
                          <a:ea typeface="Poppins"/>
                          <a:cs typeface="Poppins"/>
                          <a:sym typeface="Poppins"/>
                        </a:rPr>
                        <a:t>71</a:t>
                      </a:r>
                      <a:endParaRPr sz="600">
                        <a:latin typeface="Poppins"/>
                        <a:ea typeface="Poppins"/>
                        <a:cs typeface="Poppins"/>
                        <a:sym typeface="Poppins"/>
                      </a:endParaRPr>
                    </a:p>
                  </a:txBody>
                  <a:tcPr marL="35719" marR="35719" marT="35719" marB="35719"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600">
                          <a:latin typeface="Poppins"/>
                          <a:ea typeface="Poppins"/>
                          <a:cs typeface="Poppins"/>
                          <a:sym typeface="Poppins"/>
                        </a:rPr>
                        <a:t>306</a:t>
                      </a:r>
                      <a:endParaRPr sz="600">
                        <a:latin typeface="Poppins"/>
                        <a:ea typeface="Poppins"/>
                        <a:cs typeface="Poppins"/>
                        <a:sym typeface="Poppins"/>
                      </a:endParaRPr>
                    </a:p>
                  </a:txBody>
                  <a:tcPr marL="35719" marR="35719" marT="35719" marB="35719"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600">
                        <a:solidFill>
                          <a:srgbClr val="1155CC"/>
                        </a:solidFill>
                        <a:latin typeface="Poppins"/>
                        <a:ea typeface="Poppins"/>
                        <a:cs typeface="Poppins"/>
                        <a:sym typeface="Poppins"/>
                      </a:endParaRPr>
                    </a:p>
                  </a:txBody>
                  <a:tcPr marL="35719" marR="35719" marT="35719" marB="35719"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214313">
                <a:tc>
                  <a:txBody>
                    <a:bodyPr/>
                    <a:lstStyle/>
                    <a:p>
                      <a:pPr marL="0" lvl="0" indent="0" algn="ctr" rtl="0">
                        <a:spcBef>
                          <a:spcPts val="0"/>
                        </a:spcBef>
                        <a:spcAft>
                          <a:spcPts val="0"/>
                        </a:spcAft>
                        <a:buNone/>
                      </a:pPr>
                      <a:r>
                        <a:rPr lang="en" sz="600" b="1">
                          <a:latin typeface="Poppins"/>
                          <a:ea typeface="Poppins"/>
                          <a:cs typeface="Poppins"/>
                          <a:sym typeface="Poppins"/>
                        </a:rPr>
                        <a:t>USA</a:t>
                      </a:r>
                      <a:endParaRPr sz="600" b="1">
                        <a:latin typeface="Poppins"/>
                        <a:ea typeface="Poppins"/>
                        <a:cs typeface="Poppins"/>
                        <a:sym typeface="Poppins"/>
                      </a:endParaRPr>
                    </a:p>
                  </a:txBody>
                  <a:tcPr marL="35719" marR="35719" marT="35719" marB="35719"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600">
                          <a:latin typeface="Poppins"/>
                          <a:ea typeface="Poppins"/>
                          <a:cs typeface="Poppins"/>
                          <a:sym typeface="Poppins"/>
                        </a:rPr>
                        <a:t>34</a:t>
                      </a:r>
                      <a:endParaRPr sz="600">
                        <a:latin typeface="Poppins"/>
                        <a:ea typeface="Poppins"/>
                        <a:cs typeface="Poppins"/>
                        <a:sym typeface="Poppins"/>
                      </a:endParaRPr>
                    </a:p>
                  </a:txBody>
                  <a:tcPr marL="35719" marR="35719" marT="35719" marB="35719"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600">
                          <a:latin typeface="Poppins"/>
                          <a:ea typeface="Poppins"/>
                          <a:cs typeface="Poppins"/>
                          <a:sym typeface="Poppins"/>
                        </a:rPr>
                        <a:t>164</a:t>
                      </a:r>
                      <a:endParaRPr sz="600">
                        <a:latin typeface="Poppins"/>
                        <a:ea typeface="Poppins"/>
                        <a:cs typeface="Poppins"/>
                        <a:sym typeface="Poppins"/>
                      </a:endParaRPr>
                    </a:p>
                  </a:txBody>
                  <a:tcPr marL="35719" marR="35719" marT="35719" marB="35719"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600">
                        <a:solidFill>
                          <a:srgbClr val="1155CC"/>
                        </a:solidFill>
                        <a:latin typeface="Poppins"/>
                        <a:ea typeface="Poppins"/>
                        <a:cs typeface="Poppins"/>
                        <a:sym typeface="Poppins"/>
                      </a:endParaRPr>
                    </a:p>
                  </a:txBody>
                  <a:tcPr marL="35719" marR="35719" marT="35719" marB="35719"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
        <p:nvSpPr>
          <p:cNvPr id="84" name="Google Shape;84;p15"/>
          <p:cNvSpPr txBox="1"/>
          <p:nvPr/>
        </p:nvSpPr>
        <p:spPr>
          <a:xfrm>
            <a:off x="4604906" y="2281303"/>
            <a:ext cx="1770356" cy="602072"/>
          </a:xfrm>
          <a:prstGeom prst="rect">
            <a:avLst/>
          </a:prstGeom>
          <a:noFill/>
          <a:ln>
            <a:noFill/>
          </a:ln>
        </p:spPr>
        <p:txBody>
          <a:bodyPr spcFirstLastPara="1" wrap="square" lIns="51427" tIns="51427" rIns="51427" bIns="51427" anchor="t" anchorCtr="0">
            <a:spAutoFit/>
          </a:bodyPr>
          <a:lstStyle/>
          <a:p>
            <a:pPr marL="257175" indent="-164306">
              <a:lnSpc>
                <a:spcPct val="115000"/>
              </a:lnSpc>
              <a:buClr>
                <a:schemeClr val="dk1"/>
              </a:buClr>
              <a:buSzPts val="1000"/>
              <a:buFont typeface="Patrick Hand"/>
              <a:buAutoNum type="arabicPeriod"/>
            </a:pPr>
            <a:r>
              <a:rPr lang="en" sz="563" b="1">
                <a:solidFill>
                  <a:schemeClr val="dk1"/>
                </a:solidFill>
                <a:latin typeface="Patrick Hand"/>
                <a:ea typeface="Patrick Hand"/>
                <a:cs typeface="Patrick Hand"/>
                <a:sym typeface="Patrick Hand"/>
              </a:rPr>
              <a:t>% Change = (1914 number - 1890 number)  / 1890 number  x 100</a:t>
            </a:r>
            <a:endParaRPr sz="563" b="1">
              <a:solidFill>
                <a:schemeClr val="dk1"/>
              </a:solidFill>
              <a:latin typeface="Patrick Hand"/>
              <a:ea typeface="Patrick Hand"/>
              <a:cs typeface="Patrick Hand"/>
              <a:sym typeface="Patrick Hand"/>
            </a:endParaRPr>
          </a:p>
          <a:p>
            <a:pPr marL="257175" indent="-164306">
              <a:lnSpc>
                <a:spcPct val="115000"/>
              </a:lnSpc>
              <a:buClr>
                <a:schemeClr val="dk1"/>
              </a:buClr>
              <a:buSzPts val="1000"/>
              <a:buFont typeface="Patrick Hand"/>
              <a:buAutoNum type="arabicPeriod"/>
            </a:pPr>
            <a:r>
              <a:rPr lang="en" sz="563" b="1">
                <a:solidFill>
                  <a:schemeClr val="dk1"/>
                </a:solidFill>
                <a:latin typeface="Patrick Hand"/>
                <a:ea typeface="Patrick Hand"/>
                <a:cs typeface="Patrick Hand"/>
                <a:sym typeface="Patrick Hand"/>
              </a:rPr>
              <a:t>Change = 1352 - 677 = 675</a:t>
            </a:r>
            <a:endParaRPr sz="563" b="1">
              <a:solidFill>
                <a:schemeClr val="dk1"/>
              </a:solidFill>
              <a:latin typeface="Patrick Hand"/>
              <a:ea typeface="Patrick Hand"/>
              <a:cs typeface="Patrick Hand"/>
              <a:sym typeface="Patrick Hand"/>
            </a:endParaRPr>
          </a:p>
          <a:p>
            <a:pPr marL="257175" indent="-164306">
              <a:lnSpc>
                <a:spcPct val="115000"/>
              </a:lnSpc>
              <a:buClr>
                <a:schemeClr val="dk1"/>
              </a:buClr>
              <a:buSzPts val="1000"/>
              <a:buFont typeface="Patrick Hand"/>
              <a:buAutoNum type="arabicPeriod"/>
            </a:pPr>
            <a:r>
              <a:rPr lang="en" sz="563" b="1">
                <a:solidFill>
                  <a:schemeClr val="dk1"/>
                </a:solidFill>
                <a:latin typeface="Patrick Hand"/>
                <a:ea typeface="Patrick Hand"/>
                <a:cs typeface="Patrick Hand"/>
                <a:sym typeface="Patrick Hand"/>
              </a:rPr>
              <a:t>Original starting number = 677           </a:t>
            </a:r>
            <a:endParaRPr sz="563" b="1">
              <a:solidFill>
                <a:schemeClr val="dk1"/>
              </a:solidFill>
              <a:latin typeface="Patrick Hand"/>
              <a:ea typeface="Patrick Hand"/>
              <a:cs typeface="Patrick Hand"/>
              <a:sym typeface="Patrick Hand"/>
            </a:endParaRPr>
          </a:p>
          <a:p>
            <a:pPr marL="257175" indent="-164306">
              <a:lnSpc>
                <a:spcPct val="115000"/>
              </a:lnSpc>
              <a:buClr>
                <a:schemeClr val="dk1"/>
              </a:buClr>
              <a:buSzPts val="1000"/>
              <a:buFont typeface="Patrick Hand"/>
              <a:buAutoNum type="arabicPeriod"/>
            </a:pPr>
            <a:r>
              <a:rPr lang="en" sz="563" b="1">
                <a:solidFill>
                  <a:schemeClr val="dk1"/>
                </a:solidFill>
                <a:latin typeface="Patrick Hand"/>
                <a:ea typeface="Patrick Hand"/>
                <a:cs typeface="Patrick Hand"/>
                <a:sym typeface="Patrick Hand"/>
              </a:rPr>
              <a:t>(675 / 677) x 100 = 0.997 x 100 = 99.7% (Round Up!)</a:t>
            </a:r>
            <a:endParaRPr sz="731" b="1">
              <a:solidFill>
                <a:schemeClr val="dk1"/>
              </a:solidFill>
              <a:latin typeface="Patrick Hand"/>
              <a:ea typeface="Patrick Hand"/>
              <a:cs typeface="Patrick Hand"/>
              <a:sym typeface="Patrick Hand"/>
            </a:endParaRPr>
          </a:p>
        </p:txBody>
      </p:sp>
      <p:sp>
        <p:nvSpPr>
          <p:cNvPr id="85" name="Google Shape;85;p15"/>
          <p:cNvSpPr txBox="1"/>
          <p:nvPr/>
        </p:nvSpPr>
        <p:spPr>
          <a:xfrm>
            <a:off x="4636336" y="2911500"/>
            <a:ext cx="1738969" cy="770006"/>
          </a:xfrm>
          <a:prstGeom prst="rect">
            <a:avLst/>
          </a:prstGeom>
          <a:noFill/>
          <a:ln w="9525" cap="flat" cmpd="sng">
            <a:solidFill>
              <a:schemeClr val="dk1"/>
            </a:solidFill>
            <a:prstDash val="solid"/>
            <a:round/>
            <a:headEnd type="none" w="sm" len="sm"/>
            <a:tailEnd type="none" w="sm" len="sm"/>
          </a:ln>
        </p:spPr>
        <p:txBody>
          <a:bodyPr spcFirstLastPara="1" wrap="square" lIns="51427" tIns="51427" rIns="51427" bIns="51427" anchor="t" anchorCtr="0">
            <a:noAutofit/>
          </a:bodyPr>
          <a:lstStyle/>
          <a:p>
            <a:pPr>
              <a:lnSpc>
                <a:spcPct val="115000"/>
              </a:lnSpc>
            </a:pPr>
            <a:r>
              <a:rPr lang="en" sz="563" b="1">
                <a:solidFill>
                  <a:schemeClr val="dk2"/>
                </a:solidFill>
                <a:latin typeface="Poppins"/>
                <a:ea typeface="Poppins"/>
                <a:cs typeface="Poppins"/>
                <a:sym typeface="Poppins"/>
              </a:rPr>
              <a:t>Germany, France, and Russia show bigger percentage increases because </a:t>
            </a:r>
            <a:r>
              <a:rPr lang="en" sz="563">
                <a:solidFill>
                  <a:schemeClr val="dk2"/>
                </a:solidFill>
                <a:latin typeface="Poppins"/>
                <a:ea typeface="Poppins"/>
                <a:cs typeface="Poppins"/>
                <a:sym typeface="Poppins"/>
              </a:rPr>
              <a:t>_________</a:t>
            </a:r>
            <a:endParaRPr sz="563">
              <a:solidFill>
                <a:schemeClr val="dk2"/>
              </a:solidFill>
              <a:latin typeface="Poppins"/>
              <a:ea typeface="Poppins"/>
              <a:cs typeface="Poppins"/>
              <a:sym typeface="Poppins"/>
            </a:endParaRPr>
          </a:p>
          <a:p>
            <a:pPr>
              <a:lnSpc>
                <a:spcPct val="115000"/>
              </a:lnSpc>
            </a:pPr>
            <a:r>
              <a:rPr lang="en" sz="563">
                <a:solidFill>
                  <a:schemeClr val="dk2"/>
                </a:solidFill>
                <a:latin typeface="Poppins"/>
                <a:ea typeface="Poppins"/>
                <a:cs typeface="Poppins"/>
                <a:sym typeface="Poppins"/>
              </a:rPr>
              <a:t>___________________________________________________________________________________________________________________________________________________________</a:t>
            </a:r>
            <a:endParaRPr sz="563">
              <a:solidFill>
                <a:schemeClr val="dk2"/>
              </a:solidFill>
              <a:latin typeface="Poppins"/>
              <a:ea typeface="Poppins"/>
              <a:cs typeface="Poppins"/>
              <a:sym typeface="Poppins"/>
            </a:endParaRPr>
          </a:p>
        </p:txBody>
      </p:sp>
      <p:sp>
        <p:nvSpPr>
          <p:cNvPr id="86" name="Google Shape;86;p15"/>
          <p:cNvSpPr txBox="1"/>
          <p:nvPr/>
        </p:nvSpPr>
        <p:spPr>
          <a:xfrm>
            <a:off x="4636336" y="3722934"/>
            <a:ext cx="1738969" cy="601425"/>
          </a:xfrm>
          <a:prstGeom prst="rect">
            <a:avLst/>
          </a:prstGeom>
          <a:noFill/>
          <a:ln w="9525" cap="flat" cmpd="sng">
            <a:solidFill>
              <a:schemeClr val="dk1"/>
            </a:solidFill>
            <a:prstDash val="solid"/>
            <a:round/>
            <a:headEnd type="none" w="sm" len="sm"/>
            <a:tailEnd type="none" w="sm" len="sm"/>
          </a:ln>
        </p:spPr>
        <p:txBody>
          <a:bodyPr spcFirstLastPara="1" wrap="square" lIns="51427" tIns="51427" rIns="51427" bIns="51427" anchor="t" anchorCtr="0">
            <a:noAutofit/>
          </a:bodyPr>
          <a:lstStyle/>
          <a:p>
            <a:pPr>
              <a:lnSpc>
                <a:spcPct val="115000"/>
              </a:lnSpc>
            </a:pPr>
            <a:r>
              <a:rPr lang="en" sz="563" b="1">
                <a:solidFill>
                  <a:schemeClr val="dk2"/>
                </a:solidFill>
                <a:latin typeface="Poppins"/>
                <a:ea typeface="Poppins"/>
                <a:cs typeface="Poppins"/>
                <a:sym typeface="Poppins"/>
              </a:rPr>
              <a:t>Percentage change helps us understand the data because </a:t>
            </a:r>
            <a:r>
              <a:rPr lang="en" sz="563">
                <a:solidFill>
                  <a:schemeClr val="dk2"/>
                </a:solidFill>
                <a:latin typeface="Poppins"/>
                <a:ea typeface="Poppins"/>
                <a:cs typeface="Poppins"/>
                <a:sym typeface="Poppins"/>
              </a:rPr>
              <a:t>_____________________</a:t>
            </a:r>
            <a:endParaRPr sz="563">
              <a:solidFill>
                <a:schemeClr val="dk2"/>
              </a:solidFill>
              <a:latin typeface="Poppins"/>
              <a:ea typeface="Poppins"/>
              <a:cs typeface="Poppins"/>
              <a:sym typeface="Poppins"/>
            </a:endParaRPr>
          </a:p>
          <a:p>
            <a:pPr>
              <a:lnSpc>
                <a:spcPct val="115000"/>
              </a:lnSpc>
            </a:pPr>
            <a:r>
              <a:rPr lang="en" sz="563">
                <a:solidFill>
                  <a:schemeClr val="dk2"/>
                </a:solidFill>
                <a:latin typeface="Poppins"/>
                <a:ea typeface="Poppins"/>
                <a:cs typeface="Poppins"/>
                <a:sym typeface="Poppins"/>
              </a:rPr>
              <a:t>_____________________________________________________________________________________________</a:t>
            </a:r>
            <a:endParaRPr sz="563">
              <a:solidFill>
                <a:schemeClr val="dk2"/>
              </a:solidFill>
              <a:latin typeface="Poppins"/>
              <a:ea typeface="Poppins"/>
              <a:cs typeface="Poppins"/>
              <a:sym typeface="Poppins"/>
            </a:endParaRPr>
          </a:p>
        </p:txBody>
      </p:sp>
      <p:sp>
        <p:nvSpPr>
          <p:cNvPr id="87" name="Google Shape;87;p15"/>
          <p:cNvSpPr txBox="1"/>
          <p:nvPr/>
        </p:nvSpPr>
        <p:spPr>
          <a:xfrm>
            <a:off x="3038780" y="4365788"/>
            <a:ext cx="3336525" cy="601425"/>
          </a:xfrm>
          <a:prstGeom prst="rect">
            <a:avLst/>
          </a:prstGeom>
          <a:noFill/>
          <a:ln w="9525" cap="flat" cmpd="sng">
            <a:solidFill>
              <a:schemeClr val="dk1"/>
            </a:solidFill>
            <a:prstDash val="solid"/>
            <a:round/>
            <a:headEnd type="none" w="sm" len="sm"/>
            <a:tailEnd type="none" w="sm" len="sm"/>
          </a:ln>
        </p:spPr>
        <p:txBody>
          <a:bodyPr spcFirstLastPara="1" wrap="square" lIns="51427" tIns="51427" rIns="51427" bIns="51427" anchor="t" anchorCtr="0">
            <a:noAutofit/>
          </a:bodyPr>
          <a:lstStyle/>
          <a:p>
            <a:pPr>
              <a:lnSpc>
                <a:spcPct val="115000"/>
              </a:lnSpc>
            </a:pPr>
            <a:r>
              <a:rPr lang="en" sz="563" b="1">
                <a:solidFill>
                  <a:schemeClr val="dk2"/>
                </a:solidFill>
                <a:latin typeface="Poppins"/>
                <a:ea typeface="Poppins"/>
                <a:cs typeface="Poppins"/>
                <a:sym typeface="Poppins"/>
              </a:rPr>
              <a:t>The arms race made tensions in Europe worse before WWI because  </a:t>
            </a:r>
            <a:r>
              <a:rPr lang="en" sz="563">
                <a:solidFill>
                  <a:schemeClr val="dk2"/>
                </a:solidFill>
                <a:latin typeface="Poppins"/>
                <a:ea typeface="Poppins"/>
                <a:cs typeface="Poppins"/>
                <a:sym typeface="Poppins"/>
              </a:rPr>
              <a:t>______________</a:t>
            </a:r>
            <a:endParaRPr sz="563">
              <a:solidFill>
                <a:schemeClr val="dk2"/>
              </a:solidFill>
              <a:latin typeface="Poppins"/>
              <a:ea typeface="Poppins"/>
              <a:cs typeface="Poppins"/>
              <a:sym typeface="Poppins"/>
            </a:endParaRPr>
          </a:p>
          <a:p>
            <a:pPr>
              <a:lnSpc>
                <a:spcPct val="115000"/>
              </a:lnSpc>
            </a:pPr>
            <a:r>
              <a:rPr lang="en" sz="563">
                <a:solidFill>
                  <a:schemeClr val="dk2"/>
                </a:solidFill>
                <a:latin typeface="Poppins"/>
                <a:ea typeface="Poppins"/>
                <a:cs typeface="Poppins"/>
                <a:sym typeface="Poppins"/>
              </a:rPr>
              <a:t>____________________________________________________________________________________________________________________________________________________________________________________________________________________________________________________</a:t>
            </a:r>
            <a:endParaRPr sz="563">
              <a:solidFill>
                <a:schemeClr val="dk2"/>
              </a:solidFill>
              <a:latin typeface="Poppins"/>
              <a:ea typeface="Poppins"/>
              <a:cs typeface="Poppins"/>
              <a:sym typeface="Poppins"/>
            </a:endParaRPr>
          </a:p>
        </p:txBody>
      </p:sp>
      <p:pic>
        <p:nvPicPr>
          <p:cNvPr id="88" name="Google Shape;88;p15" descr="Evans Hall, Cal Football Stats &amp; Analysis: Introducing the Nando's Heat  Scale"/>
          <p:cNvPicPr preferRelativeResize="0"/>
          <p:nvPr/>
        </p:nvPicPr>
        <p:blipFill rotWithShape="1">
          <a:blip r:embed="rId5">
            <a:alphaModFix/>
          </a:blip>
          <a:srcRect l="17922" t="12815" r="15103" b="12110"/>
          <a:stretch/>
        </p:blipFill>
        <p:spPr>
          <a:xfrm>
            <a:off x="2728983" y="4485706"/>
            <a:ext cx="287311" cy="36158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5"/>
          <p:cNvSpPr txBox="1"/>
          <p:nvPr/>
        </p:nvSpPr>
        <p:spPr>
          <a:xfrm>
            <a:off x="100800" y="582500"/>
            <a:ext cx="5412600" cy="571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1" u="sng">
                <a:solidFill>
                  <a:schemeClr val="dk1"/>
                </a:solidFill>
                <a:latin typeface="Patrick Hand"/>
                <a:ea typeface="Patrick Hand"/>
                <a:cs typeface="Patrick Hand"/>
                <a:sym typeface="Patrick Hand"/>
              </a:rPr>
              <a:t>Germany’s Militarism and Preventative War</a:t>
            </a:r>
            <a:endParaRPr sz="2400" b="1" u="sng">
              <a:solidFill>
                <a:schemeClr val="dk1"/>
              </a:solidFill>
              <a:latin typeface="Patrick Hand"/>
              <a:ea typeface="Patrick Hand"/>
              <a:cs typeface="Patrick Hand"/>
              <a:sym typeface="Patrick Hand"/>
            </a:endParaRPr>
          </a:p>
        </p:txBody>
      </p:sp>
      <p:sp>
        <p:nvSpPr>
          <p:cNvPr id="168" name="Google Shape;168;p25"/>
          <p:cNvSpPr txBox="1"/>
          <p:nvPr/>
        </p:nvSpPr>
        <p:spPr>
          <a:xfrm>
            <a:off x="132600" y="1154000"/>
            <a:ext cx="8878800" cy="3632700"/>
          </a:xfrm>
          <a:prstGeom prst="rect">
            <a:avLst/>
          </a:prstGeom>
          <a:noFill/>
          <a:ln>
            <a:noFill/>
          </a:ln>
        </p:spPr>
        <p:txBody>
          <a:bodyPr spcFirstLastPara="1" wrap="square" lIns="91425" tIns="91425" rIns="91425" bIns="91425" anchor="t" anchorCtr="0">
            <a:spAutoFit/>
          </a:bodyPr>
          <a:lstStyle/>
          <a:p>
            <a:pPr marL="457200" lvl="0" indent="-330200" algn="l" rtl="0">
              <a:spcBef>
                <a:spcPts val="0"/>
              </a:spcBef>
              <a:spcAft>
                <a:spcPts val="0"/>
              </a:spcAft>
              <a:buSzPts val="1600"/>
              <a:buFont typeface="Poppins"/>
              <a:buAutoNum type="arabicPeriod"/>
            </a:pPr>
            <a:r>
              <a:rPr lang="en" sz="1600" b="1">
                <a:latin typeface="Poppins"/>
                <a:ea typeface="Poppins"/>
                <a:cs typeface="Poppins"/>
                <a:sym typeface="Poppins"/>
              </a:rPr>
              <a:t>In 1914, Germany planned a preventive war, which meant… </a:t>
            </a:r>
            <a:r>
              <a:rPr lang="en" sz="1600" b="1">
                <a:solidFill>
                  <a:srgbClr val="38761D"/>
                </a:solidFill>
                <a:latin typeface="Poppins"/>
                <a:ea typeface="Poppins"/>
                <a:cs typeface="Poppins"/>
                <a:sym typeface="Poppins"/>
              </a:rPr>
              <a:t>attacking first to stop other countries from attacking them.</a:t>
            </a:r>
            <a:endParaRPr sz="1600" b="1">
              <a:solidFill>
                <a:srgbClr val="38761D"/>
              </a:solidFill>
              <a:latin typeface="Poppins"/>
              <a:ea typeface="Poppins"/>
              <a:cs typeface="Poppins"/>
              <a:sym typeface="Poppins"/>
            </a:endParaRPr>
          </a:p>
          <a:p>
            <a:pPr marL="457200" lvl="0" indent="0" algn="l" rtl="0">
              <a:spcBef>
                <a:spcPts val="0"/>
              </a:spcBef>
              <a:spcAft>
                <a:spcPts val="0"/>
              </a:spcAft>
              <a:buNone/>
            </a:pPr>
            <a:endParaRPr sz="1600" b="1">
              <a:latin typeface="Poppins"/>
              <a:ea typeface="Poppins"/>
              <a:cs typeface="Poppins"/>
              <a:sym typeface="Poppins"/>
            </a:endParaRPr>
          </a:p>
          <a:p>
            <a:pPr marL="457200" lvl="0" indent="-330200" algn="l" rtl="0">
              <a:spcBef>
                <a:spcPts val="0"/>
              </a:spcBef>
              <a:spcAft>
                <a:spcPts val="0"/>
              </a:spcAft>
              <a:buSzPts val="1600"/>
              <a:buFont typeface="Poppins"/>
              <a:buAutoNum type="arabicPeriod"/>
            </a:pPr>
            <a:r>
              <a:rPr lang="en" sz="1600" b="1">
                <a:latin typeface="Poppins"/>
                <a:ea typeface="Poppins"/>
                <a:cs typeface="Poppins"/>
                <a:sym typeface="Poppins"/>
              </a:rPr>
              <a:t>Germany feared being surrounded by France and Russia because… </a:t>
            </a:r>
            <a:r>
              <a:rPr lang="en" sz="1600" b="1">
                <a:solidFill>
                  <a:srgbClr val="38761D"/>
                </a:solidFill>
                <a:latin typeface="Poppins"/>
                <a:ea typeface="Poppins"/>
                <a:cs typeface="Poppins"/>
                <a:sym typeface="Poppins"/>
              </a:rPr>
              <a:t>Russia was modernising its army with France’s support, making both neighbours strong.</a:t>
            </a:r>
            <a:endParaRPr sz="1600" b="1">
              <a:solidFill>
                <a:srgbClr val="38761D"/>
              </a:solidFill>
              <a:latin typeface="Poppins"/>
              <a:ea typeface="Poppins"/>
              <a:cs typeface="Poppins"/>
              <a:sym typeface="Poppins"/>
            </a:endParaRPr>
          </a:p>
          <a:p>
            <a:pPr marL="457200" lvl="0" indent="0" algn="l" rtl="0">
              <a:spcBef>
                <a:spcPts val="0"/>
              </a:spcBef>
              <a:spcAft>
                <a:spcPts val="0"/>
              </a:spcAft>
              <a:buNone/>
            </a:pPr>
            <a:endParaRPr sz="1600" b="1">
              <a:latin typeface="Poppins"/>
              <a:ea typeface="Poppins"/>
              <a:cs typeface="Poppins"/>
              <a:sym typeface="Poppins"/>
            </a:endParaRPr>
          </a:p>
          <a:p>
            <a:pPr marL="457200" lvl="0" indent="-330200" algn="l" rtl="0">
              <a:spcBef>
                <a:spcPts val="0"/>
              </a:spcBef>
              <a:spcAft>
                <a:spcPts val="0"/>
              </a:spcAft>
              <a:buSzPts val="1600"/>
              <a:buFont typeface="Poppins"/>
              <a:buAutoNum type="arabicPeriod"/>
            </a:pPr>
            <a:r>
              <a:rPr lang="en" sz="1600" b="1">
                <a:latin typeface="Poppins"/>
                <a:ea typeface="Poppins"/>
                <a:cs typeface="Poppins"/>
                <a:sym typeface="Poppins"/>
              </a:rPr>
              <a:t>The Zabern affair in 1913 showed that… </a:t>
            </a:r>
            <a:r>
              <a:rPr lang="en" sz="1600" b="1">
                <a:solidFill>
                  <a:srgbClr val="38761D"/>
                </a:solidFill>
                <a:latin typeface="Poppins"/>
                <a:ea typeface="Poppins"/>
                <a:cs typeface="Poppins"/>
                <a:sym typeface="Poppins"/>
              </a:rPr>
              <a:t>the German army had too much power and could act without punishment, even when breaking the law.</a:t>
            </a:r>
            <a:endParaRPr sz="1600" b="1">
              <a:solidFill>
                <a:srgbClr val="38761D"/>
              </a:solidFill>
              <a:latin typeface="Poppins"/>
              <a:ea typeface="Poppins"/>
              <a:cs typeface="Poppins"/>
              <a:sym typeface="Poppins"/>
            </a:endParaRPr>
          </a:p>
          <a:p>
            <a:pPr marL="457200" lvl="0" indent="0" algn="l" rtl="0">
              <a:spcBef>
                <a:spcPts val="0"/>
              </a:spcBef>
              <a:spcAft>
                <a:spcPts val="0"/>
              </a:spcAft>
              <a:buNone/>
            </a:pPr>
            <a:endParaRPr sz="1600" b="1">
              <a:latin typeface="Poppins"/>
              <a:ea typeface="Poppins"/>
              <a:cs typeface="Poppins"/>
              <a:sym typeface="Poppins"/>
            </a:endParaRPr>
          </a:p>
          <a:p>
            <a:pPr marL="457200" lvl="0" indent="-330200" algn="l" rtl="0">
              <a:spcBef>
                <a:spcPts val="0"/>
              </a:spcBef>
              <a:spcAft>
                <a:spcPts val="0"/>
              </a:spcAft>
              <a:buSzPts val="1600"/>
              <a:buFont typeface="Poppins"/>
              <a:buAutoNum type="arabicPeriod"/>
            </a:pPr>
            <a:r>
              <a:rPr lang="en" sz="1600" b="1">
                <a:latin typeface="Poppins"/>
                <a:ea typeface="Poppins"/>
                <a:cs typeface="Poppins"/>
                <a:sym typeface="Poppins"/>
              </a:rPr>
              <a:t>Unlike France and Britain, Germany’s military was… </a:t>
            </a:r>
            <a:r>
              <a:rPr lang="en" sz="1600" b="1">
                <a:solidFill>
                  <a:srgbClr val="38761D"/>
                </a:solidFill>
                <a:latin typeface="Poppins"/>
                <a:ea typeface="Poppins"/>
                <a:cs typeface="Poppins"/>
                <a:sym typeface="Poppins"/>
              </a:rPr>
              <a:t>allowed to act on its own, without being fully controlled by the government.</a:t>
            </a:r>
            <a:endParaRPr sz="1600" b="1">
              <a:solidFill>
                <a:srgbClr val="38761D"/>
              </a:solidFill>
              <a:latin typeface="Poppins"/>
              <a:ea typeface="Poppins"/>
              <a:cs typeface="Poppins"/>
              <a:sym typeface="Poppins"/>
            </a:endParaRPr>
          </a:p>
          <a:p>
            <a:pPr marL="457200" lvl="0" indent="0" algn="l" rtl="0">
              <a:spcBef>
                <a:spcPts val="0"/>
              </a:spcBef>
              <a:spcAft>
                <a:spcPts val="0"/>
              </a:spcAft>
              <a:buNone/>
            </a:pPr>
            <a:endParaRPr sz="1600" b="1">
              <a:latin typeface="Poppins"/>
              <a:ea typeface="Poppins"/>
              <a:cs typeface="Poppins"/>
              <a:sym typeface="Poppins"/>
            </a:endParaRPr>
          </a:p>
          <a:p>
            <a:pPr marL="457200" lvl="0" indent="-330200" algn="l" rtl="0">
              <a:spcBef>
                <a:spcPts val="0"/>
              </a:spcBef>
              <a:spcAft>
                <a:spcPts val="0"/>
              </a:spcAft>
              <a:buSzPts val="1600"/>
              <a:buFont typeface="Poppins"/>
              <a:buAutoNum type="arabicPeriod"/>
            </a:pPr>
            <a:r>
              <a:rPr lang="en" sz="1600" b="1">
                <a:latin typeface="Poppins"/>
                <a:ea typeface="Poppins"/>
                <a:cs typeface="Poppins"/>
                <a:sym typeface="Poppins"/>
              </a:rPr>
              <a:t>Kaiser Wilhelm II’s impulsive and undiplomatic behaviour meant that… </a:t>
            </a:r>
            <a:r>
              <a:rPr lang="en" sz="1600" b="1">
                <a:solidFill>
                  <a:srgbClr val="38761D"/>
                </a:solidFill>
                <a:latin typeface="Poppins"/>
                <a:ea typeface="Poppins"/>
                <a:cs typeface="Poppins"/>
                <a:sym typeface="Poppins"/>
              </a:rPr>
              <a:t>other countries distrusted Germany, which increased the chances of war.</a:t>
            </a:r>
            <a:endParaRPr sz="1600" b="1">
              <a:solidFill>
                <a:srgbClr val="38761D"/>
              </a:solidFill>
              <a:latin typeface="Poppins"/>
              <a:ea typeface="Poppins"/>
              <a:cs typeface="Poppins"/>
              <a:sym typeface="Poppins"/>
            </a:endParaRPr>
          </a:p>
        </p:txBody>
      </p:sp>
      <p:sp>
        <p:nvSpPr>
          <p:cNvPr id="169" name="Google Shape;169;p25"/>
          <p:cNvSpPr txBox="1"/>
          <p:nvPr/>
        </p:nvSpPr>
        <p:spPr>
          <a:xfrm>
            <a:off x="104400" y="77000"/>
            <a:ext cx="8919300" cy="50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Title: Militarism and the Arms Race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LO: How did militarism and the arms race increase tensions in Europe before 1914?</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endParaRPr sz="1200" b="1">
              <a:solidFill>
                <a:srgbClr val="980000"/>
              </a:solidFill>
              <a:latin typeface="Delius"/>
              <a:ea typeface="Delius"/>
              <a:cs typeface="Delius"/>
              <a:sym typeface="Delius"/>
            </a:endParaRPr>
          </a:p>
        </p:txBody>
      </p:sp>
      <p:pic>
        <p:nvPicPr>
          <p:cNvPr id="170" name="Google Shape;170;p25"/>
          <p:cNvPicPr preferRelativeResize="0"/>
          <p:nvPr/>
        </p:nvPicPr>
        <p:blipFill>
          <a:blip r:embed="rId3">
            <a:alphaModFix/>
          </a:blip>
          <a:stretch>
            <a:fillRect/>
          </a:stretch>
        </p:blipFill>
        <p:spPr>
          <a:xfrm>
            <a:off x="7408211" y="77000"/>
            <a:ext cx="1615488" cy="10770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6"/>
          <p:cNvSpPr txBox="1"/>
          <p:nvPr/>
        </p:nvSpPr>
        <p:spPr>
          <a:xfrm>
            <a:off x="100800" y="582500"/>
            <a:ext cx="5412600" cy="571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1" u="sng">
                <a:solidFill>
                  <a:schemeClr val="dk1"/>
                </a:solidFill>
                <a:latin typeface="Patrick Hand"/>
                <a:ea typeface="Patrick Hand"/>
                <a:cs typeface="Patrick Hand"/>
                <a:sym typeface="Patrick Hand"/>
              </a:rPr>
              <a:t>Germany’s Militarism and Preventative War</a:t>
            </a:r>
            <a:endParaRPr sz="2400" b="1" u="sng">
              <a:solidFill>
                <a:schemeClr val="dk1"/>
              </a:solidFill>
              <a:latin typeface="Patrick Hand"/>
              <a:ea typeface="Patrick Hand"/>
              <a:cs typeface="Patrick Hand"/>
              <a:sym typeface="Patrick Hand"/>
            </a:endParaRPr>
          </a:p>
        </p:txBody>
      </p:sp>
      <p:graphicFrame>
        <p:nvGraphicFramePr>
          <p:cNvPr id="176" name="Google Shape;176;p26"/>
          <p:cNvGraphicFramePr/>
          <p:nvPr/>
        </p:nvGraphicFramePr>
        <p:xfrm>
          <a:off x="100800" y="1154000"/>
          <a:ext cx="3291600" cy="3632200"/>
        </p:xfrm>
        <a:graphic>
          <a:graphicData uri="http://schemas.openxmlformats.org/drawingml/2006/table">
            <a:tbl>
              <a:tblPr>
                <a:noFill/>
                <a:tableStyleId>{FA634A70-2CFB-42BB-8579-4DAF9E0485C4}</a:tableStyleId>
              </a:tblPr>
              <a:tblGrid>
                <a:gridCol w="822900">
                  <a:extLst>
                    <a:ext uri="{9D8B030D-6E8A-4147-A177-3AD203B41FA5}">
                      <a16:colId xmlns:a16="http://schemas.microsoft.com/office/drawing/2014/main" val="20000"/>
                    </a:ext>
                  </a:extLst>
                </a:gridCol>
                <a:gridCol w="822900">
                  <a:extLst>
                    <a:ext uri="{9D8B030D-6E8A-4147-A177-3AD203B41FA5}">
                      <a16:colId xmlns:a16="http://schemas.microsoft.com/office/drawing/2014/main" val="20001"/>
                    </a:ext>
                  </a:extLst>
                </a:gridCol>
                <a:gridCol w="822900">
                  <a:extLst>
                    <a:ext uri="{9D8B030D-6E8A-4147-A177-3AD203B41FA5}">
                      <a16:colId xmlns:a16="http://schemas.microsoft.com/office/drawing/2014/main" val="20002"/>
                    </a:ext>
                  </a:extLst>
                </a:gridCol>
                <a:gridCol w="822900">
                  <a:extLst>
                    <a:ext uri="{9D8B030D-6E8A-4147-A177-3AD203B41FA5}">
                      <a16:colId xmlns:a16="http://schemas.microsoft.com/office/drawing/2014/main" val="20003"/>
                    </a:ext>
                  </a:extLst>
                </a:gridCol>
              </a:tblGrid>
              <a:tr h="381000">
                <a:tc>
                  <a:txBody>
                    <a:bodyPr/>
                    <a:lstStyle/>
                    <a:p>
                      <a:pPr marL="0" lvl="0" indent="0" algn="ctr" rtl="0">
                        <a:spcBef>
                          <a:spcPts val="0"/>
                        </a:spcBef>
                        <a:spcAft>
                          <a:spcPts val="0"/>
                        </a:spcAft>
                        <a:buNone/>
                      </a:pPr>
                      <a:r>
                        <a:rPr lang="en" sz="1000" b="1">
                          <a:latin typeface="Poppins"/>
                          <a:ea typeface="Poppins"/>
                          <a:cs typeface="Poppins"/>
                          <a:sym typeface="Poppins"/>
                        </a:rPr>
                        <a:t>Country</a:t>
                      </a:r>
                      <a:endParaRPr sz="1000" b="1">
                        <a:latin typeface="Poppins"/>
                        <a:ea typeface="Poppins"/>
                        <a:cs typeface="Poppins"/>
                        <a:sym typeface="Poppins"/>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b="1">
                          <a:latin typeface="Poppins"/>
                          <a:ea typeface="Poppins"/>
                          <a:cs typeface="Poppins"/>
                          <a:sym typeface="Poppins"/>
                        </a:rPr>
                        <a:t>1890</a:t>
                      </a:r>
                      <a:endParaRPr sz="1000" b="1">
                        <a:latin typeface="Poppins"/>
                        <a:ea typeface="Poppins"/>
                        <a:cs typeface="Poppins"/>
                        <a:sym typeface="Poppins"/>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b="1">
                          <a:latin typeface="Poppins"/>
                          <a:ea typeface="Poppins"/>
                          <a:cs typeface="Poppins"/>
                          <a:sym typeface="Poppins"/>
                        </a:rPr>
                        <a:t>1914</a:t>
                      </a:r>
                      <a:endParaRPr sz="1000" b="1">
                        <a:latin typeface="Poppins"/>
                        <a:ea typeface="Poppins"/>
                        <a:cs typeface="Poppins"/>
                        <a:sym typeface="Poppins"/>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b="1">
                          <a:latin typeface="Poppins"/>
                          <a:ea typeface="Poppins"/>
                          <a:cs typeface="Poppins"/>
                          <a:sym typeface="Poppins"/>
                        </a:rPr>
                        <a:t>% increase 1890 - 1914</a:t>
                      </a:r>
                      <a:endParaRPr sz="1000" b="1">
                        <a:latin typeface="Poppins"/>
                        <a:ea typeface="Poppins"/>
                        <a:cs typeface="Poppins"/>
                        <a:sym typeface="Poppins"/>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r>
                        <a:rPr lang="en" sz="1000" b="1">
                          <a:latin typeface="Poppins"/>
                          <a:ea typeface="Poppins"/>
                          <a:cs typeface="Poppins"/>
                          <a:sym typeface="Poppins"/>
                        </a:rPr>
                        <a:t>Russia</a:t>
                      </a:r>
                      <a:endParaRPr sz="1000" b="1">
                        <a:latin typeface="Poppins"/>
                        <a:ea typeface="Poppins"/>
                        <a:cs typeface="Poppins"/>
                        <a:sym typeface="Poppins"/>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latin typeface="Poppins"/>
                          <a:ea typeface="Poppins"/>
                          <a:cs typeface="Poppins"/>
                          <a:sym typeface="Poppins"/>
                        </a:rPr>
                        <a:t>677</a:t>
                      </a:r>
                      <a:endParaRPr sz="1000">
                        <a:latin typeface="Poppins"/>
                        <a:ea typeface="Poppins"/>
                        <a:cs typeface="Poppins"/>
                        <a:sym typeface="Poppins"/>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latin typeface="Poppins"/>
                          <a:ea typeface="Poppins"/>
                          <a:cs typeface="Poppins"/>
                          <a:sym typeface="Poppins"/>
                        </a:rPr>
                        <a:t>1352</a:t>
                      </a:r>
                      <a:endParaRPr sz="1000">
                        <a:latin typeface="Poppins"/>
                        <a:ea typeface="Poppins"/>
                        <a:cs typeface="Poppins"/>
                        <a:sym typeface="Poppins"/>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b="1">
                          <a:solidFill>
                            <a:srgbClr val="000000"/>
                          </a:solidFill>
                          <a:latin typeface="Poppins"/>
                          <a:ea typeface="Poppins"/>
                          <a:cs typeface="Poppins"/>
                          <a:sym typeface="Poppins"/>
                        </a:rPr>
                        <a:t>99.7%</a:t>
                      </a:r>
                      <a:endParaRPr sz="1000" b="1">
                        <a:solidFill>
                          <a:srgbClr val="000000"/>
                        </a:solidFill>
                        <a:latin typeface="Poppins"/>
                        <a:ea typeface="Poppins"/>
                        <a:cs typeface="Poppins"/>
                        <a:sym typeface="Poppins"/>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lvl="0" indent="0" algn="ctr" rtl="0">
                        <a:spcBef>
                          <a:spcPts val="0"/>
                        </a:spcBef>
                        <a:spcAft>
                          <a:spcPts val="0"/>
                        </a:spcAft>
                        <a:buNone/>
                      </a:pPr>
                      <a:r>
                        <a:rPr lang="en" sz="1000" b="1">
                          <a:latin typeface="Poppins"/>
                          <a:ea typeface="Poppins"/>
                          <a:cs typeface="Poppins"/>
                          <a:sym typeface="Poppins"/>
                        </a:rPr>
                        <a:t>France</a:t>
                      </a:r>
                      <a:endParaRPr sz="1000" b="1">
                        <a:latin typeface="Poppins"/>
                        <a:ea typeface="Poppins"/>
                        <a:cs typeface="Poppins"/>
                        <a:sym typeface="Poppins"/>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latin typeface="Poppins"/>
                          <a:ea typeface="Poppins"/>
                          <a:cs typeface="Poppins"/>
                          <a:sym typeface="Poppins"/>
                        </a:rPr>
                        <a:t>542</a:t>
                      </a:r>
                      <a:endParaRPr sz="1000">
                        <a:latin typeface="Poppins"/>
                        <a:ea typeface="Poppins"/>
                        <a:cs typeface="Poppins"/>
                        <a:sym typeface="Poppins"/>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latin typeface="Poppins"/>
                          <a:ea typeface="Poppins"/>
                          <a:cs typeface="Poppins"/>
                          <a:sym typeface="Poppins"/>
                        </a:rPr>
                        <a:t>910</a:t>
                      </a:r>
                      <a:endParaRPr sz="1000">
                        <a:latin typeface="Poppins"/>
                        <a:ea typeface="Poppins"/>
                        <a:cs typeface="Poppins"/>
                        <a:sym typeface="Poppins"/>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b="1">
                          <a:solidFill>
                            <a:srgbClr val="1155CC"/>
                          </a:solidFill>
                          <a:latin typeface="Poppins"/>
                          <a:ea typeface="Poppins"/>
                          <a:cs typeface="Poppins"/>
                          <a:sym typeface="Poppins"/>
                        </a:rPr>
                        <a:t>67.9%</a:t>
                      </a:r>
                      <a:endParaRPr sz="1000" b="1">
                        <a:solidFill>
                          <a:srgbClr val="1155CC"/>
                        </a:solidFill>
                        <a:latin typeface="Poppins"/>
                        <a:ea typeface="Poppins"/>
                        <a:cs typeface="Poppins"/>
                        <a:sym typeface="Poppins"/>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381000">
                <a:tc>
                  <a:txBody>
                    <a:bodyPr/>
                    <a:lstStyle/>
                    <a:p>
                      <a:pPr marL="0" lvl="0" indent="0" algn="ctr" rtl="0">
                        <a:spcBef>
                          <a:spcPts val="0"/>
                        </a:spcBef>
                        <a:spcAft>
                          <a:spcPts val="0"/>
                        </a:spcAft>
                        <a:buNone/>
                      </a:pPr>
                      <a:r>
                        <a:rPr lang="en" sz="1000" b="1">
                          <a:latin typeface="Poppins"/>
                          <a:ea typeface="Poppins"/>
                          <a:cs typeface="Poppins"/>
                          <a:sym typeface="Poppins"/>
                        </a:rPr>
                        <a:t>Germany</a:t>
                      </a:r>
                      <a:endParaRPr sz="1000" b="1">
                        <a:latin typeface="Poppins"/>
                        <a:ea typeface="Poppins"/>
                        <a:cs typeface="Poppins"/>
                        <a:sym typeface="Poppins"/>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latin typeface="Poppins"/>
                          <a:ea typeface="Poppins"/>
                          <a:cs typeface="Poppins"/>
                          <a:sym typeface="Poppins"/>
                        </a:rPr>
                        <a:t>426</a:t>
                      </a:r>
                      <a:endParaRPr sz="1000">
                        <a:latin typeface="Poppins"/>
                        <a:ea typeface="Poppins"/>
                        <a:cs typeface="Poppins"/>
                        <a:sym typeface="Poppins"/>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latin typeface="Poppins"/>
                          <a:ea typeface="Poppins"/>
                          <a:cs typeface="Poppins"/>
                          <a:sym typeface="Poppins"/>
                        </a:rPr>
                        <a:t>891</a:t>
                      </a:r>
                      <a:endParaRPr sz="1000">
                        <a:latin typeface="Poppins"/>
                        <a:ea typeface="Poppins"/>
                        <a:cs typeface="Poppins"/>
                        <a:sym typeface="Poppins"/>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b="1">
                          <a:solidFill>
                            <a:srgbClr val="1155CC"/>
                          </a:solidFill>
                          <a:latin typeface="Poppins"/>
                          <a:ea typeface="Poppins"/>
                          <a:cs typeface="Poppins"/>
                          <a:sym typeface="Poppins"/>
                        </a:rPr>
                        <a:t>109.2%</a:t>
                      </a:r>
                      <a:endParaRPr sz="1000" b="1">
                        <a:solidFill>
                          <a:srgbClr val="1155CC"/>
                        </a:solidFill>
                        <a:latin typeface="Poppins"/>
                        <a:ea typeface="Poppins"/>
                        <a:cs typeface="Poppins"/>
                        <a:sym typeface="Poppins"/>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381000">
                <a:tc>
                  <a:txBody>
                    <a:bodyPr/>
                    <a:lstStyle/>
                    <a:p>
                      <a:pPr marL="0" lvl="0" indent="0" algn="ctr" rtl="0">
                        <a:spcBef>
                          <a:spcPts val="0"/>
                        </a:spcBef>
                        <a:spcAft>
                          <a:spcPts val="0"/>
                        </a:spcAft>
                        <a:buNone/>
                      </a:pPr>
                      <a:r>
                        <a:rPr lang="en" sz="1000" b="1">
                          <a:latin typeface="Poppins"/>
                          <a:ea typeface="Poppins"/>
                          <a:cs typeface="Poppins"/>
                          <a:sym typeface="Poppins"/>
                        </a:rPr>
                        <a:t>Britain</a:t>
                      </a:r>
                      <a:endParaRPr sz="1000" b="1">
                        <a:latin typeface="Poppins"/>
                        <a:ea typeface="Poppins"/>
                        <a:cs typeface="Poppins"/>
                        <a:sym typeface="Poppins"/>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latin typeface="Poppins"/>
                          <a:ea typeface="Poppins"/>
                          <a:cs typeface="Poppins"/>
                          <a:sym typeface="Poppins"/>
                        </a:rPr>
                        <a:t>367</a:t>
                      </a:r>
                      <a:endParaRPr sz="1000">
                        <a:latin typeface="Poppins"/>
                        <a:ea typeface="Poppins"/>
                        <a:cs typeface="Poppins"/>
                        <a:sym typeface="Poppins"/>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latin typeface="Poppins"/>
                          <a:ea typeface="Poppins"/>
                          <a:cs typeface="Poppins"/>
                          <a:sym typeface="Poppins"/>
                        </a:rPr>
                        <a:t>532</a:t>
                      </a:r>
                      <a:endParaRPr sz="1000">
                        <a:latin typeface="Poppins"/>
                        <a:ea typeface="Poppins"/>
                        <a:cs typeface="Poppins"/>
                        <a:sym typeface="Poppins"/>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b="1">
                          <a:solidFill>
                            <a:srgbClr val="1155CC"/>
                          </a:solidFill>
                          <a:latin typeface="Poppins"/>
                          <a:ea typeface="Poppins"/>
                          <a:cs typeface="Poppins"/>
                          <a:sym typeface="Poppins"/>
                        </a:rPr>
                        <a:t>45%</a:t>
                      </a:r>
                      <a:endParaRPr sz="1000" b="1">
                        <a:solidFill>
                          <a:srgbClr val="1155CC"/>
                        </a:solidFill>
                        <a:latin typeface="Poppins"/>
                        <a:ea typeface="Poppins"/>
                        <a:cs typeface="Poppins"/>
                        <a:sym typeface="Poppins"/>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381000">
                <a:tc>
                  <a:txBody>
                    <a:bodyPr/>
                    <a:lstStyle/>
                    <a:p>
                      <a:pPr marL="0" lvl="0" indent="0" algn="ctr" rtl="0">
                        <a:spcBef>
                          <a:spcPts val="0"/>
                        </a:spcBef>
                        <a:spcAft>
                          <a:spcPts val="0"/>
                        </a:spcAft>
                        <a:buNone/>
                      </a:pPr>
                      <a:r>
                        <a:rPr lang="en" sz="1000" b="1">
                          <a:latin typeface="Poppins"/>
                          <a:ea typeface="Poppins"/>
                          <a:cs typeface="Poppins"/>
                          <a:sym typeface="Poppins"/>
                        </a:rPr>
                        <a:t>Aus-Hung</a:t>
                      </a:r>
                      <a:endParaRPr sz="1000" b="1">
                        <a:latin typeface="Poppins"/>
                        <a:ea typeface="Poppins"/>
                        <a:cs typeface="Poppins"/>
                        <a:sym typeface="Poppins"/>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latin typeface="Poppins"/>
                          <a:ea typeface="Poppins"/>
                          <a:cs typeface="Poppins"/>
                          <a:sym typeface="Poppins"/>
                        </a:rPr>
                        <a:t>246</a:t>
                      </a:r>
                      <a:endParaRPr sz="1000">
                        <a:latin typeface="Poppins"/>
                        <a:ea typeface="Poppins"/>
                        <a:cs typeface="Poppins"/>
                        <a:sym typeface="Poppins"/>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latin typeface="Poppins"/>
                          <a:ea typeface="Poppins"/>
                          <a:cs typeface="Poppins"/>
                          <a:sym typeface="Poppins"/>
                        </a:rPr>
                        <a:t>444</a:t>
                      </a:r>
                      <a:endParaRPr sz="1000">
                        <a:latin typeface="Poppins"/>
                        <a:ea typeface="Poppins"/>
                        <a:cs typeface="Poppins"/>
                        <a:sym typeface="Poppins"/>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b="1">
                          <a:solidFill>
                            <a:srgbClr val="1155CC"/>
                          </a:solidFill>
                          <a:latin typeface="Poppins"/>
                          <a:ea typeface="Poppins"/>
                          <a:cs typeface="Poppins"/>
                          <a:sym typeface="Poppins"/>
                        </a:rPr>
                        <a:t>80.5%</a:t>
                      </a:r>
                      <a:endParaRPr sz="1000" b="1">
                        <a:solidFill>
                          <a:srgbClr val="1155CC"/>
                        </a:solidFill>
                        <a:latin typeface="Poppins"/>
                        <a:ea typeface="Poppins"/>
                        <a:cs typeface="Poppins"/>
                        <a:sym typeface="Poppins"/>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381000">
                <a:tc>
                  <a:txBody>
                    <a:bodyPr/>
                    <a:lstStyle/>
                    <a:p>
                      <a:pPr marL="0" lvl="0" indent="0" algn="ctr" rtl="0">
                        <a:spcBef>
                          <a:spcPts val="0"/>
                        </a:spcBef>
                        <a:spcAft>
                          <a:spcPts val="0"/>
                        </a:spcAft>
                        <a:buNone/>
                      </a:pPr>
                      <a:r>
                        <a:rPr lang="en" sz="1000" b="1">
                          <a:latin typeface="Poppins"/>
                          <a:ea typeface="Poppins"/>
                          <a:cs typeface="Poppins"/>
                          <a:sym typeface="Poppins"/>
                        </a:rPr>
                        <a:t>Italy</a:t>
                      </a:r>
                      <a:endParaRPr sz="1000" b="1">
                        <a:latin typeface="Poppins"/>
                        <a:ea typeface="Poppins"/>
                        <a:cs typeface="Poppins"/>
                        <a:sym typeface="Poppins"/>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latin typeface="Poppins"/>
                          <a:ea typeface="Poppins"/>
                          <a:cs typeface="Poppins"/>
                          <a:sym typeface="Poppins"/>
                        </a:rPr>
                        <a:t>216</a:t>
                      </a:r>
                      <a:endParaRPr sz="1000">
                        <a:latin typeface="Poppins"/>
                        <a:ea typeface="Poppins"/>
                        <a:cs typeface="Poppins"/>
                        <a:sym typeface="Poppins"/>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latin typeface="Poppins"/>
                          <a:ea typeface="Poppins"/>
                          <a:cs typeface="Poppins"/>
                          <a:sym typeface="Poppins"/>
                        </a:rPr>
                        <a:t>345</a:t>
                      </a:r>
                      <a:endParaRPr sz="1000">
                        <a:latin typeface="Poppins"/>
                        <a:ea typeface="Poppins"/>
                        <a:cs typeface="Poppins"/>
                        <a:sym typeface="Poppins"/>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b="1">
                          <a:solidFill>
                            <a:srgbClr val="1155CC"/>
                          </a:solidFill>
                          <a:latin typeface="Poppins"/>
                          <a:ea typeface="Poppins"/>
                          <a:cs typeface="Poppins"/>
                          <a:sym typeface="Poppins"/>
                        </a:rPr>
                        <a:t>59.7%</a:t>
                      </a:r>
                      <a:endParaRPr sz="1000" b="1">
                        <a:solidFill>
                          <a:srgbClr val="1155CC"/>
                        </a:solidFill>
                        <a:latin typeface="Poppins"/>
                        <a:ea typeface="Poppins"/>
                        <a:cs typeface="Poppins"/>
                        <a:sym typeface="Poppins"/>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381000">
                <a:tc>
                  <a:txBody>
                    <a:bodyPr/>
                    <a:lstStyle/>
                    <a:p>
                      <a:pPr marL="0" lvl="0" indent="0" algn="ctr" rtl="0">
                        <a:spcBef>
                          <a:spcPts val="0"/>
                        </a:spcBef>
                        <a:spcAft>
                          <a:spcPts val="0"/>
                        </a:spcAft>
                        <a:buNone/>
                      </a:pPr>
                      <a:r>
                        <a:rPr lang="en" sz="1000" b="1">
                          <a:latin typeface="Poppins"/>
                          <a:ea typeface="Poppins"/>
                          <a:cs typeface="Poppins"/>
                          <a:sym typeface="Poppins"/>
                        </a:rPr>
                        <a:t>Japan</a:t>
                      </a:r>
                      <a:endParaRPr sz="1000" b="1">
                        <a:latin typeface="Poppins"/>
                        <a:ea typeface="Poppins"/>
                        <a:cs typeface="Poppins"/>
                        <a:sym typeface="Poppins"/>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latin typeface="Poppins"/>
                          <a:ea typeface="Poppins"/>
                          <a:cs typeface="Poppins"/>
                          <a:sym typeface="Poppins"/>
                        </a:rPr>
                        <a:t>71</a:t>
                      </a:r>
                      <a:endParaRPr sz="1000">
                        <a:latin typeface="Poppins"/>
                        <a:ea typeface="Poppins"/>
                        <a:cs typeface="Poppins"/>
                        <a:sym typeface="Poppins"/>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latin typeface="Poppins"/>
                          <a:ea typeface="Poppins"/>
                          <a:cs typeface="Poppins"/>
                          <a:sym typeface="Poppins"/>
                        </a:rPr>
                        <a:t>306</a:t>
                      </a:r>
                      <a:endParaRPr sz="1000">
                        <a:latin typeface="Poppins"/>
                        <a:ea typeface="Poppins"/>
                        <a:cs typeface="Poppins"/>
                        <a:sym typeface="Poppins"/>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b="1">
                          <a:solidFill>
                            <a:srgbClr val="1155CC"/>
                          </a:solidFill>
                          <a:latin typeface="Poppins"/>
                          <a:ea typeface="Poppins"/>
                          <a:cs typeface="Poppins"/>
                          <a:sym typeface="Poppins"/>
                        </a:rPr>
                        <a:t>331%</a:t>
                      </a:r>
                      <a:endParaRPr sz="1000" b="1">
                        <a:solidFill>
                          <a:srgbClr val="1155CC"/>
                        </a:solidFill>
                        <a:latin typeface="Poppins"/>
                        <a:ea typeface="Poppins"/>
                        <a:cs typeface="Poppins"/>
                        <a:sym typeface="Poppins"/>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381000">
                <a:tc>
                  <a:txBody>
                    <a:bodyPr/>
                    <a:lstStyle/>
                    <a:p>
                      <a:pPr marL="0" lvl="0" indent="0" algn="ctr" rtl="0">
                        <a:spcBef>
                          <a:spcPts val="0"/>
                        </a:spcBef>
                        <a:spcAft>
                          <a:spcPts val="0"/>
                        </a:spcAft>
                        <a:buNone/>
                      </a:pPr>
                      <a:r>
                        <a:rPr lang="en" sz="1000" b="1">
                          <a:latin typeface="Poppins"/>
                          <a:ea typeface="Poppins"/>
                          <a:cs typeface="Poppins"/>
                          <a:sym typeface="Poppins"/>
                        </a:rPr>
                        <a:t>USA</a:t>
                      </a:r>
                      <a:endParaRPr sz="1000" b="1">
                        <a:latin typeface="Poppins"/>
                        <a:ea typeface="Poppins"/>
                        <a:cs typeface="Poppins"/>
                        <a:sym typeface="Poppins"/>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latin typeface="Poppins"/>
                          <a:ea typeface="Poppins"/>
                          <a:cs typeface="Poppins"/>
                          <a:sym typeface="Poppins"/>
                        </a:rPr>
                        <a:t>34</a:t>
                      </a:r>
                      <a:endParaRPr sz="1000">
                        <a:latin typeface="Poppins"/>
                        <a:ea typeface="Poppins"/>
                        <a:cs typeface="Poppins"/>
                        <a:sym typeface="Poppins"/>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latin typeface="Poppins"/>
                          <a:ea typeface="Poppins"/>
                          <a:cs typeface="Poppins"/>
                          <a:sym typeface="Poppins"/>
                        </a:rPr>
                        <a:t>164</a:t>
                      </a:r>
                      <a:endParaRPr sz="1000">
                        <a:latin typeface="Poppins"/>
                        <a:ea typeface="Poppins"/>
                        <a:cs typeface="Poppins"/>
                        <a:sym typeface="Poppins"/>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b="1">
                          <a:solidFill>
                            <a:srgbClr val="1155CC"/>
                          </a:solidFill>
                          <a:latin typeface="Poppins"/>
                          <a:ea typeface="Poppins"/>
                          <a:cs typeface="Poppins"/>
                          <a:sym typeface="Poppins"/>
                        </a:rPr>
                        <a:t>382.4%</a:t>
                      </a:r>
                      <a:endParaRPr sz="1000" b="1">
                        <a:solidFill>
                          <a:srgbClr val="1155CC"/>
                        </a:solidFill>
                        <a:latin typeface="Poppins"/>
                        <a:ea typeface="Poppins"/>
                        <a:cs typeface="Poppins"/>
                        <a:sym typeface="Poppins"/>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
        <p:nvSpPr>
          <p:cNvPr id="177" name="Google Shape;177;p26"/>
          <p:cNvSpPr txBox="1"/>
          <p:nvPr/>
        </p:nvSpPr>
        <p:spPr>
          <a:xfrm>
            <a:off x="3546650" y="1154000"/>
            <a:ext cx="5412600" cy="1908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Poppins"/>
                <a:ea typeface="Poppins"/>
                <a:cs typeface="Poppins"/>
                <a:sym typeface="Poppins"/>
              </a:rPr>
              <a:t>3. Germany, France, and Russia show bigger percentage increases because…</a:t>
            </a:r>
            <a:endParaRPr b="1">
              <a:latin typeface="Poppins"/>
              <a:ea typeface="Poppins"/>
              <a:cs typeface="Poppins"/>
              <a:sym typeface="Poppins"/>
            </a:endParaRPr>
          </a:p>
          <a:p>
            <a:pPr marL="457200" lvl="0" indent="-317500" algn="l" rtl="0">
              <a:spcBef>
                <a:spcPts val="0"/>
              </a:spcBef>
              <a:spcAft>
                <a:spcPts val="0"/>
              </a:spcAft>
              <a:buClr>
                <a:srgbClr val="38761D"/>
              </a:buClr>
              <a:buSzPts val="1400"/>
              <a:buFont typeface="Poppins"/>
              <a:buChar char="●"/>
            </a:pPr>
            <a:r>
              <a:rPr lang="en" b="1">
                <a:solidFill>
                  <a:srgbClr val="38761D"/>
                </a:solidFill>
                <a:latin typeface="Poppins"/>
                <a:ea typeface="Poppins"/>
                <a:cs typeface="Poppins"/>
                <a:sym typeface="Poppins"/>
              </a:rPr>
              <a:t>They were in direct rivalry with each other and wanted to be stronger than their neighbours.</a:t>
            </a:r>
            <a:endParaRPr b="1">
              <a:solidFill>
                <a:srgbClr val="38761D"/>
              </a:solidFill>
              <a:latin typeface="Poppins"/>
              <a:ea typeface="Poppins"/>
              <a:cs typeface="Poppins"/>
              <a:sym typeface="Poppins"/>
            </a:endParaRPr>
          </a:p>
          <a:p>
            <a:pPr marL="457200" lvl="0" indent="-317500" algn="l" rtl="0">
              <a:spcBef>
                <a:spcPts val="0"/>
              </a:spcBef>
              <a:spcAft>
                <a:spcPts val="0"/>
              </a:spcAft>
              <a:buClr>
                <a:srgbClr val="38761D"/>
              </a:buClr>
              <a:buSzPts val="1400"/>
              <a:buFont typeface="Poppins"/>
              <a:buChar char="●"/>
            </a:pPr>
            <a:r>
              <a:rPr lang="en" b="1">
                <a:solidFill>
                  <a:srgbClr val="38761D"/>
                </a:solidFill>
                <a:latin typeface="Poppins"/>
                <a:ea typeface="Poppins"/>
                <a:cs typeface="Poppins"/>
                <a:sym typeface="Poppins"/>
              </a:rPr>
              <a:t>Germany feared being surrounded by France and Russia, so it built up its forces quickly.</a:t>
            </a:r>
            <a:endParaRPr b="1">
              <a:solidFill>
                <a:srgbClr val="38761D"/>
              </a:solidFill>
              <a:latin typeface="Poppins"/>
              <a:ea typeface="Poppins"/>
              <a:cs typeface="Poppins"/>
              <a:sym typeface="Poppins"/>
            </a:endParaRPr>
          </a:p>
          <a:p>
            <a:pPr marL="457200" lvl="0" indent="-317500" algn="l" rtl="0">
              <a:spcBef>
                <a:spcPts val="0"/>
              </a:spcBef>
              <a:spcAft>
                <a:spcPts val="0"/>
              </a:spcAft>
              <a:buClr>
                <a:srgbClr val="38761D"/>
              </a:buClr>
              <a:buSzPts val="1400"/>
              <a:buFont typeface="Poppins"/>
              <a:buChar char="●"/>
            </a:pPr>
            <a:r>
              <a:rPr lang="en" b="1">
                <a:solidFill>
                  <a:srgbClr val="38761D"/>
                </a:solidFill>
                <a:latin typeface="Poppins"/>
                <a:ea typeface="Poppins"/>
                <a:cs typeface="Poppins"/>
                <a:sym typeface="Poppins"/>
              </a:rPr>
              <a:t>France and Russia increased their armies to balance Germany’s growing power.</a:t>
            </a:r>
            <a:endParaRPr b="1">
              <a:solidFill>
                <a:srgbClr val="38761D"/>
              </a:solidFill>
              <a:latin typeface="Poppins"/>
              <a:ea typeface="Poppins"/>
              <a:cs typeface="Poppins"/>
              <a:sym typeface="Poppins"/>
            </a:endParaRPr>
          </a:p>
        </p:txBody>
      </p:sp>
      <p:sp>
        <p:nvSpPr>
          <p:cNvPr id="178" name="Google Shape;178;p26"/>
          <p:cNvSpPr txBox="1"/>
          <p:nvPr/>
        </p:nvSpPr>
        <p:spPr>
          <a:xfrm>
            <a:off x="3546650" y="3062600"/>
            <a:ext cx="5496600" cy="1908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1"/>
                </a:solidFill>
                <a:latin typeface="Poppins"/>
                <a:ea typeface="Poppins"/>
                <a:cs typeface="Poppins"/>
                <a:sym typeface="Poppins"/>
              </a:rPr>
              <a:t>4. Percentage change helps us understand the data because…</a:t>
            </a:r>
            <a:endParaRPr b="1">
              <a:solidFill>
                <a:schemeClr val="dk1"/>
              </a:solidFill>
              <a:latin typeface="Poppins"/>
              <a:ea typeface="Poppins"/>
              <a:cs typeface="Poppins"/>
              <a:sym typeface="Poppins"/>
            </a:endParaRPr>
          </a:p>
          <a:p>
            <a:pPr marL="457200" lvl="0" indent="-317500" algn="l" rtl="0">
              <a:spcBef>
                <a:spcPts val="0"/>
              </a:spcBef>
              <a:spcAft>
                <a:spcPts val="0"/>
              </a:spcAft>
              <a:buClr>
                <a:srgbClr val="38761D"/>
              </a:buClr>
              <a:buSzPts val="1400"/>
              <a:buFont typeface="Poppins"/>
              <a:buChar char="●"/>
            </a:pPr>
            <a:r>
              <a:rPr lang="en" b="1">
                <a:solidFill>
                  <a:srgbClr val="38761D"/>
                </a:solidFill>
                <a:latin typeface="Poppins"/>
                <a:ea typeface="Poppins"/>
                <a:cs typeface="Poppins"/>
                <a:sym typeface="Poppins"/>
              </a:rPr>
              <a:t>It shows how much a country’s army or navy grew compared to its starting size.</a:t>
            </a:r>
            <a:endParaRPr b="1">
              <a:solidFill>
                <a:srgbClr val="38761D"/>
              </a:solidFill>
              <a:latin typeface="Poppins"/>
              <a:ea typeface="Poppins"/>
              <a:cs typeface="Poppins"/>
              <a:sym typeface="Poppins"/>
            </a:endParaRPr>
          </a:p>
          <a:p>
            <a:pPr marL="457200" lvl="0" indent="-317500" algn="l" rtl="0">
              <a:spcBef>
                <a:spcPts val="0"/>
              </a:spcBef>
              <a:spcAft>
                <a:spcPts val="0"/>
              </a:spcAft>
              <a:buClr>
                <a:srgbClr val="38761D"/>
              </a:buClr>
              <a:buSzPts val="1400"/>
              <a:buFont typeface="Poppins"/>
              <a:buChar char="●"/>
            </a:pPr>
            <a:r>
              <a:rPr lang="en" b="1">
                <a:solidFill>
                  <a:srgbClr val="38761D"/>
                </a:solidFill>
                <a:latin typeface="Poppins"/>
                <a:ea typeface="Poppins"/>
                <a:cs typeface="Poppins"/>
                <a:sym typeface="Poppins"/>
              </a:rPr>
              <a:t>It makes it easier to compare countries of different sizes fairly.</a:t>
            </a:r>
            <a:endParaRPr b="1">
              <a:solidFill>
                <a:srgbClr val="38761D"/>
              </a:solidFill>
              <a:latin typeface="Poppins"/>
              <a:ea typeface="Poppins"/>
              <a:cs typeface="Poppins"/>
              <a:sym typeface="Poppins"/>
            </a:endParaRPr>
          </a:p>
          <a:p>
            <a:pPr marL="457200" lvl="0" indent="-317500" algn="l" rtl="0">
              <a:spcBef>
                <a:spcPts val="0"/>
              </a:spcBef>
              <a:spcAft>
                <a:spcPts val="0"/>
              </a:spcAft>
              <a:buClr>
                <a:srgbClr val="38761D"/>
              </a:buClr>
              <a:buSzPts val="1400"/>
              <a:buFont typeface="Poppins"/>
              <a:buChar char="●"/>
            </a:pPr>
            <a:r>
              <a:rPr lang="en" b="1">
                <a:solidFill>
                  <a:srgbClr val="38761D"/>
                </a:solidFill>
                <a:latin typeface="Poppins"/>
                <a:ea typeface="Poppins"/>
                <a:cs typeface="Poppins"/>
                <a:sym typeface="Poppins"/>
              </a:rPr>
              <a:t>It shows growth more clearly than just looking at the numbers.</a:t>
            </a:r>
            <a:endParaRPr b="1"/>
          </a:p>
        </p:txBody>
      </p:sp>
      <p:sp>
        <p:nvSpPr>
          <p:cNvPr id="179" name="Google Shape;179;p26"/>
          <p:cNvSpPr txBox="1"/>
          <p:nvPr/>
        </p:nvSpPr>
        <p:spPr>
          <a:xfrm>
            <a:off x="104400" y="77000"/>
            <a:ext cx="8919300" cy="50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Title: Militarism and the Arms Race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LO: How did militarism and the arms race increase tensions in Europe before 1914?</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endParaRPr sz="1200" b="1">
              <a:solidFill>
                <a:srgbClr val="980000"/>
              </a:solidFill>
              <a:latin typeface="Delius"/>
              <a:ea typeface="Delius"/>
              <a:cs typeface="Delius"/>
              <a:sym typeface="Delius"/>
            </a:endParaRPr>
          </a:p>
        </p:txBody>
      </p:sp>
      <p:pic>
        <p:nvPicPr>
          <p:cNvPr id="180" name="Google Shape;180;p26"/>
          <p:cNvPicPr preferRelativeResize="0"/>
          <p:nvPr/>
        </p:nvPicPr>
        <p:blipFill>
          <a:blip r:embed="rId3">
            <a:alphaModFix/>
          </a:blip>
          <a:stretch>
            <a:fillRect/>
          </a:stretch>
        </p:blipFill>
        <p:spPr>
          <a:xfrm>
            <a:off x="7408211" y="77000"/>
            <a:ext cx="1615488" cy="10770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pic>
        <p:nvPicPr>
          <p:cNvPr id="185" name="Google Shape;185;p27"/>
          <p:cNvPicPr preferRelativeResize="0"/>
          <p:nvPr/>
        </p:nvPicPr>
        <p:blipFill rotWithShape="1">
          <a:blip r:embed="rId3">
            <a:alphaModFix/>
          </a:blip>
          <a:srcRect/>
          <a:stretch/>
        </p:blipFill>
        <p:spPr>
          <a:xfrm>
            <a:off x="1281200" y="587411"/>
            <a:ext cx="784591" cy="784591"/>
          </a:xfrm>
          <a:prstGeom prst="rect">
            <a:avLst/>
          </a:prstGeom>
          <a:noFill/>
          <a:ln>
            <a:noFill/>
          </a:ln>
        </p:spPr>
      </p:pic>
      <p:sp>
        <p:nvSpPr>
          <p:cNvPr id="186" name="Google Shape;186;p27"/>
          <p:cNvSpPr txBox="1"/>
          <p:nvPr/>
        </p:nvSpPr>
        <p:spPr>
          <a:xfrm>
            <a:off x="2264600" y="702650"/>
            <a:ext cx="3428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b="1" i="0" u="none" strike="noStrike" cap="none">
                <a:solidFill>
                  <a:srgbClr val="82D362"/>
                </a:solidFill>
                <a:highlight>
                  <a:srgbClr val="FFFFFF"/>
                </a:highlight>
                <a:latin typeface="Finger Paint"/>
                <a:ea typeface="Finger Paint"/>
                <a:cs typeface="Finger Paint"/>
                <a:sym typeface="Finger Paint"/>
              </a:rPr>
              <a:t>True</a:t>
            </a:r>
            <a:r>
              <a:rPr lang="en" sz="2400" b="1" i="0" u="none" strike="noStrike" cap="none">
                <a:solidFill>
                  <a:srgbClr val="000000"/>
                </a:solidFill>
                <a:highlight>
                  <a:srgbClr val="FFFFFF"/>
                </a:highlight>
                <a:latin typeface="Finger Paint"/>
                <a:ea typeface="Finger Paint"/>
                <a:cs typeface="Finger Paint"/>
                <a:sym typeface="Finger Paint"/>
              </a:rPr>
              <a:t> Or </a:t>
            </a:r>
            <a:r>
              <a:rPr lang="en" sz="2400" b="1" i="0" u="none" strike="noStrike" cap="none">
                <a:solidFill>
                  <a:srgbClr val="F63741"/>
                </a:solidFill>
                <a:highlight>
                  <a:srgbClr val="FFFFFF"/>
                </a:highlight>
                <a:latin typeface="Finger Paint"/>
                <a:ea typeface="Finger Paint"/>
                <a:cs typeface="Finger Paint"/>
                <a:sym typeface="Finger Paint"/>
              </a:rPr>
              <a:t>False</a:t>
            </a:r>
            <a:endParaRPr sz="2000" b="0" i="0" u="none" strike="noStrike" cap="none">
              <a:solidFill>
                <a:srgbClr val="F63741"/>
              </a:solidFill>
              <a:highlight>
                <a:srgbClr val="FFFFFF"/>
              </a:highlight>
              <a:latin typeface="Arial"/>
              <a:ea typeface="Arial"/>
              <a:cs typeface="Arial"/>
              <a:sym typeface="Arial"/>
            </a:endParaRPr>
          </a:p>
        </p:txBody>
      </p:sp>
      <p:sp>
        <p:nvSpPr>
          <p:cNvPr id="187" name="Google Shape;187;p27"/>
          <p:cNvSpPr/>
          <p:nvPr/>
        </p:nvSpPr>
        <p:spPr>
          <a:xfrm>
            <a:off x="106825" y="1519275"/>
            <a:ext cx="2608200" cy="1543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600" b="1">
                <a:solidFill>
                  <a:schemeClr val="dk1"/>
                </a:solidFill>
                <a:latin typeface="Baumans"/>
                <a:ea typeface="Baumans"/>
                <a:cs typeface="Baumans"/>
                <a:sym typeface="Baumans"/>
              </a:rPr>
              <a:t>1. Germany believed that France and Russia were becoming less powerful before World War I.</a:t>
            </a:r>
            <a:endParaRPr sz="1600">
              <a:latin typeface="Baumans"/>
              <a:ea typeface="Baumans"/>
              <a:cs typeface="Baumans"/>
              <a:sym typeface="Baumans"/>
            </a:endParaRPr>
          </a:p>
        </p:txBody>
      </p:sp>
      <p:sp>
        <p:nvSpPr>
          <p:cNvPr id="188" name="Google Shape;188;p27"/>
          <p:cNvSpPr/>
          <p:nvPr/>
        </p:nvSpPr>
        <p:spPr>
          <a:xfrm>
            <a:off x="3259825" y="1519275"/>
            <a:ext cx="2608200" cy="1543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600" b="1">
                <a:solidFill>
                  <a:schemeClr val="dk1"/>
                </a:solidFill>
                <a:latin typeface="Baumans"/>
                <a:ea typeface="Baumans"/>
                <a:cs typeface="Baumans"/>
                <a:sym typeface="Baumans"/>
              </a:rPr>
              <a:t>2. All major European countries had military plans in case war broke out before 1914.</a:t>
            </a:r>
            <a:endParaRPr sz="1600">
              <a:latin typeface="Baumans"/>
              <a:ea typeface="Baumans"/>
              <a:cs typeface="Baumans"/>
              <a:sym typeface="Baumans"/>
            </a:endParaRPr>
          </a:p>
        </p:txBody>
      </p:sp>
      <p:sp>
        <p:nvSpPr>
          <p:cNvPr id="189" name="Google Shape;189;p27"/>
          <p:cNvSpPr/>
          <p:nvPr/>
        </p:nvSpPr>
        <p:spPr>
          <a:xfrm>
            <a:off x="106825" y="3245425"/>
            <a:ext cx="2608200" cy="1543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600" b="1">
                <a:solidFill>
                  <a:schemeClr val="dk1"/>
                </a:solidFill>
                <a:latin typeface="Baumans"/>
                <a:ea typeface="Baumans"/>
                <a:cs typeface="Baumans"/>
                <a:sym typeface="Baumans"/>
              </a:rPr>
              <a:t>4. The launch of HMS Dreadnought in 1906 encouraged Germany to develop more powerful battleships.</a:t>
            </a:r>
            <a:endParaRPr sz="1600">
              <a:latin typeface="Baumans"/>
              <a:ea typeface="Baumans"/>
              <a:cs typeface="Baumans"/>
              <a:sym typeface="Baumans"/>
            </a:endParaRPr>
          </a:p>
        </p:txBody>
      </p:sp>
      <p:sp>
        <p:nvSpPr>
          <p:cNvPr id="190" name="Google Shape;190;p27"/>
          <p:cNvSpPr/>
          <p:nvPr/>
        </p:nvSpPr>
        <p:spPr>
          <a:xfrm>
            <a:off x="3259825" y="3245425"/>
            <a:ext cx="2608200" cy="1543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600" b="1">
                <a:solidFill>
                  <a:schemeClr val="dk1"/>
                </a:solidFill>
                <a:latin typeface="Baumans"/>
                <a:ea typeface="Baumans"/>
                <a:cs typeface="Baumans"/>
                <a:sym typeface="Baumans"/>
              </a:rPr>
              <a:t>5. Conscription allowed European countries to build large, trained armies before World War I.</a:t>
            </a:r>
            <a:endParaRPr sz="1600">
              <a:latin typeface="Baumans"/>
              <a:ea typeface="Baumans"/>
              <a:cs typeface="Baumans"/>
              <a:sym typeface="Baumans"/>
            </a:endParaRPr>
          </a:p>
        </p:txBody>
      </p:sp>
      <p:sp>
        <p:nvSpPr>
          <p:cNvPr id="191" name="Google Shape;191;p27"/>
          <p:cNvSpPr/>
          <p:nvPr/>
        </p:nvSpPr>
        <p:spPr>
          <a:xfrm>
            <a:off x="6428975" y="1519275"/>
            <a:ext cx="2608200" cy="1543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600" b="1">
                <a:solidFill>
                  <a:schemeClr val="dk1"/>
                </a:solidFill>
                <a:latin typeface="Baumans"/>
                <a:ea typeface="Baumans"/>
                <a:cs typeface="Baumans"/>
                <a:sym typeface="Baumans"/>
              </a:rPr>
              <a:t>3. Britain developed a strong navy to protect its coastline, empire and overseas trade.</a:t>
            </a:r>
            <a:endParaRPr sz="1600">
              <a:latin typeface="Baumans"/>
              <a:ea typeface="Baumans"/>
              <a:cs typeface="Baumans"/>
              <a:sym typeface="Baumans"/>
            </a:endParaRPr>
          </a:p>
        </p:txBody>
      </p:sp>
      <p:sp>
        <p:nvSpPr>
          <p:cNvPr id="192" name="Google Shape;192;p27"/>
          <p:cNvSpPr/>
          <p:nvPr/>
        </p:nvSpPr>
        <p:spPr>
          <a:xfrm>
            <a:off x="6428975" y="3245425"/>
            <a:ext cx="2608200" cy="1543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600" b="1">
                <a:solidFill>
                  <a:schemeClr val="dk1"/>
                </a:solidFill>
                <a:latin typeface="Baumans"/>
                <a:ea typeface="Baumans"/>
                <a:cs typeface="Baumans"/>
                <a:sym typeface="Baumans"/>
              </a:rPr>
              <a:t>6. Germany’s plans for preventive war helped reduce fear and distrust between European countries.</a:t>
            </a:r>
            <a:endParaRPr sz="1600">
              <a:latin typeface="Baumans"/>
              <a:ea typeface="Baumans"/>
              <a:cs typeface="Baumans"/>
              <a:sym typeface="Baumans"/>
            </a:endParaRPr>
          </a:p>
        </p:txBody>
      </p:sp>
      <p:pic>
        <p:nvPicPr>
          <p:cNvPr id="193" name="Google Shape;193;p27"/>
          <p:cNvPicPr preferRelativeResize="0"/>
          <p:nvPr/>
        </p:nvPicPr>
        <p:blipFill rotWithShape="1">
          <a:blip r:embed="rId4">
            <a:alphaModFix/>
          </a:blip>
          <a:srcRect l="25716" t="15310" r="25672" b="17805"/>
          <a:stretch/>
        </p:blipFill>
        <p:spPr>
          <a:xfrm>
            <a:off x="5404062" y="2640700"/>
            <a:ext cx="463960" cy="425585"/>
          </a:xfrm>
          <a:prstGeom prst="rect">
            <a:avLst/>
          </a:prstGeom>
          <a:noFill/>
          <a:ln>
            <a:noFill/>
          </a:ln>
        </p:spPr>
      </p:pic>
      <p:pic>
        <p:nvPicPr>
          <p:cNvPr id="194" name="Google Shape;194;p27"/>
          <p:cNvPicPr preferRelativeResize="0"/>
          <p:nvPr/>
        </p:nvPicPr>
        <p:blipFill rotWithShape="1">
          <a:blip r:embed="rId5">
            <a:alphaModFix/>
          </a:blip>
          <a:srcRect l="26264" t="15218" r="24368" b="18067"/>
          <a:stretch/>
        </p:blipFill>
        <p:spPr>
          <a:xfrm>
            <a:off x="2234909" y="2644498"/>
            <a:ext cx="463960" cy="417981"/>
          </a:xfrm>
          <a:prstGeom prst="rect">
            <a:avLst/>
          </a:prstGeom>
          <a:noFill/>
          <a:ln>
            <a:noFill/>
          </a:ln>
        </p:spPr>
      </p:pic>
      <p:pic>
        <p:nvPicPr>
          <p:cNvPr id="195" name="Google Shape;195;p27"/>
          <p:cNvPicPr preferRelativeResize="0"/>
          <p:nvPr/>
        </p:nvPicPr>
        <p:blipFill rotWithShape="1">
          <a:blip r:embed="rId4">
            <a:alphaModFix/>
          </a:blip>
          <a:srcRect l="25716" t="15310" r="25672" b="17805"/>
          <a:stretch/>
        </p:blipFill>
        <p:spPr>
          <a:xfrm>
            <a:off x="2127662" y="4366850"/>
            <a:ext cx="463960" cy="425585"/>
          </a:xfrm>
          <a:prstGeom prst="rect">
            <a:avLst/>
          </a:prstGeom>
          <a:noFill/>
          <a:ln>
            <a:noFill/>
          </a:ln>
        </p:spPr>
      </p:pic>
      <p:pic>
        <p:nvPicPr>
          <p:cNvPr id="196" name="Google Shape;196;p27"/>
          <p:cNvPicPr preferRelativeResize="0"/>
          <p:nvPr/>
        </p:nvPicPr>
        <p:blipFill rotWithShape="1">
          <a:blip r:embed="rId5">
            <a:alphaModFix/>
          </a:blip>
          <a:srcRect l="26264" t="15218" r="24368" b="18067"/>
          <a:stretch/>
        </p:blipFill>
        <p:spPr>
          <a:xfrm>
            <a:off x="8564677" y="4370645"/>
            <a:ext cx="463960" cy="417981"/>
          </a:xfrm>
          <a:prstGeom prst="rect">
            <a:avLst/>
          </a:prstGeom>
          <a:noFill/>
          <a:ln>
            <a:noFill/>
          </a:ln>
        </p:spPr>
      </p:pic>
      <p:pic>
        <p:nvPicPr>
          <p:cNvPr id="197" name="Google Shape;197;p27"/>
          <p:cNvPicPr preferRelativeResize="0"/>
          <p:nvPr/>
        </p:nvPicPr>
        <p:blipFill rotWithShape="1">
          <a:blip r:embed="rId6">
            <a:alphaModFix/>
          </a:blip>
          <a:srcRect l="30711" t="5130" r="3174" b="5807"/>
          <a:stretch/>
        </p:blipFill>
        <p:spPr>
          <a:xfrm>
            <a:off x="106800" y="720975"/>
            <a:ext cx="975600" cy="517450"/>
          </a:xfrm>
          <a:prstGeom prst="rect">
            <a:avLst/>
          </a:prstGeom>
          <a:noFill/>
          <a:ln>
            <a:noFill/>
          </a:ln>
        </p:spPr>
      </p:pic>
      <p:pic>
        <p:nvPicPr>
          <p:cNvPr id="198" name="Google Shape;198;p27"/>
          <p:cNvPicPr preferRelativeResize="0"/>
          <p:nvPr/>
        </p:nvPicPr>
        <p:blipFill rotWithShape="1">
          <a:blip r:embed="rId4">
            <a:alphaModFix/>
          </a:blip>
          <a:srcRect l="25716" t="15310" r="25672" b="17805"/>
          <a:stretch/>
        </p:blipFill>
        <p:spPr>
          <a:xfrm>
            <a:off x="5407875" y="4366850"/>
            <a:ext cx="463960" cy="425585"/>
          </a:xfrm>
          <a:prstGeom prst="rect">
            <a:avLst/>
          </a:prstGeom>
          <a:noFill/>
          <a:ln>
            <a:noFill/>
          </a:ln>
        </p:spPr>
      </p:pic>
      <p:sp>
        <p:nvSpPr>
          <p:cNvPr id="199" name="Google Shape;199;p27"/>
          <p:cNvSpPr txBox="1"/>
          <p:nvPr/>
        </p:nvSpPr>
        <p:spPr>
          <a:xfrm>
            <a:off x="104400" y="77000"/>
            <a:ext cx="8919300" cy="50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Title: Militarism and the Arms Race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LO: How did militarism and the arms race increase tensions in Europe before 1914?</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endParaRPr sz="1200" b="1">
              <a:solidFill>
                <a:srgbClr val="980000"/>
              </a:solidFill>
              <a:latin typeface="Delius"/>
              <a:ea typeface="Delius"/>
              <a:cs typeface="Delius"/>
              <a:sym typeface="Delius"/>
            </a:endParaRPr>
          </a:p>
        </p:txBody>
      </p:sp>
      <p:pic>
        <p:nvPicPr>
          <p:cNvPr id="200" name="Google Shape;200;p27"/>
          <p:cNvPicPr preferRelativeResize="0"/>
          <p:nvPr/>
        </p:nvPicPr>
        <p:blipFill rotWithShape="1">
          <a:blip r:embed="rId4">
            <a:alphaModFix/>
          </a:blip>
          <a:srcRect l="25716" t="15310" r="25672" b="17805"/>
          <a:stretch/>
        </p:blipFill>
        <p:spPr>
          <a:xfrm>
            <a:off x="8559737" y="2640700"/>
            <a:ext cx="463960" cy="42558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pic>
        <p:nvPicPr>
          <p:cNvPr id="205" name="Google Shape;205;p28">
            <a:hlinkClick r:id="rId3"/>
          </p:cNvPr>
          <p:cNvPicPr preferRelativeResize="0"/>
          <p:nvPr/>
        </p:nvPicPr>
        <p:blipFill>
          <a:blip r:embed="rId4">
            <a:alphaModFix/>
          </a:blip>
          <a:stretch>
            <a:fillRect/>
          </a:stretch>
        </p:blipFill>
        <p:spPr>
          <a:xfrm>
            <a:off x="2100612" y="1841110"/>
            <a:ext cx="4942776" cy="1461300"/>
          </a:xfrm>
          <a:prstGeom prst="rect">
            <a:avLst/>
          </a:prstGeom>
          <a:noFill/>
          <a:ln>
            <a:noFill/>
          </a:ln>
        </p:spPr>
      </p:pic>
      <p:sp>
        <p:nvSpPr>
          <p:cNvPr id="206" name="Google Shape;206;p28"/>
          <p:cNvSpPr txBox="1"/>
          <p:nvPr/>
        </p:nvSpPr>
        <p:spPr>
          <a:xfrm>
            <a:off x="104400" y="77000"/>
            <a:ext cx="8919300" cy="50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Title: Militarism and the Arms Race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LO: How did militarism and the arms race increase tensions in Europe before 1914?</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endParaRPr sz="1200" b="1">
              <a:solidFill>
                <a:srgbClr val="980000"/>
              </a:solidFill>
              <a:latin typeface="Delius"/>
              <a:ea typeface="Delius"/>
              <a:cs typeface="Delius"/>
              <a:sym typeface="Deliu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9"/>
          <p:cNvSpPr txBox="1"/>
          <p:nvPr/>
        </p:nvSpPr>
        <p:spPr>
          <a:xfrm>
            <a:off x="104400" y="1322300"/>
            <a:ext cx="5290800" cy="38649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600"/>
              <a:buFont typeface="Arial"/>
              <a:buNone/>
            </a:pPr>
            <a:r>
              <a:rPr lang="en" sz="1600" b="1" i="0" u="none" strike="noStrike" cap="none">
                <a:solidFill>
                  <a:schemeClr val="dk1"/>
                </a:solidFill>
                <a:latin typeface="Baumans"/>
                <a:ea typeface="Baumans"/>
                <a:cs typeface="Baumans"/>
                <a:sym typeface="Baumans"/>
              </a:rPr>
              <a:t>Success Criteria:</a:t>
            </a:r>
            <a:endParaRPr sz="1600" b="1" i="0" u="none" strike="noStrike" cap="none">
              <a:solidFill>
                <a:schemeClr val="dk1"/>
              </a:solidFill>
              <a:latin typeface="Baumans"/>
              <a:ea typeface="Baumans"/>
              <a:cs typeface="Baumans"/>
              <a:sym typeface="Baumans"/>
            </a:endParaRPr>
          </a:p>
          <a:p>
            <a:pPr marL="0" marR="0" lvl="0" indent="0" algn="l" rtl="0">
              <a:lnSpc>
                <a:spcPct val="115000"/>
              </a:lnSpc>
              <a:spcBef>
                <a:spcPts val="0"/>
              </a:spcBef>
              <a:spcAft>
                <a:spcPts val="0"/>
              </a:spcAft>
              <a:buClr>
                <a:srgbClr val="000000"/>
              </a:buClr>
              <a:buSzPts val="1600"/>
              <a:buFont typeface="Arial"/>
              <a:buNone/>
            </a:pPr>
            <a:endParaRPr sz="600" b="1">
              <a:solidFill>
                <a:schemeClr val="dk1"/>
              </a:solidFill>
              <a:latin typeface="Baumans"/>
              <a:ea typeface="Baumans"/>
              <a:cs typeface="Baumans"/>
              <a:sym typeface="Baumans"/>
            </a:endParaRPr>
          </a:p>
          <a:p>
            <a:pPr marL="0" lvl="0" indent="0" algn="l" rtl="0">
              <a:lnSpc>
                <a:spcPct val="115000"/>
              </a:lnSpc>
              <a:spcBef>
                <a:spcPts val="0"/>
              </a:spcBef>
              <a:spcAft>
                <a:spcPts val="0"/>
              </a:spcAft>
              <a:buClr>
                <a:schemeClr val="dk1"/>
              </a:buClr>
              <a:buSzPts val="1100"/>
              <a:buFont typeface="Arial"/>
              <a:buNone/>
            </a:pPr>
            <a:r>
              <a:rPr lang="en" sz="1600" b="1">
                <a:solidFill>
                  <a:schemeClr val="dk1"/>
                </a:solidFill>
                <a:latin typeface="Baumans"/>
                <a:ea typeface="Baumans"/>
                <a:cs typeface="Baumans"/>
                <a:sym typeface="Baumans"/>
              </a:rPr>
              <a:t>🧭 Meeting:</a:t>
            </a:r>
            <a:endParaRPr sz="1600" b="1">
              <a:solidFill>
                <a:schemeClr val="dk1"/>
              </a:solidFill>
              <a:latin typeface="Baumans"/>
              <a:ea typeface="Baumans"/>
              <a:cs typeface="Baumans"/>
              <a:sym typeface="Baumans"/>
            </a:endParaRPr>
          </a:p>
          <a:p>
            <a:pPr marL="0" lvl="0" indent="0" algn="l" rtl="0">
              <a:lnSpc>
                <a:spcPct val="115000"/>
              </a:lnSpc>
              <a:spcBef>
                <a:spcPts val="0"/>
              </a:spcBef>
              <a:spcAft>
                <a:spcPts val="0"/>
              </a:spcAft>
              <a:buClr>
                <a:schemeClr val="dk1"/>
              </a:buClr>
              <a:buSzPts val="1100"/>
              <a:buFont typeface="Arial"/>
              <a:buNone/>
            </a:pPr>
            <a:r>
              <a:rPr lang="en" sz="1600">
                <a:solidFill>
                  <a:schemeClr val="dk1"/>
                </a:solidFill>
                <a:latin typeface="Baumans"/>
                <a:ea typeface="Baumans"/>
                <a:cs typeface="Baumans"/>
                <a:sym typeface="Baumans"/>
              </a:rPr>
              <a:t>Can </a:t>
            </a:r>
            <a:r>
              <a:rPr lang="en" sz="1600" b="1">
                <a:solidFill>
                  <a:schemeClr val="dk1"/>
                </a:solidFill>
                <a:latin typeface="Baumans"/>
                <a:ea typeface="Baumans"/>
                <a:cs typeface="Baumans"/>
                <a:sym typeface="Baumans"/>
              </a:rPr>
              <a:t>identify information from historical sources</a:t>
            </a:r>
            <a:r>
              <a:rPr lang="en" sz="1600">
                <a:solidFill>
                  <a:schemeClr val="dk1"/>
                </a:solidFill>
                <a:latin typeface="Baumans"/>
                <a:ea typeface="Baumans"/>
                <a:cs typeface="Baumans"/>
                <a:sym typeface="Baumans"/>
              </a:rPr>
              <a:t> about military competition before WWI.</a:t>
            </a:r>
            <a:endParaRPr sz="1600">
              <a:solidFill>
                <a:schemeClr val="dk1"/>
              </a:solidFill>
              <a:latin typeface="Baumans"/>
              <a:ea typeface="Baumans"/>
              <a:cs typeface="Baumans"/>
              <a:sym typeface="Baumans"/>
            </a:endParaRPr>
          </a:p>
          <a:p>
            <a:pPr marL="0" lvl="0" indent="0" algn="l" rtl="0">
              <a:lnSpc>
                <a:spcPct val="115000"/>
              </a:lnSpc>
              <a:spcBef>
                <a:spcPts val="0"/>
              </a:spcBef>
              <a:spcAft>
                <a:spcPts val="0"/>
              </a:spcAft>
              <a:buClr>
                <a:schemeClr val="dk1"/>
              </a:buClr>
              <a:buSzPts val="1100"/>
              <a:buFont typeface="Arial"/>
              <a:buNone/>
            </a:pPr>
            <a:endParaRPr sz="600">
              <a:solidFill>
                <a:schemeClr val="dk1"/>
              </a:solidFill>
              <a:latin typeface="Baumans"/>
              <a:ea typeface="Baumans"/>
              <a:cs typeface="Baumans"/>
              <a:sym typeface="Baumans"/>
            </a:endParaRPr>
          </a:p>
          <a:p>
            <a:pPr marL="0" lvl="0" indent="0" algn="l" rtl="0">
              <a:lnSpc>
                <a:spcPct val="115000"/>
              </a:lnSpc>
              <a:spcBef>
                <a:spcPts val="0"/>
              </a:spcBef>
              <a:spcAft>
                <a:spcPts val="0"/>
              </a:spcAft>
              <a:buClr>
                <a:schemeClr val="dk1"/>
              </a:buClr>
              <a:buSzPts val="1100"/>
              <a:buFont typeface="Arial"/>
              <a:buNone/>
            </a:pPr>
            <a:r>
              <a:rPr lang="en" sz="1600" b="1">
                <a:solidFill>
                  <a:schemeClr val="dk1"/>
                </a:solidFill>
                <a:latin typeface="Baumans"/>
                <a:ea typeface="Baumans"/>
                <a:cs typeface="Baumans"/>
                <a:sym typeface="Baumans"/>
              </a:rPr>
              <a:t>🔎 Exceeding:</a:t>
            </a:r>
            <a:endParaRPr sz="1600" b="1">
              <a:solidFill>
                <a:schemeClr val="dk1"/>
              </a:solidFill>
              <a:latin typeface="Baumans"/>
              <a:ea typeface="Baumans"/>
              <a:cs typeface="Baumans"/>
              <a:sym typeface="Baumans"/>
            </a:endParaRPr>
          </a:p>
          <a:p>
            <a:pPr marL="0" lvl="0" indent="0" algn="l" rtl="0">
              <a:lnSpc>
                <a:spcPct val="115000"/>
              </a:lnSpc>
              <a:spcBef>
                <a:spcPts val="0"/>
              </a:spcBef>
              <a:spcAft>
                <a:spcPts val="0"/>
              </a:spcAft>
              <a:buClr>
                <a:schemeClr val="dk1"/>
              </a:buClr>
              <a:buSzPts val="1100"/>
              <a:buFont typeface="Arial"/>
              <a:buNone/>
            </a:pPr>
            <a:r>
              <a:rPr lang="en" sz="1600">
                <a:solidFill>
                  <a:schemeClr val="dk1"/>
                </a:solidFill>
                <a:latin typeface="Baumans"/>
                <a:ea typeface="Baumans"/>
                <a:cs typeface="Baumans"/>
                <a:sym typeface="Baumans"/>
              </a:rPr>
              <a:t>Can </a:t>
            </a:r>
            <a:r>
              <a:rPr lang="en" sz="1600" b="1">
                <a:solidFill>
                  <a:schemeClr val="dk1"/>
                </a:solidFill>
                <a:latin typeface="Baumans"/>
                <a:ea typeface="Baumans"/>
                <a:cs typeface="Baumans"/>
                <a:sym typeface="Baumans"/>
              </a:rPr>
              <a:t>explain how</a:t>
            </a:r>
            <a:r>
              <a:rPr lang="en" sz="1600">
                <a:solidFill>
                  <a:schemeClr val="dk1"/>
                </a:solidFill>
                <a:latin typeface="Baumans"/>
                <a:ea typeface="Baumans"/>
                <a:cs typeface="Baumans"/>
                <a:sym typeface="Baumans"/>
              </a:rPr>
              <a:t> historical sources show that militarism and the arms race increased tensions between European countries.</a:t>
            </a:r>
            <a:endParaRPr sz="1600">
              <a:solidFill>
                <a:schemeClr val="dk1"/>
              </a:solidFill>
              <a:latin typeface="Baumans"/>
              <a:ea typeface="Baumans"/>
              <a:cs typeface="Baumans"/>
              <a:sym typeface="Baumans"/>
            </a:endParaRPr>
          </a:p>
          <a:p>
            <a:pPr marL="0" lvl="0" indent="0" algn="l" rtl="0">
              <a:lnSpc>
                <a:spcPct val="115000"/>
              </a:lnSpc>
              <a:spcBef>
                <a:spcPts val="0"/>
              </a:spcBef>
              <a:spcAft>
                <a:spcPts val="0"/>
              </a:spcAft>
              <a:buClr>
                <a:schemeClr val="dk1"/>
              </a:buClr>
              <a:buSzPts val="1100"/>
              <a:buFont typeface="Arial"/>
              <a:buNone/>
            </a:pPr>
            <a:endParaRPr sz="600">
              <a:solidFill>
                <a:schemeClr val="dk1"/>
              </a:solidFill>
              <a:latin typeface="Baumans"/>
              <a:ea typeface="Baumans"/>
              <a:cs typeface="Baumans"/>
              <a:sym typeface="Baumans"/>
            </a:endParaRPr>
          </a:p>
          <a:p>
            <a:pPr marL="0" lvl="0" indent="0" algn="l" rtl="0">
              <a:lnSpc>
                <a:spcPct val="115000"/>
              </a:lnSpc>
              <a:spcBef>
                <a:spcPts val="0"/>
              </a:spcBef>
              <a:spcAft>
                <a:spcPts val="0"/>
              </a:spcAft>
              <a:buClr>
                <a:schemeClr val="dk1"/>
              </a:buClr>
              <a:buSzPts val="1100"/>
              <a:buFont typeface="Arial"/>
              <a:buNone/>
            </a:pPr>
            <a:r>
              <a:rPr lang="en" sz="1600" b="1">
                <a:solidFill>
                  <a:schemeClr val="dk1"/>
                </a:solidFill>
                <a:latin typeface="Baumans"/>
                <a:ea typeface="Baumans"/>
                <a:cs typeface="Baumans"/>
                <a:sym typeface="Baumans"/>
              </a:rPr>
              <a:t>🧠 Mastering:</a:t>
            </a:r>
            <a:endParaRPr sz="1600" b="1">
              <a:solidFill>
                <a:schemeClr val="dk1"/>
              </a:solidFill>
              <a:latin typeface="Baumans"/>
              <a:ea typeface="Baumans"/>
              <a:cs typeface="Baumans"/>
              <a:sym typeface="Baumans"/>
            </a:endParaRPr>
          </a:p>
          <a:p>
            <a:pPr marL="0" lvl="0" indent="0" algn="l" rtl="0">
              <a:lnSpc>
                <a:spcPct val="115000"/>
              </a:lnSpc>
              <a:spcBef>
                <a:spcPts val="0"/>
              </a:spcBef>
              <a:spcAft>
                <a:spcPts val="0"/>
              </a:spcAft>
              <a:buClr>
                <a:schemeClr val="dk1"/>
              </a:buClr>
              <a:buSzPts val="1100"/>
              <a:buFont typeface="Arial"/>
              <a:buNone/>
            </a:pPr>
            <a:r>
              <a:rPr lang="en" sz="1600">
                <a:solidFill>
                  <a:schemeClr val="dk1"/>
                </a:solidFill>
                <a:latin typeface="Baumans"/>
                <a:ea typeface="Baumans"/>
                <a:cs typeface="Baumans"/>
                <a:sym typeface="Baumans"/>
              </a:rPr>
              <a:t>Can </a:t>
            </a:r>
            <a:r>
              <a:rPr lang="en" sz="1600" b="1">
                <a:solidFill>
                  <a:schemeClr val="dk1"/>
                </a:solidFill>
                <a:latin typeface="Baumans"/>
                <a:ea typeface="Baumans"/>
                <a:cs typeface="Baumans"/>
                <a:sym typeface="Baumans"/>
              </a:rPr>
              <a:t>use evidence</a:t>
            </a:r>
            <a:r>
              <a:rPr lang="en" sz="1600">
                <a:solidFill>
                  <a:schemeClr val="dk1"/>
                </a:solidFill>
                <a:latin typeface="Baumans"/>
                <a:ea typeface="Baumans"/>
                <a:cs typeface="Baumans"/>
                <a:sym typeface="Baumans"/>
              </a:rPr>
              <a:t> from historical sources and </a:t>
            </a:r>
            <a:r>
              <a:rPr lang="en" sz="1600" b="1">
                <a:solidFill>
                  <a:schemeClr val="dk1"/>
                </a:solidFill>
                <a:latin typeface="Baumans"/>
                <a:ea typeface="Baumans"/>
                <a:cs typeface="Baumans"/>
                <a:sym typeface="Baumans"/>
              </a:rPr>
              <a:t>own knowledge</a:t>
            </a:r>
            <a:r>
              <a:rPr lang="en" sz="1600">
                <a:solidFill>
                  <a:schemeClr val="dk1"/>
                </a:solidFill>
                <a:latin typeface="Baumans"/>
                <a:ea typeface="Baumans"/>
                <a:cs typeface="Baumans"/>
                <a:sym typeface="Baumans"/>
              </a:rPr>
              <a:t> to analyse how militarism and the arms race made a wider European war more likely in 1914.</a:t>
            </a:r>
            <a:endParaRPr sz="1600">
              <a:solidFill>
                <a:schemeClr val="dk1"/>
              </a:solidFill>
              <a:latin typeface="Baumans"/>
              <a:ea typeface="Baumans"/>
              <a:cs typeface="Baumans"/>
              <a:sym typeface="Baumans"/>
            </a:endParaRPr>
          </a:p>
        </p:txBody>
      </p:sp>
      <p:sp>
        <p:nvSpPr>
          <p:cNvPr id="212" name="Google Shape;212;p29"/>
          <p:cNvSpPr txBox="1"/>
          <p:nvPr/>
        </p:nvSpPr>
        <p:spPr>
          <a:xfrm>
            <a:off x="5330325" y="702213"/>
            <a:ext cx="3637800" cy="1465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200"/>
              <a:buFont typeface="Arial"/>
              <a:buNone/>
            </a:pPr>
            <a:r>
              <a:rPr lang="en" sz="2000" b="1" i="0" u="none" strike="noStrike" cap="none">
                <a:solidFill>
                  <a:srgbClr val="000000"/>
                </a:solidFill>
                <a:highlight>
                  <a:srgbClr val="FFFF00"/>
                </a:highlight>
                <a:latin typeface="Caveat"/>
                <a:ea typeface="Caveat"/>
                <a:cs typeface="Caveat"/>
                <a:sym typeface="Caveat"/>
              </a:rPr>
              <a:t>Key Enquiry Question: </a:t>
            </a:r>
            <a:r>
              <a:rPr lang="en" sz="2000" b="1" i="0" u="none" strike="noStrike" cap="none">
                <a:solidFill>
                  <a:srgbClr val="1F1F1F"/>
                </a:solidFill>
                <a:highlight>
                  <a:srgbClr val="FFFF00"/>
                </a:highlight>
                <a:latin typeface="Caveat"/>
                <a:ea typeface="Caveat"/>
                <a:cs typeface="Caveat"/>
                <a:sym typeface="Caveat"/>
              </a:rPr>
              <a:t>What were the causes of WW1, and how did different factors contribute to the outbreak of the conflict?</a:t>
            </a:r>
            <a:endParaRPr sz="2000" b="1" i="0" u="none" strike="noStrike" cap="none">
              <a:solidFill>
                <a:srgbClr val="000000"/>
              </a:solidFill>
              <a:highlight>
                <a:srgbClr val="FFFF00"/>
              </a:highlight>
              <a:latin typeface="Caveat"/>
              <a:ea typeface="Caveat"/>
              <a:cs typeface="Caveat"/>
              <a:sym typeface="Caveat"/>
            </a:endParaRPr>
          </a:p>
        </p:txBody>
      </p:sp>
      <p:pic>
        <p:nvPicPr>
          <p:cNvPr id="213" name="Google Shape;213;p29"/>
          <p:cNvPicPr preferRelativeResize="0"/>
          <p:nvPr/>
        </p:nvPicPr>
        <p:blipFill>
          <a:blip r:embed="rId3">
            <a:alphaModFix/>
          </a:blip>
          <a:stretch>
            <a:fillRect/>
          </a:stretch>
        </p:blipFill>
        <p:spPr>
          <a:xfrm>
            <a:off x="5330326" y="2393938"/>
            <a:ext cx="3637800" cy="2047350"/>
          </a:xfrm>
          <a:prstGeom prst="rect">
            <a:avLst/>
          </a:prstGeom>
          <a:noFill/>
          <a:ln>
            <a:noFill/>
          </a:ln>
        </p:spPr>
      </p:pic>
      <p:sp>
        <p:nvSpPr>
          <p:cNvPr id="214" name="Google Shape;214;p29"/>
          <p:cNvSpPr txBox="1"/>
          <p:nvPr/>
        </p:nvSpPr>
        <p:spPr>
          <a:xfrm>
            <a:off x="104400" y="582500"/>
            <a:ext cx="4813800" cy="739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u="sng" dirty="0">
                <a:solidFill>
                  <a:schemeClr val="dk1"/>
                </a:solidFill>
                <a:latin typeface="Delius"/>
                <a:ea typeface="Delius"/>
                <a:cs typeface="Delius"/>
                <a:sym typeface="Delius"/>
              </a:rPr>
              <a:t>Date: Title: Militarism and the Arms Race</a:t>
            </a:r>
            <a:endParaRPr sz="1800" b="1" u="sng" dirty="0">
              <a:solidFill>
                <a:schemeClr val="dk1"/>
              </a:solidFill>
              <a:latin typeface="Delius"/>
              <a:ea typeface="Delius"/>
              <a:cs typeface="Delius"/>
              <a:sym typeface="Delius"/>
            </a:endParaRPr>
          </a:p>
        </p:txBody>
      </p:sp>
      <p:sp>
        <p:nvSpPr>
          <p:cNvPr id="215" name="Google Shape;215;p29"/>
          <p:cNvSpPr txBox="1"/>
          <p:nvPr/>
        </p:nvSpPr>
        <p:spPr>
          <a:xfrm>
            <a:off x="104400" y="77000"/>
            <a:ext cx="8919300" cy="50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Title: Militarism and the Arms Race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LO: How did militarism and the arms race increase tensions in Europe before 1914?</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endParaRPr sz="1200" b="1">
              <a:solidFill>
                <a:srgbClr val="980000"/>
              </a:solidFill>
              <a:latin typeface="Delius"/>
              <a:ea typeface="Delius"/>
              <a:cs typeface="Delius"/>
              <a:sym typeface="Deliu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30"/>
          <p:cNvSpPr txBox="1"/>
          <p:nvPr/>
        </p:nvSpPr>
        <p:spPr>
          <a:xfrm>
            <a:off x="33900" y="1453000"/>
            <a:ext cx="5901900" cy="461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200">
              <a:solidFill>
                <a:schemeClr val="dk1"/>
              </a:solidFill>
              <a:latin typeface="Luckiest Guy"/>
              <a:ea typeface="Luckiest Guy"/>
              <a:cs typeface="Luckiest Guy"/>
              <a:sym typeface="Luckiest Guy"/>
            </a:endParaRPr>
          </a:p>
        </p:txBody>
      </p:sp>
      <p:sp>
        <p:nvSpPr>
          <p:cNvPr id="221" name="Google Shape;221;p30"/>
          <p:cNvSpPr txBox="1"/>
          <p:nvPr/>
        </p:nvSpPr>
        <p:spPr>
          <a:xfrm>
            <a:off x="115350" y="1306625"/>
            <a:ext cx="5124300" cy="27705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2400">
                <a:latin typeface="Baumans"/>
                <a:ea typeface="Baumans"/>
                <a:cs typeface="Baumans"/>
                <a:sym typeface="Baumans"/>
              </a:rPr>
              <a:t>Remember the acronym </a:t>
            </a:r>
            <a:r>
              <a:rPr lang="en" sz="2400" b="1">
                <a:solidFill>
                  <a:srgbClr val="980000"/>
                </a:solidFill>
                <a:latin typeface="Baumans"/>
                <a:ea typeface="Baumans"/>
                <a:cs typeface="Baumans"/>
                <a:sym typeface="Baumans"/>
              </a:rPr>
              <a:t>MAINS</a:t>
            </a:r>
            <a:r>
              <a:rPr lang="en" sz="2400">
                <a:latin typeface="Baumans"/>
                <a:ea typeface="Baumans"/>
                <a:cs typeface="Baumans"/>
                <a:sym typeface="Baumans"/>
              </a:rPr>
              <a:t>: </a:t>
            </a:r>
            <a:endParaRPr sz="2400">
              <a:latin typeface="Baumans"/>
              <a:ea typeface="Baumans"/>
              <a:cs typeface="Baumans"/>
              <a:sym typeface="Baumans"/>
            </a:endParaRPr>
          </a:p>
          <a:p>
            <a:pPr marL="0" lvl="0" indent="0" algn="l" rtl="0">
              <a:spcBef>
                <a:spcPts val="0"/>
              </a:spcBef>
              <a:spcAft>
                <a:spcPts val="0"/>
              </a:spcAft>
              <a:buNone/>
            </a:pPr>
            <a:endParaRPr sz="2400">
              <a:latin typeface="Baumans"/>
              <a:ea typeface="Baumans"/>
              <a:cs typeface="Baumans"/>
              <a:sym typeface="Baumans"/>
            </a:endParaRPr>
          </a:p>
          <a:p>
            <a:pPr marL="0" lvl="0" indent="0" algn="l" rtl="0">
              <a:spcBef>
                <a:spcPts val="0"/>
              </a:spcBef>
              <a:spcAft>
                <a:spcPts val="0"/>
              </a:spcAft>
              <a:buNone/>
            </a:pPr>
            <a:r>
              <a:rPr lang="en" sz="2400" b="1">
                <a:solidFill>
                  <a:srgbClr val="980000"/>
                </a:solidFill>
                <a:latin typeface="Baumans"/>
                <a:ea typeface="Baumans"/>
                <a:cs typeface="Baumans"/>
                <a:sym typeface="Baumans"/>
              </a:rPr>
              <a:t>M</a:t>
            </a:r>
            <a:r>
              <a:rPr lang="en" sz="2400">
                <a:latin typeface="Baumans"/>
                <a:ea typeface="Baumans"/>
                <a:cs typeface="Baumans"/>
                <a:sym typeface="Baumans"/>
              </a:rPr>
              <a:t> is for </a:t>
            </a:r>
            <a:r>
              <a:rPr lang="en" sz="2400" b="1">
                <a:solidFill>
                  <a:srgbClr val="980000"/>
                </a:solidFill>
                <a:latin typeface="Baumans"/>
                <a:ea typeface="Baumans"/>
                <a:cs typeface="Baumans"/>
                <a:sym typeface="Baumans"/>
              </a:rPr>
              <a:t>M</a:t>
            </a:r>
            <a:r>
              <a:rPr lang="en" sz="2400">
                <a:latin typeface="Baumans"/>
                <a:ea typeface="Baumans"/>
                <a:cs typeface="Baumans"/>
                <a:sym typeface="Baumans"/>
              </a:rPr>
              <a:t>ilitarism </a:t>
            </a:r>
            <a:endParaRPr sz="2400">
              <a:latin typeface="Baumans"/>
              <a:ea typeface="Baumans"/>
              <a:cs typeface="Baumans"/>
              <a:sym typeface="Baumans"/>
            </a:endParaRPr>
          </a:p>
          <a:p>
            <a:pPr marL="0" lvl="0" indent="0" algn="l" rtl="0">
              <a:spcBef>
                <a:spcPts val="0"/>
              </a:spcBef>
              <a:spcAft>
                <a:spcPts val="0"/>
              </a:spcAft>
              <a:buNone/>
            </a:pPr>
            <a:r>
              <a:rPr lang="en" sz="2400" b="1">
                <a:solidFill>
                  <a:srgbClr val="980000"/>
                </a:solidFill>
                <a:latin typeface="Baumans"/>
                <a:ea typeface="Baumans"/>
                <a:cs typeface="Baumans"/>
                <a:sym typeface="Baumans"/>
              </a:rPr>
              <a:t>A</a:t>
            </a:r>
            <a:r>
              <a:rPr lang="en" sz="2400" b="1">
                <a:latin typeface="Baumans"/>
                <a:ea typeface="Baumans"/>
                <a:cs typeface="Baumans"/>
                <a:sym typeface="Baumans"/>
              </a:rPr>
              <a:t> </a:t>
            </a:r>
            <a:r>
              <a:rPr lang="en" sz="2400">
                <a:latin typeface="Baumans"/>
                <a:ea typeface="Baumans"/>
                <a:cs typeface="Baumans"/>
                <a:sym typeface="Baumans"/>
              </a:rPr>
              <a:t>is for the </a:t>
            </a:r>
            <a:r>
              <a:rPr lang="en" sz="2400" b="1">
                <a:solidFill>
                  <a:srgbClr val="980000"/>
                </a:solidFill>
                <a:latin typeface="Baumans"/>
                <a:ea typeface="Baumans"/>
                <a:cs typeface="Baumans"/>
                <a:sym typeface="Baumans"/>
              </a:rPr>
              <a:t>A</a:t>
            </a:r>
            <a:r>
              <a:rPr lang="en" sz="2400">
                <a:latin typeface="Baumans"/>
                <a:ea typeface="Baumans"/>
                <a:cs typeface="Baumans"/>
                <a:sym typeface="Baumans"/>
              </a:rPr>
              <a:t>lliance System </a:t>
            </a:r>
            <a:endParaRPr sz="2400">
              <a:latin typeface="Baumans"/>
              <a:ea typeface="Baumans"/>
              <a:cs typeface="Baumans"/>
              <a:sym typeface="Baumans"/>
            </a:endParaRPr>
          </a:p>
          <a:p>
            <a:pPr marL="0" lvl="0" indent="0" algn="l" rtl="0">
              <a:spcBef>
                <a:spcPts val="0"/>
              </a:spcBef>
              <a:spcAft>
                <a:spcPts val="0"/>
              </a:spcAft>
              <a:buNone/>
            </a:pPr>
            <a:r>
              <a:rPr lang="en" sz="2400" b="1">
                <a:solidFill>
                  <a:srgbClr val="980000"/>
                </a:solidFill>
                <a:latin typeface="Baumans"/>
                <a:ea typeface="Baumans"/>
                <a:cs typeface="Baumans"/>
                <a:sym typeface="Baumans"/>
              </a:rPr>
              <a:t>I</a:t>
            </a:r>
            <a:r>
              <a:rPr lang="en" sz="2400">
                <a:latin typeface="Baumans"/>
                <a:ea typeface="Baumans"/>
                <a:cs typeface="Baumans"/>
                <a:sym typeface="Baumans"/>
              </a:rPr>
              <a:t> is for </a:t>
            </a:r>
            <a:r>
              <a:rPr lang="en" sz="2400" b="1">
                <a:solidFill>
                  <a:srgbClr val="980000"/>
                </a:solidFill>
                <a:latin typeface="Baumans"/>
                <a:ea typeface="Baumans"/>
                <a:cs typeface="Baumans"/>
                <a:sym typeface="Baumans"/>
              </a:rPr>
              <a:t>I</a:t>
            </a:r>
            <a:r>
              <a:rPr lang="en" sz="2400">
                <a:latin typeface="Baumans"/>
                <a:ea typeface="Baumans"/>
                <a:cs typeface="Baumans"/>
                <a:sym typeface="Baumans"/>
              </a:rPr>
              <a:t>mperialism </a:t>
            </a:r>
            <a:endParaRPr sz="2400">
              <a:latin typeface="Baumans"/>
              <a:ea typeface="Baumans"/>
              <a:cs typeface="Baumans"/>
              <a:sym typeface="Baumans"/>
            </a:endParaRPr>
          </a:p>
          <a:p>
            <a:pPr marL="0" lvl="0" indent="0" algn="l" rtl="0">
              <a:spcBef>
                <a:spcPts val="0"/>
              </a:spcBef>
              <a:spcAft>
                <a:spcPts val="0"/>
              </a:spcAft>
              <a:buNone/>
            </a:pPr>
            <a:r>
              <a:rPr lang="en" sz="2400" b="1">
                <a:solidFill>
                  <a:srgbClr val="980000"/>
                </a:solidFill>
                <a:latin typeface="Baumans"/>
                <a:ea typeface="Baumans"/>
                <a:cs typeface="Baumans"/>
                <a:sym typeface="Baumans"/>
              </a:rPr>
              <a:t>N</a:t>
            </a:r>
            <a:r>
              <a:rPr lang="en" sz="2400">
                <a:latin typeface="Baumans"/>
                <a:ea typeface="Baumans"/>
                <a:cs typeface="Baumans"/>
                <a:sym typeface="Baumans"/>
              </a:rPr>
              <a:t> is for </a:t>
            </a:r>
            <a:r>
              <a:rPr lang="en" sz="2400" b="1">
                <a:solidFill>
                  <a:srgbClr val="980000"/>
                </a:solidFill>
                <a:latin typeface="Baumans"/>
                <a:ea typeface="Baumans"/>
                <a:cs typeface="Baumans"/>
                <a:sym typeface="Baumans"/>
              </a:rPr>
              <a:t>N</a:t>
            </a:r>
            <a:r>
              <a:rPr lang="en" sz="2400">
                <a:latin typeface="Baumans"/>
                <a:ea typeface="Baumans"/>
                <a:cs typeface="Baumans"/>
                <a:sym typeface="Baumans"/>
              </a:rPr>
              <a:t>ationalism </a:t>
            </a:r>
            <a:endParaRPr sz="2400">
              <a:latin typeface="Baumans"/>
              <a:ea typeface="Baumans"/>
              <a:cs typeface="Baumans"/>
              <a:sym typeface="Baumans"/>
            </a:endParaRPr>
          </a:p>
          <a:p>
            <a:pPr marL="0" lvl="0" indent="0" algn="l" rtl="0">
              <a:spcBef>
                <a:spcPts val="0"/>
              </a:spcBef>
              <a:spcAft>
                <a:spcPts val="0"/>
              </a:spcAft>
              <a:buNone/>
            </a:pPr>
            <a:r>
              <a:rPr lang="en" sz="2400" b="1">
                <a:solidFill>
                  <a:srgbClr val="980000"/>
                </a:solidFill>
                <a:latin typeface="Baumans"/>
                <a:ea typeface="Baumans"/>
                <a:cs typeface="Baumans"/>
                <a:sym typeface="Baumans"/>
              </a:rPr>
              <a:t>S</a:t>
            </a:r>
            <a:r>
              <a:rPr lang="en" sz="2400">
                <a:latin typeface="Baumans"/>
                <a:ea typeface="Baumans"/>
                <a:cs typeface="Baumans"/>
                <a:sym typeface="Baumans"/>
              </a:rPr>
              <a:t> is for </a:t>
            </a:r>
            <a:r>
              <a:rPr lang="en" sz="2400">
                <a:solidFill>
                  <a:srgbClr val="980000"/>
                </a:solidFill>
                <a:latin typeface="Baumans"/>
                <a:ea typeface="Baumans"/>
                <a:cs typeface="Baumans"/>
                <a:sym typeface="Baumans"/>
              </a:rPr>
              <a:t>S</a:t>
            </a:r>
            <a:r>
              <a:rPr lang="en" sz="2400">
                <a:latin typeface="Baumans"/>
                <a:ea typeface="Baumans"/>
                <a:cs typeface="Baumans"/>
                <a:sym typeface="Baumans"/>
              </a:rPr>
              <a:t>ignificant Individuals</a:t>
            </a:r>
            <a:endParaRPr sz="2400">
              <a:latin typeface="Baumans"/>
              <a:ea typeface="Baumans"/>
              <a:cs typeface="Baumans"/>
              <a:sym typeface="Baumans"/>
            </a:endParaRPr>
          </a:p>
        </p:txBody>
      </p:sp>
      <p:pic>
        <p:nvPicPr>
          <p:cNvPr id="222" name="Google Shape;222;p30" descr="The Main Causes of World War I - WorldAtlas"/>
          <p:cNvPicPr preferRelativeResize="0"/>
          <p:nvPr/>
        </p:nvPicPr>
        <p:blipFill rotWithShape="1">
          <a:blip r:embed="rId3">
            <a:alphaModFix/>
          </a:blip>
          <a:srcRect/>
          <a:stretch/>
        </p:blipFill>
        <p:spPr>
          <a:xfrm>
            <a:off x="5426950" y="1815625"/>
            <a:ext cx="3601800" cy="2254339"/>
          </a:xfrm>
          <a:prstGeom prst="rect">
            <a:avLst/>
          </a:prstGeom>
          <a:noFill/>
          <a:ln>
            <a:noFill/>
          </a:ln>
        </p:spPr>
      </p:pic>
      <p:sp>
        <p:nvSpPr>
          <p:cNvPr id="223" name="Google Shape;223;p30"/>
          <p:cNvSpPr txBox="1"/>
          <p:nvPr/>
        </p:nvSpPr>
        <p:spPr>
          <a:xfrm>
            <a:off x="104400" y="582500"/>
            <a:ext cx="5447400" cy="52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en" sz="2400" b="1" u="sng">
                <a:latin typeface="Patrick Hand"/>
                <a:ea typeface="Patrick Hand"/>
                <a:cs typeface="Patrick Hand"/>
                <a:sym typeface="Patrick Hand"/>
              </a:rPr>
              <a:t>What were the main causes of WW1?</a:t>
            </a:r>
            <a:endParaRPr sz="2400" b="1" u="sng">
              <a:solidFill>
                <a:srgbClr val="000000"/>
              </a:solidFill>
              <a:latin typeface="Patrick Hand SC"/>
              <a:ea typeface="Patrick Hand SC"/>
              <a:cs typeface="Patrick Hand SC"/>
              <a:sym typeface="Patrick Hand SC"/>
            </a:endParaRPr>
          </a:p>
        </p:txBody>
      </p:sp>
      <p:sp>
        <p:nvSpPr>
          <p:cNvPr id="224" name="Google Shape;224;p30"/>
          <p:cNvSpPr txBox="1"/>
          <p:nvPr/>
        </p:nvSpPr>
        <p:spPr>
          <a:xfrm>
            <a:off x="5426950" y="782525"/>
            <a:ext cx="3601800" cy="877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600" b="1">
                <a:solidFill>
                  <a:schemeClr val="dk1"/>
                </a:solidFill>
                <a:highlight>
                  <a:srgbClr val="FFFF00"/>
                </a:highlight>
                <a:latin typeface="Caveat"/>
                <a:ea typeface="Caveat"/>
                <a:cs typeface="Caveat"/>
                <a:sym typeface="Caveat"/>
              </a:rPr>
              <a:t>Key Enquiry Question: What were the causes of WW1, and how did different factors contribute to the outbreak of the conflict?</a:t>
            </a:r>
            <a:endParaRPr sz="1600" b="1">
              <a:solidFill>
                <a:schemeClr val="dk1"/>
              </a:solidFill>
              <a:highlight>
                <a:srgbClr val="FFFF00"/>
              </a:highlight>
              <a:latin typeface="Caveat"/>
              <a:ea typeface="Caveat"/>
              <a:cs typeface="Caveat"/>
              <a:sym typeface="Caveat"/>
            </a:endParaRPr>
          </a:p>
        </p:txBody>
      </p:sp>
      <p:sp>
        <p:nvSpPr>
          <p:cNvPr id="225" name="Google Shape;225;p30"/>
          <p:cNvSpPr txBox="1"/>
          <p:nvPr/>
        </p:nvSpPr>
        <p:spPr>
          <a:xfrm>
            <a:off x="104400" y="77000"/>
            <a:ext cx="8919300" cy="50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Title: Militarism and the Arms Race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LO: How did militarism and the arms race increase tensions in Europe before 1914?</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endParaRPr sz="1200" b="1">
              <a:solidFill>
                <a:srgbClr val="980000"/>
              </a:solidFill>
              <a:latin typeface="Delius"/>
              <a:ea typeface="Delius"/>
              <a:cs typeface="Delius"/>
              <a:sym typeface="Deliu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31"/>
          <p:cNvSpPr txBox="1"/>
          <p:nvPr/>
        </p:nvSpPr>
        <p:spPr>
          <a:xfrm>
            <a:off x="100788" y="582500"/>
            <a:ext cx="2615700" cy="571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1" i="0" u="sng" strike="noStrike" cap="none">
                <a:solidFill>
                  <a:schemeClr val="dk1"/>
                </a:solidFill>
                <a:latin typeface="Patrick Hand"/>
                <a:ea typeface="Patrick Hand"/>
                <a:cs typeface="Patrick Hand"/>
                <a:sym typeface="Patrick Hand"/>
              </a:rPr>
              <a:t>Keywords:</a:t>
            </a:r>
            <a:endParaRPr sz="2400" b="1" i="0" u="sng" strike="noStrike" cap="none">
              <a:solidFill>
                <a:schemeClr val="dk1"/>
              </a:solidFill>
              <a:latin typeface="Patrick Hand"/>
              <a:ea typeface="Patrick Hand"/>
              <a:cs typeface="Patrick Hand"/>
              <a:sym typeface="Patrick Hand"/>
            </a:endParaRPr>
          </a:p>
        </p:txBody>
      </p:sp>
      <p:graphicFrame>
        <p:nvGraphicFramePr>
          <p:cNvPr id="231" name="Google Shape;231;p31"/>
          <p:cNvGraphicFramePr/>
          <p:nvPr/>
        </p:nvGraphicFramePr>
        <p:xfrm>
          <a:off x="157476" y="1258688"/>
          <a:ext cx="8829025" cy="3657500"/>
        </p:xfrm>
        <a:graphic>
          <a:graphicData uri="http://schemas.openxmlformats.org/drawingml/2006/table">
            <a:tbl>
              <a:tblPr>
                <a:noFill/>
                <a:tableStyleId>{AF5D31DA-D247-41EE-9E47-7AEE27247059}</a:tableStyleId>
              </a:tblPr>
              <a:tblGrid>
                <a:gridCol w="1726275">
                  <a:extLst>
                    <a:ext uri="{9D8B030D-6E8A-4147-A177-3AD203B41FA5}">
                      <a16:colId xmlns:a16="http://schemas.microsoft.com/office/drawing/2014/main" val="20000"/>
                    </a:ext>
                  </a:extLst>
                </a:gridCol>
                <a:gridCol w="971225">
                  <a:extLst>
                    <a:ext uri="{9D8B030D-6E8A-4147-A177-3AD203B41FA5}">
                      <a16:colId xmlns:a16="http://schemas.microsoft.com/office/drawing/2014/main" val="20001"/>
                    </a:ext>
                  </a:extLst>
                </a:gridCol>
                <a:gridCol w="6131525">
                  <a:extLst>
                    <a:ext uri="{9D8B030D-6E8A-4147-A177-3AD203B41FA5}">
                      <a16:colId xmlns:a16="http://schemas.microsoft.com/office/drawing/2014/main" val="20002"/>
                    </a:ext>
                  </a:extLst>
                </a:gridCol>
              </a:tblGrid>
              <a:tr h="914375">
                <a:tc>
                  <a:txBody>
                    <a:bodyPr/>
                    <a:lstStyle/>
                    <a:p>
                      <a:pPr marL="0" marR="0" lvl="0" indent="0" algn="l" rtl="0">
                        <a:lnSpc>
                          <a:spcPct val="100000"/>
                        </a:lnSpc>
                        <a:spcBef>
                          <a:spcPts val="0"/>
                        </a:spcBef>
                        <a:spcAft>
                          <a:spcPts val="0"/>
                        </a:spcAft>
                        <a:buClr>
                          <a:srgbClr val="000000"/>
                        </a:buClr>
                        <a:buSzPts val="1700"/>
                        <a:buFont typeface="Arial"/>
                        <a:buNone/>
                      </a:pPr>
                      <a:r>
                        <a:rPr lang="en" b="1" u="none" strike="noStrike" cap="none">
                          <a:solidFill>
                            <a:schemeClr val="dk1"/>
                          </a:solidFill>
                          <a:latin typeface="Poppins"/>
                          <a:ea typeface="Poppins"/>
                          <a:cs typeface="Poppins"/>
                          <a:sym typeface="Poppins"/>
                        </a:rPr>
                        <a:t>Arms Race</a:t>
                      </a:r>
                      <a:endParaRPr b="1" u="none" strike="noStrike" cap="none">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Arial"/>
                        <a:buNone/>
                      </a:pPr>
                      <a:r>
                        <a:rPr lang="en">
                          <a:solidFill>
                            <a:schemeClr val="dk1"/>
                          </a:solidFill>
                          <a:latin typeface="Poppins"/>
                          <a:ea typeface="Poppins"/>
                          <a:cs typeface="Poppins"/>
                          <a:sym typeface="Poppins"/>
                        </a:rPr>
                        <a:t>When </a:t>
                      </a:r>
                      <a:r>
                        <a:rPr lang="en" b="1">
                          <a:solidFill>
                            <a:schemeClr val="dk1"/>
                          </a:solidFill>
                          <a:latin typeface="Poppins"/>
                          <a:ea typeface="Poppins"/>
                          <a:cs typeface="Poppins"/>
                          <a:sym typeface="Poppins"/>
                        </a:rPr>
                        <a:t>two or more countries try to make their armies stronger</a:t>
                      </a:r>
                      <a:r>
                        <a:rPr lang="en">
                          <a:solidFill>
                            <a:schemeClr val="dk1"/>
                          </a:solidFill>
                          <a:latin typeface="Poppins"/>
                          <a:ea typeface="Poppins"/>
                          <a:cs typeface="Poppins"/>
                          <a:sym typeface="Poppins"/>
                        </a:rPr>
                        <a:t> by getting more soldiers, weapons and new technology to gain power over each other.</a:t>
                      </a:r>
                      <a:endParaRPr u="none" strike="noStrike" cap="none">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914375">
                <a:tc>
                  <a:txBody>
                    <a:bodyPr/>
                    <a:lstStyle/>
                    <a:p>
                      <a:pPr marL="0" marR="0" lvl="0" indent="0" algn="l" rtl="0">
                        <a:lnSpc>
                          <a:spcPct val="100000"/>
                        </a:lnSpc>
                        <a:spcBef>
                          <a:spcPts val="0"/>
                        </a:spcBef>
                        <a:spcAft>
                          <a:spcPts val="0"/>
                        </a:spcAft>
                        <a:buClr>
                          <a:schemeClr val="dk1"/>
                        </a:buClr>
                        <a:buSzPts val="1100"/>
                        <a:buFont typeface="Arial"/>
                        <a:buNone/>
                      </a:pPr>
                      <a:r>
                        <a:rPr lang="en" b="1" u="none" strike="noStrike" cap="none">
                          <a:solidFill>
                            <a:schemeClr val="dk1"/>
                          </a:solidFill>
                          <a:latin typeface="Poppins"/>
                          <a:ea typeface="Poppins"/>
                          <a:cs typeface="Poppins"/>
                          <a:sym typeface="Poppins"/>
                        </a:rPr>
                        <a:t>Dreadnought</a:t>
                      </a:r>
                      <a:endParaRPr b="1" u="none" strike="noStrike" cap="none">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700"/>
                        <a:buFont typeface="Arial"/>
                        <a:buNone/>
                      </a:pPr>
                      <a:r>
                        <a:rPr lang="en">
                          <a:solidFill>
                            <a:schemeClr val="dk1"/>
                          </a:solidFill>
                          <a:latin typeface="Poppins"/>
                          <a:ea typeface="Poppins"/>
                          <a:cs typeface="Poppins"/>
                          <a:sym typeface="Poppins"/>
                        </a:rPr>
                        <a:t>A </a:t>
                      </a:r>
                      <a:r>
                        <a:rPr lang="en" b="1">
                          <a:solidFill>
                            <a:schemeClr val="dk1"/>
                          </a:solidFill>
                          <a:latin typeface="Poppins"/>
                          <a:ea typeface="Poppins"/>
                          <a:cs typeface="Poppins"/>
                          <a:sym typeface="Poppins"/>
                        </a:rPr>
                        <a:t>battleship with oil-powered </a:t>
                      </a:r>
                      <a:r>
                        <a:rPr lang="en">
                          <a:solidFill>
                            <a:schemeClr val="dk1"/>
                          </a:solidFill>
                          <a:latin typeface="Poppins"/>
                          <a:ea typeface="Poppins"/>
                          <a:cs typeface="Poppins"/>
                          <a:sym typeface="Poppins"/>
                        </a:rPr>
                        <a:t>(diesel) </a:t>
                      </a:r>
                      <a:r>
                        <a:rPr lang="en" b="1">
                          <a:solidFill>
                            <a:schemeClr val="dk1"/>
                          </a:solidFill>
                          <a:latin typeface="Poppins"/>
                          <a:ea typeface="Poppins"/>
                          <a:cs typeface="Poppins"/>
                          <a:sym typeface="Poppins"/>
                        </a:rPr>
                        <a:t>engines</a:t>
                      </a:r>
                      <a:r>
                        <a:rPr lang="en">
                          <a:solidFill>
                            <a:schemeClr val="dk1"/>
                          </a:solidFill>
                          <a:latin typeface="Poppins"/>
                          <a:ea typeface="Poppins"/>
                          <a:cs typeface="Poppins"/>
                          <a:sym typeface="Poppins"/>
                        </a:rPr>
                        <a:t> that made it faster and more powerful than any other battleship at the time.</a:t>
                      </a:r>
                      <a:endParaRPr u="none" strike="noStrike" cap="none">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914375">
                <a:tc>
                  <a:txBody>
                    <a:bodyPr/>
                    <a:lstStyle/>
                    <a:p>
                      <a:pPr marL="0" marR="0" lvl="0" indent="0" algn="l" rtl="0">
                        <a:lnSpc>
                          <a:spcPct val="100000"/>
                        </a:lnSpc>
                        <a:spcBef>
                          <a:spcPts val="0"/>
                        </a:spcBef>
                        <a:spcAft>
                          <a:spcPts val="0"/>
                        </a:spcAft>
                        <a:buClr>
                          <a:srgbClr val="000000"/>
                        </a:buClr>
                        <a:buSzPts val="1700"/>
                        <a:buFont typeface="Arial"/>
                        <a:buNone/>
                      </a:pPr>
                      <a:r>
                        <a:rPr lang="en" b="1" u="none" strike="noStrike" cap="none">
                          <a:solidFill>
                            <a:schemeClr val="dk1"/>
                          </a:solidFill>
                          <a:latin typeface="Poppins"/>
                          <a:ea typeface="Poppins"/>
                          <a:cs typeface="Poppins"/>
                          <a:sym typeface="Poppins"/>
                        </a:rPr>
                        <a:t>Militarism</a:t>
                      </a:r>
                      <a:endParaRPr b="1" u="none" strike="noStrike" cap="none">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15000"/>
                        </a:lnSpc>
                        <a:spcBef>
                          <a:spcPts val="0"/>
                        </a:spcBef>
                        <a:spcAft>
                          <a:spcPts val="0"/>
                        </a:spcAft>
                        <a:buNone/>
                      </a:pPr>
                      <a:endParaRPr>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700"/>
                        <a:buFont typeface="Arial"/>
                        <a:buNone/>
                      </a:pPr>
                      <a:r>
                        <a:rPr lang="en">
                          <a:solidFill>
                            <a:schemeClr val="dk1"/>
                          </a:solidFill>
                          <a:latin typeface="Poppins"/>
                          <a:ea typeface="Poppins"/>
                          <a:cs typeface="Poppins"/>
                          <a:sym typeface="Poppins"/>
                        </a:rPr>
                        <a:t>The idea that a </a:t>
                      </a:r>
                      <a:r>
                        <a:rPr lang="en" b="1">
                          <a:solidFill>
                            <a:schemeClr val="dk1"/>
                          </a:solidFill>
                          <a:latin typeface="Poppins"/>
                          <a:ea typeface="Poppins"/>
                          <a:cs typeface="Poppins"/>
                          <a:sym typeface="Poppins"/>
                        </a:rPr>
                        <a:t>country should have a strong army and be ready to use it</a:t>
                      </a:r>
                      <a:r>
                        <a:rPr lang="en">
                          <a:solidFill>
                            <a:schemeClr val="dk1"/>
                          </a:solidFill>
                          <a:latin typeface="Poppins"/>
                          <a:ea typeface="Poppins"/>
                          <a:cs typeface="Poppins"/>
                          <a:sym typeface="Poppins"/>
                        </a:rPr>
                        <a:t> to protect or improve its interests.</a:t>
                      </a:r>
                      <a:endParaRPr u="none" strike="noStrike" cap="none">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914375">
                <a:tc>
                  <a:txBody>
                    <a:bodyPr/>
                    <a:lstStyle/>
                    <a:p>
                      <a:pPr marL="0" marR="0" lvl="0" indent="0" algn="l" rtl="0">
                        <a:lnSpc>
                          <a:spcPct val="100000"/>
                        </a:lnSpc>
                        <a:spcBef>
                          <a:spcPts val="0"/>
                        </a:spcBef>
                        <a:spcAft>
                          <a:spcPts val="0"/>
                        </a:spcAft>
                        <a:buNone/>
                      </a:pPr>
                      <a:r>
                        <a:rPr lang="en" b="1">
                          <a:solidFill>
                            <a:schemeClr val="dk1"/>
                          </a:solidFill>
                          <a:latin typeface="Poppins"/>
                          <a:ea typeface="Poppins"/>
                          <a:cs typeface="Poppins"/>
                          <a:sym typeface="Poppins"/>
                        </a:rPr>
                        <a:t>Conscription</a:t>
                      </a:r>
                      <a:endParaRPr b="1" u="none" strike="noStrike" cap="none">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15000"/>
                        </a:lnSpc>
                        <a:spcBef>
                          <a:spcPts val="0"/>
                        </a:spcBef>
                        <a:spcAft>
                          <a:spcPts val="0"/>
                        </a:spcAft>
                        <a:buNone/>
                      </a:pPr>
                      <a:endParaRPr>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15000"/>
                        </a:lnSpc>
                        <a:spcBef>
                          <a:spcPts val="0"/>
                        </a:spcBef>
                        <a:spcAft>
                          <a:spcPts val="0"/>
                        </a:spcAft>
                        <a:buNone/>
                      </a:pPr>
                      <a:r>
                        <a:rPr lang="en">
                          <a:solidFill>
                            <a:schemeClr val="dk1"/>
                          </a:solidFill>
                          <a:latin typeface="Poppins"/>
                          <a:ea typeface="Poppins"/>
                          <a:cs typeface="Poppins"/>
                          <a:sym typeface="Poppins"/>
                        </a:rPr>
                        <a:t>A system requiring </a:t>
                      </a:r>
                      <a:r>
                        <a:rPr lang="en" b="1">
                          <a:solidFill>
                            <a:schemeClr val="dk1"/>
                          </a:solidFill>
                          <a:latin typeface="Poppins"/>
                          <a:ea typeface="Poppins"/>
                          <a:cs typeface="Poppins"/>
                          <a:sym typeface="Poppins"/>
                        </a:rPr>
                        <a:t>men to serve in the armed forces</a:t>
                      </a:r>
                      <a:r>
                        <a:rPr lang="en">
                          <a:solidFill>
                            <a:schemeClr val="dk1"/>
                          </a:solidFill>
                          <a:latin typeface="Poppins"/>
                          <a:ea typeface="Poppins"/>
                          <a:cs typeface="Poppins"/>
                          <a:sym typeface="Poppins"/>
                        </a:rPr>
                        <a:t> for a set period of time.</a:t>
                      </a:r>
                      <a:endParaRPr>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pic>
        <p:nvPicPr>
          <p:cNvPr id="232" name="Google Shape;232;p31"/>
          <p:cNvPicPr preferRelativeResize="0"/>
          <p:nvPr/>
        </p:nvPicPr>
        <p:blipFill>
          <a:blip r:embed="rId3">
            <a:alphaModFix/>
          </a:blip>
          <a:stretch>
            <a:fillRect/>
          </a:stretch>
        </p:blipFill>
        <p:spPr>
          <a:xfrm>
            <a:off x="2011888" y="1325275"/>
            <a:ext cx="766600" cy="766600"/>
          </a:xfrm>
          <a:prstGeom prst="rect">
            <a:avLst/>
          </a:prstGeom>
          <a:noFill/>
          <a:ln>
            <a:noFill/>
          </a:ln>
        </p:spPr>
      </p:pic>
      <p:sp>
        <p:nvSpPr>
          <p:cNvPr id="233" name="Google Shape;233;p31"/>
          <p:cNvSpPr txBox="1"/>
          <p:nvPr/>
        </p:nvSpPr>
        <p:spPr>
          <a:xfrm>
            <a:off x="3212400" y="582500"/>
            <a:ext cx="5811300" cy="676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600" b="1">
                <a:solidFill>
                  <a:srgbClr val="000000"/>
                </a:solidFill>
                <a:highlight>
                  <a:srgbClr val="FFFF00"/>
                </a:highlight>
                <a:latin typeface="Caveat"/>
                <a:ea typeface="Caveat"/>
                <a:cs typeface="Caveat"/>
                <a:sym typeface="Caveat"/>
              </a:rPr>
              <a:t>Key Enquiry Question: What were the causes of WW1, and how did different factors contribute to the outbreak of the conflict?</a:t>
            </a:r>
            <a:endParaRPr sz="1600" b="1">
              <a:solidFill>
                <a:srgbClr val="000000"/>
              </a:solidFill>
              <a:highlight>
                <a:srgbClr val="FFFF00"/>
              </a:highlight>
              <a:latin typeface="Caveat"/>
              <a:ea typeface="Caveat"/>
              <a:cs typeface="Caveat"/>
              <a:sym typeface="Caveat"/>
            </a:endParaRPr>
          </a:p>
        </p:txBody>
      </p:sp>
      <p:pic>
        <p:nvPicPr>
          <p:cNvPr id="234" name="Google Shape;234;p31"/>
          <p:cNvPicPr preferRelativeResize="0"/>
          <p:nvPr/>
        </p:nvPicPr>
        <p:blipFill>
          <a:blip r:embed="rId4">
            <a:alphaModFix/>
          </a:blip>
          <a:stretch>
            <a:fillRect/>
          </a:stretch>
        </p:blipFill>
        <p:spPr>
          <a:xfrm>
            <a:off x="2011888" y="2246963"/>
            <a:ext cx="766600" cy="766600"/>
          </a:xfrm>
          <a:prstGeom prst="rect">
            <a:avLst/>
          </a:prstGeom>
          <a:noFill/>
          <a:ln>
            <a:noFill/>
          </a:ln>
        </p:spPr>
      </p:pic>
      <p:pic>
        <p:nvPicPr>
          <p:cNvPr id="235" name="Google Shape;235;p31"/>
          <p:cNvPicPr preferRelativeResize="0"/>
          <p:nvPr/>
        </p:nvPicPr>
        <p:blipFill>
          <a:blip r:embed="rId5">
            <a:alphaModFix/>
          </a:blip>
          <a:stretch>
            <a:fillRect/>
          </a:stretch>
        </p:blipFill>
        <p:spPr>
          <a:xfrm>
            <a:off x="2011888" y="3168650"/>
            <a:ext cx="766600" cy="766600"/>
          </a:xfrm>
          <a:prstGeom prst="rect">
            <a:avLst/>
          </a:prstGeom>
          <a:noFill/>
          <a:ln>
            <a:noFill/>
          </a:ln>
        </p:spPr>
      </p:pic>
      <p:sp>
        <p:nvSpPr>
          <p:cNvPr id="236" name="Google Shape;236;p31"/>
          <p:cNvSpPr txBox="1"/>
          <p:nvPr/>
        </p:nvSpPr>
        <p:spPr>
          <a:xfrm>
            <a:off x="104400" y="77000"/>
            <a:ext cx="8919300" cy="50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Title: Militarism and the Arms Race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LO: How did militarism and the arms race increase tensions in Europe before 1914?</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endParaRPr sz="1200" b="1">
              <a:solidFill>
                <a:srgbClr val="980000"/>
              </a:solidFill>
              <a:latin typeface="Delius"/>
              <a:ea typeface="Delius"/>
              <a:cs typeface="Delius"/>
              <a:sym typeface="Delius"/>
            </a:endParaRPr>
          </a:p>
        </p:txBody>
      </p:sp>
      <p:pic>
        <p:nvPicPr>
          <p:cNvPr id="237" name="Google Shape;237;p31"/>
          <p:cNvPicPr preferRelativeResize="0"/>
          <p:nvPr/>
        </p:nvPicPr>
        <p:blipFill>
          <a:blip r:embed="rId6">
            <a:alphaModFix/>
          </a:blip>
          <a:stretch>
            <a:fillRect/>
          </a:stretch>
        </p:blipFill>
        <p:spPr>
          <a:xfrm>
            <a:off x="2011900" y="4090350"/>
            <a:ext cx="766575" cy="7665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32"/>
          <p:cNvSpPr txBox="1"/>
          <p:nvPr/>
        </p:nvSpPr>
        <p:spPr>
          <a:xfrm>
            <a:off x="4574975" y="1316700"/>
            <a:ext cx="4401900" cy="1062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highlight>
                  <a:srgbClr val="00FF00"/>
                </a:highlight>
                <a:latin typeface="Baumans"/>
                <a:ea typeface="Baumans"/>
                <a:cs typeface="Baumans"/>
                <a:sym typeface="Baumans"/>
              </a:rPr>
              <a:t>Activity:</a:t>
            </a:r>
            <a:r>
              <a:rPr lang="en" sz="1800">
                <a:solidFill>
                  <a:schemeClr val="dk1"/>
                </a:solidFill>
                <a:latin typeface="Baumans"/>
                <a:ea typeface="Baumans"/>
                <a:cs typeface="Baumans"/>
                <a:sym typeface="Baumans"/>
              </a:rPr>
              <a:t> Complete the multiple choice questions whilst watching the video: </a:t>
            </a:r>
            <a:endParaRPr sz="1800">
              <a:solidFill>
                <a:schemeClr val="dk1"/>
              </a:solidFill>
              <a:latin typeface="Baumans"/>
              <a:ea typeface="Baumans"/>
              <a:cs typeface="Baumans"/>
              <a:sym typeface="Baumans"/>
            </a:endParaRPr>
          </a:p>
          <a:p>
            <a:pPr marL="0" lvl="0" indent="0" algn="l" rtl="0">
              <a:spcBef>
                <a:spcPts val="0"/>
              </a:spcBef>
              <a:spcAft>
                <a:spcPts val="0"/>
              </a:spcAft>
              <a:buNone/>
            </a:pPr>
            <a:r>
              <a:rPr lang="en" sz="1800" b="1">
                <a:solidFill>
                  <a:schemeClr val="dk1"/>
                </a:solidFill>
                <a:latin typeface="Baumans"/>
                <a:ea typeface="Baumans"/>
                <a:cs typeface="Baumans"/>
                <a:sym typeface="Baumans"/>
              </a:rPr>
              <a:t>The CAUSES of World War I</a:t>
            </a:r>
            <a:endParaRPr sz="1800" b="1">
              <a:solidFill>
                <a:schemeClr val="dk1"/>
              </a:solidFill>
              <a:latin typeface="Baumans"/>
              <a:ea typeface="Baumans"/>
              <a:cs typeface="Baumans"/>
              <a:sym typeface="Baumans"/>
            </a:endParaRPr>
          </a:p>
        </p:txBody>
      </p:sp>
      <p:sp>
        <p:nvSpPr>
          <p:cNvPr id="243" name="Google Shape;243;p32"/>
          <p:cNvSpPr txBox="1"/>
          <p:nvPr/>
        </p:nvSpPr>
        <p:spPr>
          <a:xfrm>
            <a:off x="100801" y="582500"/>
            <a:ext cx="4471200" cy="571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1" u="sng">
                <a:solidFill>
                  <a:schemeClr val="dk1"/>
                </a:solidFill>
                <a:latin typeface="Patrick Hand"/>
                <a:ea typeface="Patrick Hand"/>
                <a:cs typeface="Patrick Hand"/>
                <a:sym typeface="Patrick Hand"/>
              </a:rPr>
              <a:t>A Preventative War?</a:t>
            </a:r>
            <a:endParaRPr sz="2400" b="1" i="0" u="sng" strike="noStrike" cap="none">
              <a:solidFill>
                <a:schemeClr val="dk1"/>
              </a:solidFill>
              <a:latin typeface="Patrick Hand"/>
              <a:ea typeface="Patrick Hand"/>
              <a:cs typeface="Patrick Hand"/>
              <a:sym typeface="Patrick Hand"/>
            </a:endParaRPr>
          </a:p>
        </p:txBody>
      </p:sp>
      <p:pic>
        <p:nvPicPr>
          <p:cNvPr id="244" name="Google Shape;244;p32" descr="More from Heimler's History:&#10;&#10;***Get the AP World HEIMLER REVIEW GUIDE: https://bit.ly/46rfHH1&#10;***Get the AP World Video Noteguides: https://bit.ly/3NRHzga&#10;&#10;Tiktok: @steveheimler&#10;Instagram: @heimlers_history&#10;&#10;Heimler's History DISCORD Server: https://discord.gg/heimlershistory&#10;&#10;In this video Heimler reviews everything you need to know about AP World History Unit 7 Topic 2 (7.2) which is all about the four MAIN causes of World War I, including militarism, alliances, imperialism, and nationalism (not to mention the assassination of archduke Franz Ferdinand)." title="The CAUSES of World War I, Explained [AP World History Review—Unit 7 Topic 2]">
            <a:hlinkClick r:id="rId3"/>
          </p:cNvPr>
          <p:cNvPicPr preferRelativeResize="0"/>
          <p:nvPr/>
        </p:nvPicPr>
        <p:blipFill>
          <a:blip r:embed="rId4">
            <a:alphaModFix/>
          </a:blip>
          <a:stretch>
            <a:fillRect/>
          </a:stretch>
        </p:blipFill>
        <p:spPr>
          <a:xfrm>
            <a:off x="129425" y="1316700"/>
            <a:ext cx="4471200" cy="2515050"/>
          </a:xfrm>
          <a:prstGeom prst="rect">
            <a:avLst/>
          </a:prstGeom>
          <a:noFill/>
          <a:ln>
            <a:noFill/>
          </a:ln>
        </p:spPr>
      </p:pic>
      <p:pic>
        <p:nvPicPr>
          <p:cNvPr id="245" name="Google Shape;245;p32" title="Screenshot 2025-09-16 at 1.46.08 PM.png"/>
          <p:cNvPicPr preferRelativeResize="0"/>
          <p:nvPr/>
        </p:nvPicPr>
        <p:blipFill>
          <a:blip r:embed="rId5">
            <a:alphaModFix/>
          </a:blip>
          <a:stretch>
            <a:fillRect/>
          </a:stretch>
        </p:blipFill>
        <p:spPr>
          <a:xfrm>
            <a:off x="5162275" y="2379600"/>
            <a:ext cx="3227292" cy="2459099"/>
          </a:xfrm>
          <a:prstGeom prst="rect">
            <a:avLst/>
          </a:prstGeom>
          <a:noFill/>
          <a:ln>
            <a:noFill/>
          </a:ln>
        </p:spPr>
      </p:pic>
      <p:sp>
        <p:nvSpPr>
          <p:cNvPr id="246" name="Google Shape;246;p32"/>
          <p:cNvSpPr txBox="1"/>
          <p:nvPr/>
        </p:nvSpPr>
        <p:spPr>
          <a:xfrm>
            <a:off x="104400" y="77000"/>
            <a:ext cx="8919300" cy="50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Title: Militarism and the Arms Race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LO: How did militarism and the arms race increase tensions in Europe before 1914?</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endParaRPr sz="1200" b="1">
              <a:solidFill>
                <a:srgbClr val="980000"/>
              </a:solidFill>
              <a:latin typeface="Delius"/>
              <a:ea typeface="Delius"/>
              <a:cs typeface="Delius"/>
              <a:sym typeface="Deliu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33"/>
          <p:cNvSpPr txBox="1"/>
          <p:nvPr/>
        </p:nvSpPr>
        <p:spPr>
          <a:xfrm>
            <a:off x="5878450" y="1316700"/>
            <a:ext cx="3158700" cy="699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solidFill>
                  <a:srgbClr val="38761D"/>
                </a:solidFill>
                <a:latin typeface="Luckiest Guy"/>
                <a:ea typeface="Luckiest Guy"/>
                <a:cs typeface="Luckiest Guy"/>
                <a:sym typeface="Luckiest Guy"/>
              </a:rPr>
              <a:t>GREEN PEN YOUR ANSWERS</a:t>
            </a:r>
            <a:endParaRPr sz="2000">
              <a:solidFill>
                <a:srgbClr val="38761D"/>
              </a:solidFill>
              <a:latin typeface="Luckiest Guy"/>
              <a:ea typeface="Luckiest Guy"/>
              <a:cs typeface="Luckiest Guy"/>
              <a:sym typeface="Luckiest Guy"/>
            </a:endParaRPr>
          </a:p>
        </p:txBody>
      </p:sp>
      <p:sp>
        <p:nvSpPr>
          <p:cNvPr id="252" name="Google Shape;252;p33"/>
          <p:cNvSpPr txBox="1"/>
          <p:nvPr/>
        </p:nvSpPr>
        <p:spPr>
          <a:xfrm>
            <a:off x="125350" y="1063700"/>
            <a:ext cx="5753100" cy="38790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900"/>
              </a:spcBef>
              <a:spcAft>
                <a:spcPts val="0"/>
              </a:spcAft>
              <a:buNone/>
            </a:pPr>
            <a:r>
              <a:rPr lang="en" sz="1500" b="1">
                <a:solidFill>
                  <a:srgbClr val="38761D"/>
                </a:solidFill>
                <a:latin typeface="Delius"/>
                <a:ea typeface="Delius"/>
                <a:cs typeface="Delius"/>
                <a:sym typeface="Delius"/>
              </a:rPr>
              <a:t>1. A) Building strong armies and being ready to use them</a:t>
            </a:r>
            <a:endParaRPr sz="1500" b="1">
              <a:solidFill>
                <a:srgbClr val="38761D"/>
              </a:solidFill>
              <a:latin typeface="Delius"/>
              <a:ea typeface="Delius"/>
              <a:cs typeface="Delius"/>
              <a:sym typeface="Delius"/>
            </a:endParaRPr>
          </a:p>
          <a:p>
            <a:pPr marL="0" lvl="0" indent="0" algn="l" rtl="0">
              <a:lnSpc>
                <a:spcPct val="100000"/>
              </a:lnSpc>
              <a:spcBef>
                <a:spcPts val="1200"/>
              </a:spcBef>
              <a:spcAft>
                <a:spcPts val="0"/>
              </a:spcAft>
              <a:buNone/>
            </a:pPr>
            <a:r>
              <a:rPr lang="en" sz="1500" b="1">
                <a:solidFill>
                  <a:srgbClr val="38761D"/>
                </a:solidFill>
                <a:latin typeface="Delius"/>
                <a:ea typeface="Delius"/>
                <a:cs typeface="Delius"/>
                <a:sym typeface="Delius"/>
              </a:rPr>
              <a:t>2. B) New factories made weapons faster and deadlier</a:t>
            </a:r>
            <a:endParaRPr sz="1500" b="1">
              <a:solidFill>
                <a:srgbClr val="38761D"/>
              </a:solidFill>
              <a:latin typeface="Delius"/>
              <a:ea typeface="Delius"/>
              <a:cs typeface="Delius"/>
              <a:sym typeface="Delius"/>
            </a:endParaRPr>
          </a:p>
          <a:p>
            <a:pPr marL="0" lvl="0" indent="0" algn="l" rtl="0">
              <a:lnSpc>
                <a:spcPct val="100000"/>
              </a:lnSpc>
              <a:spcBef>
                <a:spcPts val="1200"/>
              </a:spcBef>
              <a:spcAft>
                <a:spcPts val="0"/>
              </a:spcAft>
              <a:buNone/>
            </a:pPr>
            <a:r>
              <a:rPr lang="en" sz="1500" b="1">
                <a:solidFill>
                  <a:srgbClr val="38761D"/>
                </a:solidFill>
                <a:latin typeface="Delius"/>
                <a:ea typeface="Delius"/>
                <a:cs typeface="Delius"/>
                <a:sym typeface="Delius"/>
              </a:rPr>
              <a:t>3. D) Germany</a:t>
            </a:r>
            <a:endParaRPr sz="1500" b="1">
              <a:solidFill>
                <a:srgbClr val="38761D"/>
              </a:solidFill>
              <a:latin typeface="Delius"/>
              <a:ea typeface="Delius"/>
              <a:cs typeface="Delius"/>
              <a:sym typeface="Delius"/>
            </a:endParaRPr>
          </a:p>
          <a:p>
            <a:pPr marL="0" lvl="0" indent="0" algn="l" rtl="0">
              <a:lnSpc>
                <a:spcPct val="100000"/>
              </a:lnSpc>
              <a:spcBef>
                <a:spcPts val="1200"/>
              </a:spcBef>
              <a:spcAft>
                <a:spcPts val="0"/>
              </a:spcAft>
              <a:buNone/>
            </a:pPr>
            <a:r>
              <a:rPr lang="en" sz="1500" b="1">
                <a:solidFill>
                  <a:srgbClr val="38761D"/>
                </a:solidFill>
                <a:latin typeface="Delius"/>
                <a:ea typeface="Delius"/>
                <a:cs typeface="Delius"/>
                <a:sym typeface="Delius"/>
              </a:rPr>
              <a:t>4. B) France’s army was weaker because of problems at home</a:t>
            </a:r>
            <a:endParaRPr sz="1500" b="1">
              <a:solidFill>
                <a:srgbClr val="38761D"/>
              </a:solidFill>
              <a:latin typeface="Delius"/>
              <a:ea typeface="Delius"/>
              <a:cs typeface="Delius"/>
              <a:sym typeface="Delius"/>
            </a:endParaRPr>
          </a:p>
          <a:p>
            <a:pPr marL="0" lvl="0" indent="0" algn="l" rtl="0">
              <a:lnSpc>
                <a:spcPct val="100000"/>
              </a:lnSpc>
              <a:spcBef>
                <a:spcPts val="1200"/>
              </a:spcBef>
              <a:spcAft>
                <a:spcPts val="0"/>
              </a:spcAft>
              <a:buNone/>
            </a:pPr>
            <a:r>
              <a:rPr lang="en" sz="1500" b="1">
                <a:solidFill>
                  <a:srgbClr val="38761D"/>
                </a:solidFill>
                <a:latin typeface="Delius"/>
                <a:ea typeface="Delius"/>
                <a:cs typeface="Delius"/>
                <a:sym typeface="Delius"/>
              </a:rPr>
              <a:t>5. C) Germany, Italy, Austria-Hungary</a:t>
            </a:r>
            <a:endParaRPr sz="1500" b="1">
              <a:solidFill>
                <a:srgbClr val="38761D"/>
              </a:solidFill>
              <a:latin typeface="Delius"/>
              <a:ea typeface="Delius"/>
              <a:cs typeface="Delius"/>
              <a:sym typeface="Delius"/>
            </a:endParaRPr>
          </a:p>
          <a:p>
            <a:pPr marL="0" lvl="0" indent="0" algn="l" rtl="0">
              <a:lnSpc>
                <a:spcPct val="100000"/>
              </a:lnSpc>
              <a:spcBef>
                <a:spcPts val="1200"/>
              </a:spcBef>
              <a:spcAft>
                <a:spcPts val="0"/>
              </a:spcAft>
              <a:buNone/>
            </a:pPr>
            <a:r>
              <a:rPr lang="en" sz="1500" b="1">
                <a:solidFill>
                  <a:srgbClr val="38761D"/>
                </a:solidFill>
                <a:latin typeface="Delius"/>
                <a:ea typeface="Delius"/>
                <a:cs typeface="Delius"/>
                <a:sym typeface="Delius"/>
              </a:rPr>
              <a:t>6. D) To move troops quickly if war started</a:t>
            </a:r>
            <a:endParaRPr sz="1500" b="1">
              <a:solidFill>
                <a:srgbClr val="38761D"/>
              </a:solidFill>
              <a:latin typeface="Delius"/>
              <a:ea typeface="Delius"/>
              <a:cs typeface="Delius"/>
              <a:sym typeface="Delius"/>
            </a:endParaRPr>
          </a:p>
          <a:p>
            <a:pPr marL="0" lvl="0" indent="0" algn="l" rtl="0">
              <a:lnSpc>
                <a:spcPct val="100000"/>
              </a:lnSpc>
              <a:spcBef>
                <a:spcPts val="1200"/>
              </a:spcBef>
              <a:spcAft>
                <a:spcPts val="0"/>
              </a:spcAft>
              <a:buNone/>
            </a:pPr>
            <a:r>
              <a:rPr lang="en" sz="1500" b="1">
                <a:solidFill>
                  <a:srgbClr val="38761D"/>
                </a:solidFill>
                <a:latin typeface="Delius"/>
                <a:ea typeface="Delius"/>
                <a:cs typeface="Delius"/>
                <a:sym typeface="Delius"/>
              </a:rPr>
              <a:t>7. A) Competing to build bigger empires</a:t>
            </a:r>
            <a:endParaRPr sz="1500" b="1">
              <a:solidFill>
                <a:srgbClr val="38761D"/>
              </a:solidFill>
              <a:latin typeface="Delius"/>
              <a:ea typeface="Delius"/>
              <a:cs typeface="Delius"/>
              <a:sym typeface="Delius"/>
            </a:endParaRPr>
          </a:p>
          <a:p>
            <a:pPr marL="0" lvl="0" indent="0" algn="l" rtl="0">
              <a:lnSpc>
                <a:spcPct val="100000"/>
              </a:lnSpc>
              <a:spcBef>
                <a:spcPts val="1200"/>
              </a:spcBef>
              <a:spcAft>
                <a:spcPts val="0"/>
              </a:spcAft>
              <a:buNone/>
            </a:pPr>
            <a:r>
              <a:rPr lang="en" sz="1500" b="1">
                <a:solidFill>
                  <a:srgbClr val="38761D"/>
                </a:solidFill>
                <a:latin typeface="Delius"/>
                <a:ea typeface="Delius"/>
                <a:cs typeface="Delius"/>
                <a:sym typeface="Delius"/>
              </a:rPr>
              <a:t>8. B) Countries felt proud but also feared other nations</a:t>
            </a:r>
            <a:endParaRPr sz="1500" b="1">
              <a:solidFill>
                <a:srgbClr val="38761D"/>
              </a:solidFill>
              <a:latin typeface="Delius"/>
              <a:ea typeface="Delius"/>
              <a:cs typeface="Delius"/>
              <a:sym typeface="Delius"/>
            </a:endParaRPr>
          </a:p>
          <a:p>
            <a:pPr marL="0" lvl="0" indent="0" algn="l" rtl="0">
              <a:lnSpc>
                <a:spcPct val="100000"/>
              </a:lnSpc>
              <a:spcBef>
                <a:spcPts val="1200"/>
              </a:spcBef>
              <a:spcAft>
                <a:spcPts val="0"/>
              </a:spcAft>
              <a:buNone/>
            </a:pPr>
            <a:r>
              <a:rPr lang="en" sz="1500" b="1">
                <a:solidFill>
                  <a:srgbClr val="38761D"/>
                </a:solidFill>
                <a:latin typeface="Delius"/>
                <a:ea typeface="Delius"/>
                <a:cs typeface="Delius"/>
                <a:sym typeface="Delius"/>
              </a:rPr>
              <a:t>9. C) Archduke Franz Ferdinand was killed</a:t>
            </a:r>
            <a:endParaRPr sz="1500" b="1">
              <a:solidFill>
                <a:srgbClr val="38761D"/>
              </a:solidFill>
              <a:latin typeface="Delius"/>
              <a:ea typeface="Delius"/>
              <a:cs typeface="Delius"/>
              <a:sym typeface="Delius"/>
            </a:endParaRPr>
          </a:p>
          <a:p>
            <a:pPr marL="0" lvl="0" indent="0" algn="l" rtl="0">
              <a:lnSpc>
                <a:spcPct val="100000"/>
              </a:lnSpc>
              <a:spcBef>
                <a:spcPts val="1200"/>
              </a:spcBef>
              <a:spcAft>
                <a:spcPts val="1200"/>
              </a:spcAft>
              <a:buNone/>
            </a:pPr>
            <a:r>
              <a:rPr lang="en" sz="1500" b="1">
                <a:solidFill>
                  <a:srgbClr val="38761D"/>
                </a:solidFill>
                <a:latin typeface="Delius"/>
                <a:ea typeface="Delius"/>
                <a:cs typeface="Delius"/>
                <a:sym typeface="Delius"/>
              </a:rPr>
              <a:t>10. A) The alliance system pulled many countries into war</a:t>
            </a:r>
            <a:endParaRPr sz="1500" b="1">
              <a:solidFill>
                <a:srgbClr val="38761D"/>
              </a:solidFill>
              <a:latin typeface="Delius"/>
              <a:ea typeface="Delius"/>
              <a:cs typeface="Delius"/>
              <a:sym typeface="Delius"/>
            </a:endParaRPr>
          </a:p>
        </p:txBody>
      </p:sp>
      <p:sp>
        <p:nvSpPr>
          <p:cNvPr id="253" name="Google Shape;253;p33"/>
          <p:cNvSpPr txBox="1"/>
          <p:nvPr/>
        </p:nvSpPr>
        <p:spPr>
          <a:xfrm>
            <a:off x="100801" y="582500"/>
            <a:ext cx="4471200" cy="571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1" u="sng">
                <a:solidFill>
                  <a:schemeClr val="dk1"/>
                </a:solidFill>
                <a:latin typeface="Patrick Hand"/>
                <a:ea typeface="Patrick Hand"/>
                <a:cs typeface="Patrick Hand"/>
                <a:sym typeface="Patrick Hand"/>
              </a:rPr>
              <a:t>A Preventative War?</a:t>
            </a:r>
            <a:endParaRPr sz="2400" b="1" i="0" u="sng" strike="noStrike" cap="none">
              <a:solidFill>
                <a:schemeClr val="dk1"/>
              </a:solidFill>
              <a:latin typeface="Patrick Hand"/>
              <a:ea typeface="Patrick Hand"/>
              <a:cs typeface="Patrick Hand"/>
              <a:sym typeface="Patrick Hand"/>
            </a:endParaRPr>
          </a:p>
        </p:txBody>
      </p:sp>
      <p:pic>
        <p:nvPicPr>
          <p:cNvPr id="254" name="Google Shape;254;p33" title="Screenshot 2025-09-16 at 1.46.08 PM.png"/>
          <p:cNvPicPr preferRelativeResize="0"/>
          <p:nvPr/>
        </p:nvPicPr>
        <p:blipFill>
          <a:blip r:embed="rId3">
            <a:alphaModFix/>
          </a:blip>
          <a:stretch>
            <a:fillRect/>
          </a:stretch>
        </p:blipFill>
        <p:spPr>
          <a:xfrm>
            <a:off x="5878449" y="2016300"/>
            <a:ext cx="3009951" cy="2293486"/>
          </a:xfrm>
          <a:prstGeom prst="rect">
            <a:avLst/>
          </a:prstGeom>
          <a:noFill/>
          <a:ln>
            <a:noFill/>
          </a:ln>
        </p:spPr>
      </p:pic>
      <p:pic>
        <p:nvPicPr>
          <p:cNvPr id="255" name="Google Shape;255;p33"/>
          <p:cNvPicPr preferRelativeResize="0"/>
          <p:nvPr/>
        </p:nvPicPr>
        <p:blipFill>
          <a:blip r:embed="rId4">
            <a:alphaModFix/>
          </a:blip>
          <a:stretch>
            <a:fillRect/>
          </a:stretch>
        </p:blipFill>
        <p:spPr>
          <a:xfrm>
            <a:off x="7012200" y="762600"/>
            <a:ext cx="554100" cy="554100"/>
          </a:xfrm>
          <a:prstGeom prst="rect">
            <a:avLst/>
          </a:prstGeom>
          <a:noFill/>
          <a:ln>
            <a:noFill/>
          </a:ln>
        </p:spPr>
      </p:pic>
      <p:sp>
        <p:nvSpPr>
          <p:cNvPr id="256" name="Google Shape;256;p33"/>
          <p:cNvSpPr txBox="1"/>
          <p:nvPr/>
        </p:nvSpPr>
        <p:spPr>
          <a:xfrm>
            <a:off x="104400" y="77000"/>
            <a:ext cx="8919300" cy="50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Title: Militarism and the Arms Race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LO: How did militarism and the arms race increase tensions in Europe before 1914?</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endParaRPr sz="1200" b="1">
              <a:solidFill>
                <a:srgbClr val="980000"/>
              </a:solidFill>
              <a:latin typeface="Delius"/>
              <a:ea typeface="Delius"/>
              <a:cs typeface="Delius"/>
              <a:sym typeface="Deliu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5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5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5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5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5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34"/>
          <p:cNvSpPr txBox="1"/>
          <p:nvPr/>
        </p:nvSpPr>
        <p:spPr>
          <a:xfrm>
            <a:off x="104400" y="77000"/>
            <a:ext cx="8919300" cy="50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Title: Militarism and the Arms Race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LO: How did militarism and the arms race increase tensions in Europe before 1914?</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endParaRPr sz="1200" b="1">
              <a:solidFill>
                <a:srgbClr val="980000"/>
              </a:solidFill>
              <a:latin typeface="Delius"/>
              <a:ea typeface="Delius"/>
              <a:cs typeface="Delius"/>
              <a:sym typeface="Delius"/>
            </a:endParaRPr>
          </a:p>
        </p:txBody>
      </p:sp>
      <p:sp>
        <p:nvSpPr>
          <p:cNvPr id="262" name="Google Shape;262;p34"/>
          <p:cNvSpPr txBox="1"/>
          <p:nvPr/>
        </p:nvSpPr>
        <p:spPr>
          <a:xfrm>
            <a:off x="100800" y="582500"/>
            <a:ext cx="6919200" cy="571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1" u="sng">
                <a:solidFill>
                  <a:schemeClr val="dk1"/>
                </a:solidFill>
                <a:latin typeface="Patrick Hand"/>
                <a:ea typeface="Patrick Hand"/>
                <a:cs typeface="Patrick Hand"/>
                <a:sym typeface="Patrick Hand"/>
              </a:rPr>
              <a:t>Analysing Historical Sources: Puck Cartoon</a:t>
            </a:r>
            <a:endParaRPr sz="2400" b="1" u="sng">
              <a:solidFill>
                <a:schemeClr val="dk1"/>
              </a:solidFill>
              <a:latin typeface="Patrick Hand"/>
              <a:ea typeface="Patrick Hand"/>
              <a:cs typeface="Patrick Hand"/>
              <a:sym typeface="Patrick Hand"/>
            </a:endParaRPr>
          </a:p>
        </p:txBody>
      </p:sp>
      <p:sp>
        <p:nvSpPr>
          <p:cNvPr id="263" name="Google Shape;263;p34"/>
          <p:cNvSpPr txBox="1"/>
          <p:nvPr/>
        </p:nvSpPr>
        <p:spPr>
          <a:xfrm>
            <a:off x="3015550" y="1154000"/>
            <a:ext cx="6008100" cy="1280700"/>
          </a:xfrm>
          <a:prstGeom prst="rect">
            <a:avLst/>
          </a:prstGeom>
          <a:noFill/>
          <a:ln>
            <a:noFill/>
          </a:ln>
        </p:spPr>
        <p:txBody>
          <a:bodyPr spcFirstLastPara="1" wrap="square" lIns="91425" tIns="91425" rIns="91425" bIns="91425" anchor="t" anchorCtr="0">
            <a:spAutoFit/>
          </a:bodyPr>
          <a:lstStyle/>
          <a:p>
            <a:pPr marL="457200" lvl="0" indent="-330200" algn="l" rtl="0">
              <a:lnSpc>
                <a:spcPct val="115000"/>
              </a:lnSpc>
              <a:spcBef>
                <a:spcPts val="1200"/>
              </a:spcBef>
              <a:spcAft>
                <a:spcPts val="0"/>
              </a:spcAft>
              <a:buClr>
                <a:schemeClr val="dk1"/>
              </a:buClr>
              <a:buSzPts val="1600"/>
              <a:buAutoNum type="arabicPeriod"/>
            </a:pPr>
            <a:r>
              <a:rPr lang="en" sz="1600" b="1">
                <a:solidFill>
                  <a:schemeClr val="dk1"/>
                </a:solidFill>
                <a:latin typeface="Baumans"/>
                <a:ea typeface="Baumans"/>
                <a:cs typeface="Baumans"/>
                <a:sym typeface="Baumans"/>
              </a:rPr>
              <a:t>Identify</a:t>
            </a:r>
            <a:r>
              <a:rPr lang="en" sz="1600">
                <a:solidFill>
                  <a:schemeClr val="dk1"/>
                </a:solidFill>
                <a:latin typeface="Baumans"/>
                <a:ea typeface="Baumans"/>
                <a:cs typeface="Baumans"/>
                <a:sym typeface="Baumans"/>
              </a:rPr>
              <a:t> — What can you see?</a:t>
            </a:r>
            <a:endParaRPr sz="1600">
              <a:solidFill>
                <a:schemeClr val="dk1"/>
              </a:solidFill>
              <a:latin typeface="Baumans"/>
              <a:ea typeface="Baumans"/>
              <a:cs typeface="Baumans"/>
              <a:sym typeface="Baumans"/>
            </a:endParaRPr>
          </a:p>
          <a:p>
            <a:pPr marL="457200" lvl="0" indent="-330200" algn="l" rtl="0">
              <a:lnSpc>
                <a:spcPct val="115000"/>
              </a:lnSpc>
              <a:spcBef>
                <a:spcPts val="0"/>
              </a:spcBef>
              <a:spcAft>
                <a:spcPts val="0"/>
              </a:spcAft>
              <a:buClr>
                <a:schemeClr val="dk1"/>
              </a:buClr>
              <a:buSzPts val="1600"/>
              <a:buAutoNum type="arabicPeriod"/>
            </a:pPr>
            <a:r>
              <a:rPr lang="en" sz="1600" b="1">
                <a:solidFill>
                  <a:schemeClr val="dk1"/>
                </a:solidFill>
                <a:latin typeface="Baumans"/>
                <a:ea typeface="Baumans"/>
                <a:cs typeface="Baumans"/>
                <a:sym typeface="Baumans"/>
              </a:rPr>
              <a:t>Explain</a:t>
            </a:r>
            <a:r>
              <a:rPr lang="en" sz="1600">
                <a:solidFill>
                  <a:schemeClr val="dk1"/>
                </a:solidFill>
                <a:latin typeface="Baumans"/>
                <a:ea typeface="Baumans"/>
                <a:cs typeface="Baumans"/>
                <a:sym typeface="Baumans"/>
              </a:rPr>
              <a:t> — What message does it show?</a:t>
            </a:r>
            <a:endParaRPr sz="1600">
              <a:solidFill>
                <a:schemeClr val="dk1"/>
              </a:solidFill>
              <a:latin typeface="Baumans"/>
              <a:ea typeface="Baumans"/>
              <a:cs typeface="Baumans"/>
              <a:sym typeface="Baumans"/>
            </a:endParaRPr>
          </a:p>
          <a:p>
            <a:pPr marL="457200" lvl="0" indent="-330200" algn="l" rtl="0">
              <a:lnSpc>
                <a:spcPct val="115000"/>
              </a:lnSpc>
              <a:spcBef>
                <a:spcPts val="0"/>
              </a:spcBef>
              <a:spcAft>
                <a:spcPts val="0"/>
              </a:spcAft>
              <a:buClr>
                <a:schemeClr val="dk1"/>
              </a:buClr>
              <a:buSzPts val="1600"/>
              <a:buAutoNum type="arabicPeriod"/>
            </a:pPr>
            <a:r>
              <a:rPr lang="en" sz="1600" b="1">
                <a:solidFill>
                  <a:schemeClr val="dk1"/>
                </a:solidFill>
                <a:latin typeface="Baumans"/>
                <a:ea typeface="Baumans"/>
                <a:cs typeface="Baumans"/>
                <a:sym typeface="Baumans"/>
              </a:rPr>
              <a:t>Think</a:t>
            </a:r>
            <a:r>
              <a:rPr lang="en" sz="1600">
                <a:solidFill>
                  <a:schemeClr val="dk1"/>
                </a:solidFill>
                <a:latin typeface="Baumans"/>
                <a:ea typeface="Baumans"/>
                <a:cs typeface="Baumans"/>
                <a:sym typeface="Baumans"/>
              </a:rPr>
              <a:t> — Why might the creator want people to think this?</a:t>
            </a:r>
            <a:endParaRPr sz="1600">
              <a:solidFill>
                <a:schemeClr val="dk1"/>
              </a:solidFill>
              <a:latin typeface="Baumans"/>
              <a:ea typeface="Baumans"/>
              <a:cs typeface="Baumans"/>
              <a:sym typeface="Baumans"/>
            </a:endParaRPr>
          </a:p>
          <a:p>
            <a:pPr marL="457200" lvl="0" indent="-330200" algn="l" rtl="0">
              <a:lnSpc>
                <a:spcPct val="115000"/>
              </a:lnSpc>
              <a:spcBef>
                <a:spcPts val="0"/>
              </a:spcBef>
              <a:spcAft>
                <a:spcPts val="0"/>
              </a:spcAft>
              <a:buClr>
                <a:schemeClr val="dk1"/>
              </a:buClr>
              <a:buSzPts val="1600"/>
              <a:buAutoNum type="arabicPeriod"/>
            </a:pPr>
            <a:r>
              <a:rPr lang="en" sz="1600" b="1">
                <a:solidFill>
                  <a:schemeClr val="dk1"/>
                </a:solidFill>
                <a:latin typeface="Baumans"/>
                <a:ea typeface="Baumans"/>
                <a:cs typeface="Baumans"/>
                <a:sym typeface="Baumans"/>
              </a:rPr>
              <a:t>Use evidence</a:t>
            </a:r>
            <a:r>
              <a:rPr lang="en" sz="1600">
                <a:solidFill>
                  <a:schemeClr val="dk1"/>
                </a:solidFill>
                <a:latin typeface="Baumans"/>
                <a:ea typeface="Baumans"/>
                <a:cs typeface="Baumans"/>
                <a:sym typeface="Baumans"/>
              </a:rPr>
              <a:t> — Which details support your answer?</a:t>
            </a:r>
            <a:endParaRPr sz="1600">
              <a:solidFill>
                <a:schemeClr val="dk1"/>
              </a:solidFill>
              <a:latin typeface="Baumans"/>
              <a:ea typeface="Baumans"/>
              <a:cs typeface="Baumans"/>
              <a:sym typeface="Baumans"/>
            </a:endParaRPr>
          </a:p>
        </p:txBody>
      </p:sp>
      <p:pic>
        <p:nvPicPr>
          <p:cNvPr id="264" name="Google Shape;264;p34"/>
          <p:cNvPicPr preferRelativeResize="0"/>
          <p:nvPr/>
        </p:nvPicPr>
        <p:blipFill rotWithShape="1">
          <a:blip r:embed="rId3">
            <a:alphaModFix/>
          </a:blip>
          <a:srcRect/>
          <a:stretch/>
        </p:blipFill>
        <p:spPr>
          <a:xfrm>
            <a:off x="104400" y="1154000"/>
            <a:ext cx="2788875" cy="3883000"/>
          </a:xfrm>
          <a:prstGeom prst="rect">
            <a:avLst/>
          </a:prstGeom>
          <a:noFill/>
          <a:ln>
            <a:noFill/>
          </a:ln>
        </p:spPr>
      </p:pic>
      <p:sp>
        <p:nvSpPr>
          <p:cNvPr id="265" name="Google Shape;265;p34"/>
          <p:cNvSpPr txBox="1"/>
          <p:nvPr/>
        </p:nvSpPr>
        <p:spPr>
          <a:xfrm>
            <a:off x="3015550" y="2796300"/>
            <a:ext cx="6008100" cy="12807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600" b="1">
                <a:solidFill>
                  <a:schemeClr val="dk1"/>
                </a:solidFill>
                <a:latin typeface="Baumans"/>
                <a:ea typeface="Baumans"/>
                <a:cs typeface="Baumans"/>
                <a:sym typeface="Baumans"/>
              </a:rPr>
              <a:t>Historical Context — Before 1914</a:t>
            </a:r>
            <a:endParaRPr sz="1600" b="1">
              <a:solidFill>
                <a:schemeClr val="dk1"/>
              </a:solidFill>
              <a:latin typeface="Baumans"/>
              <a:ea typeface="Baumans"/>
              <a:cs typeface="Baumans"/>
              <a:sym typeface="Baumans"/>
            </a:endParaRPr>
          </a:p>
          <a:p>
            <a:pPr marL="0" lvl="0" indent="0" algn="l" rtl="0">
              <a:lnSpc>
                <a:spcPct val="115000"/>
              </a:lnSpc>
              <a:spcBef>
                <a:spcPts val="0"/>
              </a:spcBef>
              <a:spcAft>
                <a:spcPts val="0"/>
              </a:spcAft>
              <a:buNone/>
            </a:pPr>
            <a:r>
              <a:rPr lang="en" sz="1600">
                <a:solidFill>
                  <a:schemeClr val="dk1"/>
                </a:solidFill>
                <a:latin typeface="Baumans"/>
                <a:ea typeface="Baumans"/>
                <a:cs typeface="Baumans"/>
                <a:sym typeface="Baumans"/>
              </a:rPr>
              <a:t>Before the First World War, powerful countries such as Britain and Germany competed to build stronger navies. This naval arms race increased fear and tension across Europe.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5"/>
          <p:cNvSpPr txBox="1"/>
          <p:nvPr/>
        </p:nvSpPr>
        <p:spPr>
          <a:xfrm>
            <a:off x="100800" y="582500"/>
            <a:ext cx="6919200" cy="571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1" u="sng">
                <a:solidFill>
                  <a:schemeClr val="dk1"/>
                </a:solidFill>
                <a:latin typeface="Patrick Hand"/>
                <a:ea typeface="Patrick Hand"/>
                <a:cs typeface="Patrick Hand"/>
                <a:sym typeface="Patrick Hand"/>
              </a:rPr>
              <a:t>Analysing Historical Sources: Puck Cartoon</a:t>
            </a:r>
            <a:endParaRPr sz="2400" b="1" u="sng">
              <a:solidFill>
                <a:schemeClr val="dk1"/>
              </a:solidFill>
              <a:latin typeface="Patrick Hand"/>
              <a:ea typeface="Patrick Hand"/>
              <a:cs typeface="Patrick Hand"/>
              <a:sym typeface="Patrick Hand"/>
            </a:endParaRPr>
          </a:p>
        </p:txBody>
      </p:sp>
      <p:sp>
        <p:nvSpPr>
          <p:cNvPr id="271" name="Google Shape;271;p35"/>
          <p:cNvSpPr txBox="1"/>
          <p:nvPr/>
        </p:nvSpPr>
        <p:spPr>
          <a:xfrm>
            <a:off x="104400" y="77000"/>
            <a:ext cx="8919300" cy="50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Title: Militarism and the Arms Race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LO: How did militarism and the arms race increase tensions in Europe before 1914?</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endParaRPr sz="1200" b="1">
              <a:solidFill>
                <a:srgbClr val="980000"/>
              </a:solidFill>
              <a:latin typeface="Delius"/>
              <a:ea typeface="Delius"/>
              <a:cs typeface="Delius"/>
              <a:sym typeface="Delius"/>
            </a:endParaRPr>
          </a:p>
        </p:txBody>
      </p:sp>
      <p:sp>
        <p:nvSpPr>
          <p:cNvPr id="272" name="Google Shape;272;p35"/>
          <p:cNvSpPr txBox="1"/>
          <p:nvPr/>
        </p:nvSpPr>
        <p:spPr>
          <a:xfrm>
            <a:off x="2965775" y="1154000"/>
            <a:ext cx="6057900" cy="431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2400"/>
              </a:spcBef>
              <a:spcAft>
                <a:spcPts val="600"/>
              </a:spcAft>
              <a:buNone/>
            </a:pPr>
            <a:endParaRPr sz="1600" b="1">
              <a:solidFill>
                <a:schemeClr val="dk1"/>
              </a:solidFill>
              <a:latin typeface="Baumans"/>
              <a:ea typeface="Baumans"/>
              <a:cs typeface="Baumans"/>
              <a:sym typeface="Baumans"/>
            </a:endParaRPr>
          </a:p>
        </p:txBody>
      </p:sp>
      <p:pic>
        <p:nvPicPr>
          <p:cNvPr id="273" name="Google Shape;273;p35"/>
          <p:cNvPicPr preferRelativeResize="0"/>
          <p:nvPr/>
        </p:nvPicPr>
        <p:blipFill rotWithShape="1">
          <a:blip r:embed="rId3">
            <a:alphaModFix/>
          </a:blip>
          <a:srcRect/>
          <a:stretch/>
        </p:blipFill>
        <p:spPr>
          <a:xfrm>
            <a:off x="104400" y="1154000"/>
            <a:ext cx="2788875" cy="3883000"/>
          </a:xfrm>
          <a:prstGeom prst="rect">
            <a:avLst/>
          </a:prstGeom>
          <a:noFill/>
          <a:ln>
            <a:noFill/>
          </a:ln>
        </p:spPr>
      </p:pic>
      <p:sp>
        <p:nvSpPr>
          <p:cNvPr id="274" name="Google Shape;274;p35"/>
          <p:cNvSpPr txBox="1"/>
          <p:nvPr/>
        </p:nvSpPr>
        <p:spPr>
          <a:xfrm>
            <a:off x="3008125" y="1154000"/>
            <a:ext cx="6057900" cy="997500"/>
          </a:xfrm>
          <a:prstGeom prst="rect">
            <a:avLst/>
          </a:prstGeom>
          <a:noFill/>
          <a:ln>
            <a:noFill/>
          </a:ln>
        </p:spPr>
        <p:txBody>
          <a:bodyPr spcFirstLastPara="1" wrap="square" lIns="91425" tIns="91425" rIns="91425" bIns="91425" anchor="t" anchorCtr="0">
            <a:spAutoFit/>
          </a:bodyPr>
          <a:lstStyle/>
          <a:p>
            <a:pPr marL="457200" lvl="0" indent="-330200" algn="l" rtl="0">
              <a:lnSpc>
                <a:spcPct val="115000"/>
              </a:lnSpc>
              <a:spcBef>
                <a:spcPts val="0"/>
              </a:spcBef>
              <a:spcAft>
                <a:spcPts val="0"/>
              </a:spcAft>
              <a:buClr>
                <a:schemeClr val="dk1"/>
              </a:buClr>
              <a:buSzPts val="1600"/>
              <a:buFont typeface="Baumans"/>
              <a:buAutoNum type="arabicPeriod"/>
            </a:pPr>
            <a:r>
              <a:rPr lang="en" sz="1600" b="1">
                <a:solidFill>
                  <a:schemeClr val="dk1"/>
                </a:solidFill>
                <a:latin typeface="Baumans"/>
                <a:ea typeface="Baumans"/>
                <a:cs typeface="Baumans"/>
                <a:sym typeface="Baumans"/>
              </a:rPr>
              <a:t>IDENTIFY — What can you see?</a:t>
            </a:r>
            <a:endParaRPr sz="1600" b="1">
              <a:solidFill>
                <a:schemeClr val="dk1"/>
              </a:solidFill>
              <a:latin typeface="Baumans"/>
              <a:ea typeface="Baumans"/>
              <a:cs typeface="Baumans"/>
              <a:sym typeface="Baumans"/>
            </a:endParaRPr>
          </a:p>
          <a:p>
            <a:pPr marL="0" lvl="0" indent="0" algn="l" rtl="0">
              <a:lnSpc>
                <a:spcPct val="115000"/>
              </a:lnSpc>
              <a:spcBef>
                <a:spcPts val="0"/>
              </a:spcBef>
              <a:spcAft>
                <a:spcPts val="0"/>
              </a:spcAft>
              <a:buNone/>
            </a:pPr>
            <a:r>
              <a:rPr lang="en" sz="1600">
                <a:solidFill>
                  <a:schemeClr val="dk1"/>
                </a:solidFill>
                <a:latin typeface="Baumans"/>
                <a:ea typeface="Baumans"/>
                <a:cs typeface="Baumans"/>
                <a:sym typeface="Baumans"/>
              </a:rPr>
              <a:t>Figures representing powerful countries sit around a table covered with warships. Uncle Sam represents the USA.</a:t>
            </a:r>
            <a:endParaRPr sz="1600">
              <a:solidFill>
                <a:schemeClr val="dk1"/>
              </a:solidFill>
              <a:latin typeface="Baumans"/>
              <a:ea typeface="Baumans"/>
              <a:cs typeface="Baumans"/>
              <a:sym typeface="Baumans"/>
            </a:endParaRPr>
          </a:p>
        </p:txBody>
      </p:sp>
      <p:sp>
        <p:nvSpPr>
          <p:cNvPr id="275" name="Google Shape;275;p35"/>
          <p:cNvSpPr txBox="1"/>
          <p:nvPr/>
        </p:nvSpPr>
        <p:spPr>
          <a:xfrm>
            <a:off x="3064050" y="2151500"/>
            <a:ext cx="5959500" cy="997500"/>
          </a:xfrm>
          <a:prstGeom prst="rect">
            <a:avLst/>
          </a:prstGeom>
          <a:noFill/>
          <a:ln>
            <a:noFill/>
          </a:ln>
        </p:spPr>
        <p:txBody>
          <a:bodyPr spcFirstLastPara="1" wrap="square" lIns="91425" tIns="91425" rIns="91425" bIns="91425" anchor="t" anchorCtr="0">
            <a:spAutoFit/>
          </a:bodyPr>
          <a:lstStyle/>
          <a:p>
            <a:pPr marL="457200" lvl="0" indent="-330200" algn="l" rtl="0">
              <a:lnSpc>
                <a:spcPct val="115000"/>
              </a:lnSpc>
              <a:spcBef>
                <a:spcPts val="0"/>
              </a:spcBef>
              <a:spcAft>
                <a:spcPts val="0"/>
              </a:spcAft>
              <a:buClr>
                <a:schemeClr val="dk1"/>
              </a:buClr>
              <a:buSzPts val="1600"/>
              <a:buFont typeface="Baumans"/>
              <a:buAutoNum type="arabicPeriod" startAt="2"/>
            </a:pPr>
            <a:r>
              <a:rPr lang="en" sz="1600" b="1">
                <a:solidFill>
                  <a:schemeClr val="dk1"/>
                </a:solidFill>
                <a:latin typeface="Baumans"/>
                <a:ea typeface="Baumans"/>
                <a:cs typeface="Baumans"/>
                <a:sym typeface="Baumans"/>
              </a:rPr>
              <a:t>EXPLAIN — What message does it show?</a:t>
            </a:r>
            <a:endParaRPr sz="1600" b="1">
              <a:solidFill>
                <a:schemeClr val="dk1"/>
              </a:solidFill>
              <a:latin typeface="Baumans"/>
              <a:ea typeface="Baumans"/>
              <a:cs typeface="Baumans"/>
              <a:sym typeface="Baumans"/>
            </a:endParaRPr>
          </a:p>
          <a:p>
            <a:pPr marL="0" lvl="0" indent="0" algn="l" rtl="0">
              <a:lnSpc>
                <a:spcPct val="115000"/>
              </a:lnSpc>
              <a:spcBef>
                <a:spcPts val="0"/>
              </a:spcBef>
              <a:spcAft>
                <a:spcPts val="0"/>
              </a:spcAft>
              <a:buNone/>
            </a:pPr>
            <a:r>
              <a:rPr lang="en" sz="1600">
                <a:solidFill>
                  <a:schemeClr val="dk1"/>
                </a:solidFill>
                <a:latin typeface="Baumans"/>
                <a:ea typeface="Baumans"/>
                <a:cs typeface="Baumans"/>
                <a:sym typeface="Baumans"/>
              </a:rPr>
              <a:t>Countries are competing to build stronger navies, increasing tensions.</a:t>
            </a:r>
            <a:endParaRPr sz="1600">
              <a:solidFill>
                <a:schemeClr val="dk1"/>
              </a:solidFill>
              <a:latin typeface="Baumans"/>
              <a:ea typeface="Baumans"/>
              <a:cs typeface="Baumans"/>
              <a:sym typeface="Baumans"/>
            </a:endParaRPr>
          </a:p>
        </p:txBody>
      </p:sp>
      <p:sp>
        <p:nvSpPr>
          <p:cNvPr id="276" name="Google Shape;276;p35"/>
          <p:cNvSpPr txBox="1"/>
          <p:nvPr/>
        </p:nvSpPr>
        <p:spPr>
          <a:xfrm>
            <a:off x="3008125" y="3149000"/>
            <a:ext cx="6015300" cy="997500"/>
          </a:xfrm>
          <a:prstGeom prst="rect">
            <a:avLst/>
          </a:prstGeom>
          <a:noFill/>
          <a:ln>
            <a:noFill/>
          </a:ln>
        </p:spPr>
        <p:txBody>
          <a:bodyPr spcFirstLastPara="1" wrap="square" lIns="91425" tIns="91425" rIns="91425" bIns="91425" anchor="t" anchorCtr="0">
            <a:spAutoFit/>
          </a:bodyPr>
          <a:lstStyle/>
          <a:p>
            <a:pPr marL="457200" lvl="0" indent="-330200" algn="l" rtl="0">
              <a:lnSpc>
                <a:spcPct val="115000"/>
              </a:lnSpc>
              <a:spcBef>
                <a:spcPts val="0"/>
              </a:spcBef>
              <a:spcAft>
                <a:spcPts val="0"/>
              </a:spcAft>
              <a:buClr>
                <a:schemeClr val="dk1"/>
              </a:buClr>
              <a:buSzPts val="1600"/>
              <a:buFont typeface="Baumans"/>
              <a:buAutoNum type="arabicPeriod" startAt="3"/>
            </a:pPr>
            <a:r>
              <a:rPr lang="en" sz="1600" b="1">
                <a:solidFill>
                  <a:schemeClr val="dk1"/>
                </a:solidFill>
                <a:latin typeface="Baumans"/>
                <a:ea typeface="Baumans"/>
                <a:cs typeface="Baumans"/>
                <a:sym typeface="Baumans"/>
              </a:rPr>
              <a:t>THINK — Why was it created?</a:t>
            </a:r>
            <a:endParaRPr sz="1600" b="1">
              <a:solidFill>
                <a:schemeClr val="dk1"/>
              </a:solidFill>
              <a:latin typeface="Baumans"/>
              <a:ea typeface="Baumans"/>
              <a:cs typeface="Baumans"/>
              <a:sym typeface="Baumans"/>
            </a:endParaRPr>
          </a:p>
          <a:p>
            <a:pPr marL="0" lvl="0" indent="0" algn="l" rtl="0">
              <a:lnSpc>
                <a:spcPct val="115000"/>
              </a:lnSpc>
              <a:spcBef>
                <a:spcPts val="0"/>
              </a:spcBef>
              <a:spcAft>
                <a:spcPts val="0"/>
              </a:spcAft>
              <a:buNone/>
            </a:pPr>
            <a:r>
              <a:rPr lang="en" sz="1600">
                <a:solidFill>
                  <a:schemeClr val="dk1"/>
                </a:solidFill>
                <a:latin typeface="Baumans"/>
                <a:ea typeface="Baumans"/>
                <a:cs typeface="Baumans"/>
                <a:sym typeface="Baumans"/>
              </a:rPr>
              <a:t>The creator may want people to worry about the growing naval arms race.</a:t>
            </a:r>
            <a:endParaRPr/>
          </a:p>
        </p:txBody>
      </p:sp>
      <p:sp>
        <p:nvSpPr>
          <p:cNvPr id="277" name="Google Shape;277;p35"/>
          <p:cNvSpPr txBox="1"/>
          <p:nvPr/>
        </p:nvSpPr>
        <p:spPr>
          <a:xfrm>
            <a:off x="3008125" y="4146500"/>
            <a:ext cx="6057900" cy="997500"/>
          </a:xfrm>
          <a:prstGeom prst="rect">
            <a:avLst/>
          </a:prstGeom>
          <a:noFill/>
          <a:ln>
            <a:noFill/>
          </a:ln>
        </p:spPr>
        <p:txBody>
          <a:bodyPr spcFirstLastPara="1" wrap="square" lIns="91425" tIns="91425" rIns="91425" bIns="91425" anchor="t" anchorCtr="0">
            <a:spAutoFit/>
          </a:bodyPr>
          <a:lstStyle/>
          <a:p>
            <a:pPr marL="457200" lvl="0" indent="-330200" algn="l" rtl="0">
              <a:lnSpc>
                <a:spcPct val="115000"/>
              </a:lnSpc>
              <a:spcBef>
                <a:spcPts val="0"/>
              </a:spcBef>
              <a:spcAft>
                <a:spcPts val="0"/>
              </a:spcAft>
              <a:buClr>
                <a:schemeClr val="dk1"/>
              </a:buClr>
              <a:buSzPts val="1600"/>
              <a:buFont typeface="Baumans"/>
              <a:buAutoNum type="arabicPeriod" startAt="4"/>
            </a:pPr>
            <a:r>
              <a:rPr lang="en" sz="1600" b="1">
                <a:solidFill>
                  <a:schemeClr val="dk1"/>
                </a:solidFill>
                <a:latin typeface="Baumans"/>
                <a:ea typeface="Baumans"/>
                <a:cs typeface="Baumans"/>
                <a:sym typeface="Baumans"/>
              </a:rPr>
              <a:t>USE EVIDENCE — Which details support your answer?</a:t>
            </a:r>
            <a:endParaRPr sz="1600" b="1">
              <a:solidFill>
                <a:schemeClr val="dk1"/>
              </a:solidFill>
              <a:latin typeface="Baumans"/>
              <a:ea typeface="Baumans"/>
              <a:cs typeface="Baumans"/>
              <a:sym typeface="Baumans"/>
            </a:endParaRPr>
          </a:p>
          <a:p>
            <a:pPr marL="0" lvl="0" indent="0" algn="l" rtl="0">
              <a:lnSpc>
                <a:spcPct val="115000"/>
              </a:lnSpc>
              <a:spcBef>
                <a:spcPts val="0"/>
              </a:spcBef>
              <a:spcAft>
                <a:spcPts val="0"/>
              </a:spcAft>
              <a:buNone/>
            </a:pPr>
            <a:r>
              <a:rPr lang="en" sz="1600">
                <a:solidFill>
                  <a:schemeClr val="dk1"/>
                </a:solidFill>
                <a:latin typeface="Baumans"/>
                <a:ea typeface="Baumans"/>
                <a:cs typeface="Baumans"/>
                <a:sym typeface="Baumans"/>
              </a:rPr>
              <a:t>The many warships show competition and suggests the arms race could continue without stopping.</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36"/>
          <p:cNvSpPr txBox="1"/>
          <p:nvPr/>
        </p:nvSpPr>
        <p:spPr>
          <a:xfrm>
            <a:off x="2494475" y="397750"/>
            <a:ext cx="6545400" cy="6165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1"/>
              </a:buClr>
              <a:buSzPts val="1100"/>
              <a:buFont typeface="Arial"/>
              <a:buNone/>
            </a:pPr>
            <a:endParaRPr sz="1800" b="1" i="0" u="sng" strike="noStrike" cap="none">
              <a:solidFill>
                <a:schemeClr val="dk1"/>
              </a:solidFill>
              <a:latin typeface="Caveat"/>
              <a:ea typeface="Caveat"/>
              <a:cs typeface="Caveat"/>
              <a:sym typeface="Caveat"/>
            </a:endParaRPr>
          </a:p>
        </p:txBody>
      </p:sp>
      <p:sp>
        <p:nvSpPr>
          <p:cNvPr id="283" name="Google Shape;283;p36"/>
          <p:cNvSpPr txBox="1"/>
          <p:nvPr/>
        </p:nvSpPr>
        <p:spPr>
          <a:xfrm>
            <a:off x="100800" y="582500"/>
            <a:ext cx="5412600" cy="571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1" u="sng">
                <a:solidFill>
                  <a:schemeClr val="dk1"/>
                </a:solidFill>
                <a:latin typeface="Patrick Hand"/>
                <a:ea typeface="Patrick Hand"/>
                <a:cs typeface="Patrick Hand"/>
                <a:sym typeface="Patrick Hand"/>
              </a:rPr>
              <a:t>Analysing Historical Sources: Causes of WW1</a:t>
            </a:r>
            <a:endParaRPr sz="2400" b="1" u="sng">
              <a:solidFill>
                <a:schemeClr val="dk1"/>
              </a:solidFill>
              <a:latin typeface="Patrick Hand"/>
              <a:ea typeface="Patrick Hand"/>
              <a:cs typeface="Patrick Hand"/>
              <a:sym typeface="Patrick Hand"/>
            </a:endParaRPr>
          </a:p>
        </p:txBody>
      </p:sp>
      <p:sp>
        <p:nvSpPr>
          <p:cNvPr id="284" name="Google Shape;284;p36"/>
          <p:cNvSpPr txBox="1"/>
          <p:nvPr/>
        </p:nvSpPr>
        <p:spPr>
          <a:xfrm>
            <a:off x="100800" y="1154000"/>
            <a:ext cx="8942400" cy="714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600" b="1" dirty="0">
                <a:solidFill>
                  <a:schemeClr val="dk1"/>
                </a:solidFill>
                <a:highlight>
                  <a:srgbClr val="00FF00"/>
                </a:highlight>
                <a:latin typeface="Baumans"/>
                <a:ea typeface="Baumans"/>
                <a:cs typeface="Baumans"/>
                <a:sym typeface="Baumans"/>
              </a:rPr>
              <a:t>Activity:</a:t>
            </a:r>
            <a:r>
              <a:rPr lang="en" sz="1600" dirty="0">
                <a:solidFill>
                  <a:schemeClr val="dk1"/>
                </a:solidFill>
                <a:latin typeface="Baumans"/>
                <a:ea typeface="Baumans"/>
                <a:cs typeface="Baumans"/>
                <a:sym typeface="Baumans"/>
              </a:rPr>
              <a:t> Using Sources A and B, identify the strongest navy, explain how competition increased tensions, and assess whether the Kaiser’s arguments would reassure or worry Britain.</a:t>
            </a:r>
            <a:endParaRPr sz="1600" dirty="0">
              <a:solidFill>
                <a:schemeClr val="dk1"/>
              </a:solidFill>
              <a:latin typeface="Baumans"/>
              <a:ea typeface="Baumans"/>
              <a:cs typeface="Baumans"/>
              <a:sym typeface="Baumans"/>
            </a:endParaRPr>
          </a:p>
        </p:txBody>
      </p:sp>
      <p:sp>
        <p:nvSpPr>
          <p:cNvPr id="285" name="Google Shape;285;p36"/>
          <p:cNvSpPr txBox="1"/>
          <p:nvPr/>
        </p:nvSpPr>
        <p:spPr>
          <a:xfrm>
            <a:off x="100800" y="1868300"/>
            <a:ext cx="4156800" cy="2166717"/>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b="1" dirty="0">
                <a:solidFill>
                  <a:schemeClr val="dk1"/>
                </a:solidFill>
                <a:latin typeface="Baumans"/>
                <a:ea typeface="Baumans"/>
                <a:cs typeface="Baumans"/>
                <a:sym typeface="Baumans"/>
              </a:rPr>
              <a:t>Source A - The Naval Strength of the Powers in 1914</a:t>
            </a:r>
            <a:endParaRPr b="1" dirty="0">
              <a:solidFill>
                <a:schemeClr val="dk1"/>
              </a:solidFill>
              <a:latin typeface="Baumans"/>
              <a:ea typeface="Baumans"/>
              <a:cs typeface="Baumans"/>
              <a:sym typeface="Baumans"/>
            </a:endParaRPr>
          </a:p>
          <a:p>
            <a:pPr marL="0" lvl="0" indent="0" algn="ctr" rtl="0">
              <a:lnSpc>
                <a:spcPct val="115000"/>
              </a:lnSpc>
              <a:spcBef>
                <a:spcPts val="0"/>
              </a:spcBef>
              <a:spcAft>
                <a:spcPts val="0"/>
              </a:spcAft>
              <a:buNone/>
            </a:pPr>
            <a:r>
              <a:rPr lang="en" b="1" dirty="0">
                <a:solidFill>
                  <a:schemeClr val="dk1"/>
                </a:solidFill>
                <a:latin typeface="Baumans"/>
                <a:ea typeface="Baumans"/>
                <a:cs typeface="Baumans"/>
                <a:sym typeface="Baumans"/>
              </a:rPr>
              <a:t>Using evidence to make a judgement</a:t>
            </a:r>
            <a:endParaRPr b="1" dirty="0">
              <a:solidFill>
                <a:schemeClr val="dk1"/>
              </a:solidFill>
              <a:latin typeface="Baumans"/>
              <a:ea typeface="Baumans"/>
              <a:cs typeface="Baumans"/>
              <a:sym typeface="Baumans"/>
            </a:endParaRPr>
          </a:p>
          <a:p>
            <a:pPr marL="457200" lvl="0" indent="-317500" algn="l" rtl="0">
              <a:lnSpc>
                <a:spcPct val="115000"/>
              </a:lnSpc>
              <a:spcBef>
                <a:spcPts val="0"/>
              </a:spcBef>
              <a:spcAft>
                <a:spcPts val="0"/>
              </a:spcAft>
              <a:buClr>
                <a:schemeClr val="dk1"/>
              </a:buClr>
              <a:buSzPts val="1400"/>
              <a:buFont typeface="Baumans"/>
              <a:buAutoNum type="alphaLcPeriod"/>
            </a:pPr>
            <a:r>
              <a:rPr lang="en" dirty="0">
                <a:solidFill>
                  <a:schemeClr val="dk1"/>
                </a:solidFill>
                <a:latin typeface="Baumans"/>
                <a:ea typeface="Baumans"/>
                <a:cs typeface="Baumans"/>
                <a:sym typeface="Baumans"/>
              </a:rPr>
              <a:t>Which country had the most Dreadnoughts by 1914?</a:t>
            </a:r>
            <a:endParaRPr dirty="0">
              <a:solidFill>
                <a:schemeClr val="dk1"/>
              </a:solidFill>
              <a:latin typeface="Baumans"/>
              <a:ea typeface="Baumans"/>
              <a:cs typeface="Baumans"/>
              <a:sym typeface="Baumans"/>
            </a:endParaRPr>
          </a:p>
          <a:p>
            <a:pPr marL="457200" lvl="0" indent="-317500" algn="l" rtl="0">
              <a:lnSpc>
                <a:spcPct val="115000"/>
              </a:lnSpc>
              <a:spcBef>
                <a:spcPts val="0"/>
              </a:spcBef>
              <a:spcAft>
                <a:spcPts val="0"/>
              </a:spcAft>
              <a:buClr>
                <a:schemeClr val="dk1"/>
              </a:buClr>
              <a:buSzPts val="1400"/>
              <a:buFont typeface="Baumans"/>
              <a:buAutoNum type="alphaLcPeriod"/>
            </a:pPr>
            <a:r>
              <a:rPr lang="en" dirty="0">
                <a:solidFill>
                  <a:schemeClr val="dk1"/>
                </a:solidFill>
                <a:latin typeface="Baumans"/>
                <a:ea typeface="Baumans"/>
                <a:cs typeface="Baumans"/>
                <a:sym typeface="Baumans"/>
              </a:rPr>
              <a:t>Which alliance had the most Dreadnoughts by 1914?</a:t>
            </a:r>
            <a:endParaRPr dirty="0">
              <a:solidFill>
                <a:schemeClr val="dk1"/>
              </a:solidFill>
              <a:latin typeface="Baumans"/>
              <a:ea typeface="Baumans"/>
              <a:cs typeface="Baumans"/>
              <a:sym typeface="Baumans"/>
            </a:endParaRPr>
          </a:p>
          <a:p>
            <a:pPr marL="457200" lvl="0" indent="-317500">
              <a:lnSpc>
                <a:spcPct val="115000"/>
              </a:lnSpc>
              <a:buClr>
                <a:schemeClr val="dk1"/>
              </a:buClr>
              <a:buSzPts val="1400"/>
              <a:buFont typeface="Baumans"/>
              <a:buAutoNum type="alphaLcPeriod"/>
            </a:pPr>
            <a:r>
              <a:rPr lang="en" dirty="0">
                <a:solidFill>
                  <a:schemeClr val="dk1"/>
                </a:solidFill>
                <a:latin typeface="Baumans"/>
                <a:ea typeface="Baumans"/>
                <a:cs typeface="Baumans"/>
                <a:sym typeface="Baumans"/>
              </a:rPr>
              <a:t>How might this naval competition have increased tensions </a:t>
            </a:r>
            <a:r>
              <a:rPr lang="ja-JP" altLang="en-US">
                <a:solidFill>
                  <a:schemeClr val="dk1"/>
                </a:solidFill>
                <a:latin typeface="Baumans"/>
                <a:ea typeface="Baumans"/>
                <a:cs typeface="Baumans"/>
                <a:sym typeface="Baumans"/>
              </a:rPr>
              <a:t>紧张关系</a:t>
            </a:r>
            <a:r>
              <a:rPr lang="en" dirty="0">
                <a:solidFill>
                  <a:schemeClr val="dk1"/>
                </a:solidFill>
                <a:latin typeface="Baumans"/>
                <a:ea typeface="Baumans"/>
                <a:cs typeface="Baumans"/>
                <a:sym typeface="Baumans"/>
              </a:rPr>
              <a:t> </a:t>
            </a:r>
            <a:r>
              <a:rPr lang="ko-KR" altLang="en-US" dirty="0">
                <a:solidFill>
                  <a:schemeClr val="dk1"/>
                </a:solidFill>
                <a:latin typeface="Baumans"/>
                <a:ea typeface="Baumans"/>
                <a:cs typeface="Baumans"/>
                <a:sym typeface="Baumans"/>
              </a:rPr>
              <a:t>긴장</a:t>
            </a:r>
            <a:r>
              <a:rPr lang="en" dirty="0">
                <a:solidFill>
                  <a:schemeClr val="dk1"/>
                </a:solidFill>
                <a:latin typeface="Baumans"/>
                <a:ea typeface="Baumans"/>
                <a:cs typeface="Baumans"/>
                <a:sym typeface="Baumans"/>
              </a:rPr>
              <a:t>?</a:t>
            </a:r>
            <a:endParaRPr dirty="0">
              <a:solidFill>
                <a:schemeClr val="dk1"/>
              </a:solidFill>
              <a:latin typeface="Baumans"/>
              <a:ea typeface="Baumans"/>
              <a:cs typeface="Baumans"/>
              <a:sym typeface="Baumans"/>
            </a:endParaRPr>
          </a:p>
        </p:txBody>
      </p:sp>
      <p:sp>
        <p:nvSpPr>
          <p:cNvPr id="286" name="Google Shape;286;p36"/>
          <p:cNvSpPr txBox="1"/>
          <p:nvPr/>
        </p:nvSpPr>
        <p:spPr>
          <a:xfrm>
            <a:off x="4257525" y="1868300"/>
            <a:ext cx="4785600" cy="2414477"/>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b="1" dirty="0">
                <a:solidFill>
                  <a:schemeClr val="dk1"/>
                </a:solidFill>
                <a:latin typeface="Baumans"/>
                <a:ea typeface="Baumans"/>
                <a:cs typeface="Baumans"/>
                <a:sym typeface="Baumans"/>
              </a:rPr>
              <a:t>Source B - Daily Telegraph Interview</a:t>
            </a:r>
            <a:endParaRPr b="1" dirty="0">
              <a:solidFill>
                <a:schemeClr val="dk1"/>
              </a:solidFill>
              <a:latin typeface="Baumans"/>
              <a:ea typeface="Baumans"/>
              <a:cs typeface="Baumans"/>
              <a:sym typeface="Baumans"/>
            </a:endParaRPr>
          </a:p>
          <a:p>
            <a:pPr marL="0" lvl="0" indent="0" algn="ctr" rtl="0">
              <a:lnSpc>
                <a:spcPct val="115000"/>
              </a:lnSpc>
              <a:spcBef>
                <a:spcPts val="0"/>
              </a:spcBef>
              <a:spcAft>
                <a:spcPts val="0"/>
              </a:spcAft>
              <a:buNone/>
            </a:pPr>
            <a:r>
              <a:rPr lang="en" b="1" dirty="0">
                <a:solidFill>
                  <a:schemeClr val="dk1"/>
                </a:solidFill>
                <a:latin typeface="Baumans"/>
                <a:ea typeface="Baumans"/>
                <a:cs typeface="Baumans"/>
                <a:sym typeface="Baumans"/>
              </a:rPr>
              <a:t>Understanding the message and purpose</a:t>
            </a:r>
            <a:endParaRPr b="1" dirty="0">
              <a:solidFill>
                <a:schemeClr val="dk1"/>
              </a:solidFill>
              <a:latin typeface="Baumans"/>
              <a:ea typeface="Baumans"/>
              <a:cs typeface="Baumans"/>
              <a:sym typeface="Baumans"/>
            </a:endParaRPr>
          </a:p>
          <a:p>
            <a:pPr marL="457200" lvl="0" indent="-317500" algn="l" rtl="0">
              <a:lnSpc>
                <a:spcPct val="115000"/>
              </a:lnSpc>
              <a:spcBef>
                <a:spcPts val="0"/>
              </a:spcBef>
              <a:spcAft>
                <a:spcPts val="0"/>
              </a:spcAft>
              <a:buClr>
                <a:schemeClr val="dk1"/>
              </a:buClr>
              <a:buSzPts val="1400"/>
              <a:buFont typeface="Baumans"/>
              <a:buAutoNum type="alphaLcPeriod"/>
            </a:pPr>
            <a:r>
              <a:rPr lang="en" dirty="0">
                <a:solidFill>
                  <a:schemeClr val="dk1"/>
                </a:solidFill>
                <a:latin typeface="Baumans"/>
                <a:ea typeface="Baumans"/>
                <a:cs typeface="Baumans"/>
                <a:sym typeface="Baumans"/>
              </a:rPr>
              <a:t>What relationship did the Kaiser want with Britain?</a:t>
            </a:r>
            <a:endParaRPr dirty="0">
              <a:solidFill>
                <a:schemeClr val="dk1"/>
              </a:solidFill>
              <a:latin typeface="Baumans"/>
              <a:ea typeface="Baumans"/>
              <a:cs typeface="Baumans"/>
              <a:sym typeface="Baumans"/>
            </a:endParaRPr>
          </a:p>
          <a:p>
            <a:pPr marL="457200" lvl="0" indent="-317500" algn="l" rtl="0">
              <a:lnSpc>
                <a:spcPct val="115000"/>
              </a:lnSpc>
              <a:spcBef>
                <a:spcPts val="0"/>
              </a:spcBef>
              <a:spcAft>
                <a:spcPts val="0"/>
              </a:spcAft>
              <a:buClr>
                <a:schemeClr val="dk1"/>
              </a:buClr>
              <a:buSzPts val="1400"/>
              <a:buFont typeface="Baumans"/>
              <a:buAutoNum type="alphaLcPeriod"/>
            </a:pPr>
            <a:r>
              <a:rPr lang="en" dirty="0">
                <a:solidFill>
                  <a:schemeClr val="dk1"/>
                </a:solidFill>
                <a:latin typeface="Baumans"/>
                <a:ea typeface="Baumans"/>
                <a:cs typeface="Baumans"/>
                <a:sym typeface="Baumans"/>
              </a:rPr>
              <a:t>Why did Germany need a large navy, according to the Kaiser?</a:t>
            </a:r>
            <a:endParaRPr dirty="0">
              <a:solidFill>
                <a:schemeClr val="dk1"/>
              </a:solidFill>
              <a:latin typeface="Baumans"/>
              <a:ea typeface="Baumans"/>
              <a:cs typeface="Baumans"/>
              <a:sym typeface="Baumans"/>
            </a:endParaRPr>
          </a:p>
          <a:p>
            <a:pPr marL="457200" lvl="0" indent="-317500" algn="l" rtl="0">
              <a:lnSpc>
                <a:spcPct val="115000"/>
              </a:lnSpc>
              <a:spcBef>
                <a:spcPts val="0"/>
              </a:spcBef>
              <a:spcAft>
                <a:spcPts val="0"/>
              </a:spcAft>
              <a:buClr>
                <a:schemeClr val="dk1"/>
              </a:buClr>
              <a:buSzPts val="1400"/>
              <a:buFont typeface="Baumans"/>
              <a:buAutoNum type="alphaLcPeriod"/>
            </a:pPr>
            <a:r>
              <a:rPr lang="en" dirty="0">
                <a:solidFill>
                  <a:schemeClr val="dk1"/>
                </a:solidFill>
                <a:latin typeface="Baumans"/>
                <a:ea typeface="Baumans"/>
                <a:cs typeface="Baumans"/>
                <a:sym typeface="Baumans"/>
              </a:rPr>
              <a:t>How did Japan and China support his argument?</a:t>
            </a:r>
            <a:endParaRPr dirty="0">
              <a:solidFill>
                <a:schemeClr val="dk1"/>
              </a:solidFill>
              <a:latin typeface="Baumans"/>
              <a:ea typeface="Baumans"/>
              <a:cs typeface="Baumans"/>
              <a:sym typeface="Baumans"/>
            </a:endParaRPr>
          </a:p>
          <a:p>
            <a:pPr marL="457200" lvl="0" indent="-317500">
              <a:lnSpc>
                <a:spcPct val="115000"/>
              </a:lnSpc>
              <a:buClr>
                <a:schemeClr val="dk1"/>
              </a:buClr>
              <a:buSzPts val="1400"/>
              <a:buFont typeface="Baumans"/>
              <a:buAutoNum type="alphaLcPeriod"/>
            </a:pPr>
            <a:r>
              <a:rPr lang="en" dirty="0">
                <a:solidFill>
                  <a:schemeClr val="dk1"/>
                </a:solidFill>
                <a:latin typeface="Baumans"/>
                <a:ea typeface="Baumans"/>
                <a:cs typeface="Baumans"/>
                <a:sym typeface="Baumans"/>
              </a:rPr>
              <a:t>Do you think the Kaiser’s explanation would reassure </a:t>
            </a:r>
            <a:r>
              <a:rPr lang="ko-KR" altLang="en-US" dirty="0">
                <a:solidFill>
                  <a:schemeClr val="dk1"/>
                </a:solidFill>
                <a:latin typeface="Poppins"/>
                <a:ea typeface="Poppins"/>
                <a:cs typeface="Poppins"/>
                <a:sym typeface="Poppins"/>
              </a:rPr>
              <a:t>안심시켜 주세요</a:t>
            </a:r>
            <a:r>
              <a:rPr lang="en" dirty="0">
                <a:solidFill>
                  <a:schemeClr val="dk1"/>
                </a:solidFill>
                <a:latin typeface="Poppins"/>
                <a:ea typeface="Poppins"/>
                <a:cs typeface="Poppins"/>
                <a:sym typeface="Poppins"/>
              </a:rPr>
              <a:t>  </a:t>
            </a:r>
            <a:r>
              <a:rPr lang="ja-JP" altLang="en-US">
                <a:solidFill>
                  <a:schemeClr val="dk1"/>
                </a:solidFill>
                <a:latin typeface="Poppins"/>
                <a:ea typeface="Poppins"/>
                <a:cs typeface="Poppins"/>
                <a:sym typeface="Poppins"/>
              </a:rPr>
              <a:t>安慰</a:t>
            </a:r>
            <a:r>
              <a:rPr lang="en" dirty="0">
                <a:solidFill>
                  <a:schemeClr val="dk1"/>
                </a:solidFill>
                <a:latin typeface="Baumans"/>
                <a:ea typeface="Baumans"/>
                <a:cs typeface="Baumans"/>
                <a:sym typeface="Baumans"/>
              </a:rPr>
              <a:t> Britain or make it more suspicious</a:t>
            </a:r>
            <a:r>
              <a:rPr lang="ja-JP" altLang="en-US">
                <a:solidFill>
                  <a:schemeClr val="dk1"/>
                </a:solidFill>
                <a:latin typeface="Poppins"/>
                <a:ea typeface="Poppins"/>
                <a:cs typeface="Poppins"/>
                <a:sym typeface="Poppins"/>
              </a:rPr>
              <a:t>可疑</a:t>
            </a:r>
            <a:r>
              <a:rPr lang="en" dirty="0">
                <a:solidFill>
                  <a:schemeClr val="dk1"/>
                </a:solidFill>
                <a:latin typeface="Poppins"/>
                <a:ea typeface="Poppins"/>
                <a:cs typeface="Poppins"/>
                <a:sym typeface="Poppins"/>
              </a:rPr>
              <a:t> </a:t>
            </a:r>
            <a:r>
              <a:rPr lang="ko-KR" altLang="en-US" dirty="0">
                <a:solidFill>
                  <a:schemeClr val="dk1"/>
                </a:solidFill>
                <a:latin typeface="Poppins"/>
                <a:ea typeface="Poppins"/>
                <a:cs typeface="Poppins"/>
                <a:sym typeface="Poppins"/>
              </a:rPr>
              <a:t>수상하다</a:t>
            </a:r>
            <a:r>
              <a:rPr lang="en" dirty="0">
                <a:solidFill>
                  <a:schemeClr val="dk1"/>
                </a:solidFill>
                <a:latin typeface="Baumans"/>
                <a:ea typeface="Baumans"/>
                <a:cs typeface="Baumans"/>
                <a:sym typeface="Baumans"/>
              </a:rPr>
              <a:t>  of Germany?</a:t>
            </a:r>
            <a:endParaRPr dirty="0">
              <a:solidFill>
                <a:schemeClr val="dk1"/>
              </a:solidFill>
              <a:latin typeface="Baumans"/>
              <a:ea typeface="Baumans"/>
              <a:cs typeface="Baumans"/>
              <a:sym typeface="Baumans"/>
            </a:endParaRPr>
          </a:p>
        </p:txBody>
      </p:sp>
      <p:sp>
        <p:nvSpPr>
          <p:cNvPr id="287" name="Google Shape;287;p36"/>
          <p:cNvSpPr txBox="1"/>
          <p:nvPr/>
        </p:nvSpPr>
        <p:spPr>
          <a:xfrm>
            <a:off x="104400" y="77000"/>
            <a:ext cx="8919300" cy="50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Title: Militarism and the Arms Race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LO: How did militarism and the arms race increase tensions in Europe before 1914?</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endParaRPr sz="1200" b="1">
              <a:solidFill>
                <a:srgbClr val="980000"/>
              </a:solidFill>
              <a:latin typeface="Delius"/>
              <a:ea typeface="Delius"/>
              <a:cs typeface="Delius"/>
              <a:sym typeface="Delius"/>
            </a:endParaRPr>
          </a:p>
        </p:txBody>
      </p:sp>
      <p:sp>
        <p:nvSpPr>
          <p:cNvPr id="288" name="Google Shape;288;p36"/>
          <p:cNvSpPr txBox="1"/>
          <p:nvPr/>
        </p:nvSpPr>
        <p:spPr>
          <a:xfrm>
            <a:off x="740100" y="4189525"/>
            <a:ext cx="8283600" cy="677100"/>
          </a:xfrm>
          <a:prstGeom prst="rect">
            <a:avLst/>
          </a:prstGeom>
          <a:solidFill>
            <a:srgbClr val="CE0925"/>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b="1">
                <a:solidFill>
                  <a:schemeClr val="lt1"/>
                </a:solidFill>
                <a:latin typeface="Poppins"/>
                <a:ea typeface="Poppins"/>
                <a:cs typeface="Poppins"/>
                <a:sym typeface="Poppins"/>
              </a:rPr>
              <a:t>Using </a:t>
            </a:r>
            <a:r>
              <a:rPr lang="en" sz="1600" b="1">
                <a:solidFill>
                  <a:srgbClr val="FFFF00"/>
                </a:solidFill>
                <a:latin typeface="Poppins"/>
                <a:ea typeface="Poppins"/>
                <a:cs typeface="Poppins"/>
                <a:sym typeface="Poppins"/>
              </a:rPr>
              <a:t>the sources and your own knowledge</a:t>
            </a:r>
            <a:r>
              <a:rPr lang="en" sz="1600" b="1">
                <a:solidFill>
                  <a:schemeClr val="lt1"/>
                </a:solidFill>
                <a:latin typeface="Poppins"/>
                <a:ea typeface="Poppins"/>
                <a:cs typeface="Poppins"/>
                <a:sym typeface="Poppins"/>
              </a:rPr>
              <a:t>, explain how militarism and the arms race contributed to the outbreak of the First World War.</a:t>
            </a:r>
            <a:endParaRPr sz="1600" b="1">
              <a:solidFill>
                <a:schemeClr val="lt1"/>
              </a:solidFill>
              <a:latin typeface="Poppins"/>
              <a:ea typeface="Poppins"/>
              <a:cs typeface="Poppins"/>
              <a:sym typeface="Poppins"/>
            </a:endParaRPr>
          </a:p>
        </p:txBody>
      </p:sp>
      <p:grpSp>
        <p:nvGrpSpPr>
          <p:cNvPr id="289" name="Google Shape;289;p36"/>
          <p:cNvGrpSpPr/>
          <p:nvPr/>
        </p:nvGrpSpPr>
        <p:grpSpPr>
          <a:xfrm>
            <a:off x="100790" y="4189519"/>
            <a:ext cx="593956" cy="677125"/>
            <a:chOff x="5426175" y="139294"/>
            <a:chExt cx="946695" cy="1152356"/>
          </a:xfrm>
        </p:grpSpPr>
        <p:pic>
          <p:nvPicPr>
            <p:cNvPr id="290" name="Google Shape;290;p36"/>
            <p:cNvPicPr preferRelativeResize="0"/>
            <p:nvPr/>
          </p:nvPicPr>
          <p:blipFill>
            <a:blip r:embed="rId3">
              <a:alphaModFix/>
            </a:blip>
            <a:stretch>
              <a:fillRect/>
            </a:stretch>
          </p:blipFill>
          <p:spPr>
            <a:xfrm>
              <a:off x="5469469" y="139300"/>
              <a:ext cx="903401" cy="1152350"/>
            </a:xfrm>
            <a:prstGeom prst="rect">
              <a:avLst/>
            </a:prstGeom>
            <a:noFill/>
            <a:ln>
              <a:noFill/>
            </a:ln>
          </p:spPr>
        </p:pic>
        <p:pic>
          <p:nvPicPr>
            <p:cNvPr id="291" name="Google Shape;291;p36" descr="a cartoon drawing of a fire with a flame coming out of it (Provided by Tenor)"/>
            <p:cNvPicPr preferRelativeResize="0"/>
            <p:nvPr/>
          </p:nvPicPr>
          <p:blipFill>
            <a:blip r:embed="rId4">
              <a:alphaModFix/>
            </a:blip>
            <a:stretch>
              <a:fillRect/>
            </a:stretch>
          </p:blipFill>
          <p:spPr>
            <a:xfrm>
              <a:off x="5426175" y="139294"/>
              <a:ext cx="341075" cy="391706"/>
            </a:xfrm>
            <a:prstGeom prst="rect">
              <a:avLst/>
            </a:prstGeom>
            <a:noFill/>
            <a:ln>
              <a:noFill/>
            </a:ln>
          </p:spPr>
        </p:pic>
      </p:grpSp>
      <p:pic>
        <p:nvPicPr>
          <p:cNvPr id="292" name="Google Shape;292;p36" descr="The perfect classroom visual timer for kids — just press play and let the countdown begin! ⏳&#10;Watch as the sand steadily flows from the top chamber to the bottom, grain by grain. As the top empties and the bottom fills, kids get a clear, familiar visual cue of exactly how much time is left — when the last grain falls, time is up!&#10;&#10;⏱️ More timers from KidsTimerCo:&#10;▶ Dinosaur Timers → https://www.youtube.com/playlist?list=PLsbtulJiPFUgeeikUikoSwZ5cxFQDxBsT&#10;▶ Race Car Timers →&#10;https://www.youtube.com/playlist?list=PLsbtulJiPFUim5fA1kZ6IJmp2MiFgBge6&#10;▶ Sand Glass Timers →&#10;https://www.youtube.com/playlist?list=PLsbtulJiPFUi4mk0QDXJDZPhVDlNW-_pr&#10;&#10;&#10;—&#10;&#10;🏫 The timers are for everyone!&#10;Timers for classrooms!&#10;Timers for home!&#10;Timers for doing homework!&#10;Timers for getting ready!&#10;Timers just for fun!&#10;&#10;New timers dropping all the time — subscribe so you never miss one! → https://youtube.com/@KidsTimerCo?sub_confirmation=1&#10;Keep an eye on our YT Shorts and Instagram to see what’s coming next!&#10;https://www.instagram.com/kidstimer.co/&#10;&#10;#kidstimerco&#10;&#10;[KTC]&#10;Categories: Transitions, Sensory Friendly, Solo Work, Group Work&#10;Theme: Sand Glass&#10;[/KTC]" title="15 Minute Sand Glass Timer - Kids Sensory Friendly Visual Timer">
            <a:hlinkClick r:id="rId5"/>
          </p:cNvPr>
          <p:cNvPicPr preferRelativeResize="0"/>
          <p:nvPr/>
        </p:nvPicPr>
        <p:blipFill>
          <a:blip r:embed="rId6">
            <a:alphaModFix/>
          </a:blip>
          <a:stretch>
            <a:fillRect/>
          </a:stretch>
        </p:blipFill>
        <p:spPr>
          <a:xfrm>
            <a:off x="7303300" y="77001"/>
            <a:ext cx="1739924" cy="9787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8BFA511-1F4D-B7F7-C00C-56384258FA17}"/>
              </a:ext>
            </a:extLst>
          </p:cNvPr>
          <p:cNvSpPr txBox="1"/>
          <p:nvPr/>
        </p:nvSpPr>
        <p:spPr>
          <a:xfrm>
            <a:off x="1328744" y="730269"/>
            <a:ext cx="971741" cy="307777"/>
          </a:xfrm>
          <a:prstGeom prst="rect">
            <a:avLst/>
          </a:prstGeom>
          <a:noFill/>
        </p:spPr>
        <p:txBody>
          <a:bodyPr wrap="none" rtlCol="0">
            <a:spAutoFit/>
          </a:bodyPr>
          <a:lstStyle/>
          <a:p>
            <a:r>
              <a:rPr lang="en-US" b="1" u="sng" dirty="0"/>
              <a:t>Source B</a:t>
            </a:r>
          </a:p>
        </p:txBody>
      </p:sp>
      <p:sp>
        <p:nvSpPr>
          <p:cNvPr id="5" name="TextBox 4">
            <a:extLst>
              <a:ext uri="{FF2B5EF4-FFF2-40B4-BE49-F238E27FC236}">
                <a16:creationId xmlns:a16="http://schemas.microsoft.com/office/drawing/2014/main" id="{D3CAEAE3-8587-44DD-9E92-859A4E6BEC66}"/>
              </a:ext>
            </a:extLst>
          </p:cNvPr>
          <p:cNvSpPr txBox="1"/>
          <p:nvPr/>
        </p:nvSpPr>
        <p:spPr>
          <a:xfrm>
            <a:off x="6486525" y="730269"/>
            <a:ext cx="971741" cy="307777"/>
          </a:xfrm>
          <a:prstGeom prst="rect">
            <a:avLst/>
          </a:prstGeom>
          <a:noFill/>
        </p:spPr>
        <p:txBody>
          <a:bodyPr wrap="none" rtlCol="0">
            <a:spAutoFit/>
          </a:bodyPr>
          <a:lstStyle/>
          <a:p>
            <a:r>
              <a:rPr lang="en-US" b="1" dirty="0"/>
              <a:t>Source B</a:t>
            </a:r>
          </a:p>
        </p:txBody>
      </p:sp>
      <p:sp>
        <p:nvSpPr>
          <p:cNvPr id="7" name="TextBox 6">
            <a:extLst>
              <a:ext uri="{FF2B5EF4-FFF2-40B4-BE49-F238E27FC236}">
                <a16:creationId xmlns:a16="http://schemas.microsoft.com/office/drawing/2014/main" id="{6ED60DF1-74B1-75E3-9527-D52198A4DB27}"/>
              </a:ext>
            </a:extLst>
          </p:cNvPr>
          <p:cNvSpPr txBox="1"/>
          <p:nvPr/>
        </p:nvSpPr>
        <p:spPr>
          <a:xfrm>
            <a:off x="4557714" y="1038046"/>
            <a:ext cx="4586286" cy="3970318"/>
          </a:xfrm>
          <a:prstGeom prst="rect">
            <a:avLst/>
          </a:prstGeom>
          <a:noFill/>
        </p:spPr>
        <p:txBody>
          <a:bodyPr wrap="square">
            <a:spAutoFit/>
          </a:bodyPr>
          <a:lstStyle/>
          <a:p>
            <a:pPr>
              <a:buNone/>
            </a:pPr>
            <a:r>
              <a:rPr lang="en-GB" dirty="0"/>
              <a:t>摘自英国《每日电讯报》1908 </a:t>
            </a:r>
            <a:r>
              <a:rPr lang="en-GB" dirty="0" err="1"/>
              <a:t>年对德皇威廉二世的采访</a:t>
            </a:r>
            <a:endParaRPr lang="en-GB" dirty="0"/>
          </a:p>
          <a:p>
            <a:pPr>
              <a:buNone/>
            </a:pPr>
            <a:endParaRPr lang="en-GB" dirty="0"/>
          </a:p>
          <a:p>
            <a:pPr>
              <a:buNone/>
            </a:pPr>
            <a:r>
              <a:rPr lang="en-GB" dirty="0"/>
              <a:t>德皇表示，他希望与英国保持和平，并且不明白为什么英国人不信任他。他提醒英国人回想起自己在伦敦市政厅发表的演讲，当时他曾承诺，与英国保持良好关系是他最大的愿望之一。他还反问道，自己是否曾经违背过诺言。</a:t>
            </a:r>
          </a:p>
          <a:p>
            <a:pPr>
              <a:buNone/>
            </a:pPr>
            <a:endParaRPr lang="en-GB" dirty="0"/>
          </a:p>
          <a:p>
            <a:pPr>
              <a:buNone/>
            </a:pPr>
            <a:r>
              <a:rPr lang="en-GB" dirty="0"/>
              <a:t>德皇承认，德国正在建造一支规模庞大的海军，但他解释说，这并不是为了威胁英国。相反，他表示，德国是一个年轻且不断发展的帝国，拥有遍布世界各地的贸易，因此需要保护这些贸易。一支强大的海军是捍卫德国利益所必需的，即使是在遥远的海域也不例外。</a:t>
            </a:r>
          </a:p>
          <a:p>
            <a:pPr>
              <a:buNone/>
            </a:pPr>
            <a:endParaRPr lang="en-GB" dirty="0"/>
          </a:p>
          <a:p>
            <a:pPr>
              <a:buNone/>
            </a:pPr>
            <a:r>
              <a:rPr lang="en-GB" dirty="0"/>
              <a:t>他指出，日本的崛起以及中国未来可能的崛起，说明所有欧洲列强都应该为太平洋地区未来可能出现的挑战做好准备。德皇还补充说，有朝一日，英国甚至可能会在国际事务中欢迎德国舰队成为自己的盟友。</a:t>
            </a:r>
          </a:p>
        </p:txBody>
      </p:sp>
      <p:sp>
        <p:nvSpPr>
          <p:cNvPr id="9" name="TextBox 8">
            <a:extLst>
              <a:ext uri="{FF2B5EF4-FFF2-40B4-BE49-F238E27FC236}">
                <a16:creationId xmlns:a16="http://schemas.microsoft.com/office/drawing/2014/main" id="{FEFDD295-FC12-7A5B-011B-8C55B219C65E}"/>
              </a:ext>
            </a:extLst>
          </p:cNvPr>
          <p:cNvSpPr txBox="1"/>
          <p:nvPr/>
        </p:nvSpPr>
        <p:spPr>
          <a:xfrm>
            <a:off x="43257" y="1085448"/>
            <a:ext cx="4586286" cy="4185761"/>
          </a:xfrm>
          <a:prstGeom prst="rect">
            <a:avLst/>
          </a:prstGeom>
          <a:noFill/>
        </p:spPr>
        <p:txBody>
          <a:bodyPr wrap="square">
            <a:spAutoFit/>
          </a:bodyPr>
          <a:lstStyle/>
          <a:p>
            <a:pPr>
              <a:buNone/>
            </a:pPr>
            <a:r>
              <a:rPr lang="en-GB" sz="1200" b="1" dirty="0"/>
              <a:t>1908년 </a:t>
            </a:r>
            <a:r>
              <a:rPr lang="en-GB" sz="1200" b="1" dirty="0" err="1"/>
              <a:t>영국</a:t>
            </a:r>
            <a:r>
              <a:rPr lang="en-GB" sz="1200" b="1" dirty="0"/>
              <a:t> </a:t>
            </a:r>
            <a:r>
              <a:rPr lang="en-GB" sz="1200" b="1" dirty="0" err="1"/>
              <a:t>신문</a:t>
            </a:r>
            <a:r>
              <a:rPr lang="en-GB" sz="1200" b="1" dirty="0"/>
              <a:t> 《</a:t>
            </a:r>
            <a:r>
              <a:rPr lang="en-GB" sz="1200" b="1" dirty="0" err="1"/>
              <a:t>데일리</a:t>
            </a:r>
            <a:r>
              <a:rPr lang="en-GB" sz="1200" b="1" dirty="0"/>
              <a:t> </a:t>
            </a:r>
            <a:r>
              <a:rPr lang="en-GB" sz="1200" b="1" dirty="0" err="1"/>
              <a:t>텔레그래프</a:t>
            </a:r>
            <a:r>
              <a:rPr lang="en-GB" sz="1200" b="1" dirty="0"/>
              <a:t>(The Daily Telegraph)》</a:t>
            </a:r>
            <a:r>
              <a:rPr lang="en-GB" sz="1200" b="1" dirty="0" err="1"/>
              <a:t>에</a:t>
            </a:r>
            <a:r>
              <a:rPr lang="en-GB" sz="1200" b="1" dirty="0"/>
              <a:t> </a:t>
            </a:r>
            <a:r>
              <a:rPr lang="en-GB" sz="1200" b="1" dirty="0" err="1"/>
              <a:t>실린</a:t>
            </a:r>
            <a:r>
              <a:rPr lang="en-GB" sz="1200" b="1" dirty="0"/>
              <a:t> </a:t>
            </a:r>
            <a:r>
              <a:rPr lang="en-GB" sz="1200" b="1" dirty="0" err="1"/>
              <a:t>독일</a:t>
            </a:r>
            <a:r>
              <a:rPr lang="en-GB" sz="1200" b="1" dirty="0"/>
              <a:t> </a:t>
            </a:r>
            <a:r>
              <a:rPr lang="en-GB" sz="1200" b="1" dirty="0" err="1"/>
              <a:t>황제</a:t>
            </a:r>
            <a:r>
              <a:rPr lang="en-GB" sz="1200" b="1" dirty="0"/>
              <a:t> </a:t>
            </a:r>
            <a:r>
              <a:rPr lang="en-GB" sz="1200" b="1" dirty="0" err="1"/>
              <a:t>빌헬름</a:t>
            </a:r>
            <a:r>
              <a:rPr lang="en-GB" sz="1200" b="1" dirty="0"/>
              <a:t> 2세와의 </a:t>
            </a:r>
            <a:r>
              <a:rPr lang="en-GB" sz="1200" b="1" dirty="0" err="1"/>
              <a:t>인터뷰</a:t>
            </a:r>
            <a:r>
              <a:rPr lang="en-GB" sz="1200" b="1" dirty="0"/>
              <a:t> </a:t>
            </a:r>
            <a:r>
              <a:rPr lang="en-GB" sz="1200" b="1" dirty="0" err="1"/>
              <a:t>발췌문</a:t>
            </a:r>
            <a:endParaRPr lang="en-GB" sz="1200" b="1" dirty="0"/>
          </a:p>
          <a:p>
            <a:pPr>
              <a:buNone/>
            </a:pPr>
            <a:endParaRPr lang="en-GB" sz="1200" b="1" dirty="0"/>
          </a:p>
          <a:p>
            <a:r>
              <a:rPr lang="en-GB" sz="1200" dirty="0" err="1"/>
              <a:t>황제는</a:t>
            </a:r>
            <a:r>
              <a:rPr lang="en-GB" sz="1200" dirty="0"/>
              <a:t> </a:t>
            </a:r>
            <a:r>
              <a:rPr lang="en-GB" sz="1200" dirty="0" err="1"/>
              <a:t>영국과</a:t>
            </a:r>
            <a:r>
              <a:rPr lang="en-GB" sz="1200" dirty="0"/>
              <a:t> </a:t>
            </a:r>
            <a:r>
              <a:rPr lang="en-GB" sz="1200" dirty="0" err="1"/>
              <a:t>평화로운</a:t>
            </a:r>
            <a:r>
              <a:rPr lang="en-GB" sz="1200" dirty="0"/>
              <a:t> </a:t>
            </a:r>
            <a:r>
              <a:rPr lang="en-GB" sz="1200" dirty="0" err="1"/>
              <a:t>관계를</a:t>
            </a:r>
            <a:r>
              <a:rPr lang="en-GB" sz="1200" dirty="0"/>
              <a:t> </a:t>
            </a:r>
            <a:r>
              <a:rPr lang="en-GB" sz="1200" dirty="0" err="1"/>
              <a:t>유지하고</a:t>
            </a:r>
            <a:r>
              <a:rPr lang="en-GB" sz="1200" dirty="0"/>
              <a:t> </a:t>
            </a:r>
            <a:r>
              <a:rPr lang="en-GB" sz="1200" dirty="0" err="1"/>
              <a:t>싶으며</a:t>
            </a:r>
            <a:r>
              <a:rPr lang="en-GB" sz="1200" dirty="0"/>
              <a:t>, </a:t>
            </a:r>
            <a:r>
              <a:rPr lang="en-GB" sz="1200" dirty="0" err="1"/>
              <a:t>영국인들이</a:t>
            </a:r>
            <a:r>
              <a:rPr lang="en-GB" sz="1200" dirty="0"/>
              <a:t> </a:t>
            </a:r>
            <a:r>
              <a:rPr lang="en-GB" sz="1200" dirty="0" err="1"/>
              <a:t>왜</a:t>
            </a:r>
            <a:r>
              <a:rPr lang="en-GB" sz="1200" dirty="0"/>
              <a:t> </a:t>
            </a:r>
            <a:r>
              <a:rPr lang="en-GB" sz="1200" dirty="0" err="1"/>
              <a:t>자신을</a:t>
            </a:r>
            <a:r>
              <a:rPr lang="en-GB" sz="1200" dirty="0"/>
              <a:t> </a:t>
            </a:r>
            <a:r>
              <a:rPr lang="en-GB" sz="1200" dirty="0" err="1"/>
              <a:t>불신하는지</a:t>
            </a:r>
            <a:r>
              <a:rPr lang="en-GB" sz="1200" dirty="0"/>
              <a:t> </a:t>
            </a:r>
            <a:r>
              <a:rPr lang="en-GB" sz="1200" dirty="0" err="1"/>
              <a:t>이해할</a:t>
            </a:r>
            <a:r>
              <a:rPr lang="en-GB" sz="1200" dirty="0"/>
              <a:t> </a:t>
            </a:r>
            <a:r>
              <a:rPr lang="en-GB" sz="1200" dirty="0" err="1"/>
              <a:t>수</a:t>
            </a:r>
            <a:r>
              <a:rPr lang="en-GB" sz="1200" dirty="0"/>
              <a:t> </a:t>
            </a:r>
            <a:r>
              <a:rPr lang="en-GB" sz="1200" dirty="0" err="1"/>
              <a:t>없다고</a:t>
            </a:r>
            <a:r>
              <a:rPr lang="en-GB" sz="1200" dirty="0"/>
              <a:t> </a:t>
            </a:r>
            <a:r>
              <a:rPr lang="en-GB" sz="1200" dirty="0" err="1"/>
              <a:t>말했다</a:t>
            </a:r>
            <a:r>
              <a:rPr lang="en-GB" sz="1200" dirty="0"/>
              <a:t>. </a:t>
            </a:r>
            <a:r>
              <a:rPr lang="en-GB" sz="1200" dirty="0" err="1"/>
              <a:t>그는</a:t>
            </a:r>
            <a:r>
              <a:rPr lang="en-GB" sz="1200" dirty="0"/>
              <a:t> </a:t>
            </a:r>
            <a:r>
              <a:rPr lang="en-GB" sz="1200" dirty="0" err="1"/>
              <a:t>길드홀</a:t>
            </a:r>
            <a:r>
              <a:rPr lang="en-GB" sz="1200" dirty="0"/>
              <a:t>(Guildhall)</a:t>
            </a:r>
            <a:r>
              <a:rPr lang="en-GB" sz="1200" dirty="0" err="1"/>
              <a:t>에서</a:t>
            </a:r>
            <a:r>
              <a:rPr lang="en-GB" sz="1200" dirty="0"/>
              <a:t> </a:t>
            </a:r>
            <a:r>
              <a:rPr lang="en-GB" sz="1200" dirty="0" err="1"/>
              <a:t>했던</a:t>
            </a:r>
            <a:r>
              <a:rPr lang="en-GB" sz="1200" dirty="0"/>
              <a:t> </a:t>
            </a:r>
            <a:r>
              <a:rPr lang="en-GB" sz="1200" dirty="0" err="1"/>
              <a:t>연설을</a:t>
            </a:r>
            <a:r>
              <a:rPr lang="en-GB" sz="1200" dirty="0"/>
              <a:t> </a:t>
            </a:r>
            <a:r>
              <a:rPr lang="en-GB" sz="1200" dirty="0" err="1"/>
              <a:t>상기시키며</a:t>
            </a:r>
            <a:r>
              <a:rPr lang="en-GB" sz="1200" dirty="0"/>
              <a:t>, </a:t>
            </a:r>
            <a:r>
              <a:rPr lang="en-GB" sz="1200" dirty="0" err="1"/>
              <a:t>자신의</a:t>
            </a:r>
            <a:r>
              <a:rPr lang="en-GB" sz="1200" dirty="0"/>
              <a:t> </a:t>
            </a:r>
            <a:r>
              <a:rPr lang="en-GB" sz="1200" dirty="0" err="1"/>
              <a:t>가장</a:t>
            </a:r>
            <a:r>
              <a:rPr lang="en-GB" sz="1200" dirty="0"/>
              <a:t> </a:t>
            </a:r>
            <a:r>
              <a:rPr lang="en-GB" sz="1200" dirty="0" err="1"/>
              <a:t>큰</a:t>
            </a:r>
            <a:r>
              <a:rPr lang="en-GB" sz="1200" dirty="0"/>
              <a:t> </a:t>
            </a:r>
            <a:r>
              <a:rPr lang="en-GB" sz="1200" dirty="0" err="1"/>
              <a:t>소망</a:t>
            </a:r>
            <a:r>
              <a:rPr lang="en-GB" sz="1200" dirty="0"/>
              <a:t> </a:t>
            </a:r>
            <a:r>
              <a:rPr lang="en-GB" sz="1200" dirty="0" err="1"/>
              <a:t>중</a:t>
            </a:r>
            <a:r>
              <a:rPr lang="en-GB" sz="1200" dirty="0"/>
              <a:t> </a:t>
            </a:r>
            <a:r>
              <a:rPr lang="en-GB" sz="1200" dirty="0" err="1"/>
              <a:t>하나가</a:t>
            </a:r>
            <a:r>
              <a:rPr lang="en-GB" sz="1200" dirty="0"/>
              <a:t> </a:t>
            </a:r>
            <a:r>
              <a:rPr lang="en-GB" sz="1200" dirty="0" err="1"/>
              <a:t>영국과</a:t>
            </a:r>
            <a:r>
              <a:rPr lang="en-GB" sz="1200" dirty="0"/>
              <a:t> </a:t>
            </a:r>
            <a:r>
              <a:rPr lang="en-GB" sz="1200" dirty="0" err="1"/>
              <a:t>좋은</a:t>
            </a:r>
            <a:r>
              <a:rPr lang="en-GB" sz="1200" dirty="0"/>
              <a:t> </a:t>
            </a:r>
            <a:r>
              <a:rPr lang="en-GB" sz="1200" dirty="0" err="1"/>
              <a:t>관계를</a:t>
            </a:r>
            <a:r>
              <a:rPr lang="en-GB" sz="1200" dirty="0"/>
              <a:t> </a:t>
            </a:r>
            <a:r>
              <a:rPr lang="en-GB" sz="1200" dirty="0" err="1"/>
              <a:t>유지하며</a:t>
            </a:r>
            <a:r>
              <a:rPr lang="en-GB" sz="1200" dirty="0"/>
              <a:t> </a:t>
            </a:r>
            <a:r>
              <a:rPr lang="en-GB" sz="1200" dirty="0" err="1"/>
              <a:t>살아가는</a:t>
            </a:r>
            <a:r>
              <a:rPr lang="en-GB" sz="1200" dirty="0"/>
              <a:t> </a:t>
            </a:r>
            <a:r>
              <a:rPr lang="en-GB" sz="1200" dirty="0" err="1"/>
              <a:t>것이라고</a:t>
            </a:r>
            <a:r>
              <a:rPr lang="en-GB" sz="1200" dirty="0"/>
              <a:t> </a:t>
            </a:r>
            <a:r>
              <a:rPr lang="en-GB" sz="1200" dirty="0" err="1"/>
              <a:t>약속했다고</a:t>
            </a:r>
            <a:r>
              <a:rPr lang="en-GB" sz="1200" dirty="0"/>
              <a:t> </a:t>
            </a:r>
            <a:r>
              <a:rPr lang="en-GB" sz="1200" dirty="0" err="1"/>
              <a:t>강조했다</a:t>
            </a:r>
            <a:r>
              <a:rPr lang="en-GB" sz="1200" dirty="0"/>
              <a:t>. </a:t>
            </a:r>
            <a:r>
              <a:rPr lang="en-GB" sz="1200" dirty="0" err="1"/>
              <a:t>또한</a:t>
            </a:r>
            <a:r>
              <a:rPr lang="en-GB" sz="1200" dirty="0"/>
              <a:t> </a:t>
            </a:r>
            <a:r>
              <a:rPr lang="en-GB" sz="1200" dirty="0" err="1"/>
              <a:t>자신이</a:t>
            </a:r>
            <a:r>
              <a:rPr lang="en-GB" sz="1200" dirty="0"/>
              <a:t> </a:t>
            </a:r>
            <a:r>
              <a:rPr lang="en-GB" sz="1200" dirty="0" err="1"/>
              <a:t>약속을</a:t>
            </a:r>
            <a:r>
              <a:rPr lang="en-GB" sz="1200" dirty="0"/>
              <a:t> </a:t>
            </a:r>
            <a:r>
              <a:rPr lang="en-GB" sz="1200" dirty="0" err="1"/>
              <a:t>어긴</a:t>
            </a:r>
            <a:r>
              <a:rPr lang="en-GB" sz="1200" dirty="0"/>
              <a:t> </a:t>
            </a:r>
            <a:r>
              <a:rPr lang="en-GB" sz="1200" dirty="0" err="1"/>
              <a:t>적이</a:t>
            </a:r>
            <a:r>
              <a:rPr lang="en-GB" sz="1200" dirty="0"/>
              <a:t> </a:t>
            </a:r>
            <a:r>
              <a:rPr lang="en-GB" sz="1200" dirty="0" err="1"/>
              <a:t>있었는지</a:t>
            </a:r>
            <a:r>
              <a:rPr lang="en-GB" sz="1200" dirty="0"/>
              <a:t> </a:t>
            </a:r>
            <a:r>
              <a:rPr lang="en-GB" sz="1200" dirty="0" err="1"/>
              <a:t>물었다</a:t>
            </a:r>
            <a:r>
              <a:rPr lang="en-GB" sz="1200" dirty="0"/>
              <a:t>.</a:t>
            </a:r>
          </a:p>
          <a:p>
            <a:pPr>
              <a:buNone/>
            </a:pPr>
            <a:endParaRPr lang="en-GB" sz="1200" dirty="0"/>
          </a:p>
          <a:p>
            <a:r>
              <a:rPr lang="en-GB" sz="1200" dirty="0" err="1"/>
              <a:t>황제는</a:t>
            </a:r>
            <a:r>
              <a:rPr lang="en-GB" sz="1200" dirty="0"/>
              <a:t> </a:t>
            </a:r>
            <a:r>
              <a:rPr lang="en-GB" sz="1200" dirty="0" err="1"/>
              <a:t>독일이</a:t>
            </a:r>
            <a:r>
              <a:rPr lang="en-GB" sz="1200" dirty="0"/>
              <a:t> </a:t>
            </a:r>
            <a:r>
              <a:rPr lang="en-GB" sz="1200" dirty="0" err="1"/>
              <a:t>대규모</a:t>
            </a:r>
            <a:r>
              <a:rPr lang="en-GB" sz="1200" dirty="0"/>
              <a:t> </a:t>
            </a:r>
            <a:r>
              <a:rPr lang="en-GB" sz="1200" dirty="0" err="1"/>
              <a:t>해군을</a:t>
            </a:r>
            <a:r>
              <a:rPr lang="en-GB" sz="1200" dirty="0"/>
              <a:t> </a:t>
            </a:r>
            <a:r>
              <a:rPr lang="en-GB" sz="1200" dirty="0" err="1"/>
              <a:t>건설하고</a:t>
            </a:r>
            <a:r>
              <a:rPr lang="en-GB" sz="1200" dirty="0"/>
              <a:t> </a:t>
            </a:r>
            <a:r>
              <a:rPr lang="en-GB" sz="1200" dirty="0" err="1"/>
              <a:t>있다는</a:t>
            </a:r>
            <a:r>
              <a:rPr lang="en-GB" sz="1200" dirty="0"/>
              <a:t> </a:t>
            </a:r>
            <a:r>
              <a:rPr lang="en-GB" sz="1200" dirty="0" err="1"/>
              <a:t>사실을</a:t>
            </a:r>
            <a:r>
              <a:rPr lang="en-GB" sz="1200" dirty="0"/>
              <a:t> </a:t>
            </a:r>
            <a:r>
              <a:rPr lang="en-GB" sz="1200" dirty="0" err="1"/>
              <a:t>인정했지만</a:t>
            </a:r>
            <a:r>
              <a:rPr lang="en-GB" sz="1200" dirty="0"/>
              <a:t>, </a:t>
            </a:r>
            <a:r>
              <a:rPr lang="en-GB" sz="1200" dirty="0" err="1"/>
              <a:t>그것이</a:t>
            </a:r>
            <a:r>
              <a:rPr lang="en-GB" sz="1200" dirty="0"/>
              <a:t> </a:t>
            </a:r>
            <a:r>
              <a:rPr lang="en-GB" sz="1200" dirty="0" err="1"/>
              <a:t>영국을</a:t>
            </a:r>
            <a:r>
              <a:rPr lang="en-GB" sz="1200" dirty="0"/>
              <a:t> </a:t>
            </a:r>
            <a:r>
              <a:rPr lang="en-GB" sz="1200" dirty="0" err="1"/>
              <a:t>위협하기</a:t>
            </a:r>
            <a:r>
              <a:rPr lang="en-GB" sz="1200" dirty="0"/>
              <a:t> </a:t>
            </a:r>
            <a:r>
              <a:rPr lang="en-GB" sz="1200" dirty="0" err="1"/>
              <a:t>위한</a:t>
            </a:r>
            <a:r>
              <a:rPr lang="en-GB" sz="1200" dirty="0"/>
              <a:t> </a:t>
            </a:r>
            <a:r>
              <a:rPr lang="en-GB" sz="1200" dirty="0" err="1"/>
              <a:t>것은</a:t>
            </a:r>
            <a:r>
              <a:rPr lang="en-GB" sz="1200" dirty="0"/>
              <a:t> </a:t>
            </a:r>
            <a:r>
              <a:rPr lang="en-GB" sz="1200" dirty="0" err="1"/>
              <a:t>아니라고</a:t>
            </a:r>
            <a:r>
              <a:rPr lang="en-GB" sz="1200" dirty="0"/>
              <a:t> </a:t>
            </a:r>
            <a:r>
              <a:rPr lang="en-GB" sz="1200" dirty="0" err="1"/>
              <a:t>설명했다</a:t>
            </a:r>
            <a:r>
              <a:rPr lang="en-GB" sz="1200" dirty="0"/>
              <a:t>. </a:t>
            </a:r>
            <a:r>
              <a:rPr lang="en-GB" sz="1200" dirty="0" err="1"/>
              <a:t>대신</a:t>
            </a:r>
            <a:r>
              <a:rPr lang="en-GB" sz="1200" dirty="0"/>
              <a:t> </a:t>
            </a:r>
            <a:r>
              <a:rPr lang="en-GB" sz="1200" dirty="0" err="1"/>
              <a:t>독일은</a:t>
            </a:r>
            <a:r>
              <a:rPr lang="en-GB" sz="1200" dirty="0"/>
              <a:t> </a:t>
            </a:r>
            <a:r>
              <a:rPr lang="en-GB" sz="1200" dirty="0" err="1"/>
              <a:t>세계</a:t>
            </a:r>
            <a:r>
              <a:rPr lang="en-GB" sz="1200" dirty="0"/>
              <a:t> </a:t>
            </a:r>
            <a:r>
              <a:rPr lang="en-GB" sz="1200" dirty="0" err="1"/>
              <a:t>곳곳에서</a:t>
            </a:r>
            <a:r>
              <a:rPr lang="en-GB" sz="1200" dirty="0"/>
              <a:t> </a:t>
            </a:r>
            <a:r>
              <a:rPr lang="en-GB" sz="1200" dirty="0" err="1"/>
              <a:t>무역을</a:t>
            </a:r>
            <a:r>
              <a:rPr lang="en-GB" sz="1200" dirty="0"/>
              <a:t> </a:t>
            </a:r>
            <a:r>
              <a:rPr lang="en-GB" sz="1200" dirty="0" err="1"/>
              <a:t>펼치는</a:t>
            </a:r>
            <a:r>
              <a:rPr lang="en-GB" sz="1200" dirty="0"/>
              <a:t> </a:t>
            </a:r>
            <a:r>
              <a:rPr lang="en-GB" sz="1200" dirty="0" err="1"/>
              <a:t>젊고</a:t>
            </a:r>
            <a:r>
              <a:rPr lang="en-GB" sz="1200" dirty="0"/>
              <a:t> </a:t>
            </a:r>
            <a:r>
              <a:rPr lang="en-GB" sz="1200" dirty="0" err="1"/>
              <a:t>성장하는</a:t>
            </a:r>
            <a:r>
              <a:rPr lang="en-GB" sz="1200" dirty="0"/>
              <a:t> </a:t>
            </a:r>
            <a:r>
              <a:rPr lang="en-GB" sz="1200" dirty="0" err="1"/>
              <a:t>제국이므로</a:t>
            </a:r>
            <a:r>
              <a:rPr lang="en-GB" sz="1200" dirty="0"/>
              <a:t> </a:t>
            </a:r>
            <a:r>
              <a:rPr lang="en-GB" sz="1200" dirty="0" err="1"/>
              <a:t>이를</a:t>
            </a:r>
            <a:r>
              <a:rPr lang="en-GB" sz="1200" dirty="0"/>
              <a:t> </a:t>
            </a:r>
            <a:r>
              <a:rPr lang="en-GB" sz="1200" dirty="0" err="1"/>
              <a:t>보호할</a:t>
            </a:r>
            <a:r>
              <a:rPr lang="en-GB" sz="1200" dirty="0"/>
              <a:t> </a:t>
            </a:r>
            <a:r>
              <a:rPr lang="en-GB" sz="1200" dirty="0" err="1"/>
              <a:t>필요가</a:t>
            </a:r>
            <a:r>
              <a:rPr lang="en-GB" sz="1200" dirty="0"/>
              <a:t> </a:t>
            </a:r>
            <a:r>
              <a:rPr lang="en-GB" sz="1200" dirty="0" err="1"/>
              <a:t>있다고</a:t>
            </a:r>
            <a:r>
              <a:rPr lang="en-GB" sz="1200" dirty="0"/>
              <a:t> </a:t>
            </a:r>
            <a:r>
              <a:rPr lang="en-GB" sz="1200" dirty="0" err="1"/>
              <a:t>주장했다</a:t>
            </a:r>
            <a:r>
              <a:rPr lang="en-GB" sz="1200" dirty="0"/>
              <a:t>. </a:t>
            </a:r>
            <a:r>
              <a:rPr lang="en-GB" sz="1200" dirty="0" err="1"/>
              <a:t>그는</a:t>
            </a:r>
            <a:r>
              <a:rPr lang="en-GB" sz="1200" dirty="0"/>
              <a:t> </a:t>
            </a:r>
            <a:r>
              <a:rPr lang="en-GB" sz="1200" dirty="0" err="1"/>
              <a:t>멀리</a:t>
            </a:r>
            <a:r>
              <a:rPr lang="en-GB" sz="1200" dirty="0"/>
              <a:t> </a:t>
            </a:r>
            <a:r>
              <a:rPr lang="en-GB" sz="1200" dirty="0" err="1"/>
              <a:t>떨어진</a:t>
            </a:r>
            <a:r>
              <a:rPr lang="en-GB" sz="1200" dirty="0"/>
              <a:t> </a:t>
            </a:r>
            <a:r>
              <a:rPr lang="en-GB" sz="1200" dirty="0" err="1"/>
              <a:t>바다에서도</a:t>
            </a:r>
            <a:r>
              <a:rPr lang="en-GB" sz="1200" dirty="0"/>
              <a:t> </a:t>
            </a:r>
            <a:r>
              <a:rPr lang="en-GB" sz="1200" dirty="0" err="1"/>
              <a:t>독일의</a:t>
            </a:r>
            <a:r>
              <a:rPr lang="en-GB" sz="1200" dirty="0"/>
              <a:t> </a:t>
            </a:r>
            <a:r>
              <a:rPr lang="en-GB" sz="1200" dirty="0" err="1"/>
              <a:t>이익을</a:t>
            </a:r>
            <a:r>
              <a:rPr lang="en-GB" sz="1200" dirty="0"/>
              <a:t> </a:t>
            </a:r>
            <a:r>
              <a:rPr lang="en-GB" sz="1200" dirty="0" err="1"/>
              <a:t>지키기</a:t>
            </a:r>
            <a:r>
              <a:rPr lang="en-GB" sz="1200" dirty="0"/>
              <a:t> </a:t>
            </a:r>
            <a:r>
              <a:rPr lang="en-GB" sz="1200" dirty="0" err="1"/>
              <a:t>위해서는</a:t>
            </a:r>
            <a:r>
              <a:rPr lang="en-GB" sz="1200" dirty="0"/>
              <a:t> </a:t>
            </a:r>
            <a:r>
              <a:rPr lang="en-GB" sz="1200" dirty="0" err="1"/>
              <a:t>강력한</a:t>
            </a:r>
            <a:r>
              <a:rPr lang="en-GB" sz="1200" dirty="0"/>
              <a:t> </a:t>
            </a:r>
            <a:r>
              <a:rPr lang="en-GB" sz="1200" dirty="0" err="1"/>
              <a:t>해군이</a:t>
            </a:r>
            <a:r>
              <a:rPr lang="en-GB" sz="1200" dirty="0"/>
              <a:t> </a:t>
            </a:r>
            <a:r>
              <a:rPr lang="en-GB" sz="1200" dirty="0" err="1"/>
              <a:t>필요하다고</a:t>
            </a:r>
            <a:r>
              <a:rPr lang="en-GB" sz="1200" dirty="0"/>
              <a:t> </a:t>
            </a:r>
            <a:r>
              <a:rPr lang="en-GB" sz="1200" dirty="0" err="1"/>
              <a:t>말했다</a:t>
            </a:r>
            <a:r>
              <a:rPr lang="en-GB" sz="1200" dirty="0"/>
              <a:t>.</a:t>
            </a:r>
          </a:p>
          <a:p>
            <a:pPr>
              <a:buNone/>
            </a:pPr>
            <a:endParaRPr lang="en-GB" sz="1200" dirty="0"/>
          </a:p>
          <a:p>
            <a:r>
              <a:rPr lang="en-GB" sz="1200" dirty="0" err="1"/>
              <a:t>그는</a:t>
            </a:r>
            <a:r>
              <a:rPr lang="en-GB" sz="1200" dirty="0"/>
              <a:t> </a:t>
            </a:r>
            <a:r>
              <a:rPr lang="en-GB" sz="1200" dirty="0" err="1"/>
              <a:t>일본의</a:t>
            </a:r>
            <a:r>
              <a:rPr lang="en-GB" sz="1200" dirty="0"/>
              <a:t> </a:t>
            </a:r>
            <a:r>
              <a:rPr lang="en-GB" sz="1200" dirty="0" err="1"/>
              <a:t>부상과</a:t>
            </a:r>
            <a:r>
              <a:rPr lang="en-GB" sz="1200" dirty="0"/>
              <a:t> </a:t>
            </a:r>
            <a:r>
              <a:rPr lang="en-GB" sz="1200" dirty="0" err="1"/>
              <a:t>중국이</a:t>
            </a:r>
            <a:r>
              <a:rPr lang="en-GB" sz="1200" dirty="0"/>
              <a:t> </a:t>
            </a:r>
            <a:r>
              <a:rPr lang="en-GB" sz="1200" dirty="0" err="1"/>
              <a:t>잠재력을</a:t>
            </a:r>
            <a:r>
              <a:rPr lang="en-GB" sz="1200" dirty="0"/>
              <a:t> </a:t>
            </a:r>
            <a:r>
              <a:rPr lang="en-GB" sz="1200" dirty="0" err="1"/>
              <a:t>발휘하기</a:t>
            </a:r>
            <a:r>
              <a:rPr lang="en-GB" sz="1200" dirty="0"/>
              <a:t> </a:t>
            </a:r>
            <a:r>
              <a:rPr lang="en-GB" sz="1200" dirty="0" err="1"/>
              <a:t>시작할</a:t>
            </a:r>
            <a:r>
              <a:rPr lang="en-GB" sz="1200" dirty="0"/>
              <a:t> </a:t>
            </a:r>
            <a:r>
              <a:rPr lang="en-GB" sz="1200" dirty="0" err="1"/>
              <a:t>가능성을</a:t>
            </a:r>
            <a:r>
              <a:rPr lang="en-GB" sz="1200" dirty="0"/>
              <a:t> </a:t>
            </a:r>
            <a:r>
              <a:rPr lang="en-GB" sz="1200" dirty="0" err="1"/>
              <a:t>언급하며</a:t>
            </a:r>
            <a:r>
              <a:rPr lang="en-GB" sz="1200" dirty="0"/>
              <a:t>, </a:t>
            </a:r>
            <a:r>
              <a:rPr lang="en-GB" sz="1200" dirty="0" err="1"/>
              <a:t>태평양에서</a:t>
            </a:r>
            <a:r>
              <a:rPr lang="en-GB" sz="1200" dirty="0"/>
              <a:t> </a:t>
            </a:r>
            <a:r>
              <a:rPr lang="en-GB" sz="1200" dirty="0" err="1"/>
              <a:t>미래의</a:t>
            </a:r>
            <a:r>
              <a:rPr lang="en-GB" sz="1200" dirty="0"/>
              <a:t> </a:t>
            </a:r>
            <a:r>
              <a:rPr lang="en-GB" sz="1200" dirty="0" err="1"/>
              <a:t>도전에</a:t>
            </a:r>
            <a:r>
              <a:rPr lang="en-GB" sz="1200" dirty="0"/>
              <a:t> </a:t>
            </a:r>
            <a:r>
              <a:rPr lang="en-GB" sz="1200" dirty="0" err="1"/>
              <a:t>대비하기</a:t>
            </a:r>
            <a:r>
              <a:rPr lang="en-GB" sz="1200" dirty="0"/>
              <a:t> </a:t>
            </a:r>
            <a:r>
              <a:rPr lang="en-GB" sz="1200" dirty="0" err="1"/>
              <a:t>위해</a:t>
            </a:r>
            <a:r>
              <a:rPr lang="en-GB" sz="1200" dirty="0"/>
              <a:t> </a:t>
            </a:r>
            <a:r>
              <a:rPr lang="en-GB" sz="1200" dirty="0" err="1"/>
              <a:t>모든</a:t>
            </a:r>
            <a:r>
              <a:rPr lang="en-GB" sz="1200" dirty="0"/>
              <a:t> </a:t>
            </a:r>
            <a:r>
              <a:rPr lang="en-GB" sz="1200" dirty="0" err="1"/>
              <a:t>유럽</a:t>
            </a:r>
            <a:r>
              <a:rPr lang="en-GB" sz="1200" dirty="0"/>
              <a:t> </a:t>
            </a:r>
            <a:r>
              <a:rPr lang="en-GB" sz="1200" dirty="0" err="1"/>
              <a:t>열강이</a:t>
            </a:r>
            <a:r>
              <a:rPr lang="en-GB" sz="1200" dirty="0"/>
              <a:t> </a:t>
            </a:r>
            <a:r>
              <a:rPr lang="en-GB" sz="1200" dirty="0" err="1"/>
              <a:t>준비해야</a:t>
            </a:r>
            <a:r>
              <a:rPr lang="en-GB" sz="1200" dirty="0"/>
              <a:t> </a:t>
            </a:r>
            <a:r>
              <a:rPr lang="en-GB" sz="1200" dirty="0" err="1"/>
              <a:t>한다고</a:t>
            </a:r>
            <a:r>
              <a:rPr lang="en-GB" sz="1200" dirty="0"/>
              <a:t> </a:t>
            </a:r>
            <a:r>
              <a:rPr lang="en-GB" sz="1200" dirty="0" err="1"/>
              <a:t>주장했다</a:t>
            </a:r>
            <a:r>
              <a:rPr lang="en-GB" sz="1200" dirty="0"/>
              <a:t>. </a:t>
            </a:r>
            <a:r>
              <a:rPr lang="en-GB" sz="1200" dirty="0" err="1"/>
              <a:t>황제는</a:t>
            </a:r>
            <a:r>
              <a:rPr lang="en-GB" sz="1200" dirty="0"/>
              <a:t> </a:t>
            </a:r>
            <a:r>
              <a:rPr lang="en-GB" sz="1200" dirty="0" err="1"/>
              <a:t>또한</a:t>
            </a:r>
            <a:r>
              <a:rPr lang="en-GB" sz="1200" dirty="0"/>
              <a:t> </a:t>
            </a:r>
            <a:r>
              <a:rPr lang="en-GB" sz="1200" dirty="0" err="1"/>
              <a:t>언젠가</a:t>
            </a:r>
            <a:r>
              <a:rPr lang="en-GB" sz="1200" dirty="0"/>
              <a:t> </a:t>
            </a:r>
            <a:r>
              <a:rPr lang="en-GB" sz="1200" dirty="0" err="1"/>
              <a:t>영국이</a:t>
            </a:r>
            <a:r>
              <a:rPr lang="en-GB" sz="1200" dirty="0"/>
              <a:t> </a:t>
            </a:r>
            <a:r>
              <a:rPr lang="en-GB" sz="1200" dirty="0" err="1"/>
              <a:t>국제</a:t>
            </a:r>
            <a:r>
              <a:rPr lang="en-GB" sz="1200" dirty="0"/>
              <a:t> </a:t>
            </a:r>
            <a:r>
              <a:rPr lang="en-GB" sz="1200" dirty="0" err="1"/>
              <a:t>정세에서</a:t>
            </a:r>
            <a:r>
              <a:rPr lang="en-GB" sz="1200" dirty="0"/>
              <a:t> </a:t>
            </a:r>
            <a:r>
              <a:rPr lang="en-GB" sz="1200" dirty="0" err="1"/>
              <a:t>독일</a:t>
            </a:r>
            <a:r>
              <a:rPr lang="en-GB" sz="1200" dirty="0"/>
              <a:t> </a:t>
            </a:r>
            <a:r>
              <a:rPr lang="en-GB" sz="1200" dirty="0" err="1"/>
              <a:t>함대를</a:t>
            </a:r>
            <a:r>
              <a:rPr lang="en-GB" sz="1200" dirty="0"/>
              <a:t> </a:t>
            </a:r>
            <a:r>
              <a:rPr lang="en-GB" sz="1200" dirty="0" err="1"/>
              <a:t>동맹국으로서</a:t>
            </a:r>
            <a:r>
              <a:rPr lang="en-GB" sz="1200" dirty="0"/>
              <a:t> </a:t>
            </a:r>
            <a:r>
              <a:rPr lang="en-GB" sz="1200" dirty="0" err="1"/>
              <a:t>환영하게</a:t>
            </a:r>
            <a:r>
              <a:rPr lang="en-GB" sz="1200" dirty="0"/>
              <a:t> </a:t>
            </a:r>
            <a:r>
              <a:rPr lang="en-GB" sz="1200" dirty="0" err="1"/>
              <a:t>될</a:t>
            </a:r>
            <a:r>
              <a:rPr lang="en-GB" sz="1200" dirty="0"/>
              <a:t> </a:t>
            </a:r>
            <a:r>
              <a:rPr lang="en-GB" sz="1200" dirty="0" err="1"/>
              <a:t>수도</a:t>
            </a:r>
            <a:r>
              <a:rPr lang="en-GB" sz="1200" dirty="0"/>
              <a:t> </a:t>
            </a:r>
            <a:r>
              <a:rPr lang="en-GB" sz="1200" dirty="0" err="1"/>
              <a:t>있다고</a:t>
            </a:r>
            <a:r>
              <a:rPr lang="en-GB" sz="1200" dirty="0"/>
              <a:t> </a:t>
            </a:r>
            <a:r>
              <a:rPr lang="en-GB" sz="1200" dirty="0" err="1"/>
              <a:t>덧붙였다</a:t>
            </a:r>
            <a:r>
              <a:rPr lang="en-GB" sz="1200" dirty="0"/>
              <a:t>.</a:t>
            </a:r>
          </a:p>
          <a:p>
            <a:pPr>
              <a:buNone/>
            </a:pPr>
            <a:endParaRPr lang="en-GB" dirty="0"/>
          </a:p>
        </p:txBody>
      </p:sp>
      <p:sp>
        <p:nvSpPr>
          <p:cNvPr id="10" name="Google Shape;284;p36">
            <a:extLst>
              <a:ext uri="{FF2B5EF4-FFF2-40B4-BE49-F238E27FC236}">
                <a16:creationId xmlns:a16="http://schemas.microsoft.com/office/drawing/2014/main" id="{4EABCCA2-9137-1822-4983-B1EDE7B917CE}"/>
              </a:ext>
            </a:extLst>
          </p:cNvPr>
          <p:cNvSpPr txBox="1"/>
          <p:nvPr/>
        </p:nvSpPr>
        <p:spPr>
          <a:xfrm>
            <a:off x="100800" y="-31433"/>
            <a:ext cx="8942400" cy="714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600" b="1" dirty="0">
                <a:solidFill>
                  <a:schemeClr val="dk1"/>
                </a:solidFill>
                <a:highlight>
                  <a:srgbClr val="00FF00"/>
                </a:highlight>
                <a:latin typeface="Baumans"/>
                <a:ea typeface="Baumans"/>
                <a:cs typeface="Baumans"/>
                <a:sym typeface="Baumans"/>
              </a:rPr>
              <a:t>Activity:</a:t>
            </a:r>
            <a:r>
              <a:rPr lang="en" sz="1600" dirty="0">
                <a:solidFill>
                  <a:schemeClr val="dk1"/>
                </a:solidFill>
                <a:latin typeface="Baumans"/>
                <a:ea typeface="Baumans"/>
                <a:cs typeface="Baumans"/>
                <a:sym typeface="Baumans"/>
              </a:rPr>
              <a:t> Using Sources A and B, identify the strongest navy, explain how competition increased tensions, and assess whether the Kaiser’s arguments would reassure or worry Britain.</a:t>
            </a:r>
            <a:endParaRPr sz="1600" dirty="0">
              <a:solidFill>
                <a:schemeClr val="dk1"/>
              </a:solidFill>
              <a:latin typeface="Baumans"/>
              <a:ea typeface="Baumans"/>
              <a:cs typeface="Baumans"/>
              <a:sym typeface="Baumans"/>
            </a:endParaRPr>
          </a:p>
        </p:txBody>
      </p:sp>
    </p:spTree>
    <p:extLst>
      <p:ext uri="{BB962C8B-B14F-4D97-AF65-F5344CB8AC3E}">
        <p14:creationId xmlns:p14="http://schemas.microsoft.com/office/powerpoint/2010/main" val="6863053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pic>
        <p:nvPicPr>
          <p:cNvPr id="297" name="Google Shape;297;p37"/>
          <p:cNvPicPr preferRelativeResize="0"/>
          <p:nvPr/>
        </p:nvPicPr>
        <p:blipFill>
          <a:blip r:embed="rId3">
            <a:alphaModFix/>
          </a:blip>
          <a:stretch>
            <a:fillRect/>
          </a:stretch>
        </p:blipFill>
        <p:spPr>
          <a:xfrm>
            <a:off x="7408211" y="77000"/>
            <a:ext cx="1615488" cy="1077000"/>
          </a:xfrm>
          <a:prstGeom prst="rect">
            <a:avLst/>
          </a:prstGeom>
          <a:noFill/>
          <a:ln>
            <a:noFill/>
          </a:ln>
        </p:spPr>
      </p:pic>
      <p:sp>
        <p:nvSpPr>
          <p:cNvPr id="298" name="Google Shape;298;p37"/>
          <p:cNvSpPr txBox="1"/>
          <p:nvPr/>
        </p:nvSpPr>
        <p:spPr>
          <a:xfrm>
            <a:off x="100800" y="582500"/>
            <a:ext cx="5412600" cy="571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1" u="sng">
                <a:solidFill>
                  <a:schemeClr val="dk1"/>
                </a:solidFill>
                <a:latin typeface="Patrick Hand"/>
                <a:ea typeface="Patrick Hand"/>
                <a:cs typeface="Patrick Hand"/>
                <a:sym typeface="Patrick Hand"/>
              </a:rPr>
              <a:t>Analysing Historical Sources: Causes of WW1</a:t>
            </a:r>
            <a:endParaRPr sz="2400" b="1" u="sng">
              <a:solidFill>
                <a:schemeClr val="dk1"/>
              </a:solidFill>
              <a:latin typeface="Patrick Hand"/>
              <a:ea typeface="Patrick Hand"/>
              <a:cs typeface="Patrick Hand"/>
              <a:sym typeface="Patrick Hand"/>
            </a:endParaRPr>
          </a:p>
        </p:txBody>
      </p:sp>
      <p:sp>
        <p:nvSpPr>
          <p:cNvPr id="299" name="Google Shape;299;p37"/>
          <p:cNvSpPr txBox="1"/>
          <p:nvPr/>
        </p:nvSpPr>
        <p:spPr>
          <a:xfrm>
            <a:off x="104400" y="77000"/>
            <a:ext cx="8919300" cy="50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Title: Militarism and the Arms Race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LO: How did militarism and the arms race increase tensions in Europe before 1914?</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endParaRPr sz="1200" b="1">
              <a:solidFill>
                <a:srgbClr val="980000"/>
              </a:solidFill>
              <a:latin typeface="Delius"/>
              <a:ea typeface="Delius"/>
              <a:cs typeface="Delius"/>
              <a:sym typeface="Delius"/>
            </a:endParaRPr>
          </a:p>
        </p:txBody>
      </p:sp>
      <p:sp>
        <p:nvSpPr>
          <p:cNvPr id="300" name="Google Shape;300;p37"/>
          <p:cNvSpPr txBox="1"/>
          <p:nvPr/>
        </p:nvSpPr>
        <p:spPr>
          <a:xfrm>
            <a:off x="100800" y="1154000"/>
            <a:ext cx="8919300" cy="895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b="1">
                <a:solidFill>
                  <a:schemeClr val="dk1"/>
                </a:solidFill>
                <a:latin typeface="Poppins"/>
                <a:ea typeface="Poppins"/>
                <a:cs typeface="Poppins"/>
                <a:sym typeface="Poppins"/>
              </a:rPr>
              <a:t>Source A — The Naval Strength of the Powers in 1914</a:t>
            </a:r>
            <a:endParaRPr b="1">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b="1">
                <a:solidFill>
                  <a:schemeClr val="dk1"/>
                </a:solidFill>
                <a:latin typeface="Poppins"/>
                <a:ea typeface="Poppins"/>
                <a:cs typeface="Poppins"/>
                <a:sym typeface="Poppins"/>
              </a:rPr>
              <a:t>1. Which country had the most Dreadnoughts by 1914?</a:t>
            </a:r>
            <a:endParaRPr b="1">
              <a:solidFill>
                <a:schemeClr val="dk1"/>
              </a:solidFill>
              <a:latin typeface="Poppins"/>
              <a:ea typeface="Poppins"/>
              <a:cs typeface="Poppins"/>
              <a:sym typeface="Poppins"/>
            </a:endParaRPr>
          </a:p>
          <a:p>
            <a:pPr marL="457200" lvl="0" indent="-317500" algn="l" rtl="0">
              <a:lnSpc>
                <a:spcPct val="115000"/>
              </a:lnSpc>
              <a:spcBef>
                <a:spcPts val="0"/>
              </a:spcBef>
              <a:spcAft>
                <a:spcPts val="0"/>
              </a:spcAft>
              <a:buClr>
                <a:srgbClr val="38761D"/>
              </a:buClr>
              <a:buSzPts val="1400"/>
              <a:buFont typeface="Poppins"/>
              <a:buChar char="●"/>
            </a:pPr>
            <a:r>
              <a:rPr lang="en" b="1">
                <a:solidFill>
                  <a:srgbClr val="38761D"/>
                </a:solidFill>
                <a:latin typeface="Poppins"/>
                <a:ea typeface="Poppins"/>
                <a:cs typeface="Poppins"/>
                <a:sym typeface="Poppins"/>
              </a:rPr>
              <a:t>Britain had the most Dreadnoughts, with 29, compared with Germany’s 17.</a:t>
            </a:r>
            <a:endParaRPr b="1">
              <a:solidFill>
                <a:srgbClr val="38761D"/>
              </a:solidFill>
              <a:latin typeface="Poppins"/>
              <a:ea typeface="Poppins"/>
              <a:cs typeface="Poppins"/>
              <a:sym typeface="Poppins"/>
            </a:endParaRPr>
          </a:p>
        </p:txBody>
      </p:sp>
      <p:sp>
        <p:nvSpPr>
          <p:cNvPr id="301" name="Google Shape;301;p37"/>
          <p:cNvSpPr txBox="1"/>
          <p:nvPr/>
        </p:nvSpPr>
        <p:spPr>
          <a:xfrm>
            <a:off x="100800" y="2049800"/>
            <a:ext cx="8919300" cy="895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b="1">
                <a:solidFill>
                  <a:schemeClr val="dk1"/>
                </a:solidFill>
                <a:latin typeface="Poppins"/>
                <a:ea typeface="Poppins"/>
                <a:cs typeface="Poppins"/>
                <a:sym typeface="Poppins"/>
              </a:rPr>
              <a:t>2. Which alliance had the most Dreadnoughts by 1914?</a:t>
            </a:r>
            <a:endParaRPr b="1">
              <a:solidFill>
                <a:schemeClr val="dk1"/>
              </a:solidFill>
              <a:latin typeface="Poppins"/>
              <a:ea typeface="Poppins"/>
              <a:cs typeface="Poppins"/>
              <a:sym typeface="Poppins"/>
            </a:endParaRPr>
          </a:p>
          <a:p>
            <a:pPr marL="457200" lvl="0" indent="-317500" algn="l" rtl="0">
              <a:lnSpc>
                <a:spcPct val="115000"/>
              </a:lnSpc>
              <a:spcBef>
                <a:spcPts val="0"/>
              </a:spcBef>
              <a:spcAft>
                <a:spcPts val="0"/>
              </a:spcAft>
              <a:buClr>
                <a:srgbClr val="38761D"/>
              </a:buClr>
              <a:buSzPts val="1400"/>
              <a:buFont typeface="Poppins"/>
              <a:buChar char="●"/>
            </a:pPr>
            <a:r>
              <a:rPr lang="en" b="1">
                <a:solidFill>
                  <a:srgbClr val="38761D"/>
                </a:solidFill>
                <a:latin typeface="Poppins"/>
                <a:ea typeface="Poppins"/>
                <a:cs typeface="Poppins"/>
                <a:sym typeface="Poppins"/>
              </a:rPr>
              <a:t>The Triple Entente (Britain, France and Russia) had the most, with 43 Dreadnoughts, compared with 21 for Germany and Austria-Hungary.</a:t>
            </a:r>
            <a:endParaRPr b="1"/>
          </a:p>
        </p:txBody>
      </p:sp>
      <p:sp>
        <p:nvSpPr>
          <p:cNvPr id="302" name="Google Shape;302;p37"/>
          <p:cNvSpPr txBox="1"/>
          <p:nvPr/>
        </p:nvSpPr>
        <p:spPr>
          <a:xfrm>
            <a:off x="100800" y="2945600"/>
            <a:ext cx="8919300" cy="1143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b="1">
                <a:solidFill>
                  <a:schemeClr val="dk1"/>
                </a:solidFill>
                <a:latin typeface="Poppins"/>
                <a:ea typeface="Poppins"/>
                <a:cs typeface="Poppins"/>
                <a:sym typeface="Poppins"/>
              </a:rPr>
              <a:t>3. How might this naval competition have increased tensions?</a:t>
            </a:r>
            <a:endParaRPr b="1">
              <a:solidFill>
                <a:schemeClr val="dk1"/>
              </a:solidFill>
              <a:latin typeface="Poppins"/>
              <a:ea typeface="Poppins"/>
              <a:cs typeface="Poppins"/>
              <a:sym typeface="Poppins"/>
            </a:endParaRPr>
          </a:p>
          <a:p>
            <a:pPr marL="457200" lvl="0" indent="-317500" algn="l" rtl="0">
              <a:lnSpc>
                <a:spcPct val="115000"/>
              </a:lnSpc>
              <a:spcBef>
                <a:spcPts val="0"/>
              </a:spcBef>
              <a:spcAft>
                <a:spcPts val="0"/>
              </a:spcAft>
              <a:buClr>
                <a:srgbClr val="38761D"/>
              </a:buClr>
              <a:buSzPts val="1400"/>
              <a:buFont typeface="Poppins"/>
              <a:buChar char="●"/>
            </a:pPr>
            <a:r>
              <a:rPr lang="en" b="1">
                <a:solidFill>
                  <a:srgbClr val="38761D"/>
                </a:solidFill>
                <a:latin typeface="Poppins"/>
                <a:ea typeface="Poppins"/>
                <a:cs typeface="Poppins"/>
                <a:sym typeface="Poppins"/>
              </a:rPr>
              <a:t>Britain and Germany competed to build stronger navies. Britain may have seen Germany’s growing navy as a threat, while Germany wanted to protect its trade and interests. This competition could increase fear and mistrust between the countries.</a:t>
            </a:r>
            <a:endParaRPr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07" name="Google Shape;307;p38"/>
          <p:cNvPicPr preferRelativeResize="0"/>
          <p:nvPr/>
        </p:nvPicPr>
        <p:blipFill>
          <a:blip r:embed="rId3">
            <a:alphaModFix/>
          </a:blip>
          <a:stretch>
            <a:fillRect/>
          </a:stretch>
        </p:blipFill>
        <p:spPr>
          <a:xfrm>
            <a:off x="7408211" y="77000"/>
            <a:ext cx="1615488" cy="1077000"/>
          </a:xfrm>
          <a:prstGeom prst="rect">
            <a:avLst/>
          </a:prstGeom>
          <a:noFill/>
          <a:ln>
            <a:noFill/>
          </a:ln>
        </p:spPr>
      </p:pic>
      <p:sp>
        <p:nvSpPr>
          <p:cNvPr id="308" name="Google Shape;308;p38"/>
          <p:cNvSpPr txBox="1"/>
          <p:nvPr/>
        </p:nvSpPr>
        <p:spPr>
          <a:xfrm>
            <a:off x="100800" y="582500"/>
            <a:ext cx="5412600" cy="571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1" u="sng">
                <a:solidFill>
                  <a:schemeClr val="dk1"/>
                </a:solidFill>
                <a:latin typeface="Patrick Hand"/>
                <a:ea typeface="Patrick Hand"/>
                <a:cs typeface="Patrick Hand"/>
                <a:sym typeface="Patrick Hand"/>
              </a:rPr>
              <a:t>Analysing Historical Sources: Causes of WW1</a:t>
            </a:r>
            <a:endParaRPr sz="2400" b="1" u="sng">
              <a:solidFill>
                <a:schemeClr val="dk1"/>
              </a:solidFill>
              <a:latin typeface="Patrick Hand"/>
              <a:ea typeface="Patrick Hand"/>
              <a:cs typeface="Patrick Hand"/>
              <a:sym typeface="Patrick Hand"/>
            </a:endParaRPr>
          </a:p>
        </p:txBody>
      </p:sp>
      <p:sp>
        <p:nvSpPr>
          <p:cNvPr id="309" name="Google Shape;309;p38"/>
          <p:cNvSpPr txBox="1"/>
          <p:nvPr/>
        </p:nvSpPr>
        <p:spPr>
          <a:xfrm>
            <a:off x="104400" y="77000"/>
            <a:ext cx="8919300" cy="50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Title: Militarism and the Arms Race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LO: How did militarism and the arms race increase tensions in Europe before 1914?</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endParaRPr sz="1200" b="1">
              <a:solidFill>
                <a:srgbClr val="980000"/>
              </a:solidFill>
              <a:latin typeface="Delius"/>
              <a:ea typeface="Delius"/>
              <a:cs typeface="Delius"/>
              <a:sym typeface="Delius"/>
            </a:endParaRPr>
          </a:p>
        </p:txBody>
      </p:sp>
      <p:sp>
        <p:nvSpPr>
          <p:cNvPr id="310" name="Google Shape;310;p38"/>
          <p:cNvSpPr txBox="1"/>
          <p:nvPr/>
        </p:nvSpPr>
        <p:spPr>
          <a:xfrm>
            <a:off x="100800" y="1154000"/>
            <a:ext cx="8919300" cy="1143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b="1">
                <a:solidFill>
                  <a:schemeClr val="dk1"/>
                </a:solidFill>
                <a:latin typeface="Poppins"/>
                <a:ea typeface="Poppins"/>
                <a:cs typeface="Poppins"/>
                <a:sym typeface="Poppins"/>
              </a:rPr>
              <a:t>Source B — Daily Telegraph Interview, 1908</a:t>
            </a:r>
            <a:endParaRPr b="1">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b="1">
                <a:solidFill>
                  <a:schemeClr val="dk1"/>
                </a:solidFill>
                <a:latin typeface="Poppins"/>
                <a:ea typeface="Poppins"/>
                <a:cs typeface="Poppins"/>
                <a:sym typeface="Poppins"/>
              </a:rPr>
              <a:t>1. What relationship did the Kaiser want with Britain?</a:t>
            </a:r>
            <a:endParaRPr b="1">
              <a:solidFill>
                <a:schemeClr val="dk1"/>
              </a:solidFill>
              <a:latin typeface="Poppins"/>
              <a:ea typeface="Poppins"/>
              <a:cs typeface="Poppins"/>
              <a:sym typeface="Poppins"/>
            </a:endParaRPr>
          </a:p>
          <a:p>
            <a:pPr marL="457200" lvl="0" indent="-317500" algn="l" rtl="0">
              <a:lnSpc>
                <a:spcPct val="115000"/>
              </a:lnSpc>
              <a:spcBef>
                <a:spcPts val="0"/>
              </a:spcBef>
              <a:spcAft>
                <a:spcPts val="0"/>
              </a:spcAft>
              <a:buClr>
                <a:srgbClr val="38761D"/>
              </a:buClr>
              <a:buSzPts val="1400"/>
              <a:buFont typeface="Poppins"/>
              <a:buChar char="●"/>
            </a:pPr>
            <a:r>
              <a:rPr lang="en" b="1">
                <a:solidFill>
                  <a:srgbClr val="38761D"/>
                </a:solidFill>
                <a:latin typeface="Poppins"/>
                <a:ea typeface="Poppins"/>
                <a:cs typeface="Poppins"/>
                <a:sym typeface="Poppins"/>
              </a:rPr>
              <a:t>The Kaiser said he wanted peace and friendly relations with Britain. He claimed that he wanted the two countries to live on good terms.</a:t>
            </a:r>
            <a:endParaRPr b="1">
              <a:solidFill>
                <a:schemeClr val="dk1"/>
              </a:solidFill>
              <a:latin typeface="Poppins"/>
              <a:ea typeface="Poppins"/>
              <a:cs typeface="Poppins"/>
              <a:sym typeface="Poppins"/>
            </a:endParaRPr>
          </a:p>
        </p:txBody>
      </p:sp>
      <p:sp>
        <p:nvSpPr>
          <p:cNvPr id="311" name="Google Shape;311;p38"/>
          <p:cNvSpPr txBox="1"/>
          <p:nvPr/>
        </p:nvSpPr>
        <p:spPr>
          <a:xfrm>
            <a:off x="104400" y="2297600"/>
            <a:ext cx="8919300" cy="1143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b="1">
                <a:solidFill>
                  <a:schemeClr val="dk1"/>
                </a:solidFill>
                <a:latin typeface="Poppins"/>
                <a:ea typeface="Poppins"/>
                <a:cs typeface="Poppins"/>
                <a:sym typeface="Poppins"/>
              </a:rPr>
              <a:t>2. Why did Germany need a large navy, according to the Kaiser?</a:t>
            </a:r>
            <a:endParaRPr b="1">
              <a:solidFill>
                <a:schemeClr val="dk1"/>
              </a:solidFill>
              <a:latin typeface="Poppins"/>
              <a:ea typeface="Poppins"/>
              <a:cs typeface="Poppins"/>
              <a:sym typeface="Poppins"/>
            </a:endParaRPr>
          </a:p>
          <a:p>
            <a:pPr marL="457200" lvl="0" indent="-317500" algn="l" rtl="0">
              <a:lnSpc>
                <a:spcPct val="115000"/>
              </a:lnSpc>
              <a:spcBef>
                <a:spcPts val="0"/>
              </a:spcBef>
              <a:spcAft>
                <a:spcPts val="0"/>
              </a:spcAft>
              <a:buClr>
                <a:srgbClr val="38761D"/>
              </a:buClr>
              <a:buSzPts val="1400"/>
              <a:buFont typeface="Poppins"/>
              <a:buChar char="●"/>
            </a:pPr>
            <a:r>
              <a:rPr lang="en" b="1">
                <a:solidFill>
                  <a:srgbClr val="38761D"/>
                </a:solidFill>
                <a:latin typeface="Poppins"/>
                <a:ea typeface="Poppins"/>
                <a:cs typeface="Poppins"/>
                <a:sym typeface="Poppins"/>
              </a:rPr>
              <a:t>The Kaiser argued that Germany was a growing empire with worldwide trade that needed protection. He said a strong navy was necessary to defend German interests, including in distant seas.</a:t>
            </a:r>
            <a:endParaRPr b="1"/>
          </a:p>
        </p:txBody>
      </p:sp>
      <p:sp>
        <p:nvSpPr>
          <p:cNvPr id="312" name="Google Shape;312;p38"/>
          <p:cNvSpPr txBox="1"/>
          <p:nvPr/>
        </p:nvSpPr>
        <p:spPr>
          <a:xfrm>
            <a:off x="104400" y="3441200"/>
            <a:ext cx="8919300" cy="1143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b="1">
                <a:solidFill>
                  <a:schemeClr val="dk1"/>
                </a:solidFill>
                <a:latin typeface="Poppins"/>
                <a:ea typeface="Poppins"/>
                <a:cs typeface="Poppins"/>
                <a:sym typeface="Poppins"/>
              </a:rPr>
              <a:t>3. How did Japan and China support his argument?</a:t>
            </a:r>
            <a:endParaRPr b="1">
              <a:solidFill>
                <a:schemeClr val="dk1"/>
              </a:solidFill>
              <a:latin typeface="Poppins"/>
              <a:ea typeface="Poppins"/>
              <a:cs typeface="Poppins"/>
              <a:sym typeface="Poppins"/>
            </a:endParaRPr>
          </a:p>
          <a:p>
            <a:pPr marL="457200" lvl="0" indent="-317500" algn="l" rtl="0">
              <a:lnSpc>
                <a:spcPct val="115000"/>
              </a:lnSpc>
              <a:spcBef>
                <a:spcPts val="0"/>
              </a:spcBef>
              <a:spcAft>
                <a:spcPts val="0"/>
              </a:spcAft>
              <a:buClr>
                <a:srgbClr val="38761D"/>
              </a:buClr>
              <a:buSzPts val="1400"/>
              <a:buFont typeface="Poppins"/>
              <a:buChar char="●"/>
            </a:pPr>
            <a:r>
              <a:rPr lang="en" b="1">
                <a:solidFill>
                  <a:srgbClr val="38761D"/>
                </a:solidFill>
                <a:latin typeface="Poppins"/>
                <a:ea typeface="Poppins"/>
                <a:cs typeface="Poppins"/>
                <a:sym typeface="Poppins"/>
              </a:rPr>
              <a:t>The Kaiser argued that Japan was becoming more powerful and China might also become stronger. He claimed that European countries needed strong navies to prepare for possible future challenges in the Pacific.</a:t>
            </a:r>
            <a:endParaRPr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pic>
        <p:nvPicPr>
          <p:cNvPr id="317" name="Google Shape;317;p39"/>
          <p:cNvPicPr preferRelativeResize="0"/>
          <p:nvPr/>
        </p:nvPicPr>
        <p:blipFill>
          <a:blip r:embed="rId3">
            <a:alphaModFix/>
          </a:blip>
          <a:stretch>
            <a:fillRect/>
          </a:stretch>
        </p:blipFill>
        <p:spPr>
          <a:xfrm>
            <a:off x="7408211" y="77000"/>
            <a:ext cx="1615488" cy="1077000"/>
          </a:xfrm>
          <a:prstGeom prst="rect">
            <a:avLst/>
          </a:prstGeom>
          <a:noFill/>
          <a:ln>
            <a:noFill/>
          </a:ln>
        </p:spPr>
      </p:pic>
      <p:sp>
        <p:nvSpPr>
          <p:cNvPr id="318" name="Google Shape;318;p39"/>
          <p:cNvSpPr txBox="1"/>
          <p:nvPr/>
        </p:nvSpPr>
        <p:spPr>
          <a:xfrm>
            <a:off x="100800" y="582500"/>
            <a:ext cx="5412600" cy="571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1" u="sng">
                <a:solidFill>
                  <a:schemeClr val="dk1"/>
                </a:solidFill>
                <a:latin typeface="Patrick Hand"/>
                <a:ea typeface="Patrick Hand"/>
                <a:cs typeface="Patrick Hand"/>
                <a:sym typeface="Patrick Hand"/>
              </a:rPr>
              <a:t>Analysing Historical Sources: Causes of WW1</a:t>
            </a:r>
            <a:endParaRPr sz="2400" b="1" u="sng">
              <a:solidFill>
                <a:schemeClr val="dk1"/>
              </a:solidFill>
              <a:latin typeface="Patrick Hand"/>
              <a:ea typeface="Patrick Hand"/>
              <a:cs typeface="Patrick Hand"/>
              <a:sym typeface="Patrick Hand"/>
            </a:endParaRPr>
          </a:p>
        </p:txBody>
      </p:sp>
      <p:sp>
        <p:nvSpPr>
          <p:cNvPr id="319" name="Google Shape;319;p39"/>
          <p:cNvSpPr txBox="1"/>
          <p:nvPr/>
        </p:nvSpPr>
        <p:spPr>
          <a:xfrm>
            <a:off x="104400" y="77000"/>
            <a:ext cx="8919300" cy="50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Title: Militarism and the Arms Race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LO: How did militarism and the arms race increase tensions in Europe before 1914?</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endParaRPr sz="1200" b="1">
              <a:solidFill>
                <a:srgbClr val="980000"/>
              </a:solidFill>
              <a:latin typeface="Delius"/>
              <a:ea typeface="Delius"/>
              <a:cs typeface="Delius"/>
              <a:sym typeface="Delius"/>
            </a:endParaRPr>
          </a:p>
        </p:txBody>
      </p:sp>
      <p:sp>
        <p:nvSpPr>
          <p:cNvPr id="320" name="Google Shape;320;p39"/>
          <p:cNvSpPr txBox="1"/>
          <p:nvPr/>
        </p:nvSpPr>
        <p:spPr>
          <a:xfrm>
            <a:off x="100800" y="1154000"/>
            <a:ext cx="8919300" cy="2662237"/>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b="1" dirty="0">
                <a:solidFill>
                  <a:schemeClr val="dk1"/>
                </a:solidFill>
                <a:latin typeface="Poppins"/>
                <a:ea typeface="Poppins"/>
                <a:cs typeface="Poppins"/>
                <a:sym typeface="Poppins"/>
              </a:rPr>
              <a:t>Source B — Daily Telegraph Interview, 1908</a:t>
            </a:r>
            <a:endParaRPr b="1" dirty="0">
              <a:solidFill>
                <a:srgbClr val="38761D"/>
              </a:solidFill>
              <a:latin typeface="Poppins"/>
              <a:ea typeface="Poppins"/>
              <a:cs typeface="Poppins"/>
              <a:sym typeface="Poppins"/>
            </a:endParaRPr>
          </a:p>
          <a:p>
            <a:pPr lvl="0">
              <a:lnSpc>
                <a:spcPct val="115000"/>
              </a:lnSpc>
            </a:pPr>
            <a:r>
              <a:rPr lang="en" dirty="0">
                <a:solidFill>
                  <a:schemeClr val="dk1"/>
                </a:solidFill>
                <a:latin typeface="Poppins"/>
                <a:ea typeface="Poppins"/>
                <a:cs typeface="Poppins"/>
                <a:sym typeface="Poppins"/>
              </a:rPr>
              <a:t>4. Do you think the Kaiser’s explanation would reassure </a:t>
            </a:r>
            <a:r>
              <a:rPr lang="ko-KR" altLang="en-US" dirty="0">
                <a:solidFill>
                  <a:schemeClr val="dk1"/>
                </a:solidFill>
                <a:latin typeface="Poppins"/>
                <a:ea typeface="Poppins"/>
                <a:cs typeface="Poppins"/>
                <a:sym typeface="Poppins"/>
              </a:rPr>
              <a:t>안심시켜 주세요</a:t>
            </a:r>
            <a:r>
              <a:rPr lang="en" dirty="0">
                <a:solidFill>
                  <a:schemeClr val="dk1"/>
                </a:solidFill>
                <a:latin typeface="Poppins"/>
                <a:ea typeface="Poppins"/>
                <a:cs typeface="Poppins"/>
                <a:sym typeface="Poppins"/>
              </a:rPr>
              <a:t>  </a:t>
            </a:r>
            <a:r>
              <a:rPr lang="ja-JP" altLang="en-US">
                <a:solidFill>
                  <a:schemeClr val="dk1"/>
                </a:solidFill>
                <a:latin typeface="Poppins"/>
                <a:ea typeface="Poppins"/>
                <a:cs typeface="Poppins"/>
                <a:sym typeface="Poppins"/>
              </a:rPr>
              <a:t>安慰</a:t>
            </a:r>
            <a:r>
              <a:rPr lang="en" dirty="0">
                <a:solidFill>
                  <a:schemeClr val="dk1"/>
                </a:solidFill>
                <a:latin typeface="Poppins"/>
                <a:ea typeface="Poppins"/>
                <a:cs typeface="Poppins"/>
                <a:sym typeface="Poppins"/>
              </a:rPr>
              <a:t> Britain or make it more suspicious </a:t>
            </a:r>
            <a:r>
              <a:rPr lang="ja-JP" altLang="en-US">
                <a:solidFill>
                  <a:schemeClr val="dk1"/>
                </a:solidFill>
                <a:latin typeface="Poppins"/>
                <a:ea typeface="Poppins"/>
                <a:cs typeface="Poppins"/>
                <a:sym typeface="Poppins"/>
              </a:rPr>
              <a:t>可疑</a:t>
            </a:r>
            <a:r>
              <a:rPr lang="en" dirty="0">
                <a:solidFill>
                  <a:schemeClr val="dk1"/>
                </a:solidFill>
                <a:latin typeface="Poppins"/>
                <a:ea typeface="Poppins"/>
                <a:cs typeface="Poppins"/>
                <a:sym typeface="Poppins"/>
              </a:rPr>
              <a:t> </a:t>
            </a:r>
            <a:r>
              <a:rPr lang="ko-KR" altLang="en-US" dirty="0">
                <a:solidFill>
                  <a:schemeClr val="dk1"/>
                </a:solidFill>
                <a:latin typeface="Poppins"/>
                <a:ea typeface="Poppins"/>
                <a:cs typeface="Poppins"/>
                <a:sym typeface="Poppins"/>
              </a:rPr>
              <a:t>수상하다</a:t>
            </a:r>
            <a:r>
              <a:rPr lang="en-US" altLang="ko-KR" dirty="0">
                <a:solidFill>
                  <a:schemeClr val="dk1"/>
                </a:solidFill>
                <a:latin typeface="Poppins"/>
                <a:ea typeface="Poppins"/>
                <a:cs typeface="Poppins"/>
                <a:sym typeface="Poppins"/>
              </a:rPr>
              <a:t> </a:t>
            </a:r>
            <a:r>
              <a:rPr lang="en" dirty="0">
                <a:solidFill>
                  <a:schemeClr val="dk1"/>
                </a:solidFill>
                <a:latin typeface="Poppins"/>
                <a:ea typeface="Poppins"/>
                <a:cs typeface="Poppins"/>
                <a:sym typeface="Poppins"/>
              </a:rPr>
              <a:t> of Germany?</a:t>
            </a:r>
            <a:endParaRPr dirty="0">
              <a:solidFill>
                <a:schemeClr val="dk1"/>
              </a:solidFill>
              <a:latin typeface="Poppins"/>
              <a:ea typeface="Poppins"/>
              <a:cs typeface="Poppins"/>
              <a:sym typeface="Poppins"/>
            </a:endParaRPr>
          </a:p>
          <a:p>
            <a:pPr marL="457200" lvl="0" indent="-317500" algn="l" rtl="0">
              <a:lnSpc>
                <a:spcPct val="115000"/>
              </a:lnSpc>
              <a:spcBef>
                <a:spcPts val="0"/>
              </a:spcBef>
              <a:spcAft>
                <a:spcPts val="0"/>
              </a:spcAft>
              <a:buClr>
                <a:srgbClr val="38761D"/>
              </a:buClr>
              <a:buSzPts val="1400"/>
              <a:buFont typeface="Poppins"/>
              <a:buChar char="●"/>
            </a:pPr>
            <a:r>
              <a:rPr lang="en" b="1" dirty="0">
                <a:solidFill>
                  <a:srgbClr val="38761D"/>
                </a:solidFill>
                <a:latin typeface="Poppins"/>
                <a:ea typeface="Poppins"/>
                <a:cs typeface="Poppins"/>
                <a:sym typeface="Poppins"/>
              </a:rPr>
              <a:t>The explanation might make Britain more suspicious of Germany. Although the Kaiser claimed that he wanted peace, Germany was building a large navy that could threaten British naval power. Britain might worry that Germany could become a rival, even if the Kaiser said that he wanted friendly relations. </a:t>
            </a:r>
            <a:endParaRPr b="1" dirty="0">
              <a:solidFill>
                <a:srgbClr val="38761D"/>
              </a:solidFill>
              <a:latin typeface="Poppins"/>
              <a:ea typeface="Poppins"/>
              <a:cs typeface="Poppins"/>
              <a:sym typeface="Poppins"/>
            </a:endParaRPr>
          </a:p>
          <a:p>
            <a:pPr marL="457200" lvl="0" indent="-317500" algn="l" rtl="0">
              <a:lnSpc>
                <a:spcPct val="115000"/>
              </a:lnSpc>
              <a:spcBef>
                <a:spcPts val="0"/>
              </a:spcBef>
              <a:spcAft>
                <a:spcPts val="0"/>
              </a:spcAft>
              <a:buClr>
                <a:srgbClr val="38761D"/>
              </a:buClr>
              <a:buSzPts val="1400"/>
              <a:buFont typeface="Poppins"/>
              <a:buChar char="●"/>
            </a:pPr>
            <a:r>
              <a:rPr lang="en" b="1" dirty="0">
                <a:solidFill>
                  <a:srgbClr val="38761D"/>
                </a:solidFill>
                <a:latin typeface="Poppins"/>
                <a:ea typeface="Poppins"/>
                <a:cs typeface="Poppins"/>
                <a:sym typeface="Poppins"/>
              </a:rPr>
              <a:t>Alternatively, some people might have found his explanation reasonable because Germany had overseas trade to protect. However, his assurances of peace might not have removed British concerns about Germany’s growing navy.</a:t>
            </a:r>
            <a:endParaRPr b="1" dirty="0">
              <a:solidFill>
                <a:srgbClr val="38761D"/>
              </a:solidFill>
              <a:latin typeface="Poppins"/>
              <a:ea typeface="Poppins"/>
              <a:cs typeface="Poppins"/>
              <a:sym typeface="Poppi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20">
                                            <p:txEl>
                                              <p:pRg st="2" end="2"/>
                                            </p:txEl>
                                          </p:spTgt>
                                        </p:tgtEl>
                                        <p:attrNameLst>
                                          <p:attrName>style.visibility</p:attrName>
                                        </p:attrNameLst>
                                      </p:cBhvr>
                                      <p:to>
                                        <p:strVal val="visible"/>
                                      </p:to>
                                    </p:set>
                                    <p:anim calcmode="lin" valueType="num">
                                      <p:cBhvr additive="base">
                                        <p:cTn id="7" dur="500" fill="hold"/>
                                        <p:tgtEl>
                                          <p:spTgt spid="320">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20">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20">
                                            <p:txEl>
                                              <p:pRg st="3" end="3"/>
                                            </p:txEl>
                                          </p:spTgt>
                                        </p:tgtEl>
                                        <p:attrNameLst>
                                          <p:attrName>style.visibility</p:attrName>
                                        </p:attrNameLst>
                                      </p:cBhvr>
                                      <p:to>
                                        <p:strVal val="visible"/>
                                      </p:to>
                                    </p:set>
                                    <p:anim calcmode="lin" valueType="num">
                                      <p:cBhvr additive="base">
                                        <p:cTn id="11" dur="500" fill="hold"/>
                                        <p:tgtEl>
                                          <p:spTgt spid="320">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20">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pic>
        <p:nvPicPr>
          <p:cNvPr id="325" name="Google Shape;325;p40"/>
          <p:cNvPicPr preferRelativeResize="0"/>
          <p:nvPr/>
        </p:nvPicPr>
        <p:blipFill rotWithShape="1">
          <a:blip r:embed="rId3">
            <a:alphaModFix/>
          </a:blip>
          <a:srcRect l="30711" t="5130" r="3174" b="5807"/>
          <a:stretch/>
        </p:blipFill>
        <p:spPr>
          <a:xfrm>
            <a:off x="115349" y="782519"/>
            <a:ext cx="1246475" cy="661131"/>
          </a:xfrm>
          <a:prstGeom prst="rect">
            <a:avLst/>
          </a:prstGeom>
          <a:noFill/>
          <a:ln>
            <a:noFill/>
          </a:ln>
        </p:spPr>
      </p:pic>
      <p:sp>
        <p:nvSpPr>
          <p:cNvPr id="326" name="Google Shape;326;p40"/>
          <p:cNvSpPr txBox="1"/>
          <p:nvPr/>
        </p:nvSpPr>
        <p:spPr>
          <a:xfrm>
            <a:off x="115335" y="1532275"/>
            <a:ext cx="8840100" cy="2539800"/>
          </a:xfrm>
          <a:prstGeom prst="rect">
            <a:avLst/>
          </a:prstGeom>
          <a:noFill/>
          <a:ln>
            <a:noFill/>
          </a:ln>
        </p:spPr>
        <p:txBody>
          <a:bodyPr spcFirstLastPara="1" wrap="square" lIns="91425" tIns="91425" rIns="91425" bIns="91425" anchor="t" anchorCtr="0">
            <a:spAutoFit/>
          </a:bodyPr>
          <a:lstStyle/>
          <a:p>
            <a:pPr marL="457200" lvl="0" indent="-342900" algn="l" rtl="0">
              <a:lnSpc>
                <a:spcPct val="150000"/>
              </a:lnSpc>
              <a:spcBef>
                <a:spcPts val="0"/>
              </a:spcBef>
              <a:spcAft>
                <a:spcPts val="0"/>
              </a:spcAft>
              <a:buClr>
                <a:schemeClr val="dk1"/>
              </a:buClr>
              <a:buSzPts val="1800"/>
              <a:buFont typeface="Poppins"/>
              <a:buAutoNum type="arabicPeriod"/>
            </a:pPr>
            <a:r>
              <a:rPr lang="en" sz="1800" b="1">
                <a:solidFill>
                  <a:schemeClr val="dk1"/>
                </a:solidFill>
                <a:latin typeface="Poppins"/>
                <a:ea typeface="Poppins"/>
                <a:cs typeface="Poppins"/>
                <a:sym typeface="Poppins"/>
              </a:rPr>
              <a:t>What where the main reasons leaders failed to take responsibility for peace before 1914?</a:t>
            </a:r>
            <a:endParaRPr b="1">
              <a:solidFill>
                <a:srgbClr val="980000"/>
              </a:solidFill>
              <a:latin typeface="Patrick Hand"/>
              <a:ea typeface="Patrick Hand"/>
              <a:cs typeface="Patrick Hand"/>
              <a:sym typeface="Patrick Hand"/>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a) They kept building bigger armies and navies</a:t>
            </a:r>
            <a:endParaRPr sz="1800">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b) They signed alliances that could drag more countries into war</a:t>
            </a:r>
            <a:endParaRPr sz="1800">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c) They worked hard together to avoid conflict</a:t>
            </a:r>
            <a:endParaRPr sz="1800">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d) They competed for colonies and power</a:t>
            </a:r>
            <a:endParaRPr sz="1800">
              <a:solidFill>
                <a:schemeClr val="dk1"/>
              </a:solidFill>
              <a:latin typeface="Poppins"/>
              <a:ea typeface="Poppins"/>
              <a:cs typeface="Poppins"/>
              <a:sym typeface="Poppins"/>
            </a:endParaRPr>
          </a:p>
        </p:txBody>
      </p:sp>
      <p:sp>
        <p:nvSpPr>
          <p:cNvPr id="327" name="Google Shape;327;p40"/>
          <p:cNvSpPr txBox="1"/>
          <p:nvPr/>
        </p:nvSpPr>
        <p:spPr>
          <a:xfrm>
            <a:off x="1361825" y="789838"/>
            <a:ext cx="3000000" cy="646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400"/>
              </a:spcAft>
              <a:buNone/>
            </a:pPr>
            <a:r>
              <a:rPr lang="en" sz="3000" b="1">
                <a:solidFill>
                  <a:srgbClr val="FF0000"/>
                </a:solidFill>
                <a:latin typeface="Baumans"/>
                <a:ea typeface="Baumans"/>
                <a:cs typeface="Baumans"/>
                <a:sym typeface="Baumans"/>
              </a:rPr>
              <a:t>Odd One Out</a:t>
            </a:r>
            <a:endParaRPr sz="3000">
              <a:solidFill>
                <a:srgbClr val="FF0000"/>
              </a:solidFill>
              <a:latin typeface="Baumans"/>
              <a:ea typeface="Baumans"/>
              <a:cs typeface="Baumans"/>
              <a:sym typeface="Baumans"/>
            </a:endParaRPr>
          </a:p>
        </p:txBody>
      </p:sp>
      <p:sp>
        <p:nvSpPr>
          <p:cNvPr id="328" name="Google Shape;328;p40"/>
          <p:cNvSpPr/>
          <p:nvPr/>
        </p:nvSpPr>
        <p:spPr>
          <a:xfrm>
            <a:off x="151950" y="3190600"/>
            <a:ext cx="5569800" cy="392700"/>
          </a:xfrm>
          <a:prstGeom prst="roundRect">
            <a:avLst>
              <a:gd name="adj" fmla="val 16667"/>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9" name="Google Shape;329;p40"/>
          <p:cNvSpPr txBox="1"/>
          <p:nvPr/>
        </p:nvSpPr>
        <p:spPr>
          <a:xfrm>
            <a:off x="104400" y="77000"/>
            <a:ext cx="8919300" cy="50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Title: Militarism and the Arms Race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LO: How did militarism and the arms race increase tensions in Europe before 1914?</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endParaRPr sz="1200" b="1">
              <a:solidFill>
                <a:srgbClr val="980000"/>
              </a:solidFill>
              <a:latin typeface="Delius"/>
              <a:ea typeface="Delius"/>
              <a:cs typeface="Delius"/>
              <a:sym typeface="Deliu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pic>
        <p:nvPicPr>
          <p:cNvPr id="334" name="Google Shape;334;p41"/>
          <p:cNvPicPr preferRelativeResize="0"/>
          <p:nvPr/>
        </p:nvPicPr>
        <p:blipFill rotWithShape="1">
          <a:blip r:embed="rId3">
            <a:alphaModFix/>
          </a:blip>
          <a:srcRect l="30711" t="5130" r="3174" b="5807"/>
          <a:stretch/>
        </p:blipFill>
        <p:spPr>
          <a:xfrm>
            <a:off x="115349" y="782519"/>
            <a:ext cx="1246475" cy="661131"/>
          </a:xfrm>
          <a:prstGeom prst="rect">
            <a:avLst/>
          </a:prstGeom>
          <a:noFill/>
          <a:ln>
            <a:noFill/>
          </a:ln>
        </p:spPr>
      </p:pic>
      <p:sp>
        <p:nvSpPr>
          <p:cNvPr id="335" name="Google Shape;335;p41"/>
          <p:cNvSpPr txBox="1"/>
          <p:nvPr/>
        </p:nvSpPr>
        <p:spPr>
          <a:xfrm>
            <a:off x="115335" y="1532275"/>
            <a:ext cx="8840100" cy="2539800"/>
          </a:xfrm>
          <a:prstGeom prst="rect">
            <a:avLst/>
          </a:prstGeom>
          <a:noFill/>
          <a:ln>
            <a:noFill/>
          </a:ln>
        </p:spPr>
        <p:txBody>
          <a:bodyPr spcFirstLastPara="1" wrap="square" lIns="91425" tIns="91425" rIns="91425" bIns="91425" anchor="t" anchorCtr="0">
            <a:spAutoFit/>
          </a:bodyPr>
          <a:lstStyle/>
          <a:p>
            <a:pPr marL="457200" lvl="0" indent="-342900" algn="l" rtl="0">
              <a:lnSpc>
                <a:spcPct val="150000"/>
              </a:lnSpc>
              <a:spcBef>
                <a:spcPts val="0"/>
              </a:spcBef>
              <a:spcAft>
                <a:spcPts val="0"/>
              </a:spcAft>
              <a:buClr>
                <a:schemeClr val="dk1"/>
              </a:buClr>
              <a:buSzPts val="1800"/>
              <a:buFont typeface="Poppins"/>
              <a:buAutoNum type="arabicPeriod" startAt="2"/>
            </a:pPr>
            <a:r>
              <a:rPr lang="en" sz="1800" b="1">
                <a:solidFill>
                  <a:schemeClr val="dk1"/>
                </a:solidFill>
                <a:latin typeface="Poppins"/>
                <a:ea typeface="Poppins"/>
                <a:cs typeface="Poppins"/>
                <a:sym typeface="Poppins"/>
              </a:rPr>
              <a:t>What where the main reasons countries showed little respect to each other before 1914?</a:t>
            </a:r>
            <a:endParaRPr sz="1800" b="1">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a) Countries reduced their armies to show goodwill</a:t>
            </a:r>
            <a:endParaRPr sz="1800">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b) Alliances made countries suspicious of each other</a:t>
            </a:r>
            <a:endParaRPr sz="1800">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c) Germany tried to rival Britain’s navy </a:t>
            </a:r>
            <a:endParaRPr sz="1800">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d) Leaders thought only strong nations deserved influence</a:t>
            </a:r>
            <a:endParaRPr sz="1800">
              <a:solidFill>
                <a:schemeClr val="dk1"/>
              </a:solidFill>
              <a:latin typeface="Poppins"/>
              <a:ea typeface="Poppins"/>
              <a:cs typeface="Poppins"/>
              <a:sym typeface="Poppins"/>
            </a:endParaRPr>
          </a:p>
        </p:txBody>
      </p:sp>
      <p:sp>
        <p:nvSpPr>
          <p:cNvPr id="336" name="Google Shape;336;p41"/>
          <p:cNvSpPr/>
          <p:nvPr/>
        </p:nvSpPr>
        <p:spPr>
          <a:xfrm>
            <a:off x="115325" y="2375400"/>
            <a:ext cx="6651000" cy="392700"/>
          </a:xfrm>
          <a:prstGeom prst="roundRect">
            <a:avLst>
              <a:gd name="adj" fmla="val 16667"/>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7" name="Google Shape;337;p41"/>
          <p:cNvSpPr txBox="1"/>
          <p:nvPr/>
        </p:nvSpPr>
        <p:spPr>
          <a:xfrm>
            <a:off x="1361825" y="789838"/>
            <a:ext cx="3000000" cy="646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400"/>
              </a:spcAft>
              <a:buNone/>
            </a:pPr>
            <a:r>
              <a:rPr lang="en" sz="3000" b="1">
                <a:solidFill>
                  <a:srgbClr val="FF0000"/>
                </a:solidFill>
                <a:latin typeface="Baumans"/>
                <a:ea typeface="Baumans"/>
                <a:cs typeface="Baumans"/>
                <a:sym typeface="Baumans"/>
              </a:rPr>
              <a:t>Odd One Out</a:t>
            </a:r>
            <a:endParaRPr sz="3000">
              <a:solidFill>
                <a:srgbClr val="FF0000"/>
              </a:solidFill>
              <a:latin typeface="Baumans"/>
              <a:ea typeface="Baumans"/>
              <a:cs typeface="Baumans"/>
              <a:sym typeface="Baumans"/>
            </a:endParaRPr>
          </a:p>
        </p:txBody>
      </p:sp>
      <p:sp>
        <p:nvSpPr>
          <p:cNvPr id="338" name="Google Shape;338;p41"/>
          <p:cNvSpPr txBox="1"/>
          <p:nvPr/>
        </p:nvSpPr>
        <p:spPr>
          <a:xfrm>
            <a:off x="104400" y="77000"/>
            <a:ext cx="8919300" cy="50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Title: Militarism and the Arms Race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LO: How did militarism and the arms race increase tensions in Europe before 1914?</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endParaRPr sz="1200" b="1">
              <a:solidFill>
                <a:srgbClr val="980000"/>
              </a:solidFill>
              <a:latin typeface="Delius"/>
              <a:ea typeface="Delius"/>
              <a:cs typeface="Delius"/>
              <a:sym typeface="Deliu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pic>
        <p:nvPicPr>
          <p:cNvPr id="343" name="Google Shape;343;p42"/>
          <p:cNvPicPr preferRelativeResize="0"/>
          <p:nvPr/>
        </p:nvPicPr>
        <p:blipFill rotWithShape="1">
          <a:blip r:embed="rId3">
            <a:alphaModFix/>
          </a:blip>
          <a:srcRect l="30711" t="5130" r="3174" b="5807"/>
          <a:stretch/>
        </p:blipFill>
        <p:spPr>
          <a:xfrm>
            <a:off x="115349" y="782519"/>
            <a:ext cx="1246475" cy="661131"/>
          </a:xfrm>
          <a:prstGeom prst="rect">
            <a:avLst/>
          </a:prstGeom>
          <a:noFill/>
          <a:ln>
            <a:noFill/>
          </a:ln>
        </p:spPr>
      </p:pic>
      <p:sp>
        <p:nvSpPr>
          <p:cNvPr id="344" name="Google Shape;344;p42"/>
          <p:cNvSpPr txBox="1"/>
          <p:nvPr/>
        </p:nvSpPr>
        <p:spPr>
          <a:xfrm>
            <a:off x="115335" y="1532275"/>
            <a:ext cx="8840100" cy="2539800"/>
          </a:xfrm>
          <a:prstGeom prst="rect">
            <a:avLst/>
          </a:prstGeom>
          <a:noFill/>
          <a:ln>
            <a:noFill/>
          </a:ln>
        </p:spPr>
        <p:txBody>
          <a:bodyPr spcFirstLastPara="1" wrap="square" lIns="91425" tIns="91425" rIns="91425" bIns="91425" anchor="t" anchorCtr="0">
            <a:spAutoFit/>
          </a:bodyPr>
          <a:lstStyle/>
          <a:p>
            <a:pPr marL="457200" lvl="0" indent="-342900" algn="l" rtl="0">
              <a:lnSpc>
                <a:spcPct val="150000"/>
              </a:lnSpc>
              <a:spcBef>
                <a:spcPts val="0"/>
              </a:spcBef>
              <a:spcAft>
                <a:spcPts val="0"/>
              </a:spcAft>
              <a:buClr>
                <a:schemeClr val="dk1"/>
              </a:buClr>
              <a:buSzPts val="1800"/>
              <a:buFont typeface="Poppins"/>
              <a:buAutoNum type="arabicPeriod" startAt="3"/>
            </a:pPr>
            <a:r>
              <a:rPr lang="en" sz="1800" b="1">
                <a:solidFill>
                  <a:schemeClr val="dk1"/>
                </a:solidFill>
                <a:latin typeface="Poppins"/>
                <a:ea typeface="Poppins"/>
                <a:cs typeface="Poppins"/>
                <a:sym typeface="Poppins"/>
              </a:rPr>
              <a:t>What where the main reasons countries did not act with honesty and integrity before 1914?</a:t>
            </a:r>
            <a:endParaRPr b="1">
              <a:solidFill>
                <a:srgbClr val="980000"/>
              </a:solidFill>
              <a:latin typeface="Patrick Hand"/>
              <a:ea typeface="Patrick Hand"/>
              <a:cs typeface="Patrick Hand"/>
              <a:sym typeface="Patrick Hand"/>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a) Leaders said they wanted peace but kept building weapons</a:t>
            </a:r>
            <a:endParaRPr sz="1800">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b) Alliances were meant for defence but increased mistrust</a:t>
            </a:r>
            <a:endParaRPr sz="1800">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c) Countries secretly prepared for war</a:t>
            </a:r>
            <a:endParaRPr sz="1800">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d) Leaders agreed openly to limit the arms race</a:t>
            </a:r>
            <a:endParaRPr sz="1800">
              <a:solidFill>
                <a:schemeClr val="dk1"/>
              </a:solidFill>
              <a:latin typeface="Poppins"/>
              <a:ea typeface="Poppins"/>
              <a:cs typeface="Poppins"/>
              <a:sym typeface="Poppins"/>
            </a:endParaRPr>
          </a:p>
        </p:txBody>
      </p:sp>
      <p:sp>
        <p:nvSpPr>
          <p:cNvPr id="345" name="Google Shape;345;p42"/>
          <p:cNvSpPr/>
          <p:nvPr/>
        </p:nvSpPr>
        <p:spPr>
          <a:xfrm>
            <a:off x="66550" y="3610850"/>
            <a:ext cx="6761700" cy="392700"/>
          </a:xfrm>
          <a:prstGeom prst="roundRect">
            <a:avLst>
              <a:gd name="adj" fmla="val 16667"/>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6" name="Google Shape;346;p42"/>
          <p:cNvSpPr txBox="1"/>
          <p:nvPr/>
        </p:nvSpPr>
        <p:spPr>
          <a:xfrm>
            <a:off x="1361825" y="789838"/>
            <a:ext cx="3000000" cy="646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400"/>
              </a:spcAft>
              <a:buNone/>
            </a:pPr>
            <a:r>
              <a:rPr lang="en" sz="3000" b="1">
                <a:solidFill>
                  <a:srgbClr val="FF0000"/>
                </a:solidFill>
                <a:latin typeface="Baumans"/>
                <a:ea typeface="Baumans"/>
                <a:cs typeface="Baumans"/>
                <a:sym typeface="Baumans"/>
              </a:rPr>
              <a:t>Odd One Out</a:t>
            </a:r>
            <a:endParaRPr sz="3000">
              <a:solidFill>
                <a:srgbClr val="FF0000"/>
              </a:solidFill>
              <a:latin typeface="Baumans"/>
              <a:ea typeface="Baumans"/>
              <a:cs typeface="Baumans"/>
              <a:sym typeface="Baumans"/>
            </a:endParaRPr>
          </a:p>
        </p:txBody>
      </p:sp>
      <p:sp>
        <p:nvSpPr>
          <p:cNvPr id="347" name="Google Shape;347;p42"/>
          <p:cNvSpPr txBox="1"/>
          <p:nvPr/>
        </p:nvSpPr>
        <p:spPr>
          <a:xfrm>
            <a:off x="104400" y="77000"/>
            <a:ext cx="8919300" cy="50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Title: Militarism and the Arms Race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LO: How did militarism and the arms race increase tensions in Europe before 1914?</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endParaRPr sz="1200" b="1">
              <a:solidFill>
                <a:srgbClr val="980000"/>
              </a:solidFill>
              <a:latin typeface="Delius"/>
              <a:ea typeface="Delius"/>
              <a:cs typeface="Delius"/>
              <a:sym typeface="Deliu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pic>
        <p:nvPicPr>
          <p:cNvPr id="352" name="Google Shape;352;p43"/>
          <p:cNvPicPr preferRelativeResize="0"/>
          <p:nvPr/>
        </p:nvPicPr>
        <p:blipFill rotWithShape="1">
          <a:blip r:embed="rId3">
            <a:alphaModFix/>
          </a:blip>
          <a:srcRect l="30711" t="5130" r="3174" b="5807"/>
          <a:stretch/>
        </p:blipFill>
        <p:spPr>
          <a:xfrm>
            <a:off x="115349" y="782519"/>
            <a:ext cx="1246475" cy="661131"/>
          </a:xfrm>
          <a:prstGeom prst="rect">
            <a:avLst/>
          </a:prstGeom>
          <a:noFill/>
          <a:ln>
            <a:noFill/>
          </a:ln>
        </p:spPr>
      </p:pic>
      <p:sp>
        <p:nvSpPr>
          <p:cNvPr id="353" name="Google Shape;353;p43"/>
          <p:cNvSpPr txBox="1"/>
          <p:nvPr/>
        </p:nvSpPr>
        <p:spPr>
          <a:xfrm>
            <a:off x="115335" y="1532275"/>
            <a:ext cx="8840100" cy="2539800"/>
          </a:xfrm>
          <a:prstGeom prst="rect">
            <a:avLst/>
          </a:prstGeom>
          <a:noFill/>
          <a:ln>
            <a:noFill/>
          </a:ln>
        </p:spPr>
        <p:txBody>
          <a:bodyPr spcFirstLastPara="1" wrap="square" lIns="91425" tIns="91425" rIns="91425" bIns="91425" anchor="t" anchorCtr="0">
            <a:spAutoFit/>
          </a:bodyPr>
          <a:lstStyle/>
          <a:p>
            <a:pPr marL="457200" lvl="0" indent="-342900" algn="l" rtl="0">
              <a:lnSpc>
                <a:spcPct val="150000"/>
              </a:lnSpc>
              <a:spcBef>
                <a:spcPts val="0"/>
              </a:spcBef>
              <a:spcAft>
                <a:spcPts val="0"/>
              </a:spcAft>
              <a:buClr>
                <a:schemeClr val="dk1"/>
              </a:buClr>
              <a:buSzPts val="1800"/>
              <a:buFont typeface="Poppins"/>
              <a:buAutoNum type="arabicPeriod" startAt="4"/>
            </a:pPr>
            <a:r>
              <a:rPr lang="en" sz="1800" b="1">
                <a:solidFill>
                  <a:schemeClr val="dk1"/>
                </a:solidFill>
                <a:latin typeface="Poppins"/>
                <a:ea typeface="Poppins"/>
                <a:cs typeface="Poppins"/>
                <a:sym typeface="Poppins"/>
              </a:rPr>
              <a:t>What was the main reasons leaders lacked courage to prevent war before 1914?</a:t>
            </a:r>
            <a:endParaRPr b="1">
              <a:solidFill>
                <a:srgbClr val="980000"/>
              </a:solidFill>
              <a:latin typeface="Patrick Hand"/>
              <a:ea typeface="Patrick Hand"/>
              <a:cs typeface="Patrick Hand"/>
              <a:sym typeface="Patrick Hand"/>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a) They followed militarism instead of seeking peace</a:t>
            </a:r>
            <a:endParaRPr sz="1800">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b) They feared looking weak if they reduced their armies</a:t>
            </a:r>
            <a:endParaRPr sz="1800">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c) They challenged the arms race even when it was unpopular</a:t>
            </a:r>
            <a:endParaRPr sz="1800">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d) They allowed alliances to control their choices</a:t>
            </a:r>
            <a:endParaRPr sz="1800">
              <a:solidFill>
                <a:schemeClr val="dk1"/>
              </a:solidFill>
              <a:latin typeface="Poppins"/>
              <a:ea typeface="Poppins"/>
              <a:cs typeface="Poppins"/>
              <a:sym typeface="Poppins"/>
            </a:endParaRPr>
          </a:p>
        </p:txBody>
      </p:sp>
      <p:sp>
        <p:nvSpPr>
          <p:cNvPr id="354" name="Google Shape;354;p43"/>
          <p:cNvSpPr/>
          <p:nvPr/>
        </p:nvSpPr>
        <p:spPr>
          <a:xfrm>
            <a:off x="115325" y="3232700"/>
            <a:ext cx="7351500" cy="392700"/>
          </a:xfrm>
          <a:prstGeom prst="roundRect">
            <a:avLst>
              <a:gd name="adj" fmla="val 16667"/>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55" name="Google Shape;355;p43">
            <a:hlinkClick r:id="rId4"/>
          </p:cNvPr>
          <p:cNvPicPr preferRelativeResize="0"/>
          <p:nvPr/>
        </p:nvPicPr>
        <p:blipFill>
          <a:blip r:embed="rId5">
            <a:alphaModFix/>
          </a:blip>
          <a:stretch>
            <a:fillRect/>
          </a:stretch>
        </p:blipFill>
        <p:spPr>
          <a:xfrm>
            <a:off x="6755974" y="4129666"/>
            <a:ext cx="2287226" cy="676200"/>
          </a:xfrm>
          <a:prstGeom prst="rect">
            <a:avLst/>
          </a:prstGeom>
          <a:noFill/>
          <a:ln>
            <a:noFill/>
          </a:ln>
        </p:spPr>
      </p:pic>
      <p:sp>
        <p:nvSpPr>
          <p:cNvPr id="356" name="Google Shape;356;p43"/>
          <p:cNvSpPr txBox="1"/>
          <p:nvPr/>
        </p:nvSpPr>
        <p:spPr>
          <a:xfrm>
            <a:off x="1361825" y="789838"/>
            <a:ext cx="3000000" cy="646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400"/>
              </a:spcAft>
              <a:buNone/>
            </a:pPr>
            <a:r>
              <a:rPr lang="en" sz="3000" b="1">
                <a:solidFill>
                  <a:srgbClr val="FF0000"/>
                </a:solidFill>
                <a:latin typeface="Baumans"/>
                <a:ea typeface="Baumans"/>
                <a:cs typeface="Baumans"/>
                <a:sym typeface="Baumans"/>
              </a:rPr>
              <a:t>Odd One Out</a:t>
            </a:r>
            <a:endParaRPr sz="3000">
              <a:solidFill>
                <a:srgbClr val="FF0000"/>
              </a:solidFill>
              <a:latin typeface="Baumans"/>
              <a:ea typeface="Baumans"/>
              <a:cs typeface="Baumans"/>
              <a:sym typeface="Baumans"/>
            </a:endParaRPr>
          </a:p>
        </p:txBody>
      </p:sp>
      <p:sp>
        <p:nvSpPr>
          <p:cNvPr id="357" name="Google Shape;357;p43"/>
          <p:cNvSpPr txBox="1"/>
          <p:nvPr/>
        </p:nvSpPr>
        <p:spPr>
          <a:xfrm>
            <a:off x="104400" y="77000"/>
            <a:ext cx="8919300" cy="50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Title: Militarism and the Arms Race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r>
              <a:rPr lang="en" sz="1200" b="1">
                <a:solidFill>
                  <a:srgbClr val="980000"/>
                </a:solidFill>
                <a:latin typeface="Delius"/>
                <a:ea typeface="Delius"/>
                <a:cs typeface="Delius"/>
                <a:sym typeface="Delius"/>
              </a:rPr>
              <a:t>LO: How did militarism and the arms race increase tensions in Europe before 1914?</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endParaRPr sz="1200" b="1">
              <a:solidFill>
                <a:srgbClr val="980000"/>
              </a:solidFill>
              <a:latin typeface="Delius"/>
              <a:ea typeface="Delius"/>
              <a:cs typeface="Delius"/>
              <a:sym typeface="Deliu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TotalTime>
  <Words>3918</Words>
  <Application>Microsoft Macintosh PowerPoint</Application>
  <PresentationFormat>On-screen Show (16:9)</PresentationFormat>
  <Paragraphs>403</Paragraphs>
  <Slides>30</Slides>
  <Notes>29</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30</vt:i4>
      </vt:variant>
    </vt:vector>
  </HeadingPairs>
  <TitlesOfParts>
    <vt:vector size="42" baseType="lpstr">
      <vt:lpstr>Calibri</vt:lpstr>
      <vt:lpstr>Finger Paint</vt:lpstr>
      <vt:lpstr>Delius</vt:lpstr>
      <vt:lpstr>Poppins</vt:lpstr>
      <vt:lpstr>Caveat</vt:lpstr>
      <vt:lpstr>Luckiest Guy</vt:lpstr>
      <vt:lpstr>Patrick Hand</vt:lpstr>
      <vt:lpstr>Arial</vt:lpstr>
      <vt:lpstr>Patrick Hand SC</vt:lpstr>
      <vt:lpstr>Edu TAS Beginner</vt:lpstr>
      <vt:lpstr>Baumans</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Douglas Lawrence</cp:lastModifiedBy>
  <cp:revision>7</cp:revision>
  <dcterms:modified xsi:type="dcterms:W3CDTF">2026-10-19T23:42:33Z</dcterms:modified>
</cp:coreProperties>
</file>