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9144000" cx="6858000"/>
  <p:notesSz cx="6858000" cy="9144000"/>
  <p:embeddedFontLst>
    <p:embeddedFont>
      <p:font typeface="Poppins"/>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747775"/>
          </p15:clr>
        </p15:guide>
        <p15:guide id="2" pos="21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Poppins-boldItalic.fntdata"/><Relationship Id="rId10" Type="http://schemas.openxmlformats.org/officeDocument/2006/relationships/font" Target="fonts/Poppins-italic.fntdata"/><Relationship Id="rId9"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47"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47"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721059f22_0_14:notes"/>
          <p:cNvSpPr/>
          <p:nvPr>
            <p:ph idx="2" type="sldImg"/>
          </p:nvPr>
        </p:nvSpPr>
        <p:spPr>
          <a:xfrm>
            <a:off x="2143447"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7721059f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33781" y="1323689"/>
            <a:ext cx="6390300" cy="36492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33775" y="5038444"/>
            <a:ext cx="6390300" cy="1409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33775" y="3823733"/>
            <a:ext cx="6390300" cy="1496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33775" y="791156"/>
            <a:ext cx="63903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33775" y="2048844"/>
            <a:ext cx="6390300" cy="6073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33775" y="791156"/>
            <a:ext cx="63903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33775" y="2048844"/>
            <a:ext cx="30000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624300" y="2048844"/>
            <a:ext cx="30000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33775" y="791156"/>
            <a:ext cx="63903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33775" y="987733"/>
            <a:ext cx="2106000" cy="134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33775" y="2470400"/>
            <a:ext cx="2106000" cy="5652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67688" y="800267"/>
            <a:ext cx="4776000" cy="72726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429000" y="-222"/>
            <a:ext cx="3429000" cy="914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99125" y="2192311"/>
            <a:ext cx="3033900" cy="2635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99125" y="4983244"/>
            <a:ext cx="3033900" cy="2195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704625" y="1287244"/>
            <a:ext cx="2877900" cy="6569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33775" y="7521022"/>
            <a:ext cx="4499100" cy="1075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33775" y="1966444"/>
            <a:ext cx="6390300" cy="3490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33775" y="5603956"/>
            <a:ext cx="6390300" cy="23124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3775" y="791156"/>
            <a:ext cx="6390300" cy="1018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33775" y="2048844"/>
            <a:ext cx="6390300" cy="60735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6354343" y="8290163"/>
            <a:ext cx="411600" cy="699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35325" y="135375"/>
            <a:ext cx="6609000" cy="104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latin typeface="Poppins"/>
                <a:ea typeface="Poppins"/>
                <a:cs typeface="Poppins"/>
                <a:sym typeface="Poppins"/>
              </a:rPr>
              <a:t>The Layers of the Earth</a:t>
            </a:r>
            <a:endParaRPr b="1">
              <a:latin typeface="Poppins"/>
              <a:ea typeface="Poppins"/>
              <a:cs typeface="Poppins"/>
              <a:sym typeface="Poppins"/>
            </a:endParaRPr>
          </a:p>
          <a:p>
            <a:pPr indent="0" lvl="0" marL="0" rtl="0" algn="l">
              <a:lnSpc>
                <a:spcPct val="115000"/>
              </a:lnSpc>
              <a:spcBef>
                <a:spcPts val="0"/>
              </a:spcBef>
              <a:spcAft>
                <a:spcPts val="0"/>
              </a:spcAft>
              <a:buNone/>
            </a:pPr>
            <a:r>
              <a:t/>
            </a:r>
            <a:endParaRPr sz="1200">
              <a:latin typeface="Poppins"/>
              <a:ea typeface="Poppins"/>
              <a:cs typeface="Poppins"/>
              <a:sym typeface="Poppins"/>
            </a:endParaRPr>
          </a:p>
          <a:p>
            <a:pPr indent="0" lvl="0" marL="0" rtl="0" algn="l">
              <a:lnSpc>
                <a:spcPct val="115000"/>
              </a:lnSpc>
              <a:spcBef>
                <a:spcPts val="0"/>
              </a:spcBef>
              <a:spcAft>
                <a:spcPts val="0"/>
              </a:spcAft>
              <a:buNone/>
            </a:pPr>
            <a:r>
              <a:rPr lang="en" sz="1200">
                <a:latin typeface="Poppins"/>
                <a:ea typeface="Poppins"/>
                <a:cs typeface="Poppins"/>
                <a:sym typeface="Poppins"/>
              </a:rPr>
              <a:t>The Earth is made up of four main layers: the crust, the mantle, the outer core, and the inner core. Each layer is different in thickness, temperature, and material.</a:t>
            </a:r>
            <a:endParaRPr sz="1200">
              <a:latin typeface="Poppins"/>
              <a:ea typeface="Poppins"/>
              <a:cs typeface="Poppins"/>
              <a:sym typeface="Poppins"/>
            </a:endParaRPr>
          </a:p>
        </p:txBody>
      </p:sp>
      <p:sp>
        <p:nvSpPr>
          <p:cNvPr id="55" name="Google Shape;55;p13"/>
          <p:cNvSpPr txBox="1"/>
          <p:nvPr/>
        </p:nvSpPr>
        <p:spPr>
          <a:xfrm>
            <a:off x="2737038" y="1177275"/>
            <a:ext cx="40074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The crust is the Earth’s outer layer and the one we live on. It is the thinnest layer and is solid, with an average temperature of about 22°C. There are two types: continental crust, which forms the land, and oceanic crust, which lies beneath the oceans. Oceanic crust is made of elements such as iron, oxygen, silicon, magnesium, and aluminium. Continental crust is mostly granite, sedimentary rocks, and metamorphic rocks.</a:t>
            </a:r>
            <a:endParaRPr/>
          </a:p>
        </p:txBody>
      </p:sp>
      <p:sp>
        <p:nvSpPr>
          <p:cNvPr id="56" name="Google Shape;56;p13"/>
          <p:cNvSpPr txBox="1"/>
          <p:nvPr/>
        </p:nvSpPr>
        <p:spPr>
          <a:xfrm>
            <a:off x="124500" y="3931638"/>
            <a:ext cx="39456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Beneath this lies the mantle, which is about 2,900 km thick. The mantle is solid but contains semi-molten rock called magma. Its temperature ranges from 1,000°C to 3,500°C. The mantle makes up around 80% of Earth’s total weight and is mostly made from iron, oxygen, silicon, magnesium, and aluminium.</a:t>
            </a:r>
            <a:endParaRPr/>
          </a:p>
        </p:txBody>
      </p:sp>
      <p:pic>
        <p:nvPicPr>
          <p:cNvPr id="57" name="Google Shape;57;p13" title="Screenshot 2025-08-21 at 11.46.47 AM.png"/>
          <p:cNvPicPr preferRelativeResize="0"/>
          <p:nvPr/>
        </p:nvPicPr>
        <p:blipFill>
          <a:blip r:embed="rId3">
            <a:alphaModFix/>
          </a:blip>
          <a:stretch>
            <a:fillRect/>
          </a:stretch>
        </p:blipFill>
        <p:spPr>
          <a:xfrm>
            <a:off x="145989" y="1405295"/>
            <a:ext cx="2601824" cy="1612776"/>
          </a:xfrm>
          <a:prstGeom prst="rect">
            <a:avLst/>
          </a:prstGeom>
          <a:noFill/>
          <a:ln>
            <a:noFill/>
          </a:ln>
        </p:spPr>
      </p:pic>
      <p:sp>
        <p:nvSpPr>
          <p:cNvPr id="58" name="Google Shape;58;p13"/>
          <p:cNvSpPr txBox="1"/>
          <p:nvPr/>
        </p:nvSpPr>
        <p:spPr>
          <a:xfrm>
            <a:off x="124488" y="3137513"/>
            <a:ext cx="6609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Oceanic crust is up to 6 km thick, while continental crust can reach 75 km. Beneath the crust lies the asthenosphere, a softer, semi-molten layer in the upper mantle. The crust rests on this layer, which allows the tectonic plates to slowly move.</a:t>
            </a:r>
            <a:endParaRPr/>
          </a:p>
        </p:txBody>
      </p:sp>
      <p:pic>
        <p:nvPicPr>
          <p:cNvPr id="59" name="Google Shape;59;p13" title="Screenshot 2025-08-21 at 11.47.31 AM.png"/>
          <p:cNvPicPr preferRelativeResize="0"/>
          <p:nvPr/>
        </p:nvPicPr>
        <p:blipFill>
          <a:blip r:embed="rId4">
            <a:alphaModFix/>
          </a:blip>
          <a:stretch>
            <a:fillRect/>
          </a:stretch>
        </p:blipFill>
        <p:spPr>
          <a:xfrm>
            <a:off x="4100875" y="3947240"/>
            <a:ext cx="2601824" cy="1612782"/>
          </a:xfrm>
          <a:prstGeom prst="rect">
            <a:avLst/>
          </a:prstGeom>
          <a:noFill/>
          <a:ln>
            <a:noFill/>
          </a:ln>
        </p:spPr>
      </p:pic>
      <p:sp>
        <p:nvSpPr>
          <p:cNvPr id="60" name="Google Shape;60;p13"/>
          <p:cNvSpPr txBox="1"/>
          <p:nvPr/>
        </p:nvSpPr>
        <p:spPr>
          <a:xfrm>
            <a:off x="2767938" y="5575638"/>
            <a:ext cx="39456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The next layer is the outer core. This is unusual because it is completely liquid. It is about 2,220 km thick and contains iron, nickel, sulphur, and oxygen. Its temperature ranges between 4,000°C and 6,000°C. The movement of liquid metal in the outer core produces the Earth’s magnetic field.</a:t>
            </a:r>
            <a:endParaRPr/>
          </a:p>
        </p:txBody>
      </p:sp>
      <p:pic>
        <p:nvPicPr>
          <p:cNvPr id="61" name="Google Shape;61;p13" title="Screenshot 2025-08-21 at 11.48.34 AM.png"/>
          <p:cNvPicPr preferRelativeResize="0"/>
          <p:nvPr/>
        </p:nvPicPr>
        <p:blipFill>
          <a:blip r:embed="rId5">
            <a:alphaModFix/>
          </a:blip>
          <a:stretch>
            <a:fillRect/>
          </a:stretch>
        </p:blipFill>
        <p:spPr>
          <a:xfrm>
            <a:off x="146012" y="5591262"/>
            <a:ext cx="2601824" cy="1612791"/>
          </a:xfrm>
          <a:prstGeom prst="rect">
            <a:avLst/>
          </a:prstGeom>
          <a:noFill/>
          <a:ln>
            <a:noFill/>
          </a:ln>
        </p:spPr>
      </p:pic>
      <p:sp>
        <p:nvSpPr>
          <p:cNvPr id="62" name="Google Shape;62;p13"/>
          <p:cNvSpPr txBox="1"/>
          <p:nvPr/>
        </p:nvSpPr>
        <p:spPr>
          <a:xfrm>
            <a:off x="93600" y="7325875"/>
            <a:ext cx="40074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Finally, at the centre, is the inner core. This is smaller, about 1,260 km thick, but it is the hottest part of the Earth, with temperatures from 5,000°C to 6,000°C. It is made only from iron and nickel. Even though it is so hot, the inner core remains solid because of the extreme pressure around it.</a:t>
            </a:r>
            <a:endParaRPr/>
          </a:p>
        </p:txBody>
      </p:sp>
      <p:pic>
        <p:nvPicPr>
          <p:cNvPr id="63" name="Google Shape;63;p13" title="Screenshot 2025-08-21 at 11.49.34 AM.png"/>
          <p:cNvPicPr preferRelativeResize="0"/>
          <p:nvPr/>
        </p:nvPicPr>
        <p:blipFill>
          <a:blip r:embed="rId6">
            <a:alphaModFix/>
          </a:blip>
          <a:stretch>
            <a:fillRect/>
          </a:stretch>
        </p:blipFill>
        <p:spPr>
          <a:xfrm>
            <a:off x="4100876" y="7235284"/>
            <a:ext cx="2601824" cy="1612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nvSpPr>
        <p:spPr>
          <a:xfrm>
            <a:off x="135325" y="135375"/>
            <a:ext cx="6609000" cy="104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latin typeface="Poppins"/>
                <a:ea typeface="Poppins"/>
                <a:cs typeface="Poppins"/>
                <a:sym typeface="Poppins"/>
              </a:rPr>
              <a:t>The Layers of the Earth</a:t>
            </a:r>
            <a:endParaRPr b="1">
              <a:latin typeface="Poppins"/>
              <a:ea typeface="Poppins"/>
              <a:cs typeface="Poppins"/>
              <a:sym typeface="Poppins"/>
            </a:endParaRPr>
          </a:p>
          <a:p>
            <a:pPr indent="0" lvl="0" marL="0" rtl="0" algn="l">
              <a:lnSpc>
                <a:spcPct val="115000"/>
              </a:lnSpc>
              <a:spcBef>
                <a:spcPts val="0"/>
              </a:spcBef>
              <a:spcAft>
                <a:spcPts val="0"/>
              </a:spcAft>
              <a:buNone/>
            </a:pPr>
            <a:r>
              <a:t/>
            </a:r>
            <a:endParaRPr sz="1200">
              <a:latin typeface="Poppins"/>
              <a:ea typeface="Poppins"/>
              <a:cs typeface="Poppins"/>
              <a:sym typeface="Poppins"/>
            </a:endParaRPr>
          </a:p>
          <a:p>
            <a:pPr indent="0" lvl="0" marL="0" rtl="0" algn="l">
              <a:lnSpc>
                <a:spcPct val="115000"/>
              </a:lnSpc>
              <a:spcBef>
                <a:spcPts val="0"/>
              </a:spcBef>
              <a:spcAft>
                <a:spcPts val="0"/>
              </a:spcAft>
              <a:buNone/>
            </a:pPr>
            <a:r>
              <a:rPr lang="en" sz="1200">
                <a:latin typeface="Poppins"/>
                <a:ea typeface="Poppins"/>
                <a:cs typeface="Poppins"/>
                <a:sym typeface="Poppins"/>
              </a:rPr>
              <a:t>The Earth is made up of four main layers: the crust, the mantle, the outer core, and the inner core. Each layer is different in thickness, temperature, and material.</a:t>
            </a:r>
            <a:endParaRPr sz="1200">
              <a:latin typeface="Poppins"/>
              <a:ea typeface="Poppins"/>
              <a:cs typeface="Poppins"/>
              <a:sym typeface="Poppins"/>
            </a:endParaRPr>
          </a:p>
        </p:txBody>
      </p:sp>
      <p:sp>
        <p:nvSpPr>
          <p:cNvPr id="69" name="Google Shape;69;p14"/>
          <p:cNvSpPr txBox="1"/>
          <p:nvPr/>
        </p:nvSpPr>
        <p:spPr>
          <a:xfrm>
            <a:off x="2737038" y="1177275"/>
            <a:ext cx="4007400" cy="18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The crust is the outer layer of the Earth and the part we live on. It is the thinnest layer and is solid, with an average temperature of around 22°C. There are two types: continental crust, which makes up the land, and oceanic crust, which lies under the seas. Oceanic crust is made from elements such as iron, oxygen, silicon, magnesium, and aluminium. </a:t>
            </a:r>
            <a:endParaRPr/>
          </a:p>
        </p:txBody>
      </p:sp>
      <p:sp>
        <p:nvSpPr>
          <p:cNvPr id="70" name="Google Shape;70;p14"/>
          <p:cNvSpPr txBox="1"/>
          <p:nvPr/>
        </p:nvSpPr>
        <p:spPr>
          <a:xfrm>
            <a:off x="152663" y="4040163"/>
            <a:ext cx="39456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Under the crust is the mantle, which is about 2,900 km thick. It is solid but also has some semi-molten rock called magma. Its temperature is between 1,000°C and 3,500°C. The mantle makes up about 80% of Earth’s weight and is mostly made of iron, oxygen, silicon, magnesium, and aluminium.</a:t>
            </a:r>
            <a:endParaRPr sz="1200">
              <a:solidFill>
                <a:schemeClr val="dk1"/>
              </a:solidFill>
              <a:latin typeface="Poppins"/>
              <a:ea typeface="Poppins"/>
              <a:cs typeface="Poppins"/>
              <a:sym typeface="Poppins"/>
            </a:endParaRPr>
          </a:p>
        </p:txBody>
      </p:sp>
      <p:pic>
        <p:nvPicPr>
          <p:cNvPr id="71" name="Google Shape;71;p14" title="Screenshot 2025-08-21 at 11.46.47 AM.png"/>
          <p:cNvPicPr preferRelativeResize="0"/>
          <p:nvPr/>
        </p:nvPicPr>
        <p:blipFill>
          <a:blip r:embed="rId3">
            <a:alphaModFix/>
          </a:blip>
          <a:stretch>
            <a:fillRect/>
          </a:stretch>
        </p:blipFill>
        <p:spPr>
          <a:xfrm>
            <a:off x="145989" y="1405295"/>
            <a:ext cx="2601824" cy="1612776"/>
          </a:xfrm>
          <a:prstGeom prst="rect">
            <a:avLst/>
          </a:prstGeom>
          <a:noFill/>
          <a:ln>
            <a:noFill/>
          </a:ln>
        </p:spPr>
      </p:pic>
      <p:sp>
        <p:nvSpPr>
          <p:cNvPr id="72" name="Google Shape;72;p14"/>
          <p:cNvSpPr txBox="1"/>
          <p:nvPr/>
        </p:nvSpPr>
        <p:spPr>
          <a:xfrm>
            <a:off x="127225" y="3033663"/>
            <a:ext cx="66090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Continental crust is mostly granite, as well as sedimentary and metamorphic rocks. </a:t>
            </a:r>
            <a:r>
              <a:rPr lang="en" sz="1200">
                <a:solidFill>
                  <a:schemeClr val="dk1"/>
                </a:solidFill>
                <a:latin typeface="Poppins"/>
                <a:ea typeface="Poppins"/>
                <a:cs typeface="Poppins"/>
                <a:sym typeface="Poppins"/>
              </a:rPr>
              <a:t>Oceanic crust can be up to 6 km thick, while continental crust can reach 75 km. Under the crust is the asthenosphere, a softer layer of the mantle. The crust sits on this layer, which lets the plates slowly move.</a:t>
            </a:r>
            <a:endParaRPr/>
          </a:p>
        </p:txBody>
      </p:sp>
      <p:pic>
        <p:nvPicPr>
          <p:cNvPr id="73" name="Google Shape;73;p14" title="Screenshot 2025-08-21 at 11.47.31 AM.png"/>
          <p:cNvPicPr preferRelativeResize="0"/>
          <p:nvPr/>
        </p:nvPicPr>
        <p:blipFill>
          <a:blip r:embed="rId4">
            <a:alphaModFix/>
          </a:blip>
          <a:stretch>
            <a:fillRect/>
          </a:stretch>
        </p:blipFill>
        <p:spPr>
          <a:xfrm>
            <a:off x="4129038" y="4055765"/>
            <a:ext cx="2601824" cy="1612782"/>
          </a:xfrm>
          <a:prstGeom prst="rect">
            <a:avLst/>
          </a:prstGeom>
          <a:noFill/>
          <a:ln>
            <a:noFill/>
          </a:ln>
        </p:spPr>
      </p:pic>
      <p:sp>
        <p:nvSpPr>
          <p:cNvPr id="74" name="Google Shape;74;p14"/>
          <p:cNvSpPr txBox="1"/>
          <p:nvPr/>
        </p:nvSpPr>
        <p:spPr>
          <a:xfrm>
            <a:off x="2770675" y="5798188"/>
            <a:ext cx="39456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The next layer is the outer core, which is different because it is fully liquid. It is about 2,220 km thick and is made of iron, nickel, sulphur, and oxygen. Its temperature is between 4,000°C and 6,000°C. The movement of the liquid metal here creates the Earth’s magnetic field.</a:t>
            </a:r>
            <a:endParaRPr/>
          </a:p>
        </p:txBody>
      </p:sp>
      <p:pic>
        <p:nvPicPr>
          <p:cNvPr id="75" name="Google Shape;75;p14" title="Screenshot 2025-08-21 at 11.48.34 AM.png"/>
          <p:cNvPicPr preferRelativeResize="0"/>
          <p:nvPr/>
        </p:nvPicPr>
        <p:blipFill>
          <a:blip r:embed="rId5">
            <a:alphaModFix/>
          </a:blip>
          <a:stretch>
            <a:fillRect/>
          </a:stretch>
        </p:blipFill>
        <p:spPr>
          <a:xfrm>
            <a:off x="174175" y="5699787"/>
            <a:ext cx="2601824" cy="1612791"/>
          </a:xfrm>
          <a:prstGeom prst="rect">
            <a:avLst/>
          </a:prstGeom>
          <a:noFill/>
          <a:ln>
            <a:noFill/>
          </a:ln>
        </p:spPr>
      </p:pic>
      <p:sp>
        <p:nvSpPr>
          <p:cNvPr id="76" name="Google Shape;76;p14"/>
          <p:cNvSpPr txBox="1"/>
          <p:nvPr/>
        </p:nvSpPr>
        <p:spPr>
          <a:xfrm>
            <a:off x="121763" y="7434400"/>
            <a:ext cx="40074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Finally, at the centre is the inner core. It is smaller, about 1,260 km thick, but it is the hottest part of the Earth, with temperatures between 5,000°C and 6,000°C. It is made only of iron and nickel. Even though it is so hot, the inner core stays solid because of the huge pressure around it.</a:t>
            </a:r>
            <a:endParaRPr/>
          </a:p>
        </p:txBody>
      </p:sp>
      <p:pic>
        <p:nvPicPr>
          <p:cNvPr id="77" name="Google Shape;77;p14" title="Screenshot 2025-08-21 at 11.49.34 AM.png"/>
          <p:cNvPicPr preferRelativeResize="0"/>
          <p:nvPr/>
        </p:nvPicPr>
        <p:blipFill>
          <a:blip r:embed="rId6">
            <a:alphaModFix/>
          </a:blip>
          <a:stretch>
            <a:fillRect/>
          </a:stretch>
        </p:blipFill>
        <p:spPr>
          <a:xfrm>
            <a:off x="4129039" y="7343809"/>
            <a:ext cx="2601824" cy="1612785"/>
          </a:xfrm>
          <a:prstGeom prst="rect">
            <a:avLst/>
          </a:prstGeom>
          <a:noFill/>
          <a:ln>
            <a:noFill/>
          </a:ln>
        </p:spPr>
      </p:pic>
      <p:pic>
        <p:nvPicPr>
          <p:cNvPr id="78" name="Google Shape;78;p14"/>
          <p:cNvPicPr preferRelativeResize="0"/>
          <p:nvPr/>
        </p:nvPicPr>
        <p:blipFill>
          <a:blip r:embed="rId7">
            <a:alphaModFix/>
          </a:blip>
          <a:stretch>
            <a:fillRect/>
          </a:stretch>
        </p:blipFill>
        <p:spPr>
          <a:xfrm>
            <a:off x="6204550" y="89650"/>
            <a:ext cx="526400" cy="5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