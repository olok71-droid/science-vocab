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9144000"/>
  <p:notesSz cx="6858000" cy="9144000"/>
  <p:embeddedFontLst>
    <p:embeddedFont>
      <p:font typeface="Poppins"/>
      <p:regular r:id="rId9"/>
      <p:bold r:id="rId10"/>
      <p:italic r:id="rId11"/>
      <p:boldItalic r:id="rId12"/>
    </p:embeddedFont>
    <p:embeddedFont>
      <p:font typeface="Edu TAS Beginner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italic.fntdata"/><Relationship Id="rId10" Type="http://schemas.openxmlformats.org/officeDocument/2006/relationships/font" Target="fonts/Poppins-bold.fntdata"/><Relationship Id="rId13" Type="http://schemas.openxmlformats.org/officeDocument/2006/relationships/font" Target="fonts/EduTASBeginner-regular.fntdata"/><Relationship Id="rId12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oppins-regular.fntdata"/><Relationship Id="rId14" Type="http://schemas.openxmlformats.org/officeDocument/2006/relationships/font" Target="fonts/EduTASBeginn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84886db1d_0_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84886db1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84886db1d_0_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84886db1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bfc2be285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bfc2be2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87500" y="135150"/>
            <a:ext cx="8938200" cy="6587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24290" l="0" r="0" t="17179"/>
          <a:stretch/>
        </p:blipFill>
        <p:spPr>
          <a:xfrm>
            <a:off x="7820408" y="6521809"/>
            <a:ext cx="1128285" cy="40135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778600" y="227853"/>
            <a:ext cx="55560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Edu TAS Beginner"/>
                <a:ea typeface="Edu TAS Beginner"/>
                <a:cs typeface="Edu TAS Beginner"/>
                <a:sym typeface="Edu TAS Beginner"/>
              </a:rPr>
              <a:t>Volcanoes 101</a:t>
            </a:r>
            <a:endParaRPr b="1" u="sng">
              <a:solidFill>
                <a:schemeClr val="dk1"/>
              </a:solidFill>
              <a:latin typeface="Edu TAS Beginner"/>
              <a:ea typeface="Edu TAS Beginner"/>
              <a:cs typeface="Edu TAS Beginner"/>
              <a:sym typeface="Edu TAS Beginner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87500" y="627450"/>
            <a:ext cx="44829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1. What are the bottomless cauldrons said to be fueled by?</a:t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a. Hot gas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b. Ancient rock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c. Molten lava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d. Water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2. Where are most volcanoes located?</a:t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a. In deserts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b. I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nside mountains 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On tectonic plate boundaries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d. Underneath cities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3. What is the Ring of Fire?</a:t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a. A type of magma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A type of gas released by volcanoes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c. A volcanic eruption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A path tracing tectonic plate boundaries</a:t>
            </a: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4. Which type of volcano is characterized by a flat, dome shape?</a:t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a. Stratovolcano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b. Shield volcano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c. Caldera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d. Mid-ocean ridge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5. What is magma referred to when it reaches the Earth's surface?</a:t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a. Lava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b. Ash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c. Gas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d. Rock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572000" y="627450"/>
            <a:ext cx="3522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6. What can pyroclastic flow include?</a:t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a. Water and ice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Solid rock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c.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Hot gas and ash</a:t>
            </a: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d. Cold air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570400" y="1674150"/>
            <a:ext cx="43767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7. What scale do scientists use to measure volcanic eruptions?</a:t>
            </a:r>
            <a:endParaRPr b="1"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a. Richter scale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b.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Pressure scale 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c. Temperature scale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d.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Volcanic Explosivity Index (VEI)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8. How many levels are there on the VEI scale?</a:t>
            </a:r>
            <a:endParaRPr b="1"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a. 5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b. 10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c. 8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d. Unlimited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9. What was unique about the eruption of Mount Tambora in 1815?</a:t>
            </a:r>
            <a:endParaRPr b="1"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a. It was the smallest eruption ever recorded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b. It had a VEI measurement of 7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c. It created a new mountain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d. It occurred underwater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10. How do volcanoes contribute to making life on Earth possible?</a:t>
            </a:r>
            <a:endParaRPr b="1"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a.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By providing nutrients to soil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b. By destroying habitats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c. By creating storms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d. By cooling the climate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0696" y="227846"/>
            <a:ext cx="568000" cy="5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87500" y="135150"/>
            <a:ext cx="8938200" cy="6587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195175" y="3270150"/>
            <a:ext cx="4376700" cy="332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24290" l="0" r="0" t="17179"/>
          <a:stretch/>
        </p:blipFill>
        <p:spPr>
          <a:xfrm>
            <a:off x="7820408" y="6521809"/>
            <a:ext cx="1128285" cy="40135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1778600" y="227853"/>
            <a:ext cx="55560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Edu TAS Beginner"/>
                <a:ea typeface="Edu TAS Beginner"/>
                <a:cs typeface="Edu TAS Beginner"/>
                <a:sym typeface="Edu TAS Beginner"/>
              </a:rPr>
              <a:t>Volcanoes 101</a:t>
            </a:r>
            <a:endParaRPr b="1" u="sng">
              <a:solidFill>
                <a:schemeClr val="dk1"/>
              </a:solidFill>
              <a:latin typeface="Edu TAS Beginner"/>
              <a:ea typeface="Edu TAS Beginner"/>
              <a:cs typeface="Edu TAS Beginner"/>
              <a:sym typeface="Edu TAS Beginner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95175" y="931950"/>
            <a:ext cx="8696100" cy="189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Point: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One reason why some volcanic eruptions are more dangerous is </a:t>
            </a:r>
            <a:r>
              <a:rPr i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__________________________________________</a:t>
            </a:r>
            <a:endParaRPr i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___________________________________________________________________________________________</a:t>
            </a:r>
            <a:endParaRPr i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Evidence: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example, ___________________________________________________________________________</a:t>
            </a:r>
            <a:endParaRPr i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___________________________________________________________________________________________</a:t>
            </a:r>
            <a:endParaRPr i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Explain: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shows eruptions can be more violent because</a:t>
            </a:r>
            <a:r>
              <a:rPr i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__________________________________________________</a:t>
            </a:r>
            <a:endParaRPr i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___________________________________________________________________________________________</a:t>
            </a:r>
            <a:endParaRPr i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Link: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is important because it helps us understand </a:t>
            </a:r>
            <a:r>
              <a:rPr i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_____________________________________________________</a:t>
            </a:r>
            <a:endParaRPr i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___________________________________________________________________________________________</a:t>
            </a:r>
            <a:endParaRPr i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314968" y="593250"/>
            <a:ext cx="433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Activity 1 </a:t>
            </a: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Complete the PEEL.</a:t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4771075" y="3434075"/>
            <a:ext cx="4120200" cy="3087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0696" y="227846"/>
            <a:ext cx="568000" cy="5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875" y="3270160"/>
            <a:ext cx="3694000" cy="201692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/>
        </p:nvSpPr>
        <p:spPr>
          <a:xfrm>
            <a:off x="208925" y="2931450"/>
            <a:ext cx="444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Activity 2 </a:t>
            </a: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 Add the </a:t>
            </a: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numbers</a:t>
            </a: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the correct place on the diagram</a:t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463925" y="5269650"/>
            <a:ext cx="3693900" cy="14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Labels</a:t>
            </a: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b="1"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Destructive or Constructive boundaries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Runny or Sticky magma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Gas and Pressure build-up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Violent eruption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Ash, Dust &amp; Rock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AutoNum type="arabicPeriod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Pyroclastic flow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4771075" y="2854500"/>
            <a:ext cx="412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Poppins"/>
                <a:ea typeface="Poppins"/>
                <a:cs typeface="Poppins"/>
                <a:sym typeface="Poppins"/>
              </a:rPr>
              <a:t>Activity 3: </a:t>
            </a:r>
            <a:r>
              <a:rPr b="1" lang="en" sz="1000">
                <a:latin typeface="Poppins"/>
                <a:ea typeface="Poppins"/>
                <a:cs typeface="Poppins"/>
                <a:sym typeface="Poppins"/>
              </a:rPr>
              <a:t>Explain </a:t>
            </a:r>
            <a:r>
              <a:rPr b="1" lang="en" sz="1000">
                <a:latin typeface="Poppins"/>
                <a:ea typeface="Poppins"/>
                <a:cs typeface="Poppins"/>
                <a:sym typeface="Poppins"/>
              </a:rPr>
              <a:t>how each stage of the volcanic process makes an eruption more or less dangerous.</a:t>
            </a:r>
            <a:endParaRPr b="1"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592313" y="2660425"/>
            <a:ext cx="3210900" cy="3669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 rotWithShape="1">
          <a:blip r:embed="rId3">
            <a:alphaModFix/>
          </a:blip>
          <a:srcRect b="24290" l="0" r="0" t="17179"/>
          <a:stretch/>
        </p:blipFill>
        <p:spPr>
          <a:xfrm>
            <a:off x="3109462" y="2543926"/>
            <a:ext cx="693750" cy="2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/>
          <p:nvPr/>
        </p:nvSpPr>
        <p:spPr>
          <a:xfrm>
            <a:off x="116875" y="369200"/>
            <a:ext cx="4184400" cy="175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5"/>
          <p:cNvPicPr preferRelativeResize="0"/>
          <p:nvPr/>
        </p:nvPicPr>
        <p:blipFill rotWithShape="1">
          <a:blip r:embed="rId4">
            <a:alphaModFix/>
          </a:blip>
          <a:srcRect b="18037" l="9659" r="7215" t="53805"/>
          <a:stretch/>
        </p:blipFill>
        <p:spPr>
          <a:xfrm>
            <a:off x="195175" y="369200"/>
            <a:ext cx="4005177" cy="158229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/>
          <p:nvPr/>
        </p:nvSpPr>
        <p:spPr>
          <a:xfrm>
            <a:off x="5331625" y="2660413"/>
            <a:ext cx="3210900" cy="3669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b="24290" l="0" r="0" t="17179"/>
          <a:stretch/>
        </p:blipFill>
        <p:spPr>
          <a:xfrm>
            <a:off x="7848775" y="2543913"/>
            <a:ext cx="693750" cy="2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/>
          <p:nvPr/>
        </p:nvSpPr>
        <p:spPr>
          <a:xfrm>
            <a:off x="4856200" y="369188"/>
            <a:ext cx="4184400" cy="175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5"/>
          <p:cNvPicPr preferRelativeResize="0"/>
          <p:nvPr/>
        </p:nvPicPr>
        <p:blipFill rotWithShape="1">
          <a:blip r:embed="rId4">
            <a:alphaModFix/>
          </a:blip>
          <a:srcRect b="18037" l="9659" r="7215" t="53805"/>
          <a:stretch/>
        </p:blipFill>
        <p:spPr>
          <a:xfrm>
            <a:off x="4934500" y="369188"/>
            <a:ext cx="4005177" cy="1582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/>
          <p:cNvPicPr preferRelativeResize="0"/>
          <p:nvPr/>
        </p:nvPicPr>
        <p:blipFill rotWithShape="1">
          <a:blip r:embed="rId3">
            <a:alphaModFix/>
          </a:blip>
          <a:srcRect b="24290" l="0" r="0" t="17179"/>
          <a:stretch/>
        </p:blipFill>
        <p:spPr>
          <a:xfrm>
            <a:off x="3607400" y="243501"/>
            <a:ext cx="693750" cy="24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/>
          <p:cNvPicPr preferRelativeResize="0"/>
          <p:nvPr/>
        </p:nvPicPr>
        <p:blipFill rotWithShape="1">
          <a:blip r:embed="rId3">
            <a:alphaModFix/>
          </a:blip>
          <a:srcRect b="24290" l="0" r="0" t="17179"/>
          <a:stretch/>
        </p:blipFill>
        <p:spPr>
          <a:xfrm>
            <a:off x="8346725" y="243488"/>
            <a:ext cx="693750" cy="24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375" y="2790700"/>
            <a:ext cx="2932577" cy="3420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2113" y="2842738"/>
            <a:ext cx="2932577" cy="3420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