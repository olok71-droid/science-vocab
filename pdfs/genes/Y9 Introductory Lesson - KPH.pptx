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Dosis"/>
      <p:regular r:id="rId18"/>
      <p:bold r:id="rId19"/>
    </p:embeddedFont>
    <p:embeddedFont>
      <p:font typeface="Barlow Semi Condensed Light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Chelsea Market"/>
      <p:regular r:id="rId28"/>
    </p:embeddedFont>
    <p:embeddedFont>
      <p:font typeface="Barlow Semi Condense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Ik+QZPhBGEtvf12PR20QBAaa6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SemiCondensedLight-regular.fntdata"/><Relationship Id="rId22" Type="http://schemas.openxmlformats.org/officeDocument/2006/relationships/font" Target="fonts/BarlowSemiCondensedLight-italic.fntdata"/><Relationship Id="rId21" Type="http://schemas.openxmlformats.org/officeDocument/2006/relationships/font" Target="fonts/BarlowSemiCondensedLight-bold.fntdata"/><Relationship Id="rId24" Type="http://schemas.openxmlformats.org/officeDocument/2006/relationships/font" Target="fonts/Roboto-regular.fntdata"/><Relationship Id="rId23" Type="http://schemas.openxmlformats.org/officeDocument/2006/relationships/font" Target="fonts/BarlowSemiCondensed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ChelseaMarket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SemiCondense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SemiCondensed-italic.fntdata"/><Relationship Id="rId30" Type="http://schemas.openxmlformats.org/officeDocument/2006/relationships/font" Target="fonts/BarlowSemiCondensed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BarlowSemiCondense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Dosis-bold.fntdata"/><Relationship Id="rId18" Type="http://schemas.openxmlformats.org/officeDocument/2006/relationships/font" Target="fonts/Dosi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bc25668f8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6bc25668f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bc25668f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6bc25668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bc25668f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6bc25668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bc25668f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6bc25668f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6ddc39dc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26ddc39dc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e5b9060e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1e5b9060e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f1f16da010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2f1f16da010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FF99"/>
              </a:buClr>
              <a:buSzPts val="6000"/>
              <a:buFont typeface="Comic Sans MS"/>
              <a:buNone/>
              <a:defRPr sz="6000">
                <a:solidFill>
                  <a:srgbClr val="CCFF9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-1" y="973367"/>
            <a:ext cx="11816179" cy="5036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9060e13_0_6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1e5b9060e13_0_6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/>
            </a:lvl1pPr>
            <a:lvl2pPr indent="-3873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1e5b9060e13_0_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60fe749fac_0_785"/>
          <p:cNvSpPr txBox="1"/>
          <p:nvPr>
            <p:ph type="title"/>
          </p:nvPr>
        </p:nvSpPr>
        <p:spPr>
          <a:xfrm>
            <a:off x="963168" y="720000"/>
            <a:ext cx="1027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5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186431" y="136526"/>
            <a:ext cx="11727401" cy="4425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FF99"/>
              </a:buClr>
              <a:buSzPts val="8000"/>
              <a:buFont typeface="Comic Sans MS"/>
              <a:buNone/>
              <a:defRPr b="1" sz="8000">
                <a:solidFill>
                  <a:srgbClr val="99FF9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omic Sans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omic Sans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" type="body"/>
          </p:nvPr>
        </p:nvSpPr>
        <p:spPr>
          <a:xfrm rot="5400000">
            <a:off x="3082131" y="-2108763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60fe749fac_0_272"/>
          <p:cNvSpPr txBox="1"/>
          <p:nvPr>
            <p:ph type="title"/>
          </p:nvPr>
        </p:nvSpPr>
        <p:spPr>
          <a:xfrm>
            <a:off x="960000" y="720000"/>
            <a:ext cx="1027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5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9" name="Google Shape;89;g260fe749fac_0_272"/>
          <p:cNvSpPr txBox="1"/>
          <p:nvPr>
            <p:ph idx="1" type="subTitle"/>
          </p:nvPr>
        </p:nvSpPr>
        <p:spPr>
          <a:xfrm>
            <a:off x="969000" y="4035410"/>
            <a:ext cx="267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/>
        </p:txBody>
      </p:sp>
      <p:sp>
        <p:nvSpPr>
          <p:cNvPr id="90" name="Google Shape;90;g260fe749fac_0_272"/>
          <p:cNvSpPr txBox="1"/>
          <p:nvPr>
            <p:ph idx="2" type="subTitle"/>
          </p:nvPr>
        </p:nvSpPr>
        <p:spPr>
          <a:xfrm>
            <a:off x="969000" y="4522188"/>
            <a:ext cx="26796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g260fe749fac_0_272"/>
          <p:cNvSpPr txBox="1"/>
          <p:nvPr>
            <p:ph idx="3" type="subTitle"/>
          </p:nvPr>
        </p:nvSpPr>
        <p:spPr>
          <a:xfrm>
            <a:off x="4756200" y="4035410"/>
            <a:ext cx="267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/>
        </p:txBody>
      </p:sp>
      <p:sp>
        <p:nvSpPr>
          <p:cNvPr id="92" name="Google Shape;92;g260fe749fac_0_272"/>
          <p:cNvSpPr txBox="1"/>
          <p:nvPr>
            <p:ph idx="4" type="subTitle"/>
          </p:nvPr>
        </p:nvSpPr>
        <p:spPr>
          <a:xfrm>
            <a:off x="4756200" y="4522188"/>
            <a:ext cx="26796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3" name="Google Shape;93;g260fe749fac_0_272"/>
          <p:cNvSpPr txBox="1"/>
          <p:nvPr>
            <p:ph idx="5" type="subTitle"/>
          </p:nvPr>
        </p:nvSpPr>
        <p:spPr>
          <a:xfrm>
            <a:off x="8543400" y="4035410"/>
            <a:ext cx="267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/>
        </p:txBody>
      </p:sp>
      <p:sp>
        <p:nvSpPr>
          <p:cNvPr id="94" name="Google Shape;94;g260fe749fac_0_272"/>
          <p:cNvSpPr txBox="1"/>
          <p:nvPr>
            <p:ph idx="6" type="subTitle"/>
          </p:nvPr>
        </p:nvSpPr>
        <p:spPr>
          <a:xfrm>
            <a:off x="8543400" y="4522188"/>
            <a:ext cx="26796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1f16da010_0_222"/>
          <p:cNvSpPr txBox="1"/>
          <p:nvPr>
            <p:ph type="title"/>
          </p:nvPr>
        </p:nvSpPr>
        <p:spPr>
          <a:xfrm>
            <a:off x="0" y="0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2f1f16da010_0_222"/>
          <p:cNvSpPr txBox="1"/>
          <p:nvPr>
            <p:ph idx="1" type="body"/>
          </p:nvPr>
        </p:nvSpPr>
        <p:spPr>
          <a:xfrm>
            <a:off x="-1" y="973367"/>
            <a:ext cx="11816100" cy="5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2f1f16da010_0_2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2f1f16da010_0_2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2f1f16da010_0_2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1f16da010_0_21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FF99"/>
              </a:buClr>
              <a:buSzPts val="6000"/>
              <a:buFont typeface="Comic Sans MS"/>
              <a:buNone/>
              <a:defRPr sz="6000">
                <a:solidFill>
                  <a:srgbClr val="CCFF9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2f1f16da010_0_21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0" name="Google Shape;110;g2f1f16da010_0_2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2f1f16da010_0_2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2f1f16da010_0_2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1f16da010_0_228"/>
          <p:cNvSpPr txBox="1"/>
          <p:nvPr>
            <p:ph type="title"/>
          </p:nvPr>
        </p:nvSpPr>
        <p:spPr>
          <a:xfrm>
            <a:off x="963168" y="720000"/>
            <a:ext cx="1027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5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1f16da010_0_230"/>
          <p:cNvSpPr txBox="1"/>
          <p:nvPr>
            <p:ph type="title"/>
          </p:nvPr>
        </p:nvSpPr>
        <p:spPr>
          <a:xfrm>
            <a:off x="186431" y="136526"/>
            <a:ext cx="11727300" cy="44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FF99"/>
              </a:buClr>
              <a:buSzPts val="8000"/>
              <a:buFont typeface="Comic Sans MS"/>
              <a:buNone/>
              <a:defRPr b="1" sz="8000">
                <a:solidFill>
                  <a:srgbClr val="99FF9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2f1f16da010_0_23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g2f1f16da010_0_2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2f1f16da010_0_2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2f1f16da010_0_2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f1f16da010_0_236"/>
          <p:cNvSpPr txBox="1"/>
          <p:nvPr>
            <p:ph type="title"/>
          </p:nvPr>
        </p:nvSpPr>
        <p:spPr>
          <a:xfrm>
            <a:off x="0" y="0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2f1f16da010_0_23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g2f1f16da010_0_23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2f1f16da010_0_2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2f1f16da010_0_2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2f1f16da010_0_2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f1f16da010_0_243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2f1f16da010_0_243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g2f1f16da010_0_243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g2f1f16da010_0_243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3" name="Google Shape;133;g2f1f16da010_0_243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g2f1f16da010_0_2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2f1f16da010_0_2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2f1f16da010_0_2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1f16da010_0_252"/>
          <p:cNvSpPr txBox="1"/>
          <p:nvPr>
            <p:ph type="title"/>
          </p:nvPr>
        </p:nvSpPr>
        <p:spPr>
          <a:xfrm>
            <a:off x="0" y="0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2f1f16da010_0_2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2f1f16da010_0_25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2f1f16da010_0_2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1f16da010_0_2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2f1f16da010_0_2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2f1f16da010_0_2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1f16da010_0_26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omic Sans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2f1f16da010_0_261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9" name="Google Shape;149;g2f1f16da010_0_261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g2f1f16da010_0_26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2f1f16da010_0_26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2f1f16da010_0_2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1f16da010_0_26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omic Sans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2f1f16da010_0_268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g2f1f16da010_0_268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g2f1f16da010_0_26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2f1f16da010_0_26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2f1f16da010_0_2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1f16da010_0_275"/>
          <p:cNvSpPr txBox="1"/>
          <p:nvPr>
            <p:ph type="title"/>
          </p:nvPr>
        </p:nvSpPr>
        <p:spPr>
          <a:xfrm>
            <a:off x="0" y="0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2f1f16da010_0_275"/>
          <p:cNvSpPr txBox="1"/>
          <p:nvPr>
            <p:ph idx="1" type="body"/>
          </p:nvPr>
        </p:nvSpPr>
        <p:spPr>
          <a:xfrm rot="5400000">
            <a:off x="3082200" y="-2108832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g2f1f16da010_0_27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2f1f16da010_0_27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2f1f16da010_0_2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1f16da010_0_281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2f1f16da010_0_281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g2f1f16da010_0_28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2f1f16da010_0_28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2f1f16da010_0_2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1f16da010_0_287"/>
          <p:cNvSpPr txBox="1"/>
          <p:nvPr>
            <p:ph type="title"/>
          </p:nvPr>
        </p:nvSpPr>
        <p:spPr>
          <a:xfrm>
            <a:off x="960000" y="720000"/>
            <a:ext cx="1027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5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4" name="Google Shape;174;g2f1f16da010_0_287"/>
          <p:cNvSpPr txBox="1"/>
          <p:nvPr>
            <p:ph idx="1" type="subTitle"/>
          </p:nvPr>
        </p:nvSpPr>
        <p:spPr>
          <a:xfrm>
            <a:off x="969000" y="4035410"/>
            <a:ext cx="267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helsea Market"/>
              <a:buNone/>
              <a:defRPr sz="2400">
                <a:solidFill>
                  <a:schemeClr val="accent5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/>
        </p:txBody>
      </p:sp>
      <p:sp>
        <p:nvSpPr>
          <p:cNvPr id="175" name="Google Shape;175;g2f1f16da010_0_287"/>
          <p:cNvSpPr txBox="1"/>
          <p:nvPr>
            <p:ph idx="2" type="subTitle"/>
          </p:nvPr>
        </p:nvSpPr>
        <p:spPr>
          <a:xfrm>
            <a:off x="969000" y="4522188"/>
            <a:ext cx="26796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g2f1f16da010_0_287"/>
          <p:cNvSpPr txBox="1"/>
          <p:nvPr>
            <p:ph idx="3" type="subTitle"/>
          </p:nvPr>
        </p:nvSpPr>
        <p:spPr>
          <a:xfrm>
            <a:off x="4756200" y="4035410"/>
            <a:ext cx="267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helsea Market"/>
              <a:buNone/>
              <a:defRPr sz="2400">
                <a:solidFill>
                  <a:schemeClr val="accent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/>
        </p:txBody>
      </p:sp>
      <p:sp>
        <p:nvSpPr>
          <p:cNvPr id="177" name="Google Shape;177;g2f1f16da010_0_287"/>
          <p:cNvSpPr txBox="1"/>
          <p:nvPr>
            <p:ph idx="4" type="subTitle"/>
          </p:nvPr>
        </p:nvSpPr>
        <p:spPr>
          <a:xfrm>
            <a:off x="4756200" y="4522188"/>
            <a:ext cx="26796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8" name="Google Shape;178;g2f1f16da010_0_287"/>
          <p:cNvSpPr txBox="1"/>
          <p:nvPr>
            <p:ph idx="5" type="subTitle"/>
          </p:nvPr>
        </p:nvSpPr>
        <p:spPr>
          <a:xfrm>
            <a:off x="8543400" y="4035410"/>
            <a:ext cx="267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helsea Market"/>
              <a:buNone/>
              <a:defRPr sz="2400">
                <a:solidFill>
                  <a:schemeClr val="accent4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/>
        </p:txBody>
      </p:sp>
      <p:sp>
        <p:nvSpPr>
          <p:cNvPr id="179" name="Google Shape;179;g2f1f16da010_0_287"/>
          <p:cNvSpPr txBox="1"/>
          <p:nvPr>
            <p:ph idx="6" type="subTitle"/>
          </p:nvPr>
        </p:nvSpPr>
        <p:spPr>
          <a:xfrm>
            <a:off x="8543400" y="4522188"/>
            <a:ext cx="26796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1f16da010_0_29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2f1f16da010_0_29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•"/>
              <a:defRPr/>
            </a:lvl1pPr>
            <a:lvl2pPr indent="-3873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g2f1f16da010_0_2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Comic Sans MS"/>
              <a:buNone/>
              <a:defRPr b="1" i="0" sz="4500" u="none" cap="none" strike="noStrike">
                <a:solidFill>
                  <a:srgbClr val="FFC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0" y="9733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1f16da010_0_210"/>
          <p:cNvSpPr txBox="1"/>
          <p:nvPr>
            <p:ph type="title"/>
          </p:nvPr>
        </p:nvSpPr>
        <p:spPr>
          <a:xfrm>
            <a:off x="0" y="0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Comic Sans MS"/>
              <a:buNone/>
              <a:defRPr b="1" i="0" sz="4500" u="none" cap="none" strike="noStrike">
                <a:solidFill>
                  <a:srgbClr val="FFC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2f1f16da010_0_210"/>
          <p:cNvSpPr txBox="1"/>
          <p:nvPr>
            <p:ph idx="1" type="body"/>
          </p:nvPr>
        </p:nvSpPr>
        <p:spPr>
          <a:xfrm>
            <a:off x="0" y="97336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2f1f16da010_0_2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g2f1f16da010_0_2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g2f1f16da010_0_2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U6JitGTw-4Jg1O6QXpHeKfQROkMSRPa393EczBl9ohg/edit?gid=1933063328#gid=193306332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hyperlink" Target="https://classroom.google.com/c/NjE4MTMzNTk2NTE0?cjc=o4i6yeq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4ASKMcdCc3g" TargetMode="Externa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/>
          <p:nvPr>
            <p:ph type="ctrTitle"/>
          </p:nvPr>
        </p:nvSpPr>
        <p:spPr>
          <a:xfrm>
            <a:off x="383356" y="-515203"/>
            <a:ext cx="112869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FF99"/>
              </a:buClr>
              <a:buSzPts val="8000"/>
              <a:buFont typeface="Comic Sans MS"/>
              <a:buNone/>
            </a:pPr>
            <a:r>
              <a:rPr lang="en-MY" sz="8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Y9 SCIENCE</a:t>
            </a:r>
            <a:r>
              <a:rPr lang="en-MY" sz="8000">
                <a:solidFill>
                  <a:srgbClr val="6AA84F"/>
                </a:solidFill>
              </a:rPr>
              <a:t> 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90" name="Google Shape;190;p1"/>
          <p:cNvSpPr txBox="1"/>
          <p:nvPr>
            <p:ph idx="1" type="subTitle"/>
          </p:nvPr>
        </p:nvSpPr>
        <p:spPr>
          <a:xfrm>
            <a:off x="383356" y="1967042"/>
            <a:ext cx="91440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MY" sz="4000"/>
              <a:t>INTRODUCTORY LESSON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4000"/>
          </a:p>
        </p:txBody>
      </p:sp>
      <p:pic>
        <p:nvPicPr>
          <p:cNvPr id="191" name="Google Shape;1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925" y="2717975"/>
            <a:ext cx="3688100" cy="368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"/>
          <p:cNvPicPr preferRelativeResize="0"/>
          <p:nvPr/>
        </p:nvPicPr>
        <p:blipFill rotWithShape="1">
          <a:blip r:embed="rId4">
            <a:alphaModFix/>
          </a:blip>
          <a:srcRect b="28524" l="0" r="0" t="21688"/>
          <a:stretch/>
        </p:blipFill>
        <p:spPr>
          <a:xfrm>
            <a:off x="4116538" y="3449400"/>
            <a:ext cx="3958924" cy="295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"/>
          <p:cNvPicPr preferRelativeResize="0"/>
          <p:nvPr/>
        </p:nvPicPr>
        <p:blipFill rotWithShape="1">
          <a:blip r:embed="rId5">
            <a:alphaModFix/>
          </a:blip>
          <a:srcRect b="28715" l="0" r="0" t="17035"/>
          <a:stretch/>
        </p:blipFill>
        <p:spPr>
          <a:xfrm>
            <a:off x="8160400" y="3633850"/>
            <a:ext cx="3406924" cy="277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2200" y="229404"/>
            <a:ext cx="4283325" cy="311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Comic Sans MS"/>
              <a:buNone/>
            </a:pPr>
            <a:r>
              <a:rPr lang="en-MY">
                <a:solidFill>
                  <a:srgbClr val="6AA84F"/>
                </a:solidFill>
              </a:rPr>
              <a:t>Who am I ?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200" name="Google Shape;2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1506" y="4058214"/>
            <a:ext cx="4963608" cy="279978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"/>
          <p:cNvSpPr txBox="1"/>
          <p:nvPr>
            <p:ph idx="1" type="body"/>
          </p:nvPr>
        </p:nvSpPr>
        <p:spPr>
          <a:xfrm>
            <a:off x="117625" y="1224450"/>
            <a:ext cx="89610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MY" sz="2800">
                <a:solidFill>
                  <a:srgbClr val="A64D79"/>
                </a:solidFill>
              </a:rPr>
              <a:t>Mr Phillips</a:t>
            </a:r>
            <a:endParaRPr b="1" sz="2800">
              <a:solidFill>
                <a:srgbClr val="A64D79"/>
              </a:solidFill>
            </a:endParaRPr>
          </a:p>
          <a:p>
            <a:pPr indent="-215900" lvl="0" marL="2286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 sz="2800"/>
              <a:t>You can call me </a:t>
            </a:r>
            <a:r>
              <a:rPr b="1" lang="en-MY" sz="2800">
                <a:solidFill>
                  <a:srgbClr val="A64D79"/>
                </a:solidFill>
              </a:rPr>
              <a:t>Mr Phillips or Sir</a:t>
            </a:r>
            <a:endParaRPr sz="2800">
              <a:solidFill>
                <a:srgbClr val="A64D79"/>
              </a:solidFill>
            </a:endParaRPr>
          </a:p>
          <a:p>
            <a:pPr indent="-190500" lvl="0" marL="2286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 sz="2400"/>
              <a:t>My email is </a:t>
            </a:r>
            <a:r>
              <a:rPr b="1" lang="en-MY" sz="2400">
                <a:solidFill>
                  <a:srgbClr val="A64D79"/>
                </a:solidFill>
              </a:rPr>
              <a:t>kennethphillips@sji-international.edu.my</a:t>
            </a:r>
            <a:endParaRPr sz="2400">
              <a:solidFill>
                <a:srgbClr val="A64D79"/>
              </a:solidFill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MY" sz="2800"/>
              <a:t>I’ll be teaching KS3 Science, IGCSE Physics &amp; AS Physics</a:t>
            </a:r>
            <a:endParaRPr sz="2800"/>
          </a:p>
          <a:p>
            <a:pPr indent="-215900" lvl="0" marL="2286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 sz="2800"/>
              <a:t>I enjoy football and my favourite team is Newcastle United #HTL</a:t>
            </a:r>
            <a:endParaRPr sz="2800"/>
          </a:p>
        </p:txBody>
      </p:sp>
      <p:pic>
        <p:nvPicPr>
          <p:cNvPr id="202" name="Google Shape;202;p2" title="ken photo.jpg"/>
          <p:cNvPicPr preferRelativeResize="0"/>
          <p:nvPr/>
        </p:nvPicPr>
        <p:blipFill rotWithShape="1">
          <a:blip r:embed="rId4">
            <a:alphaModFix/>
          </a:blip>
          <a:srcRect b="0" l="16724" r="16724" t="0"/>
          <a:stretch/>
        </p:blipFill>
        <p:spPr>
          <a:xfrm>
            <a:off x="9248150" y="3"/>
            <a:ext cx="2700866" cy="405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bc25668f8_0_105"/>
          <p:cNvSpPr txBox="1"/>
          <p:nvPr/>
        </p:nvSpPr>
        <p:spPr>
          <a:xfrm>
            <a:off x="3302925" y="1991850"/>
            <a:ext cx="7261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00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3"/>
              </a:rPr>
              <a:t>Y9 Year plan - 2026-27</a:t>
            </a:r>
            <a:endParaRPr sz="3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Includes the topics to be taught</a:t>
            </a:r>
            <a:endParaRPr sz="3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bc25668f8_0_0"/>
          <p:cNvSpPr txBox="1"/>
          <p:nvPr>
            <p:ph idx="1" type="body"/>
          </p:nvPr>
        </p:nvSpPr>
        <p:spPr>
          <a:xfrm>
            <a:off x="-1" y="973367"/>
            <a:ext cx="11816100" cy="5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●"/>
            </a:pPr>
            <a:r>
              <a:rPr lang="en-MY">
                <a:latin typeface="Roboto"/>
                <a:ea typeface="Roboto"/>
                <a:cs typeface="Roboto"/>
                <a:sym typeface="Roboto"/>
              </a:rPr>
              <a:t>Multiple choice questions					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●"/>
            </a:pPr>
            <a:r>
              <a:rPr lang="en-MY">
                <a:latin typeface="Roboto"/>
                <a:ea typeface="Roboto"/>
                <a:cs typeface="Roboto"/>
                <a:sym typeface="Roboto"/>
              </a:rPr>
              <a:t>Short-answer and structured questions					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●"/>
            </a:pPr>
            <a:r>
              <a:rPr lang="en-MY">
                <a:latin typeface="Roboto"/>
                <a:ea typeface="Roboto"/>
                <a:cs typeface="Roboto"/>
                <a:sym typeface="Roboto"/>
              </a:rPr>
              <a:t>Questions on experimental skills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MY">
                <a:latin typeface="Roboto"/>
                <a:ea typeface="Roboto"/>
                <a:cs typeface="Roboto"/>
                <a:sym typeface="Roboto"/>
              </a:rPr>
              <a:t>I will inform you at least </a:t>
            </a:r>
            <a:r>
              <a:rPr b="1" lang="en-MY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two weeks in advance</a:t>
            </a:r>
            <a:r>
              <a:rPr lang="en-MY">
                <a:latin typeface="Roboto"/>
                <a:ea typeface="Roboto"/>
                <a:cs typeface="Roboto"/>
                <a:sym typeface="Roboto"/>
              </a:rPr>
              <a:t> if there are any upcoming assessments.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g36bc25668f8_0_0"/>
          <p:cNvSpPr txBox="1"/>
          <p:nvPr>
            <p:ph type="title"/>
          </p:nvPr>
        </p:nvSpPr>
        <p:spPr>
          <a:xfrm>
            <a:off x="0" y="0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MY">
                <a:solidFill>
                  <a:srgbClr val="6AA84F"/>
                </a:solidFill>
              </a:rPr>
              <a:t>Assessment overview	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c25668f8_0_5"/>
          <p:cNvSpPr txBox="1"/>
          <p:nvPr>
            <p:ph type="title"/>
          </p:nvPr>
        </p:nvSpPr>
        <p:spPr>
          <a:xfrm>
            <a:off x="149450" y="241625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MY"/>
              <a:t>Before the lesson</a:t>
            </a:r>
            <a:endParaRPr/>
          </a:p>
        </p:txBody>
      </p:sp>
      <p:sp>
        <p:nvSpPr>
          <p:cNvPr id="219" name="Google Shape;219;g36bc25668f8_0_5"/>
          <p:cNvSpPr txBox="1"/>
          <p:nvPr/>
        </p:nvSpPr>
        <p:spPr>
          <a:xfrm>
            <a:off x="232475" y="1012925"/>
            <a:ext cx="119595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AutoNum type="arabicPeriod"/>
            </a:pPr>
            <a:r>
              <a:rPr b="0" i="0" lang="en-MY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up along the wall – quietly and sensibly.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AutoNum type="arabicPeriod"/>
            </a:pPr>
            <a:r>
              <a:rPr b="0" i="0" lang="en-MY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will greet you at the door – do not enter the lab if I am not in it.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AutoNum type="arabicPeriod"/>
            </a:pPr>
            <a:r>
              <a:rPr b="0" i="0" lang="en-MY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learning equipment on desk, write title, date and put your bag on the floor where it will not trip anyone up.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bc25668f8_0_10"/>
          <p:cNvSpPr txBox="1"/>
          <p:nvPr>
            <p:ph type="title"/>
          </p:nvPr>
        </p:nvSpPr>
        <p:spPr>
          <a:xfrm>
            <a:off x="0" y="0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MY"/>
              <a:t>Expectations in the Lab</a:t>
            </a:r>
            <a:endParaRPr/>
          </a:p>
        </p:txBody>
      </p:sp>
      <p:sp>
        <p:nvSpPr>
          <p:cNvPr id="225" name="Google Shape;225;g36bc25668f8_0_10"/>
          <p:cNvSpPr txBox="1"/>
          <p:nvPr/>
        </p:nvSpPr>
        <p:spPr>
          <a:xfrm>
            <a:off x="265675" y="1046125"/>
            <a:ext cx="11926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AutoNum type="arabicPeriod"/>
            </a:pPr>
            <a:r>
              <a:rPr b="0" i="0" lang="en-MY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eating in the lab 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AutoNum type="arabicPeriod"/>
            </a:pPr>
            <a:r>
              <a:rPr b="0" i="0" lang="en-MY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voice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AutoNum type="arabicPeriod"/>
            </a:pPr>
            <a:r>
              <a:rPr b="0" i="0" lang="en-MY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of devices only when required by the teacher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AutoNum type="arabicPeriod"/>
            </a:pPr>
            <a:r>
              <a:rPr b="0" i="0" lang="en-MY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Awareness of what is happening around you, particularly in practical work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ddc39dc03_0_0"/>
          <p:cNvSpPr/>
          <p:nvPr/>
        </p:nvSpPr>
        <p:spPr>
          <a:xfrm>
            <a:off x="7452769" y="714100"/>
            <a:ext cx="3839287" cy="5429721"/>
          </a:xfrm>
          <a:custGeom>
            <a:rect b="b" l="l" r="r" t="t"/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231" name="Google Shape;231;g26ddc39dc0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3567" y="2309795"/>
            <a:ext cx="2597700" cy="2238433"/>
          </a:xfrm>
          <a:prstGeom prst="rect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g26ddc39dc03_0_0"/>
          <p:cNvSpPr txBox="1"/>
          <p:nvPr>
            <p:ph idx="4294967295" type="title"/>
          </p:nvPr>
        </p:nvSpPr>
        <p:spPr>
          <a:xfrm>
            <a:off x="429267" y="714100"/>
            <a:ext cx="66120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1967"/>
              <a:buNone/>
            </a:pPr>
            <a:r>
              <a:rPr lang="en-MY" sz="6100" u="sng">
                <a:solidFill>
                  <a:srgbClr val="FFC0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CLASSROOM</a:t>
            </a:r>
            <a:endParaRPr sz="6100">
              <a:solidFill>
                <a:srgbClr val="FFC000"/>
              </a:solidFill>
            </a:endParaRPr>
          </a:p>
        </p:txBody>
      </p:sp>
      <p:sp>
        <p:nvSpPr>
          <p:cNvPr id="233" name="Google Shape;233;g26ddc39dc03_0_0"/>
          <p:cNvSpPr txBox="1"/>
          <p:nvPr/>
        </p:nvSpPr>
        <p:spPr>
          <a:xfrm>
            <a:off x="662067" y="2309788"/>
            <a:ext cx="6379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MY" sz="9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iwd4ixvn</a:t>
            </a:r>
            <a:endParaRPr b="1" i="0" sz="9600" u="none" cap="none" strike="noStrike">
              <a:solidFill>
                <a:schemeClr val="lt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4" name="Google Shape;234;g26ddc39dc03_0_0"/>
          <p:cNvSpPr txBox="1"/>
          <p:nvPr/>
        </p:nvSpPr>
        <p:spPr>
          <a:xfrm>
            <a:off x="331067" y="4240933"/>
            <a:ext cx="682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MY" sz="3200" u="none" cap="none" strike="noStrike">
                <a:solidFill>
                  <a:schemeClr val="lt1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nataliesiew@sji-international.edu.my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Comic Sans MS"/>
              <a:buNone/>
            </a:pPr>
            <a:r>
              <a:rPr lang="en-MY">
                <a:solidFill>
                  <a:srgbClr val="6AA84F"/>
                </a:solidFill>
              </a:rPr>
              <a:t>Three main values - 1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240" name="Google Shape;240;p7"/>
          <p:cNvPicPr preferRelativeResize="0"/>
          <p:nvPr/>
        </p:nvPicPr>
        <p:blipFill rotWithShape="1">
          <a:blip r:embed="rId3">
            <a:alphaModFix/>
          </a:blip>
          <a:srcRect b="0" l="2807" r="2861" t="54294"/>
          <a:stretch/>
        </p:blipFill>
        <p:spPr>
          <a:xfrm>
            <a:off x="440803" y="1637698"/>
            <a:ext cx="6417298" cy="3886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5951" y="1910717"/>
            <a:ext cx="5029099" cy="3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Comic Sans MS"/>
              <a:buNone/>
            </a:pPr>
            <a:r>
              <a:rPr lang="en-MY">
                <a:solidFill>
                  <a:srgbClr val="6AA84F"/>
                </a:solidFill>
              </a:rPr>
              <a:t>Three main values - 2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247" name="Google Shape;2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901" y="1936882"/>
            <a:ext cx="5471099" cy="298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3670" y="1524000"/>
            <a:ext cx="50863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 txBox="1"/>
          <p:nvPr>
            <p:ph type="title"/>
          </p:nvPr>
        </p:nvSpPr>
        <p:spPr>
          <a:xfrm>
            <a:off x="0" y="0"/>
            <a:ext cx="10515600" cy="771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Comic Sans MS"/>
              <a:buNone/>
            </a:pPr>
            <a:r>
              <a:rPr lang="en-MY">
                <a:solidFill>
                  <a:srgbClr val="6AA84F"/>
                </a:solidFill>
              </a:rPr>
              <a:t>Three main values - 3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descr="humans don&amp;#39;t learn by having things explained to them They learn by making  mistakes and have to adapt - Stuffed cat | Meme Generator" id="254" name="Google Shape;2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734" y="1267392"/>
            <a:ext cx="5287058" cy="4968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4484" y="1052118"/>
            <a:ext cx="3602314" cy="5387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e5b9060e13_0_5"/>
          <p:cNvSpPr txBox="1"/>
          <p:nvPr>
            <p:ph type="title"/>
          </p:nvPr>
        </p:nvSpPr>
        <p:spPr>
          <a:xfrm>
            <a:off x="253475" y="3177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MY"/>
              <a:t>Expectations in Science </a:t>
            </a:r>
            <a:endParaRPr/>
          </a:p>
        </p:txBody>
      </p:sp>
      <p:sp>
        <p:nvSpPr>
          <p:cNvPr id="261" name="Google Shape;261;g1e5b9060e13_0_5"/>
          <p:cNvSpPr txBox="1"/>
          <p:nvPr>
            <p:ph idx="1" type="body"/>
          </p:nvPr>
        </p:nvSpPr>
        <p:spPr>
          <a:xfrm>
            <a:off x="0" y="1151408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Be on time for lessons and line up outside the classroom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Complete all work both in class and homework - let me know if you cannot complete something on time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Ask any questions in comments section of GC or email me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If I want to ask a question, I will use the lollipop sticks.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If you want to </a:t>
            </a:r>
            <a:r>
              <a:rPr b="1" lang="en-MY" sz="2400" u="sng">
                <a:latin typeface="Arial"/>
                <a:ea typeface="Arial"/>
                <a:cs typeface="Arial"/>
                <a:sym typeface="Arial"/>
              </a:rPr>
              <a:t>ASK</a:t>
            </a:r>
            <a:r>
              <a:rPr lang="en-MY" sz="2400">
                <a:latin typeface="Arial"/>
                <a:ea typeface="Arial"/>
                <a:cs typeface="Arial"/>
                <a:sym typeface="Arial"/>
              </a:rPr>
              <a:t> a question, you may raise your hand.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If someone is asking or answering a question, then everyone else should be listening.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Be kind and respectful of everyone in the classroom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Sensible scientists! - especially in practical lessons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MY" sz="2400">
                <a:latin typeface="Arial"/>
                <a:ea typeface="Arial"/>
                <a:cs typeface="Arial"/>
                <a:sym typeface="Arial"/>
              </a:rPr>
              <a:t>Support each other - we are a team!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wall, person, person&#10;&#10;Description automatically generated" id="262" name="Google Shape;262;g1e5b9060e13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0296" y="4478001"/>
            <a:ext cx="4242467" cy="2294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1f16da010_0_204"/>
          <p:cNvSpPr txBox="1"/>
          <p:nvPr>
            <p:ph type="title"/>
          </p:nvPr>
        </p:nvSpPr>
        <p:spPr>
          <a:xfrm>
            <a:off x="0" y="0"/>
            <a:ext cx="105156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Comic Sans MS"/>
              <a:buNone/>
            </a:pPr>
            <a:r>
              <a:rPr lang="en-MY">
                <a:solidFill>
                  <a:srgbClr val="6AA84F"/>
                </a:solidFill>
              </a:rPr>
              <a:t>This is Me.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68" name="Google Shape;268;g2f1f16da010_0_204"/>
          <p:cNvSpPr txBox="1"/>
          <p:nvPr>
            <p:ph idx="1" type="body"/>
          </p:nvPr>
        </p:nvSpPr>
        <p:spPr>
          <a:xfrm>
            <a:off x="100500" y="843675"/>
            <a:ext cx="9974100" cy="53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en-MY" sz="3200"/>
              <a:t>In at </a:t>
            </a:r>
            <a:r>
              <a:rPr i="1" lang="en-MY" sz="3200"/>
              <a:t>least</a:t>
            </a:r>
            <a:r>
              <a:rPr lang="en-MY" sz="3200"/>
              <a:t> one paragraph, show me who you are through words.</a:t>
            </a:r>
            <a:endParaRPr sz="3200"/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Char char="-"/>
            </a:pPr>
            <a:r>
              <a:rPr lang="en-MY" sz="3200">
                <a:latin typeface="Arial"/>
                <a:ea typeface="Arial"/>
                <a:cs typeface="Arial"/>
                <a:sym typeface="Arial"/>
              </a:rPr>
              <a:t>What is something special or unique about you?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MY" sz="3200">
                <a:latin typeface="Arial"/>
                <a:ea typeface="Arial"/>
                <a:cs typeface="Arial"/>
                <a:sym typeface="Arial"/>
              </a:rPr>
              <a:t>What are your favourite hobbies or things to do?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MY" sz="3200">
                <a:latin typeface="Arial"/>
                <a:ea typeface="Arial"/>
                <a:cs typeface="Arial"/>
                <a:sym typeface="Arial"/>
              </a:rPr>
              <a:t>What usually makes you happy?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MY" sz="3200">
                <a:latin typeface="Arial"/>
                <a:ea typeface="Arial"/>
                <a:cs typeface="Arial"/>
                <a:sym typeface="Arial"/>
              </a:rPr>
              <a:t>Do you have any brothers, sisters, or pets?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MY" sz="3200">
                <a:latin typeface="Arial"/>
                <a:ea typeface="Arial"/>
                <a:cs typeface="Arial"/>
                <a:sym typeface="Arial"/>
              </a:rPr>
              <a:t>What’s one thing you’d like me to know about you?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MY" sz="3200">
                <a:latin typeface="Arial"/>
                <a:ea typeface="Arial"/>
                <a:cs typeface="Arial"/>
                <a:sym typeface="Arial"/>
              </a:rPr>
              <a:t>How are you feeling about being in this class?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MY" sz="3200">
                <a:latin typeface="Arial"/>
                <a:ea typeface="Arial"/>
                <a:cs typeface="Arial"/>
                <a:sym typeface="Arial"/>
              </a:rPr>
              <a:t>Choose </a:t>
            </a:r>
            <a:r>
              <a:rPr b="1" lang="en-MY" sz="3200">
                <a:latin typeface="Arial"/>
                <a:ea typeface="Arial"/>
                <a:cs typeface="Arial"/>
                <a:sym typeface="Arial"/>
              </a:rPr>
              <a:t>3 words</a:t>
            </a:r>
            <a:r>
              <a:rPr lang="en-MY" sz="3200">
                <a:latin typeface="Arial"/>
                <a:ea typeface="Arial"/>
                <a:cs typeface="Arial"/>
                <a:sym typeface="Arial"/>
              </a:rPr>
              <a:t> that best describe you!</a:t>
            </a:r>
            <a:br>
              <a:rPr lang="en-MY" sz="3200">
                <a:latin typeface="Arial"/>
                <a:ea typeface="Arial"/>
                <a:cs typeface="Arial"/>
                <a:sym typeface="Arial"/>
              </a:rPr>
            </a:b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975"/>
          </a:p>
          <a:p>
            <a:pPr indent="-381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</a:pPr>
            <a:r>
              <a:t/>
            </a:r>
            <a:endParaRPr sz="3975"/>
          </a:p>
        </p:txBody>
      </p:sp>
      <p:pic>
        <p:nvPicPr>
          <p:cNvPr descr="This timer counts down silently until it reaches 0:00, then a police siren sounds to alert you that time is up." id="269" name="Google Shape;269;g2f1f16da010_0_204" title="10 Minute Timer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8825" y="273100"/>
            <a:ext cx="2913175" cy="163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D 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D 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2021-08-22T11:08:40Z</dcterms:created>
  <dc:creator>Madhiyalagan A/L Krishnan</dc:creator>
</cp:coreProperties>
</file>