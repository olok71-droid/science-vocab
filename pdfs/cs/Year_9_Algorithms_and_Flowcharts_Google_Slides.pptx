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c7S5NfMV3Ee/kUTXuk6GbJNS0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Play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72a53309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72a53309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72a53309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72a53309e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72a53309e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72a53309e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72a53309e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72a53309e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72a53309e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7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31520" y="1234440"/>
            <a:ext cx="5852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4800"/>
              <a:buFont typeface="Play"/>
              <a:buNone/>
            </a:pPr>
            <a:r>
              <a:rPr b="1" i="0" lang="en-US" sz="4800" u="none" cap="none" strike="noStrike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Algorithms &amp;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4800"/>
              <a:buFont typeface="Play"/>
              <a:buNone/>
            </a:pPr>
            <a:r>
              <a:rPr b="1" i="0" lang="en-US" sz="4800" u="none" cap="none" strike="noStrike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Flowcharts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77240" y="28803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Year 9 Computing Lesson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77240" y="3657600"/>
            <a:ext cx="3977640" cy="6858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41832" y="3767328"/>
            <a:ext cx="3648456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Plan → Diagram → Code → Test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903720" y="1143000"/>
            <a:ext cx="1600200" cy="502920"/>
          </a:xfrm>
          <a:prstGeom prst="roundRect">
            <a:avLst>
              <a:gd fmla="val 21818" name="adj"/>
            </a:avLst>
          </a:prstGeom>
          <a:solidFill>
            <a:srgbClr val="DFF7EC"/>
          </a:solidFill>
          <a:ln cap="flat" cmpd="sng" w="15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068312" y="1252728"/>
            <a:ext cx="127101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8503920" y="1389888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" name="Google Shape;23;p1"/>
          <p:cNvSpPr/>
          <p:nvPr/>
        </p:nvSpPr>
        <p:spPr>
          <a:xfrm>
            <a:off x="9235440" y="1143000"/>
            <a:ext cx="1600200" cy="502920"/>
          </a:xfrm>
          <a:prstGeom prst="roundRect">
            <a:avLst>
              <a:gd fmla="val 21818" name="adj"/>
            </a:avLst>
          </a:prstGeom>
          <a:solidFill>
            <a:srgbClr val="DDF0FF"/>
          </a:solidFill>
          <a:ln cap="flat" cmpd="sng" w="152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9400032" y="1252728"/>
            <a:ext cx="127101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0040112" y="1645920"/>
            <a:ext cx="0" cy="640080"/>
          </a:xfrm>
          <a:prstGeom prst="straightConnector1">
            <a:avLst/>
          </a:prstGeom>
          <a:noFill/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" name="Google Shape;26;p1"/>
          <p:cNvSpPr/>
          <p:nvPr/>
        </p:nvSpPr>
        <p:spPr>
          <a:xfrm>
            <a:off x="9235440" y="2286000"/>
            <a:ext cx="1600200" cy="502920"/>
          </a:xfrm>
          <a:prstGeom prst="roundRect">
            <a:avLst>
              <a:gd fmla="val 21818" name="adj"/>
            </a:avLst>
          </a:prstGeom>
          <a:solidFill>
            <a:srgbClr val="FFF8E7"/>
          </a:solidFill>
          <a:ln cap="flat" cmpd="sng" w="152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9400032" y="2395728"/>
            <a:ext cx="127101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"/>
          <p:cNvCxnSpPr/>
          <p:nvPr/>
        </p:nvCxnSpPr>
        <p:spPr>
          <a:xfrm rot="10800000">
            <a:off x="8503920" y="2542032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" name="Google Shape;29;p1"/>
          <p:cNvSpPr/>
          <p:nvPr/>
        </p:nvSpPr>
        <p:spPr>
          <a:xfrm>
            <a:off x="6858000" y="2084832"/>
            <a:ext cx="1691640" cy="914400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7059168" y="2295144"/>
            <a:ext cx="1289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DECIDE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7708392" y="2999232"/>
            <a:ext cx="0" cy="658368"/>
          </a:xfrm>
          <a:prstGeom prst="straightConnector1">
            <a:avLst/>
          </a:prstGeom>
          <a:noFill/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" name="Google Shape;32;p1"/>
          <p:cNvSpPr/>
          <p:nvPr/>
        </p:nvSpPr>
        <p:spPr>
          <a:xfrm>
            <a:off x="6903720" y="3657600"/>
            <a:ext cx="1600200" cy="502920"/>
          </a:xfrm>
          <a:prstGeom prst="roundRect">
            <a:avLst>
              <a:gd fmla="val 21818" name="adj"/>
            </a:avLst>
          </a:prstGeom>
          <a:solidFill>
            <a:srgbClr val="DDF0FF"/>
          </a:solidFill>
          <a:ln cap="flat" cmpd="sng" w="152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068312" y="3767328"/>
            <a:ext cx="127101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Year 9 Computing • Algorithms &amp; Flowcharts • 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Lesson Big Question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 this question to connect every activity in today’s lesson.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31520" y="1508760"/>
            <a:ext cx="10698480" cy="1874520"/>
          </a:xfrm>
          <a:prstGeom prst="roundRect">
            <a:avLst>
              <a:gd fmla="val 10732" name="adj"/>
            </a:avLst>
          </a:prstGeom>
          <a:solidFill>
            <a:srgbClr val="123047"/>
          </a:solidFill>
          <a:ln cap="flat" cmpd="sng" w="12700">
            <a:solidFill>
              <a:srgbClr val="123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097280" y="1847088"/>
            <a:ext cx="9966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can we plan clear steps so a computer can solve a problem correctly?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22960" y="4069080"/>
            <a:ext cx="3474720" cy="1234440"/>
          </a:xfrm>
          <a:prstGeom prst="roundRect">
            <a:avLst>
              <a:gd fmla="val 10370" name="adj"/>
            </a:avLst>
          </a:prstGeom>
          <a:solidFill>
            <a:srgbClr val="F4F6F8"/>
          </a:solidFill>
          <a:ln cap="flat" cmpd="sng" w="12700">
            <a:solidFill>
              <a:srgbClr val="F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22960" y="4069080"/>
            <a:ext cx="109728" cy="1234440"/>
          </a:xfrm>
          <a:prstGeom prst="rect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1078992" y="4215384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78992" y="466344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Understand what algorithms and flowcharts are, and use them to solve simple problems before writing code.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434840" y="4069080"/>
            <a:ext cx="3474720" cy="1234440"/>
          </a:xfrm>
          <a:prstGeom prst="roundRect">
            <a:avLst>
              <a:gd fmla="val 10370" name="adj"/>
            </a:avLst>
          </a:prstGeom>
          <a:solidFill>
            <a:srgbClr val="FFF8E7"/>
          </a:solidFill>
          <a:ln cap="flat" cmpd="sng" w="12700">
            <a:solidFill>
              <a:srgbClr val="FFF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434840" y="4069080"/>
            <a:ext cx="109728" cy="123444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690872" y="4215384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690872" y="466344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Computers follow instructions exactly. Clear planning helps us avoid mistakes and test our solution.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046720" y="4069080"/>
            <a:ext cx="3337560" cy="1234440"/>
          </a:xfrm>
          <a:prstGeom prst="roundRect">
            <a:avLst>
              <a:gd fmla="val 10370" name="adj"/>
            </a:avLst>
          </a:prstGeom>
          <a:solidFill>
            <a:srgbClr val="DFF7EC"/>
          </a:solidFill>
          <a:ln cap="flat" cmpd="sng" w="12700">
            <a:solidFill>
              <a:srgbClr val="DFF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8046720" y="4069080"/>
            <a:ext cx="109728" cy="123444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8302752" y="4215384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Today’s outcome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302752" y="466344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By the end, you will write an algorithm and draw a correct flowchart for a simple calculation.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Year 9 Computing • Algorithms &amp; Flowcharts • 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BFD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Learning Outcomes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By the end of this lesson, students should be able to: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22960" y="1417320"/>
            <a:ext cx="594360" cy="594360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822960" y="1545336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645920" y="1435608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0" y="1490472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what an algorithm is and why it is used.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22960" y="2532888"/>
            <a:ext cx="594360" cy="594360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22960" y="2660904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645920" y="255117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Identify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657600" y="2606040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main flowchart symbols and their meanings.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22960" y="3648456"/>
            <a:ext cx="594360" cy="59436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822960" y="3776472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645920" y="366674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657600" y="3721608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an algorithm and flowchart for a simple calculation.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22960" y="4764024"/>
            <a:ext cx="594360" cy="594360"/>
          </a:xfrm>
          <a:prstGeom prst="ellipse">
            <a:avLst/>
          </a:prstGeom>
          <a:solidFill>
            <a:srgbClr val="7B61FF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2296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645920" y="4782312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657600" y="4837176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whether the steps are logical, clear and testable.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Year 9 Computing • Algorithms &amp; Flowcharts • 3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Success Criteria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 these levels to check progress during the lesson.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31520" y="1508760"/>
            <a:ext cx="3429000" cy="3977640"/>
          </a:xfrm>
          <a:prstGeom prst="roundRect">
            <a:avLst>
              <a:gd fmla="val 3733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31520" y="1508760"/>
            <a:ext cx="109728" cy="397764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987552" y="165506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Meeting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987552" y="2103120"/>
            <a:ext cx="301752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 can say what an algorithm is.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 can match common flowchart symbols to their purpose.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 can follow a simple algorithm.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370832" y="1508760"/>
            <a:ext cx="3429000" cy="3977640"/>
          </a:xfrm>
          <a:prstGeom prst="roundRect">
            <a:avLst>
              <a:gd fmla="val 3733" name="adj"/>
            </a:avLst>
          </a:prstGeom>
          <a:solidFill>
            <a:srgbClr val="EAF4FF"/>
          </a:solidFill>
          <a:ln cap="flat" cmpd="sng" w="12700">
            <a:solidFill>
              <a:srgbClr val="EA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370832" y="1508760"/>
            <a:ext cx="109728" cy="3977640"/>
          </a:xfrm>
          <a:prstGeom prst="rect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626864" y="165506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Expected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626864" y="2103120"/>
            <a:ext cx="301752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 can write ordered steps for a simple problem.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 can choose correct symbols for input, process, output and decision.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 can draw a flowchart with clear arrows.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010144" y="1508760"/>
            <a:ext cx="3429000" cy="3977640"/>
          </a:xfrm>
          <a:prstGeom prst="roundRect">
            <a:avLst>
              <a:gd fmla="val 3733" name="adj"/>
            </a:avLst>
          </a:prstGeom>
          <a:solidFill>
            <a:srgbClr val="E9FAF2"/>
          </a:solidFill>
          <a:ln cap="flat" cmpd="sng" w="12700">
            <a:solidFill>
              <a:srgbClr val="E9FA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8010144" y="1508760"/>
            <a:ext cx="109728" cy="397764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8266176" y="165506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Exceeding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266176" y="2103120"/>
            <a:ext cx="301752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 can test my algorithm using sample values.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 can improve steps when there is an error.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 can explain why my flowchart is efficient and easy to follow.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Year 9 Computing • Algorithms &amp; Flowcharts • 4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From Problem to Program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simple process for solving a problem with a computer.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85800" y="2148840"/>
            <a:ext cx="1783080" cy="960120"/>
          </a:xfrm>
          <a:prstGeom prst="roundRect">
            <a:avLst>
              <a:gd fmla="val 11429" name="adj"/>
            </a:avLst>
          </a:prstGeom>
          <a:solidFill>
            <a:srgbClr val="DFF7EC"/>
          </a:solidFill>
          <a:ln cap="flat" cmpd="sng" w="15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850392" y="2258568"/>
            <a:ext cx="1453896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Analyse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5"/>
          <p:cNvCxnSpPr/>
          <p:nvPr/>
        </p:nvCxnSpPr>
        <p:spPr>
          <a:xfrm>
            <a:off x="2468880" y="2633472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" name="Google Shape;111;p5"/>
          <p:cNvSpPr/>
          <p:nvPr/>
        </p:nvSpPr>
        <p:spPr>
          <a:xfrm>
            <a:off x="2971800" y="2148840"/>
            <a:ext cx="1783080" cy="960120"/>
          </a:xfrm>
          <a:prstGeom prst="roundRect">
            <a:avLst>
              <a:gd fmla="val 11429" name="adj"/>
            </a:avLst>
          </a:prstGeom>
          <a:solidFill>
            <a:srgbClr val="DDF0FF"/>
          </a:solidFill>
          <a:ln cap="flat" cmpd="sng" w="152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3136392" y="2258568"/>
            <a:ext cx="1453896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Write an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5"/>
          <p:cNvCxnSpPr/>
          <p:nvPr/>
        </p:nvCxnSpPr>
        <p:spPr>
          <a:xfrm>
            <a:off x="4754880" y="2633472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" name="Google Shape;114;p5"/>
          <p:cNvSpPr/>
          <p:nvPr/>
        </p:nvSpPr>
        <p:spPr>
          <a:xfrm>
            <a:off x="5257800" y="2148840"/>
            <a:ext cx="1783080" cy="960120"/>
          </a:xfrm>
          <a:prstGeom prst="roundRect">
            <a:avLst>
              <a:gd fmla="val 11429" name="adj"/>
            </a:avLst>
          </a:prstGeom>
          <a:solidFill>
            <a:srgbClr val="DFF7EC"/>
          </a:solidFill>
          <a:ln cap="flat" cmpd="sng" w="15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5422392" y="2258568"/>
            <a:ext cx="1453896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Draw 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flowchart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5"/>
          <p:cNvCxnSpPr/>
          <p:nvPr/>
        </p:nvCxnSpPr>
        <p:spPr>
          <a:xfrm>
            <a:off x="7040880" y="2633472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" name="Google Shape;117;p5"/>
          <p:cNvSpPr/>
          <p:nvPr/>
        </p:nvSpPr>
        <p:spPr>
          <a:xfrm>
            <a:off x="7543800" y="2148840"/>
            <a:ext cx="1783080" cy="960120"/>
          </a:xfrm>
          <a:prstGeom prst="roundRect">
            <a:avLst>
              <a:gd fmla="val 11429" name="adj"/>
            </a:avLst>
          </a:prstGeom>
          <a:solidFill>
            <a:srgbClr val="DDF0FF"/>
          </a:solidFill>
          <a:ln cap="flat" cmpd="sng" w="152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708392" y="2258568"/>
            <a:ext cx="1453896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Convert to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5"/>
          <p:cNvCxnSpPr/>
          <p:nvPr/>
        </p:nvCxnSpPr>
        <p:spPr>
          <a:xfrm>
            <a:off x="9326880" y="2633472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5"/>
          <p:cNvSpPr/>
          <p:nvPr/>
        </p:nvSpPr>
        <p:spPr>
          <a:xfrm>
            <a:off x="9829800" y="2148840"/>
            <a:ext cx="1783080" cy="960120"/>
          </a:xfrm>
          <a:prstGeom prst="roundRect">
            <a:avLst>
              <a:gd fmla="val 11429" name="adj"/>
            </a:avLst>
          </a:prstGeom>
          <a:solidFill>
            <a:srgbClr val="DFF7EC"/>
          </a:solidFill>
          <a:ln cap="flat" cmpd="sng" w="15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9994392" y="2258568"/>
            <a:ext cx="1453896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Run &amp; test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143000" y="40233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Good programmers do not start by coding immediately. They first understand the problem, design the steps, then test the result.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Year 9 Computing • Algorithms &amp; Flowcharts • 5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What is an Algorithm?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An algorithm is a set of clear, ordered steps to solve a specific problem.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77240" y="1508760"/>
            <a:ext cx="4709160" cy="4069080"/>
          </a:xfrm>
          <a:prstGeom prst="roundRect">
            <a:avLst>
              <a:gd fmla="val 3596" name="adj"/>
            </a:avLst>
          </a:prstGeom>
          <a:solidFill>
            <a:srgbClr val="123047"/>
          </a:solidFill>
          <a:ln cap="flat" cmpd="sng" w="12700">
            <a:solidFill>
              <a:srgbClr val="123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1143000" y="182880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 Checklist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234440" y="251460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Starts clearly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234440" y="30175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Uses ordered steps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234440" y="35204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Uses exact instructions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234440" y="402336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Produces an answer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234440" y="45262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Can be tested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400800" y="1691640"/>
            <a:ext cx="4297680" cy="1828800"/>
          </a:xfrm>
          <a:prstGeom prst="roundRect">
            <a:avLst>
              <a:gd fmla="val 6000" name="adj"/>
            </a:avLst>
          </a:prstGeom>
          <a:solidFill>
            <a:srgbClr val="FFF8E7"/>
          </a:solidFill>
          <a:ln cap="flat" cmpd="sng" w="15225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565392" y="1801368"/>
            <a:ext cx="3968496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Example: Make a sandwich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 Get bread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2. Add filling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3. Close sandwich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4. Serve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400800" y="3977640"/>
            <a:ext cx="4297680" cy="1143000"/>
          </a:xfrm>
          <a:prstGeom prst="roundRect">
            <a:avLst>
              <a:gd fmla="val 9600" name="adj"/>
            </a:avLst>
          </a:prstGeom>
          <a:solidFill>
            <a:srgbClr val="DFF7EC"/>
          </a:solidFill>
          <a:ln cap="flat" cmpd="sng" w="15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565392" y="4087368"/>
            <a:ext cx="3968496" cy="923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In computing, each step must be precise because the computer cannot guess what we mean.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Year 9 Computing • Algorithms &amp; Flowcharts • 6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72a53309e_0_0"/>
          <p:cNvSpPr txBox="1"/>
          <p:nvPr/>
        </p:nvSpPr>
        <p:spPr>
          <a:xfrm>
            <a:off x="1505100" y="1060100"/>
            <a:ext cx="8755800" cy="45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How do you make a cup of tea?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Let students give instructions: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Boil water.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Put tea bag in cup.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Pour hot water.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Add milk.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Add sugar.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Stir.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Then explain: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An algorithm is a step-by-step set of instructions used to solve a problem or complete a task.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This makes the concept less abstract.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What is a Flowchart?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flowchart is a visual diagram that shows the steps of a solution.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914400" y="1600200"/>
            <a:ext cx="1645920" cy="502920"/>
          </a:xfrm>
          <a:prstGeom prst="roundRect">
            <a:avLst>
              <a:gd fmla="val 21818" name="adj"/>
            </a:avLst>
          </a:prstGeom>
          <a:solidFill>
            <a:srgbClr val="DFF7EC"/>
          </a:solidFill>
          <a:ln cap="flat" cmpd="sng" w="15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078992" y="1709928"/>
            <a:ext cx="131673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7"/>
          <p:cNvCxnSpPr/>
          <p:nvPr/>
        </p:nvCxnSpPr>
        <p:spPr>
          <a:xfrm>
            <a:off x="2560320" y="1856232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" name="Google Shape;159;p7"/>
          <p:cNvSpPr/>
          <p:nvPr/>
        </p:nvSpPr>
        <p:spPr>
          <a:xfrm>
            <a:off x="3246120" y="1600200"/>
            <a:ext cx="1645920" cy="502920"/>
          </a:xfrm>
          <a:prstGeom prst="roundRect">
            <a:avLst>
              <a:gd fmla="val 21818" name="adj"/>
            </a:avLst>
          </a:prstGeom>
          <a:solidFill>
            <a:srgbClr val="DDF0FF"/>
          </a:solidFill>
          <a:ln cap="flat" cmpd="sng" w="152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3410712" y="1709928"/>
            <a:ext cx="131673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7"/>
          <p:cNvCxnSpPr/>
          <p:nvPr/>
        </p:nvCxnSpPr>
        <p:spPr>
          <a:xfrm>
            <a:off x="4069080" y="2103120"/>
            <a:ext cx="0" cy="640080"/>
          </a:xfrm>
          <a:prstGeom prst="straightConnector1">
            <a:avLst/>
          </a:prstGeom>
          <a:noFill/>
          <a:ln cap="flat" cmpd="sng" w="254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" name="Google Shape;162;p7"/>
          <p:cNvSpPr/>
          <p:nvPr/>
        </p:nvSpPr>
        <p:spPr>
          <a:xfrm>
            <a:off x="3246120" y="2743200"/>
            <a:ext cx="1645920" cy="502920"/>
          </a:xfrm>
          <a:prstGeom prst="roundRect">
            <a:avLst>
              <a:gd fmla="val 21818" name="adj"/>
            </a:avLst>
          </a:prstGeom>
          <a:solidFill>
            <a:srgbClr val="FFF8E7"/>
          </a:solidFill>
          <a:ln cap="flat" cmpd="sng" w="152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3410712" y="2852928"/>
            <a:ext cx="131673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7"/>
          <p:cNvCxnSpPr/>
          <p:nvPr/>
        </p:nvCxnSpPr>
        <p:spPr>
          <a:xfrm>
            <a:off x="4892040" y="2999232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" name="Google Shape;165;p7"/>
          <p:cNvSpPr/>
          <p:nvPr/>
        </p:nvSpPr>
        <p:spPr>
          <a:xfrm>
            <a:off x="5532120" y="2514600"/>
            <a:ext cx="1828800" cy="1005840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5733288" y="2724912"/>
            <a:ext cx="14264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7"/>
          <p:cNvCxnSpPr/>
          <p:nvPr/>
        </p:nvCxnSpPr>
        <p:spPr>
          <a:xfrm>
            <a:off x="7360920" y="2999232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" name="Google Shape;168;p7"/>
          <p:cNvSpPr/>
          <p:nvPr/>
        </p:nvSpPr>
        <p:spPr>
          <a:xfrm>
            <a:off x="8092440" y="2743200"/>
            <a:ext cx="1645920" cy="502920"/>
          </a:xfrm>
          <a:prstGeom prst="roundRect">
            <a:avLst>
              <a:gd fmla="val 21818" name="adj"/>
            </a:avLst>
          </a:prstGeom>
          <a:solidFill>
            <a:srgbClr val="DDF0FF"/>
          </a:solidFill>
          <a:ln cap="flat" cmpd="sng" w="152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8257032" y="2852928"/>
            <a:ext cx="131673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7"/>
          <p:cNvCxnSpPr/>
          <p:nvPr/>
        </p:nvCxnSpPr>
        <p:spPr>
          <a:xfrm>
            <a:off x="9738360" y="2999232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" name="Google Shape;171;p7"/>
          <p:cNvSpPr/>
          <p:nvPr/>
        </p:nvSpPr>
        <p:spPr>
          <a:xfrm>
            <a:off x="10378440" y="2743200"/>
            <a:ext cx="1234440" cy="502920"/>
          </a:xfrm>
          <a:prstGeom prst="roundRect">
            <a:avLst>
              <a:gd fmla="val 21818" name="adj"/>
            </a:avLst>
          </a:prstGeom>
          <a:solidFill>
            <a:srgbClr val="DFF7EC"/>
          </a:solidFill>
          <a:ln cap="flat" cmpd="sng" w="15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0543032" y="2852928"/>
            <a:ext cx="90525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914400" y="466344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Flowcharts make logic easier to read, discuss and debug before coding.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Year 9 Computing • Algorithms &amp; Flowcharts • 7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Common Flowchart Symbols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Choose the symbol based on what the step is doing.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49808" y="1508760"/>
            <a:ext cx="3291840" cy="1417320"/>
          </a:xfrm>
          <a:prstGeom prst="roundRect">
            <a:avLst>
              <a:gd fmla="val 8387" name="adj"/>
            </a:avLst>
          </a:prstGeom>
          <a:solidFill>
            <a:srgbClr val="DFF7EC"/>
          </a:solidFill>
          <a:ln cap="flat" cmpd="sng" w="15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932688" y="164592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Start / 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932688" y="202996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Oval shape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932688" y="23317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Terminator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44568" y="1508760"/>
            <a:ext cx="3291840" cy="1417320"/>
          </a:xfrm>
          <a:prstGeom prst="roundRect">
            <a:avLst>
              <a:gd fmla="val 8387" name="adj"/>
            </a:avLst>
          </a:prstGeom>
          <a:solidFill>
            <a:srgbClr val="DDF0FF"/>
          </a:solidFill>
          <a:ln cap="flat" cmpd="sng" w="152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727448" y="164592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Input / Output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727448" y="202996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Parallelogram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727448" y="23317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Read or print data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8339328" y="1508760"/>
            <a:ext cx="3291840" cy="1417320"/>
          </a:xfrm>
          <a:prstGeom prst="roundRect">
            <a:avLst>
              <a:gd fmla="val 8387" name="adj"/>
            </a:avLst>
          </a:prstGeom>
          <a:solidFill>
            <a:srgbClr val="FFF8E7"/>
          </a:solidFill>
          <a:ln cap="flat" cmpd="sng" w="152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8522208" y="164592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522208" y="202996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Rectangle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8522208" y="23317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Calculate or store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749808" y="3474720"/>
            <a:ext cx="3291840" cy="1417320"/>
          </a:xfrm>
          <a:prstGeom prst="roundRect">
            <a:avLst>
              <a:gd fmla="val 8387" name="adj"/>
            </a:avLst>
          </a:prstGeom>
          <a:solidFill>
            <a:srgbClr val="F4F6F8"/>
          </a:solidFill>
          <a:ln cap="flat" cmpd="sng" w="152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932688" y="361188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932688" y="39959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Diamond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932688" y="429768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Question: yes/no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544568" y="3474720"/>
            <a:ext cx="3291840" cy="1417320"/>
          </a:xfrm>
          <a:prstGeom prst="roundRect">
            <a:avLst>
              <a:gd fmla="val 8387" name="adj"/>
            </a:avLst>
          </a:prstGeom>
          <a:solidFill>
            <a:srgbClr val="FFFFFF"/>
          </a:solidFill>
          <a:ln cap="flat" cmpd="sng" w="15225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727448" y="361188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Flow Line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727448" y="39959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Arrow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727448" y="429768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Shows direction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8339328" y="3474720"/>
            <a:ext cx="3291840" cy="1417320"/>
          </a:xfrm>
          <a:prstGeom prst="roundRect">
            <a:avLst>
              <a:gd fmla="val 8387" name="adj"/>
            </a:avLst>
          </a:prstGeom>
          <a:solidFill>
            <a:srgbClr val="F4F6F8"/>
          </a:solidFill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8522208" y="361188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Connector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8522208" y="39959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Circle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8522208" y="429768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Connects parts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Year 9 Computing • Algorithms &amp; Flowcharts • 8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f72a53309e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0150" y="152400"/>
            <a:ext cx="4679083" cy="6553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Worked Example: Add Two Numbers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Algorithm and flowchart for a simple calculation.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005840" y="1874520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 Start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005840" y="2377440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2. Read a, b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1005840" y="2880360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3. sum = a + b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005840" y="3383280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4. Print sum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005840" y="3886200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5. 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Year 9 Computing • Algorithms &amp; Flowcharts • 9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9335" y="969457"/>
            <a:ext cx="3729489" cy="5382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f72a53309e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0825" y="200375"/>
            <a:ext cx="890991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Main Activity: Create Your Own Flowchart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 diagrams.net or paper to create a flowchart for one problem.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822960" y="1325880"/>
            <a:ext cx="5577840" cy="484632"/>
          </a:xfrm>
          <a:prstGeom prst="roundRect">
            <a:avLst>
              <a:gd fmla="val 15094" name="adj"/>
            </a:avLst>
          </a:prstGeom>
          <a:solidFill>
            <a:srgbClr val="F4F6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1051560" y="1444752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 Calculate the area of a rectangle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822960" y="2020824"/>
            <a:ext cx="5577840" cy="484632"/>
          </a:xfrm>
          <a:prstGeom prst="roundRect">
            <a:avLst>
              <a:gd fmla="val 1509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1051560" y="2139696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2. Convert Celsius to Fahrenheit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822960" y="2715768"/>
            <a:ext cx="5577840" cy="484632"/>
          </a:xfrm>
          <a:prstGeom prst="roundRect">
            <a:avLst>
              <a:gd fmla="val 15094" name="adj"/>
            </a:avLst>
          </a:prstGeom>
          <a:solidFill>
            <a:srgbClr val="F4F6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1051560" y="2834640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3. Find the average of three numbers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822960" y="3410712"/>
            <a:ext cx="5577840" cy="484632"/>
          </a:xfrm>
          <a:prstGeom prst="roundRect">
            <a:avLst>
              <a:gd fmla="val 1509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1051560" y="352958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4. Calculate simple interest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822960" y="4105656"/>
            <a:ext cx="5577840" cy="484632"/>
          </a:xfrm>
          <a:prstGeom prst="roundRect">
            <a:avLst>
              <a:gd fmla="val 15094" name="adj"/>
            </a:avLst>
          </a:prstGeom>
          <a:solidFill>
            <a:srgbClr val="F4F6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1051560" y="4224528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5. Calculate discount and total price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7315200" y="1325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Your flowchart must include: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7452360" y="192024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✓ Start and 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7452360" y="242316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✓ Input(s)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7452360" y="292608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✓ Process/calculation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7452360" y="342900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✓ Output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7452360" y="393192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✓ Correct arrows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Year 9 Computing • Algorithms &amp; Flowcharts • 11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Challenge Tasks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Choose a challenge when your main activity is complete.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914400" y="1645920"/>
            <a:ext cx="4572000" cy="1828800"/>
          </a:xfrm>
          <a:prstGeom prst="roundRect">
            <a:avLst>
              <a:gd fmla="val 6000" name="adj"/>
            </a:avLst>
          </a:prstGeom>
          <a:solidFill>
            <a:srgbClr val="FFF8E7"/>
          </a:solidFill>
          <a:ln cap="flat" cmpd="sng" w="152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1078992" y="1755648"/>
            <a:ext cx="4242816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Challenge 1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Draw a flowchart to multiply 4 numbers and print the answer.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6629400" y="1645920"/>
            <a:ext cx="4572000" cy="1828800"/>
          </a:xfrm>
          <a:prstGeom prst="roundRect">
            <a:avLst>
              <a:gd fmla="val 6000" name="adj"/>
            </a:avLst>
          </a:prstGeom>
          <a:solidFill>
            <a:srgbClr val="DFF7EC"/>
          </a:solidFill>
          <a:ln cap="flat" cmpd="sng" w="15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6793992" y="1755648"/>
            <a:ext cx="4242816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Challenge 2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Draw a flowchart to find the perimeter of a square.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1188720" y="434340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7B61FF"/>
                </a:solidFill>
                <a:latin typeface="Arial"/>
                <a:ea typeface="Arial"/>
                <a:cs typeface="Arial"/>
                <a:sym typeface="Arial"/>
              </a:rPr>
              <a:t>Stretch: Add a decision step, such as checking whether the input is valid before calculating.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Year 9 Computing • Algorithms &amp; Flowcharts • 12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3047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"/>
          <p:cNvSpPr/>
          <p:nvPr/>
        </p:nvSpPr>
        <p:spPr>
          <a:xfrm>
            <a:off x="731520" y="64008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Exit Ticket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758952" y="122529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CFE8FF"/>
                </a:solidFill>
                <a:latin typeface="Arial"/>
                <a:ea typeface="Arial"/>
                <a:cs typeface="Arial"/>
                <a:sym typeface="Arial"/>
              </a:rPr>
              <a:t>Answer these before you leave: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914400" y="1874520"/>
            <a:ext cx="10241280" cy="713232"/>
          </a:xfrm>
          <a:prstGeom prst="roundRect">
            <a:avLst>
              <a:gd fmla="val 15385" name="adj"/>
            </a:avLst>
          </a:prstGeom>
          <a:solidFill>
            <a:srgbClr val="FFFFFF">
              <a:alpha val="96078"/>
            </a:srgbClr>
          </a:solidFill>
          <a:ln cap="flat" cmpd="sng" w="12700">
            <a:solidFill>
              <a:srgbClr val="CF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1143000" y="2075688"/>
            <a:ext cx="9784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1. What is one difference between an algorithm and a flowchart?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914400" y="2953512"/>
            <a:ext cx="10241280" cy="713232"/>
          </a:xfrm>
          <a:prstGeom prst="roundRect">
            <a:avLst>
              <a:gd fmla="val 15385" name="adj"/>
            </a:avLst>
          </a:prstGeom>
          <a:solidFill>
            <a:srgbClr val="FFFFFF">
              <a:alpha val="96078"/>
            </a:srgbClr>
          </a:solidFill>
          <a:ln cap="flat" cmpd="sng" w="12700">
            <a:solidFill>
              <a:srgbClr val="CF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1143000" y="3154680"/>
            <a:ext cx="9784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2. Which symbol is used for a decision?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914400" y="4032504"/>
            <a:ext cx="10241280" cy="713232"/>
          </a:xfrm>
          <a:prstGeom prst="roundRect">
            <a:avLst>
              <a:gd fmla="val 15385" name="adj"/>
            </a:avLst>
          </a:prstGeom>
          <a:solidFill>
            <a:srgbClr val="FFFFFF">
              <a:alpha val="96078"/>
            </a:srgbClr>
          </a:solidFill>
          <a:ln cap="flat" cmpd="sng" w="12700">
            <a:solidFill>
              <a:srgbClr val="CF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1143000" y="4233672"/>
            <a:ext cx="9784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3. How did you test or improve your flowchart today?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Year 9 Computing • Algorithms &amp; Flowcharts • 13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2026-08-16T02:49:04Z</dcterms:created>
  <dc:creator>OpenAI</dc:creator>
</cp:coreProperties>
</file>