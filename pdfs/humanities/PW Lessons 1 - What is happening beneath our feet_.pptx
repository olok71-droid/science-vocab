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3" r:id="rId13"/>
    <p:sldId id="267" r:id="rId14"/>
    <p:sldId id="269" r:id="rId15"/>
    <p:sldId id="270" r:id="rId16"/>
    <p:sldId id="271" r:id="rId17"/>
    <p:sldId id="272" r:id="rId18"/>
  </p:sldIdLst>
  <p:sldSz cx="9144000" cy="5143500" type="screen16x9"/>
  <p:notesSz cx="6858000" cy="9144000"/>
  <p:embeddedFontLst>
    <p:embeddedFont>
      <p:font typeface="Alfa Slab One" pitchFamily="2" charset="77"/>
      <p:regular r:id="rId20"/>
    </p:embeddedFont>
    <p:embeddedFont>
      <p:font typeface="Baumans" panose="02000506020000020003"/>
      <p:regular r:id="rId21"/>
    </p:embeddedFont>
    <p:embeddedFont>
      <p:font typeface="Comic Sans MS" panose="030F0902030302020204" pitchFamily="66" charset="0"/>
      <p:regular r:id="rId22"/>
    </p:embeddedFont>
    <p:embeddedFont>
      <p:font typeface="Delius" panose="02000603000000000000" pitchFamily="2" charset="0"/>
      <p:regular r:id="rId23"/>
    </p:embeddedFont>
    <p:embeddedFont>
      <p:font typeface="Edu TAS Beginner" pitchFamily="2" charset="0"/>
      <p:regular r:id="rId24"/>
      <p:bold r:id="rId25"/>
    </p:embeddedFont>
    <p:embeddedFont>
      <p:font typeface="Finger Paint" panose="020B0506040000020004" pitchFamily="34" charset="0"/>
      <p:regular r:id="rId26"/>
    </p:embeddedFont>
    <p:embeddedFont>
      <p:font typeface="Luckiest Guy" panose="02000506000000020004" pitchFamily="2" charset="0"/>
      <p:regular r:id="rId27"/>
    </p:embeddedFont>
    <p:embeddedFont>
      <p:font typeface="Patrick Hand" pitchFamily="2" charset="77"/>
      <p:regular r:id="rId28"/>
    </p:embeddedFont>
    <p:embeddedFont>
      <p:font typeface="Patrick Hand SC" pitchFamily="2" charset="77"/>
      <p:regular r:id="rId29"/>
    </p:embeddedFont>
    <p:embeddedFont>
      <p:font typeface="Poppins" pitchFamily="2" charset="77"/>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2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f75355d4c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f75355d4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75355d4c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f75355d4cc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f75355d4cc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f75355d4c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https://www.youtube.com/watch?v=WwiiOjyfvAU</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75355d4cc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f75355d4c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f75355d4cc_0_36:notes"/>
          <p:cNvSpPr>
            <a:spLocks noGrp="1" noRot="1" noChangeAspect="1"/>
          </p:cNvSpPr>
          <p:nvPr>
            <p:ph type="sldImg" idx="2"/>
          </p:nvPr>
        </p:nvSpPr>
        <p:spPr>
          <a:xfrm>
            <a:off x="90475" y="744538"/>
            <a:ext cx="6616800" cy="3722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g3f75355d4cc_0_36:notes"/>
          <p:cNvSpPr txBox="1">
            <a:spLocks noGrp="1"/>
          </p:cNvSpPr>
          <p:nvPr>
            <p:ph type="body" idx="1"/>
          </p:nvPr>
        </p:nvSpPr>
        <p:spPr>
          <a:xfrm>
            <a:off x="679768" y="4715153"/>
            <a:ext cx="5438100" cy="4467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a:p>
        </p:txBody>
      </p:sp>
      <p:sp>
        <p:nvSpPr>
          <p:cNvPr id="118" name="Google Shape;118;g3f75355d4cc_0_36:notes"/>
          <p:cNvSpPr txBox="1">
            <a:spLocks noGrp="1"/>
          </p:cNvSpPr>
          <p:nvPr>
            <p:ph type="sldNum" idx="12"/>
          </p:nvPr>
        </p:nvSpPr>
        <p:spPr>
          <a:xfrm>
            <a:off x="3850443" y="9428583"/>
            <a:ext cx="2945700" cy="496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a:solidFill>
                  <a:srgbClr val="000000"/>
                </a:solidFill>
                <a:latin typeface="Calibri"/>
                <a:ea typeface="Calibri"/>
                <a:cs typeface="Calibri"/>
                <a:sym typeface="Calibri"/>
              </a:rPr>
              <a:t>5</a:t>
            </a:fld>
            <a:endParaRPr sz="1200">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f75355d4cc_0_54:notes"/>
          <p:cNvSpPr>
            <a:spLocks noGrp="1" noRot="1" noChangeAspect="1"/>
          </p:cNvSpPr>
          <p:nvPr>
            <p:ph type="sldImg" idx="2"/>
          </p:nvPr>
        </p:nvSpPr>
        <p:spPr>
          <a:xfrm>
            <a:off x="90475" y="744538"/>
            <a:ext cx="6616800" cy="3722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g3f75355d4cc_0_54:notes"/>
          <p:cNvSpPr txBox="1">
            <a:spLocks noGrp="1"/>
          </p:cNvSpPr>
          <p:nvPr>
            <p:ph type="body" idx="1"/>
          </p:nvPr>
        </p:nvSpPr>
        <p:spPr>
          <a:xfrm>
            <a:off x="679768" y="4715153"/>
            <a:ext cx="5438100" cy="4467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chemeClr val="dk1"/>
              </a:solidFill>
              <a:latin typeface="Calibri"/>
              <a:ea typeface="Calibri"/>
              <a:cs typeface="Calibri"/>
              <a:sym typeface="Calibri"/>
            </a:endParaRPr>
          </a:p>
        </p:txBody>
      </p:sp>
      <p:sp>
        <p:nvSpPr>
          <p:cNvPr id="137" name="Google Shape;137;g3f75355d4cc_0_54:notes"/>
          <p:cNvSpPr txBox="1">
            <a:spLocks noGrp="1"/>
          </p:cNvSpPr>
          <p:nvPr>
            <p:ph type="sldNum" idx="12"/>
          </p:nvPr>
        </p:nvSpPr>
        <p:spPr>
          <a:xfrm>
            <a:off x="3850443" y="9428583"/>
            <a:ext cx="2945700" cy="496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a:solidFill>
                  <a:srgbClr val="000000"/>
                </a:solidFill>
                <a:latin typeface="Calibri"/>
                <a:ea typeface="Calibri"/>
                <a:cs typeface="Calibri"/>
                <a:sym typeface="Calibri"/>
              </a:rPr>
              <a:t>6</a:t>
            </a:fld>
            <a:endParaRPr sz="1200">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75355d4cc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75355d4cc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f75355d4cc_0_82:notes"/>
          <p:cNvSpPr txBox="1">
            <a:spLocks noGrp="1"/>
          </p:cNvSpPr>
          <p:nvPr>
            <p:ph type="body" idx="1"/>
          </p:nvPr>
        </p:nvSpPr>
        <p:spPr>
          <a:xfrm>
            <a:off x="685801"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dirty="0"/>
              <a:t>https://</a:t>
            </a:r>
            <a:r>
              <a:rPr lang="en" dirty="0" err="1"/>
              <a:t>dashboard.blooket.com</a:t>
            </a:r>
            <a:r>
              <a:rPr lang="en" dirty="0"/>
              <a:t>/set/68a6bf16f88a41401c497aae</a:t>
            </a:r>
            <a:endParaRPr dirty="0"/>
          </a:p>
        </p:txBody>
      </p:sp>
      <p:sp>
        <p:nvSpPr>
          <p:cNvPr id="166" name="Google Shape;166;g3f75355d4cc_0_82: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f75355d4cc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f75355d4c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75355d4cc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f75355d4cc_0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f75355d4cc_0_123:notes"/>
          <p:cNvSpPr>
            <a:spLocks noGrp="1" noRot="1" noChangeAspect="1"/>
          </p:cNvSpPr>
          <p:nvPr>
            <p:ph type="sldImg" idx="2"/>
          </p:nvPr>
        </p:nvSpPr>
        <p:spPr>
          <a:xfrm>
            <a:off x="91291" y="685838"/>
            <a:ext cx="6677100" cy="34293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3f75355d4cc_0_123:notes"/>
          <p:cNvSpPr txBox="1">
            <a:spLocks noGrp="1"/>
          </p:cNvSpPr>
          <p:nvPr>
            <p:ph type="body" idx="1"/>
          </p:nvPr>
        </p:nvSpPr>
        <p:spPr>
          <a:xfrm>
            <a:off x="686291" y="4343150"/>
            <a:ext cx="5485500" cy="41151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360"/>
              </a:spcBef>
              <a:spcAft>
                <a:spcPts val="0"/>
              </a:spcAft>
              <a:buSzPts val="1400"/>
              <a:buNone/>
            </a:pPr>
            <a:endParaRPr/>
          </a:p>
        </p:txBody>
      </p:sp>
      <p:sp>
        <p:nvSpPr>
          <p:cNvPr id="211" name="Google Shape;211;g3f75355d4cc_0_123:notes"/>
          <p:cNvSpPr txBox="1">
            <a:spLocks noGrp="1"/>
          </p:cNvSpPr>
          <p:nvPr>
            <p:ph type="sldNum" idx="12"/>
          </p:nvPr>
        </p:nvSpPr>
        <p:spPr>
          <a:xfrm>
            <a:off x="3884076" y="8684838"/>
            <a:ext cx="2972100" cy="4575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75355d4cc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g3f75355d4cc_0_1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https://</a:t>
            </a:r>
            <a:r>
              <a:rPr lang="en" dirty="0" err="1"/>
              <a:t>www.youtube.com</a:t>
            </a:r>
            <a:r>
              <a:rPr lang="en" dirty="0"/>
              <a:t>/</a:t>
            </a:r>
            <a:r>
              <a:rPr lang="en" dirty="0" err="1"/>
              <a:t>watch?v</a:t>
            </a:r>
            <a:r>
              <a:rPr lang="en" dirty="0"/>
              <a:t>=bVn04eJRjV4</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75355d4cc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f75355d4cc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f75355d4cc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f75355d4cc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www.youtube.com</a:t>
            </a:r>
            <a:r>
              <a:rPr lang="en" dirty="0"/>
              <a:t>/</a:t>
            </a:r>
            <a:r>
              <a:rPr lang="en" dirty="0" err="1"/>
              <a:t>watch?v</a:t>
            </a:r>
            <a:r>
              <a:rPr lang="en" dirty="0"/>
              <a:t>=r3OER89bTlk</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f75355d4cc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f75355d4cc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75355d4cc_0_189:notes"/>
          <p:cNvSpPr txBox="1">
            <a:spLocks noGrp="1"/>
          </p:cNvSpPr>
          <p:nvPr>
            <p:ph type="body" idx="1"/>
          </p:nvPr>
        </p:nvSpPr>
        <p:spPr>
          <a:xfrm>
            <a:off x="685801"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https://dashboard.blooket.com/set/68a6bf16f88a41401c497aae</a:t>
            </a:r>
            <a:endParaRPr/>
          </a:p>
        </p:txBody>
      </p:sp>
      <p:sp>
        <p:nvSpPr>
          <p:cNvPr id="285" name="Google Shape;285;g3f75355d4cc_0_189: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79387" y="357504"/>
            <a:ext cx="8785200" cy="5310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2100"/>
              <a:buNone/>
              <a:defRPr sz="3000"/>
            </a:lvl1pPr>
            <a:lvl2pPr lvl="1" algn="l" rtl="0">
              <a:lnSpc>
                <a:spcPct val="100000"/>
              </a:lnSpc>
              <a:spcBef>
                <a:spcPts val="0"/>
              </a:spcBef>
              <a:spcAft>
                <a:spcPts val="0"/>
              </a:spcAft>
              <a:buSzPts val="2100"/>
              <a:buNone/>
              <a:defRPr/>
            </a:lvl2pPr>
            <a:lvl3pPr lvl="2" algn="l" rtl="0">
              <a:lnSpc>
                <a:spcPct val="100000"/>
              </a:lnSpc>
              <a:spcBef>
                <a:spcPts val="0"/>
              </a:spcBef>
              <a:spcAft>
                <a:spcPts val="0"/>
              </a:spcAft>
              <a:buSzPts val="2100"/>
              <a:buNone/>
              <a:defRPr/>
            </a:lvl3pPr>
            <a:lvl4pPr lvl="3" algn="l" rtl="0">
              <a:lnSpc>
                <a:spcPct val="100000"/>
              </a:lnSpc>
              <a:spcBef>
                <a:spcPts val="0"/>
              </a:spcBef>
              <a:spcAft>
                <a:spcPts val="0"/>
              </a:spcAft>
              <a:buSzPts val="2100"/>
              <a:buNone/>
              <a:defRPr/>
            </a:lvl4pPr>
            <a:lvl5pPr lvl="4" algn="l" rtl="0">
              <a:lnSpc>
                <a:spcPct val="100000"/>
              </a:lnSpc>
              <a:spcBef>
                <a:spcPts val="0"/>
              </a:spcBef>
              <a:spcAft>
                <a:spcPts val="0"/>
              </a:spcAft>
              <a:buSzPts val="2100"/>
              <a:buNone/>
              <a:defRPr/>
            </a:lvl5pPr>
            <a:lvl6pPr lvl="5" algn="l" rtl="0">
              <a:lnSpc>
                <a:spcPct val="100000"/>
              </a:lnSpc>
              <a:spcBef>
                <a:spcPts val="0"/>
              </a:spcBef>
              <a:spcAft>
                <a:spcPts val="0"/>
              </a:spcAft>
              <a:buSzPts val="2100"/>
              <a:buNone/>
              <a:defRPr/>
            </a:lvl6pPr>
            <a:lvl7pPr lvl="6" algn="l" rtl="0">
              <a:lnSpc>
                <a:spcPct val="100000"/>
              </a:lnSpc>
              <a:spcBef>
                <a:spcPts val="0"/>
              </a:spcBef>
              <a:spcAft>
                <a:spcPts val="0"/>
              </a:spcAft>
              <a:buSzPts val="2100"/>
              <a:buNone/>
              <a:defRPr/>
            </a:lvl7pPr>
            <a:lvl8pPr lvl="7" algn="l" rtl="0">
              <a:lnSpc>
                <a:spcPct val="100000"/>
              </a:lnSpc>
              <a:spcBef>
                <a:spcPts val="0"/>
              </a:spcBef>
              <a:spcAft>
                <a:spcPts val="0"/>
              </a:spcAft>
              <a:buSzPts val="2100"/>
              <a:buNone/>
              <a:defRPr/>
            </a:lvl8pPr>
            <a:lvl9pPr lvl="8" algn="l" rtl="0">
              <a:lnSpc>
                <a:spcPct val="100000"/>
              </a:lnSpc>
              <a:spcBef>
                <a:spcPts val="0"/>
              </a:spcBef>
              <a:spcAft>
                <a:spcPts val="0"/>
              </a:spcAft>
              <a:buSzPts val="2100"/>
              <a:buNone/>
              <a:defRPr/>
            </a:lvl9pPr>
          </a:lstStyle>
          <a:p>
            <a:endParaRPr/>
          </a:p>
        </p:txBody>
      </p:sp>
      <p:sp>
        <p:nvSpPr>
          <p:cNvPr id="52" name="Google Shape;52;p13"/>
          <p:cNvSpPr txBox="1">
            <a:spLocks noGrp="1"/>
          </p:cNvSpPr>
          <p:nvPr>
            <p:ph type="body" idx="1"/>
          </p:nvPr>
        </p:nvSpPr>
        <p:spPr>
          <a:xfrm>
            <a:off x="179388" y="897731"/>
            <a:ext cx="8785200" cy="2538300"/>
          </a:xfrm>
          <a:prstGeom prst="rect">
            <a:avLst/>
          </a:prstGeom>
          <a:noFill/>
          <a:ln>
            <a:noFill/>
          </a:ln>
        </p:spPr>
        <p:txBody>
          <a:bodyPr spcFirstLastPara="1" wrap="square" lIns="68575" tIns="34275" rIns="68575" bIns="34275" anchor="t" anchorCtr="0">
            <a:noAutofit/>
          </a:bodyPr>
          <a:lstStyle>
            <a:lvl1pPr marL="457200" lvl="0" indent="-228600" algn="l" rtl="0">
              <a:lnSpc>
                <a:spcPct val="115000"/>
              </a:lnSpc>
              <a:spcBef>
                <a:spcPts val="400"/>
              </a:spcBef>
              <a:spcAft>
                <a:spcPts val="0"/>
              </a:spcAft>
              <a:buClr>
                <a:schemeClr val="dk1"/>
              </a:buClr>
              <a:buSzPts val="2100"/>
              <a:buFont typeface="Arial"/>
              <a:buNone/>
              <a:defRPr/>
            </a:lvl1pPr>
            <a:lvl2pPr marL="914400" lvl="1" indent="-317500" algn="l" rtl="0">
              <a:lnSpc>
                <a:spcPct val="115000"/>
              </a:lnSpc>
              <a:spcBef>
                <a:spcPts val="300"/>
              </a:spcBef>
              <a:spcAft>
                <a:spcPts val="0"/>
              </a:spcAft>
              <a:buClr>
                <a:schemeClr val="dk1"/>
              </a:buClr>
              <a:buSzPts val="1400"/>
              <a:buChar char="○"/>
              <a:defRPr/>
            </a:lvl2pPr>
            <a:lvl3pPr marL="1371600" lvl="2" indent="-317500" algn="l" rtl="0">
              <a:lnSpc>
                <a:spcPct val="115000"/>
              </a:lnSpc>
              <a:spcBef>
                <a:spcPts val="300"/>
              </a:spcBef>
              <a:spcAft>
                <a:spcPts val="0"/>
              </a:spcAft>
              <a:buClr>
                <a:schemeClr val="dk1"/>
              </a:buClr>
              <a:buSzPts val="1400"/>
              <a:buChar char="■"/>
              <a:defRPr/>
            </a:lvl3pPr>
            <a:lvl4pPr marL="1828800" lvl="3" indent="-317500" algn="l" rtl="0">
              <a:lnSpc>
                <a:spcPct val="115000"/>
              </a:lnSpc>
              <a:spcBef>
                <a:spcPts val="300"/>
              </a:spcBef>
              <a:spcAft>
                <a:spcPts val="0"/>
              </a:spcAft>
              <a:buClr>
                <a:schemeClr val="dk1"/>
              </a:buClr>
              <a:buSzPts val="1400"/>
              <a:buChar char="●"/>
              <a:defRPr/>
            </a:lvl4pPr>
            <a:lvl5pPr marL="2286000" lvl="4" indent="-317500" algn="l" rtl="0">
              <a:lnSpc>
                <a:spcPct val="115000"/>
              </a:lnSpc>
              <a:spcBef>
                <a:spcPts val="300"/>
              </a:spcBef>
              <a:spcAft>
                <a:spcPts val="0"/>
              </a:spcAft>
              <a:buClr>
                <a:schemeClr val="dk1"/>
              </a:buClr>
              <a:buSzPts val="1400"/>
              <a:buChar char="○"/>
              <a:defRPr/>
            </a:lvl5pPr>
            <a:lvl6pPr marL="2743200" lvl="5" indent="-317500" algn="l" rtl="0">
              <a:lnSpc>
                <a:spcPct val="115000"/>
              </a:lnSpc>
              <a:spcBef>
                <a:spcPts val="300"/>
              </a:spcBef>
              <a:spcAft>
                <a:spcPts val="0"/>
              </a:spcAft>
              <a:buClr>
                <a:schemeClr val="dk1"/>
              </a:buClr>
              <a:buSzPts val="1400"/>
              <a:buChar char="■"/>
              <a:defRPr/>
            </a:lvl6pPr>
            <a:lvl7pPr marL="3200400" lvl="6" indent="-317500" algn="l" rtl="0">
              <a:lnSpc>
                <a:spcPct val="115000"/>
              </a:lnSpc>
              <a:spcBef>
                <a:spcPts val="300"/>
              </a:spcBef>
              <a:spcAft>
                <a:spcPts val="0"/>
              </a:spcAft>
              <a:buClr>
                <a:schemeClr val="dk1"/>
              </a:buClr>
              <a:buSzPts val="1400"/>
              <a:buChar char="●"/>
              <a:defRPr/>
            </a:lvl7pPr>
            <a:lvl8pPr marL="3657600" lvl="7" indent="-317500" algn="l" rtl="0">
              <a:lnSpc>
                <a:spcPct val="115000"/>
              </a:lnSpc>
              <a:spcBef>
                <a:spcPts val="300"/>
              </a:spcBef>
              <a:spcAft>
                <a:spcPts val="0"/>
              </a:spcAft>
              <a:buClr>
                <a:schemeClr val="dk1"/>
              </a:buClr>
              <a:buSzPts val="1400"/>
              <a:buChar char="○"/>
              <a:defRPr/>
            </a:lvl8pPr>
            <a:lvl9pPr marL="4114800" lvl="8" indent="-317500" algn="l" rtl="0">
              <a:lnSpc>
                <a:spcPct val="115000"/>
              </a:lnSpc>
              <a:spcBef>
                <a:spcPts val="3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
        <p:nvSpPr>
          <p:cNvPr id="55" name="Google Shape;55;p14"/>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56" name="Google Shape;56;p14"/>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7" name="Google Shape;57;p1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58" name="Google Shape;58;p14"/>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sz="1100"/>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sz="1100"/>
            </a:lvl1pPr>
            <a:lvl2pPr lvl="1" algn="l" rtl="0">
              <a:lnSpc>
                <a:spcPct val="100000"/>
              </a:lnSpc>
              <a:spcBef>
                <a:spcPts val="0"/>
              </a:spcBef>
              <a:spcAft>
                <a:spcPts val="0"/>
              </a:spcAft>
              <a:buSzPts val="1100"/>
              <a:buNone/>
              <a:defRPr sz="1100"/>
            </a:lvl2pPr>
            <a:lvl3pPr lvl="2" algn="l" rtl="0">
              <a:lnSpc>
                <a:spcPct val="100000"/>
              </a:lnSpc>
              <a:spcBef>
                <a:spcPts val="0"/>
              </a:spcBef>
              <a:spcAft>
                <a:spcPts val="0"/>
              </a:spcAft>
              <a:buSzPts val="1100"/>
              <a:buNone/>
              <a:defRPr sz="1100"/>
            </a:lvl3pPr>
            <a:lvl4pPr lvl="3" algn="l" rtl="0">
              <a:lnSpc>
                <a:spcPct val="100000"/>
              </a:lnSpc>
              <a:spcBef>
                <a:spcPts val="0"/>
              </a:spcBef>
              <a:spcAft>
                <a:spcPts val="0"/>
              </a:spcAft>
              <a:buSzPts val="1100"/>
              <a:buNone/>
              <a:defRPr sz="1100"/>
            </a:lvl4pPr>
            <a:lvl5pPr lvl="4" algn="l" rtl="0">
              <a:lnSpc>
                <a:spcPct val="100000"/>
              </a:lnSpc>
              <a:spcBef>
                <a:spcPts val="0"/>
              </a:spcBef>
              <a:spcAft>
                <a:spcPts val="0"/>
              </a:spcAft>
              <a:buSzPts val="1100"/>
              <a:buNone/>
              <a:defRPr sz="1100"/>
            </a:lvl5pPr>
            <a:lvl6pPr lvl="5" algn="l" rtl="0">
              <a:lnSpc>
                <a:spcPct val="100000"/>
              </a:lnSpc>
              <a:spcBef>
                <a:spcPts val="0"/>
              </a:spcBef>
              <a:spcAft>
                <a:spcPts val="0"/>
              </a:spcAft>
              <a:buSzPts val="1100"/>
              <a:buNone/>
              <a:defRPr sz="1100"/>
            </a:lvl6pPr>
            <a:lvl7pPr lvl="6" algn="l" rtl="0">
              <a:lnSpc>
                <a:spcPct val="100000"/>
              </a:lnSpc>
              <a:spcBef>
                <a:spcPts val="0"/>
              </a:spcBef>
              <a:spcAft>
                <a:spcPts val="0"/>
              </a:spcAft>
              <a:buSzPts val="1100"/>
              <a:buNone/>
              <a:defRPr sz="1100"/>
            </a:lvl7pPr>
            <a:lvl8pPr lvl="7" algn="l" rtl="0">
              <a:lnSpc>
                <a:spcPct val="100000"/>
              </a:lnSpc>
              <a:spcBef>
                <a:spcPts val="0"/>
              </a:spcBef>
              <a:spcAft>
                <a:spcPts val="0"/>
              </a:spcAft>
              <a:buSzPts val="1100"/>
              <a:buNone/>
              <a:defRPr sz="1100"/>
            </a:lvl8pPr>
            <a:lvl9pPr lvl="8" algn="l" rtl="0">
              <a:lnSpc>
                <a:spcPct val="100000"/>
              </a:lnSpc>
              <a:spcBef>
                <a:spcPts val="0"/>
              </a:spcBef>
              <a:spcAft>
                <a:spcPts val="0"/>
              </a:spcAft>
              <a:buSzPts val="1100"/>
              <a:buNone/>
              <a:defRPr sz="1100"/>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4" name="Google Shape;64;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5" name="Google Shape;6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2_Custom Layout">
  <p:cSld name="2_Custom Layou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457200" y="205978"/>
            <a:ext cx="6096000" cy="8574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0"/>
              </a:spcBef>
              <a:spcAft>
                <a:spcPts val="0"/>
              </a:spcAft>
              <a:buClr>
                <a:schemeClr val="dk1"/>
              </a:buClr>
              <a:buSzPts val="3200"/>
              <a:buFont typeface="Comic Sans MS"/>
              <a:buNone/>
              <a:defRPr sz="2400" b="0" i="0" u="none" strike="noStrike" cap="none">
                <a:solidFill>
                  <a:schemeClr val="dk1"/>
                </a:solidFill>
                <a:latin typeface="Comic Sans MS"/>
                <a:ea typeface="Comic Sans MS"/>
                <a:cs typeface="Comic Sans MS"/>
                <a:sym typeface="Comic Sans MS"/>
              </a:defRPr>
            </a:lvl1pPr>
            <a:lvl2pPr lvl="1" algn="l">
              <a:lnSpc>
                <a:spcPct val="100000"/>
              </a:lnSpc>
              <a:spcBef>
                <a:spcPts val="0"/>
              </a:spcBef>
              <a:spcAft>
                <a:spcPts val="0"/>
              </a:spcAft>
              <a:buSzPts val="1400"/>
              <a:buNone/>
              <a:defRPr sz="1350"/>
            </a:lvl2pPr>
            <a:lvl3pPr lvl="2" algn="l">
              <a:lnSpc>
                <a:spcPct val="100000"/>
              </a:lnSpc>
              <a:spcBef>
                <a:spcPts val="0"/>
              </a:spcBef>
              <a:spcAft>
                <a:spcPts val="0"/>
              </a:spcAft>
              <a:buSzPts val="1400"/>
              <a:buNone/>
              <a:defRPr sz="1350"/>
            </a:lvl3pPr>
            <a:lvl4pPr lvl="3" algn="l">
              <a:lnSpc>
                <a:spcPct val="100000"/>
              </a:lnSpc>
              <a:spcBef>
                <a:spcPts val="0"/>
              </a:spcBef>
              <a:spcAft>
                <a:spcPts val="0"/>
              </a:spcAft>
              <a:buSzPts val="1400"/>
              <a:buNone/>
              <a:defRPr sz="1350"/>
            </a:lvl4pPr>
            <a:lvl5pPr lvl="4" algn="l">
              <a:lnSpc>
                <a:spcPct val="100000"/>
              </a:lnSpc>
              <a:spcBef>
                <a:spcPts val="0"/>
              </a:spcBef>
              <a:spcAft>
                <a:spcPts val="0"/>
              </a:spcAft>
              <a:buSzPts val="1400"/>
              <a:buNone/>
              <a:defRPr sz="1350"/>
            </a:lvl5pPr>
            <a:lvl6pPr lvl="5" algn="l">
              <a:lnSpc>
                <a:spcPct val="100000"/>
              </a:lnSpc>
              <a:spcBef>
                <a:spcPts val="0"/>
              </a:spcBef>
              <a:spcAft>
                <a:spcPts val="0"/>
              </a:spcAft>
              <a:buSzPts val="1400"/>
              <a:buNone/>
              <a:defRPr sz="1350"/>
            </a:lvl6pPr>
            <a:lvl7pPr lvl="6" algn="l">
              <a:lnSpc>
                <a:spcPct val="100000"/>
              </a:lnSpc>
              <a:spcBef>
                <a:spcPts val="0"/>
              </a:spcBef>
              <a:spcAft>
                <a:spcPts val="0"/>
              </a:spcAft>
              <a:buSzPts val="1400"/>
              <a:buNone/>
              <a:defRPr sz="1350"/>
            </a:lvl7pPr>
            <a:lvl8pPr lvl="7" algn="l">
              <a:lnSpc>
                <a:spcPct val="100000"/>
              </a:lnSpc>
              <a:spcBef>
                <a:spcPts val="0"/>
              </a:spcBef>
              <a:spcAft>
                <a:spcPts val="0"/>
              </a:spcAft>
              <a:buSzPts val="1400"/>
              <a:buNone/>
              <a:defRPr sz="1350"/>
            </a:lvl8pPr>
            <a:lvl9pPr lvl="8" algn="l">
              <a:lnSpc>
                <a:spcPct val="100000"/>
              </a:lnSpc>
              <a:spcBef>
                <a:spcPts val="0"/>
              </a:spcBef>
              <a:spcAft>
                <a:spcPts val="0"/>
              </a:spcAft>
              <a:buSzPts val="1400"/>
              <a:buNone/>
              <a:defRPr sz="1350"/>
            </a:lvl9pPr>
          </a:lstStyle>
          <a:p>
            <a:endParaRPr/>
          </a:p>
        </p:txBody>
      </p:sp>
      <p:sp>
        <p:nvSpPr>
          <p:cNvPr id="68" name="Google Shape;68;p16"/>
          <p:cNvSpPr txBox="1">
            <a:spLocks noGrp="1"/>
          </p:cNvSpPr>
          <p:nvPr>
            <p:ph type="body" idx="1"/>
          </p:nvPr>
        </p:nvSpPr>
        <p:spPr>
          <a:xfrm>
            <a:off x="457200" y="1172766"/>
            <a:ext cx="7407600" cy="3433800"/>
          </a:xfrm>
          <a:prstGeom prst="rect">
            <a:avLst/>
          </a:prstGeom>
          <a:noFill/>
          <a:ln>
            <a:noFill/>
          </a:ln>
        </p:spPr>
        <p:txBody>
          <a:bodyPr spcFirstLastPara="1" wrap="square" lIns="91425" tIns="45700" rIns="91425" bIns="45700" anchor="t" anchorCtr="0">
            <a:noAutofit/>
          </a:bodyPr>
          <a:lstStyle>
            <a:lvl1pPr marL="457200" marR="0" lvl="0" indent="-431800" algn="l">
              <a:lnSpc>
                <a:spcPct val="90000"/>
              </a:lnSpc>
              <a:spcBef>
                <a:spcPts val="480"/>
              </a:spcBef>
              <a:spcAft>
                <a:spcPts val="0"/>
              </a:spcAft>
              <a:buClr>
                <a:schemeClr val="dk1"/>
              </a:buClr>
              <a:buSzPts val="3200"/>
              <a:buFont typeface="Arial"/>
              <a:buChar char="•"/>
              <a:defRPr sz="2400" b="0" i="0" u="none" strike="noStrike" cap="none">
                <a:solidFill>
                  <a:schemeClr val="dk1"/>
                </a:solidFill>
                <a:latin typeface="Comic Sans MS"/>
                <a:ea typeface="Comic Sans MS"/>
                <a:cs typeface="Comic Sans MS"/>
                <a:sym typeface="Comic Sans MS"/>
              </a:defRPr>
            </a:lvl1pPr>
            <a:lvl2pPr marL="914400" marR="0" lvl="1" indent="-406400" algn="l">
              <a:lnSpc>
                <a:spcPct val="90000"/>
              </a:lnSpc>
              <a:spcBef>
                <a:spcPts val="420"/>
              </a:spcBef>
              <a:spcAft>
                <a:spcPts val="0"/>
              </a:spcAft>
              <a:buClr>
                <a:schemeClr val="dk1"/>
              </a:buClr>
              <a:buSzPts val="2800"/>
              <a:buFont typeface="Arial"/>
              <a:buChar char="–"/>
              <a:defRPr sz="2100" b="0" i="0" u="none" strike="noStrike" cap="none">
                <a:solidFill>
                  <a:schemeClr val="dk1"/>
                </a:solidFill>
                <a:latin typeface="Comic Sans MS"/>
                <a:ea typeface="Comic Sans MS"/>
                <a:cs typeface="Comic Sans MS"/>
                <a:sym typeface="Comic Sans MS"/>
              </a:defRPr>
            </a:lvl2pPr>
            <a:lvl3pPr marL="1371600" marR="0" lvl="2" indent="-381000" algn="l">
              <a:lnSpc>
                <a:spcPct val="90000"/>
              </a:lnSpc>
              <a:spcBef>
                <a:spcPts val="360"/>
              </a:spcBef>
              <a:spcAft>
                <a:spcPts val="0"/>
              </a:spcAft>
              <a:buClr>
                <a:schemeClr val="dk1"/>
              </a:buClr>
              <a:buSzPts val="2400"/>
              <a:buFont typeface="Arial"/>
              <a:buChar char="•"/>
              <a:defRPr sz="1800" b="0" i="0" u="none" strike="noStrike" cap="none">
                <a:solidFill>
                  <a:schemeClr val="dk1"/>
                </a:solidFill>
                <a:latin typeface="Comic Sans MS"/>
                <a:ea typeface="Comic Sans MS"/>
                <a:cs typeface="Comic Sans MS"/>
                <a:sym typeface="Comic Sans MS"/>
              </a:defRPr>
            </a:lvl3pPr>
            <a:lvl4pPr marL="1828800" marR="0" lvl="3"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omic Sans MS"/>
                <a:ea typeface="Comic Sans MS"/>
                <a:cs typeface="Comic Sans MS"/>
                <a:sym typeface="Comic Sans MS"/>
              </a:defRPr>
            </a:lvl4pPr>
            <a:lvl5pPr marL="2286000" marR="0" lvl="4"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omic Sans MS"/>
                <a:ea typeface="Comic Sans MS"/>
                <a:cs typeface="Comic Sans MS"/>
                <a:sym typeface="Comic Sans MS"/>
              </a:defRPr>
            </a:lvl5pPr>
            <a:lvl6pPr marL="2743200" marR="0" lvl="5"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6pPr>
            <a:lvl7pPr marL="3200400" marR="0" lvl="6"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7pPr>
            <a:lvl8pPr marL="3657600" marR="0" lvl="7"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8pPr>
            <a:lvl9pPr marL="4114800" marR="0" lvl="8" indent="-355600" algn="l">
              <a:lnSpc>
                <a:spcPct val="90000"/>
              </a:lnSpc>
              <a:spcBef>
                <a:spcPts val="300"/>
              </a:spcBef>
              <a:spcAft>
                <a:spcPts val="0"/>
              </a:spcAft>
              <a:buClr>
                <a:schemeClr val="dk1"/>
              </a:buClr>
              <a:buSzPts val="20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69" name="Google Shape;69;p16"/>
          <p:cNvSpPr/>
          <p:nvPr/>
        </p:nvSpPr>
        <p:spPr>
          <a:xfrm>
            <a:off x="170973" y="100744"/>
            <a:ext cx="8841600" cy="4927200"/>
          </a:xfrm>
          <a:prstGeom prst="rect">
            <a:avLst/>
          </a:prstGeom>
          <a:noFill/>
          <a:ln w="38100" cap="flat" cmpd="sng">
            <a:solidFill>
              <a:srgbClr val="008000"/>
            </a:solidFill>
            <a:prstDash val="solid"/>
            <a:round/>
            <a:headEnd type="none" w="sm" len="sm"/>
            <a:tailEnd type="none" w="sm" len="sm"/>
          </a:ln>
          <a:effectLst>
            <a:outerShdw blurRad="40000" dist="23000" dir="5400000" rotWithShape="0">
              <a:srgbClr val="000000">
                <a:alpha val="33730"/>
              </a:srgbClr>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350" b="0" i="0" u="none" strike="noStrike" cap="none">
              <a:solidFill>
                <a:srgbClr val="FFFFFF"/>
              </a:solidFill>
              <a:latin typeface="Calibri"/>
              <a:ea typeface="Calibri"/>
              <a:cs typeface="Calibri"/>
              <a:sym typeface="Calibri"/>
            </a:endParaRPr>
          </a:p>
        </p:txBody>
      </p:sp>
      <p:sp>
        <p:nvSpPr>
          <p:cNvPr id="70" name="Google Shape;70;p16"/>
          <p:cNvSpPr txBox="1"/>
          <p:nvPr/>
        </p:nvSpPr>
        <p:spPr>
          <a:xfrm>
            <a:off x="457202" y="4698180"/>
            <a:ext cx="5380200" cy="2769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 sz="1350" b="0" i="0" u="none" strike="noStrike" cap="none">
                <a:solidFill>
                  <a:srgbClr val="000000"/>
                </a:solidFill>
                <a:latin typeface="Calibri"/>
                <a:ea typeface="Calibri"/>
                <a:cs typeface="Calibri"/>
                <a:sym typeface="Calibri"/>
              </a:rPr>
              <a:t>Present New Information</a:t>
            </a:r>
            <a:endParaRPr sz="1350" b="0" i="0" u="none" strike="noStrike" cap="none">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71"/>
        <p:cNvGrpSpPr/>
        <p:nvPr/>
      </p:nvGrpSpPr>
      <p:grpSpPr>
        <a:xfrm>
          <a:off x="0" y="0"/>
          <a:ext cx="0" cy="0"/>
          <a:chOff x="0" y="0"/>
          <a:chExt cx="0" cy="0"/>
        </a:xfrm>
      </p:grpSpPr>
      <p:sp>
        <p:nvSpPr>
          <p:cNvPr id="72" name="Google Shape;72;p17"/>
          <p:cNvSpPr txBox="1">
            <a:spLocks noGrp="1"/>
          </p:cNvSpPr>
          <p:nvPr>
            <p:ph type="ctrTitle"/>
          </p:nvPr>
        </p:nvSpPr>
        <p:spPr>
          <a:xfrm>
            <a:off x="311708" y="744575"/>
            <a:ext cx="8520600" cy="2052600"/>
          </a:xfrm>
          <a:prstGeom prst="rect">
            <a:avLst/>
          </a:prstGeom>
          <a:noFill/>
          <a:ln>
            <a:noFill/>
          </a:ln>
        </p:spPr>
        <p:txBody>
          <a:bodyPr spcFirstLastPara="1" wrap="square" lIns="45700" tIns="45700" rIns="45700" bIns="45700"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3" name="Google Shape;73;p17"/>
          <p:cNvSpPr txBox="1">
            <a:spLocks noGrp="1"/>
          </p:cNvSpPr>
          <p:nvPr>
            <p:ph type="subTitle" idx="1"/>
          </p:nvPr>
        </p:nvSpPr>
        <p:spPr>
          <a:xfrm>
            <a:off x="311700" y="2834125"/>
            <a:ext cx="8520600" cy="792600"/>
          </a:xfrm>
          <a:prstGeom prst="rect">
            <a:avLst/>
          </a:prstGeom>
          <a:noFill/>
          <a:ln>
            <a:noFill/>
          </a:ln>
        </p:spPr>
        <p:txBody>
          <a:bodyPr spcFirstLastPara="1" wrap="square" lIns="45700" tIns="45700" rIns="45700" bIns="45700" anchor="t" anchorCtr="0">
            <a:noAutofit/>
          </a:bodyPr>
          <a:lstStyle>
            <a:lvl1pPr lvl="0" algn="ctr">
              <a:lnSpc>
                <a:spcPct val="100000"/>
              </a:lnSpc>
              <a:spcBef>
                <a:spcPts val="700"/>
              </a:spcBef>
              <a:spcAft>
                <a:spcPts val="0"/>
              </a:spcAft>
              <a:buSzPts val="2800"/>
              <a:buNone/>
              <a:defRPr sz="2800"/>
            </a:lvl1pPr>
            <a:lvl2pPr lvl="1" algn="ctr">
              <a:lnSpc>
                <a:spcPct val="100000"/>
              </a:lnSpc>
              <a:spcBef>
                <a:spcPts val="700"/>
              </a:spcBef>
              <a:spcAft>
                <a:spcPts val="0"/>
              </a:spcAft>
              <a:buSzPts val="2800"/>
              <a:buNone/>
              <a:defRPr sz="2800"/>
            </a:lvl2pPr>
            <a:lvl3pPr lvl="2" algn="ctr">
              <a:lnSpc>
                <a:spcPct val="100000"/>
              </a:lnSpc>
              <a:spcBef>
                <a:spcPts val="700"/>
              </a:spcBef>
              <a:spcAft>
                <a:spcPts val="0"/>
              </a:spcAft>
              <a:buSzPts val="2800"/>
              <a:buNone/>
              <a:defRPr sz="2800"/>
            </a:lvl3pPr>
            <a:lvl4pPr lvl="3" algn="ctr">
              <a:lnSpc>
                <a:spcPct val="100000"/>
              </a:lnSpc>
              <a:spcBef>
                <a:spcPts val="700"/>
              </a:spcBef>
              <a:spcAft>
                <a:spcPts val="0"/>
              </a:spcAft>
              <a:buSzPts val="2800"/>
              <a:buNone/>
              <a:defRPr sz="2800"/>
            </a:lvl4pPr>
            <a:lvl5pPr lvl="4" algn="ctr">
              <a:lnSpc>
                <a:spcPct val="100000"/>
              </a:lnSpc>
              <a:spcBef>
                <a:spcPts val="700"/>
              </a:spcBef>
              <a:spcAft>
                <a:spcPts val="0"/>
              </a:spcAft>
              <a:buSzPts val="2800"/>
              <a:buNone/>
              <a:defRPr sz="2800"/>
            </a:lvl5pPr>
            <a:lvl6pPr lvl="5" algn="ctr">
              <a:lnSpc>
                <a:spcPct val="100000"/>
              </a:lnSpc>
              <a:spcBef>
                <a:spcPts val="700"/>
              </a:spcBef>
              <a:spcAft>
                <a:spcPts val="0"/>
              </a:spcAft>
              <a:buSzPts val="2800"/>
              <a:buNone/>
              <a:defRPr sz="2800"/>
            </a:lvl6pPr>
            <a:lvl7pPr lvl="6" algn="ctr">
              <a:lnSpc>
                <a:spcPct val="100000"/>
              </a:lnSpc>
              <a:spcBef>
                <a:spcPts val="700"/>
              </a:spcBef>
              <a:spcAft>
                <a:spcPts val="0"/>
              </a:spcAft>
              <a:buSzPts val="2800"/>
              <a:buNone/>
              <a:defRPr sz="2800"/>
            </a:lvl7pPr>
            <a:lvl8pPr lvl="7" algn="ctr">
              <a:lnSpc>
                <a:spcPct val="100000"/>
              </a:lnSpc>
              <a:spcBef>
                <a:spcPts val="700"/>
              </a:spcBef>
              <a:spcAft>
                <a:spcPts val="0"/>
              </a:spcAft>
              <a:buSzPts val="2800"/>
              <a:buNone/>
              <a:defRPr sz="2800"/>
            </a:lvl8pPr>
            <a:lvl9pPr lvl="8" algn="ctr">
              <a:lnSpc>
                <a:spcPct val="100000"/>
              </a:lnSpc>
              <a:spcBef>
                <a:spcPts val="700"/>
              </a:spcBef>
              <a:spcAft>
                <a:spcPts val="0"/>
              </a:spcAft>
              <a:buSzPts val="2800"/>
              <a:buNone/>
              <a:defRPr sz="2800"/>
            </a:lvl9pPr>
          </a:lstStyle>
          <a:p>
            <a:endParaRPr/>
          </a:p>
        </p:txBody>
      </p:sp>
      <p:sp>
        <p:nvSpPr>
          <p:cNvPr id="74" name="Google Shape;74;p17"/>
          <p:cNvSpPr txBox="1">
            <a:spLocks noGrp="1"/>
          </p:cNvSpPr>
          <p:nvPr>
            <p:ph type="sldNum" idx="12"/>
          </p:nvPr>
        </p:nvSpPr>
        <p:spPr>
          <a:xfrm>
            <a:off x="8472458" y="4663217"/>
            <a:ext cx="548700" cy="393600"/>
          </a:xfrm>
          <a:prstGeom prst="rect">
            <a:avLst/>
          </a:prstGeom>
          <a:noFill/>
          <a:ln>
            <a:noFill/>
          </a:ln>
        </p:spPr>
        <p:txBody>
          <a:bodyPr spcFirstLastPara="1" wrap="square" lIns="45700" tIns="45700" rIns="45700"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WwiiOjyfvAU"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hyperlink" Target="http://dontchangethislink.peardeckmagic.zone?eyJ0eXBlIjoiZ29vZ2xlLXNsaWRlcy1hZGRvbi1yZXNwb25zZS1mb290ZXIiLCJsYXN0RWRpdGVkQnkiOiIxMTgwNzU0NjYxODE1Nzc5MDUwMzEiLCJwcmVzZW50YXRpb25JZCI6IjFMT2FYUGMwYjhaSXV0ZDlQdzNXYzBpZDAzNkFaRFg0SzhnU0lmTTR3b2xVIiwiY29udGVudElkIjoiY3VzdG9tLXJlc3BvbnNlLWZyZWVSZXNwb25zZS10ZXh0Iiwic2xpZGVJZCI6InAxIiwiY29udGVudEluc3RhbmNlSWQiOiIxTE9hWFBjMGI4Wkl1dGQ5UHczV2MwaWQwMzZBWkRYNEs4Z1NJZk00d29sVS8yNDExMWJmYS00ODZhLTQzMjEtODU4MS1hMTgzMWVhNDViYzgifQ==pearId=magic-pear-metadata-identifie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1.xml"/><Relationship Id="rId5" Type="http://schemas.openxmlformats.org/officeDocument/2006/relationships/image" Target="../media/image12.gif"/><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hyperlink" Target="https://dashboard.blooket.com/set/68a6bf16f88a41401c497aae" TargetMode="Externa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hyperlink" Target="http://www.youtube.com/watch?v=XkODbyTVR5I" TargetMode="Externa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jp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hyperlink" Target="http://www.youtube.com/watch?v=bVn04eJRjV4"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2.gif"/><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8" Type="http://schemas.openxmlformats.org/officeDocument/2006/relationships/hyperlink" Target="http://www.youtube.com/watch?v=r3OER89bTlk" TargetMode="External"/><Relationship Id="rId3" Type="http://schemas.openxmlformats.org/officeDocument/2006/relationships/image" Target="../media/image24.png"/><Relationship Id="rId7" Type="http://schemas.openxmlformats.org/officeDocument/2006/relationships/image" Target="../media/image25.jp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hyperlink" Target="http://www.youtube.com/watch?v=xC99Bccscms" TargetMode="External"/><Relationship Id="rId5" Type="http://schemas.openxmlformats.org/officeDocument/2006/relationships/image" Target="../media/image12.gif"/><Relationship Id="rId4" Type="http://schemas.openxmlformats.org/officeDocument/2006/relationships/image" Target="../media/image11.png"/><Relationship Id="rId9" Type="http://schemas.openxmlformats.org/officeDocument/2006/relationships/image" Target="../media/image26.jp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hyperlink" Target="https://dashboard.blooket.com/set/68a6bf16f88a41401c497aae" TargetMode="Externa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8"/>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
        <p:nvSpPr>
          <p:cNvPr id="80" name="Google Shape;80;p18"/>
          <p:cNvSpPr txBox="1"/>
          <p:nvPr/>
        </p:nvSpPr>
        <p:spPr>
          <a:xfrm>
            <a:off x="186450" y="800475"/>
            <a:ext cx="5816700" cy="6033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u="sng">
                <a:solidFill>
                  <a:srgbClr val="000000"/>
                </a:solidFill>
                <a:latin typeface="Poppins"/>
                <a:ea typeface="Poppins"/>
                <a:cs typeface="Poppins"/>
                <a:sym typeface="Poppins"/>
              </a:rPr>
              <a:t>Date:</a:t>
            </a:r>
            <a:r>
              <a:rPr lang="en" sz="1600" b="1">
                <a:latin typeface="Poppins"/>
                <a:ea typeface="Poppins"/>
                <a:cs typeface="Poppins"/>
                <a:sym typeface="Poppins"/>
              </a:rPr>
              <a:t> Wednesday 19th</a:t>
            </a:r>
            <a:r>
              <a:rPr lang="en" sz="1600" b="1">
                <a:solidFill>
                  <a:srgbClr val="000000"/>
                </a:solidFill>
                <a:latin typeface="Poppins"/>
                <a:ea typeface="Poppins"/>
                <a:cs typeface="Poppins"/>
                <a:sym typeface="Poppins"/>
              </a:rPr>
              <a:t> August 202</a:t>
            </a:r>
            <a:r>
              <a:rPr lang="en" sz="1600" b="1">
                <a:latin typeface="Poppins"/>
                <a:ea typeface="Poppins"/>
                <a:cs typeface="Poppins"/>
                <a:sym typeface="Poppins"/>
              </a:rPr>
              <a:t>6</a:t>
            </a:r>
            <a:endParaRPr sz="1600" b="1">
              <a:solidFill>
                <a:srgbClr val="000000"/>
              </a:solidFill>
              <a:latin typeface="Poppins"/>
              <a:ea typeface="Poppins"/>
              <a:cs typeface="Poppins"/>
              <a:sym typeface="Poppins"/>
            </a:endParaRPr>
          </a:p>
          <a:p>
            <a:pPr marL="0" lvl="0" indent="0" algn="l" rtl="0">
              <a:spcBef>
                <a:spcPts val="0"/>
              </a:spcBef>
              <a:spcAft>
                <a:spcPts val="0"/>
              </a:spcAft>
              <a:buNone/>
            </a:pPr>
            <a:r>
              <a:rPr lang="en" sz="1600" b="1" u="sng">
                <a:solidFill>
                  <a:srgbClr val="000000"/>
                </a:solidFill>
                <a:latin typeface="Poppins"/>
                <a:ea typeface="Poppins"/>
                <a:cs typeface="Poppins"/>
                <a:sym typeface="Poppins"/>
              </a:rPr>
              <a:t>Title:</a:t>
            </a:r>
            <a:r>
              <a:rPr lang="en" sz="1600" b="1">
                <a:solidFill>
                  <a:srgbClr val="000000"/>
                </a:solidFill>
                <a:latin typeface="Poppins"/>
                <a:ea typeface="Poppins"/>
                <a:cs typeface="Poppins"/>
                <a:sym typeface="Poppins"/>
              </a:rPr>
              <a:t> </a:t>
            </a:r>
            <a:r>
              <a:rPr lang="en" sz="1600" b="1">
                <a:latin typeface="Poppins"/>
                <a:ea typeface="Poppins"/>
                <a:cs typeface="Poppins"/>
                <a:sym typeface="Poppins"/>
              </a:rPr>
              <a:t>What is happening beneath our feet?</a:t>
            </a:r>
            <a:endParaRPr sz="1600" b="1">
              <a:solidFill>
                <a:srgbClr val="000000"/>
              </a:solidFill>
              <a:latin typeface="Poppins"/>
              <a:ea typeface="Poppins"/>
              <a:cs typeface="Poppins"/>
              <a:sym typeface="Poppins"/>
            </a:endParaRPr>
          </a:p>
        </p:txBody>
      </p:sp>
      <p:sp>
        <p:nvSpPr>
          <p:cNvPr id="81" name="Google Shape;81;p18"/>
          <p:cNvSpPr txBox="1"/>
          <p:nvPr/>
        </p:nvSpPr>
        <p:spPr>
          <a:xfrm>
            <a:off x="186450" y="1403775"/>
            <a:ext cx="5816700" cy="3475500"/>
          </a:xfrm>
          <a:prstGeom prst="rect">
            <a:avLst/>
          </a:prstGeom>
          <a:solidFill>
            <a:srgbClr val="FFF2CC"/>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200" b="1">
              <a:solidFill>
                <a:srgbClr val="000000"/>
              </a:solidFill>
              <a:latin typeface="Calibri"/>
              <a:ea typeface="Calibri"/>
              <a:cs typeface="Calibri"/>
              <a:sym typeface="Calibri"/>
            </a:endParaRPr>
          </a:p>
          <a:p>
            <a:pPr marL="0" lvl="0" indent="0" algn="l" rtl="0">
              <a:spcBef>
                <a:spcPts val="0"/>
              </a:spcBef>
              <a:spcAft>
                <a:spcPts val="0"/>
              </a:spcAft>
              <a:buNone/>
            </a:pPr>
            <a:endParaRPr sz="2200" b="1">
              <a:solidFill>
                <a:srgbClr val="000000"/>
              </a:solidFill>
              <a:latin typeface="Calibri"/>
              <a:ea typeface="Calibri"/>
              <a:cs typeface="Calibri"/>
              <a:sym typeface="Calibri"/>
            </a:endParaRPr>
          </a:p>
          <a:p>
            <a:pPr marL="457200" lvl="0" indent="-368300" algn="l" rtl="0">
              <a:spcBef>
                <a:spcPts val="0"/>
              </a:spcBef>
              <a:spcAft>
                <a:spcPts val="0"/>
              </a:spcAft>
              <a:buClr>
                <a:srgbClr val="000000"/>
              </a:buClr>
              <a:buSzPts val="2200"/>
              <a:buFont typeface="Calibri"/>
              <a:buAutoNum type="arabicPeriod"/>
            </a:pPr>
            <a:r>
              <a:rPr lang="en" sz="2200" b="1">
                <a:latin typeface="Calibri"/>
                <a:ea typeface="Calibri"/>
                <a:cs typeface="Calibri"/>
                <a:sym typeface="Calibri"/>
              </a:rPr>
              <a:t>What are 3 things you can recall from Year 8 humanities</a:t>
            </a:r>
            <a:endParaRPr sz="2200" b="1">
              <a:latin typeface="Calibri"/>
              <a:ea typeface="Calibri"/>
              <a:cs typeface="Calibri"/>
              <a:sym typeface="Calibri"/>
            </a:endParaRPr>
          </a:p>
          <a:p>
            <a:pPr marL="457200" lvl="0" indent="-368300" algn="l" rtl="0">
              <a:spcBef>
                <a:spcPts val="0"/>
              </a:spcBef>
              <a:spcAft>
                <a:spcPts val="0"/>
              </a:spcAft>
              <a:buSzPts val="2200"/>
              <a:buFont typeface="Calibri"/>
              <a:buAutoNum type="arabicPeriod"/>
            </a:pPr>
            <a:r>
              <a:rPr lang="en" sz="2200" b="1">
                <a:latin typeface="Calibri"/>
                <a:ea typeface="Calibri"/>
                <a:cs typeface="Calibri"/>
                <a:sym typeface="Calibri"/>
              </a:rPr>
              <a:t>Explain one reason why humanities subjects are important</a:t>
            </a:r>
            <a:endParaRPr sz="2200" b="1">
              <a:latin typeface="Calibri"/>
              <a:ea typeface="Calibri"/>
              <a:cs typeface="Calibri"/>
              <a:sym typeface="Calibri"/>
            </a:endParaRPr>
          </a:p>
          <a:p>
            <a:pPr marL="457200" lvl="0" indent="-368300" algn="l" rtl="0">
              <a:spcBef>
                <a:spcPts val="0"/>
              </a:spcBef>
              <a:spcAft>
                <a:spcPts val="0"/>
              </a:spcAft>
              <a:buSzPts val="2200"/>
              <a:buFont typeface="Calibri"/>
              <a:buAutoNum type="arabicPeriod"/>
            </a:pPr>
            <a:r>
              <a:rPr lang="en" sz="2200" b="1">
                <a:latin typeface="Calibri"/>
                <a:ea typeface="Calibri"/>
                <a:cs typeface="Calibri"/>
                <a:sym typeface="Calibri"/>
              </a:rPr>
              <a:t>Brain dump everything you already know about tectonic hazards</a:t>
            </a:r>
            <a:endParaRPr sz="2200" b="1">
              <a:latin typeface="Calibri"/>
              <a:ea typeface="Calibri"/>
              <a:cs typeface="Calibri"/>
              <a:sym typeface="Calibri"/>
            </a:endParaRPr>
          </a:p>
        </p:txBody>
      </p:sp>
      <p:pic>
        <p:nvPicPr>
          <p:cNvPr id="82" name="Google Shape;82;p18"/>
          <p:cNvPicPr preferRelativeResize="0"/>
          <p:nvPr/>
        </p:nvPicPr>
        <p:blipFill>
          <a:blip r:embed="rId3">
            <a:alphaModFix/>
          </a:blip>
          <a:stretch>
            <a:fillRect/>
          </a:stretch>
        </p:blipFill>
        <p:spPr>
          <a:xfrm>
            <a:off x="225576" y="1442250"/>
            <a:ext cx="756925" cy="543250"/>
          </a:xfrm>
          <a:prstGeom prst="rect">
            <a:avLst/>
          </a:prstGeom>
          <a:noFill/>
          <a:ln>
            <a:noFill/>
          </a:ln>
        </p:spPr>
      </p:pic>
      <p:pic>
        <p:nvPicPr>
          <p:cNvPr id="83" name="Google Shape;83;p18"/>
          <p:cNvPicPr preferRelativeResize="0"/>
          <p:nvPr/>
        </p:nvPicPr>
        <p:blipFill>
          <a:blip r:embed="rId4">
            <a:alphaModFix/>
          </a:blip>
          <a:stretch>
            <a:fillRect/>
          </a:stretch>
        </p:blipFill>
        <p:spPr>
          <a:xfrm>
            <a:off x="6138600" y="1934700"/>
            <a:ext cx="2836050" cy="24136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9"/>
          <p:cNvSpPr txBox="1"/>
          <p:nvPr/>
        </p:nvSpPr>
        <p:spPr>
          <a:xfrm>
            <a:off x="5163901" y="845875"/>
            <a:ext cx="38841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is happening beneath our feet, and how does it shape the global distribution of earthquakes and volcanoes?"</a:t>
            </a:r>
            <a:endParaRPr sz="1800" b="1">
              <a:highlight>
                <a:schemeClr val="lt1"/>
              </a:highlight>
              <a:latin typeface="Edu TAS Beginner"/>
              <a:ea typeface="Edu TAS Beginner"/>
              <a:cs typeface="Edu TAS Beginner"/>
              <a:sym typeface="Edu TAS Beginner"/>
            </a:endParaRPr>
          </a:p>
        </p:txBody>
      </p:sp>
      <p:sp>
        <p:nvSpPr>
          <p:cNvPr id="89" name="Google Shape;89;p19"/>
          <p:cNvSpPr txBox="1"/>
          <p:nvPr/>
        </p:nvSpPr>
        <p:spPr>
          <a:xfrm>
            <a:off x="96000" y="845875"/>
            <a:ext cx="5067900" cy="3441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a:solidFill>
                  <a:schemeClr val="dk1"/>
                </a:solidFill>
                <a:latin typeface="Baumans"/>
                <a:ea typeface="Baumans"/>
                <a:cs typeface="Baumans"/>
                <a:sym typeface="Baumans"/>
              </a:rPr>
              <a:t>🌍 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describe Earth's layers</a:t>
            </a:r>
            <a:r>
              <a:rPr lang="en" sz="1600">
                <a:solidFill>
                  <a:schemeClr val="dk1"/>
                </a:solidFill>
                <a:latin typeface="Baumans"/>
                <a:ea typeface="Baumans"/>
                <a:cs typeface="Baumans"/>
                <a:sym typeface="Baumans"/>
              </a:rPr>
              <a:t> and </a:t>
            </a:r>
            <a:r>
              <a:rPr lang="en" sz="1600" b="1">
                <a:solidFill>
                  <a:schemeClr val="dk1"/>
                </a:solidFill>
                <a:latin typeface="Baumans"/>
                <a:ea typeface="Baumans"/>
                <a:cs typeface="Baumans"/>
                <a:sym typeface="Baumans"/>
              </a:rPr>
              <a:t>locate earthquakes and volcanoes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a:solidFill>
                  <a:schemeClr val="dk1"/>
                </a:solidFill>
                <a:latin typeface="Baumans"/>
                <a:ea typeface="Baumans"/>
                <a:cs typeface="Baumans"/>
                <a:sym typeface="Baumans"/>
              </a:rPr>
              <a:t>🔎 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compare Earth's layers</a:t>
            </a:r>
            <a:r>
              <a:rPr lang="en" sz="1600">
                <a:solidFill>
                  <a:schemeClr val="dk1"/>
                </a:solidFill>
                <a:latin typeface="Baumans"/>
                <a:ea typeface="Baumans"/>
                <a:cs typeface="Baumans"/>
                <a:sym typeface="Baumans"/>
              </a:rPr>
              <a:t> and </a:t>
            </a:r>
            <a:r>
              <a:rPr lang="en" sz="1600" b="1">
                <a:solidFill>
                  <a:schemeClr val="dk1"/>
                </a:solidFill>
                <a:latin typeface="Baumans"/>
                <a:ea typeface="Baumans"/>
                <a:cs typeface="Baumans"/>
                <a:sym typeface="Baumans"/>
              </a:rPr>
              <a:t>identify patterns</a:t>
            </a:r>
            <a:r>
              <a:rPr lang="en" sz="1600">
                <a:solidFill>
                  <a:schemeClr val="dk1"/>
                </a:solidFill>
                <a:latin typeface="Baumans"/>
                <a:ea typeface="Baumans"/>
                <a:cs typeface="Baumans"/>
                <a:sym typeface="Baumans"/>
              </a:rPr>
              <a:t> in tectonic activity.</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None/>
            </a:pPr>
            <a:r>
              <a:rPr lang="en" sz="1600" b="1">
                <a:solidFill>
                  <a:schemeClr val="dk1"/>
                </a:solidFill>
                <a:latin typeface="Baumans"/>
                <a:ea typeface="Baumans"/>
                <a:cs typeface="Baumans"/>
                <a:sym typeface="Baumans"/>
              </a:rPr>
              <a:t>🧠 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explain why tectonic activity occurs</a:t>
            </a:r>
            <a:r>
              <a:rPr lang="en" sz="1600">
                <a:solidFill>
                  <a:schemeClr val="dk1"/>
                </a:solidFill>
                <a:latin typeface="Baumans"/>
                <a:ea typeface="Baumans"/>
                <a:cs typeface="Baumans"/>
                <a:sym typeface="Baumans"/>
              </a:rPr>
              <a:t> and </a:t>
            </a:r>
            <a:r>
              <a:rPr lang="en" sz="1600" b="1">
                <a:solidFill>
                  <a:schemeClr val="dk1"/>
                </a:solidFill>
                <a:latin typeface="Baumans"/>
                <a:ea typeface="Baumans"/>
                <a:cs typeface="Baumans"/>
                <a:sym typeface="Baumans"/>
              </a:rPr>
              <a:t>analyse global patterns</a:t>
            </a:r>
            <a:r>
              <a:rPr lang="en" sz="1600">
                <a:solidFill>
                  <a:schemeClr val="dk1"/>
                </a:solidFill>
                <a:latin typeface="Baumans"/>
                <a:ea typeface="Baumans"/>
                <a:cs typeface="Baumans"/>
                <a:sym typeface="Baumans"/>
              </a:rPr>
              <a:t>.</a:t>
            </a:r>
            <a:endParaRPr sz="1600" b="1">
              <a:solidFill>
                <a:schemeClr val="dk1"/>
              </a:solidFill>
              <a:latin typeface="Baumans"/>
              <a:ea typeface="Baumans"/>
              <a:cs typeface="Baumans"/>
              <a:sym typeface="Baumans"/>
            </a:endParaRPr>
          </a:p>
        </p:txBody>
      </p:sp>
      <p:sp>
        <p:nvSpPr>
          <p:cNvPr id="90" name="Google Shape;90;p19"/>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91" name="Google Shape;91;p19"/>
          <p:cNvPicPr preferRelativeResize="0"/>
          <p:nvPr/>
        </p:nvPicPr>
        <p:blipFill>
          <a:blip r:embed="rId3">
            <a:alphaModFix/>
          </a:blip>
          <a:stretch>
            <a:fillRect/>
          </a:stretch>
        </p:blipFill>
        <p:spPr>
          <a:xfrm>
            <a:off x="5413413" y="2581975"/>
            <a:ext cx="3385087" cy="22567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p:nvPr/>
        </p:nvSpPr>
        <p:spPr>
          <a:xfrm>
            <a:off x="4376200" y="1909850"/>
            <a:ext cx="4406100" cy="87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000000"/>
                </a:solidFill>
                <a:highlight>
                  <a:srgbClr val="00FF00"/>
                </a:highlight>
                <a:latin typeface="Delius"/>
                <a:ea typeface="Delius"/>
                <a:cs typeface="Delius"/>
                <a:sym typeface="Delius"/>
              </a:rPr>
              <a:t>Activity:</a:t>
            </a:r>
            <a:r>
              <a:rPr lang="en" sz="1600">
                <a:solidFill>
                  <a:srgbClr val="000000"/>
                </a:solidFill>
                <a:latin typeface="Delius"/>
                <a:ea typeface="Delius"/>
                <a:cs typeface="Delius"/>
                <a:sym typeface="Delius"/>
              </a:rPr>
              <a:t> Complete the multiple choice questions whilst watching the video on </a:t>
            </a:r>
            <a:r>
              <a:rPr lang="en" sz="1600">
                <a:latin typeface="Delius"/>
                <a:ea typeface="Delius"/>
                <a:cs typeface="Delius"/>
                <a:sym typeface="Delius"/>
              </a:rPr>
              <a:t>‘Why does the earth have layers?’</a:t>
            </a:r>
            <a:endParaRPr sz="1600">
              <a:solidFill>
                <a:srgbClr val="000000"/>
              </a:solidFill>
              <a:latin typeface="Delius"/>
              <a:ea typeface="Delius"/>
              <a:cs typeface="Delius"/>
              <a:sym typeface="Delius"/>
            </a:endParaRPr>
          </a:p>
        </p:txBody>
      </p:sp>
      <p:sp>
        <p:nvSpPr>
          <p:cNvPr id="97" name="Google Shape;97;p20"/>
          <p:cNvSpPr txBox="1"/>
          <p:nvPr/>
        </p:nvSpPr>
        <p:spPr>
          <a:xfrm>
            <a:off x="70500" y="792600"/>
            <a:ext cx="6112500" cy="125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400" b="1">
                <a:solidFill>
                  <a:schemeClr val="dk1"/>
                </a:solidFill>
                <a:latin typeface="Patrick Hand"/>
                <a:ea typeface="Patrick Hand"/>
                <a:cs typeface="Patrick Hand"/>
                <a:sym typeface="Patrick Hand"/>
              </a:rPr>
              <a:t>The Earth has layers, a bit like an onion or boiled egg. Each of these different layers has a different density, rock type and temperature.</a:t>
            </a:r>
            <a:endParaRPr sz="2400" b="1">
              <a:solidFill>
                <a:schemeClr val="dk1"/>
              </a:solidFill>
              <a:latin typeface="Patrick Hand SC"/>
              <a:ea typeface="Patrick Hand SC"/>
              <a:cs typeface="Patrick Hand SC"/>
              <a:sym typeface="Patrick Hand SC"/>
            </a:endParaRPr>
          </a:p>
        </p:txBody>
      </p:sp>
      <p:sp>
        <p:nvSpPr>
          <p:cNvPr id="98" name="Google Shape;98;p20"/>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99" name="Google Shape;99;p20" descr="...or why do we live on an onion made of magma?&#10;&#10;Viewers like you help make PBS (Thank you 😃) . Support your local PBS Member Station here: https://to.pbs.org/PBSDSDonate&#10;&#10;Subscribe to It's Okay To Be Smart: http://bit.ly/iotbs_sub &#10;&#10;Thanks to Miles Traer and Mike Osborne for geophysics help on this one!&#10;&#10;Why does Earth have a liquid core, and how do we know?&#10;http://scienceblogs.com/startswithabang/2011/09/28/why-does-the-earth-have-a-liqu/ &#10;&#10;How many pennies would you have to stack to melt the one on the bottom? http://www.reddit.com/r/askscience/comments/2g8jj9/how_many_pennies_need_to_be_stacked_before_the/ &#10;&#10;Why are the inner planets rocky and the outer ones are gas giants? &#10;http://www.quora.com/Why-are-the-inner-planets-rocky-and-the-middle-planets-large-gas-giants &#10;&#10;Produced for PBS Digital Studios &#10;&#10;Joe Hanson - Host and writer&#10;Joe Nicolosi - Director&#10;Amanda Fox - Producer, Spotzen IncKate Eads - Associate Producer&#10;Katie Graham - Director of Photography&#10;Andrew Matthews - Editing/Motion Graphics&#10;John Knudsen - Gaffer &#10;Dalton Allen - Post-production Intern&#10;&#10;Theme music:&#10;&quot;Ouroboros&quot; by Kevin MacLeod&#10;&#10;Stock images via Shutterstock&#10;&#10;-----------&#10;Join us on Patreon! &#10;https://patreon.com/itsokaytobesmart&#10;&#10;Twitter &#10;http://www.twitter.com/DrJoeHanson&#10;http://www.twitter.com/okaytobesmart &#10;&#10;Instagram &#10;http://www.instagram.com/DrJoeHanson &#10;http://www.instagram.com/okaytobesmart &#10;&#10;Merch&#10;https://store.dftba.com/collections/its-okay-to-be-smart&#10;&#10;Facebook&#10;https://www.facebook.com/itsokaytobesmartpbs/" title="Why Does The Earth Have Layers?">
            <a:hlinkClick r:id="rId3"/>
          </p:cNvPr>
          <p:cNvPicPr preferRelativeResize="0"/>
          <p:nvPr/>
        </p:nvPicPr>
        <p:blipFill>
          <a:blip r:embed="rId4">
            <a:alphaModFix/>
          </a:blip>
          <a:stretch>
            <a:fillRect/>
          </a:stretch>
        </p:blipFill>
        <p:spPr>
          <a:xfrm>
            <a:off x="113975" y="2080500"/>
            <a:ext cx="3907225" cy="2197812"/>
          </a:xfrm>
          <a:prstGeom prst="rect">
            <a:avLst/>
          </a:prstGeom>
          <a:noFill/>
          <a:ln>
            <a:noFill/>
          </a:ln>
        </p:spPr>
      </p:pic>
      <p:pic>
        <p:nvPicPr>
          <p:cNvPr id="100" name="Google Shape;100;p20" title="Screenshot 2025-08-21 at 8.47.22 AM.png"/>
          <p:cNvPicPr preferRelativeResize="0"/>
          <p:nvPr/>
        </p:nvPicPr>
        <p:blipFill>
          <a:blip r:embed="rId5">
            <a:alphaModFix/>
          </a:blip>
          <a:stretch>
            <a:fillRect/>
          </a:stretch>
        </p:blipFill>
        <p:spPr>
          <a:xfrm>
            <a:off x="5283250" y="2835075"/>
            <a:ext cx="2591998" cy="192875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p:nvPr/>
        </p:nvSpPr>
        <p:spPr>
          <a:xfrm>
            <a:off x="5569475" y="889375"/>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06" name="Google Shape;106;p21"/>
          <p:cNvSpPr txBox="1"/>
          <p:nvPr/>
        </p:nvSpPr>
        <p:spPr>
          <a:xfrm>
            <a:off x="113975" y="889375"/>
            <a:ext cx="5455500" cy="3716400"/>
          </a:xfrm>
          <a:prstGeom prst="rect">
            <a:avLst/>
          </a:prstGeom>
          <a:noFill/>
          <a:ln>
            <a:noFill/>
          </a:ln>
        </p:spPr>
        <p:txBody>
          <a:bodyPr spcFirstLastPara="1" wrap="square" lIns="91425" tIns="91425" rIns="91425" bIns="91425" anchor="t" anchorCtr="0">
            <a:spAutoFit/>
          </a:bodyPr>
          <a:lstStyle/>
          <a:p>
            <a:pPr marL="762000" lvl="0" indent="-330200" algn="l" rtl="0">
              <a:lnSpc>
                <a:spcPct val="1334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Different layers of density</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A third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It protects us from solar wind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Hydrogen and helium</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They sink to the core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Solid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They travel differently through solid and liquid layers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Because of its liquid outer core</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Its outer core solidifies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Earth takes a step closer to cooling off</a:t>
            </a:r>
            <a:endParaRPr sz="1600" b="1">
              <a:solidFill>
                <a:srgbClr val="38761D"/>
              </a:solidFill>
              <a:latin typeface="Delius"/>
              <a:ea typeface="Delius"/>
              <a:cs typeface="Delius"/>
              <a:sym typeface="Delius"/>
            </a:endParaRPr>
          </a:p>
        </p:txBody>
      </p:sp>
      <p:pic>
        <p:nvPicPr>
          <p:cNvPr id="107" name="Google Shape;107;p21" title="Screenshot 2025-08-21 at 8.47.22 AM.png"/>
          <p:cNvPicPr preferRelativeResize="0"/>
          <p:nvPr/>
        </p:nvPicPr>
        <p:blipFill>
          <a:blip r:embed="rId3">
            <a:alphaModFix/>
          </a:blip>
          <a:stretch>
            <a:fillRect/>
          </a:stretch>
        </p:blipFill>
        <p:spPr>
          <a:xfrm>
            <a:off x="6021425" y="1355875"/>
            <a:ext cx="2591998" cy="1928757"/>
          </a:xfrm>
          <a:prstGeom prst="rect">
            <a:avLst/>
          </a:prstGeom>
          <a:noFill/>
          <a:ln>
            <a:noFill/>
          </a:ln>
        </p:spPr>
      </p:pic>
      <p:sp>
        <p:nvSpPr>
          <p:cNvPr id="108" name="Google Shape;108;p21"/>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grpSp>
        <p:nvGrpSpPr>
          <p:cNvPr id="109" name="Google Shape;109;p21"/>
          <p:cNvGrpSpPr/>
          <p:nvPr/>
        </p:nvGrpSpPr>
        <p:grpSpPr>
          <a:xfrm>
            <a:off x="5091508" y="3352383"/>
            <a:ext cx="2367280" cy="1681921"/>
            <a:chOff x="3843850" y="2838000"/>
            <a:chExt cx="2995799" cy="2128476"/>
          </a:xfrm>
        </p:grpSpPr>
        <p:pic>
          <p:nvPicPr>
            <p:cNvPr id="110" name="Google Shape;110;p21"/>
            <p:cNvPicPr preferRelativeResize="0"/>
            <p:nvPr/>
          </p:nvPicPr>
          <p:blipFill rotWithShape="1">
            <a:blip r:embed="rId4">
              <a:alphaModFix/>
            </a:blip>
            <a:srcRect r="35392"/>
            <a:stretch/>
          </p:blipFill>
          <p:spPr>
            <a:xfrm>
              <a:off x="3843850" y="2838343"/>
              <a:ext cx="2292809" cy="2128132"/>
            </a:xfrm>
            <a:prstGeom prst="rect">
              <a:avLst/>
            </a:prstGeom>
            <a:noFill/>
            <a:ln>
              <a:noFill/>
            </a:ln>
          </p:spPr>
        </p:pic>
        <p:pic>
          <p:nvPicPr>
            <p:cNvPr id="111" name="Google Shape;111;p21"/>
            <p:cNvPicPr preferRelativeResize="0"/>
            <p:nvPr/>
          </p:nvPicPr>
          <p:blipFill rotWithShape="1">
            <a:blip r:embed="rId4">
              <a:alphaModFix/>
            </a:blip>
            <a:srcRect l="79937" r="254"/>
            <a:stretch/>
          </p:blipFill>
          <p:spPr>
            <a:xfrm>
              <a:off x="6136659" y="2838000"/>
              <a:ext cx="702990" cy="2128132"/>
            </a:xfrm>
            <a:prstGeom prst="rect">
              <a:avLst/>
            </a:prstGeom>
            <a:noFill/>
            <a:ln>
              <a:noFill/>
            </a:ln>
          </p:spPr>
        </p:pic>
      </p:grpSp>
      <p:grpSp>
        <p:nvGrpSpPr>
          <p:cNvPr id="112" name="Google Shape;112;p21"/>
          <p:cNvGrpSpPr/>
          <p:nvPr/>
        </p:nvGrpSpPr>
        <p:grpSpPr>
          <a:xfrm>
            <a:off x="7458807" y="3326346"/>
            <a:ext cx="1406712" cy="1733999"/>
            <a:chOff x="6902165" y="2448901"/>
            <a:chExt cx="2084636" cy="2569649"/>
          </a:xfrm>
        </p:grpSpPr>
        <p:pic>
          <p:nvPicPr>
            <p:cNvPr id="113" name="Google Shape;113;p21"/>
            <p:cNvPicPr preferRelativeResize="0"/>
            <p:nvPr/>
          </p:nvPicPr>
          <p:blipFill rotWithShape="1">
            <a:blip r:embed="rId5">
              <a:alphaModFix/>
            </a:blip>
            <a:srcRect/>
            <a:stretch/>
          </p:blipFill>
          <p:spPr>
            <a:xfrm>
              <a:off x="6914938" y="2448901"/>
              <a:ext cx="2059092" cy="1379093"/>
            </a:xfrm>
            <a:prstGeom prst="rect">
              <a:avLst/>
            </a:prstGeom>
            <a:noFill/>
            <a:ln>
              <a:noFill/>
            </a:ln>
          </p:spPr>
        </p:pic>
        <p:pic>
          <p:nvPicPr>
            <p:cNvPr id="114" name="Google Shape;114;p21" descr="Basic Soft Boiled Eggs | Get Cracking"/>
            <p:cNvPicPr preferRelativeResize="0"/>
            <p:nvPr/>
          </p:nvPicPr>
          <p:blipFill rotWithShape="1">
            <a:blip r:embed="rId6">
              <a:alphaModFix/>
            </a:blip>
            <a:srcRect/>
            <a:stretch/>
          </p:blipFill>
          <p:spPr>
            <a:xfrm>
              <a:off x="6902165" y="3573554"/>
              <a:ext cx="2084636" cy="144499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19"/>
        <p:cNvGrpSpPr/>
        <p:nvPr/>
      </p:nvGrpSpPr>
      <p:grpSpPr>
        <a:xfrm>
          <a:off x="0" y="0"/>
          <a:ext cx="0" cy="0"/>
          <a:chOff x="0" y="0"/>
          <a:chExt cx="0" cy="0"/>
        </a:xfrm>
      </p:grpSpPr>
      <p:sp>
        <p:nvSpPr>
          <p:cNvPr id="120" name="Google Shape;120;p22"/>
          <p:cNvSpPr txBox="1"/>
          <p:nvPr/>
        </p:nvSpPr>
        <p:spPr>
          <a:xfrm>
            <a:off x="600075" y="766625"/>
            <a:ext cx="4316700" cy="5916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None/>
            </a:pPr>
            <a:r>
              <a:rPr lang="en" sz="2400" b="1">
                <a:latin typeface="Patrick Hand"/>
                <a:ea typeface="Patrick Hand"/>
                <a:cs typeface="Patrick Hand"/>
                <a:sym typeface="Patrick Hand"/>
              </a:rPr>
              <a:t>T</a:t>
            </a:r>
            <a:r>
              <a:rPr lang="en" sz="2400" b="1" i="0" u="none" strike="noStrike" cap="none">
                <a:solidFill>
                  <a:srgbClr val="000000"/>
                </a:solidFill>
                <a:latin typeface="Patrick Hand"/>
                <a:ea typeface="Patrick Hand"/>
                <a:cs typeface="Patrick Hand"/>
                <a:sym typeface="Patrick Hand"/>
              </a:rPr>
              <a:t>he structure of the Earth?</a:t>
            </a:r>
            <a:r>
              <a:rPr lang="en" sz="3200" b="1" i="0" u="none" strike="noStrike" cap="none">
                <a:solidFill>
                  <a:srgbClr val="000000"/>
                </a:solidFill>
                <a:latin typeface="Comic Sans MS"/>
                <a:ea typeface="Comic Sans MS"/>
                <a:cs typeface="Comic Sans MS"/>
                <a:sym typeface="Comic Sans MS"/>
              </a:rPr>
              <a:t> </a:t>
            </a:r>
            <a:endParaRPr sz="1800" b="1" i="0" u="none" strike="noStrike" cap="none">
              <a:solidFill>
                <a:schemeClr val="dk1"/>
              </a:solidFill>
              <a:latin typeface="Calibri"/>
              <a:ea typeface="Calibri"/>
              <a:cs typeface="Calibri"/>
              <a:sym typeface="Calibri"/>
            </a:endParaRPr>
          </a:p>
        </p:txBody>
      </p:sp>
      <p:sp>
        <p:nvSpPr>
          <p:cNvPr id="121" name="Google Shape;121;p22" descr="http://www.google.co.uk/url?sa=i&amp;source=images&amp;cd=&amp;docid=KUCJlNpsNlZN7M&amp;tbnid=-BWm7AXHFCdOGM:&amp;ved=0CAUQjBw4Fg&amp;url=http%3A%2F%2Fi.telegraph.co.uk%2Fmultimedia%2Farchive%2F00800%2Fpalm-trees-motorway_800788i.jpg&amp;ei=TtO9Uta5FI2qhAeUq4GwBA&amp;psig=AFQjCNFzhqrmPCksxwe3EInIU5SsWmjGnA&amp;ust=1388258510402540"/>
          <p:cNvSpPr/>
          <p:nvPr/>
        </p:nvSpPr>
        <p:spPr>
          <a:xfrm>
            <a:off x="1190625" y="566142"/>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22" name="Google Shape;122;p22" descr="http://www.google.co.uk/url?sa=i&amp;source=images&amp;cd=&amp;docid=RT7jj81t_6SVeM&amp;tbnid=RePtR22SNIfwsM:&amp;ved=0CAUQjBw&amp;url=http%3A%2F%2F4.bp.blogspot.com%2F-UkuLqg6cWPA%2FTfDq8DQPPcI%2FAAAAAAAAA6A%2Fe1zTK8365Jo%2Fs1600%2Fwildfire.jpg&amp;ei=udO9UtGpMsmAhAeEr4HwBg&amp;psig=AFQjCNFur-GjktlJs64alnI1J9f28o_tKw&amp;ust=1388258617898972"/>
          <p:cNvSpPr/>
          <p:nvPr/>
        </p:nvSpPr>
        <p:spPr>
          <a:xfrm>
            <a:off x="1304925" y="651867"/>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23" name="Google Shape;123;p22" descr="http://www.google.co.uk/url?sa=i&amp;source=images&amp;cd=&amp;docid=ikSazqeUqvQc6M&amp;tbnid=K4wpnwQFIU0mWM:&amp;ved=0CAUQjBw&amp;url=http%3A%2F%2Fwww.enchantedlearning.com%2Fsubjects%2Fastronomy%2Fgifs%2Flabelearth.GIF&amp;ei=o-i9UtXkMsWthQeF_YHoBA&amp;psig=AFQjCNGplWDQpzUYcFw895SuunAnXIO_vQ&amp;ust=1388263971889113"/>
          <p:cNvSpPr/>
          <p:nvPr/>
        </p:nvSpPr>
        <p:spPr>
          <a:xfrm>
            <a:off x="1419225" y="737592"/>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24" name="Google Shape;124;p22" descr="http://www.google.co.uk/url?sa=i&amp;source=images&amp;cd=&amp;docid=ikSazqeUqvQc6M&amp;tbnid=K4wpnwQFIU0mWM:&amp;ved=0CAUQjBw&amp;url=http%3A%2F%2Fwww.enchantedlearning.com%2Fsubjects%2Fastronomy%2Fgifs%2Flabelearth.GIF&amp;ei=o-i9UtXkMsWthQeF_YHoBA&amp;psig=AFQjCNGplWDQpzUYcFw895SuunAnXIO_vQ&amp;ust=1388263971889113"/>
          <p:cNvSpPr/>
          <p:nvPr/>
        </p:nvSpPr>
        <p:spPr>
          <a:xfrm>
            <a:off x="1533525" y="823317"/>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25" name="Google Shape;125;p22"/>
          <p:cNvSpPr/>
          <p:nvPr/>
        </p:nvSpPr>
        <p:spPr>
          <a:xfrm>
            <a:off x="5833281" y="1748706"/>
            <a:ext cx="27822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inner core</a:t>
            </a:r>
            <a:endParaRPr sz="1800" b="0" i="0" u="none" strike="noStrike" cap="none">
              <a:solidFill>
                <a:srgbClr val="000000"/>
              </a:solidFill>
              <a:latin typeface="Comic Sans MS"/>
              <a:ea typeface="Comic Sans MS"/>
              <a:cs typeface="Comic Sans MS"/>
              <a:sym typeface="Comic Sans MS"/>
            </a:endParaRPr>
          </a:p>
        </p:txBody>
      </p:sp>
      <p:sp>
        <p:nvSpPr>
          <p:cNvPr id="126" name="Google Shape;126;p22"/>
          <p:cNvSpPr/>
          <p:nvPr/>
        </p:nvSpPr>
        <p:spPr>
          <a:xfrm>
            <a:off x="5842937" y="2498432"/>
            <a:ext cx="28113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outer core</a:t>
            </a:r>
            <a:r>
              <a:rPr lang="en" sz="1800" b="0" i="0" u="none" strike="noStrike" cap="none">
                <a:solidFill>
                  <a:srgbClr val="000000"/>
                </a:solidFill>
                <a:latin typeface="Comic Sans MS"/>
                <a:ea typeface="Comic Sans MS"/>
                <a:cs typeface="Comic Sans MS"/>
                <a:sym typeface="Comic Sans MS"/>
              </a:rPr>
              <a:t> </a:t>
            </a:r>
            <a:endParaRPr sz="1800" b="0" i="0" u="none" strike="noStrike" cap="none">
              <a:solidFill>
                <a:schemeClr val="dk1"/>
              </a:solidFill>
              <a:latin typeface="Comic Sans MS"/>
              <a:ea typeface="Comic Sans MS"/>
              <a:cs typeface="Comic Sans MS"/>
              <a:sym typeface="Comic Sans MS"/>
            </a:endParaRPr>
          </a:p>
        </p:txBody>
      </p:sp>
      <p:sp>
        <p:nvSpPr>
          <p:cNvPr id="127" name="Google Shape;127;p22"/>
          <p:cNvSpPr/>
          <p:nvPr/>
        </p:nvSpPr>
        <p:spPr>
          <a:xfrm>
            <a:off x="5842937" y="2919722"/>
            <a:ext cx="28113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mantle</a:t>
            </a:r>
            <a:endParaRPr sz="1800" b="0" i="0" u="none" strike="noStrike" cap="none">
              <a:solidFill>
                <a:srgbClr val="000000"/>
              </a:solidFill>
              <a:latin typeface="Comic Sans MS"/>
              <a:ea typeface="Comic Sans MS"/>
              <a:cs typeface="Comic Sans MS"/>
              <a:sym typeface="Comic Sans MS"/>
            </a:endParaRPr>
          </a:p>
        </p:txBody>
      </p:sp>
      <p:sp>
        <p:nvSpPr>
          <p:cNvPr id="128" name="Google Shape;128;p22"/>
          <p:cNvSpPr/>
          <p:nvPr/>
        </p:nvSpPr>
        <p:spPr>
          <a:xfrm>
            <a:off x="5833281" y="2116174"/>
            <a:ext cx="27822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crust</a:t>
            </a:r>
            <a:endParaRPr sz="1800" b="0" i="0" u="none" strike="noStrike" cap="none">
              <a:solidFill>
                <a:srgbClr val="000000"/>
              </a:solidFill>
              <a:latin typeface="Comic Sans MS"/>
              <a:ea typeface="Comic Sans MS"/>
              <a:cs typeface="Comic Sans MS"/>
              <a:sym typeface="Comic Sans MS"/>
            </a:endParaRPr>
          </a:p>
        </p:txBody>
      </p:sp>
      <p:pic>
        <p:nvPicPr>
          <p:cNvPr id="129" name="Google Shape;129;p22" descr="Related image"/>
          <p:cNvPicPr preferRelativeResize="0"/>
          <p:nvPr/>
        </p:nvPicPr>
        <p:blipFill rotWithShape="1">
          <a:blip r:embed="rId3">
            <a:alphaModFix/>
          </a:blip>
          <a:srcRect/>
          <a:stretch/>
        </p:blipFill>
        <p:spPr>
          <a:xfrm>
            <a:off x="600076" y="1358080"/>
            <a:ext cx="4316600" cy="3238924"/>
          </a:xfrm>
          <a:prstGeom prst="rect">
            <a:avLst/>
          </a:prstGeom>
          <a:noFill/>
          <a:ln>
            <a:noFill/>
          </a:ln>
        </p:spPr>
      </p:pic>
      <p:sp>
        <p:nvSpPr>
          <p:cNvPr id="130" name="Google Shape;130;p22"/>
          <p:cNvSpPr/>
          <p:nvPr/>
        </p:nvSpPr>
        <p:spPr>
          <a:xfrm>
            <a:off x="5842937" y="3327775"/>
            <a:ext cx="28113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Asthenosphere</a:t>
            </a:r>
            <a:endParaRPr sz="1800" b="0" i="0" u="none" strike="noStrike" cap="none">
              <a:solidFill>
                <a:srgbClr val="000000"/>
              </a:solidFill>
              <a:latin typeface="Comic Sans MS"/>
              <a:ea typeface="Comic Sans MS"/>
              <a:cs typeface="Comic Sans MS"/>
              <a:sym typeface="Comic Sans MS"/>
            </a:endParaRPr>
          </a:p>
        </p:txBody>
      </p:sp>
      <p:sp>
        <p:nvSpPr>
          <p:cNvPr id="131" name="Google Shape;131;p22"/>
          <p:cNvSpPr/>
          <p:nvPr/>
        </p:nvSpPr>
        <p:spPr>
          <a:xfrm>
            <a:off x="5842937" y="3728382"/>
            <a:ext cx="2811300" cy="308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Lithosphere</a:t>
            </a:r>
            <a:endParaRPr sz="1800" b="0" i="0" u="none" strike="noStrike" cap="none">
              <a:solidFill>
                <a:srgbClr val="000000"/>
              </a:solidFill>
              <a:latin typeface="Comic Sans MS"/>
              <a:ea typeface="Comic Sans MS"/>
              <a:cs typeface="Comic Sans MS"/>
              <a:sym typeface="Comic Sans MS"/>
            </a:endParaRPr>
          </a:p>
        </p:txBody>
      </p:sp>
      <p:sp>
        <p:nvSpPr>
          <p:cNvPr id="132" name="Google Shape;132;p22">
            <a:hlinkClick r:id="rId4"/>
          </p:cNvPr>
          <p:cNvSpPr/>
          <p:nvPr/>
        </p:nvSpPr>
        <p:spPr>
          <a:xfrm>
            <a:off x="-1143000" y="3571875"/>
            <a:ext cx="9600" cy="7200"/>
          </a:xfrm>
          <a:prstGeom prst="rect">
            <a:avLst/>
          </a:prstGeom>
          <a:no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33" name="Google Shape;133;p22"/>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23" descr="http://www.google.co.uk/url?sa=i&amp;source=images&amp;cd=&amp;docid=KUCJlNpsNlZN7M&amp;tbnid=-BWm7AXHFCdOGM:&amp;ved=0CAUQjBw4Fg&amp;url=http%3A%2F%2Fi.telegraph.co.uk%2Fmultimedia%2Farchive%2F00800%2Fpalm-trees-motorway_800788i.jpg&amp;ei=TtO9Uta5FI2qhAeUq4GwBA&amp;psig=AFQjCNFzhqrmPCksxwe3EInIU5SsWmjGnA&amp;ust=1388258510402540"/>
          <p:cNvSpPr/>
          <p:nvPr/>
        </p:nvSpPr>
        <p:spPr>
          <a:xfrm>
            <a:off x="1190625" y="566142"/>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40" name="Google Shape;140;p23" descr="http://www.google.co.uk/url?sa=i&amp;source=images&amp;cd=&amp;docid=RT7jj81t_6SVeM&amp;tbnid=RePtR22SNIfwsM:&amp;ved=0CAUQjBw&amp;url=http%3A%2F%2F4.bp.blogspot.com%2F-UkuLqg6cWPA%2FTfDq8DQPPcI%2FAAAAAAAAA6A%2Fe1zTK8365Jo%2Fs1600%2Fwildfire.jpg&amp;ei=udO9UtGpMsmAhAeEr4HwBg&amp;psig=AFQjCNFur-GjktlJs64alnI1J9f28o_tKw&amp;ust=1388258617898972"/>
          <p:cNvSpPr/>
          <p:nvPr/>
        </p:nvSpPr>
        <p:spPr>
          <a:xfrm>
            <a:off x="1304925" y="651867"/>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41" name="Google Shape;141;p23" descr="http://www.google.co.uk/url?sa=i&amp;source=images&amp;cd=&amp;docid=ikSazqeUqvQc6M&amp;tbnid=K4wpnwQFIU0mWM:&amp;ved=0CAUQjBw&amp;url=http%3A%2F%2Fwww.enchantedlearning.com%2Fsubjects%2Fastronomy%2Fgifs%2Flabelearth.GIF&amp;ei=o-i9UtXkMsWthQeF_YHoBA&amp;psig=AFQjCNGplWDQpzUYcFw895SuunAnXIO_vQ&amp;ust=1388263971889113"/>
          <p:cNvSpPr/>
          <p:nvPr/>
        </p:nvSpPr>
        <p:spPr>
          <a:xfrm>
            <a:off x="1419225" y="737592"/>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42" name="Google Shape;142;p23" descr="http://www.google.co.uk/url?sa=i&amp;source=images&amp;cd=&amp;docid=ikSazqeUqvQc6M&amp;tbnid=K4wpnwQFIU0mWM:&amp;ved=0CAUQjBw&amp;url=http%3A%2F%2Fwww.enchantedlearning.com%2Fsubjects%2Fastronomy%2Fgifs%2Flabelearth.GIF&amp;ei=o-i9UtXkMsWthQeF_YHoBA&amp;psig=AFQjCNGplWDQpzUYcFw895SuunAnXIO_vQ&amp;ust=1388263971889113"/>
          <p:cNvSpPr/>
          <p:nvPr/>
        </p:nvSpPr>
        <p:spPr>
          <a:xfrm>
            <a:off x="1533525" y="823317"/>
            <a:ext cx="228600" cy="1716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endParaRPr sz="1350" b="0" i="0" u="none" strike="noStrike" cap="none">
              <a:solidFill>
                <a:srgbClr val="000000"/>
              </a:solidFill>
              <a:latin typeface="Calibri"/>
              <a:ea typeface="Calibri"/>
              <a:cs typeface="Calibri"/>
              <a:sym typeface="Calibri"/>
            </a:endParaRPr>
          </a:p>
        </p:txBody>
      </p:sp>
      <p:sp>
        <p:nvSpPr>
          <p:cNvPr id="143" name="Google Shape;143;p23"/>
          <p:cNvSpPr/>
          <p:nvPr/>
        </p:nvSpPr>
        <p:spPr>
          <a:xfrm>
            <a:off x="4901689" y="4037524"/>
            <a:ext cx="2937600" cy="3006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inner core</a:t>
            </a:r>
            <a:endParaRPr sz="1800" b="0" i="0" u="none" strike="noStrike" cap="none">
              <a:solidFill>
                <a:srgbClr val="000000"/>
              </a:solidFill>
              <a:latin typeface="Comic Sans MS"/>
              <a:ea typeface="Comic Sans MS"/>
              <a:cs typeface="Comic Sans MS"/>
              <a:sym typeface="Comic Sans MS"/>
            </a:endParaRPr>
          </a:p>
        </p:txBody>
      </p:sp>
      <p:sp>
        <p:nvSpPr>
          <p:cNvPr id="144" name="Google Shape;144;p23"/>
          <p:cNvSpPr/>
          <p:nvPr/>
        </p:nvSpPr>
        <p:spPr>
          <a:xfrm>
            <a:off x="4901318" y="3505133"/>
            <a:ext cx="2968500" cy="350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outer core</a:t>
            </a:r>
            <a:r>
              <a:rPr lang="en" sz="1800" b="0" i="0" u="none" strike="noStrike" cap="none">
                <a:solidFill>
                  <a:srgbClr val="000000"/>
                </a:solidFill>
                <a:latin typeface="Comic Sans MS"/>
                <a:ea typeface="Comic Sans MS"/>
                <a:cs typeface="Comic Sans MS"/>
                <a:sym typeface="Comic Sans MS"/>
              </a:rPr>
              <a:t> </a:t>
            </a:r>
            <a:endParaRPr sz="1800" b="0" i="0" u="none" strike="noStrike" cap="none">
              <a:solidFill>
                <a:schemeClr val="dk1"/>
              </a:solidFill>
              <a:latin typeface="Comic Sans MS"/>
              <a:ea typeface="Comic Sans MS"/>
              <a:cs typeface="Comic Sans MS"/>
              <a:sym typeface="Comic Sans MS"/>
            </a:endParaRPr>
          </a:p>
        </p:txBody>
      </p:sp>
      <p:sp>
        <p:nvSpPr>
          <p:cNvPr id="145" name="Google Shape;145;p23"/>
          <p:cNvSpPr/>
          <p:nvPr/>
        </p:nvSpPr>
        <p:spPr>
          <a:xfrm>
            <a:off x="4894703" y="3045602"/>
            <a:ext cx="2944500" cy="3210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mantle</a:t>
            </a:r>
            <a:endParaRPr sz="1800" b="0" i="0" u="none" strike="noStrike" cap="none">
              <a:solidFill>
                <a:srgbClr val="000000"/>
              </a:solidFill>
              <a:latin typeface="Comic Sans MS"/>
              <a:ea typeface="Comic Sans MS"/>
              <a:cs typeface="Comic Sans MS"/>
              <a:sym typeface="Comic Sans MS"/>
            </a:endParaRPr>
          </a:p>
        </p:txBody>
      </p:sp>
      <p:sp>
        <p:nvSpPr>
          <p:cNvPr id="146" name="Google Shape;146;p23"/>
          <p:cNvSpPr/>
          <p:nvPr/>
        </p:nvSpPr>
        <p:spPr>
          <a:xfrm>
            <a:off x="4924355" y="1505332"/>
            <a:ext cx="2937600" cy="3006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The crust</a:t>
            </a:r>
            <a:endParaRPr sz="1800" b="0" i="0" u="none" strike="noStrike" cap="none">
              <a:solidFill>
                <a:srgbClr val="000000"/>
              </a:solidFill>
              <a:latin typeface="Comic Sans MS"/>
              <a:ea typeface="Comic Sans MS"/>
              <a:cs typeface="Comic Sans MS"/>
              <a:sym typeface="Comic Sans MS"/>
            </a:endParaRPr>
          </a:p>
        </p:txBody>
      </p:sp>
      <p:sp>
        <p:nvSpPr>
          <p:cNvPr id="147" name="Google Shape;147;p23"/>
          <p:cNvSpPr/>
          <p:nvPr/>
        </p:nvSpPr>
        <p:spPr>
          <a:xfrm>
            <a:off x="4909689" y="2539762"/>
            <a:ext cx="2968500" cy="3006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Asthenosphere</a:t>
            </a:r>
            <a:endParaRPr sz="1800" b="0" i="0" u="none" strike="noStrike" cap="none">
              <a:solidFill>
                <a:srgbClr val="000000"/>
              </a:solidFill>
              <a:latin typeface="Comic Sans MS"/>
              <a:ea typeface="Comic Sans MS"/>
              <a:cs typeface="Comic Sans MS"/>
              <a:sym typeface="Comic Sans MS"/>
            </a:endParaRPr>
          </a:p>
        </p:txBody>
      </p:sp>
      <p:sp>
        <p:nvSpPr>
          <p:cNvPr id="148" name="Google Shape;148;p23"/>
          <p:cNvSpPr/>
          <p:nvPr/>
        </p:nvSpPr>
        <p:spPr>
          <a:xfrm>
            <a:off x="4882838" y="2011172"/>
            <a:ext cx="2968500" cy="3147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None/>
            </a:pPr>
            <a:r>
              <a:rPr lang="en" sz="1800" b="1" i="0" u="none" strike="noStrike" cap="none">
                <a:solidFill>
                  <a:srgbClr val="000000"/>
                </a:solidFill>
                <a:latin typeface="Comic Sans MS"/>
                <a:ea typeface="Comic Sans MS"/>
                <a:cs typeface="Comic Sans MS"/>
                <a:sym typeface="Comic Sans MS"/>
              </a:rPr>
              <a:t>Lithosphere</a:t>
            </a:r>
            <a:endParaRPr sz="1800" b="0" i="0" u="none" strike="noStrike" cap="none">
              <a:solidFill>
                <a:srgbClr val="000000"/>
              </a:solidFill>
              <a:latin typeface="Comic Sans MS"/>
              <a:ea typeface="Comic Sans MS"/>
              <a:cs typeface="Comic Sans MS"/>
              <a:sym typeface="Comic Sans MS"/>
            </a:endParaRPr>
          </a:p>
        </p:txBody>
      </p:sp>
      <p:pic>
        <p:nvPicPr>
          <p:cNvPr id="149" name="Google Shape;149;p23" descr="Related image"/>
          <p:cNvPicPr preferRelativeResize="0"/>
          <p:nvPr/>
        </p:nvPicPr>
        <p:blipFill rotWithShape="1">
          <a:blip r:embed="rId3">
            <a:alphaModFix/>
          </a:blip>
          <a:srcRect/>
          <a:stretch/>
        </p:blipFill>
        <p:spPr>
          <a:xfrm>
            <a:off x="600076" y="1358080"/>
            <a:ext cx="4316600" cy="3238924"/>
          </a:xfrm>
          <a:prstGeom prst="rect">
            <a:avLst/>
          </a:prstGeom>
          <a:noFill/>
          <a:ln>
            <a:noFill/>
          </a:ln>
        </p:spPr>
      </p:pic>
      <p:sp>
        <p:nvSpPr>
          <p:cNvPr id="150" name="Google Shape;150;p23"/>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
        <p:nvSpPr>
          <p:cNvPr id="151" name="Google Shape;151;p23"/>
          <p:cNvSpPr txBox="1"/>
          <p:nvPr/>
        </p:nvSpPr>
        <p:spPr>
          <a:xfrm>
            <a:off x="600075" y="766625"/>
            <a:ext cx="4316700" cy="5916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None/>
            </a:pPr>
            <a:r>
              <a:rPr lang="en" sz="2400" b="1">
                <a:latin typeface="Patrick Hand"/>
                <a:ea typeface="Patrick Hand"/>
                <a:cs typeface="Patrick Hand"/>
                <a:sym typeface="Patrick Hand"/>
              </a:rPr>
              <a:t>T</a:t>
            </a:r>
            <a:r>
              <a:rPr lang="en" sz="2400" b="1" i="0" u="none" strike="noStrike" cap="none">
                <a:solidFill>
                  <a:srgbClr val="000000"/>
                </a:solidFill>
                <a:latin typeface="Patrick Hand"/>
                <a:ea typeface="Patrick Hand"/>
                <a:cs typeface="Patrick Hand"/>
                <a:sym typeface="Patrick Hand"/>
              </a:rPr>
              <a:t>he structure of the Earth?</a:t>
            </a:r>
            <a:r>
              <a:rPr lang="en" sz="3200" b="1" i="0" u="none" strike="noStrike" cap="none">
                <a:solidFill>
                  <a:srgbClr val="000000"/>
                </a:solidFill>
                <a:latin typeface="Comic Sans MS"/>
                <a:ea typeface="Comic Sans MS"/>
                <a:cs typeface="Comic Sans MS"/>
                <a:sym typeface="Comic Sans MS"/>
              </a:rPr>
              <a:t> </a:t>
            </a:r>
            <a:endParaRPr sz="1800" b="1"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1000"/>
                                        <p:tgtEl>
                                          <p:spTgt spid="1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fade">
                                      <p:cBhvr>
                                        <p:cTn id="17" dur="1000"/>
                                        <p:tgtEl>
                                          <p:spTgt spid="14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7"/>
                                        </p:tgtEl>
                                        <p:attrNameLst>
                                          <p:attrName>style.visibility</p:attrName>
                                        </p:attrNameLst>
                                      </p:cBhvr>
                                      <p:to>
                                        <p:strVal val="visible"/>
                                      </p:to>
                                    </p:set>
                                    <p:animEffect transition="in" filter="fade">
                                      <p:cBhvr>
                                        <p:cTn id="22" dur="1000"/>
                                        <p:tgtEl>
                                          <p:spTgt spid="1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8"/>
                                        </p:tgtEl>
                                        <p:attrNameLst>
                                          <p:attrName>style.visibility</p:attrName>
                                        </p:attrNameLst>
                                      </p:cBhvr>
                                      <p:to>
                                        <p:strVal val="visible"/>
                                      </p:to>
                                    </p:set>
                                    <p:animEffect transition="in" filter="fade">
                                      <p:cBhvr>
                                        <p:cTn id="27" dur="1000"/>
                                        <p:tgtEl>
                                          <p:spTgt spid="14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6"/>
                                        </p:tgtEl>
                                        <p:attrNameLst>
                                          <p:attrName>style.visibility</p:attrName>
                                        </p:attrNameLst>
                                      </p:cBhvr>
                                      <p:to>
                                        <p:strVal val="visible"/>
                                      </p:to>
                                    </p:set>
                                    <p:animEffect transition="in" filter="fade">
                                      <p:cBhvr>
                                        <p:cTn id="32" dur="10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4"/>
          <p:cNvSpPr txBox="1"/>
          <p:nvPr/>
        </p:nvSpPr>
        <p:spPr>
          <a:xfrm>
            <a:off x="194425" y="948425"/>
            <a:ext cx="2473500" cy="115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1:</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Complete the diagram to show the structure of the Earth</a:t>
            </a:r>
            <a:endParaRPr sz="1800">
              <a:solidFill>
                <a:schemeClr val="dk1"/>
              </a:solidFill>
              <a:latin typeface="Baumans"/>
              <a:ea typeface="Baumans"/>
              <a:cs typeface="Baumans"/>
              <a:sym typeface="Baumans"/>
            </a:endParaRPr>
          </a:p>
        </p:txBody>
      </p:sp>
      <p:sp>
        <p:nvSpPr>
          <p:cNvPr id="157" name="Google Shape;157;p24"/>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
        <p:nvSpPr>
          <p:cNvPr id="158" name="Google Shape;158;p24"/>
          <p:cNvSpPr txBox="1"/>
          <p:nvPr/>
        </p:nvSpPr>
        <p:spPr>
          <a:xfrm>
            <a:off x="3601300" y="948425"/>
            <a:ext cx="5334000" cy="205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lphaLcPeriod"/>
            </a:pPr>
            <a:r>
              <a:rPr lang="en" sz="1800">
                <a:solidFill>
                  <a:schemeClr val="dk1"/>
                </a:solidFill>
                <a:latin typeface="Baumans"/>
                <a:ea typeface="Baumans"/>
                <a:cs typeface="Baumans"/>
                <a:sym typeface="Baumans"/>
              </a:rPr>
              <a:t>Use the reading text to add notes to each part of the diagram. (Minimum of 2 key points)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Font typeface="Baumans"/>
              <a:buAutoNum type="alphaLcPeriod"/>
            </a:pPr>
            <a:r>
              <a:rPr lang="en" sz="1800">
                <a:solidFill>
                  <a:schemeClr val="dk1"/>
                </a:solidFill>
                <a:latin typeface="Baumans"/>
                <a:ea typeface="Baumans"/>
                <a:cs typeface="Baumans"/>
                <a:sym typeface="Baumans"/>
              </a:rPr>
              <a:t>Compare two layers of the Earth. Explain how they are different in terms of thickness, temperature, and state (solid or liquid). </a:t>
            </a:r>
            <a:endParaRPr>
              <a:latin typeface="Baumans"/>
              <a:ea typeface="Baumans"/>
              <a:cs typeface="Baumans"/>
              <a:sym typeface="Baumans"/>
            </a:endParaRPr>
          </a:p>
        </p:txBody>
      </p:sp>
      <p:pic>
        <p:nvPicPr>
          <p:cNvPr id="159" name="Google Shape;159;p24" title="Screenshot 2025-08-21 at 11.18.54 AM.png"/>
          <p:cNvPicPr preferRelativeResize="0"/>
          <p:nvPr/>
        </p:nvPicPr>
        <p:blipFill>
          <a:blip r:embed="rId3">
            <a:alphaModFix/>
          </a:blip>
          <a:stretch>
            <a:fillRect/>
          </a:stretch>
        </p:blipFill>
        <p:spPr>
          <a:xfrm>
            <a:off x="194423" y="2208425"/>
            <a:ext cx="2291150" cy="2588701"/>
          </a:xfrm>
          <a:prstGeom prst="rect">
            <a:avLst/>
          </a:prstGeom>
          <a:noFill/>
          <a:ln>
            <a:noFill/>
          </a:ln>
        </p:spPr>
      </p:pic>
      <p:sp>
        <p:nvSpPr>
          <p:cNvPr id="160" name="Google Shape;160;p24"/>
          <p:cNvSpPr txBox="1"/>
          <p:nvPr/>
        </p:nvSpPr>
        <p:spPr>
          <a:xfrm>
            <a:off x="3987700" y="3174700"/>
            <a:ext cx="4947600" cy="1015800"/>
          </a:xfrm>
          <a:prstGeom prst="rect">
            <a:avLst/>
          </a:prstGeom>
          <a:solidFill>
            <a:srgbClr val="CE0924"/>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Baumans"/>
                <a:ea typeface="Baumans"/>
                <a:cs typeface="Baumans"/>
                <a:sym typeface="Baumans"/>
              </a:rPr>
              <a:t>Which layer </a:t>
            </a:r>
            <a:r>
              <a:rPr lang="en" sz="1800" b="1">
                <a:solidFill>
                  <a:srgbClr val="FFFF00"/>
                </a:solidFill>
                <a:latin typeface="Baumans"/>
                <a:ea typeface="Baumans"/>
                <a:cs typeface="Baumans"/>
                <a:sym typeface="Baumans"/>
              </a:rPr>
              <a:t>do you think</a:t>
            </a:r>
            <a:r>
              <a:rPr lang="en" sz="1800" b="1">
                <a:solidFill>
                  <a:schemeClr val="lt1"/>
                </a:solidFill>
                <a:latin typeface="Baumans"/>
                <a:ea typeface="Baumans"/>
                <a:cs typeface="Baumans"/>
                <a:sym typeface="Baumans"/>
              </a:rPr>
              <a:t> has the </a:t>
            </a:r>
            <a:r>
              <a:rPr lang="en" sz="1800" b="1">
                <a:solidFill>
                  <a:srgbClr val="FFFF00"/>
                </a:solidFill>
                <a:latin typeface="Baumans"/>
                <a:ea typeface="Baumans"/>
                <a:cs typeface="Baumans"/>
                <a:sym typeface="Baumans"/>
              </a:rPr>
              <a:t>greatest influence </a:t>
            </a:r>
            <a:r>
              <a:rPr lang="en" sz="1800" b="1">
                <a:solidFill>
                  <a:schemeClr val="lt1"/>
                </a:solidFill>
                <a:latin typeface="Baumans"/>
                <a:ea typeface="Baumans"/>
                <a:cs typeface="Baumans"/>
                <a:sym typeface="Baumans"/>
              </a:rPr>
              <a:t>on life on Earth? Explain and justify your choice </a:t>
            </a:r>
            <a:r>
              <a:rPr lang="en" sz="1800" b="1">
                <a:solidFill>
                  <a:srgbClr val="FFFF00"/>
                </a:solidFill>
                <a:latin typeface="Baumans"/>
                <a:ea typeface="Baumans"/>
                <a:cs typeface="Baumans"/>
                <a:sym typeface="Baumans"/>
              </a:rPr>
              <a:t>using evidence</a:t>
            </a:r>
            <a:r>
              <a:rPr lang="en" sz="1800" b="1">
                <a:solidFill>
                  <a:schemeClr val="lt1"/>
                </a:solidFill>
                <a:latin typeface="Baumans"/>
                <a:ea typeface="Baumans"/>
                <a:cs typeface="Baumans"/>
                <a:sym typeface="Baumans"/>
              </a:rPr>
              <a:t>.</a:t>
            </a:r>
            <a:endParaRPr sz="1800" b="1">
              <a:solidFill>
                <a:schemeClr val="lt1"/>
              </a:solidFill>
              <a:latin typeface="Baumans"/>
              <a:ea typeface="Baumans"/>
              <a:cs typeface="Baumans"/>
              <a:sym typeface="Baumans"/>
            </a:endParaRPr>
          </a:p>
        </p:txBody>
      </p:sp>
      <p:grpSp>
        <p:nvGrpSpPr>
          <p:cNvPr id="161" name="Google Shape;161;p24"/>
          <p:cNvGrpSpPr/>
          <p:nvPr/>
        </p:nvGrpSpPr>
        <p:grpSpPr>
          <a:xfrm>
            <a:off x="2880175" y="3106426"/>
            <a:ext cx="1010880" cy="1152356"/>
            <a:chOff x="5426175" y="139294"/>
            <a:chExt cx="946695" cy="1152356"/>
          </a:xfrm>
        </p:grpSpPr>
        <p:pic>
          <p:nvPicPr>
            <p:cNvPr id="162" name="Google Shape;162;p24"/>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163" name="Google Shape;163;p24"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p:nvPr/>
        </p:nvSpPr>
        <p:spPr>
          <a:xfrm>
            <a:off x="76250" y="762000"/>
            <a:ext cx="5595000" cy="66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Luckiest Guy"/>
                <a:ea typeface="Luckiest Guy"/>
                <a:cs typeface="Luckiest Guy"/>
                <a:sym typeface="Luckiest Guy"/>
              </a:rPr>
              <a:t>plenary</a:t>
            </a:r>
            <a:endParaRPr sz="2400">
              <a:solidFill>
                <a:schemeClr val="dk1"/>
              </a:solidFill>
              <a:latin typeface="Luckiest Guy"/>
              <a:ea typeface="Luckiest Guy"/>
              <a:cs typeface="Luckiest Guy"/>
              <a:sym typeface="Luckiest Guy"/>
            </a:endParaRPr>
          </a:p>
        </p:txBody>
      </p:sp>
      <p:pic>
        <p:nvPicPr>
          <p:cNvPr id="169" name="Google Shape;169;p25"/>
          <p:cNvPicPr preferRelativeResize="0"/>
          <p:nvPr/>
        </p:nvPicPr>
        <p:blipFill rotWithShape="1">
          <a:blip r:embed="rId3">
            <a:alphaModFix/>
          </a:blip>
          <a:srcRect l="2695" b="3883"/>
          <a:stretch/>
        </p:blipFill>
        <p:spPr>
          <a:xfrm>
            <a:off x="197475" y="1762225"/>
            <a:ext cx="4579550" cy="3193950"/>
          </a:xfrm>
          <a:prstGeom prst="rect">
            <a:avLst/>
          </a:prstGeom>
          <a:solidFill>
            <a:srgbClr val="92D050"/>
          </a:solidFill>
          <a:ln>
            <a:noFill/>
          </a:ln>
        </p:spPr>
      </p:pic>
      <p:sp>
        <p:nvSpPr>
          <p:cNvPr id="170" name="Google Shape;170;p25"/>
          <p:cNvSpPr txBox="1"/>
          <p:nvPr/>
        </p:nvSpPr>
        <p:spPr>
          <a:xfrm>
            <a:off x="5305574" y="631074"/>
            <a:ext cx="3428400" cy="4325100"/>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Comic Sans MS"/>
              <a:buNone/>
            </a:pPr>
            <a:r>
              <a:rPr lang="en" sz="2300" b="1">
                <a:latin typeface="Calibri"/>
                <a:ea typeface="Calibri"/>
                <a:cs typeface="Calibri"/>
                <a:sym typeface="Calibri"/>
              </a:rPr>
              <a:t>Activity: Scrabble</a:t>
            </a:r>
            <a:endParaRPr sz="21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alibri"/>
              <a:buNone/>
            </a:pPr>
            <a:endParaRPr sz="21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Think of a keyword or key term from </a:t>
            </a:r>
            <a:r>
              <a:rPr lang="en" sz="2100">
                <a:latin typeface="Calibri"/>
                <a:ea typeface="Calibri"/>
                <a:cs typeface="Calibri"/>
                <a:sym typeface="Calibri"/>
              </a:rPr>
              <a:t>today’s lesson/previous humanities lessons.</a:t>
            </a: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Spell it out using the scrabble tiles and add up your points.</a:t>
            </a: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House points if your word scores the most points from the scrabble letters.</a:t>
            </a:r>
            <a:endParaRPr sz="1700" i="0" u="none" strike="noStrike" cap="none">
              <a:solidFill>
                <a:srgbClr val="000000"/>
              </a:solidFill>
              <a:latin typeface="Calibri"/>
              <a:ea typeface="Calibri"/>
              <a:cs typeface="Calibri"/>
              <a:sym typeface="Calibri"/>
            </a:endParaRPr>
          </a:p>
        </p:txBody>
      </p:sp>
      <p:pic>
        <p:nvPicPr>
          <p:cNvPr id="171" name="Google Shape;171;p25"/>
          <p:cNvPicPr preferRelativeResize="0"/>
          <p:nvPr/>
        </p:nvPicPr>
        <p:blipFill rotWithShape="1">
          <a:blip r:embed="rId4">
            <a:alphaModFix/>
          </a:blip>
          <a:srcRect b="53245"/>
          <a:stretch/>
        </p:blipFill>
        <p:spPr>
          <a:xfrm>
            <a:off x="372950" y="1157222"/>
            <a:ext cx="4085575" cy="660900"/>
          </a:xfrm>
          <a:prstGeom prst="rect">
            <a:avLst/>
          </a:prstGeom>
          <a:noFill/>
          <a:ln>
            <a:noFill/>
          </a:ln>
        </p:spPr>
      </p:pic>
      <p:sp>
        <p:nvSpPr>
          <p:cNvPr id="172" name="Google Shape;172;p25"/>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173" name="Google Shape;173;p25">
            <a:hlinkClick r:id="rId5"/>
          </p:cNvPr>
          <p:cNvPicPr preferRelativeResize="0"/>
          <p:nvPr/>
        </p:nvPicPr>
        <p:blipFill>
          <a:blip r:embed="rId6">
            <a:alphaModFix/>
          </a:blip>
          <a:stretch>
            <a:fillRect/>
          </a:stretch>
        </p:blipFill>
        <p:spPr>
          <a:xfrm>
            <a:off x="3900925" y="775215"/>
            <a:ext cx="1247300" cy="368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p:nvPr/>
        </p:nvSpPr>
        <p:spPr>
          <a:xfrm>
            <a:off x="80275" y="141450"/>
            <a:ext cx="8919900" cy="507900"/>
          </a:xfrm>
          <a:prstGeom prst="rect">
            <a:avLst/>
          </a:prstGeom>
          <a:noFill/>
          <a:ln>
            <a:noFill/>
          </a:ln>
        </p:spPr>
        <p:txBody>
          <a:bodyPr spcFirstLastPara="1" wrap="square" lIns="68575" tIns="68575" rIns="68575" bIns="68575" anchor="t" anchorCtr="0">
            <a:spAutoFit/>
          </a:bodyPr>
          <a:lstStyle/>
          <a:p>
            <a:pPr marL="0" lvl="0" indent="0" algn="ctr" rtl="0">
              <a:spcBef>
                <a:spcPts val="0"/>
              </a:spcBef>
              <a:spcAft>
                <a:spcPts val="0"/>
              </a:spcAft>
              <a:buNone/>
            </a:pPr>
            <a:r>
              <a:rPr lang="en" sz="2400">
                <a:latin typeface="Alfa Slab One"/>
                <a:ea typeface="Alfa Slab One"/>
                <a:cs typeface="Alfa Slab One"/>
                <a:sym typeface="Alfa Slab One"/>
              </a:rPr>
              <a:t>Vocabulary Match-Up</a:t>
            </a:r>
            <a:endParaRPr sz="2400">
              <a:latin typeface="Alfa Slab One"/>
              <a:ea typeface="Alfa Slab One"/>
              <a:cs typeface="Alfa Slab One"/>
              <a:sym typeface="Alfa Slab One"/>
            </a:endParaRPr>
          </a:p>
        </p:txBody>
      </p:sp>
      <p:pic>
        <p:nvPicPr>
          <p:cNvPr id="179" name="Google Shape;179;p26"/>
          <p:cNvPicPr preferRelativeResize="0"/>
          <p:nvPr/>
        </p:nvPicPr>
        <p:blipFill>
          <a:blip r:embed="rId3">
            <a:alphaModFix/>
          </a:blip>
          <a:stretch>
            <a:fillRect/>
          </a:stretch>
        </p:blipFill>
        <p:spPr>
          <a:xfrm>
            <a:off x="80274" y="123572"/>
            <a:ext cx="757481" cy="543657"/>
          </a:xfrm>
          <a:prstGeom prst="rect">
            <a:avLst/>
          </a:prstGeom>
          <a:noFill/>
          <a:ln>
            <a:noFill/>
          </a:ln>
        </p:spPr>
      </p:pic>
      <p:sp>
        <p:nvSpPr>
          <p:cNvPr id="180" name="Google Shape;180;p26"/>
          <p:cNvSpPr txBox="1"/>
          <p:nvPr/>
        </p:nvSpPr>
        <p:spPr>
          <a:xfrm>
            <a:off x="80275" y="648700"/>
            <a:ext cx="8613300" cy="50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b="1">
                <a:solidFill>
                  <a:srgbClr val="980000"/>
                </a:solidFill>
                <a:latin typeface="Poppins"/>
                <a:ea typeface="Poppins"/>
                <a:cs typeface="Poppins"/>
                <a:sym typeface="Poppins"/>
              </a:rPr>
              <a:t>Match the key term word to its’ definition.</a:t>
            </a:r>
            <a:endParaRPr sz="1800" b="1">
              <a:solidFill>
                <a:srgbClr val="980000"/>
              </a:solidFill>
              <a:latin typeface="Poppins"/>
              <a:ea typeface="Poppins"/>
              <a:cs typeface="Poppins"/>
              <a:sym typeface="Poppins"/>
            </a:endParaRPr>
          </a:p>
        </p:txBody>
      </p:sp>
      <p:sp>
        <p:nvSpPr>
          <p:cNvPr id="181" name="Google Shape;181;p26"/>
          <p:cNvSpPr/>
          <p:nvPr/>
        </p:nvSpPr>
        <p:spPr>
          <a:xfrm>
            <a:off x="80275" y="1446250"/>
            <a:ext cx="2245500" cy="506400"/>
          </a:xfrm>
          <a:prstGeom prst="roundRect">
            <a:avLst>
              <a:gd name="adj" fmla="val 16667"/>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600" b="1">
                <a:solidFill>
                  <a:schemeClr val="dk1"/>
                </a:solidFill>
                <a:latin typeface="Baumans"/>
                <a:ea typeface="Baumans"/>
                <a:cs typeface="Baumans"/>
                <a:sym typeface="Baumans"/>
              </a:rPr>
              <a:t>The crust</a:t>
            </a:r>
            <a:endParaRPr sz="1600" b="1">
              <a:latin typeface="Baumans"/>
              <a:ea typeface="Baumans"/>
              <a:cs typeface="Baumans"/>
              <a:sym typeface="Baumans"/>
            </a:endParaRPr>
          </a:p>
        </p:txBody>
      </p:sp>
      <p:sp>
        <p:nvSpPr>
          <p:cNvPr id="182" name="Google Shape;182;p26"/>
          <p:cNvSpPr/>
          <p:nvPr/>
        </p:nvSpPr>
        <p:spPr>
          <a:xfrm>
            <a:off x="80275" y="2037267"/>
            <a:ext cx="2245500" cy="506400"/>
          </a:xfrm>
          <a:prstGeom prst="roundRect">
            <a:avLst>
              <a:gd name="adj" fmla="val 16667"/>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Lithosphere</a:t>
            </a:r>
            <a:endParaRPr sz="1600" b="1">
              <a:latin typeface="Baumans"/>
              <a:ea typeface="Baumans"/>
              <a:cs typeface="Baumans"/>
              <a:sym typeface="Baumans"/>
            </a:endParaRPr>
          </a:p>
        </p:txBody>
      </p:sp>
      <p:sp>
        <p:nvSpPr>
          <p:cNvPr id="183" name="Google Shape;183;p26"/>
          <p:cNvSpPr/>
          <p:nvPr/>
        </p:nvSpPr>
        <p:spPr>
          <a:xfrm>
            <a:off x="80275" y="2618867"/>
            <a:ext cx="2245500" cy="506400"/>
          </a:xfrm>
          <a:prstGeom prst="roundRect">
            <a:avLst>
              <a:gd name="adj" fmla="val 16667"/>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Asthenosphere</a:t>
            </a:r>
            <a:endParaRPr sz="1600" b="1">
              <a:latin typeface="Baumans"/>
              <a:ea typeface="Baumans"/>
              <a:cs typeface="Baumans"/>
              <a:sym typeface="Baumans"/>
            </a:endParaRPr>
          </a:p>
        </p:txBody>
      </p:sp>
      <p:sp>
        <p:nvSpPr>
          <p:cNvPr id="184" name="Google Shape;184;p26"/>
          <p:cNvSpPr/>
          <p:nvPr/>
        </p:nvSpPr>
        <p:spPr>
          <a:xfrm>
            <a:off x="80275" y="3200442"/>
            <a:ext cx="2245500" cy="506400"/>
          </a:xfrm>
          <a:prstGeom prst="roundRect">
            <a:avLst>
              <a:gd name="adj" fmla="val 16667"/>
            </a:avLst>
          </a:prstGeom>
          <a:solidFill>
            <a:srgbClr val="6D9EE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Mantle</a:t>
            </a:r>
            <a:endParaRPr sz="1600" b="1">
              <a:latin typeface="Baumans"/>
              <a:ea typeface="Baumans"/>
              <a:cs typeface="Baumans"/>
              <a:sym typeface="Baumans"/>
            </a:endParaRPr>
          </a:p>
        </p:txBody>
      </p:sp>
      <p:sp>
        <p:nvSpPr>
          <p:cNvPr id="185" name="Google Shape;185;p26"/>
          <p:cNvSpPr/>
          <p:nvPr/>
        </p:nvSpPr>
        <p:spPr>
          <a:xfrm>
            <a:off x="80275" y="3782006"/>
            <a:ext cx="2245500" cy="506400"/>
          </a:xfrm>
          <a:prstGeom prst="roundRect">
            <a:avLst>
              <a:gd name="adj" fmla="val 16667"/>
            </a:avLst>
          </a:prstGeom>
          <a:solidFill>
            <a:srgbClr val="EA999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Outer Core</a:t>
            </a:r>
            <a:endParaRPr sz="1600" b="1">
              <a:latin typeface="Baumans"/>
              <a:ea typeface="Baumans"/>
              <a:cs typeface="Baumans"/>
              <a:sym typeface="Baumans"/>
            </a:endParaRPr>
          </a:p>
        </p:txBody>
      </p:sp>
      <p:sp>
        <p:nvSpPr>
          <p:cNvPr id="186" name="Google Shape;186;p26"/>
          <p:cNvSpPr/>
          <p:nvPr/>
        </p:nvSpPr>
        <p:spPr>
          <a:xfrm>
            <a:off x="80275" y="4363591"/>
            <a:ext cx="2245500" cy="5064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Inner Core</a:t>
            </a:r>
            <a:endParaRPr sz="1600" b="1">
              <a:latin typeface="Baumans"/>
              <a:ea typeface="Baumans"/>
              <a:cs typeface="Baumans"/>
              <a:sym typeface="Baumans"/>
            </a:endParaRPr>
          </a:p>
        </p:txBody>
      </p:sp>
      <p:sp>
        <p:nvSpPr>
          <p:cNvPr id="187" name="Google Shape;187;p26"/>
          <p:cNvSpPr/>
          <p:nvPr/>
        </p:nvSpPr>
        <p:spPr>
          <a:xfrm>
            <a:off x="3449250" y="1446250"/>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The extremely hot, solid centre of the Earth, made mainly of iron and nickel.</a:t>
            </a:r>
            <a:endParaRPr sz="1600" b="1">
              <a:latin typeface="Baumans"/>
              <a:ea typeface="Baumans"/>
              <a:cs typeface="Baumans"/>
              <a:sym typeface="Baumans"/>
            </a:endParaRPr>
          </a:p>
        </p:txBody>
      </p:sp>
      <p:sp>
        <p:nvSpPr>
          <p:cNvPr id="188" name="Google Shape;188;p26"/>
          <p:cNvSpPr/>
          <p:nvPr/>
        </p:nvSpPr>
        <p:spPr>
          <a:xfrm>
            <a:off x="3449250" y="2037267"/>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A softer, slowly flowing layer beneath the lithosphere that allows tectonic plates to move.</a:t>
            </a:r>
            <a:endParaRPr sz="1600" b="1">
              <a:latin typeface="Baumans"/>
              <a:ea typeface="Baumans"/>
              <a:cs typeface="Baumans"/>
              <a:sym typeface="Baumans"/>
            </a:endParaRPr>
          </a:p>
        </p:txBody>
      </p:sp>
      <p:sp>
        <p:nvSpPr>
          <p:cNvPr id="189" name="Google Shape;189;p26"/>
          <p:cNvSpPr/>
          <p:nvPr/>
        </p:nvSpPr>
        <p:spPr>
          <a:xfrm>
            <a:off x="3449250" y="2618867"/>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The rigid layer made up of the crust and the uppermost part of the mantle.</a:t>
            </a:r>
            <a:endParaRPr sz="1600" b="1">
              <a:latin typeface="Baumans"/>
              <a:ea typeface="Baumans"/>
              <a:cs typeface="Baumans"/>
              <a:sym typeface="Baumans"/>
            </a:endParaRPr>
          </a:p>
        </p:txBody>
      </p:sp>
      <p:sp>
        <p:nvSpPr>
          <p:cNvPr id="190" name="Google Shape;190;p26"/>
          <p:cNvSpPr/>
          <p:nvPr/>
        </p:nvSpPr>
        <p:spPr>
          <a:xfrm>
            <a:off x="3449250" y="3200442"/>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A layer of liquid iron and nickel surrounding the inner core.</a:t>
            </a:r>
            <a:endParaRPr sz="1600" b="1">
              <a:latin typeface="Baumans"/>
              <a:ea typeface="Baumans"/>
              <a:cs typeface="Baumans"/>
              <a:sym typeface="Baumans"/>
            </a:endParaRPr>
          </a:p>
        </p:txBody>
      </p:sp>
      <p:sp>
        <p:nvSpPr>
          <p:cNvPr id="191" name="Google Shape;191;p26"/>
          <p:cNvSpPr/>
          <p:nvPr/>
        </p:nvSpPr>
        <p:spPr>
          <a:xfrm>
            <a:off x="3449250" y="3782006"/>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The thick layer of hot, solid rock between the crust and the outer core.</a:t>
            </a:r>
            <a:endParaRPr sz="1600" b="1">
              <a:latin typeface="Baumans"/>
              <a:ea typeface="Baumans"/>
              <a:cs typeface="Baumans"/>
              <a:sym typeface="Baumans"/>
            </a:endParaRPr>
          </a:p>
        </p:txBody>
      </p:sp>
      <p:sp>
        <p:nvSpPr>
          <p:cNvPr id="192" name="Google Shape;192;p26"/>
          <p:cNvSpPr/>
          <p:nvPr/>
        </p:nvSpPr>
        <p:spPr>
          <a:xfrm>
            <a:off x="3449250" y="4363591"/>
            <a:ext cx="5550900" cy="50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Baumans"/>
                <a:ea typeface="Baumans"/>
                <a:cs typeface="Baumans"/>
                <a:sym typeface="Baumans"/>
              </a:rPr>
              <a:t>The thin, solid outer layer of the Earth where we live.</a:t>
            </a:r>
            <a:endParaRPr sz="1600" b="1">
              <a:latin typeface="Baumans"/>
              <a:ea typeface="Baumans"/>
              <a:cs typeface="Baumans"/>
              <a:sym typeface="Baumans"/>
            </a:endParaRPr>
          </a:p>
        </p:txBody>
      </p:sp>
      <p:cxnSp>
        <p:nvCxnSpPr>
          <p:cNvPr id="193" name="Google Shape;193;p26"/>
          <p:cNvCxnSpPr>
            <a:stCxn id="181" idx="3"/>
            <a:endCxn id="192" idx="1"/>
          </p:cNvCxnSpPr>
          <p:nvPr/>
        </p:nvCxnSpPr>
        <p:spPr>
          <a:xfrm>
            <a:off x="2325775" y="1699450"/>
            <a:ext cx="1123500" cy="2917200"/>
          </a:xfrm>
          <a:prstGeom prst="straightConnector1">
            <a:avLst/>
          </a:prstGeom>
          <a:noFill/>
          <a:ln w="38100" cap="flat" cmpd="sng">
            <a:solidFill>
              <a:srgbClr val="E6B8AF"/>
            </a:solidFill>
            <a:prstDash val="solid"/>
            <a:round/>
            <a:headEnd type="none" w="med" len="med"/>
            <a:tailEnd type="triangle" w="med" len="med"/>
          </a:ln>
        </p:spPr>
      </p:cxnSp>
      <p:cxnSp>
        <p:nvCxnSpPr>
          <p:cNvPr id="194" name="Google Shape;194;p26"/>
          <p:cNvCxnSpPr>
            <a:stCxn id="182" idx="3"/>
            <a:endCxn id="189" idx="1"/>
          </p:cNvCxnSpPr>
          <p:nvPr/>
        </p:nvCxnSpPr>
        <p:spPr>
          <a:xfrm>
            <a:off x="2325775" y="2290467"/>
            <a:ext cx="1123500" cy="581700"/>
          </a:xfrm>
          <a:prstGeom prst="straightConnector1">
            <a:avLst/>
          </a:prstGeom>
          <a:noFill/>
          <a:ln w="38100" cap="flat" cmpd="sng">
            <a:solidFill>
              <a:srgbClr val="FF9900"/>
            </a:solidFill>
            <a:prstDash val="solid"/>
            <a:round/>
            <a:headEnd type="none" w="med" len="med"/>
            <a:tailEnd type="triangle" w="med" len="med"/>
          </a:ln>
        </p:spPr>
      </p:cxnSp>
      <p:cxnSp>
        <p:nvCxnSpPr>
          <p:cNvPr id="195" name="Google Shape;195;p26"/>
          <p:cNvCxnSpPr>
            <a:stCxn id="183" idx="3"/>
            <a:endCxn id="188" idx="1"/>
          </p:cNvCxnSpPr>
          <p:nvPr/>
        </p:nvCxnSpPr>
        <p:spPr>
          <a:xfrm rot="10800000" flipH="1">
            <a:off x="2325775" y="2290367"/>
            <a:ext cx="1123500" cy="581700"/>
          </a:xfrm>
          <a:prstGeom prst="straightConnector1">
            <a:avLst/>
          </a:prstGeom>
          <a:noFill/>
          <a:ln w="38100" cap="flat" cmpd="sng">
            <a:solidFill>
              <a:srgbClr val="B6D7A8"/>
            </a:solidFill>
            <a:prstDash val="solid"/>
            <a:round/>
            <a:headEnd type="none" w="med" len="med"/>
            <a:tailEnd type="triangle" w="med" len="med"/>
          </a:ln>
        </p:spPr>
      </p:cxnSp>
      <p:cxnSp>
        <p:nvCxnSpPr>
          <p:cNvPr id="196" name="Google Shape;196;p26"/>
          <p:cNvCxnSpPr>
            <a:stCxn id="184" idx="3"/>
            <a:endCxn id="191" idx="1"/>
          </p:cNvCxnSpPr>
          <p:nvPr/>
        </p:nvCxnSpPr>
        <p:spPr>
          <a:xfrm>
            <a:off x="2325775" y="3453642"/>
            <a:ext cx="1123500" cy="581700"/>
          </a:xfrm>
          <a:prstGeom prst="straightConnector1">
            <a:avLst/>
          </a:prstGeom>
          <a:noFill/>
          <a:ln w="38100" cap="flat" cmpd="sng">
            <a:solidFill>
              <a:srgbClr val="6D9EEB"/>
            </a:solidFill>
            <a:prstDash val="solid"/>
            <a:round/>
            <a:headEnd type="none" w="med" len="med"/>
            <a:tailEnd type="triangle" w="med" len="med"/>
          </a:ln>
        </p:spPr>
      </p:cxnSp>
      <p:cxnSp>
        <p:nvCxnSpPr>
          <p:cNvPr id="197" name="Google Shape;197;p26"/>
          <p:cNvCxnSpPr>
            <a:stCxn id="185" idx="3"/>
            <a:endCxn id="190" idx="1"/>
          </p:cNvCxnSpPr>
          <p:nvPr/>
        </p:nvCxnSpPr>
        <p:spPr>
          <a:xfrm rot="10800000" flipH="1">
            <a:off x="2325775" y="3453506"/>
            <a:ext cx="1123500" cy="581700"/>
          </a:xfrm>
          <a:prstGeom prst="straightConnector1">
            <a:avLst/>
          </a:prstGeom>
          <a:noFill/>
          <a:ln w="38100" cap="flat" cmpd="sng">
            <a:solidFill>
              <a:srgbClr val="EA9999"/>
            </a:solidFill>
            <a:prstDash val="solid"/>
            <a:round/>
            <a:headEnd type="none" w="med" len="med"/>
            <a:tailEnd type="triangle" w="med" len="med"/>
          </a:ln>
        </p:spPr>
      </p:cxnSp>
      <p:cxnSp>
        <p:nvCxnSpPr>
          <p:cNvPr id="198" name="Google Shape;198;p26"/>
          <p:cNvCxnSpPr>
            <a:stCxn id="186" idx="3"/>
            <a:endCxn id="187" idx="1"/>
          </p:cNvCxnSpPr>
          <p:nvPr/>
        </p:nvCxnSpPr>
        <p:spPr>
          <a:xfrm rot="10800000" flipH="1">
            <a:off x="2325775" y="1699591"/>
            <a:ext cx="1123500" cy="2917200"/>
          </a:xfrm>
          <a:prstGeom prst="straightConnector1">
            <a:avLst/>
          </a:prstGeom>
          <a:noFill/>
          <a:ln w="38100" cap="flat" cmpd="sng">
            <a:solidFill>
              <a:srgbClr val="FFF2CC"/>
            </a:solidFill>
            <a:prstDash val="solid"/>
            <a:round/>
            <a:headEnd type="none" w="med" len="med"/>
            <a:tailEnd type="triangle" w="med" len="med"/>
          </a:ln>
        </p:spPr>
      </p:cxnSp>
      <p:pic>
        <p:nvPicPr>
          <p:cNvPr id="199" name="Google Shape;199;p26" title="Screenshot 2025-08-21 at 11.18.54 AM.png"/>
          <p:cNvPicPr preferRelativeResize="0"/>
          <p:nvPr/>
        </p:nvPicPr>
        <p:blipFill>
          <a:blip r:embed="rId4">
            <a:alphaModFix/>
          </a:blip>
          <a:stretch>
            <a:fillRect/>
          </a:stretch>
        </p:blipFill>
        <p:spPr>
          <a:xfrm>
            <a:off x="7976510" y="141450"/>
            <a:ext cx="1023664" cy="1156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7"/>
          <p:cNvSpPr txBox="1"/>
          <p:nvPr/>
        </p:nvSpPr>
        <p:spPr>
          <a:xfrm>
            <a:off x="5163901" y="845875"/>
            <a:ext cx="3884100" cy="1736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is happening beneath our feet, and how does it shape the global distribution of earthquakes and volcanoes?"</a:t>
            </a:r>
            <a:endParaRPr sz="1800" b="1">
              <a:highlight>
                <a:schemeClr val="lt1"/>
              </a:highlight>
              <a:latin typeface="Edu TAS Beginner"/>
              <a:ea typeface="Edu TAS Beginner"/>
              <a:cs typeface="Edu TAS Beginner"/>
              <a:sym typeface="Edu TAS Beginner"/>
            </a:endParaRPr>
          </a:p>
        </p:txBody>
      </p:sp>
      <p:sp>
        <p:nvSpPr>
          <p:cNvPr id="205" name="Google Shape;205;p27"/>
          <p:cNvSpPr txBox="1"/>
          <p:nvPr/>
        </p:nvSpPr>
        <p:spPr>
          <a:xfrm>
            <a:off x="96000" y="845875"/>
            <a:ext cx="5067900" cy="3441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dirty="0">
                <a:solidFill>
                  <a:schemeClr val="dk1"/>
                </a:solidFill>
                <a:latin typeface="Baumans"/>
                <a:ea typeface="Baumans"/>
                <a:cs typeface="Baumans"/>
                <a:sym typeface="Baumans"/>
              </a:rPr>
              <a:t>Success Criteria:</a:t>
            </a:r>
            <a:endParaRPr sz="1600" b="1" dirty="0">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dirty="0">
                <a:solidFill>
                  <a:schemeClr val="dk1"/>
                </a:solidFill>
                <a:latin typeface="Baumans"/>
                <a:ea typeface="Baumans"/>
                <a:cs typeface="Baumans"/>
                <a:sym typeface="Baumans"/>
              </a:rPr>
              <a:t>🌍 Meeting</a:t>
            </a:r>
            <a:br>
              <a:rPr lang="en" sz="1600" b="1" dirty="0">
                <a:solidFill>
                  <a:schemeClr val="dk1"/>
                </a:solidFill>
                <a:latin typeface="Baumans"/>
                <a:ea typeface="Baumans"/>
                <a:cs typeface="Baumans"/>
                <a:sym typeface="Baumans"/>
              </a:rPr>
            </a:br>
            <a:r>
              <a:rPr lang="en" sz="1600" dirty="0">
                <a:solidFill>
                  <a:schemeClr val="dk1"/>
                </a:solidFill>
                <a:latin typeface="Baumans"/>
                <a:ea typeface="Baumans"/>
                <a:cs typeface="Baumans"/>
                <a:sym typeface="Baumans"/>
              </a:rPr>
              <a:t> Can </a:t>
            </a:r>
            <a:r>
              <a:rPr lang="en" sz="1600" b="1" dirty="0">
                <a:solidFill>
                  <a:schemeClr val="dk1"/>
                </a:solidFill>
                <a:latin typeface="Baumans"/>
                <a:ea typeface="Baumans"/>
                <a:cs typeface="Baumans"/>
                <a:sym typeface="Baumans"/>
              </a:rPr>
              <a:t>describe Earth's layers</a:t>
            </a:r>
            <a:r>
              <a:rPr lang="en" sz="1600" dirty="0">
                <a:solidFill>
                  <a:schemeClr val="dk1"/>
                </a:solidFill>
                <a:latin typeface="Baumans"/>
                <a:ea typeface="Baumans"/>
                <a:cs typeface="Baumans"/>
                <a:sym typeface="Baumans"/>
              </a:rPr>
              <a:t> and </a:t>
            </a:r>
            <a:r>
              <a:rPr lang="en" sz="1600" b="1" dirty="0">
                <a:solidFill>
                  <a:schemeClr val="dk1"/>
                </a:solidFill>
                <a:latin typeface="Baumans"/>
                <a:ea typeface="Baumans"/>
                <a:cs typeface="Baumans"/>
                <a:sym typeface="Baumans"/>
              </a:rPr>
              <a:t>locate earthquakes and volcanoes</a:t>
            </a:r>
            <a:r>
              <a:rPr lang="en" sz="1600" dirty="0">
                <a:solidFill>
                  <a:schemeClr val="dk1"/>
                </a:solidFill>
                <a:latin typeface="Baumans"/>
                <a:ea typeface="Baumans"/>
                <a:cs typeface="Baumans"/>
                <a:sym typeface="Baumans"/>
              </a:rPr>
              <a:t>.</a:t>
            </a:r>
            <a:endParaRPr sz="1600" dirty="0">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dirty="0">
                <a:solidFill>
                  <a:schemeClr val="dk1"/>
                </a:solidFill>
                <a:latin typeface="Baumans"/>
                <a:ea typeface="Baumans"/>
                <a:cs typeface="Baumans"/>
                <a:sym typeface="Baumans"/>
              </a:rPr>
              <a:t>🔎 Exceeding</a:t>
            </a:r>
            <a:br>
              <a:rPr lang="en" sz="1600" b="1" dirty="0">
                <a:solidFill>
                  <a:schemeClr val="dk1"/>
                </a:solidFill>
                <a:latin typeface="Baumans"/>
                <a:ea typeface="Baumans"/>
                <a:cs typeface="Baumans"/>
                <a:sym typeface="Baumans"/>
              </a:rPr>
            </a:br>
            <a:r>
              <a:rPr lang="en" sz="1600" dirty="0">
                <a:solidFill>
                  <a:schemeClr val="dk1"/>
                </a:solidFill>
                <a:latin typeface="Baumans"/>
                <a:ea typeface="Baumans"/>
                <a:cs typeface="Baumans"/>
                <a:sym typeface="Baumans"/>
              </a:rPr>
              <a:t> Can </a:t>
            </a:r>
            <a:r>
              <a:rPr lang="en" sz="1600" b="1" dirty="0">
                <a:solidFill>
                  <a:schemeClr val="dk1"/>
                </a:solidFill>
                <a:latin typeface="Baumans"/>
                <a:ea typeface="Baumans"/>
                <a:cs typeface="Baumans"/>
                <a:sym typeface="Baumans"/>
              </a:rPr>
              <a:t>compare Earth's layers</a:t>
            </a:r>
            <a:r>
              <a:rPr lang="en" sz="1600" dirty="0">
                <a:solidFill>
                  <a:schemeClr val="dk1"/>
                </a:solidFill>
                <a:latin typeface="Baumans"/>
                <a:ea typeface="Baumans"/>
                <a:cs typeface="Baumans"/>
                <a:sym typeface="Baumans"/>
              </a:rPr>
              <a:t> and </a:t>
            </a:r>
            <a:r>
              <a:rPr lang="en" sz="1600" b="1" dirty="0">
                <a:solidFill>
                  <a:schemeClr val="dk1"/>
                </a:solidFill>
                <a:latin typeface="Baumans"/>
                <a:ea typeface="Baumans"/>
                <a:cs typeface="Baumans"/>
                <a:sym typeface="Baumans"/>
              </a:rPr>
              <a:t>identify patterns</a:t>
            </a:r>
            <a:r>
              <a:rPr lang="en" sz="1600" dirty="0">
                <a:solidFill>
                  <a:schemeClr val="dk1"/>
                </a:solidFill>
                <a:latin typeface="Baumans"/>
                <a:ea typeface="Baumans"/>
                <a:cs typeface="Baumans"/>
                <a:sym typeface="Baumans"/>
              </a:rPr>
              <a:t> in tectonic activity.</a:t>
            </a:r>
            <a:endParaRPr sz="1600" dirty="0">
              <a:solidFill>
                <a:schemeClr val="dk1"/>
              </a:solidFill>
              <a:latin typeface="Baumans"/>
              <a:ea typeface="Baumans"/>
              <a:cs typeface="Baumans"/>
              <a:sym typeface="Baumans"/>
            </a:endParaRPr>
          </a:p>
          <a:p>
            <a:pPr marL="0" lvl="0" indent="0" algn="l" rtl="0">
              <a:lnSpc>
                <a:spcPct val="115000"/>
              </a:lnSpc>
              <a:spcBef>
                <a:spcPts val="1200"/>
              </a:spcBef>
              <a:spcAft>
                <a:spcPts val="1200"/>
              </a:spcAft>
              <a:buNone/>
            </a:pPr>
            <a:r>
              <a:rPr lang="en" sz="1600" b="1" dirty="0">
                <a:solidFill>
                  <a:schemeClr val="dk1"/>
                </a:solidFill>
                <a:latin typeface="Baumans"/>
                <a:ea typeface="Baumans"/>
                <a:cs typeface="Baumans"/>
                <a:sym typeface="Baumans"/>
              </a:rPr>
              <a:t>🧠 Mastering</a:t>
            </a:r>
            <a:br>
              <a:rPr lang="en" sz="1600" b="1" dirty="0">
                <a:solidFill>
                  <a:schemeClr val="dk1"/>
                </a:solidFill>
                <a:latin typeface="Baumans"/>
                <a:ea typeface="Baumans"/>
                <a:cs typeface="Baumans"/>
                <a:sym typeface="Baumans"/>
              </a:rPr>
            </a:br>
            <a:r>
              <a:rPr lang="en" sz="1600" dirty="0">
                <a:solidFill>
                  <a:schemeClr val="dk1"/>
                </a:solidFill>
                <a:latin typeface="Baumans"/>
                <a:ea typeface="Baumans"/>
                <a:cs typeface="Baumans"/>
                <a:sym typeface="Baumans"/>
              </a:rPr>
              <a:t> Can </a:t>
            </a:r>
            <a:r>
              <a:rPr lang="en" sz="1600" b="1" dirty="0">
                <a:solidFill>
                  <a:schemeClr val="dk1"/>
                </a:solidFill>
                <a:latin typeface="Baumans"/>
                <a:ea typeface="Baumans"/>
                <a:cs typeface="Baumans"/>
                <a:sym typeface="Baumans"/>
              </a:rPr>
              <a:t>explain why tectonic activity occurs</a:t>
            </a:r>
            <a:r>
              <a:rPr lang="en" sz="1600" dirty="0">
                <a:solidFill>
                  <a:schemeClr val="dk1"/>
                </a:solidFill>
                <a:latin typeface="Baumans"/>
                <a:ea typeface="Baumans"/>
                <a:cs typeface="Baumans"/>
                <a:sym typeface="Baumans"/>
              </a:rPr>
              <a:t> and </a:t>
            </a:r>
            <a:r>
              <a:rPr lang="en" sz="1600" b="1" dirty="0" err="1">
                <a:solidFill>
                  <a:schemeClr val="dk1"/>
                </a:solidFill>
                <a:latin typeface="Baumans"/>
                <a:ea typeface="Baumans"/>
                <a:cs typeface="Baumans"/>
                <a:sym typeface="Baumans"/>
              </a:rPr>
              <a:t>analyse</a:t>
            </a:r>
            <a:r>
              <a:rPr lang="en" sz="1600" b="1" dirty="0">
                <a:solidFill>
                  <a:schemeClr val="dk1"/>
                </a:solidFill>
                <a:latin typeface="Baumans"/>
                <a:ea typeface="Baumans"/>
                <a:cs typeface="Baumans"/>
                <a:sym typeface="Baumans"/>
              </a:rPr>
              <a:t> global patterns</a:t>
            </a:r>
            <a:r>
              <a:rPr lang="en" sz="1600" dirty="0">
                <a:solidFill>
                  <a:schemeClr val="dk1"/>
                </a:solidFill>
                <a:latin typeface="Baumans"/>
                <a:ea typeface="Baumans"/>
                <a:cs typeface="Baumans"/>
                <a:sym typeface="Baumans"/>
              </a:rPr>
              <a:t>.</a:t>
            </a:r>
            <a:endParaRPr sz="1600" b="1" dirty="0">
              <a:solidFill>
                <a:schemeClr val="dk1"/>
              </a:solidFill>
              <a:latin typeface="Baumans"/>
              <a:ea typeface="Baumans"/>
              <a:cs typeface="Baumans"/>
              <a:sym typeface="Baumans"/>
            </a:endParaRPr>
          </a:p>
        </p:txBody>
      </p:sp>
      <p:sp>
        <p:nvSpPr>
          <p:cNvPr id="206" name="Google Shape;206;p27"/>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207" name="Google Shape;207;p27"/>
          <p:cNvPicPr preferRelativeResize="0"/>
          <p:nvPr/>
        </p:nvPicPr>
        <p:blipFill>
          <a:blip r:embed="rId3">
            <a:alphaModFix/>
          </a:blip>
          <a:stretch>
            <a:fillRect/>
          </a:stretch>
        </p:blipFill>
        <p:spPr>
          <a:xfrm>
            <a:off x="5413413" y="2581975"/>
            <a:ext cx="3385087" cy="2256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
                                        </p:tgtEl>
                                        <p:attrNameLst>
                                          <p:attrName>style.visibility</p:attrName>
                                        </p:attrNameLst>
                                      </p:cBhvr>
                                      <p:to>
                                        <p:strVal val="visible"/>
                                      </p:to>
                                    </p:set>
                                    <p:anim calcmode="lin" valueType="num">
                                      <p:cBhvr additive="base">
                                        <p:cTn id="7" dur="500" fill="hold"/>
                                        <p:tgtEl>
                                          <p:spTgt spid="205"/>
                                        </p:tgtEl>
                                        <p:attrNameLst>
                                          <p:attrName>ppt_x</p:attrName>
                                        </p:attrNameLst>
                                      </p:cBhvr>
                                      <p:tavLst>
                                        <p:tav tm="0">
                                          <p:val>
                                            <p:strVal val="#ppt_x"/>
                                          </p:val>
                                        </p:tav>
                                        <p:tav tm="100000">
                                          <p:val>
                                            <p:strVal val="#ppt_x"/>
                                          </p:val>
                                        </p:tav>
                                      </p:tavLst>
                                    </p:anim>
                                    <p:anim calcmode="lin" valueType="num">
                                      <p:cBhvr additive="base">
                                        <p:cTn id="8" dur="500" fill="hold"/>
                                        <p:tgtEl>
                                          <p:spTgt spid="2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28"/>
          <p:cNvPicPr preferRelativeResize="0"/>
          <p:nvPr/>
        </p:nvPicPr>
        <p:blipFill rotWithShape="1">
          <a:blip r:embed="rId3">
            <a:alphaModFix/>
          </a:blip>
          <a:srcRect/>
          <a:stretch/>
        </p:blipFill>
        <p:spPr>
          <a:xfrm>
            <a:off x="4757525" y="3395738"/>
            <a:ext cx="1843802" cy="1576625"/>
          </a:xfrm>
          <a:prstGeom prst="rect">
            <a:avLst/>
          </a:prstGeom>
          <a:noFill/>
          <a:ln>
            <a:noFill/>
          </a:ln>
        </p:spPr>
      </p:pic>
      <p:pic>
        <p:nvPicPr>
          <p:cNvPr id="214" name="Google Shape;214;p28" descr="Bridge Between Continents"/>
          <p:cNvPicPr preferRelativeResize="0"/>
          <p:nvPr/>
        </p:nvPicPr>
        <p:blipFill rotWithShape="1">
          <a:blip r:embed="rId4">
            <a:alphaModFix/>
          </a:blip>
          <a:srcRect/>
          <a:stretch/>
        </p:blipFill>
        <p:spPr>
          <a:xfrm>
            <a:off x="7091371" y="3395750"/>
            <a:ext cx="1843800" cy="1576625"/>
          </a:xfrm>
          <a:prstGeom prst="rect">
            <a:avLst/>
          </a:prstGeom>
          <a:noFill/>
          <a:ln>
            <a:noFill/>
          </a:ln>
        </p:spPr>
      </p:pic>
      <p:sp>
        <p:nvSpPr>
          <p:cNvPr id="215" name="Google Shape;215;p28"/>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
        <p:nvSpPr>
          <p:cNvPr id="216" name="Google Shape;216;p28"/>
          <p:cNvSpPr txBox="1"/>
          <p:nvPr/>
        </p:nvSpPr>
        <p:spPr>
          <a:xfrm>
            <a:off x="113975" y="3208600"/>
            <a:ext cx="4153500" cy="195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700">
                <a:solidFill>
                  <a:schemeClr val="dk1"/>
                </a:solidFill>
                <a:latin typeface="Baumans"/>
                <a:ea typeface="Baumans"/>
                <a:cs typeface="Baumans"/>
                <a:sym typeface="Baumans"/>
              </a:rPr>
              <a:t>The Earth’s crust is not one solid shell. Instead, it is cracked into huge pieces, a bit like the shell of a broken egg. These pieces are called </a:t>
            </a:r>
            <a:r>
              <a:rPr lang="en" sz="1700" b="1">
                <a:solidFill>
                  <a:schemeClr val="dk1"/>
                </a:solidFill>
                <a:latin typeface="Baumans"/>
                <a:ea typeface="Baumans"/>
                <a:cs typeface="Baumans"/>
                <a:sym typeface="Baumans"/>
              </a:rPr>
              <a:t>tectonic plates</a:t>
            </a:r>
            <a:r>
              <a:rPr lang="en" sz="1700">
                <a:solidFill>
                  <a:schemeClr val="dk1"/>
                </a:solidFill>
                <a:latin typeface="Baumans"/>
                <a:ea typeface="Baumans"/>
                <a:cs typeface="Baumans"/>
                <a:sym typeface="Baumans"/>
              </a:rPr>
              <a:t>. They fit together like a jigsaw puzzle and slowly move around on the softer layer beneath.</a:t>
            </a:r>
            <a:endParaRPr sz="2000">
              <a:latin typeface="Baumans"/>
              <a:ea typeface="Baumans"/>
              <a:cs typeface="Baumans"/>
              <a:sym typeface="Baumans"/>
            </a:endParaRPr>
          </a:p>
        </p:txBody>
      </p:sp>
      <p:pic>
        <p:nvPicPr>
          <p:cNvPr id="217" name="Google Shape;217;p28" descr="Tectonic_Plates"/>
          <p:cNvPicPr preferRelativeResize="0"/>
          <p:nvPr/>
        </p:nvPicPr>
        <p:blipFill rotWithShape="1">
          <a:blip r:embed="rId5">
            <a:alphaModFix/>
          </a:blip>
          <a:srcRect t="3927" b="-2091"/>
          <a:stretch/>
        </p:blipFill>
        <p:spPr>
          <a:xfrm>
            <a:off x="113976" y="761997"/>
            <a:ext cx="3704401" cy="2349900"/>
          </a:xfrm>
          <a:prstGeom prst="rect">
            <a:avLst/>
          </a:prstGeom>
          <a:noFill/>
          <a:ln>
            <a:noFill/>
          </a:ln>
        </p:spPr>
      </p:pic>
      <p:sp>
        <p:nvSpPr>
          <p:cNvPr id="218" name="Google Shape;218;p28"/>
          <p:cNvSpPr txBox="1"/>
          <p:nvPr/>
        </p:nvSpPr>
        <p:spPr>
          <a:xfrm>
            <a:off x="4267475" y="747750"/>
            <a:ext cx="4667700" cy="269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The Earth’s crust comes in two types: </a:t>
            </a:r>
            <a:r>
              <a:rPr lang="en" sz="1800" b="1">
                <a:solidFill>
                  <a:schemeClr val="dk1"/>
                </a:solidFill>
                <a:latin typeface="Baumans"/>
                <a:ea typeface="Baumans"/>
                <a:cs typeface="Baumans"/>
                <a:sym typeface="Baumans"/>
              </a:rPr>
              <a:t>oceanic crust</a:t>
            </a:r>
            <a:r>
              <a:rPr lang="en" sz="1800">
                <a:solidFill>
                  <a:schemeClr val="dk1"/>
                </a:solidFill>
                <a:latin typeface="Baumans"/>
                <a:ea typeface="Baumans"/>
                <a:cs typeface="Baumans"/>
                <a:sym typeface="Baumans"/>
              </a:rPr>
              <a:t> and </a:t>
            </a:r>
            <a:r>
              <a:rPr lang="en" sz="1800" b="1">
                <a:solidFill>
                  <a:schemeClr val="dk1"/>
                </a:solidFill>
                <a:latin typeface="Baumans"/>
                <a:ea typeface="Baumans"/>
                <a:cs typeface="Baumans"/>
                <a:sym typeface="Baumans"/>
              </a:rPr>
              <a:t>continental crust</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Char char="●"/>
            </a:pPr>
            <a:r>
              <a:rPr lang="en" sz="1800" b="1">
                <a:solidFill>
                  <a:schemeClr val="dk1"/>
                </a:solidFill>
                <a:latin typeface="Baumans"/>
                <a:ea typeface="Baumans"/>
                <a:cs typeface="Baumans"/>
                <a:sym typeface="Baumans"/>
              </a:rPr>
              <a:t>Oceanic crust</a:t>
            </a:r>
            <a:r>
              <a:rPr lang="en" sz="1800">
                <a:solidFill>
                  <a:schemeClr val="dk1"/>
                </a:solidFill>
                <a:latin typeface="Baumans"/>
                <a:ea typeface="Baumans"/>
                <a:cs typeface="Baumans"/>
                <a:sym typeface="Baumans"/>
              </a:rPr>
              <a:t> is thinner, heavier, and made mostly of dark rock like basalt. It lies under the oceans.</a:t>
            </a:r>
            <a:endParaRPr sz="1800">
              <a:solidFill>
                <a:schemeClr val="dk1"/>
              </a:solidFill>
              <a:latin typeface="Baumans"/>
              <a:ea typeface="Baumans"/>
              <a:cs typeface="Baumans"/>
              <a:sym typeface="Baumans"/>
            </a:endParaRPr>
          </a:p>
          <a:p>
            <a:pPr marL="457200" lvl="0" indent="-342900" algn="l" rtl="0">
              <a:lnSpc>
                <a:spcPct val="115000"/>
              </a:lnSpc>
              <a:spcBef>
                <a:spcPts val="0"/>
              </a:spcBef>
              <a:spcAft>
                <a:spcPts val="0"/>
              </a:spcAft>
              <a:buClr>
                <a:schemeClr val="dk1"/>
              </a:buClr>
              <a:buSzPts val="1800"/>
              <a:buChar char="●"/>
            </a:pPr>
            <a:r>
              <a:rPr lang="en" sz="1800" b="1">
                <a:solidFill>
                  <a:schemeClr val="dk1"/>
                </a:solidFill>
                <a:latin typeface="Baumans"/>
                <a:ea typeface="Baumans"/>
                <a:cs typeface="Baumans"/>
                <a:sym typeface="Baumans"/>
              </a:rPr>
              <a:t>Continental crust</a:t>
            </a:r>
            <a:r>
              <a:rPr lang="en" sz="1800">
                <a:solidFill>
                  <a:schemeClr val="dk1"/>
                </a:solidFill>
                <a:latin typeface="Baumans"/>
                <a:ea typeface="Baumans"/>
                <a:cs typeface="Baumans"/>
                <a:sym typeface="Baumans"/>
              </a:rPr>
              <a:t> is thicker, lighter, and made of lighter rocks like granite. It forms the land we live on.</a:t>
            </a:r>
            <a:endParaRPr sz="1800">
              <a:solidFill>
                <a:schemeClr val="dk1"/>
              </a:solidFill>
              <a:latin typeface="Baumans"/>
              <a:ea typeface="Baumans"/>
              <a:cs typeface="Baumans"/>
              <a:sym typeface="Baumans"/>
            </a:endParaRPr>
          </a:p>
        </p:txBody>
      </p:sp>
      <p:sp>
        <p:nvSpPr>
          <p:cNvPr id="219" name="Google Shape;219;p28"/>
          <p:cNvSpPr txBox="1"/>
          <p:nvPr/>
        </p:nvSpPr>
        <p:spPr>
          <a:xfrm>
            <a:off x="4757525" y="3395750"/>
            <a:ext cx="1843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lt1"/>
                </a:solidFill>
                <a:latin typeface="Patrick Hand"/>
                <a:ea typeface="Patrick Hand"/>
                <a:cs typeface="Patrick Hand"/>
                <a:sym typeface="Patrick Hand"/>
              </a:rPr>
              <a:t>Oceanic crust</a:t>
            </a:r>
            <a:endParaRPr>
              <a:solidFill>
                <a:schemeClr val="lt1"/>
              </a:solidFill>
              <a:latin typeface="Patrick Hand"/>
              <a:ea typeface="Patrick Hand"/>
              <a:cs typeface="Patrick Hand"/>
              <a:sym typeface="Patrick Hand"/>
            </a:endParaRPr>
          </a:p>
        </p:txBody>
      </p:sp>
      <p:sp>
        <p:nvSpPr>
          <p:cNvPr id="220" name="Google Shape;220;p28"/>
          <p:cNvSpPr txBox="1"/>
          <p:nvPr/>
        </p:nvSpPr>
        <p:spPr>
          <a:xfrm>
            <a:off x="7091375" y="3395750"/>
            <a:ext cx="1843800" cy="461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solidFill>
                  <a:schemeClr val="dk1"/>
                </a:solidFill>
                <a:latin typeface="Patrick Hand"/>
                <a:ea typeface="Patrick Hand"/>
                <a:cs typeface="Patrick Hand"/>
                <a:sym typeface="Patrick Hand"/>
              </a:rPr>
              <a:t>Continental crust</a:t>
            </a:r>
            <a:endParaRPr sz="1800">
              <a:latin typeface="Patrick Hand"/>
              <a:ea typeface="Patrick Hand"/>
              <a:cs typeface="Patrick Hand"/>
              <a:sym typeface="Patrick Han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46;p30" descr="While on his travels throughout Iceland, Zac Efron ventures across two major tectonic plates.&#10;Watch Down To Earth With Zac Efron | Tectonic Plates Clip , only on Netflix: https://www.netflix.com/title/80230487&#10;&#10;SUBSCRIBE: http://bit.ly/29qBUt7&#10;&#10;About Netflix:&#10;Netflix is the world's leading streaming entertainment service with 193 million paid memberships in over 190 countries enjoying TV series, documentaries and feature films across a wide variety of genres and languages. Members can watch as much as they want, anytime, anywhere, on any internet-connected screen. Members can play, pause and resume watching, all without commercials or commitments.&#10;&#10;Down To Earth With Zac Efron | Tectonic Plates Clip | Netflix&#10;https://youtube.com/Netflix&#10;&#10;Actor Zac Efron journeys around the world with wellness expert Darin Olien in a travel show that explores healthy, sustainable ways to live." title="Down To Earth With Zac Efron | Tectonic Plates Clip | Netflix">
            <a:hlinkClick r:id="rId2"/>
            <a:extLst>
              <a:ext uri="{FF2B5EF4-FFF2-40B4-BE49-F238E27FC236}">
                <a16:creationId xmlns:a16="http://schemas.microsoft.com/office/drawing/2014/main" id="{CABA786D-DD59-4D5A-764C-E289E3BC350C}"/>
              </a:ext>
            </a:extLst>
          </p:cNvPr>
          <p:cNvPicPr preferRelativeResize="0"/>
          <p:nvPr/>
        </p:nvPicPr>
        <p:blipFill>
          <a:blip r:embed="rId3">
            <a:alphaModFix/>
          </a:blip>
          <a:stretch>
            <a:fillRect/>
          </a:stretch>
        </p:blipFill>
        <p:spPr>
          <a:xfrm>
            <a:off x="1025718" y="735646"/>
            <a:ext cx="7354456" cy="3672207"/>
          </a:xfrm>
          <a:prstGeom prst="rect">
            <a:avLst/>
          </a:prstGeom>
          <a:noFill/>
          <a:ln>
            <a:noFill/>
          </a:ln>
        </p:spPr>
      </p:pic>
    </p:spTree>
    <p:extLst>
      <p:ext uri="{BB962C8B-B14F-4D97-AF65-F5344CB8AC3E}">
        <p14:creationId xmlns:p14="http://schemas.microsoft.com/office/powerpoint/2010/main" val="77619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9"/>
          <p:cNvPicPr preferRelativeResize="0"/>
          <p:nvPr/>
        </p:nvPicPr>
        <p:blipFill rotWithShape="1">
          <a:blip r:embed="rId3">
            <a:alphaModFix/>
          </a:blip>
          <a:srcRect/>
          <a:stretch/>
        </p:blipFill>
        <p:spPr>
          <a:xfrm>
            <a:off x="4757700" y="655086"/>
            <a:ext cx="784591" cy="784591"/>
          </a:xfrm>
          <a:prstGeom prst="rect">
            <a:avLst/>
          </a:prstGeom>
          <a:noFill/>
          <a:ln>
            <a:noFill/>
          </a:ln>
        </p:spPr>
      </p:pic>
      <p:sp>
        <p:nvSpPr>
          <p:cNvPr id="226" name="Google Shape;226;p29"/>
          <p:cNvSpPr txBox="1"/>
          <p:nvPr/>
        </p:nvSpPr>
        <p:spPr>
          <a:xfrm>
            <a:off x="5619300" y="768075"/>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chemeClr val="lt1"/>
                </a:highlight>
                <a:latin typeface="Finger Paint"/>
                <a:ea typeface="Finger Paint"/>
                <a:cs typeface="Finger Paint"/>
                <a:sym typeface="Finger Paint"/>
              </a:rPr>
              <a:t>True</a:t>
            </a:r>
            <a:r>
              <a:rPr lang="en" sz="2400" b="1" i="0" u="none" strike="noStrike" cap="none">
                <a:solidFill>
                  <a:schemeClr val="dk1"/>
                </a:solidFill>
                <a:highlight>
                  <a:schemeClr val="lt1"/>
                </a:highlight>
                <a:latin typeface="Finger Paint"/>
                <a:ea typeface="Finger Paint"/>
                <a:cs typeface="Finger Paint"/>
                <a:sym typeface="Finger Paint"/>
              </a:rPr>
              <a:t> Or </a:t>
            </a:r>
            <a:r>
              <a:rPr lang="en" sz="2400" b="1" i="0" u="none" strike="noStrike" cap="none">
                <a:solidFill>
                  <a:srgbClr val="F63741"/>
                </a:solidFill>
                <a:highlight>
                  <a:schemeClr val="lt1"/>
                </a:highlight>
                <a:latin typeface="Finger Paint"/>
                <a:ea typeface="Finger Paint"/>
                <a:cs typeface="Finger Paint"/>
                <a:sym typeface="Finger Paint"/>
              </a:rPr>
              <a:t>False</a:t>
            </a:r>
            <a:endParaRPr sz="2000" b="0" i="0" u="none" strike="noStrike" cap="none">
              <a:solidFill>
                <a:srgbClr val="F63741"/>
              </a:solidFill>
              <a:highlight>
                <a:schemeClr val="lt1"/>
              </a:highlight>
              <a:latin typeface="Arial"/>
              <a:ea typeface="Arial"/>
              <a:cs typeface="Arial"/>
              <a:sym typeface="Arial"/>
            </a:endParaRPr>
          </a:p>
        </p:txBody>
      </p:sp>
      <p:sp>
        <p:nvSpPr>
          <p:cNvPr id="227" name="Google Shape;227;p29"/>
          <p:cNvSpPr txBox="1"/>
          <p:nvPr/>
        </p:nvSpPr>
        <p:spPr>
          <a:xfrm>
            <a:off x="4757700" y="1439675"/>
            <a:ext cx="4290300" cy="3055500"/>
          </a:xfrm>
          <a:prstGeom prst="rect">
            <a:avLst/>
          </a:prstGeom>
          <a:noFill/>
          <a:ln>
            <a:noFill/>
          </a:ln>
        </p:spPr>
        <p:txBody>
          <a:bodyPr spcFirstLastPara="1" wrap="square" lIns="91425" tIns="91425" rIns="91425" bIns="91425" anchor="t" anchorCtr="0">
            <a:spAutoFit/>
          </a:bodyPr>
          <a:lstStyle/>
          <a:p>
            <a:pPr marL="342900" marR="0" lvl="0" indent="-254000" algn="l" rtl="0">
              <a:lnSpc>
                <a:spcPct val="115000"/>
              </a:lnSpc>
              <a:spcBef>
                <a:spcPts val="0"/>
              </a:spcBef>
              <a:spcAft>
                <a:spcPts val="0"/>
              </a:spcAft>
              <a:buSzPts val="1400"/>
              <a:buFont typeface="Baumans"/>
              <a:buAutoNum type="arabicPeriod"/>
            </a:pPr>
            <a:r>
              <a:rPr lang="en" b="1">
                <a:latin typeface="Baumans"/>
                <a:ea typeface="Baumans"/>
                <a:cs typeface="Baumans"/>
                <a:sym typeface="Baumans"/>
              </a:rPr>
              <a:t>The lithosphere is made up of the Earth's crust and part of the upper mantle.</a:t>
            </a:r>
            <a:endParaRPr b="1">
              <a:latin typeface="Baumans"/>
              <a:ea typeface="Baumans"/>
              <a:cs typeface="Baumans"/>
              <a:sym typeface="Baumans"/>
            </a:endParaRPr>
          </a:p>
          <a:p>
            <a:pPr marL="0" marR="0" lvl="0" indent="0" algn="l" rtl="0">
              <a:lnSpc>
                <a:spcPct val="115000"/>
              </a:lnSpc>
              <a:spcBef>
                <a:spcPts val="0"/>
              </a:spcBef>
              <a:spcAft>
                <a:spcPts val="0"/>
              </a:spcAft>
              <a:buNone/>
            </a:pPr>
            <a:endParaRPr sz="600" b="1">
              <a:latin typeface="Baumans"/>
              <a:ea typeface="Baumans"/>
              <a:cs typeface="Baumans"/>
              <a:sym typeface="Baumans"/>
            </a:endParaRPr>
          </a:p>
          <a:p>
            <a:pPr marL="342900" marR="0" lvl="0" indent="-254000" algn="l" rtl="0">
              <a:lnSpc>
                <a:spcPct val="115000"/>
              </a:lnSpc>
              <a:spcBef>
                <a:spcPts val="0"/>
              </a:spcBef>
              <a:spcAft>
                <a:spcPts val="0"/>
              </a:spcAft>
              <a:buSzPts val="1400"/>
              <a:buFont typeface="Baumans"/>
              <a:buAutoNum type="arabicPeriod"/>
            </a:pPr>
            <a:r>
              <a:rPr lang="en" b="1">
                <a:latin typeface="Baumans"/>
                <a:ea typeface="Baumans"/>
                <a:cs typeface="Baumans"/>
                <a:sym typeface="Baumans"/>
              </a:rPr>
              <a:t>Tectonic plates move quickly enough for people to feel them moving every day.</a:t>
            </a:r>
            <a:endParaRPr b="1">
              <a:latin typeface="Baumans"/>
              <a:ea typeface="Baumans"/>
              <a:cs typeface="Baumans"/>
              <a:sym typeface="Baumans"/>
            </a:endParaRPr>
          </a:p>
          <a:p>
            <a:pPr marL="0" marR="0" lvl="0" indent="0" algn="l" rtl="0">
              <a:lnSpc>
                <a:spcPct val="115000"/>
              </a:lnSpc>
              <a:spcBef>
                <a:spcPts val="0"/>
              </a:spcBef>
              <a:spcAft>
                <a:spcPts val="0"/>
              </a:spcAft>
              <a:buNone/>
            </a:pPr>
            <a:endParaRPr sz="600" b="1">
              <a:latin typeface="Baumans"/>
              <a:ea typeface="Baumans"/>
              <a:cs typeface="Baumans"/>
              <a:sym typeface="Baumans"/>
            </a:endParaRPr>
          </a:p>
          <a:p>
            <a:pPr marL="342900" marR="0" lvl="0" indent="-254000" algn="l" rtl="0">
              <a:lnSpc>
                <a:spcPct val="115000"/>
              </a:lnSpc>
              <a:spcBef>
                <a:spcPts val="0"/>
              </a:spcBef>
              <a:spcAft>
                <a:spcPts val="0"/>
              </a:spcAft>
              <a:buSzPts val="1400"/>
              <a:buFont typeface="Baumans"/>
              <a:buAutoNum type="arabicPeriod"/>
            </a:pPr>
            <a:r>
              <a:rPr lang="en" b="1">
                <a:latin typeface="Baumans"/>
                <a:ea typeface="Baumans"/>
                <a:cs typeface="Baumans"/>
                <a:sym typeface="Baumans"/>
              </a:rPr>
              <a:t>At a convergent boundary, two tectonic plates move towards each other.</a:t>
            </a:r>
            <a:endParaRPr b="1">
              <a:latin typeface="Baumans"/>
              <a:ea typeface="Baumans"/>
              <a:cs typeface="Baumans"/>
              <a:sym typeface="Baumans"/>
            </a:endParaRPr>
          </a:p>
          <a:p>
            <a:pPr marL="0" marR="0" lvl="0" indent="0" algn="l" rtl="0">
              <a:lnSpc>
                <a:spcPct val="115000"/>
              </a:lnSpc>
              <a:spcBef>
                <a:spcPts val="0"/>
              </a:spcBef>
              <a:spcAft>
                <a:spcPts val="0"/>
              </a:spcAft>
              <a:buNone/>
            </a:pPr>
            <a:endParaRPr sz="600" b="1">
              <a:latin typeface="Baumans"/>
              <a:ea typeface="Baumans"/>
              <a:cs typeface="Baumans"/>
              <a:sym typeface="Baumans"/>
            </a:endParaRPr>
          </a:p>
          <a:p>
            <a:pPr marL="342900" marR="0" lvl="0" indent="-254000" algn="l" rtl="0">
              <a:lnSpc>
                <a:spcPct val="115000"/>
              </a:lnSpc>
              <a:spcBef>
                <a:spcPts val="0"/>
              </a:spcBef>
              <a:spcAft>
                <a:spcPts val="0"/>
              </a:spcAft>
              <a:buSzPts val="1400"/>
              <a:buFont typeface="Baumans"/>
              <a:buAutoNum type="arabicPeriod"/>
            </a:pPr>
            <a:r>
              <a:rPr lang="en" b="1">
                <a:latin typeface="Baumans"/>
                <a:ea typeface="Baumans"/>
                <a:cs typeface="Baumans"/>
                <a:sym typeface="Baumans"/>
              </a:rPr>
              <a:t>At a divergent boundary, tectonic plates move away from each other.</a:t>
            </a:r>
            <a:endParaRPr b="1">
              <a:latin typeface="Baumans"/>
              <a:ea typeface="Baumans"/>
              <a:cs typeface="Baumans"/>
              <a:sym typeface="Baumans"/>
            </a:endParaRPr>
          </a:p>
          <a:p>
            <a:pPr marL="0" marR="0" lvl="0" indent="0" algn="l" rtl="0">
              <a:lnSpc>
                <a:spcPct val="115000"/>
              </a:lnSpc>
              <a:spcBef>
                <a:spcPts val="0"/>
              </a:spcBef>
              <a:spcAft>
                <a:spcPts val="0"/>
              </a:spcAft>
              <a:buNone/>
            </a:pPr>
            <a:endParaRPr sz="600" b="1">
              <a:latin typeface="Baumans"/>
              <a:ea typeface="Baumans"/>
              <a:cs typeface="Baumans"/>
              <a:sym typeface="Baumans"/>
            </a:endParaRPr>
          </a:p>
          <a:p>
            <a:pPr marL="342900" marR="0" lvl="0" indent="-254000" algn="l" rtl="0">
              <a:lnSpc>
                <a:spcPct val="115000"/>
              </a:lnSpc>
              <a:spcBef>
                <a:spcPts val="0"/>
              </a:spcBef>
              <a:spcAft>
                <a:spcPts val="0"/>
              </a:spcAft>
              <a:buSzPts val="1400"/>
              <a:buFont typeface="Baumans"/>
              <a:buAutoNum type="arabicPeriod"/>
            </a:pPr>
            <a:r>
              <a:rPr lang="en" b="1">
                <a:latin typeface="Baumans"/>
                <a:ea typeface="Baumans"/>
                <a:cs typeface="Baumans"/>
                <a:sym typeface="Baumans"/>
              </a:rPr>
              <a:t>Pangaea was a giant landmass that existed more than 250 million years ago.</a:t>
            </a:r>
            <a:endParaRPr b="1">
              <a:latin typeface="Baumans"/>
              <a:ea typeface="Baumans"/>
              <a:cs typeface="Baumans"/>
              <a:sym typeface="Baumans"/>
            </a:endParaRPr>
          </a:p>
        </p:txBody>
      </p:sp>
      <p:sp>
        <p:nvSpPr>
          <p:cNvPr id="228" name="Google Shape;228;p29"/>
          <p:cNvSpPr txBox="1"/>
          <p:nvPr/>
        </p:nvSpPr>
        <p:spPr>
          <a:xfrm>
            <a:off x="111263" y="761995"/>
            <a:ext cx="8836800" cy="445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highlight>
                  <a:schemeClr val="lt1"/>
                </a:highlight>
                <a:latin typeface="Patrick Hand"/>
                <a:ea typeface="Patrick Hand"/>
                <a:cs typeface="Patrick Hand"/>
                <a:sym typeface="Patrick Hand"/>
              </a:rPr>
              <a:t>↔️</a:t>
            </a:r>
            <a:r>
              <a:rPr lang="en" sz="1800" b="1" i="0" u="none" strike="noStrike" cap="none">
                <a:solidFill>
                  <a:schemeClr val="dk1"/>
                </a:solidFill>
                <a:highlight>
                  <a:schemeClr val="lt1"/>
                </a:highlight>
                <a:latin typeface="Patrick Hand"/>
                <a:ea typeface="Patrick Hand"/>
                <a:cs typeface="Patrick Hand"/>
                <a:sym typeface="Patrick Hand"/>
              </a:rPr>
              <a:t> </a:t>
            </a:r>
            <a:r>
              <a:rPr lang="en" sz="1800" b="1">
                <a:solidFill>
                  <a:schemeClr val="dk1"/>
                </a:solidFill>
                <a:highlight>
                  <a:schemeClr val="lt1"/>
                </a:highlight>
                <a:latin typeface="Patrick Hand"/>
                <a:ea typeface="Patrick Hand"/>
                <a:cs typeface="Patrick Hand"/>
                <a:sym typeface="Patrick Hand"/>
              </a:rPr>
              <a:t>Plate Tectonics</a:t>
            </a:r>
            <a:endParaRPr sz="1800" b="1">
              <a:solidFill>
                <a:schemeClr val="dk1"/>
              </a:solidFill>
              <a:highlight>
                <a:schemeClr val="lt1"/>
              </a:highlight>
              <a:latin typeface="Patrick Hand"/>
              <a:ea typeface="Patrick Hand"/>
              <a:cs typeface="Patrick Hand"/>
              <a:sym typeface="Patrick Hand"/>
            </a:endParaRPr>
          </a:p>
        </p:txBody>
      </p:sp>
      <p:sp>
        <p:nvSpPr>
          <p:cNvPr id="229" name="Google Shape;229;p29"/>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230" name="Google Shape;230;p29"/>
          <p:cNvPicPr preferRelativeResize="0"/>
          <p:nvPr/>
        </p:nvPicPr>
        <p:blipFill rotWithShape="1">
          <a:blip r:embed="rId4">
            <a:alphaModFix/>
          </a:blip>
          <a:srcRect l="25716" t="15310" r="25672" b="17805"/>
          <a:stretch/>
        </p:blipFill>
        <p:spPr>
          <a:xfrm>
            <a:off x="4661819" y="1493431"/>
            <a:ext cx="497449" cy="456300"/>
          </a:xfrm>
          <a:prstGeom prst="rect">
            <a:avLst/>
          </a:prstGeom>
          <a:noFill/>
          <a:ln>
            <a:noFill/>
          </a:ln>
        </p:spPr>
      </p:pic>
      <p:pic>
        <p:nvPicPr>
          <p:cNvPr id="231" name="Google Shape;231;p29"/>
          <p:cNvPicPr preferRelativeResize="0"/>
          <p:nvPr/>
        </p:nvPicPr>
        <p:blipFill rotWithShape="1">
          <a:blip r:embed="rId5">
            <a:alphaModFix/>
          </a:blip>
          <a:srcRect l="26264" t="15218" r="24368" b="18067"/>
          <a:stretch/>
        </p:blipFill>
        <p:spPr>
          <a:xfrm>
            <a:off x="4661819" y="2123616"/>
            <a:ext cx="497449" cy="448146"/>
          </a:xfrm>
          <a:prstGeom prst="rect">
            <a:avLst/>
          </a:prstGeom>
          <a:noFill/>
          <a:ln>
            <a:noFill/>
          </a:ln>
        </p:spPr>
      </p:pic>
      <p:pic>
        <p:nvPicPr>
          <p:cNvPr id="232" name="Google Shape;232;p29"/>
          <p:cNvPicPr preferRelativeResize="0"/>
          <p:nvPr/>
        </p:nvPicPr>
        <p:blipFill rotWithShape="1">
          <a:blip r:embed="rId4">
            <a:alphaModFix/>
          </a:blip>
          <a:srcRect l="25716" t="15310" r="25672" b="17805"/>
          <a:stretch/>
        </p:blipFill>
        <p:spPr>
          <a:xfrm>
            <a:off x="4661819" y="2745643"/>
            <a:ext cx="497449" cy="456300"/>
          </a:xfrm>
          <a:prstGeom prst="rect">
            <a:avLst/>
          </a:prstGeom>
          <a:noFill/>
          <a:ln>
            <a:noFill/>
          </a:ln>
        </p:spPr>
      </p:pic>
      <p:pic>
        <p:nvPicPr>
          <p:cNvPr id="233" name="Google Shape;233;p29"/>
          <p:cNvPicPr preferRelativeResize="0"/>
          <p:nvPr/>
        </p:nvPicPr>
        <p:blipFill rotWithShape="1">
          <a:blip r:embed="rId4">
            <a:alphaModFix/>
          </a:blip>
          <a:srcRect l="25716" t="15310" r="25672" b="17805"/>
          <a:stretch/>
        </p:blipFill>
        <p:spPr>
          <a:xfrm>
            <a:off x="4661819" y="3312113"/>
            <a:ext cx="497449" cy="456300"/>
          </a:xfrm>
          <a:prstGeom prst="rect">
            <a:avLst/>
          </a:prstGeom>
          <a:noFill/>
          <a:ln>
            <a:noFill/>
          </a:ln>
        </p:spPr>
      </p:pic>
      <p:pic>
        <p:nvPicPr>
          <p:cNvPr id="234" name="Google Shape;234;p29"/>
          <p:cNvPicPr preferRelativeResize="0"/>
          <p:nvPr/>
        </p:nvPicPr>
        <p:blipFill rotWithShape="1">
          <a:blip r:embed="rId4">
            <a:alphaModFix/>
          </a:blip>
          <a:srcRect l="25716" t="15310" r="25672" b="17805"/>
          <a:stretch/>
        </p:blipFill>
        <p:spPr>
          <a:xfrm>
            <a:off x="4661819" y="3878563"/>
            <a:ext cx="497449" cy="456300"/>
          </a:xfrm>
          <a:prstGeom prst="rect">
            <a:avLst/>
          </a:prstGeom>
          <a:noFill/>
          <a:ln>
            <a:noFill/>
          </a:ln>
        </p:spPr>
      </p:pic>
      <p:pic>
        <p:nvPicPr>
          <p:cNvPr id="235" name="Google Shape;235;p29" descr="In this video we will explain plate tectonics for kids!  Together we will learn about the two main types of tectonic plates, Oceanic and Continental. We also cover the 3 kinds of boundaries which are: Convergent, Divergent, and Transform. This helps us understand exactly how the plate tectonics move AND what happens when they do. We will also learn about Pangaea and how all of the plates were once together and over millions the plate tectonics have cause the continents to separate. &#10;&#10;Don't just stop with this video.  Visit us at https://learnbright.org/lessons/science/plate-tectonics/ and download your free 12 page lesson plane with more plate tectonics worksheets, activities and more! &#10;&#10;Check out some of our other videos related to plate tectonics here: &#10;Volcanoes: https://youtu.be/3Jxeh-yAXek&#10;Earthquakes &amp; Tsunamis: https://youtu.be/Q-v-G1iL67w&#10;&#10;Thank you for watching and learning with us! We’re constantly releasing new content and videos, so click that “Subscribe” button and you’ll get notified.&#10;&#10;Find and Follow Us Online: &#10;Facebook: https://www.facebook.com/LearnBright/ &#10;Instagram: https://instagram.com/LearnBrightEducation&#10;Pinterest: https://pinterest.com/LearnBrightEducation &#10;YouTube: https://www.youtube.com/LearnBright &#10;Website: https://learnbright.org/&#10;&#10;*Teachers and Parents! Did you know? In addition to these great videos, we have also created a library of high quality and engaging lessons for your elementary aged student(s). Visit us, sign up for a free account, and instantly you'll have access to thousands of lesson plans, learning materials, teaching instructions, activities, and assignments that your kids will really enjoy! We hope to see you soon! &#10;&#10;Browse our entire collection of Science lesson plans: https://learnbright.org/lessons/?filter_subject=science&#10;&#10;#PlateTectonicsForKids&#10;#TectonicPlates" title="Plate Tectonics for Kids | Tectonic plates explained">
            <a:hlinkClick r:id="rId6"/>
          </p:cNvPr>
          <p:cNvPicPr preferRelativeResize="0"/>
          <p:nvPr/>
        </p:nvPicPr>
        <p:blipFill>
          <a:blip r:embed="rId7">
            <a:alphaModFix/>
          </a:blip>
          <a:stretch>
            <a:fillRect/>
          </a:stretch>
        </p:blipFill>
        <p:spPr>
          <a:xfrm>
            <a:off x="101100" y="1286100"/>
            <a:ext cx="4475955" cy="2517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31"/>
          <p:cNvPicPr preferRelativeResize="0"/>
          <p:nvPr/>
        </p:nvPicPr>
        <p:blipFill rotWithShape="1">
          <a:blip r:embed="rId3">
            <a:alphaModFix/>
          </a:blip>
          <a:srcRect/>
          <a:stretch/>
        </p:blipFill>
        <p:spPr>
          <a:xfrm>
            <a:off x="431400" y="762000"/>
            <a:ext cx="4140598" cy="2719570"/>
          </a:xfrm>
          <a:prstGeom prst="rect">
            <a:avLst/>
          </a:prstGeom>
          <a:noFill/>
          <a:ln>
            <a:noFill/>
          </a:ln>
        </p:spPr>
      </p:pic>
      <p:sp>
        <p:nvSpPr>
          <p:cNvPr id="252" name="Google Shape;252;p31"/>
          <p:cNvSpPr txBox="1"/>
          <p:nvPr/>
        </p:nvSpPr>
        <p:spPr>
          <a:xfrm>
            <a:off x="4884250" y="837925"/>
            <a:ext cx="4140600" cy="4076100"/>
          </a:xfrm>
          <a:prstGeom prst="rect">
            <a:avLst/>
          </a:prstGeom>
          <a:solidFill>
            <a:srgbClr val="FFF2CC"/>
          </a:solidFill>
          <a:ln>
            <a:noFill/>
          </a:ln>
        </p:spPr>
        <p:txBody>
          <a:bodyPr spcFirstLastPara="1" wrap="square" lIns="91425" tIns="45700" rIns="91425" bIns="45700" anchor="t" anchorCtr="0">
            <a:noAutofit/>
          </a:bodyPr>
          <a:lstStyle/>
          <a:p>
            <a:pPr marL="0" marR="0" lvl="1" indent="0" algn="l" rtl="0">
              <a:spcBef>
                <a:spcPts val="0"/>
              </a:spcBef>
              <a:spcAft>
                <a:spcPts val="0"/>
              </a:spcAft>
              <a:buNone/>
            </a:pPr>
            <a:r>
              <a:rPr lang="en" b="1">
                <a:solidFill>
                  <a:schemeClr val="dk1"/>
                </a:solidFill>
                <a:highlight>
                  <a:srgbClr val="00FF00"/>
                </a:highlight>
                <a:latin typeface="Baumans"/>
                <a:ea typeface="Baumans"/>
                <a:cs typeface="Baumans"/>
                <a:sym typeface="Baumans"/>
              </a:rPr>
              <a:t>Activity:</a:t>
            </a:r>
            <a:r>
              <a:rPr lang="en" b="1">
                <a:solidFill>
                  <a:schemeClr val="dk1"/>
                </a:solidFill>
                <a:latin typeface="Baumans"/>
                <a:ea typeface="Baumans"/>
                <a:cs typeface="Baumans"/>
                <a:sym typeface="Baumans"/>
              </a:rPr>
              <a:t> Use your map to help you answer the following questions:</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Which tectonic plate is Malaysia located on?</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Which tectonic plate is India located on?</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Which direction is the African Plate moving?</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Which direction is the Antarctic Plate moving?</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Which direction is the Nazca Plate moving?</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What type of plate boundary is found in the middle of the Atlantic Ocean?</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How are the plates moving at this boundary?</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What type of plate boundary is found between the Nazca Plate and South American Plate?</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How are the plates moving at this boundary?</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How do plates move at a conservative plate boundary?</a:t>
            </a:r>
            <a:endParaRPr>
              <a:solidFill>
                <a:schemeClr val="dk1"/>
              </a:solidFill>
              <a:latin typeface="Baumans"/>
              <a:ea typeface="Baumans"/>
              <a:cs typeface="Baumans"/>
              <a:sym typeface="Baumans"/>
            </a:endParaRPr>
          </a:p>
          <a:p>
            <a:pPr marL="457200" marR="0" lvl="0" indent="-317500" algn="l" rtl="0">
              <a:spcBef>
                <a:spcPts val="0"/>
              </a:spcBef>
              <a:spcAft>
                <a:spcPts val="0"/>
              </a:spcAft>
              <a:buClr>
                <a:schemeClr val="dk1"/>
              </a:buClr>
              <a:buSzPts val="1400"/>
              <a:buFont typeface="Baumans"/>
              <a:buAutoNum type="arabicPeriod"/>
            </a:pPr>
            <a:r>
              <a:rPr lang="en">
                <a:solidFill>
                  <a:schemeClr val="dk1"/>
                </a:solidFill>
                <a:latin typeface="Baumans"/>
                <a:ea typeface="Baumans"/>
                <a:cs typeface="Baumans"/>
                <a:sym typeface="Baumans"/>
              </a:rPr>
              <a:t>Why are there very few earthquakes and no volcanoes in Peninsular Malaysia?</a:t>
            </a:r>
            <a:endParaRPr>
              <a:solidFill>
                <a:schemeClr val="dk1"/>
              </a:solidFill>
              <a:latin typeface="Baumans"/>
              <a:ea typeface="Baumans"/>
              <a:cs typeface="Baumans"/>
              <a:sym typeface="Baumans"/>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342900" marR="0" lvl="0" indent="-330200" algn="l" rtl="0">
              <a:spcBef>
                <a:spcPts val="0"/>
              </a:spcBef>
              <a:spcAft>
                <a:spcPts val="0"/>
              </a:spcAft>
              <a:buClr>
                <a:schemeClr val="dk1"/>
              </a:buClr>
              <a:buSzPts val="1400"/>
              <a:buFont typeface="Calibri"/>
              <a:buAutoNum type="alphaLcParenR"/>
            </a:pPr>
            <a:r>
              <a:rPr lang="en">
                <a:solidFill>
                  <a:schemeClr val="dk1"/>
                </a:solidFill>
                <a:latin typeface="Calibri"/>
                <a:ea typeface="Calibri"/>
                <a:cs typeface="Calibri"/>
                <a:sym typeface="Calibri"/>
              </a:rPr>
              <a:t>Use an atlas to find the Atlantic Ocean. There is a plate boundary that runs north to south in the middle of the ocean. Name the feature of the ocean floor that forms this boundary. Use Map C to name the four plates found either side of this boundary </a:t>
            </a:r>
            <a:endParaRPr sz="1200">
              <a:solidFill>
                <a:schemeClr val="dk1"/>
              </a:solidFill>
              <a:latin typeface="Calibri"/>
              <a:ea typeface="Calibri"/>
              <a:cs typeface="Calibri"/>
              <a:sym typeface="Calibri"/>
            </a:endParaRPr>
          </a:p>
          <a:p>
            <a:pPr marL="342900" marR="0" lvl="0" indent="-330200" algn="l" rtl="0">
              <a:spcBef>
                <a:spcPts val="0"/>
              </a:spcBef>
              <a:spcAft>
                <a:spcPts val="0"/>
              </a:spcAft>
              <a:buClr>
                <a:schemeClr val="dk1"/>
              </a:buClr>
              <a:buSzPts val="1400"/>
              <a:buFont typeface="Calibri"/>
              <a:buAutoNum type="alphaLcParenR"/>
            </a:pPr>
            <a:r>
              <a:rPr lang="en">
                <a:solidFill>
                  <a:schemeClr val="dk1"/>
                </a:solidFill>
                <a:latin typeface="Calibri"/>
                <a:ea typeface="Calibri"/>
                <a:cs typeface="Calibri"/>
                <a:sym typeface="Calibri"/>
              </a:rPr>
              <a:t>Is Africa moving towards or away from South America?</a:t>
            </a:r>
            <a:endParaRPr sz="1200">
              <a:solidFill>
                <a:schemeClr val="dk1"/>
              </a:solidFill>
              <a:latin typeface="Calibri"/>
              <a:ea typeface="Calibri"/>
              <a:cs typeface="Calibri"/>
              <a:sym typeface="Calibri"/>
            </a:endParaRPr>
          </a:p>
        </p:txBody>
      </p:sp>
      <p:sp>
        <p:nvSpPr>
          <p:cNvPr id="253" name="Google Shape;253;p31"/>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sp>
        <p:nvSpPr>
          <p:cNvPr id="254" name="Google Shape;254;p31"/>
          <p:cNvSpPr txBox="1"/>
          <p:nvPr/>
        </p:nvSpPr>
        <p:spPr>
          <a:xfrm>
            <a:off x="113975" y="3543200"/>
            <a:ext cx="4299000" cy="1477500"/>
          </a:xfrm>
          <a:prstGeom prst="rect">
            <a:avLst/>
          </a:prstGeom>
          <a:solidFill>
            <a:srgbClr val="CE0924"/>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Poppins"/>
                <a:ea typeface="Poppins"/>
                <a:cs typeface="Poppins"/>
                <a:sym typeface="Poppins"/>
              </a:rPr>
              <a:t>Design a new tectonic plate! Draw and label:</a:t>
            </a:r>
            <a:endParaRPr b="1">
              <a:solidFill>
                <a:schemeClr val="lt1"/>
              </a:solidFill>
              <a:latin typeface="Poppins"/>
              <a:ea typeface="Poppins"/>
              <a:cs typeface="Poppins"/>
              <a:sym typeface="Poppins"/>
            </a:endParaRPr>
          </a:p>
          <a:p>
            <a:pPr marL="0" lvl="0" indent="0" algn="l" rtl="0">
              <a:spcBef>
                <a:spcPts val="0"/>
              </a:spcBef>
              <a:spcAft>
                <a:spcPts val="0"/>
              </a:spcAft>
              <a:buNone/>
            </a:pPr>
            <a:r>
              <a:rPr lang="en" b="1">
                <a:solidFill>
                  <a:schemeClr val="lt1"/>
                </a:solidFill>
                <a:latin typeface="Poppins"/>
                <a:ea typeface="Poppins"/>
                <a:cs typeface="Poppins"/>
                <a:sym typeface="Poppins"/>
              </a:rPr>
              <a:t>🗺️ Its location</a:t>
            </a:r>
            <a:endParaRPr b="1">
              <a:solidFill>
                <a:schemeClr val="lt1"/>
              </a:solidFill>
              <a:latin typeface="Poppins"/>
              <a:ea typeface="Poppins"/>
              <a:cs typeface="Poppins"/>
              <a:sym typeface="Poppins"/>
            </a:endParaRPr>
          </a:p>
          <a:p>
            <a:pPr marL="0" lvl="0" indent="0" algn="l" rtl="0">
              <a:spcBef>
                <a:spcPts val="0"/>
              </a:spcBef>
              <a:spcAft>
                <a:spcPts val="0"/>
              </a:spcAft>
              <a:buNone/>
            </a:pPr>
            <a:r>
              <a:rPr lang="en" b="1">
                <a:solidFill>
                  <a:schemeClr val="lt1"/>
                </a:solidFill>
                <a:latin typeface="Poppins"/>
                <a:ea typeface="Poppins"/>
                <a:cs typeface="Poppins"/>
                <a:sym typeface="Poppins"/>
              </a:rPr>
              <a:t>➡️ Direction of movement</a:t>
            </a:r>
            <a:endParaRPr b="1">
              <a:solidFill>
                <a:schemeClr val="lt1"/>
              </a:solidFill>
              <a:latin typeface="Poppins"/>
              <a:ea typeface="Poppins"/>
              <a:cs typeface="Poppins"/>
              <a:sym typeface="Poppins"/>
            </a:endParaRPr>
          </a:p>
          <a:p>
            <a:pPr marL="0" lvl="0" indent="0" algn="l" rtl="0">
              <a:spcBef>
                <a:spcPts val="0"/>
              </a:spcBef>
              <a:spcAft>
                <a:spcPts val="0"/>
              </a:spcAft>
              <a:buNone/>
            </a:pPr>
            <a:r>
              <a:rPr lang="en" b="1">
                <a:solidFill>
                  <a:schemeClr val="lt1"/>
                </a:solidFill>
                <a:latin typeface="Poppins"/>
                <a:ea typeface="Poppins"/>
                <a:cs typeface="Poppins"/>
                <a:sym typeface="Poppins"/>
              </a:rPr>
              <a:t>🔀 Type of boundary</a:t>
            </a:r>
            <a:endParaRPr b="1">
              <a:solidFill>
                <a:schemeClr val="lt1"/>
              </a:solidFill>
              <a:latin typeface="Poppins"/>
              <a:ea typeface="Poppins"/>
              <a:cs typeface="Poppins"/>
              <a:sym typeface="Poppins"/>
            </a:endParaRPr>
          </a:p>
          <a:p>
            <a:pPr marL="0" lvl="0" indent="0" algn="l" rtl="0">
              <a:spcBef>
                <a:spcPts val="0"/>
              </a:spcBef>
              <a:spcAft>
                <a:spcPts val="0"/>
              </a:spcAft>
              <a:buNone/>
            </a:pPr>
            <a:r>
              <a:rPr lang="en" b="1">
                <a:solidFill>
                  <a:schemeClr val="lt1"/>
                </a:solidFill>
                <a:latin typeface="Poppins"/>
                <a:ea typeface="Poppins"/>
                <a:cs typeface="Poppins"/>
                <a:sym typeface="Poppins"/>
              </a:rPr>
              <a:t>🌋 One hazard it could cause</a:t>
            </a:r>
            <a:endParaRPr b="1">
              <a:solidFill>
                <a:schemeClr val="lt1"/>
              </a:solidFill>
              <a:latin typeface="Poppins"/>
              <a:ea typeface="Poppins"/>
              <a:cs typeface="Poppins"/>
              <a:sym typeface="Poppins"/>
            </a:endParaRPr>
          </a:p>
          <a:p>
            <a:pPr marL="0" lvl="0" indent="0" algn="l" rtl="0">
              <a:spcBef>
                <a:spcPts val="0"/>
              </a:spcBef>
              <a:spcAft>
                <a:spcPts val="0"/>
              </a:spcAft>
              <a:buNone/>
            </a:pPr>
            <a:r>
              <a:rPr lang="en" b="1">
                <a:solidFill>
                  <a:schemeClr val="lt1"/>
                </a:solidFill>
                <a:latin typeface="Poppins"/>
                <a:ea typeface="Poppins"/>
                <a:cs typeface="Poppins"/>
                <a:sym typeface="Poppins"/>
              </a:rPr>
              <a:t>⭐ Give your plate a name!</a:t>
            </a:r>
            <a:endParaRPr b="1">
              <a:solidFill>
                <a:schemeClr val="lt1"/>
              </a:solidFill>
              <a:latin typeface="Poppins"/>
              <a:ea typeface="Poppins"/>
              <a:cs typeface="Poppins"/>
              <a:sym typeface="Poppins"/>
            </a:endParaRPr>
          </a:p>
        </p:txBody>
      </p:sp>
      <p:grpSp>
        <p:nvGrpSpPr>
          <p:cNvPr id="255" name="Google Shape;255;p31"/>
          <p:cNvGrpSpPr/>
          <p:nvPr/>
        </p:nvGrpSpPr>
        <p:grpSpPr>
          <a:xfrm>
            <a:off x="3630825" y="4131782"/>
            <a:ext cx="782155" cy="888928"/>
            <a:chOff x="-479400" y="2803982"/>
            <a:chExt cx="782155" cy="888928"/>
          </a:xfrm>
        </p:grpSpPr>
        <p:sp>
          <p:nvSpPr>
            <p:cNvPr id="256" name="Google Shape;256;p31"/>
            <p:cNvSpPr/>
            <p:nvPr/>
          </p:nvSpPr>
          <p:spPr>
            <a:xfrm>
              <a:off x="-479400" y="2804000"/>
              <a:ext cx="779700" cy="888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57" name="Google Shape;257;p31"/>
            <p:cNvGrpSpPr/>
            <p:nvPr/>
          </p:nvGrpSpPr>
          <p:grpSpPr>
            <a:xfrm>
              <a:off x="-477038" y="2803982"/>
              <a:ext cx="779792" cy="888928"/>
              <a:chOff x="5426175" y="139294"/>
              <a:chExt cx="946695" cy="1152356"/>
            </a:xfrm>
          </p:grpSpPr>
          <p:pic>
            <p:nvPicPr>
              <p:cNvPr id="258" name="Google Shape;258;p31"/>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259" name="Google Shape;259;p31"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2"/>
          <p:cNvSpPr txBox="1"/>
          <p:nvPr/>
        </p:nvSpPr>
        <p:spPr>
          <a:xfrm>
            <a:off x="203650" y="837925"/>
            <a:ext cx="6807900" cy="4192500"/>
          </a:xfrm>
          <a:prstGeom prst="rect">
            <a:avLst/>
          </a:prstGeom>
          <a:solidFill>
            <a:srgbClr val="FFF2CC"/>
          </a:solidFill>
          <a:ln>
            <a:noFill/>
          </a:ln>
        </p:spPr>
        <p:txBody>
          <a:bodyPr spcFirstLastPara="1" wrap="square" lIns="91425" tIns="45700" rIns="91425" bIns="45700" anchor="t" anchorCtr="0">
            <a:noAutofit/>
          </a:bodyPr>
          <a:lstStyle/>
          <a:p>
            <a:pPr marL="0" marR="0" lvl="1"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b="1">
                <a:solidFill>
                  <a:schemeClr val="dk1"/>
                </a:solidFill>
                <a:latin typeface="Baumans"/>
                <a:ea typeface="Baumans"/>
                <a:cs typeface="Baumans"/>
                <a:sym typeface="Baumans"/>
              </a:rPr>
              <a:t> Use your map to help you answer the following questions:</a:t>
            </a:r>
            <a:endParaRPr sz="18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Which tectonic plate is Malaysia located on?</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Which tectonic plate is India located on?</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Which direction is the African Plate moving?</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Which direction is the Antarctic Plate moving?</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Which direction is the Nazca Plate moving?</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What type of plate boundary is found in the middle of the Atlantic Ocean?</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How are the plates moving at this boundary?</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What type of plate boundary is found between the Nazca Plate and South American Plate?</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How are the plates moving at this boundary?</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How do plates move at a conservative plate boundary?</a:t>
            </a:r>
            <a:endParaRPr sz="1600">
              <a:solidFill>
                <a:schemeClr val="dk1"/>
              </a:solidFill>
              <a:latin typeface="Baumans"/>
              <a:ea typeface="Baumans"/>
              <a:cs typeface="Baumans"/>
              <a:sym typeface="Baumans"/>
            </a:endParaRPr>
          </a:p>
          <a:p>
            <a:pPr marL="457200" marR="0" lvl="0" indent="-330200" algn="l" rtl="0">
              <a:lnSpc>
                <a:spcPct val="115000"/>
              </a:lnSpc>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Why are there very few earthquakes and no volcanoes in Peninsular Malaysia?</a:t>
            </a:r>
            <a:endParaRPr sz="1200">
              <a:solidFill>
                <a:schemeClr val="dk1"/>
              </a:solidFill>
              <a:latin typeface="Calibri"/>
              <a:ea typeface="Calibri"/>
              <a:cs typeface="Calibri"/>
              <a:sym typeface="Calibri"/>
            </a:endParaRPr>
          </a:p>
        </p:txBody>
      </p:sp>
      <p:sp>
        <p:nvSpPr>
          <p:cNvPr id="265" name="Google Shape;265;p32"/>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266" name="Google Shape;266;p32"/>
          <p:cNvPicPr preferRelativeResize="0"/>
          <p:nvPr/>
        </p:nvPicPr>
        <p:blipFill rotWithShape="1">
          <a:blip r:embed="rId3">
            <a:alphaModFix/>
          </a:blip>
          <a:srcRect/>
          <a:stretch/>
        </p:blipFill>
        <p:spPr>
          <a:xfrm>
            <a:off x="6684850" y="1256775"/>
            <a:ext cx="2348625" cy="1542600"/>
          </a:xfrm>
          <a:prstGeom prst="rect">
            <a:avLst/>
          </a:prstGeom>
          <a:noFill/>
          <a:ln>
            <a:noFill/>
          </a:ln>
        </p:spPr>
      </p:pic>
      <p:sp>
        <p:nvSpPr>
          <p:cNvPr id="267" name="Google Shape;267;p32"/>
          <p:cNvSpPr txBox="1"/>
          <p:nvPr/>
        </p:nvSpPr>
        <p:spPr>
          <a:xfrm>
            <a:off x="6684850" y="2964975"/>
            <a:ext cx="2348700" cy="1662300"/>
          </a:xfrm>
          <a:prstGeom prst="rect">
            <a:avLst/>
          </a:prstGeom>
          <a:solidFill>
            <a:srgbClr val="CE0924"/>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chemeClr val="lt1"/>
                </a:solidFill>
                <a:latin typeface="Poppins"/>
                <a:ea typeface="Poppins"/>
                <a:cs typeface="Poppins"/>
                <a:sym typeface="Poppins"/>
              </a:rPr>
              <a:t>Design a new tectonic plate! Draw and label:</a:t>
            </a:r>
            <a:endParaRPr sz="1200" b="1">
              <a:solidFill>
                <a:schemeClr val="lt1"/>
              </a:solidFill>
              <a:latin typeface="Poppins"/>
              <a:ea typeface="Poppins"/>
              <a:cs typeface="Poppins"/>
              <a:sym typeface="Poppins"/>
            </a:endParaRPr>
          </a:p>
          <a:p>
            <a:pPr marL="0" lvl="0" indent="0" algn="l" rtl="0">
              <a:spcBef>
                <a:spcPts val="0"/>
              </a:spcBef>
              <a:spcAft>
                <a:spcPts val="0"/>
              </a:spcAft>
              <a:buNone/>
            </a:pPr>
            <a:r>
              <a:rPr lang="en" sz="1200" b="1">
                <a:solidFill>
                  <a:schemeClr val="lt1"/>
                </a:solidFill>
                <a:latin typeface="Poppins"/>
                <a:ea typeface="Poppins"/>
                <a:cs typeface="Poppins"/>
                <a:sym typeface="Poppins"/>
              </a:rPr>
              <a:t>🗺️ Its location</a:t>
            </a:r>
            <a:endParaRPr sz="1200" b="1">
              <a:solidFill>
                <a:schemeClr val="lt1"/>
              </a:solidFill>
              <a:latin typeface="Poppins"/>
              <a:ea typeface="Poppins"/>
              <a:cs typeface="Poppins"/>
              <a:sym typeface="Poppins"/>
            </a:endParaRPr>
          </a:p>
          <a:p>
            <a:pPr marL="0" lvl="0" indent="0" algn="l" rtl="0">
              <a:spcBef>
                <a:spcPts val="0"/>
              </a:spcBef>
              <a:spcAft>
                <a:spcPts val="0"/>
              </a:spcAft>
              <a:buNone/>
            </a:pPr>
            <a:r>
              <a:rPr lang="en" sz="1200" b="1">
                <a:solidFill>
                  <a:schemeClr val="lt1"/>
                </a:solidFill>
                <a:latin typeface="Poppins"/>
                <a:ea typeface="Poppins"/>
                <a:cs typeface="Poppins"/>
                <a:sym typeface="Poppins"/>
              </a:rPr>
              <a:t>➡️ Direction of movement</a:t>
            </a:r>
            <a:endParaRPr sz="1200" b="1">
              <a:solidFill>
                <a:schemeClr val="lt1"/>
              </a:solidFill>
              <a:latin typeface="Poppins"/>
              <a:ea typeface="Poppins"/>
              <a:cs typeface="Poppins"/>
              <a:sym typeface="Poppins"/>
            </a:endParaRPr>
          </a:p>
          <a:p>
            <a:pPr marL="0" lvl="0" indent="0" algn="l" rtl="0">
              <a:spcBef>
                <a:spcPts val="0"/>
              </a:spcBef>
              <a:spcAft>
                <a:spcPts val="0"/>
              </a:spcAft>
              <a:buNone/>
            </a:pPr>
            <a:r>
              <a:rPr lang="en" sz="1200" b="1">
                <a:solidFill>
                  <a:schemeClr val="lt1"/>
                </a:solidFill>
                <a:latin typeface="Poppins"/>
                <a:ea typeface="Poppins"/>
                <a:cs typeface="Poppins"/>
                <a:sym typeface="Poppins"/>
              </a:rPr>
              <a:t>🔀 Type of boundary</a:t>
            </a:r>
            <a:endParaRPr sz="1200" b="1">
              <a:solidFill>
                <a:schemeClr val="lt1"/>
              </a:solidFill>
              <a:latin typeface="Poppins"/>
              <a:ea typeface="Poppins"/>
              <a:cs typeface="Poppins"/>
              <a:sym typeface="Poppins"/>
            </a:endParaRPr>
          </a:p>
          <a:p>
            <a:pPr marL="0" lvl="0" indent="0" algn="l" rtl="0">
              <a:spcBef>
                <a:spcPts val="0"/>
              </a:spcBef>
              <a:spcAft>
                <a:spcPts val="0"/>
              </a:spcAft>
              <a:buNone/>
            </a:pPr>
            <a:r>
              <a:rPr lang="en" sz="1200" b="1">
                <a:solidFill>
                  <a:schemeClr val="lt1"/>
                </a:solidFill>
                <a:latin typeface="Poppins"/>
                <a:ea typeface="Poppins"/>
                <a:cs typeface="Poppins"/>
                <a:sym typeface="Poppins"/>
              </a:rPr>
              <a:t>🌋 One hazard it could cause</a:t>
            </a:r>
            <a:endParaRPr sz="1200" b="1">
              <a:solidFill>
                <a:schemeClr val="lt1"/>
              </a:solidFill>
              <a:latin typeface="Poppins"/>
              <a:ea typeface="Poppins"/>
              <a:cs typeface="Poppins"/>
              <a:sym typeface="Poppins"/>
            </a:endParaRPr>
          </a:p>
          <a:p>
            <a:pPr marL="0" lvl="0" indent="0" algn="l" rtl="0">
              <a:spcBef>
                <a:spcPts val="0"/>
              </a:spcBef>
              <a:spcAft>
                <a:spcPts val="0"/>
              </a:spcAft>
              <a:buNone/>
            </a:pPr>
            <a:r>
              <a:rPr lang="en" sz="1200" b="1">
                <a:solidFill>
                  <a:schemeClr val="lt1"/>
                </a:solidFill>
                <a:latin typeface="Poppins"/>
                <a:ea typeface="Poppins"/>
                <a:cs typeface="Poppins"/>
                <a:sym typeface="Poppins"/>
              </a:rPr>
              <a:t>⭐ Give your plate a name!</a:t>
            </a:r>
            <a:endParaRPr sz="1200" b="1">
              <a:solidFill>
                <a:schemeClr val="lt1"/>
              </a:solidFill>
              <a:latin typeface="Poppins"/>
              <a:ea typeface="Poppins"/>
              <a:cs typeface="Poppins"/>
              <a:sym typeface="Poppins"/>
            </a:endParaRPr>
          </a:p>
        </p:txBody>
      </p:sp>
      <p:grpSp>
        <p:nvGrpSpPr>
          <p:cNvPr id="268" name="Google Shape;268;p32"/>
          <p:cNvGrpSpPr/>
          <p:nvPr/>
        </p:nvGrpSpPr>
        <p:grpSpPr>
          <a:xfrm>
            <a:off x="8687301" y="2964976"/>
            <a:ext cx="346182" cy="393439"/>
            <a:chOff x="-479400" y="2803982"/>
            <a:chExt cx="782155" cy="888928"/>
          </a:xfrm>
        </p:grpSpPr>
        <p:sp>
          <p:nvSpPr>
            <p:cNvPr id="269" name="Google Shape;269;p32"/>
            <p:cNvSpPr/>
            <p:nvPr/>
          </p:nvSpPr>
          <p:spPr>
            <a:xfrm>
              <a:off x="-479400" y="2804000"/>
              <a:ext cx="779700" cy="888900"/>
            </a:xfrm>
            <a:prstGeom prst="rect">
              <a:avLst/>
            </a:prstGeom>
            <a:solidFill>
              <a:schemeClr val="lt1"/>
            </a:solidFill>
            <a:ln>
              <a:noFill/>
            </a:ln>
          </p:spPr>
          <p:txBody>
            <a:bodyPr spcFirstLastPara="1" wrap="square" lIns="40475" tIns="40475" rIns="40475" bIns="40475" anchor="ctr" anchorCtr="0">
              <a:noAutofit/>
            </a:bodyPr>
            <a:lstStyle/>
            <a:p>
              <a:pPr marL="0" lvl="0" indent="0" algn="ctr" rtl="0">
                <a:spcBef>
                  <a:spcPts val="0"/>
                </a:spcBef>
                <a:spcAft>
                  <a:spcPts val="0"/>
                </a:spcAft>
                <a:buNone/>
              </a:pPr>
              <a:endParaRPr sz="620"/>
            </a:p>
          </p:txBody>
        </p:sp>
        <p:grpSp>
          <p:nvGrpSpPr>
            <p:cNvPr id="270" name="Google Shape;270;p32"/>
            <p:cNvGrpSpPr/>
            <p:nvPr/>
          </p:nvGrpSpPr>
          <p:grpSpPr>
            <a:xfrm>
              <a:off x="-477038" y="2803982"/>
              <a:ext cx="779792" cy="888928"/>
              <a:chOff x="5426175" y="139294"/>
              <a:chExt cx="946695" cy="1152356"/>
            </a:xfrm>
          </p:grpSpPr>
          <p:pic>
            <p:nvPicPr>
              <p:cNvPr id="271" name="Google Shape;271;p32"/>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272" name="Google Shape;272;p32"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grpSp>
      <p:pic>
        <p:nvPicPr>
          <p:cNvPr id="273" name="Google Shape;273;p32" descr="Hey, this is Rae. I made this 20-minute timer with soft, relaxing music.&#10;&#10;🔔 An alarm will sound at the end.&#10;&#10;Use it however you need:&#10;• A quiet pause between tasks&#10;• A gentle background for journaling or stretching&#10;• A screen-free moment to reset&#10;• Or just 20 minutes to slow down and be still&#10;&#10;If it helps, please subscribe and I’ve got more timers waiting for you.&#10;&#10;#20MinuteTimer #RelaxingMusic #BreakTimer #Mindfulness #EverydayTimers #SoftReset #everydaytimers #breaktimer #mindfulness #10minutetimer #focustimer #15minutetimer #relaxingtimer #studytimer #5minutetimer #stretchingtimer&#10;#everydaytimers #mindfulness #breaktimer" title="20 Minute Timer with Relaxing Music and Alarm">
            <a:hlinkClick r:id="rId6"/>
          </p:cNvPr>
          <p:cNvPicPr preferRelativeResize="0"/>
          <p:nvPr/>
        </p:nvPicPr>
        <p:blipFill>
          <a:blip r:embed="rId7">
            <a:alphaModFix/>
          </a:blip>
          <a:stretch>
            <a:fillRect/>
          </a:stretch>
        </p:blipFill>
        <p:spPr>
          <a:xfrm>
            <a:off x="7949475" y="536725"/>
            <a:ext cx="985700" cy="554450"/>
          </a:xfrm>
          <a:prstGeom prst="rect">
            <a:avLst/>
          </a:prstGeom>
          <a:noFill/>
          <a:ln>
            <a:noFill/>
          </a:ln>
        </p:spPr>
      </p:pic>
      <p:pic>
        <p:nvPicPr>
          <p:cNvPr id="274" name="Google Shape;274;p32" descr="20-minute timer with relaxing music for classroom&#10;&#10;Enjoy this 20-minute timer with LoFi music for the classroom, designed to help students stay focused and relaxed during work or study sessions. The 20-minute timer with relaxing music for classroom settings creates a calm and productive environment, perfect for reading, writing, or quiet work. This 20-minute timer with music for classroom use features soft, soothing beats that help maintain concentration while keeping a peaceful atmosphere.&#10;&#10;🌸 Ideal for:&#10;✅ Classroom focus sessions&#10;✅ Study breaks and reading time&#10;✅ Quiet work environments&#10;&#10;🎧 Enjoy the calming sounds and let this 20-minute timer help create a stress-free and productive learning space!&#10;&#10;Join us in the comments, say hi, and subscribe to my channel for more relaxing timers.&#10;&#10;🚨 SUBSCRIBE https://www.youtube.com/@CalmTimerStudio?sub_confirmation=1&#10;&#10;🎵 Music licensed from Uppbeat.io, a platform for content creators to find royalty-free music. Join Uppbeat with this referral link: https://share.uppbeat.io/tta4gwjutulo.&#10;&#10;#20mintimer" title="20 Minute Timer with LoFi Music for Classroom">
            <a:hlinkClick r:id="rId8"/>
          </p:cNvPr>
          <p:cNvPicPr preferRelativeResize="0"/>
          <p:nvPr/>
        </p:nvPicPr>
        <p:blipFill>
          <a:blip r:embed="rId9">
            <a:alphaModFix/>
          </a:blip>
          <a:stretch>
            <a:fillRect/>
          </a:stretch>
        </p:blipFill>
        <p:spPr>
          <a:xfrm>
            <a:off x="7949486" y="536725"/>
            <a:ext cx="985689" cy="554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3"/>
                                        </p:tgtEl>
                                        <p:attrNameLst>
                                          <p:attrName>style.visibility</p:attrName>
                                        </p:attrNameLst>
                                      </p:cBhvr>
                                      <p:to>
                                        <p:strVal val="visible"/>
                                      </p:to>
                                    </p:set>
                                    <p:animEffect transition="in" filter="fade">
                                      <p:cBhvr>
                                        <p:cTn id="7" dur="10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3"/>
          <p:cNvSpPr txBox="1"/>
          <p:nvPr/>
        </p:nvSpPr>
        <p:spPr>
          <a:xfrm>
            <a:off x="203650" y="837925"/>
            <a:ext cx="8821200" cy="438600"/>
          </a:xfrm>
          <a:prstGeom prst="rect">
            <a:avLst/>
          </a:prstGeom>
          <a:solidFill>
            <a:srgbClr val="FFF2CC"/>
          </a:solidFill>
          <a:ln>
            <a:noFill/>
          </a:ln>
        </p:spPr>
        <p:txBody>
          <a:bodyPr spcFirstLastPara="1" wrap="square" lIns="91425" tIns="45700" rIns="91425" bIns="45700" anchor="t" anchorCtr="0">
            <a:noAutofit/>
          </a:bodyPr>
          <a:lstStyle/>
          <a:p>
            <a:pPr marL="0" marR="0" lvl="1"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b="1">
                <a:solidFill>
                  <a:schemeClr val="dk1"/>
                </a:solidFill>
                <a:latin typeface="Baumans"/>
                <a:ea typeface="Baumans"/>
                <a:cs typeface="Baumans"/>
                <a:sym typeface="Baumans"/>
              </a:rPr>
              <a:t> Use your map to help you answer the following questions:</a:t>
            </a:r>
            <a:endParaRPr sz="1800">
              <a:solidFill>
                <a:schemeClr val="dk1"/>
              </a:solidFill>
              <a:latin typeface="Baumans"/>
              <a:ea typeface="Baumans"/>
              <a:cs typeface="Baumans"/>
              <a:sym typeface="Baumans"/>
            </a:endParaRPr>
          </a:p>
          <a:p>
            <a:pPr marL="0" marR="0" lvl="1" indent="0" algn="l" rtl="0">
              <a:spcBef>
                <a:spcPts val="0"/>
              </a:spcBef>
              <a:spcAft>
                <a:spcPts val="0"/>
              </a:spcAft>
              <a:buNone/>
            </a:pPr>
            <a:endParaRPr sz="1800">
              <a:solidFill>
                <a:schemeClr val="dk1"/>
              </a:solidFill>
              <a:latin typeface="Baumans"/>
              <a:ea typeface="Baumans"/>
              <a:cs typeface="Baumans"/>
              <a:sym typeface="Baumans"/>
            </a:endParaRPr>
          </a:p>
        </p:txBody>
      </p:sp>
      <p:sp>
        <p:nvSpPr>
          <p:cNvPr id="280" name="Google Shape;280;p33"/>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281" name="Google Shape;281;p33"/>
          <p:cNvPicPr preferRelativeResize="0"/>
          <p:nvPr/>
        </p:nvPicPr>
        <p:blipFill>
          <a:blip r:embed="rId3">
            <a:alphaModFix/>
          </a:blip>
          <a:stretch>
            <a:fillRect/>
          </a:stretch>
        </p:blipFill>
        <p:spPr>
          <a:xfrm>
            <a:off x="7625510" y="837925"/>
            <a:ext cx="1399342" cy="932900"/>
          </a:xfrm>
          <a:prstGeom prst="rect">
            <a:avLst/>
          </a:prstGeom>
          <a:noFill/>
          <a:ln>
            <a:noFill/>
          </a:ln>
        </p:spPr>
      </p:pic>
      <p:sp>
        <p:nvSpPr>
          <p:cNvPr id="282" name="Google Shape;282;p33"/>
          <p:cNvSpPr txBox="1"/>
          <p:nvPr/>
        </p:nvSpPr>
        <p:spPr>
          <a:xfrm>
            <a:off x="203650" y="1276525"/>
            <a:ext cx="8821200" cy="3263100"/>
          </a:xfrm>
          <a:prstGeom prst="rect">
            <a:avLst/>
          </a:prstGeom>
          <a:solidFill>
            <a:srgbClr val="FFF2CC"/>
          </a:solid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Eurasian Plate</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Indo-Australian Plate</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North-East</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South</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East</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Constructive boundary</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Moving apart from each other</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Destructive boundary</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Moving toward each other</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Sliding past each other horizontally</a:t>
            </a:r>
            <a:endParaRPr sz="1600" b="1">
              <a:solidFill>
                <a:srgbClr val="38761D"/>
              </a:solidFill>
              <a:latin typeface="Baumans"/>
              <a:ea typeface="Baumans"/>
              <a:cs typeface="Baumans"/>
              <a:sym typeface="Baumans"/>
            </a:endParaRPr>
          </a:p>
          <a:p>
            <a:pPr marL="457200" lvl="0" indent="-330200" algn="l" rtl="0">
              <a:lnSpc>
                <a:spcPct val="115000"/>
              </a:lnSpc>
              <a:spcBef>
                <a:spcPts val="0"/>
              </a:spcBef>
              <a:spcAft>
                <a:spcPts val="0"/>
              </a:spcAft>
              <a:buClr>
                <a:srgbClr val="38761D"/>
              </a:buClr>
              <a:buSzPts val="1600"/>
              <a:buFont typeface="Baumans"/>
              <a:buAutoNum type="arabicPeriod"/>
            </a:pPr>
            <a:r>
              <a:rPr lang="en" sz="1600" b="1">
                <a:solidFill>
                  <a:srgbClr val="38761D"/>
                </a:solidFill>
                <a:latin typeface="Baumans"/>
                <a:ea typeface="Baumans"/>
                <a:cs typeface="Baumans"/>
                <a:sym typeface="Baumans"/>
              </a:rPr>
              <a:t>It is located far from active plate boundaries, near the middle of the Eurasian Plate.</a:t>
            </a:r>
            <a:endParaRPr sz="1600" b="1">
              <a:solidFill>
                <a:srgbClr val="38761D"/>
              </a:solidFill>
              <a:latin typeface="Baumans"/>
              <a:ea typeface="Baumans"/>
              <a:cs typeface="Baumans"/>
              <a:sym typeface="Baum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8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4"/>
          <p:cNvSpPr txBox="1"/>
          <p:nvPr/>
        </p:nvSpPr>
        <p:spPr>
          <a:xfrm>
            <a:off x="76250" y="762000"/>
            <a:ext cx="5595000" cy="66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Luckiest Guy"/>
                <a:ea typeface="Luckiest Guy"/>
                <a:cs typeface="Luckiest Guy"/>
                <a:sym typeface="Luckiest Guy"/>
              </a:rPr>
              <a:t>plenary</a:t>
            </a:r>
            <a:endParaRPr sz="2400">
              <a:solidFill>
                <a:schemeClr val="dk1"/>
              </a:solidFill>
              <a:latin typeface="Luckiest Guy"/>
              <a:ea typeface="Luckiest Guy"/>
              <a:cs typeface="Luckiest Guy"/>
              <a:sym typeface="Luckiest Guy"/>
            </a:endParaRPr>
          </a:p>
        </p:txBody>
      </p:sp>
      <p:pic>
        <p:nvPicPr>
          <p:cNvPr id="288" name="Google Shape;288;p34"/>
          <p:cNvPicPr preferRelativeResize="0"/>
          <p:nvPr/>
        </p:nvPicPr>
        <p:blipFill rotWithShape="1">
          <a:blip r:embed="rId3">
            <a:alphaModFix/>
          </a:blip>
          <a:srcRect l="2695" b="3883"/>
          <a:stretch/>
        </p:blipFill>
        <p:spPr>
          <a:xfrm>
            <a:off x="197475" y="1762225"/>
            <a:ext cx="4579550" cy="3193950"/>
          </a:xfrm>
          <a:prstGeom prst="rect">
            <a:avLst/>
          </a:prstGeom>
          <a:solidFill>
            <a:srgbClr val="92D050"/>
          </a:solidFill>
          <a:ln>
            <a:noFill/>
          </a:ln>
        </p:spPr>
      </p:pic>
      <p:sp>
        <p:nvSpPr>
          <p:cNvPr id="289" name="Google Shape;289;p34"/>
          <p:cNvSpPr txBox="1"/>
          <p:nvPr/>
        </p:nvSpPr>
        <p:spPr>
          <a:xfrm>
            <a:off x="5305574" y="631074"/>
            <a:ext cx="3428400" cy="4325100"/>
          </a:xfrm>
          <a:prstGeom prst="rect">
            <a:avLst/>
          </a:prstGeom>
          <a:solidFill>
            <a:srgbClr val="FFF2CC"/>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Comic Sans MS"/>
              <a:buNone/>
            </a:pPr>
            <a:r>
              <a:rPr lang="en" sz="2300" b="1">
                <a:latin typeface="Calibri"/>
                <a:ea typeface="Calibri"/>
                <a:cs typeface="Calibri"/>
                <a:sym typeface="Calibri"/>
              </a:rPr>
              <a:t>Activity: Scrabble</a:t>
            </a:r>
            <a:endParaRPr sz="21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alibri"/>
              <a:buNone/>
            </a:pPr>
            <a:endParaRPr sz="21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Think of a keyword or key term from </a:t>
            </a:r>
            <a:r>
              <a:rPr lang="en" sz="2100">
                <a:latin typeface="Calibri"/>
                <a:ea typeface="Calibri"/>
                <a:cs typeface="Calibri"/>
                <a:sym typeface="Calibri"/>
              </a:rPr>
              <a:t>today’s lesson/previous humanities lessons.</a:t>
            </a: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Spell it out using the scrabble tiles and add up your points.</a:t>
            </a: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endParaRPr sz="210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Comic Sans MS"/>
              <a:buNone/>
            </a:pPr>
            <a:r>
              <a:rPr lang="en" sz="2100" i="0" u="none" strike="noStrike" cap="none">
                <a:solidFill>
                  <a:srgbClr val="000000"/>
                </a:solidFill>
                <a:latin typeface="Calibri"/>
                <a:ea typeface="Calibri"/>
                <a:cs typeface="Calibri"/>
                <a:sym typeface="Calibri"/>
              </a:rPr>
              <a:t>House points if your word scores the most points from the scrabble letters.</a:t>
            </a:r>
            <a:endParaRPr sz="1700" i="0" u="none" strike="noStrike" cap="none">
              <a:solidFill>
                <a:srgbClr val="000000"/>
              </a:solidFill>
              <a:latin typeface="Calibri"/>
              <a:ea typeface="Calibri"/>
              <a:cs typeface="Calibri"/>
              <a:sym typeface="Calibri"/>
            </a:endParaRPr>
          </a:p>
        </p:txBody>
      </p:sp>
      <p:pic>
        <p:nvPicPr>
          <p:cNvPr id="290" name="Google Shape;290;p34"/>
          <p:cNvPicPr preferRelativeResize="0"/>
          <p:nvPr/>
        </p:nvPicPr>
        <p:blipFill rotWithShape="1">
          <a:blip r:embed="rId4">
            <a:alphaModFix/>
          </a:blip>
          <a:srcRect b="53245"/>
          <a:stretch/>
        </p:blipFill>
        <p:spPr>
          <a:xfrm>
            <a:off x="372950" y="1157222"/>
            <a:ext cx="4085575" cy="660900"/>
          </a:xfrm>
          <a:prstGeom prst="rect">
            <a:avLst/>
          </a:prstGeom>
          <a:noFill/>
          <a:ln>
            <a:noFill/>
          </a:ln>
        </p:spPr>
      </p:pic>
      <p:sp>
        <p:nvSpPr>
          <p:cNvPr id="291" name="Google Shape;291;p34"/>
          <p:cNvSpPr txBox="1"/>
          <p:nvPr/>
        </p:nvSpPr>
        <p:spPr>
          <a:xfrm>
            <a:off x="113975" y="0"/>
            <a:ext cx="8821200" cy="762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Title: What is happening beneath our feet? </a:t>
            </a:r>
            <a:endParaRPr sz="12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200" b="1">
                <a:solidFill>
                  <a:schemeClr val="dk1"/>
                </a:solidFill>
                <a:latin typeface="Poppins"/>
                <a:ea typeface="Poppins"/>
                <a:cs typeface="Poppins"/>
                <a:sym typeface="Poppins"/>
              </a:rPr>
              <a:t>LO: Distinguish between the characteristics of each layer of the Earth; Locate tectonic activity globally and describe the distribution of volcanoes and earthquakes</a:t>
            </a:r>
            <a:endParaRPr sz="1200" b="1">
              <a:solidFill>
                <a:schemeClr val="dk1"/>
              </a:solidFill>
              <a:latin typeface="Poppins"/>
              <a:ea typeface="Poppins"/>
              <a:cs typeface="Poppins"/>
              <a:sym typeface="Poppins"/>
            </a:endParaRPr>
          </a:p>
        </p:txBody>
      </p:sp>
      <p:pic>
        <p:nvPicPr>
          <p:cNvPr id="292" name="Google Shape;292;p34">
            <a:hlinkClick r:id="rId5"/>
          </p:cNvPr>
          <p:cNvPicPr preferRelativeResize="0"/>
          <p:nvPr/>
        </p:nvPicPr>
        <p:blipFill>
          <a:blip r:embed="rId6">
            <a:alphaModFix/>
          </a:blip>
          <a:stretch>
            <a:fillRect/>
          </a:stretch>
        </p:blipFill>
        <p:spPr>
          <a:xfrm>
            <a:off x="3900925" y="775215"/>
            <a:ext cx="1247300" cy="368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1831</Words>
  <Application>Microsoft Macintosh PowerPoint</Application>
  <PresentationFormat>On-screen Show (16:9)</PresentationFormat>
  <Paragraphs>194</Paragraphs>
  <Slides>17</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Poppins</vt:lpstr>
      <vt:lpstr>Luckiest Guy</vt:lpstr>
      <vt:lpstr>Edu TAS Beginner</vt:lpstr>
      <vt:lpstr>Arial</vt:lpstr>
      <vt:lpstr>Patrick Hand SC</vt:lpstr>
      <vt:lpstr>Finger Paint</vt:lpstr>
      <vt:lpstr>Calibri</vt:lpstr>
      <vt:lpstr>Alfa Slab One</vt:lpstr>
      <vt:lpstr>Patrick Hand</vt:lpstr>
      <vt:lpstr>Baumans</vt:lpstr>
      <vt:lpstr>Comic Sans MS</vt:lpstr>
      <vt:lpstr>Delius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2026-08-21T06:49:18Z</dcterms:modified>
</cp:coreProperties>
</file>